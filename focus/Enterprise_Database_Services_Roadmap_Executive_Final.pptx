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2" r:id="rId5"/>
    <p:sldMasterId id="2147484024" r:id="rId6"/>
    <p:sldMasterId id="2147484045" r:id="rId7"/>
    <p:sldMasterId id="2147484060" r:id="rId8"/>
  </p:sldMasterIdLst>
  <p:notesMasterIdLst>
    <p:notesMasterId r:id="rId39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15"/>
    <p:sldId id="280" r:id="rId14"/>
    <p:sldId id="281" r:id="rId13"/>
    <p:sldId id="282" r:id="rId12"/>
    <p:sldId id="283" r:id="rId11"/>
    <p:sldId id="284" r:id="rId10"/>
    <p:sldId id="285" r:id="rId9"/>
    <p:sldId id="286" r:id="rId46"/>
  </p:sldIdLst>
  <p:sldSz cx="12192000" cy="6858000"/>
  <p:notesSz cx="7004050" cy="9290050"/>
  <p:custDataLst>
    <p:tags r:id="rId40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orient="horz" pos="4042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4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CD2"/>
    <a:srgbClr val="BA0C2F"/>
    <a:srgbClr val="000000"/>
    <a:srgbClr val="F2DDAC"/>
    <a:srgbClr val="E0DDC5"/>
    <a:srgbClr val="D9D9D9"/>
    <a:srgbClr val="FFFFFF"/>
    <a:srgbClr val="E61E1E"/>
    <a:srgbClr val="F2F2F2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1B837-0AB3-4B9A-98CB-5558A6C4535F}" v="445" dt="2026-09-02T07:34:59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726"/>
      </p:cViewPr>
      <p:guideLst>
        <p:guide orient="horz" pos="550"/>
        <p:guide orient="horz" pos="4042"/>
        <p:guide pos="166"/>
        <p:guide pos="74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30.xml"/><Relationship Id="rId10" Type="http://schemas.openxmlformats.org/officeDocument/2006/relationships/slide" Target="slides/slide29.xml"/><Relationship Id="rId11" Type="http://schemas.openxmlformats.org/officeDocument/2006/relationships/slide" Target="slides/slide28.xml"/><Relationship Id="rId12" Type="http://schemas.openxmlformats.org/officeDocument/2006/relationships/slide" Target="slides/slide27.xml"/><Relationship Id="rId13" Type="http://schemas.openxmlformats.org/officeDocument/2006/relationships/slide" Target="slides/slide26.xml"/><Relationship Id="rId14" Type="http://schemas.openxmlformats.org/officeDocument/2006/relationships/slide" Target="slides/slide25.xml"/><Relationship Id="rId15" Type="http://schemas.openxmlformats.org/officeDocument/2006/relationships/slide" Target="slides/slide2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40" Type="http://schemas.openxmlformats.org/officeDocument/2006/relationships/tags" Target="tags/tag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5/10/relationships/revisionInfo" Target="revisionInfo.xml"/><Relationship Id="rId46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088" cy="466116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7341" y="0"/>
            <a:ext cx="3035088" cy="466116"/>
          </a:xfrm>
          <a:prstGeom prst="rect">
            <a:avLst/>
          </a:prstGeom>
        </p:spPr>
        <p:txBody>
          <a:bodyPr vert="horz" lIns="93104" tIns="46552" rIns="93104" bIns="46552" rtlCol="0"/>
          <a:lstStyle>
            <a:lvl1pPr algn="r">
              <a:defRPr sz="1200"/>
            </a:lvl1pPr>
          </a:lstStyle>
          <a:p>
            <a:fld id="{96DF29BA-0CA2-49C2-976B-1DCB9770595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1160463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4" tIns="46552" rIns="93104" bIns="4655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405" y="4470837"/>
            <a:ext cx="5603240" cy="3657957"/>
          </a:xfrm>
          <a:prstGeom prst="rect">
            <a:avLst/>
          </a:prstGeom>
        </p:spPr>
        <p:txBody>
          <a:bodyPr vert="horz" lIns="93104" tIns="46552" rIns="93104" bIns="4655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3936"/>
            <a:ext cx="3035088" cy="466115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7341" y="8823936"/>
            <a:ext cx="3035088" cy="466115"/>
          </a:xfrm>
          <a:prstGeom prst="rect">
            <a:avLst/>
          </a:prstGeom>
        </p:spPr>
        <p:txBody>
          <a:bodyPr vert="horz" lIns="93104" tIns="46552" rIns="93104" bIns="46552" rtlCol="0" anchor="b"/>
          <a:lstStyle>
            <a:lvl1pPr algn="r">
              <a:defRPr sz="1200"/>
            </a:lvl1pPr>
          </a:lstStyle>
          <a:p>
            <a:fld id="{0992D678-824D-4B52-AB7F-FB5175FA1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2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slideMaster" Target="../slideMasters/slideMaster2.xml"/><Relationship Id="rId5" Type="http://schemas.openxmlformats.org/officeDocument/2006/relationships/oleObject" Target="../embeddings/oleObject4.bin"/><Relationship Id="rId6" Type="http://schemas.openxmlformats.org/officeDocument/2006/relationships/image" Target="../media/image4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slideMaster" Target="../slideMasters/slideMaster3.xml"/><Relationship Id="rId7" Type="http://schemas.openxmlformats.org/officeDocument/2006/relationships/oleObject" Target="../embeddings/oleObject4.bin"/><Relationship Id="rId8" Type="http://schemas.openxmlformats.org/officeDocument/2006/relationships/image" Target="../media/image2.emf"/><Relationship Id="rId9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tags" Target="../tags/tag36.xml"/><Relationship Id="rId3" Type="http://schemas.openxmlformats.org/officeDocument/2006/relationships/tags" Target="../tags/tag37.xml"/><Relationship Id="rId4" Type="http://schemas.openxmlformats.org/officeDocument/2006/relationships/tags" Target="../tags/tag38.xml"/><Relationship Id="rId5" Type="http://schemas.openxmlformats.org/officeDocument/2006/relationships/tags" Target="../tags/tag39.xml"/><Relationship Id="rId6" Type="http://schemas.openxmlformats.org/officeDocument/2006/relationships/tags" Target="../tags/tag40.xml"/><Relationship Id="rId7" Type="http://schemas.openxmlformats.org/officeDocument/2006/relationships/slideMaster" Target="../slideMasters/slideMaster3.xml"/><Relationship Id="rId8" Type="http://schemas.openxmlformats.org/officeDocument/2006/relationships/oleObject" Target="../embeddings/oleObject6.bin"/><Relationship Id="rId9" Type="http://schemas.openxmlformats.org/officeDocument/2006/relationships/image" Target="../media/image4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Relationship Id="rId6" Type="http://schemas.openxmlformats.org/officeDocument/2006/relationships/tags" Target="../tags/tag46.xml"/><Relationship Id="rId7" Type="http://schemas.openxmlformats.org/officeDocument/2006/relationships/slideMaster" Target="../slideMasters/slideMaster3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4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slideMaster" Target="../slideMasters/slideMaster3.xml"/><Relationship Id="rId7" Type="http://schemas.openxmlformats.org/officeDocument/2006/relationships/oleObject" Target="../embeddings/oleObject4.bin"/><Relationship Id="rId8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tags" Target="../tags/tag54.xml"/><Relationship Id="rId4" Type="http://schemas.openxmlformats.org/officeDocument/2006/relationships/tags" Target="../tags/tag55.xml"/><Relationship Id="rId5" Type="http://schemas.openxmlformats.org/officeDocument/2006/relationships/tags" Target="../tags/tag56.xml"/><Relationship Id="rId6" Type="http://schemas.openxmlformats.org/officeDocument/2006/relationships/slideMaster" Target="../slideMasters/slideMaster3.xml"/><Relationship Id="rId7" Type="http://schemas.openxmlformats.org/officeDocument/2006/relationships/oleObject" Target="../embeddings/oleObject7.bin"/><Relationship Id="rId8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tags" Target="../tags/tag58.xml"/><Relationship Id="rId3" Type="http://schemas.openxmlformats.org/officeDocument/2006/relationships/tags" Target="../tags/tag59.xml"/><Relationship Id="rId4" Type="http://schemas.openxmlformats.org/officeDocument/2006/relationships/tags" Target="../tags/tag60.xml"/><Relationship Id="rId5" Type="http://schemas.openxmlformats.org/officeDocument/2006/relationships/tags" Target="../tags/tag61.xml"/><Relationship Id="rId6" Type="http://schemas.openxmlformats.org/officeDocument/2006/relationships/slideMaster" Target="../slideMasters/slideMaster3.xml"/><Relationship Id="rId7" Type="http://schemas.openxmlformats.org/officeDocument/2006/relationships/oleObject" Target="../embeddings/oleObject4.bin"/><Relationship Id="rId8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tags" Target="../tags/tag66.xml"/><Relationship Id="rId6" Type="http://schemas.openxmlformats.org/officeDocument/2006/relationships/tags" Target="../tags/tag67.xml"/><Relationship Id="rId7" Type="http://schemas.openxmlformats.org/officeDocument/2006/relationships/slideMaster" Target="../slideMasters/slideMaster3.xml"/><Relationship Id="rId8" Type="http://schemas.openxmlformats.org/officeDocument/2006/relationships/oleObject" Target="../embeddings/oleObject8.bin"/><Relationship Id="rId9" Type="http://schemas.openxmlformats.org/officeDocument/2006/relationships/image" Target="../media/image2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tags" Target="../tags/tag70.xml"/><Relationship Id="rId4" Type="http://schemas.openxmlformats.org/officeDocument/2006/relationships/tags" Target="../tags/tag71.xml"/><Relationship Id="rId5" Type="http://schemas.openxmlformats.org/officeDocument/2006/relationships/tags" Target="../tags/tag72.xml"/><Relationship Id="rId6" Type="http://schemas.openxmlformats.org/officeDocument/2006/relationships/tags" Target="../tags/tag73.xml"/><Relationship Id="rId7" Type="http://schemas.openxmlformats.org/officeDocument/2006/relationships/tags" Target="../tags/tag74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9.bin"/><Relationship Id="rId10" Type="http://schemas.openxmlformats.org/officeDocument/2006/relationships/image" Target="../media/image4.emf"/><Relationship Id="rId11" Type="http://schemas.openxmlformats.org/officeDocument/2006/relationships/image" Target="../media/image3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tags" Target="../tags/tag80.xml"/><Relationship Id="rId7" Type="http://schemas.openxmlformats.org/officeDocument/2006/relationships/tags" Target="../tags/tag81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10.bin"/><Relationship Id="rId10" Type="http://schemas.openxmlformats.org/officeDocument/2006/relationships/image" Target="../media/image4.emf"/><Relationship Id="rId11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tags" Target="../tags/tag85.xml"/><Relationship Id="rId5" Type="http://schemas.openxmlformats.org/officeDocument/2006/relationships/tags" Target="../tags/tag86.xml"/><Relationship Id="rId6" Type="http://schemas.openxmlformats.org/officeDocument/2006/relationships/tags" Target="../tags/tag87.xml"/><Relationship Id="rId7" Type="http://schemas.openxmlformats.org/officeDocument/2006/relationships/tags" Target="../tags/tag88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11.bin"/><Relationship Id="rId10" Type="http://schemas.openxmlformats.org/officeDocument/2006/relationships/image" Target="../media/image4.emf"/><Relationship Id="rId11" Type="http://schemas.openxmlformats.org/officeDocument/2006/relationships/image" Target="../media/image3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89.xml"/><Relationship Id="rId2" Type="http://schemas.openxmlformats.org/officeDocument/2006/relationships/tags" Target="../tags/tag90.xml"/><Relationship Id="rId3" Type="http://schemas.openxmlformats.org/officeDocument/2006/relationships/tags" Target="../tags/tag91.xml"/><Relationship Id="rId4" Type="http://schemas.openxmlformats.org/officeDocument/2006/relationships/tags" Target="../tags/tag92.xml"/><Relationship Id="rId5" Type="http://schemas.openxmlformats.org/officeDocument/2006/relationships/tags" Target="../tags/tag93.xml"/><Relationship Id="rId6" Type="http://schemas.openxmlformats.org/officeDocument/2006/relationships/tags" Target="../tags/tag94.xml"/><Relationship Id="rId7" Type="http://schemas.openxmlformats.org/officeDocument/2006/relationships/tags" Target="../tags/tag95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12.bin"/><Relationship Id="rId10" Type="http://schemas.openxmlformats.org/officeDocument/2006/relationships/image" Target="../media/image5.emf"/><Relationship Id="rId11" Type="http://schemas.openxmlformats.org/officeDocument/2006/relationships/image" Target="../media/image3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96.xml"/><Relationship Id="rId2" Type="http://schemas.openxmlformats.org/officeDocument/2006/relationships/tags" Target="../tags/tag97.xml"/><Relationship Id="rId3" Type="http://schemas.openxmlformats.org/officeDocument/2006/relationships/tags" Target="../tags/tag98.xml"/><Relationship Id="rId4" Type="http://schemas.openxmlformats.org/officeDocument/2006/relationships/tags" Target="../tags/tag99.xml"/><Relationship Id="rId5" Type="http://schemas.openxmlformats.org/officeDocument/2006/relationships/tags" Target="../tags/tag100.xml"/><Relationship Id="rId6" Type="http://schemas.openxmlformats.org/officeDocument/2006/relationships/tags" Target="../tags/tag101.xml"/><Relationship Id="rId7" Type="http://schemas.openxmlformats.org/officeDocument/2006/relationships/tags" Target="../tags/tag102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13.bin"/><Relationship Id="rId10" Type="http://schemas.openxmlformats.org/officeDocument/2006/relationships/image" Target="../media/image4.emf"/><Relationship Id="rId11" Type="http://schemas.openxmlformats.org/officeDocument/2006/relationships/image" Target="../media/image3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103.xml"/><Relationship Id="rId2" Type="http://schemas.openxmlformats.org/officeDocument/2006/relationships/tags" Target="../tags/tag104.xml"/><Relationship Id="rId3" Type="http://schemas.openxmlformats.org/officeDocument/2006/relationships/tags" Target="../tags/tag105.xml"/><Relationship Id="rId4" Type="http://schemas.openxmlformats.org/officeDocument/2006/relationships/tags" Target="../tags/tag106.xml"/><Relationship Id="rId5" Type="http://schemas.openxmlformats.org/officeDocument/2006/relationships/tags" Target="../tags/tag107.xml"/><Relationship Id="rId6" Type="http://schemas.openxmlformats.org/officeDocument/2006/relationships/tags" Target="../tags/tag108.xml"/><Relationship Id="rId7" Type="http://schemas.openxmlformats.org/officeDocument/2006/relationships/tags" Target="../tags/tag109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4.emf"/><Relationship Id="rId11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tags" Target="../tags/tag116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15.bin"/><Relationship Id="rId10" Type="http://schemas.openxmlformats.org/officeDocument/2006/relationships/image" Target="../media/image5.emf"/><Relationship Id="rId11" Type="http://schemas.openxmlformats.org/officeDocument/2006/relationships/image" Target="../media/image3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16.bin"/><Relationship Id="rId10" Type="http://schemas.openxmlformats.org/officeDocument/2006/relationships/image" Target="../media/image4.emf"/><Relationship Id="rId11" Type="http://schemas.openxmlformats.org/officeDocument/2006/relationships/image" Target="../media/image3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24.xml"/><Relationship Id="rId2" Type="http://schemas.openxmlformats.org/officeDocument/2006/relationships/tags" Target="../tags/tag125.xml"/><Relationship Id="rId3" Type="http://schemas.openxmlformats.org/officeDocument/2006/relationships/tags" Target="../tags/tag126.xml"/><Relationship Id="rId4" Type="http://schemas.openxmlformats.org/officeDocument/2006/relationships/tags" Target="../tags/tag127.xml"/><Relationship Id="rId5" Type="http://schemas.openxmlformats.org/officeDocument/2006/relationships/tags" Target="../tags/tag128.xml"/><Relationship Id="rId6" Type="http://schemas.openxmlformats.org/officeDocument/2006/relationships/tags" Target="../tags/tag129.xml"/><Relationship Id="rId7" Type="http://schemas.openxmlformats.org/officeDocument/2006/relationships/tags" Target="../tags/tag130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17.bin"/><Relationship Id="rId10" Type="http://schemas.openxmlformats.org/officeDocument/2006/relationships/image" Target="../media/image4.emf"/><Relationship Id="rId11" Type="http://schemas.openxmlformats.org/officeDocument/2006/relationships/image" Target="../media/image3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31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tags" Target="../tags/tag136.xml"/><Relationship Id="rId7" Type="http://schemas.openxmlformats.org/officeDocument/2006/relationships/tags" Target="../tags/tag137.xml"/><Relationship Id="rId8" Type="http://schemas.openxmlformats.org/officeDocument/2006/relationships/slideMaster" Target="../slideMasters/slideMaster3.xml"/><Relationship Id="rId9" Type="http://schemas.openxmlformats.org/officeDocument/2006/relationships/oleObject" Target="../embeddings/oleObject4.bin"/><Relationship Id="rId10" Type="http://schemas.openxmlformats.org/officeDocument/2006/relationships/image" Target="../media/image4.emf"/><Relationship Id="rId11" Type="http://schemas.openxmlformats.org/officeDocument/2006/relationships/image" Target="../media/image3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138.xml"/><Relationship Id="rId2" Type="http://schemas.openxmlformats.org/officeDocument/2006/relationships/tags" Target="../tags/tag139.xml"/><Relationship Id="rId3" Type="http://schemas.openxmlformats.org/officeDocument/2006/relationships/tags" Target="../tags/tag140.xml"/><Relationship Id="rId4" Type="http://schemas.openxmlformats.org/officeDocument/2006/relationships/tags" Target="../tags/tag141.xml"/><Relationship Id="rId5" Type="http://schemas.openxmlformats.org/officeDocument/2006/relationships/tags" Target="../tags/tag142.xml"/><Relationship Id="rId6" Type="http://schemas.openxmlformats.org/officeDocument/2006/relationships/slideMaster" Target="../slideMasters/slideMaster3.xml"/><Relationship Id="rId7" Type="http://schemas.openxmlformats.org/officeDocument/2006/relationships/oleObject" Target="../embeddings/oleObject18.bin"/><Relationship Id="rId8" Type="http://schemas.openxmlformats.org/officeDocument/2006/relationships/image" Target="../media/image2.emf"/><Relationship Id="rId9" Type="http://schemas.openxmlformats.org/officeDocument/2006/relationships/image" Target="../media/image3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43.xml"/><Relationship Id="rId2" Type="http://schemas.openxmlformats.org/officeDocument/2006/relationships/tags" Target="../tags/tag144.xml"/><Relationship Id="rId3" Type="http://schemas.openxmlformats.org/officeDocument/2006/relationships/tags" Target="../tags/tag145.xml"/><Relationship Id="rId4" Type="http://schemas.openxmlformats.org/officeDocument/2006/relationships/slideMaster" Target="../slideMasters/slideMaster3.xml"/><Relationship Id="rId5" Type="http://schemas.openxmlformats.org/officeDocument/2006/relationships/oleObject" Target="../embeddings/oleObject19.bin"/><Relationship Id="rId6" Type="http://schemas.openxmlformats.org/officeDocument/2006/relationships/image" Target="../media/image2.emf"/><Relationship Id="rId7" Type="http://schemas.openxmlformats.org/officeDocument/2006/relationships/image" Target="../media/image3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46.xml"/><Relationship Id="rId2" Type="http://schemas.openxmlformats.org/officeDocument/2006/relationships/tags" Target="../tags/tag147.xml"/><Relationship Id="rId3" Type="http://schemas.openxmlformats.org/officeDocument/2006/relationships/slideMaster" Target="../slideMasters/slideMaster3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149.xml"/><Relationship Id="rId2" Type="http://schemas.openxmlformats.org/officeDocument/2006/relationships/tags" Target="../tags/tag150.xml"/><Relationship Id="rId3" Type="http://schemas.openxmlformats.org/officeDocument/2006/relationships/tags" Target="../tags/tag151.xml"/><Relationship Id="rId4" Type="http://schemas.openxmlformats.org/officeDocument/2006/relationships/slideMaster" Target="../slideMasters/slideMaster4.xml"/><Relationship Id="rId5" Type="http://schemas.openxmlformats.org/officeDocument/2006/relationships/oleObject" Target="../embeddings/oleObject22.bin"/><Relationship Id="rId6" Type="http://schemas.openxmlformats.org/officeDocument/2006/relationships/image" Target="../media/image4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AA3264E-CB34-4429-9275-D4DC18E9B1E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74748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A343A82-E9F8-4308-B804-1ABAAE8F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9600"/>
            <a:ext cx="10974283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rgbClr val="2E2E3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679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11195"/>
            <a:ext cx="11420856" cy="2268222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5BF6AB-2D80-4B33-BD00-B219B9E8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916F14-7935-4AE8-8068-C3EB1FBA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0950D2-F01E-9F44-AD9E-7771212C5D9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2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8F241A-25B2-3D41-ADDE-A82C17268E58}"/>
              </a:ext>
            </a:extLst>
          </p:cNvPr>
          <p:cNvSpPr/>
          <p:nvPr userDrawn="1"/>
        </p:nvSpPr>
        <p:spPr>
          <a:xfrm>
            <a:off x="1753114" y="1371600"/>
            <a:ext cx="4544568" cy="45456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CA" sz="135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945" y="1676400"/>
            <a:ext cx="3959352" cy="2971800"/>
          </a:xfrm>
          <a:noFill/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945" y="4648200"/>
            <a:ext cx="3959352" cy="914400"/>
          </a:xfrm>
          <a:noFill/>
        </p:spPr>
        <p:txBody>
          <a:bodyPr anchor="b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58CD2-A995-4262-A6D6-8D0AADA5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A21FE-07F5-4A52-B78A-91402A316252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0BD4B6A-B0A7-DE49-A4C4-D8930544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176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B83CA65E-AE9C-F54B-B443-CD30308C2CA7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81000" y="1295400"/>
            <a:ext cx="11430000" cy="4724400"/>
          </a:xfrm>
        </p:spPr>
        <p:txBody>
          <a:bodyPr/>
          <a:lstStyle>
            <a:lvl1pPr marL="0" indent="0">
              <a:buNone/>
              <a:defRPr sz="1600"/>
            </a:lvl1pPr>
            <a:lvl2pPr marL="685800" indent="-228600">
              <a:buFont typeface="Arial" panose="020B0604020202020204" pitchFamily="34" charset="0"/>
              <a:buChar char="•"/>
              <a:defRPr sz="1600"/>
            </a:lvl2pPr>
            <a:lvl3pPr marL="1143000" indent="-228600">
              <a:buFont typeface="Wingdings" pitchFamily="2" charset="2"/>
              <a:buChar char="§"/>
              <a:defRPr sz="1400"/>
            </a:lvl3pPr>
            <a:lvl4pPr marL="1600200" indent="-228600">
              <a:buFont typeface="Arial" panose="020B0604020202020204" pitchFamily="34" charset="0"/>
              <a:buChar char="•"/>
              <a:defRPr sz="1200"/>
            </a:lvl4pPr>
            <a:lvl5pPr marL="2057400" indent="-228600">
              <a:buFont typeface="Wingdings" pitchFamily="2" charset="2"/>
              <a:buChar char="§"/>
              <a:defRPr sz="1000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435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B386B8-F93B-994F-BB71-62E6F2413BC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47800" y="1600200"/>
            <a:ext cx="7162800" cy="4343400"/>
          </a:xfrm>
        </p:spPr>
        <p:txBody>
          <a:bodyPr/>
          <a:lstStyle>
            <a:lvl1pPr>
              <a:spcAft>
                <a:spcPts val="1800"/>
              </a:spcAft>
              <a:defRPr sz="1800"/>
            </a:lvl1pPr>
          </a:lstStyle>
          <a:p>
            <a:pPr lvl="0"/>
            <a:r>
              <a:rPr lang="en-CA"/>
              <a:t>Edit Master text styles</a:t>
            </a:r>
          </a:p>
          <a:p>
            <a:pPr>
              <a:spcAft>
                <a:spcPts val="1800"/>
              </a:spcAft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BD3AE-39E3-494F-A1EE-16FB6F25276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0051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 userDrawn="1">
          <p15:clr>
            <a:srgbClr val="FBAE40"/>
          </p15:clr>
        </p15:guide>
        <p15:guide id="2" orient="horz" pos="672" userDrawn="1">
          <p15:clr>
            <a:srgbClr val="FBAE40"/>
          </p15:clr>
        </p15:guide>
        <p15:guide id="3" orient="horz" pos="3936" userDrawn="1">
          <p15:clr>
            <a:srgbClr val="FBAE40"/>
          </p15:clr>
        </p15:guide>
        <p15:guide id="4" orient="horz" pos="3792" userDrawn="1">
          <p15:clr>
            <a:srgbClr val="FBAE40"/>
          </p15:clr>
        </p15:guide>
        <p15:guide id="5" orient="horz" pos="57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E597-5579-A045-9648-491A56F1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4AE1E-60E5-6446-BB3C-C46E835D334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4048" y="1295401"/>
            <a:ext cx="5559552" cy="4724400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61A1-7135-6A48-88B5-FA6A609C29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8400" y="1295403"/>
            <a:ext cx="5556250" cy="4724399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C1624E-A29C-1D46-89E2-F842DD42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90CB781-62E8-C740-9FC2-AF70714CA6F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B9DA3F-10E5-7D41-84AB-9050D4311949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B699D31A-57EC-B04B-A41A-F3C3AF558E17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1648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 userDrawn="1">
          <p15:clr>
            <a:srgbClr val="FBAE40"/>
          </p15:clr>
        </p15:guide>
        <p15:guide id="2" orient="horz" pos="672" userDrawn="1">
          <p15:clr>
            <a:srgbClr val="FBAE40"/>
          </p15:clr>
        </p15:guide>
        <p15:guide id="3" orient="horz" pos="816" userDrawn="1">
          <p15:clr>
            <a:srgbClr val="FBAE40"/>
          </p15:clr>
        </p15:guide>
        <p15:guide id="4" orient="horz" pos="3936" userDrawn="1">
          <p15:clr>
            <a:srgbClr val="FBAE40"/>
          </p15:clr>
        </p15:guide>
        <p15:guide id="5" orient="horz" pos="3792" userDrawn="1">
          <p15:clr>
            <a:srgbClr val="FBAE40"/>
          </p15:clr>
        </p15:guide>
        <p15:guide id="6" pos="3744" userDrawn="1">
          <p15:clr>
            <a:srgbClr val="FBAE40"/>
          </p15:clr>
        </p15:guide>
        <p15:guide id="7" pos="39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E1948-A0F9-446F-A911-3D63891A9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8448"/>
            <a:ext cx="5564124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82803-AA33-4BE8-B029-8C6D44878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8" y="1981200"/>
            <a:ext cx="5564124" cy="4044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53C96-7453-445F-9A82-BC56E5098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298448"/>
            <a:ext cx="5559297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BCD2F-8EC4-4C1F-8B3F-1D6D83811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5352" y="1981200"/>
            <a:ext cx="5559297" cy="4044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FB384AC-20BD-4E27-BC9E-242394ED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10DE041-1517-5A47-97B4-72983B72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5E41CEC-9B27-A749-A91A-F3876DEE64F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CB532-8D5C-8945-8545-5DB40674F21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A7EA675A-F366-9445-A648-5A3407423352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61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3E20-716D-D744-AD1B-2265FFE5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D4AE55-D906-0746-A30E-B9A295D9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E99D70A-FB1B-FA4E-8933-89A0D75272BA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49664162-4786-1942-ACFE-99521245B22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EB75E0D-B022-7046-BA11-100FFB7C79CE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9821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 userDrawn="1">
          <p15:clr>
            <a:srgbClr val="FBAE40"/>
          </p15:clr>
        </p15:guide>
        <p15:guide id="2" orient="horz" pos="672" userDrawn="1">
          <p15:clr>
            <a:srgbClr val="FBAE40"/>
          </p15:clr>
        </p15:guide>
        <p15:guide id="3" orient="horz" pos="576" userDrawn="1">
          <p15:clr>
            <a:srgbClr val="FBAE40"/>
          </p15:clr>
        </p15:guide>
        <p15:guide id="4" orient="horz" pos="81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E3162EF-D3E7-A34F-83BC-AA048A8C085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CFA69B87-9945-1E41-B174-CB3CA724A68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A906DB9-9029-BD41-B151-DAC6CE38C40C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9679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E6DF-B3B9-7E40-B9F1-4880D25FF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11194"/>
            <a:ext cx="11420856" cy="1327406"/>
          </a:xfrm>
        </p:spPr>
        <p:txBody>
          <a:bodyPr anchor="t" anchorCtr="0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>
            <a:extLst>
              <a:ext uri="{FF2B5EF4-FFF2-40B4-BE49-F238E27FC236}">
                <a16:creationId xmlns:a16="http://schemas.microsoft.com/office/drawing/2014/main" id="{C59257A0-6B83-4D3D-A541-6CB290CD7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CA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E3162EF-D3E7-A34F-83BC-AA048A8C085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23D39E-AEBB-3045-BEFE-A5D4AC3AA1A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E5C5F2E2-F73E-ED44-995B-929141C21D26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5147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771C-B75B-5948-B389-31FAC523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99" y="258707"/>
            <a:ext cx="10515600" cy="4979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F05CB-0C0C-0346-B965-4B52E38BD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EC9632-FDFC-7346-ADAC-032CD905505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D51D7F-14A2-E349-A752-D858A6B93E45}"/>
              </a:ext>
            </a:extLst>
          </p:cNvPr>
          <p:cNvSpPr/>
          <p:nvPr userDrawn="1"/>
        </p:nvSpPr>
        <p:spPr>
          <a:xfrm>
            <a:off x="0" y="914400"/>
            <a:ext cx="12192000" cy="525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A6D5213-C91B-FB4F-87B7-F8A925E83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364" y="6477535"/>
            <a:ext cx="2195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52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, content, foot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426720" y="347472"/>
            <a:ext cx="11338560" cy="65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Line 4"/>
          <p:cNvSpPr>
            <a:spLocks noChangeShapeType="1"/>
          </p:cNvSpPr>
          <p:nvPr userDrawn="1"/>
        </p:nvSpPr>
        <p:spPr bwMode="auto">
          <a:xfrm>
            <a:off x="426720" y="1060704"/>
            <a:ext cx="11338560" cy="0"/>
          </a:xfrm>
          <a:prstGeom prst="line">
            <a:avLst/>
          </a:prstGeom>
          <a:noFill/>
          <a:ln w="28575">
            <a:solidFill>
              <a:srgbClr val="DBCDA3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457200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426720" y="1188721"/>
            <a:ext cx="11338560" cy="4986801"/>
          </a:xfrm>
        </p:spPr>
        <p:txBody>
          <a:bodyPr/>
          <a:lstStyle>
            <a:lvl2pPr>
              <a:buSzPct val="100000"/>
              <a:defRPr/>
            </a:lvl2pPr>
            <a:lvl3pPr marL="685800" indent="-228600">
              <a:buSzPct val="100000"/>
              <a:defRPr/>
            </a:lvl3pPr>
            <a:lvl4pPr marL="685800" indent="0">
              <a:buSzPct val="100000"/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6EA941-3153-4BEC-91E1-C253E1A9E112}"/>
              </a:ext>
            </a:extLst>
          </p:cNvPr>
          <p:cNvSpPr txBox="1">
            <a:spLocks/>
          </p:cNvSpPr>
          <p:nvPr userDrawn="1"/>
        </p:nvSpPr>
        <p:spPr>
          <a:xfrm>
            <a:off x="11519337" y="155448"/>
            <a:ext cx="568367" cy="274320"/>
          </a:xfrm>
          <a:prstGeom prst="rect">
            <a:avLst/>
          </a:prstGeom>
          <a:ln>
            <a:solidFill>
              <a:sysClr val="windowText" lastClr="000000"/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C06B-7969-479A-854B-651176F39A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18064655-CA29-4AAE-B70C-F27350921F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6720" y="6230388"/>
            <a:ext cx="11338560" cy="365125"/>
          </a:xfrm>
        </p:spPr>
        <p:txBody>
          <a:bodyPr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5C51CB0-F570-462F-B2F9-2F3FC829B957}"/>
              </a:ext>
            </a:extLst>
          </p:cNvPr>
          <p:cNvSpPr txBox="1">
            <a:spLocks/>
          </p:cNvSpPr>
          <p:nvPr userDrawn="1"/>
        </p:nvSpPr>
        <p:spPr>
          <a:xfrm>
            <a:off x="4150720" y="652471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155475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3" imgH="416" progId="TCLayout.ActiveDocument.1">
                  <p:embed/>
                </p:oleObj>
              </mc:Choice>
              <mc:Fallback>
                <p:oleObj name="think-cell Slide" r:id="rId5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CA"/>
              <a:t>Source: …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7F3F571-51EF-4F44-0AC8-1FAE3154C6D3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6235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3032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84048" y="4980756"/>
            <a:ext cx="1142085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rtl="0">
              <a:defRPr kumimoji="0" lang="en-US" sz="2000" b="0" i="0" u="none" strike="noStrike" cap="none" spc="0" normalizeH="0" baseline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cs typeface="+mn-cs"/>
              </a:defRPr>
            </a:lvl1pPr>
          </a:lstStyle>
          <a:p>
            <a:pPr marR="0" lvl="0" defTabSz="6858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2711195"/>
            <a:ext cx="11420856" cy="6093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kumimoji="0" lang="en-US" sz="4400" i="0" u="none" strike="noStrike" cap="none" normalizeH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0" marR="0" lvl="0" indent="0" defTabSz="685800" fontAlgn="auto">
              <a:lnSpc>
                <a:spcPct val="9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F0184-ECB8-E567-18D1-18A7529CA6D1}"/>
              </a:ext>
            </a:extLst>
          </p:cNvPr>
          <p:cNvPicPr>
            <a:picLocks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AD9AAC-CE4A-6459-4CDD-63A45392768C}"/>
              </a:ext>
            </a:extLst>
          </p:cNvPr>
          <p:cNvSpPr txBox="1"/>
          <p:nvPr userDrawn="1"/>
        </p:nvSpPr>
        <p:spPr>
          <a:xfrm>
            <a:off x="390981" y="6386285"/>
            <a:ext cx="186508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</a:rPr>
              <a:t>CONFIDENTIAL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F57E0A3-B8F1-434E-5D86-6C16788C5AC0}"/>
              </a:ext>
            </a:extLst>
          </p:cNvPr>
          <p:cNvSpPr txBox="1">
            <a:spLocks/>
          </p:cNvSpPr>
          <p:nvPr userDrawn="1"/>
        </p:nvSpPr>
        <p:spPr>
          <a:xfrm>
            <a:off x="381000" y="0"/>
            <a:ext cx="1371600" cy="1371600"/>
          </a:xfrm>
          <a:prstGeom prst="rect">
            <a:avLst/>
          </a:prstGeom>
          <a:solidFill>
            <a:srgbClr val="BA0C2F"/>
          </a:solidFill>
        </p:spPr>
        <p:txBody>
          <a:bodyPr vert="horz" lIns="91440" tIns="0" rIns="0" bIns="137160" rtlCol="0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471448" y="1082457"/>
            <a:ext cx="1133554" cy="1538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rtl="0">
              <a:defRPr lang="en-US" sz="1000" dirty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rPr lang="en-CA"/>
              <a:t>Edit date or title/role</a:t>
            </a:r>
          </a:p>
        </p:txBody>
      </p:sp>
    </p:spTree>
    <p:extLst>
      <p:ext uri="{BB962C8B-B14F-4D97-AF65-F5344CB8AC3E}">
        <p14:creationId xmlns:p14="http://schemas.microsoft.com/office/powerpoint/2010/main" val="2623178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00494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84048" y="1115190"/>
            <a:ext cx="11420856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CA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84048" y="474575"/>
            <a:ext cx="11420856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lvl1pPr rtl="0">
              <a:defRPr lang="en-US" b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7F3F571-51EF-4F44-0AC8-1FAE3154C6D3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94850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51402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9" name="Sticker" hidden="1">
            <a:extLst>
              <a:ext uri="{FF2B5EF4-FFF2-40B4-BE49-F238E27FC236}">
                <a16:creationId xmlns:a16="http://schemas.microsoft.com/office/drawing/2014/main" id="{64F3132B-1605-45D5-B06F-B703D774997D}"/>
              </a:ext>
            </a:extLst>
          </p:cNvPr>
          <p:cNvSpPr txBox="1"/>
          <p:nvPr userDrawn="1"/>
        </p:nvSpPr>
        <p:spPr bwMode="gray">
          <a:xfrm>
            <a:off x="384048" y="1590395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CA" sz="800" b="1" cap="all" baseline="0"/>
              <a:t>STICKER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3"/>
            </p:custDataLst>
          </p:nvPr>
        </p:nvSpPr>
        <p:spPr bwMode="gray">
          <a:xfrm>
            <a:off x="384048" y="1323370"/>
            <a:ext cx="11420856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gray"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 bwMode="gray">
          <a:xfrm>
            <a:off x="384048" y="474575"/>
            <a:ext cx="11420856" cy="76944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rtl="0">
              <a:defRPr/>
            </a:lvl1pPr>
          </a:lstStyle>
          <a:p>
            <a:r>
              <a:rPr lang="en-CA"/>
              <a:t>Click to edit Master title style</a:t>
            </a:r>
            <a:br>
              <a:rPr lang="en-CA"/>
            </a:br>
            <a:endParaRPr lang="en-CA"/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07FBFE66-0229-81D3-DEA7-A5D6BC24A4F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40B08A77-C8F9-D70A-A072-D3ED836CF0AD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064636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72513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1408557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EB71C6E1-DE5D-7A0F-63A1-33C47957C43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869EB9E-E8D7-915A-FAA4-6FB69BAE7D16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81998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93503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F1A3042-0217-F9CF-F5A5-A65BDF92251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6C1B020-44DE-6693-0D74-237F8F4102C5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71507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23421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F0955D6-D05B-7664-303A-D5A9940E27F5}"/>
              </a:ext>
            </a:extLst>
          </p:cNvPr>
          <p:cNvSpPr>
            <a:spLocks/>
          </p:cNvSpPr>
          <p:nvPr userDrawn="1"/>
        </p:nvSpPr>
        <p:spPr>
          <a:xfrm>
            <a:off x="-6628" y="-1"/>
            <a:ext cx="12198627" cy="6210301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2711194"/>
            <a:ext cx="11426952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16D4646D-BA34-98E0-F9F9-093863FFBBE6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1079BF3-6963-A282-86D6-96139A513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 rtl="0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D06A922-CECD-E279-7930-6D1DFBF959FA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86178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12330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3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CA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/>
              <a:t>Click to add quote source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FDEF8BC5-6191-1F35-7C7B-6D5416C1724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A8991E8-2D24-AAF4-9655-7C15CED50A2B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620867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65461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81000" y="3659644"/>
            <a:ext cx="2688336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81000" y="41597"/>
            <a:ext cx="268833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381000" y="2744369"/>
            <a:ext cx="268833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603FDD6-0839-DB06-FE77-FA0CD3809260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994489-C8A4-5CBD-D014-867AC0650C52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01C9D920-E27C-991F-5BF9-F69F2FEB620E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9752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44388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80999" y="3659644"/>
            <a:ext cx="36393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81000" y="2744369"/>
            <a:ext cx="3639310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E06247-B4E4-3760-6D3A-246B7082D3B9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EEA478D6-0038-FCEC-114C-9815DC7B99A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47A4F8-6242-C226-F584-9D2FFC9BC952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903A619D-61BB-3412-4045-F5E27F0D5E1D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856701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165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5236463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5236463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5DC02E-B329-EB93-B8A7-27601F26D8CE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E713FEFC-2BDB-122E-D26F-A4B8B64B7F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818379-956A-0326-E041-CFC8B000C209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EA76B8C4-DFB3-C0B8-ABA8-9D0E25A7AE5A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844363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3590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72" imgH="588" progId="TCLayout.ActiveDocument.1">
                  <p:embed/>
                </p:oleObj>
              </mc:Choice>
              <mc:Fallback>
                <p:oleObj name="think-cell Slide" r:id="rId9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474575"/>
            <a:ext cx="7138416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713841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5062B-A2D4-0FFA-26FA-D9C7D16114F7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75EDA958-CF08-C5B5-A0A7-F79FB7FF36A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0D55CD-7793-96C5-0580-9246A9AA87F0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7709F06F-F39B-DBB5-035E-B50500563775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584786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1410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8092440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809244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1F5CE6D-12A9-9F4B-3F38-D49889F785C4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902F8C6-7197-256D-AF28-E116E8A9088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A63795-6D85-2C78-1870-D6ED3F56AB87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94941C7D-7712-A57F-3467-7208697E35C5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256167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1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50931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2F33DBBD-D018-E13A-1BB4-24E6363740ED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0" y="0"/>
            <a:ext cx="8781416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8092440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8092440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1F5CE6D-12A9-9F4B-3F38-D49889F785C4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902F8C6-7197-256D-AF28-E116E8A9088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A63795-6D85-2C78-1870-D6ED3F56AB87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E0C43123-19A3-8B65-9B81-0473D548C30E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767686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4750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72" imgH="588" progId="TCLayout.ActiveDocument.1">
                  <p:embed/>
                </p:oleObj>
              </mc:Choice>
              <mc:Fallback>
                <p:oleObj name="think-cell Slide" r:id="rId9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C82B4365-42A1-0C83-A7D6-A5881F3F6464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0" y="0"/>
            <a:ext cx="7830312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7138416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713841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B5062B-A2D4-0FFA-26FA-D9C7D16114F7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75EDA958-CF08-C5B5-A0A7-F79FB7FF36A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0D55CD-7793-96C5-0580-9246A9AA87F0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253AFE7D-2F46-BC91-11DC-37C515A1D18F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999648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16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84048" y="474575"/>
            <a:ext cx="5236463" cy="384721"/>
          </a:xfrm>
        </p:spPr>
        <p:txBody>
          <a:bodyPr vert="horz" wrap="square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384048" y="1115190"/>
            <a:ext cx="5236463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65DC02E-B329-EB93-B8A7-27601F26D8CE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E713FEFC-2BDB-122E-D26F-A4B8B64B7F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818379-956A-0326-E041-CFC8B000C209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AA632E3D-E3B6-5296-664F-9B5620B4DDD1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316199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3553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8CF36762-9C23-6452-C20C-1DC4C5CE329B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0" y="0"/>
            <a:ext cx="4364736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80999" y="3659644"/>
            <a:ext cx="36393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81000" y="2744369"/>
            <a:ext cx="3639310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E06247-B4E4-3760-6D3A-246B7082D3B9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EEA478D6-0038-FCEC-114C-9815DC7B99A5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47A4F8-6242-C226-F584-9D2FFC9BC952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2" name="Slide Number">
            <a:extLst>
              <a:ext uri="{FF2B5EF4-FFF2-40B4-BE49-F238E27FC236}">
                <a16:creationId xmlns:a16="http://schemas.microsoft.com/office/drawing/2014/main" id="{2984F8DB-A255-1CC2-D6FF-60E0EB2C9F37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474600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_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101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8C3601F5-5F44-52AC-F768-AA5D6FC20CD0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0" y="0"/>
            <a:ext cx="3413760" cy="6858000"/>
          </a:xfrm>
          <a:prstGeom prst="rect">
            <a:avLst/>
          </a:prstGeom>
          <a:solidFill>
            <a:srgbClr val="E6E6E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CA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81000" y="3659644"/>
            <a:ext cx="2688336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381000" y="41597"/>
            <a:ext cx="268833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381000" y="2744369"/>
            <a:ext cx="268833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603FDD6-0839-DB06-FE77-FA0CD3809260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994489-C8A4-5CBD-D014-867AC0650C52}"/>
              </a:ext>
            </a:extLst>
          </p:cNvPr>
          <p:cNvPicPr>
            <a:picLocks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1F606D18-7C17-279C-E859-6955303D02BF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183577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17935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666935"/>
            <a:ext cx="11420856" cy="384721"/>
          </a:xfrm>
        </p:spPr>
        <p:txBody>
          <a:bodyPr vert="horz" anchor="ctr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9" name="Sticker" hidden="1">
            <a:extLst>
              <a:ext uri="{FF2B5EF4-FFF2-40B4-BE49-F238E27FC236}">
                <a16:creationId xmlns:a16="http://schemas.microsoft.com/office/drawing/2014/main" id="{2B5F1846-DB86-4338-8AFA-F2C1B534B900}"/>
              </a:ext>
            </a:extLst>
          </p:cNvPr>
          <p:cNvSpPr txBox="1"/>
          <p:nvPr userDrawn="1"/>
        </p:nvSpPr>
        <p:spPr>
          <a:xfrm>
            <a:off x="384048" y="149705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CA" sz="800" b="1" cap="all" baseline="0"/>
              <a:t>STICKER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15DEFA-E174-36C7-A79A-4D8CDA98F8F5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2217D473-9605-5466-92BB-EC2EAB18D79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CA7084-3635-AC2B-A202-189AD36903BF}"/>
              </a:ext>
            </a:extLst>
          </p:cNvPr>
          <p:cNvPicPr>
            <a:picLocks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CA823A-DDBF-6B2A-B2C2-90847A3911BE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10993"/>
            <a:ext cx="11420856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">
            <a:extLst>
              <a:ext uri="{FF2B5EF4-FFF2-40B4-BE49-F238E27FC236}">
                <a16:creationId xmlns:a16="http://schemas.microsoft.com/office/drawing/2014/main" id="{80ED6C01-14DF-B809-6CDD-8AADF741EDDA}"/>
              </a:ext>
            </a:extLst>
          </p:cNvPr>
          <p:cNvSpPr txBox="1">
            <a:spLocks/>
          </p:cNvSpPr>
          <p:nvPr userDrawn="1"/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  <a:latin typeface="Arial" panose="020B0604020202020204"/>
              </a:rPr>
              <a:pPr rtl="0"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  <a:latin typeface="Arial" panose="020B060402020202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F71626-6519-CC8A-030C-BDBA8219FDC7}"/>
              </a:ext>
            </a:extLst>
          </p:cNvPr>
          <p:cNvCxnSpPr>
            <a:cxnSpLocks/>
          </p:cNvCxnSpPr>
          <p:nvPr userDrawn="1"/>
        </p:nvCxnSpPr>
        <p:spPr>
          <a:xfrm>
            <a:off x="384048" y="1471012"/>
            <a:ext cx="11420856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5979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5366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438ED75-4ED6-626D-0A85-643507C0AB88}"/>
              </a:ext>
            </a:extLst>
          </p:cNvPr>
          <p:cNvSpPr txBox="1">
            <a:spLocks/>
          </p:cNvSpPr>
          <p:nvPr userDrawn="1"/>
        </p:nvSpPr>
        <p:spPr>
          <a:xfrm>
            <a:off x="10261600" y="15240"/>
            <a:ext cx="1000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indent="0" algn="r" defTabSz="914400" rtl="0" eaLnBrk="1" latinLnBrk="0" hangingPunct="1">
              <a:tabLst>
                <a:tab pos="1338263" algn="r"/>
              </a:tabLst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36663" algn="r"/>
              </a:tabLst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60400E1-CF9C-5CB0-A8CB-B5A5F5113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5240" y="15240"/>
            <a:ext cx="36576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r" rtl="0">
              <a:tabLst>
                <a:tab pos="1338263" algn="r"/>
              </a:tabLst>
              <a:defRPr sz="900">
                <a:solidFill>
                  <a:schemeClr val="tx1"/>
                </a:solidFill>
              </a:defRPr>
            </a:lvl1pPr>
          </a:lstStyle>
          <a:p>
            <a:pPr>
              <a:tabLst>
                <a:tab pos="1236663" algn="r"/>
              </a:tabLst>
              <a:defRPr/>
            </a:pPr>
            <a:fld id="{6007601C-0F56-1D44-9B09-FD7525EEC724}" type="slidenum">
              <a:rPr lang="en-CA" smtClean="0">
                <a:solidFill>
                  <a:srgbClr val="515349"/>
                </a:solidFill>
              </a:rPr>
              <a:pPr>
                <a:tabLst>
                  <a:tab pos="1236663" algn="r"/>
                </a:tabLst>
                <a:defRPr/>
              </a:pPr>
              <a:t>‹#›</a:t>
            </a:fld>
            <a:endParaRPr lang="en-CA">
              <a:solidFill>
                <a:srgbClr val="515349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620CB9B9-4617-C642-819E-6EBB8BF7D77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84048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CA"/>
              <a:t>Add tracker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308DD5-9CE5-9BBB-6D37-DC8022108524}"/>
              </a:ext>
            </a:extLst>
          </p:cNvPr>
          <p:cNvPicPr>
            <a:picLocks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04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4814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384048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CA" sz="800"/>
              <a:t>Source: 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63D52D-FC6C-C10E-68DA-02C9EC9BFB9C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964515" y="3003214"/>
            <a:ext cx="2262971" cy="85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001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11195"/>
            <a:ext cx="11420856" cy="2268222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5BF6AB-2D80-4B33-BD00-B219B9E8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799490EA-2102-4C89-863D-10A7A47B8107}" type="datetime1">
              <a:rPr lang="en-US" smtClean="0"/>
              <a:t>9/2/2026</a:t>
            </a:fld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916F14-7935-4AE8-8068-C3EB1FBA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r>
              <a:rPr lang="en-CA"/>
              <a:t>CONFIDENTIAL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0950D2-F01E-9F44-AD9E-7771212C5D9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412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8F241A-25B2-3D41-ADDE-A82C17268E58}"/>
              </a:ext>
            </a:extLst>
          </p:cNvPr>
          <p:cNvSpPr/>
          <p:nvPr userDrawn="1"/>
        </p:nvSpPr>
        <p:spPr>
          <a:xfrm>
            <a:off x="1753114" y="1371600"/>
            <a:ext cx="4544568" cy="45456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CA" sz="135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945" y="1676400"/>
            <a:ext cx="3959352" cy="2971800"/>
          </a:xfrm>
          <a:noFill/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945" y="4648200"/>
            <a:ext cx="3959352" cy="914400"/>
          </a:xfrm>
          <a:noFill/>
        </p:spPr>
        <p:txBody>
          <a:bodyPr anchor="b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58CD2-A995-4262-A6D6-8D0AADA5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91FF3DF2-E35D-4C4D-80DF-954FD10E999E}" type="datetime1">
              <a:rPr lang="en-US" smtClean="0"/>
              <a:t>9/2/2026</a:t>
            </a:fld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A21FE-07F5-4A52-B78A-91402A316252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0BD4B6A-B0A7-DE49-A4C4-D8930544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r>
              <a:rPr lang="en-CA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5805922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AC830EDD-E25E-4688-8B29-7C93A56EF674}" type="datetime1">
              <a:rPr lang="en-US" smtClean="0"/>
              <a:t>9/2/2026</a:t>
            </a:fld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B83CA65E-AE9C-F54B-B443-CD30308C2CA7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81000" y="1295400"/>
            <a:ext cx="11430000" cy="4724400"/>
          </a:xfrm>
        </p:spPr>
        <p:txBody>
          <a:bodyPr/>
          <a:lstStyle>
            <a:lvl1pPr marL="0" indent="0">
              <a:buNone/>
              <a:defRPr sz="1600"/>
            </a:lvl1pPr>
            <a:lvl2pPr marL="685800" indent="-228600">
              <a:buFont typeface="Arial" panose="020B0604020202020204" pitchFamily="34" charset="0"/>
              <a:buChar char="•"/>
              <a:defRPr sz="1600"/>
            </a:lvl2pPr>
            <a:lvl3pPr marL="1143000" indent="-228600">
              <a:buFont typeface="Wingdings" pitchFamily="2" charset="2"/>
              <a:buChar char="§"/>
              <a:defRPr sz="1400"/>
            </a:lvl3pPr>
            <a:lvl4pPr marL="1600200" indent="-228600">
              <a:buFont typeface="Arial" panose="020B0604020202020204" pitchFamily="34" charset="0"/>
              <a:buChar char="•"/>
              <a:defRPr sz="1200"/>
            </a:lvl4pPr>
            <a:lvl5pPr marL="2057400" indent="-228600">
              <a:buFont typeface="Wingdings" pitchFamily="2" charset="2"/>
              <a:buChar char="§"/>
              <a:defRPr sz="1000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0190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1DFF5FEA-9A85-43E6-8C59-BAAE89ED3061}" type="datetime1">
              <a:rPr lang="en-US" smtClean="0"/>
              <a:t>9/2/2026</a:t>
            </a:fld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B386B8-F93B-994F-BB71-62E6F2413BC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47800" y="1600200"/>
            <a:ext cx="7162800" cy="4343400"/>
          </a:xfrm>
        </p:spPr>
        <p:txBody>
          <a:bodyPr/>
          <a:lstStyle>
            <a:lvl1pPr>
              <a:spcAft>
                <a:spcPts val="1800"/>
              </a:spcAft>
              <a:defRPr sz="1800"/>
            </a:lvl1pPr>
          </a:lstStyle>
          <a:p>
            <a:pPr lvl="0"/>
            <a:r>
              <a:rPr lang="en-CA"/>
              <a:t>Edit Master text styles</a:t>
            </a:r>
          </a:p>
          <a:p>
            <a:pPr>
              <a:spcAft>
                <a:spcPts val="1800"/>
              </a:spcAft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11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BD3AE-39E3-494F-A1EE-16FB6F25276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79612-F33F-440D-A54F-58134DD6B0C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DFC179E5-4269-44D4-A984-C57F7029D15D}" type="datetime1">
              <a:rPr lang="en-US" smtClean="0"/>
              <a:t>9/2/2026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0082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E597-5579-A045-9648-491A56F1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4AE1E-60E5-6446-BB3C-C46E835D334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4048" y="1295401"/>
            <a:ext cx="5559552" cy="4724400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61A1-7135-6A48-88B5-FA6A609C29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8400" y="1295403"/>
            <a:ext cx="5556250" cy="4724399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C1624E-A29C-1D46-89E2-F842DD42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90CB781-62E8-C740-9FC2-AF70714CA6F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99AEB2EC-B98E-4DA9-999E-94A62D6D17F4}" type="datetime1">
              <a:rPr lang="en-US" smtClean="0"/>
              <a:t>9/2/2026</a:t>
            </a:fld>
            <a:endParaRPr lang="en-CA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B9DA3F-10E5-7D41-84AB-9050D4311949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B699D31A-57EC-B04B-A41A-F3C3AF558E17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5002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816">
          <p15:clr>
            <a:srgbClr val="FBAE40"/>
          </p15:clr>
        </p15:guide>
        <p15:guide id="4" orient="horz" pos="3936">
          <p15:clr>
            <a:srgbClr val="FBAE40"/>
          </p15:clr>
        </p15:guide>
        <p15:guide id="5" orient="horz" pos="3792">
          <p15:clr>
            <a:srgbClr val="FBAE40"/>
          </p15:clr>
        </p15:guide>
        <p15:guide id="6" pos="3744">
          <p15:clr>
            <a:srgbClr val="FBAE40"/>
          </p15:clr>
        </p15:guide>
        <p15:guide id="7" pos="3936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E1948-A0F9-446F-A911-3D63891A9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8448"/>
            <a:ext cx="5564124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82803-AA33-4BE8-B029-8C6D44878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8" y="1981200"/>
            <a:ext cx="5564124" cy="4044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53C96-7453-445F-9A82-BC56E5098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298448"/>
            <a:ext cx="5559297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BCD2F-8EC4-4C1F-8B3F-1D6D83811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5352" y="1981200"/>
            <a:ext cx="5559297" cy="4044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FB384AC-20BD-4E27-BC9E-242394ED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10DE041-1517-5A47-97B4-72983B72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5E41CEC-9B27-A749-A91A-F3876DEE64F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142621F5-A24C-4F03-A48E-31E768572852}" type="datetime1">
              <a:rPr lang="en-US" smtClean="0"/>
              <a:t>9/2/2026</a:t>
            </a:fld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CB532-8D5C-8945-8545-5DB40674F21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A7EA675A-F366-9445-A648-5A3407423352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85184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3E20-716D-D744-AD1B-2265FFE5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D4AE55-D906-0746-A30E-B9A295D9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E99D70A-FB1B-FA4E-8933-89A0D75272BA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B01D7BC3-961C-46B9-A6DE-2A4B9BFDFACA}" type="datetime1">
              <a:rPr lang="en-US" smtClean="0"/>
              <a:t>9/2/2026</a:t>
            </a:fld>
            <a:endParaRPr lang="en-CA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49664162-4786-1942-ACFE-99521245B22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EB75E0D-B022-7046-BA11-100FFB7C79CE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5448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576">
          <p15:clr>
            <a:srgbClr val="FBAE40"/>
          </p15:clr>
        </p15:guide>
        <p15:guide id="4" orient="horz" pos="81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E3162EF-D3E7-A34F-83BC-AA048A8C085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61674021-7670-40BD-A0D8-5DBD86FDADC1}" type="datetime1">
              <a:rPr lang="en-US" smtClean="0"/>
              <a:t>9/2/2026</a:t>
            </a:fld>
            <a:endParaRPr lang="en-CA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CFA69B87-9945-1E41-B174-CB3CA724A68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A906DB9-9029-BD41-B151-DAC6CE38C40C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8828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E6DF-B3B9-7E40-B9F1-4880D25FF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11194"/>
            <a:ext cx="11420856" cy="1327406"/>
          </a:xfrm>
        </p:spPr>
        <p:txBody>
          <a:bodyPr anchor="t" anchorCtr="0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>
            <a:extLst>
              <a:ext uri="{FF2B5EF4-FFF2-40B4-BE49-F238E27FC236}">
                <a16:creationId xmlns:a16="http://schemas.microsoft.com/office/drawing/2014/main" id="{C59257A0-6B83-4D3D-A541-6CB290CD7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E3162EF-D3E7-A34F-83BC-AA048A8C085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/>
          <a:lstStyle/>
          <a:p>
            <a:fld id="{CF944FD7-3ED2-438A-8383-15783F3719A1}" type="datetime1">
              <a:rPr lang="en-US" smtClean="0"/>
              <a:t>9/2/2026</a:t>
            </a:fld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23D39E-AEBB-3045-BEFE-A5D4AC3AA1A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E5C5F2E2-F73E-ED44-995B-929141C21D26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144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375-B998-DB2E-0658-3A60F61D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29413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19E497-760E-2343-8AB4-5FC0741705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4001" y="1638795"/>
            <a:ext cx="7315200" cy="4228606"/>
          </a:xfrm>
        </p:spPr>
        <p:txBody>
          <a:bodyPr>
            <a:normAutofit/>
          </a:bodyPr>
          <a:lstStyle>
            <a:lvl1pPr marL="228596" marR="0" indent="-228596" algn="l" defTabSz="685787" rtl="0" eaLnBrk="1" fontAlgn="auto" latinLnBrk="0" hangingPunct="1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1" baseline="0"/>
            </a:lvl1pPr>
            <a:lvl2pPr marL="457193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§"/>
              <a:tabLst/>
              <a:defRPr sz="1600"/>
            </a:lvl2pPr>
            <a:lvl3pPr marL="685787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914384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§"/>
              <a:tabLst/>
              <a:defRPr sz="1402"/>
            </a:lvl4pPr>
            <a:lvl5pPr marL="1142980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2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C8E8A9-AB08-7B48-9A0F-E83591189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4841" y="6392640"/>
            <a:ext cx="188685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1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3457E63-6189-B349-88A8-D285627B5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6469" y="6392640"/>
            <a:ext cx="695355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1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5A9E83-A26F-CB4A-BA70-D976E7A6D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6320" y="1"/>
            <a:ext cx="48768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r">
              <a:tabLst>
                <a:tab pos="1338239" algn="r"/>
              </a:tabLst>
              <a:defRPr sz="901">
                <a:solidFill>
                  <a:schemeClr val="tx1"/>
                </a:solidFill>
              </a:defRPr>
            </a:lvl1pPr>
          </a:lstStyle>
          <a:p>
            <a:pPr>
              <a:tabLst>
                <a:tab pos="1236642" algn="r"/>
              </a:tabLst>
            </a:pPr>
            <a:fld id="{6007601C-0F56-1D44-9B09-FD7525EEC724}" type="slidenum">
              <a:rPr lang="fr-CA" smtClean="0"/>
              <a:pPr>
                <a:tabLst>
                  <a:tab pos="1236642" algn="r"/>
                </a:tabLst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64546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7">
          <p15:clr>
            <a:srgbClr val="FBAE40"/>
          </p15:clr>
        </p15:guide>
        <p15:guide id="2" orient="horz" pos="895">
          <p15:clr>
            <a:srgbClr val="FBAE40"/>
          </p15:clr>
        </p15:guide>
        <p15:guide id="3" orient="horz" pos="5243">
          <p15:clr>
            <a:srgbClr val="FBAE40"/>
          </p15:clr>
        </p15:guide>
        <p15:guide id="4" orient="horz" pos="5051">
          <p15:clr>
            <a:srgbClr val="FBAE40"/>
          </p15:clr>
        </p15:guide>
        <p15:guide id="5" orient="horz" pos="767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19E497-760E-2343-8AB4-5FC0741705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4001" y="1638795"/>
            <a:ext cx="7315200" cy="4228606"/>
          </a:xfrm>
        </p:spPr>
        <p:txBody>
          <a:bodyPr>
            <a:normAutofit/>
          </a:bodyPr>
          <a:lstStyle>
            <a:lvl1pPr marL="228596" marR="0" indent="-228596" algn="l" defTabSz="685787" rtl="0" eaLnBrk="1" fontAlgn="auto" latinLnBrk="0" hangingPunct="1">
              <a:lnSpc>
                <a:spcPct val="90000"/>
              </a:lnSpc>
              <a:spcBef>
                <a:spcPts val="2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1" baseline="0"/>
            </a:lvl1pPr>
            <a:lvl2pPr marL="457193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§"/>
              <a:tabLst/>
              <a:defRPr sz="1600"/>
            </a:lvl2pPr>
            <a:lvl3pPr marL="685787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3pPr>
            <a:lvl4pPr marL="914384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Char char="§"/>
              <a:tabLst/>
              <a:defRPr sz="1402"/>
            </a:lvl4pPr>
            <a:lvl5pPr marL="1142980" marR="0" indent="-228596" algn="l" defTabSz="68578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2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C8E8A9-AB08-7B48-9A0F-E83591189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4841" y="6392640"/>
            <a:ext cx="1886858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1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3457E63-6189-B349-88A8-D285627B5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6469" y="6392640"/>
            <a:ext cx="695355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1">
                <a:solidFill>
                  <a:schemeClr val="tx1"/>
                </a:solidFill>
              </a:defRPr>
            </a:lvl1pPr>
          </a:lstStyle>
          <a:p>
            <a:endParaRPr lang="fr-CA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5A9E83-A26F-CB4A-BA70-D976E7A6D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6320" y="1"/>
            <a:ext cx="487680" cy="2895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marL="0" indent="0" algn="r">
              <a:tabLst>
                <a:tab pos="1338239" algn="r"/>
              </a:tabLst>
              <a:defRPr sz="901">
                <a:solidFill>
                  <a:schemeClr val="tx1"/>
                </a:solidFill>
              </a:defRPr>
            </a:lvl1pPr>
          </a:lstStyle>
          <a:p>
            <a:pPr>
              <a:tabLst>
                <a:tab pos="1236642" algn="r"/>
              </a:tabLst>
            </a:pPr>
            <a:fld id="{6007601C-0F56-1D44-9B09-FD7525EEC724}" type="slidenum">
              <a:rPr lang="fr-CA" smtClean="0"/>
              <a:pPr>
                <a:tabLst>
                  <a:tab pos="1236642" algn="r"/>
                </a:tabLst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7407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7">
          <p15:clr>
            <a:srgbClr val="FBAE40"/>
          </p15:clr>
        </p15:guide>
        <p15:guide id="2" orient="horz" pos="895">
          <p15:clr>
            <a:srgbClr val="FBAE40"/>
          </p15:clr>
        </p15:guide>
        <p15:guide id="3" orient="horz" pos="5243">
          <p15:clr>
            <a:srgbClr val="FBAE40"/>
          </p15:clr>
        </p15:guide>
        <p15:guide id="4" orient="horz" pos="5051">
          <p15:clr>
            <a:srgbClr val="FBAE40"/>
          </p15:clr>
        </p15:guide>
        <p15:guide id="5" orient="horz" pos="767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3" imgH="416" progId="TCLayout.ActiveDocument.1">
                  <p:embed/>
                </p:oleObj>
              </mc:Choice>
              <mc:Fallback>
                <p:oleObj name="think-cell Slide" r:id="rId5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84048" y="1115190"/>
            <a:ext cx="11420856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84048" y="474575"/>
            <a:ext cx="11420856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lvl1pPr rtl="0">
              <a:defRPr lang="en-US" b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13424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2711195"/>
            <a:ext cx="11420856" cy="2268222"/>
          </a:xfrm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4980756"/>
            <a:ext cx="11420856" cy="93084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A5BF6AB-2D80-4B33-BD00-B219B9E8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CDBF8F42-D06F-45B9-B73A-766CE9B194F1}" type="datetime4">
              <a:rPr lang="en-US" smtClean="0"/>
              <a:t>September 2, 2026</a:t>
            </a:fld>
            <a:endParaRPr lang="en-CA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916F14-7935-4AE8-8068-C3EB1FBA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r>
              <a:rPr lang="en-CA"/>
              <a:t>CONFIDENTIAL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0950D2-F01E-9F44-AD9E-7771212C5D9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620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8F241A-25B2-3D41-ADDE-A82C17268E58}"/>
              </a:ext>
            </a:extLst>
          </p:cNvPr>
          <p:cNvSpPr/>
          <p:nvPr userDrawn="1"/>
        </p:nvSpPr>
        <p:spPr>
          <a:xfrm>
            <a:off x="1753114" y="1371600"/>
            <a:ext cx="4544568" cy="45456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endParaRPr lang="en-CA" sz="135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303B1-ED2E-EE47-84F0-7EE03B80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945" y="1676400"/>
            <a:ext cx="3959352" cy="2971800"/>
          </a:xfrm>
          <a:noFill/>
        </p:spPr>
        <p:txBody>
          <a:bodyPr anchor="t" anchorCtr="0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1E3D5-49CD-FF4C-B5BD-302678C8C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945" y="4648200"/>
            <a:ext cx="3959352" cy="914400"/>
          </a:xfrm>
          <a:noFill/>
        </p:spPr>
        <p:txBody>
          <a:bodyPr anchor="b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58CD2-A995-4262-A6D6-8D0AADA5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048" y="-9144"/>
            <a:ext cx="1371600" cy="1380744"/>
          </a:xfrm>
          <a:prstGeom prst="rect">
            <a:avLst/>
          </a:prstGeom>
          <a:solidFill>
            <a:schemeClr val="tx2"/>
          </a:solidFill>
        </p:spPr>
        <p:txBody>
          <a:bodyPr lIns="109728" rIns="45720" bIns="137160" anchor="b" anchorCtr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9CF9511F-66B6-4162-A656-B18DA862C9E7}" type="datetime4">
              <a:rPr lang="en-US" smtClean="0"/>
              <a:t>September 2, 2026</a:t>
            </a:fld>
            <a:endParaRPr lang="en-CA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A21FE-07F5-4A52-B78A-91402A316252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03942" y="5912934"/>
            <a:ext cx="1600200" cy="602166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0BD4B6A-B0A7-DE49-A4C4-D8930544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9664700" cy="342900"/>
          </a:xfrm>
          <a:prstGeom prst="rect">
            <a:avLst/>
          </a:prstGeom>
        </p:spPr>
        <p:txBody>
          <a:bodyPr/>
          <a:lstStyle/>
          <a:p>
            <a:r>
              <a:rPr lang="en-CA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6053731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B83CA65E-AE9C-F54B-B443-CD30308C2CA7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81000" y="1295400"/>
            <a:ext cx="11430000" cy="4724400"/>
          </a:xfrm>
        </p:spPr>
        <p:txBody>
          <a:bodyPr/>
          <a:lstStyle>
            <a:lvl1pPr marL="0" indent="0">
              <a:buNone/>
              <a:defRPr sz="1600"/>
            </a:lvl1pPr>
            <a:lvl2pPr marL="685800" indent="-228600">
              <a:buFont typeface="Arial" panose="020B0604020202020204" pitchFamily="34" charset="0"/>
              <a:buChar char="•"/>
              <a:defRPr sz="1600"/>
            </a:lvl2pPr>
            <a:lvl3pPr marL="1143000" indent="-228600">
              <a:buFont typeface="Wingdings" pitchFamily="2" charset="2"/>
              <a:buChar char="§"/>
              <a:defRPr sz="1400"/>
            </a:lvl3pPr>
            <a:lvl4pPr marL="1600200" indent="-228600">
              <a:buFont typeface="Arial" panose="020B0604020202020204" pitchFamily="34" charset="0"/>
              <a:buChar char="•"/>
              <a:defRPr sz="1200"/>
            </a:lvl4pPr>
            <a:lvl5pPr marL="2057400" indent="-228600">
              <a:buFont typeface="Wingdings" pitchFamily="2" charset="2"/>
              <a:buChar char="§"/>
              <a:defRPr sz="1000"/>
            </a:lvl5pPr>
          </a:lstStyle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3706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B386B8-F93B-994F-BB71-62E6F2413BC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47800" y="1600200"/>
            <a:ext cx="7162800" cy="4343400"/>
          </a:xfrm>
        </p:spPr>
        <p:txBody>
          <a:bodyPr/>
          <a:lstStyle>
            <a:lvl1pPr>
              <a:spcAft>
                <a:spcPts val="1800"/>
              </a:spcAft>
              <a:defRPr sz="1800"/>
            </a:lvl1pPr>
          </a:lstStyle>
          <a:p>
            <a:pPr lvl="0"/>
            <a:r>
              <a:rPr lang="en-CA"/>
              <a:t>Edit Master text styles</a:t>
            </a:r>
          </a:p>
          <a:p>
            <a:pPr>
              <a:spcAft>
                <a:spcPts val="1800"/>
              </a:spcAft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724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C9A6-0E83-7A4B-A38B-4946C3F2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BD3AE-39E3-494F-A1EE-16FB6F25276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2085-A4F8-6F43-B5BD-2B5C5F42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E2328D-2C11-F54F-BB03-882DEF6EB440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0EA872F-4A4A-2F4F-831B-AEDCC73E2B2D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6674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3936">
          <p15:clr>
            <a:srgbClr val="FBAE40"/>
          </p15:clr>
        </p15:guide>
        <p15:guide id="4" orient="horz" pos="3792">
          <p15:clr>
            <a:srgbClr val="FBAE40"/>
          </p15:clr>
        </p15:guide>
        <p15:guide id="5" orient="horz" pos="576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E597-5579-A045-9648-491A56F1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4AE1E-60E5-6446-BB3C-C46E835D334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4048" y="1295401"/>
            <a:ext cx="5559552" cy="4724400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161A1-7135-6A48-88B5-FA6A609C29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8400" y="1295403"/>
            <a:ext cx="5556250" cy="4724399"/>
          </a:xfrm>
        </p:spPr>
        <p:txBody>
          <a:bodyPr/>
          <a:lstStyle/>
          <a:p>
            <a:pPr lvl="0"/>
            <a:r>
              <a:rPr lang="en-CA"/>
              <a:t>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C1624E-A29C-1D46-89E2-F842DD42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7B9DA3F-10E5-7D41-84AB-9050D4311949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B699D31A-57EC-B04B-A41A-F3C3AF558E17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5615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816">
          <p15:clr>
            <a:srgbClr val="FBAE40"/>
          </p15:clr>
        </p15:guide>
        <p15:guide id="4" orient="horz" pos="3936">
          <p15:clr>
            <a:srgbClr val="FBAE40"/>
          </p15:clr>
        </p15:guide>
        <p15:guide id="5" orient="horz" pos="3792">
          <p15:clr>
            <a:srgbClr val="FBAE40"/>
          </p15:clr>
        </p15:guide>
        <p15:guide id="6" pos="3744">
          <p15:clr>
            <a:srgbClr val="FBAE40"/>
          </p15:clr>
        </p15:guide>
        <p15:guide id="7" pos="3936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E1948-A0F9-446F-A911-3D63891A9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8448"/>
            <a:ext cx="5564124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82803-AA33-4BE8-B029-8C6D44878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048" y="1981200"/>
            <a:ext cx="5564124" cy="4044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53C96-7453-445F-9A82-BC56E50986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298448"/>
            <a:ext cx="5559297" cy="548640"/>
          </a:xfrm>
        </p:spPr>
        <p:txBody>
          <a:bodyPr anchor="b"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BCD2F-8EC4-4C1F-8B3F-1D6D83811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5352" y="1981200"/>
            <a:ext cx="5559297" cy="40446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FB384AC-20BD-4E27-BC9E-242394EDC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10DE041-1517-5A47-97B4-72983B72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37CB532-8D5C-8945-8545-5DB40674F21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A7EA675A-F366-9445-A648-5A3407423352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32250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3E20-716D-D744-AD1B-2265FFE5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D4AE55-D906-0746-A30E-B9A295D9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49664162-4786-1942-ACFE-99521245B22E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BEB75E0D-B022-7046-BA11-100FFB7C79CE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2406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  <p15:guide id="2" orient="horz" pos="672">
          <p15:clr>
            <a:srgbClr val="FBAE40"/>
          </p15:clr>
        </p15:guide>
        <p15:guide id="3" orient="horz" pos="576">
          <p15:clr>
            <a:srgbClr val="FBAE40"/>
          </p15:clr>
        </p15:guide>
        <p15:guide id="4" orient="horz" pos="816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01082F-307B-4CAF-898D-33CA7B67A97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C1E2F-005B-4C5C-B5CD-698B55D618E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E6B0269-48F1-084E-BFC4-87433BA2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CFA69B87-9945-1E41-B174-CB3CA724A68B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A906DB9-9029-BD41-B151-DAC6CE38C40C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048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36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oleObject" Target="../embeddings/oleObject1.bin"/><Relationship Id="rId6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6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2.emf"/><Relationship Id="rId18" Type="http://schemas.openxmlformats.org/officeDocument/2006/relationships/image" Target="../media/image3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theme" Target="../theme/theme3.xml"/><Relationship Id="rId22" Type="http://schemas.openxmlformats.org/officeDocument/2006/relationships/tags" Target="../tags/tag10.xml"/><Relationship Id="rId23" Type="http://schemas.openxmlformats.org/officeDocument/2006/relationships/tags" Target="../tags/tag11.xml"/><Relationship Id="rId24" Type="http://schemas.openxmlformats.org/officeDocument/2006/relationships/tags" Target="../tags/tag12.xml"/><Relationship Id="rId25" Type="http://schemas.openxmlformats.org/officeDocument/2006/relationships/tags" Target="../tags/tag13.xml"/><Relationship Id="rId26" Type="http://schemas.openxmlformats.org/officeDocument/2006/relationships/tags" Target="../tags/tag14.xml"/><Relationship Id="rId27" Type="http://schemas.openxmlformats.org/officeDocument/2006/relationships/tags" Target="../tags/tag15.xml"/><Relationship Id="rId28" Type="http://schemas.openxmlformats.org/officeDocument/2006/relationships/tags" Target="../tags/tag16.xml"/><Relationship Id="rId29" Type="http://schemas.openxmlformats.org/officeDocument/2006/relationships/tags" Target="../tags/tag17.xml"/><Relationship Id="rId30" Type="http://schemas.openxmlformats.org/officeDocument/2006/relationships/tags" Target="../tags/tag18.xml"/><Relationship Id="rId31" Type="http://schemas.openxmlformats.org/officeDocument/2006/relationships/tags" Target="../tags/tag19.xml"/><Relationship Id="rId32" Type="http://schemas.openxmlformats.org/officeDocument/2006/relationships/tags" Target="../tags/tag20.xml"/><Relationship Id="rId33" Type="http://schemas.openxmlformats.org/officeDocument/2006/relationships/tags" Target="../tags/tag21.xml"/><Relationship Id="rId34" Type="http://schemas.openxmlformats.org/officeDocument/2006/relationships/tags" Target="../tags/tag22.xml"/><Relationship Id="rId35" Type="http://schemas.openxmlformats.org/officeDocument/2006/relationships/tags" Target="../tags/tag23.xml"/><Relationship Id="rId36" Type="http://schemas.openxmlformats.org/officeDocument/2006/relationships/tags" Target="../tags/tag24.xml"/><Relationship Id="rId37" Type="http://schemas.openxmlformats.org/officeDocument/2006/relationships/tags" Target="../tags/tag25.xml"/><Relationship Id="rId38" Type="http://schemas.openxmlformats.org/officeDocument/2006/relationships/tags" Target="../tags/tag26.xml"/><Relationship Id="rId39" Type="http://schemas.openxmlformats.org/officeDocument/2006/relationships/tags" Target="../tags/tag27.xml"/><Relationship Id="rId40" Type="http://schemas.openxmlformats.org/officeDocument/2006/relationships/tags" Target="../tags/tag28.xml"/><Relationship Id="rId41" Type="http://schemas.openxmlformats.org/officeDocument/2006/relationships/tags" Target="../tags/tag29.xml"/><Relationship Id="rId42" Type="http://schemas.openxmlformats.org/officeDocument/2006/relationships/oleObject" Target="../embeddings/oleObject5.bin"/><Relationship Id="rId43" Type="http://schemas.openxmlformats.org/officeDocument/2006/relationships/image" Target="../media/image4.emf"/><Relationship Id="rId44" Type="http://schemas.openxmlformats.org/officeDocument/2006/relationships/image" Target="../media/image3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theme" Target="../theme/theme4.xml"/><Relationship Id="rId16" Type="http://schemas.openxmlformats.org/officeDocument/2006/relationships/tags" Target="../tags/tag148.xml"/><Relationship Id="rId17" Type="http://schemas.openxmlformats.org/officeDocument/2006/relationships/oleObject" Target="../embeddings/oleObject21.bin"/><Relationship Id="rId18" Type="http://schemas.openxmlformats.org/officeDocument/2006/relationships/image" Target="../media/image2.emf"/><Relationship Id="rId19" Type="http://schemas.openxmlformats.org/officeDocument/2006/relationships/image" Target="../media/image3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theme" Target="../theme/theme5.xml"/><Relationship Id="rId11" Type="http://schemas.openxmlformats.org/officeDocument/2006/relationships/tags" Target="../tags/tag152.xml"/><Relationship Id="rId12" Type="http://schemas.openxmlformats.org/officeDocument/2006/relationships/tags" Target="../tags/tag153.xml"/><Relationship Id="rId13" Type="http://schemas.openxmlformats.org/officeDocument/2006/relationships/oleObject" Target="../embeddings/oleObject23.bin"/><Relationship Id="rId14" Type="http://schemas.openxmlformats.org/officeDocument/2006/relationships/image" Target="../media/image2.emf"/><Relationship Id="rId15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0A7638E-A83A-4BAD-8DA4-A8AEDDEE13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0A7638E-A83A-4BAD-8DA4-A8AEDDEE13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0EF8F37F-E738-4C14-B7B6-CAB9C13BEEEC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69600"/>
            <a:ext cx="10972800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F0543D-5895-4F15-9AD6-423DC79B212B}"/>
              </a:ext>
            </a:extLst>
          </p:cNvPr>
          <p:cNvSpPr txBox="1"/>
          <p:nvPr userDrawn="1"/>
        </p:nvSpPr>
        <p:spPr>
          <a:xfrm>
            <a:off x="9836099" y="6565113"/>
            <a:ext cx="395736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  <a:latin typeface="+mn-lt"/>
                <a:sym typeface="Arial" panose="020B0604020202020204" pitchFamily="34" charset="0"/>
              </a:rPr>
              <a:t>Page </a:t>
            </a:r>
            <a:fld id="{9AE4D82F-B047-469B-AC52-A46321747EAF}" type="slidenum">
              <a:rPr lang="en-GB" sz="800">
                <a:solidFill>
                  <a:schemeClr val="bg1"/>
                </a:solidFill>
                <a:latin typeface="+mn-lt"/>
                <a:sym typeface="Arial" panose="020B0604020202020204" pitchFamily="34" charset="0"/>
              </a:rPr>
              <a:pPr marL="0" marR="0" indent="0" algn="l" defTabSz="9139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800">
              <a:solidFill>
                <a:schemeClr val="bg1"/>
              </a:solidFill>
              <a:latin typeface="+mn-lt"/>
              <a:sym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FF8F2A-9422-420C-B50E-588E96C8CB1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24714" y="6359353"/>
            <a:ext cx="955115" cy="308551"/>
            <a:chOff x="2703513" y="2332038"/>
            <a:chExt cx="6784975" cy="2190751"/>
          </a:xfrm>
        </p:grpSpPr>
        <p:sp>
          <p:nvSpPr>
            <p:cNvPr id="20" name="Freeform 115">
              <a:extLst>
                <a:ext uri="{FF2B5EF4-FFF2-40B4-BE49-F238E27FC236}">
                  <a16:creationId xmlns:a16="http://schemas.microsoft.com/office/drawing/2014/main" id="{5C20A05E-7CB6-4514-8190-653E999CC8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29176" y="3757613"/>
              <a:ext cx="554038" cy="754063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eeform 116">
              <a:extLst>
                <a:ext uri="{FF2B5EF4-FFF2-40B4-BE49-F238E27FC236}">
                  <a16:creationId xmlns:a16="http://schemas.microsoft.com/office/drawing/2014/main" id="{2906F4E8-7C8C-492D-AE92-6123472DE4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21313" y="3933826"/>
              <a:ext cx="457200" cy="58896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 117">
              <a:extLst>
                <a:ext uri="{FF2B5EF4-FFF2-40B4-BE49-F238E27FC236}">
                  <a16:creationId xmlns:a16="http://schemas.microsoft.com/office/drawing/2014/main" id="{175B30B7-5A53-4168-BFBE-6E4E12C175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86463" y="3933826"/>
              <a:ext cx="333375" cy="577850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 118">
              <a:extLst>
                <a:ext uri="{FF2B5EF4-FFF2-40B4-BE49-F238E27FC236}">
                  <a16:creationId xmlns:a16="http://schemas.microsoft.com/office/drawing/2014/main" id="{135215D0-9FE7-4759-B4E4-4F1CF36CDC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88101" y="3727451"/>
              <a:ext cx="325438" cy="795338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 119">
              <a:extLst>
                <a:ext uri="{FF2B5EF4-FFF2-40B4-BE49-F238E27FC236}">
                  <a16:creationId xmlns:a16="http://schemas.microsoft.com/office/drawing/2014/main" id="{3901A9A3-4170-4947-A531-DCC49C48A6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18313" y="3727451"/>
              <a:ext cx="452438" cy="784225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 120">
              <a:extLst>
                <a:ext uri="{FF2B5EF4-FFF2-40B4-BE49-F238E27FC236}">
                  <a16:creationId xmlns:a16="http://schemas.microsoft.com/office/drawing/2014/main" id="{392675B7-2FAB-4097-BCB9-AE9398EE66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50126" y="3933826"/>
              <a:ext cx="485775" cy="58896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 121">
              <a:extLst>
                <a:ext uri="{FF2B5EF4-FFF2-40B4-BE49-F238E27FC236}">
                  <a16:creationId xmlns:a16="http://schemas.microsoft.com/office/drawing/2014/main" id="{12E2F172-F143-4692-B4D7-15077F32B9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8451" y="3933826"/>
              <a:ext cx="449263" cy="577850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 122">
              <a:extLst>
                <a:ext uri="{FF2B5EF4-FFF2-40B4-BE49-F238E27FC236}">
                  <a16:creationId xmlns:a16="http://schemas.microsoft.com/office/drawing/2014/main" id="{9C1166C9-6345-4EA6-96F2-A65CC24762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50263" y="3933826"/>
              <a:ext cx="501650" cy="58896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 123">
              <a:extLst>
                <a:ext uri="{FF2B5EF4-FFF2-40B4-BE49-F238E27FC236}">
                  <a16:creationId xmlns:a16="http://schemas.microsoft.com/office/drawing/2014/main" id="{F6D0CFF4-3F25-4B8F-ADCB-12637DACA3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34463" y="3933826"/>
              <a:ext cx="454025" cy="577850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Freeform 124">
              <a:extLst>
                <a:ext uri="{FF2B5EF4-FFF2-40B4-BE49-F238E27FC236}">
                  <a16:creationId xmlns:a16="http://schemas.microsoft.com/office/drawing/2014/main" id="{9932F642-1E35-48EC-B6C4-B38B0CA08E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03513" y="2332038"/>
              <a:ext cx="2125663" cy="776288"/>
            </a:xfrm>
            <a:custGeom>
              <a:avLst/>
              <a:gdLst>
                <a:gd name="T0" fmla="*/ 1339 w 1339"/>
                <a:gd name="T1" fmla="*/ 0 h 489"/>
                <a:gd name="T2" fmla="*/ 0 w 1339"/>
                <a:gd name="T3" fmla="*/ 489 h 489"/>
                <a:gd name="T4" fmla="*/ 1339 w 1339"/>
                <a:gd name="T5" fmla="*/ 253 h 489"/>
                <a:gd name="T6" fmla="*/ 1339 w 1339"/>
                <a:gd name="T7" fmla="*/ 0 h 489"/>
                <a:gd name="T8" fmla="*/ 1339 w 1339"/>
                <a:gd name="T9" fmla="*/ 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9" h="489">
                  <a:moveTo>
                    <a:pt x="1339" y="0"/>
                  </a:moveTo>
                  <a:lnTo>
                    <a:pt x="0" y="489"/>
                  </a:lnTo>
                  <a:lnTo>
                    <a:pt x="1339" y="253"/>
                  </a:lnTo>
                  <a:lnTo>
                    <a:pt x="1339" y="0"/>
                  </a:lnTo>
                  <a:lnTo>
                    <a:pt x="133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Freeform 125">
              <a:extLst>
                <a:ext uri="{FF2B5EF4-FFF2-40B4-BE49-F238E27FC236}">
                  <a16:creationId xmlns:a16="http://schemas.microsoft.com/office/drawing/2014/main" id="{D5D95FF1-6143-4F5E-A9CE-4E0A960335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20976" y="3430588"/>
              <a:ext cx="1787525" cy="1081088"/>
            </a:xfrm>
            <a:custGeom>
              <a:avLst/>
              <a:gdLst>
                <a:gd name="T0" fmla="*/ 904 w 1126"/>
                <a:gd name="T1" fmla="*/ 0 h 681"/>
                <a:gd name="T2" fmla="*/ 788 w 1126"/>
                <a:gd name="T3" fmla="*/ 222 h 681"/>
                <a:gd name="T4" fmla="*/ 673 w 1126"/>
                <a:gd name="T5" fmla="*/ 0 h 681"/>
                <a:gd name="T6" fmla="*/ 449 w 1126"/>
                <a:gd name="T7" fmla="*/ 0 h 681"/>
                <a:gd name="T8" fmla="*/ 687 w 1126"/>
                <a:gd name="T9" fmla="*/ 411 h 681"/>
                <a:gd name="T10" fmla="*/ 687 w 1126"/>
                <a:gd name="T11" fmla="*/ 681 h 681"/>
                <a:gd name="T12" fmla="*/ 887 w 1126"/>
                <a:gd name="T13" fmla="*/ 681 h 681"/>
                <a:gd name="T14" fmla="*/ 887 w 1126"/>
                <a:gd name="T15" fmla="*/ 411 h 681"/>
                <a:gd name="T16" fmla="*/ 1126 w 1126"/>
                <a:gd name="T17" fmla="*/ 0 h 681"/>
                <a:gd name="T18" fmla="*/ 904 w 1126"/>
                <a:gd name="T19" fmla="*/ 0 h 681"/>
                <a:gd name="T20" fmla="*/ 0 w 1126"/>
                <a:gd name="T21" fmla="*/ 0 h 681"/>
                <a:gd name="T22" fmla="*/ 0 w 1126"/>
                <a:gd name="T23" fmla="*/ 681 h 681"/>
                <a:gd name="T24" fmla="*/ 543 w 1126"/>
                <a:gd name="T25" fmla="*/ 681 h 681"/>
                <a:gd name="T26" fmla="*/ 543 w 1126"/>
                <a:gd name="T27" fmla="*/ 525 h 681"/>
                <a:gd name="T28" fmla="*/ 203 w 1126"/>
                <a:gd name="T29" fmla="*/ 525 h 681"/>
                <a:gd name="T30" fmla="*/ 203 w 1126"/>
                <a:gd name="T31" fmla="*/ 411 h 681"/>
                <a:gd name="T32" fmla="*/ 449 w 1126"/>
                <a:gd name="T33" fmla="*/ 411 h 681"/>
                <a:gd name="T34" fmla="*/ 449 w 1126"/>
                <a:gd name="T35" fmla="*/ 269 h 681"/>
                <a:gd name="T36" fmla="*/ 203 w 1126"/>
                <a:gd name="T37" fmla="*/ 269 h 681"/>
                <a:gd name="T38" fmla="*/ 203 w 1126"/>
                <a:gd name="T39" fmla="*/ 156 h 681"/>
                <a:gd name="T40" fmla="*/ 475 w 1126"/>
                <a:gd name="T41" fmla="*/ 156 h 681"/>
                <a:gd name="T42" fmla="*/ 385 w 1126"/>
                <a:gd name="T43" fmla="*/ 0 h 681"/>
                <a:gd name="T44" fmla="*/ 0 w 1126"/>
                <a:gd name="T45" fmla="*/ 0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26" h="681">
                  <a:moveTo>
                    <a:pt x="904" y="0"/>
                  </a:moveTo>
                  <a:lnTo>
                    <a:pt x="788" y="222"/>
                  </a:lnTo>
                  <a:lnTo>
                    <a:pt x="673" y="0"/>
                  </a:lnTo>
                  <a:lnTo>
                    <a:pt x="449" y="0"/>
                  </a:lnTo>
                  <a:lnTo>
                    <a:pt x="687" y="411"/>
                  </a:lnTo>
                  <a:lnTo>
                    <a:pt x="687" y="681"/>
                  </a:lnTo>
                  <a:lnTo>
                    <a:pt x="887" y="681"/>
                  </a:lnTo>
                  <a:lnTo>
                    <a:pt x="887" y="411"/>
                  </a:lnTo>
                  <a:lnTo>
                    <a:pt x="1126" y="0"/>
                  </a:lnTo>
                  <a:lnTo>
                    <a:pt x="904" y="0"/>
                  </a:lnTo>
                  <a:close/>
                  <a:moveTo>
                    <a:pt x="0" y="0"/>
                  </a:moveTo>
                  <a:lnTo>
                    <a:pt x="0" y="681"/>
                  </a:lnTo>
                  <a:lnTo>
                    <a:pt x="543" y="681"/>
                  </a:lnTo>
                  <a:lnTo>
                    <a:pt x="543" y="525"/>
                  </a:lnTo>
                  <a:lnTo>
                    <a:pt x="203" y="525"/>
                  </a:lnTo>
                  <a:lnTo>
                    <a:pt x="203" y="411"/>
                  </a:lnTo>
                  <a:lnTo>
                    <a:pt x="449" y="411"/>
                  </a:lnTo>
                  <a:lnTo>
                    <a:pt x="449" y="269"/>
                  </a:lnTo>
                  <a:lnTo>
                    <a:pt x="203" y="269"/>
                  </a:lnTo>
                  <a:lnTo>
                    <a:pt x="203" y="156"/>
                  </a:lnTo>
                  <a:lnTo>
                    <a:pt x="475" y="156"/>
                  </a:lnTo>
                  <a:lnTo>
                    <a:pt x="3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327149"/>
            <a:ext cx="10972800" cy="98116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OuterGrid" hidden="1">
            <a:extLst>
              <a:ext uri="{FF2B5EF4-FFF2-40B4-BE49-F238E27FC236}">
                <a16:creationId xmlns:a16="http://schemas.microsoft.com/office/drawing/2014/main" id="{497C0834-4F27-4726-9D1B-7289BEDDACB5}"/>
              </a:ext>
            </a:extLst>
          </p:cNvPr>
          <p:cNvSpPr/>
          <p:nvPr userDrawn="1"/>
        </p:nvSpPr>
        <p:spPr>
          <a:xfrm>
            <a:off x="609918" y="1327149"/>
            <a:ext cx="10980000" cy="4797425"/>
          </a:xfrm>
          <a:prstGeom prst="rect">
            <a:avLst/>
          </a:prstGeom>
          <a:solidFill>
            <a:schemeClr val="accent6">
              <a:alpha val="0"/>
            </a:schemeClr>
          </a:solidFill>
          <a:ln w="95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endParaRPr lang="en-US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02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l" defTabSz="913943" rtl="0" eaLnBrk="1" latinLnBrk="0" hangingPunct="1">
        <a:lnSpc>
          <a:spcPct val="90000"/>
        </a:lnSpc>
        <a:spcBef>
          <a:spcPct val="0"/>
        </a:spcBef>
        <a:buNone/>
        <a:defRPr sz="2199" b="0" kern="1200">
          <a:solidFill>
            <a:schemeClr val="bg1"/>
          </a:solidFill>
          <a:latin typeface="+mn-lt"/>
          <a:ea typeface="+mj-ea"/>
          <a:cs typeface="Arial" pitchFamily="34" charset="0"/>
          <a:sym typeface="Arial" panose="020B0604020202020204" pitchFamily="34" charset="0"/>
        </a:defRPr>
      </a:lvl1pPr>
    </p:titleStyle>
    <p:bodyStyle>
      <a:lvl1pPr marL="171364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1pPr>
      <a:lvl2pPr marL="342729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2pPr>
      <a:lvl3pPr marL="514093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3pPr>
      <a:lvl4pPr marL="685457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4pPr>
      <a:lvl5pPr marL="856821" indent="-171364" algn="l" defTabSz="913943" rtl="0" eaLnBrk="1" latinLnBrk="0" hangingPunct="1">
        <a:spcBef>
          <a:spcPct val="20000"/>
        </a:spcBef>
        <a:buClr>
          <a:schemeClr val="accent1"/>
        </a:buClr>
        <a:buSzPct val="75000"/>
        <a:buFont typeface="Wingdings 3" panose="05040102010807070707" pitchFamily="18" charset="2"/>
        <a:buChar char=""/>
        <a:defRPr sz="11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  <a:sym typeface="Arial" panose="020B0604020202020204" pitchFamily="34" charset="0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6" userDrawn="1">
          <p15:clr>
            <a:srgbClr val="F26B43"/>
          </p15:clr>
        </p15:guide>
        <p15:guide id="2" pos="7294" userDrawn="1">
          <p15:clr>
            <a:srgbClr val="F26B43"/>
          </p15:clr>
        </p15:guide>
        <p15:guide id="3" orient="horz" pos="711" userDrawn="1">
          <p15:clr>
            <a:srgbClr val="F26B43"/>
          </p15:clr>
        </p15:guide>
        <p15:guide id="4" orient="horz" pos="38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A504A55-94A1-4BE0-8451-269B82009E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592" imgH="591" progId="TCLayout.ActiveDocument.1">
                  <p:embed/>
                </p:oleObj>
              </mc:Choice>
              <mc:Fallback>
                <p:oleObj name="think-cell Slide" r:id="rId16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A504A55-94A1-4BE0-8451-269B82009E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FB9C9-E550-A643-B6BA-1F85DC33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81000"/>
            <a:ext cx="11420856" cy="533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8C041-B2CA-3140-B7D0-C1DCF07DF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5401"/>
            <a:ext cx="11420856" cy="472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6BCD8-05CB-42C6-AD70-BAD591D95266}"/>
              </a:ext>
            </a:extLst>
          </p:cNvPr>
          <p:cNvCxnSpPr>
            <a:cxnSpLocks/>
          </p:cNvCxnSpPr>
          <p:nvPr userDrawn="1"/>
        </p:nvCxnSpPr>
        <p:spPr>
          <a:xfrm>
            <a:off x="384048" y="1066800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2133AB-67BC-4F74-A07A-65A22E102BA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C18E352-8130-4711-86BD-9515E8F1C1C5}"/>
              </a:ext>
            </a:extLst>
          </p:cNvPr>
          <p:cNvPicPr>
            <a:picLocks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619E110-F4CA-4E4F-B502-8E44D45BE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 lIns="0" tIns="0" rIns="0"/>
          <a:lstStyle>
            <a:lvl1pPr algn="l">
              <a:defRPr sz="1000"/>
            </a:lvl1pPr>
          </a:lstStyle>
          <a:p>
            <a:endParaRPr lang="en-CA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947FEE-BC42-AB41-9311-D8AAD7B00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 lIns="0" tIns="0" rIns="0"/>
          <a:lstStyle>
            <a:lvl1pPr>
              <a:defRPr sz="1000"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58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89" r:id="rId3"/>
    <p:sldLayoutId id="2147483688" r:id="rId4"/>
    <p:sldLayoutId id="2147483679" r:id="rId5"/>
    <p:sldLayoutId id="2147483680" r:id="rId6"/>
    <p:sldLayoutId id="2147483685" r:id="rId7"/>
    <p:sldLayoutId id="2147483681" r:id="rId8"/>
    <p:sldLayoutId id="2147483686" r:id="rId9"/>
    <p:sldLayoutId id="2147483675" r:id="rId10"/>
    <p:sldLayoutId id="2147483749" r:id="rId11"/>
    <p:sldLayoutId id="2147483751" r:id="rId12"/>
    <p:sldLayoutId id="2147483980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7436" userDrawn="1">
          <p15:clr>
            <a:srgbClr val="F26B43"/>
          </p15:clr>
        </p15:guide>
        <p15:guide id="4" pos="239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4104" userDrawn="1">
          <p15:clr>
            <a:srgbClr val="F26B43"/>
          </p15:clr>
        </p15:guide>
        <p15:guide id="8" orient="horz" pos="2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144049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413" imgH="416" progId="TCLayout.ActiveDocument.1">
                  <p:embed/>
                </p:oleObj>
              </mc:Choice>
              <mc:Fallback>
                <p:oleObj name="think-cell Slide" r:id="rId42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CA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70" name="Grid" hidden="1">
            <a:extLst>
              <a:ext uri="{FF2B5EF4-FFF2-40B4-BE49-F238E27FC236}">
                <a16:creationId xmlns:a16="http://schemas.microsoft.com/office/drawing/2014/main" id="{3BBFEB30-B5C9-4D5C-9A82-066C6BF363E3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50B3518-D8B6-4062-A4CE-0C1A1A286FE1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C45F528-EF91-4619-AF16-5D11F63D2FFC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CA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7ABF7BA-0428-4141-8351-03A2727DECBD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4EB93D9-2FE5-4212-8DB4-7A0327E33766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F34081-E688-4287-A553-264328F1E1E1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868CDEE-044B-4D04-A5D3-6A526BE51179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100C653-5CFA-4B3C-BD97-47499B419B53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21F5AB2-1154-4ACD-832F-CB2539EE783F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66910D2-AFA9-4FD1-8D04-D99BB3645452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1769A11B-0399-4716-A212-6F179313A427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CB3272D-021B-49B8-92A5-D1DEB3202AE0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1701AE9-04C5-4AD4-8DEE-873680FD231F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50D91B-89C3-45DE-BE0C-1430E2BE6F4B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8E5EF5D-0D94-4FCE-8BE2-F0790F7B1879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05F8351-710E-49E9-A523-EA0755B417C5}"/>
                </a:ext>
              </a:extLst>
            </p:cNvPr>
            <p:cNvSpPr/>
            <p:nvPr/>
          </p:nvSpPr>
          <p:spPr bwMode="gray">
            <a:xfrm>
              <a:off x="1524" y="0"/>
              <a:ext cx="379314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7C1C31B-A122-4A09-9500-27B0684B272F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DF86859-7D4B-4DA1-91AA-0992644F5903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DC3E9CA-569C-4414-A75A-C805A4A40B64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532C466-D8D3-43AC-995C-2B54885AC096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B0920AE1-B909-471F-9E77-7C3A31509F84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A1E8190-F3C6-4BF7-97E3-90F3FC84746E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3B1FC28-C9D6-4928-BCCE-9873C7DEEFD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C9C1F2-E745-44A5-AEA3-9DE0D69F2B15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F7DB9B8-09EF-46A7-9839-EE0FA8E11651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59DC929-939A-40DF-96D2-82427AD8E191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1E475EA-3BCA-4BD2-9129-0A15F92784B0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58358D8-4286-4ED9-A0FF-82879D8C9183}"/>
                </a:ext>
              </a:extLst>
            </p:cNvPr>
            <p:cNvSpPr/>
            <p:nvPr/>
          </p:nvSpPr>
          <p:spPr bwMode="gray">
            <a:xfrm>
              <a:off x="11811162" y="0"/>
              <a:ext cx="379314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7E8672D-5A21-4EE8-8FA5-FBB35E3AF6F8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A059A59-9BBE-4F86-862A-48E139D1EE64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5CF5402-4FC2-4420-ABC5-BBFA3EA9D203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0BB1258-8102-4E47-BE2F-816FBB6BA408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70BD53-6742-47F1-853C-FA770237F3FD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95B319-4702-4CD9-838C-C0612B6879BC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E5E70F1-247D-4F01-A473-C5A9226BCADC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32858E4-B133-4A91-9BCA-BF80F093194A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027DED92-EF7A-4687-A1A4-BDAA2F1EAF12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3D72483-35F2-49AC-989D-0E1BC8456803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DD2F54E-53A3-49F6-905E-B0F8E1348C8E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57A01EE-7FB2-4BA0-B35A-2F95546E4624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FC1C45B-2B29-4A42-8D4B-721F68CA1348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1A27E92-9270-4990-A7E0-13762B5DCF31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9F46154D-791B-4F7D-8E1C-E15CD03A29AA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9B4B757-25C9-484E-A4FE-A49FBA3319A4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5535B4E-91AD-45A5-B3C9-3699892DFD15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B8DA04A-5D80-45BB-8266-4A4ECB242742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E5E52966-F7BC-421A-9050-FFBE6C9FDFFC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7183FD6-ADDC-4DBA-AD69-7D5A08920C83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3B1C3B52-250A-482D-AE65-9AAC3A76868D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AB6E369-DE4F-4AA3-9B2B-FD9286DC14EB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2D96B38-98DE-4984-BD84-08887A144206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A47B8B7-112A-4075-B20A-90A845CE256B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0FEBE3CB-E087-4212-96D5-920E5C903EF2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686B76C-7301-4C4A-B5BE-0AFF241FAEB0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B029B6E-808D-40CF-A2D1-AADA131A0D00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705E053-FBF3-4534-A74B-EC16CC92EE77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E0E44BE-C4B0-46A9-A59B-A43157B927C1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09A95B-D404-461F-A093-7C895E3A741F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79A7095-2656-44EB-B0A3-4271C7264720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A4BC595-5B69-4C71-A5EC-2940C48186D2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7474A32-631C-4FA8-B250-D9C17610DA92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FA397D1-2FFD-4719-93E4-17828F08EC1D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12CDBCAF-60C0-40A4-97EA-7B190F17D13D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88614279-F6F1-4779-A908-BEF080C471AB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77A8DFC-FE4B-4B06-8AEF-607F9AEE764E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42E819A-5DA8-4032-B3EB-D10DC14D6C84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912236D-CA1F-4315-989A-12010EB46505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4ED2ACF-C68A-42CC-A632-CD03AB2544F3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A8F039F-D473-4D39-8AC6-81810B219B3E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A241E12-AAE1-45D8-9D67-A8007269A3E0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3D829D9-0D54-4FB5-9FD5-512316CE5897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6DCAEE40-53ED-4281-A3F1-ACB0AA93B7BD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16D3477-104A-45EC-ABA6-46CC43BAB1CA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5EC7B04-40CF-4499-BF37-9874AB2E42BC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1B7D422-DF11-439B-AA7B-5AE071A4C7DC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1103B97-22A5-4A41-A8B4-4FBC1AB3251F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06654E2-EE76-422E-8306-19CDD004E451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1A46DB1-E3F1-48B8-8CD6-686C08337E3D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7EB58E3-EE98-4C63-A5FA-31A1F31261BD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DF83986-66A6-442D-9688-89B353D5848C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C32EE19-D046-4DA8-83C8-C7090C2032B7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AE9073FA-D009-4B43-AE1C-76B2371EDB72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37EEEBC-9035-46B4-859D-8637EB5F71E7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main body box">
              <a:extLst>
                <a:ext uri="{FF2B5EF4-FFF2-40B4-BE49-F238E27FC236}">
                  <a16:creationId xmlns:a16="http://schemas.microsoft.com/office/drawing/2014/main" id="{5A4E68D2-98C2-4107-A058-DD36C69DD1BD}"/>
                </a:ext>
              </a:extLst>
            </p:cNvPr>
            <p:cNvSpPr/>
            <p:nvPr userDrawn="1"/>
          </p:nvSpPr>
          <p:spPr bwMode="gray">
            <a:xfrm>
              <a:off x="380838" y="1863436"/>
              <a:ext cx="11424066" cy="4354484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CA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D320E2E-9A90-4FBD-95ED-547D38976E3C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80838" y="2331408"/>
              <a:ext cx="11424066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0454B89-8DFA-4EF3-83A9-38CF648F4CD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80838" y="1860735"/>
              <a:ext cx="11424066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384048" y="624643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CA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384048" y="474575"/>
            <a:ext cx="11420856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6"/>
            </p:custDataLst>
          </p:nvPr>
        </p:nvSpPr>
        <p:spPr>
          <a:xfrm>
            <a:off x="5987738" y="2343981"/>
            <a:ext cx="3049253" cy="538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CA"/>
              <a:t>Above Chart Exhibit Title</a:t>
            </a:r>
          </a:p>
          <a:p>
            <a:pPr lvl="0" rtl="0"/>
            <a:r>
              <a:rPr lang="en-CA" sz="1400" b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2343981"/>
            <a:ext cx="36333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grpSp>
        <p:nvGrpSpPr>
          <p:cNvPr id="6" name="LegendLines" hidden="1">
            <a:extLst>
              <a:ext uri="{FF2B5EF4-FFF2-40B4-BE49-F238E27FC236}">
                <a16:creationId xmlns:a16="http://schemas.microsoft.com/office/drawing/2014/main" id="{EA234921-0C7A-7D08-2D6F-C793BBB3EDC2}"/>
              </a:ext>
            </a:extLst>
          </p:cNvPr>
          <p:cNvGrpSpPr/>
          <p:nvPr userDrawn="1"/>
        </p:nvGrpSpPr>
        <p:grpSpPr>
          <a:xfrm>
            <a:off x="10317304" y="3355023"/>
            <a:ext cx="1319960" cy="958286"/>
            <a:chOff x="10162879" y="3243772"/>
            <a:chExt cx="1319960" cy="958286"/>
          </a:xfrm>
        </p:grpSpPr>
        <p:sp>
          <p:nvSpPr>
            <p:cNvPr id="7" name="Legend1" hidden="1">
              <a:extLst>
                <a:ext uri="{FF2B5EF4-FFF2-40B4-BE49-F238E27FC236}">
                  <a16:creationId xmlns:a16="http://schemas.microsoft.com/office/drawing/2014/main" id="{F75F3A66-2505-BB0B-5E30-2B59AE049ED6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8" name="Legend2" hidden="1">
              <a:extLst>
                <a:ext uri="{FF2B5EF4-FFF2-40B4-BE49-F238E27FC236}">
                  <a16:creationId xmlns:a16="http://schemas.microsoft.com/office/drawing/2014/main" id="{358C4D19-7BE3-3BB3-FAD4-14D48A59F3BE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9" name="Legend3" hidden="1">
              <a:extLst>
                <a:ext uri="{FF2B5EF4-FFF2-40B4-BE49-F238E27FC236}">
                  <a16:creationId xmlns:a16="http://schemas.microsoft.com/office/drawing/2014/main" id="{CAF3D808-9D98-97DF-72B8-70170E035662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0" name="LineLegend3" hidden="1">
              <a:extLst>
                <a:ext uri="{FF2B5EF4-FFF2-40B4-BE49-F238E27FC236}">
                  <a16:creationId xmlns:a16="http://schemas.microsoft.com/office/drawing/2014/main" id="{6B04EFE2-63A6-8945-2A2C-3B84D8751A5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CA" sz="1400" baseline="0">
                <a:ea typeface="+mn-ea"/>
              </a:endParaRPr>
            </a:p>
          </p:txBody>
        </p:sp>
        <p:sp>
          <p:nvSpPr>
            <p:cNvPr id="11" name="LineLegend2" hidden="1">
              <a:extLst>
                <a:ext uri="{FF2B5EF4-FFF2-40B4-BE49-F238E27FC236}">
                  <a16:creationId xmlns:a16="http://schemas.microsoft.com/office/drawing/2014/main" id="{F77F9B09-5D2D-E0CF-5772-62A775EDD0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CA" sz="1400" baseline="0">
                <a:ea typeface="+mn-ea"/>
              </a:endParaRPr>
            </a:p>
          </p:txBody>
        </p:sp>
        <p:sp>
          <p:nvSpPr>
            <p:cNvPr id="12" name="LineLegend1" hidden="1">
              <a:extLst>
                <a:ext uri="{FF2B5EF4-FFF2-40B4-BE49-F238E27FC236}">
                  <a16:creationId xmlns:a16="http://schemas.microsoft.com/office/drawing/2014/main" id="{54DCC080-16CC-BF91-3814-CBA16AB6AA0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CA" sz="1400" baseline="0">
                <a:ea typeface="+mn-ea"/>
              </a:endParaRPr>
            </a:p>
          </p:txBody>
        </p:sp>
      </p:grpSp>
      <p:grpSp>
        <p:nvGrpSpPr>
          <p:cNvPr id="13" name="LegendMoons" hidden="1">
            <a:extLst>
              <a:ext uri="{FF2B5EF4-FFF2-40B4-BE49-F238E27FC236}">
                <a16:creationId xmlns:a16="http://schemas.microsoft.com/office/drawing/2014/main" id="{378D6C5F-D742-4C0D-3E03-C353B7610612}"/>
              </a:ext>
            </a:extLst>
          </p:cNvPr>
          <p:cNvGrpSpPr/>
          <p:nvPr userDrawn="1"/>
        </p:nvGrpSpPr>
        <p:grpSpPr>
          <a:xfrm>
            <a:off x="10688315" y="1415983"/>
            <a:ext cx="948949" cy="1731859"/>
            <a:chOff x="7723680" y="1702457"/>
            <a:chExt cx="948949" cy="1731859"/>
          </a:xfrm>
        </p:grpSpPr>
        <p:sp>
          <p:nvSpPr>
            <p:cNvPr id="14" name="Legend1" hidden="1">
              <a:extLst>
                <a:ext uri="{FF2B5EF4-FFF2-40B4-BE49-F238E27FC236}">
                  <a16:creationId xmlns:a16="http://schemas.microsoft.com/office/drawing/2014/main" id="{9A689FE4-E33C-643C-C145-86DF2E5B6FEA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5" name="Legend2" hidden="1">
              <a:extLst>
                <a:ext uri="{FF2B5EF4-FFF2-40B4-BE49-F238E27FC236}">
                  <a16:creationId xmlns:a16="http://schemas.microsoft.com/office/drawing/2014/main" id="{5F644834-E1B1-AE9E-8F4B-2D0E93160992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7" name="Legend3" hidden="1">
              <a:extLst>
                <a:ext uri="{FF2B5EF4-FFF2-40B4-BE49-F238E27FC236}">
                  <a16:creationId xmlns:a16="http://schemas.microsoft.com/office/drawing/2014/main" id="{A23E1154-0A6D-CFBB-2E14-254C48F0D565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8" name="Legend4" hidden="1">
              <a:extLst>
                <a:ext uri="{FF2B5EF4-FFF2-40B4-BE49-F238E27FC236}">
                  <a16:creationId xmlns:a16="http://schemas.microsoft.com/office/drawing/2014/main" id="{B18A95FD-16A0-0AF4-4314-984414461C41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19" name="Legend5" hidden="1">
              <a:extLst>
                <a:ext uri="{FF2B5EF4-FFF2-40B4-BE49-F238E27FC236}">
                  <a16:creationId xmlns:a16="http://schemas.microsoft.com/office/drawing/2014/main" id="{EE5062ED-1CAC-5382-7D75-A509E4F6C6D1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grpSp>
          <p:nvGrpSpPr>
            <p:cNvPr id="20" name="MoonLegend1" hidden="1">
              <a:extLst>
                <a:ext uri="{FF2B5EF4-FFF2-40B4-BE49-F238E27FC236}">
                  <a16:creationId xmlns:a16="http://schemas.microsoft.com/office/drawing/2014/main" id="{2CD292D8-4EE9-4E74-66B8-B57BB644EF4D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3" name="Oval 32" hidden="1">
                <a:extLst>
                  <a:ext uri="{FF2B5EF4-FFF2-40B4-BE49-F238E27FC236}">
                    <a16:creationId xmlns:a16="http://schemas.microsoft.com/office/drawing/2014/main" id="{6A837824-A229-0AE9-C2F1-F129DEDBCF59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Arc 33" hidden="1">
                <a:extLst>
                  <a:ext uri="{FF2B5EF4-FFF2-40B4-BE49-F238E27FC236}">
                    <a16:creationId xmlns:a16="http://schemas.microsoft.com/office/drawing/2014/main" id="{1DCD6E9F-E4E4-7A3A-E645-A5AAF091AEA3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  <p:grpSp>
          <p:nvGrpSpPr>
            <p:cNvPr id="21" name="MoonLegend2" hidden="1">
              <a:extLst>
                <a:ext uri="{FF2B5EF4-FFF2-40B4-BE49-F238E27FC236}">
                  <a16:creationId xmlns:a16="http://schemas.microsoft.com/office/drawing/2014/main" id="{2A455BD7-0F98-4835-5551-1B24D1D3A3C2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1" name="Oval 30" hidden="1">
                <a:extLst>
                  <a:ext uri="{FF2B5EF4-FFF2-40B4-BE49-F238E27FC236}">
                    <a16:creationId xmlns:a16="http://schemas.microsoft.com/office/drawing/2014/main" id="{CAC01A08-735B-B412-0D8B-1E8FE89804AD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Arc 31" hidden="1">
                <a:extLst>
                  <a:ext uri="{FF2B5EF4-FFF2-40B4-BE49-F238E27FC236}">
                    <a16:creationId xmlns:a16="http://schemas.microsoft.com/office/drawing/2014/main" id="{DBCA3E94-27FB-7562-2516-A9B173E7BCEF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  <p:grpSp>
          <p:nvGrpSpPr>
            <p:cNvPr id="22" name="MoonLegend3" hidden="1">
              <a:extLst>
                <a:ext uri="{FF2B5EF4-FFF2-40B4-BE49-F238E27FC236}">
                  <a16:creationId xmlns:a16="http://schemas.microsoft.com/office/drawing/2014/main" id="{809F2A49-65C1-70B5-2E0F-C216B814CC60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9" name="Oval 28" hidden="1">
                <a:extLst>
                  <a:ext uri="{FF2B5EF4-FFF2-40B4-BE49-F238E27FC236}">
                    <a16:creationId xmlns:a16="http://schemas.microsoft.com/office/drawing/2014/main" id="{98B2262E-13B1-D6AE-799C-57E70C6CE2FA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Arc 29" hidden="1">
                <a:extLst>
                  <a:ext uri="{FF2B5EF4-FFF2-40B4-BE49-F238E27FC236}">
                    <a16:creationId xmlns:a16="http://schemas.microsoft.com/office/drawing/2014/main" id="{11EF0689-14D5-C947-D20F-902187B731F3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  <p:grpSp>
          <p:nvGrpSpPr>
            <p:cNvPr id="23" name="MoonLegend4" hidden="1">
              <a:extLst>
                <a:ext uri="{FF2B5EF4-FFF2-40B4-BE49-F238E27FC236}">
                  <a16:creationId xmlns:a16="http://schemas.microsoft.com/office/drawing/2014/main" id="{872312CF-2656-C97E-F68A-7A5417E31A9B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7" name="Oval 26" hidden="1">
                <a:extLst>
                  <a:ext uri="{FF2B5EF4-FFF2-40B4-BE49-F238E27FC236}">
                    <a16:creationId xmlns:a16="http://schemas.microsoft.com/office/drawing/2014/main" id="{D33BCD27-4276-8DE7-7261-5AF0D0B17EE7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Arc 27" hidden="1">
                <a:extLst>
                  <a:ext uri="{FF2B5EF4-FFF2-40B4-BE49-F238E27FC236}">
                    <a16:creationId xmlns:a16="http://schemas.microsoft.com/office/drawing/2014/main" id="{545582FC-7260-B44E-1D5F-1F332AD88536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  <p:grpSp>
          <p:nvGrpSpPr>
            <p:cNvPr id="24" name="MoonLegend5" hidden="1">
              <a:extLst>
                <a:ext uri="{FF2B5EF4-FFF2-40B4-BE49-F238E27FC236}">
                  <a16:creationId xmlns:a16="http://schemas.microsoft.com/office/drawing/2014/main" id="{D602E704-4E36-B920-77CB-86B935B091F9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" name="Oval 24" hidden="1">
                <a:extLst>
                  <a:ext uri="{FF2B5EF4-FFF2-40B4-BE49-F238E27FC236}">
                    <a16:creationId xmlns:a16="http://schemas.microsoft.com/office/drawing/2014/main" id="{F9C39D64-626C-1995-4391-4707C2E178E0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CA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Arc 25" hidden="1">
                <a:extLst>
                  <a:ext uri="{FF2B5EF4-FFF2-40B4-BE49-F238E27FC236}">
                    <a16:creationId xmlns:a16="http://schemas.microsoft.com/office/drawing/2014/main" id="{61B92162-A048-104E-E85E-982ADCE006F3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CA" sz="1400"/>
              </a:p>
            </p:txBody>
          </p:sp>
        </p:grpSp>
      </p:grpSp>
      <p:grpSp>
        <p:nvGrpSpPr>
          <p:cNvPr id="35" name="LegendBoxes" hidden="1">
            <a:extLst>
              <a:ext uri="{FF2B5EF4-FFF2-40B4-BE49-F238E27FC236}">
                <a16:creationId xmlns:a16="http://schemas.microsoft.com/office/drawing/2014/main" id="{6E842153-17C2-61F2-E50A-0472058DD745}"/>
              </a:ext>
            </a:extLst>
          </p:cNvPr>
          <p:cNvGrpSpPr/>
          <p:nvPr userDrawn="1"/>
        </p:nvGrpSpPr>
        <p:grpSpPr>
          <a:xfrm>
            <a:off x="10714801" y="4520490"/>
            <a:ext cx="922463" cy="1717282"/>
            <a:chOff x="10652400" y="4322824"/>
            <a:chExt cx="922463" cy="1717282"/>
          </a:xfrm>
        </p:grpSpPr>
        <p:sp>
          <p:nvSpPr>
            <p:cNvPr id="36" name="RectangleLegend1" hidden="1">
              <a:extLst>
                <a:ext uri="{FF2B5EF4-FFF2-40B4-BE49-F238E27FC236}">
                  <a16:creationId xmlns:a16="http://schemas.microsoft.com/office/drawing/2014/main" id="{267CB977-1EF6-2EA7-3481-994A8EB53732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37" name="RectangleLegend2" hidden="1">
              <a:extLst>
                <a:ext uri="{FF2B5EF4-FFF2-40B4-BE49-F238E27FC236}">
                  <a16:creationId xmlns:a16="http://schemas.microsoft.com/office/drawing/2014/main" id="{9D4DF832-46B2-57E4-74B1-48BA66ADEA2C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38" name="RectangleLegend3" hidden="1">
              <a:extLst>
                <a:ext uri="{FF2B5EF4-FFF2-40B4-BE49-F238E27FC236}">
                  <a16:creationId xmlns:a16="http://schemas.microsoft.com/office/drawing/2014/main" id="{83E814A8-4C87-E3C3-F5CD-53EC45671161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39" name="RectangleLegend4" hidden="1">
              <a:extLst>
                <a:ext uri="{FF2B5EF4-FFF2-40B4-BE49-F238E27FC236}">
                  <a16:creationId xmlns:a16="http://schemas.microsoft.com/office/drawing/2014/main" id="{D7DBA70F-2356-A4A0-1268-E501CA01640D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40" name="RectangleLegend5" hidden="1">
              <a:extLst>
                <a:ext uri="{FF2B5EF4-FFF2-40B4-BE49-F238E27FC236}">
                  <a16:creationId xmlns:a16="http://schemas.microsoft.com/office/drawing/2014/main" id="{86A09846-5875-D2B9-DA7D-0948E150BA00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CA" sz="1400">
                <a:solidFill>
                  <a:schemeClr val="tx1"/>
                </a:solidFill>
              </a:endParaRPr>
            </a:p>
          </p:txBody>
        </p:sp>
        <p:sp>
          <p:nvSpPr>
            <p:cNvPr id="41" name="Legend1" hidden="1">
              <a:extLst>
                <a:ext uri="{FF2B5EF4-FFF2-40B4-BE49-F238E27FC236}">
                  <a16:creationId xmlns:a16="http://schemas.microsoft.com/office/drawing/2014/main" id="{75A08BBB-1344-2912-CDB5-6BBE444F2543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42" name="Legend2" hidden="1">
              <a:extLst>
                <a:ext uri="{FF2B5EF4-FFF2-40B4-BE49-F238E27FC236}">
                  <a16:creationId xmlns:a16="http://schemas.microsoft.com/office/drawing/2014/main" id="{E8C3C11F-972E-CF28-2C6F-F81EA9DCF404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43" name="Legend3" hidden="1">
              <a:extLst>
                <a:ext uri="{FF2B5EF4-FFF2-40B4-BE49-F238E27FC236}">
                  <a16:creationId xmlns:a16="http://schemas.microsoft.com/office/drawing/2014/main" id="{FE3172B7-0D53-82DE-307C-E89379E98741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44" name="Legend4" hidden="1">
              <a:extLst>
                <a:ext uri="{FF2B5EF4-FFF2-40B4-BE49-F238E27FC236}">
                  <a16:creationId xmlns:a16="http://schemas.microsoft.com/office/drawing/2014/main" id="{41ABD00E-621E-20EB-B096-EEB961BA5998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  <p:sp>
          <p:nvSpPr>
            <p:cNvPr id="45" name="Legend5" hidden="1">
              <a:extLst>
                <a:ext uri="{FF2B5EF4-FFF2-40B4-BE49-F238E27FC236}">
                  <a16:creationId xmlns:a16="http://schemas.microsoft.com/office/drawing/2014/main" id="{CDD75596-96D4-FA21-EE9A-09A142460E56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CA" sz="1400"/>
                <a:t>Legend</a:t>
              </a: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4E1107AE-C36E-907E-E193-9F4301EF1A03}"/>
              </a:ext>
            </a:extLst>
          </p:cNvPr>
          <p:cNvPicPr>
            <a:picLocks/>
          </p:cNvPicPr>
          <p:nvPr userDrawn="1"/>
        </p:nvPicPr>
        <p:blipFill>
          <a:blip r:embed="rId44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2F71B01-9AA7-FC6A-2303-1A5F02B23CAB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10993"/>
            <a:ext cx="11420856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05B7294-5F30-B529-F78D-A31AE58EE942}"/>
              </a:ext>
            </a:extLst>
          </p:cNvPr>
          <p:cNvCxnSpPr>
            <a:cxnSpLocks/>
          </p:cNvCxnSpPr>
          <p:nvPr userDrawn="1"/>
        </p:nvCxnSpPr>
        <p:spPr>
          <a:xfrm>
            <a:off x="384048" y="1083423"/>
            <a:ext cx="11420856" cy="0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ticker" hidden="1">
            <a:extLst>
              <a:ext uri="{FF2B5EF4-FFF2-40B4-BE49-F238E27FC236}">
                <a16:creationId xmlns:a16="http://schemas.microsoft.com/office/drawing/2014/main" id="{32BF8EA6-734C-5DC0-0A46-DE2ED733409F}"/>
              </a:ext>
            </a:extLst>
          </p:cNvPr>
          <p:cNvSpPr txBox="1"/>
          <p:nvPr userDrawn="1"/>
        </p:nvSpPr>
        <p:spPr>
          <a:xfrm>
            <a:off x="384048" y="1419436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 rtl="0"/>
            <a:r>
              <a:rPr lang="en-CA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01463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26" r:id="rId2"/>
    <p:sldLayoutId id="2147484027" r:id="rId3"/>
    <p:sldLayoutId id="2147484028" r:id="rId4"/>
    <p:sldLayoutId id="2147484029" r:id="rId5"/>
    <p:sldLayoutId id="2147484030" r:id="rId6"/>
    <p:sldLayoutId id="2147484031" r:id="rId7"/>
    <p:sldLayoutId id="2147484032" r:id="rId8"/>
    <p:sldLayoutId id="2147484033" r:id="rId9"/>
    <p:sldLayoutId id="2147484034" r:id="rId10"/>
    <p:sldLayoutId id="2147484035" r:id="rId11"/>
    <p:sldLayoutId id="2147484036" r:id="rId12"/>
    <p:sldLayoutId id="2147484037" r:id="rId13"/>
    <p:sldLayoutId id="2147484038" r:id="rId14"/>
    <p:sldLayoutId id="2147484039" r:id="rId15"/>
    <p:sldLayoutId id="2147484040" r:id="rId16"/>
    <p:sldLayoutId id="2147484041" r:id="rId17"/>
    <p:sldLayoutId id="2147484042" r:id="rId18"/>
    <p:sldLayoutId id="2147484043" r:id="rId19"/>
    <p:sldLayoutId id="2147484044" r:id="rId20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66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169">
          <p15:clr>
            <a:srgbClr val="F26B43"/>
          </p15:clr>
        </p15:guide>
        <p15:guide id="5" pos="7440">
          <p15:clr>
            <a:srgbClr val="F26B43"/>
          </p15:clr>
        </p15:guide>
        <p15:guide id="6" pos="240">
          <p15:clr>
            <a:srgbClr val="F26B43"/>
          </p15:clr>
        </p15:guide>
        <p15:guide id="8" orient="horz" pos="401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BE9A8BC-9B8C-5A84-FE94-A5D748D4FF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95824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73" imgH="473" progId="TCLayout.ActiveDocument.1">
                  <p:embed/>
                </p:oleObj>
              </mc:Choice>
              <mc:Fallback>
                <p:oleObj name="think-cell Slide" r:id="rId1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BE9A8BC-9B8C-5A84-FE94-A5D748D4FF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FB9C9-E550-A643-B6BA-1F85DC33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81000"/>
            <a:ext cx="11420856" cy="533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8C041-B2CA-3140-B7D0-C1DCF07DF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5401"/>
            <a:ext cx="11420856" cy="472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6BCD8-05CB-42C6-AD70-BAD591D95266}"/>
              </a:ext>
            </a:extLst>
          </p:cNvPr>
          <p:cNvCxnSpPr>
            <a:cxnSpLocks/>
          </p:cNvCxnSpPr>
          <p:nvPr userDrawn="1"/>
        </p:nvCxnSpPr>
        <p:spPr>
          <a:xfrm>
            <a:off x="384048" y="1066800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2133AB-67BC-4F74-A07A-65A22E102BA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C18E352-8130-4711-86BD-9515E8F1C1C5}"/>
              </a:ext>
            </a:extLst>
          </p:cNvPr>
          <p:cNvPicPr>
            <a:picLocks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619E110-F4CA-4E4F-B502-8E44D45BE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 lIns="0" tIns="0" rIns="0"/>
          <a:lstStyle>
            <a:lvl1pPr algn="l">
              <a:defRPr sz="1000"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947FEE-BC42-AB41-9311-D8AAD7B00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69452" y="6515098"/>
            <a:ext cx="1474248" cy="342902"/>
          </a:xfrm>
          <a:prstGeom prst="rect">
            <a:avLst/>
          </a:prstGeom>
        </p:spPr>
        <p:txBody>
          <a:bodyPr lIns="0" tIns="0" rIns="0"/>
          <a:lstStyle>
            <a:lvl1pPr>
              <a:defRPr sz="1000"/>
            </a:lvl1pPr>
          </a:lstStyle>
          <a:p>
            <a:fld id="{B9EBF019-A5C2-491B-AAE2-7B2CD41A4D97}" type="datetime1">
              <a:rPr lang="en-US" smtClean="0"/>
              <a:t>9/2/2026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6469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7" r:id="rId11"/>
    <p:sldLayoutId id="2147484058" r:id="rId12"/>
    <p:sldLayoutId id="2147484059" r:id="rId13"/>
    <p:sldLayoutId id="2147484070" r:id="rId14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36">
          <p15:clr>
            <a:srgbClr val="F26B43"/>
          </p15:clr>
        </p15:guide>
        <p15:guide id="4" pos="239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4104">
          <p15:clr>
            <a:srgbClr val="F26B43"/>
          </p15:clr>
        </p15:guide>
        <p15:guide id="8" orient="horz" pos="2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9EAE993-7DEC-4775-BC26-26BFCFA95E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337390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92" imgH="591" progId="TCLayout.ActiveDocument.1">
                  <p:embed/>
                </p:oleObj>
              </mc:Choice>
              <mc:Fallback>
                <p:oleObj name="think-cell Slide" r:id="rId13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9EAE993-7DEC-4775-BC26-26BFCFA95E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A0C1337B-6310-4C7E-950D-F4485A25CFA2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FB9C9-E550-A643-B6BA-1F85DC33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381000"/>
            <a:ext cx="11420856" cy="533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8C041-B2CA-3140-B7D0-C1DCF07DF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295401"/>
            <a:ext cx="11420856" cy="472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D6BCD8-05CB-42C6-AD70-BAD591D95266}"/>
              </a:ext>
            </a:extLst>
          </p:cNvPr>
          <p:cNvCxnSpPr>
            <a:cxnSpLocks/>
          </p:cNvCxnSpPr>
          <p:nvPr userDrawn="1"/>
        </p:nvCxnSpPr>
        <p:spPr>
          <a:xfrm>
            <a:off x="384048" y="1066800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2133AB-67BC-4F74-A07A-65A22E102BAA}"/>
              </a:ext>
            </a:extLst>
          </p:cNvPr>
          <p:cNvCxnSpPr>
            <a:cxnSpLocks/>
          </p:cNvCxnSpPr>
          <p:nvPr userDrawn="1"/>
        </p:nvCxnSpPr>
        <p:spPr>
          <a:xfrm>
            <a:off x="384048" y="6241473"/>
            <a:ext cx="11420856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C18E352-8130-4711-86BD-9515E8F1C1C5}"/>
              </a:ext>
            </a:extLst>
          </p:cNvPr>
          <p:cNvPicPr>
            <a:picLocks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853928" y="6388101"/>
            <a:ext cx="950976" cy="357859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619E110-F4CA-4E4F-B502-8E44D45BE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515098"/>
            <a:ext cx="8077200" cy="342900"/>
          </a:xfrm>
          <a:prstGeom prst="rect">
            <a:avLst/>
          </a:prstGeom>
        </p:spPr>
        <p:txBody>
          <a:bodyPr lIns="0" tIns="0" rIns="0"/>
          <a:lstStyle>
            <a:lvl1pPr algn="l">
              <a:defRPr sz="1000"/>
            </a:lvl1pPr>
          </a:lstStyle>
          <a:p>
            <a:r>
              <a:rPr lang="en-CA"/>
              <a:t>CONFIDENTIAL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21B266CD-9F45-4261-9AAC-F9C9D3217C95}"/>
              </a:ext>
            </a:extLst>
          </p:cNvPr>
          <p:cNvSpPr txBox="1">
            <a:spLocks/>
          </p:cNvSpPr>
          <p:nvPr userDrawn="1"/>
        </p:nvSpPr>
        <p:spPr>
          <a:xfrm>
            <a:off x="9982200" y="152400"/>
            <a:ext cx="14478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CONFIDENTIAL</a:t>
            </a:r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id="{317151BC-72F8-45C7-80BF-84FFC8E5EEC0}"/>
              </a:ext>
            </a:extLst>
          </p:cNvPr>
          <p:cNvSpPr txBox="1">
            <a:spLocks/>
          </p:cNvSpPr>
          <p:nvPr userDrawn="1"/>
        </p:nvSpPr>
        <p:spPr>
          <a:xfrm>
            <a:off x="11430000" y="152400"/>
            <a:ext cx="381000" cy="228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B11B169-12C0-D948-9ABB-CACE7597BA3D}" type="slidenum">
              <a:rPr lang="en-CA" smtClean="0"/>
              <a:pPr algn="r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16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  <p:sldLayoutId id="2147484068" r:id="rId8"/>
    <p:sldLayoutId id="2147484069" r:id="rId9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36">
          <p15:clr>
            <a:srgbClr val="F26B43"/>
          </p15:clr>
        </p15:guide>
        <p15:guide id="4" pos="239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4104">
          <p15:clr>
            <a:srgbClr val="F26B43"/>
          </p15:clr>
        </p15:guide>
        <p15:guide id="8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/>
          <p:nvPr/>
        </p:nvSpPr>
        <p:spPr>
          <a:xfrm>
            <a:off x="537130" y="700000"/>
            <a:ext cx="2000000" cy="32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400" b="1">
                <a:solidFill>
                  <a:srgbClr val="2E2E38"/>
                </a:solidFill>
                <a:latin typeface="+mj-lt"/>
              </a:rPr>
              <a:t>October 2026</a:t>
            </a:r>
          </a:p>
        </p:txBody>
      </p:sp>
      <p:sp>
        <p:nvSpPr>
          <p:cNvPr id="102" name="Title 102"/>
          <p:cNvSpPr/>
          <p:nvPr/>
        </p:nvSpPr>
        <p:spPr>
          <a:xfrm>
            <a:off x="566928" y="2300000"/>
            <a:ext cx="11625072" cy="1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4000" b="1">
                <a:solidFill>
                  <a:srgbClr val="000000"/>
                </a:solidFill>
                <a:latin typeface="+mj-lt"/>
              </a:rPr>
              <a:t>Infrastructure &amp; Operations:</a:t>
            </a:r>
            <a:br>
              <a:rPr lang="en-US" sz="4000" b="1">
                <a:latin typeface="+mj-lt"/>
              </a:rPr>
            </a:br>
            <a:r>
              <a:rPr lang="en-US" sz="4000" b="1">
                <a:solidFill>
                  <a:srgbClr val="000000"/>
                </a:solidFill>
                <a:latin typeface="+mj-lt"/>
              </a:rPr>
              <a:t>Enterprise Database Services Roadmap</a:t>
            </a:r>
          </a:p>
        </p:txBody>
      </p:sp>
      <p:sp>
        <p:nvSpPr>
          <p:cNvPr id="103" name="Text 103"/>
          <p:cNvSpPr/>
          <p:nvPr/>
        </p:nvSpPr>
        <p:spPr>
          <a:xfrm>
            <a:off x="566928" y="4350000"/>
            <a:ext cx="10000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800">
                <a:solidFill>
                  <a:srgbClr val="747480"/>
                </a:solidFill>
                <a:latin typeface="+mj-lt"/>
              </a:rPr>
              <a:t>FY27–FY28 strategic direction, modernization priorities and dependencies</a:t>
            </a:r>
          </a:p>
        </p:txBody>
      </p:sp>
      <p:sp>
        <p:nvSpPr>
          <p:cNvPr id="104" name="Text 104"/>
          <p:cNvSpPr/>
          <p:nvPr/>
        </p:nvSpPr>
        <p:spPr>
          <a:xfrm>
            <a:off x="566928" y="4900000"/>
            <a:ext cx="8000000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400" i="1">
                <a:solidFill>
                  <a:srgbClr val="747480"/>
                </a:solidFill>
                <a:latin typeface="+mj-lt"/>
              </a:rPr>
              <a:t>Draft for stakeholder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Document Status</a:t>
            </a:r>
            <a:endParaRPr lang="en-US" sz="2600">
              <a:latin typeface="+mj-lt"/>
            </a:endParaRPr>
          </a:p>
        </p:txBody>
      </p:sp>
      <p:sp>
        <p:nvSpPr>
          <p:cNvPr id="102" name="Card 102"/>
          <p:cNvSpPr/>
          <p:nvPr/>
        </p:nvSpPr>
        <p:spPr>
          <a:xfrm>
            <a:off x="457200" y="1250000"/>
            <a:ext cx="3608266" cy="33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CardHeader 103"/>
          <p:cNvSpPr/>
          <p:nvPr/>
        </p:nvSpPr>
        <p:spPr>
          <a:xfrm>
            <a:off x="637200" y="1400000"/>
            <a:ext cx="3248266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300" b="1">
                <a:solidFill>
                  <a:srgbClr val="BA0C2F"/>
                </a:solidFill>
                <a:latin typeface="+mj-lt"/>
              </a:rPr>
              <a:t>Status</a:t>
            </a:r>
          </a:p>
        </p:txBody>
      </p:sp>
      <p:sp>
        <p:nvSpPr>
          <p:cNvPr id="104" name="Bullets 104"/>
          <p:cNvSpPr/>
          <p:nvPr/>
        </p:nvSpPr>
        <p:spPr>
          <a:xfrm>
            <a:off x="637200" y="1870000"/>
            <a:ext cx="3248266" cy="25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2E2E38"/>
                </a:solidFill>
                <a:latin typeface="+mj-lt"/>
              </a:rPr>
              <a:t>Date: </a:t>
            </a:r>
            <a:r>
              <a:rPr lang="en-US" sz="1000" dirty="0">
                <a:solidFill>
                  <a:srgbClr val="2E2E38"/>
                </a:solidFill>
                <a:latin typeface="+mj-lt"/>
              </a:rPr>
              <a:t>October 2026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2E2E38"/>
                </a:solidFill>
                <a:latin typeface="+mj-lt"/>
              </a:rPr>
              <a:t>Status: </a:t>
            </a:r>
            <a:r>
              <a:rPr lang="en-US" sz="1000" dirty="0">
                <a:solidFill>
                  <a:srgbClr val="2E2E38"/>
                </a:solidFill>
                <a:latin typeface="+mj-lt"/>
              </a:rPr>
              <a:t>Draft for stakeholder validation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Technology direction, sequencing and investment assumptions remain subject to validation.</a:t>
            </a:r>
            <a:endParaRPr lang="en-US" sz="1000"/>
          </a:p>
        </p:txBody>
      </p:sp>
      <p:sp>
        <p:nvSpPr>
          <p:cNvPr id="105" name="Card 105"/>
          <p:cNvSpPr/>
          <p:nvPr/>
        </p:nvSpPr>
        <p:spPr>
          <a:xfrm>
            <a:off x="4294066" y="1250000"/>
            <a:ext cx="3608266" cy="3350000"/>
          </a:xfrm>
          <a:prstGeom prst="rect">
            <a:avLst/>
          </a:prstGeom>
          <a:solidFill>
            <a:srgbClr val="F0CC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CardHeader 106"/>
          <p:cNvSpPr/>
          <p:nvPr/>
        </p:nvSpPr>
        <p:spPr>
          <a:xfrm>
            <a:off x="4474066" y="1400000"/>
            <a:ext cx="3248266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300" b="1">
                <a:solidFill>
                  <a:srgbClr val="8C0924"/>
                </a:solidFill>
                <a:latin typeface="+mj-lt"/>
              </a:rPr>
              <a:t>Author &amp; Contributors</a:t>
            </a:r>
          </a:p>
        </p:txBody>
      </p:sp>
      <p:sp>
        <p:nvSpPr>
          <p:cNvPr id="107" name="Bullets 107"/>
          <p:cNvSpPr/>
          <p:nvPr/>
        </p:nvSpPr>
        <p:spPr>
          <a:xfrm>
            <a:off x="4474066" y="1870000"/>
            <a:ext cx="3248266" cy="25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2E2E38"/>
                </a:solidFill>
                <a:latin typeface="+mj-lt"/>
              </a:rPr>
              <a:t>Author: </a:t>
            </a:r>
            <a:r>
              <a:rPr lang="en-US" sz="1000" dirty="0">
                <a:solidFill>
                  <a:srgbClr val="2E2E38"/>
                </a:solidFill>
                <a:latin typeface="+mj-lt"/>
              </a:rPr>
              <a:t>Santhosh Kumar Chandrashekar, Enterprise Architecture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2E2E38"/>
                </a:solidFill>
                <a:latin typeface="+mj-lt"/>
              </a:rPr>
              <a:t>Contributors: </a:t>
            </a:r>
            <a:r>
              <a:rPr lang="en-US" sz="1000" dirty="0">
                <a:solidFill>
                  <a:srgbClr val="2E2E38"/>
                </a:solidFill>
                <a:latin typeface="+mj-lt"/>
              </a:rPr>
              <a:t>Glen Loewen (I&amp;O), John-Paul Vassart (I&amp;O), Rakesh Nair (EA)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2E2E38"/>
                </a:solidFill>
                <a:latin typeface="+mj-lt"/>
              </a:rPr>
              <a:t>Awareness: </a:t>
            </a:r>
            <a:r>
              <a:rPr lang="en-US" sz="1000" dirty="0">
                <a:solidFill>
                  <a:srgbClr val="2E2E38"/>
                </a:solidFill>
                <a:latin typeface="+mj-lt"/>
              </a:rPr>
              <a:t>TTO Roadmap Program Leadership, I&amp;O Roadmap Leadership</a:t>
            </a:r>
            <a:endParaRPr lang="en-US" sz="1000"/>
          </a:p>
        </p:txBody>
      </p:sp>
      <p:sp>
        <p:nvSpPr>
          <p:cNvPr id="108" name="Card 108"/>
          <p:cNvSpPr/>
          <p:nvPr/>
        </p:nvSpPr>
        <p:spPr>
          <a:xfrm>
            <a:off x="8130932" y="1250000"/>
            <a:ext cx="3608266" cy="33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CardHeader 109"/>
          <p:cNvSpPr/>
          <p:nvPr/>
        </p:nvSpPr>
        <p:spPr>
          <a:xfrm>
            <a:off x="8310932" y="1400000"/>
            <a:ext cx="3248266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300" b="1">
                <a:solidFill>
                  <a:srgbClr val="BA0C2F"/>
                </a:solidFill>
                <a:latin typeface="+mj-lt"/>
              </a:rPr>
              <a:t>Review &amp; Endorsement</a:t>
            </a:r>
          </a:p>
        </p:txBody>
      </p:sp>
      <p:sp>
        <p:nvSpPr>
          <p:cNvPr id="110" name="Bullets 110"/>
          <p:cNvSpPr/>
          <p:nvPr/>
        </p:nvSpPr>
        <p:spPr>
          <a:xfrm>
            <a:off x="8310932" y="1870000"/>
            <a:ext cx="3248266" cy="25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2E2E38"/>
                </a:solidFill>
                <a:latin typeface="+mj-lt"/>
              </a:rPr>
              <a:t>Approval L1: </a:t>
            </a:r>
            <a:r>
              <a:rPr lang="en-US" sz="1000" dirty="0">
                <a:solidFill>
                  <a:srgbClr val="2E2E38"/>
                </a:solidFill>
                <a:latin typeface="+mj-lt"/>
              </a:rPr>
              <a:t>Hani Mousa, Goran Zugic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b="1" dirty="0">
                <a:solidFill>
                  <a:srgbClr val="2E2E38"/>
                </a:solidFill>
                <a:latin typeface="+mj-lt"/>
              </a:rPr>
              <a:t>Approval L2: </a:t>
            </a:r>
            <a:r>
              <a:rPr lang="en-US" sz="1000" dirty="0">
                <a:solidFill>
                  <a:srgbClr val="2E2E38"/>
                </a:solidFill>
                <a:latin typeface="+mj-lt"/>
              </a:rPr>
              <a:t>Charles Lewis, Joe Kitchen, Kaushik Venkatadri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Final endorsement follows closure of key roadmap decisions.</a:t>
            </a:r>
            <a:endParaRPr lang="en-US" sz="1000"/>
          </a:p>
        </p:txBody>
      </p:sp>
      <p:sp>
        <p:nvSpPr>
          <p:cNvPr id="111" name="Card 111"/>
          <p:cNvSpPr/>
          <p:nvPr/>
        </p:nvSpPr>
        <p:spPr>
          <a:xfrm>
            <a:off x="457200" y="4750000"/>
            <a:ext cx="11282000" cy="65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ignOff 112"/>
          <p:cNvSpPr/>
          <p:nvPr/>
        </p:nvSpPr>
        <p:spPr>
          <a:xfrm>
            <a:off x="637200" y="4750000"/>
            <a:ext cx="10922000" cy="650000"/>
          </a:xfrm>
          <a:prstGeom prst="rect">
            <a:avLst/>
          </a:prstGeom>
          <a:noFill/>
          <a:ln/>
        </p:spPr>
        <p:txBody>
          <a:bodyPr wrap="square" anchor="ctr" lIns="0" tIns="0"/>
          <a:lstStyle/>
          <a:p>
            <a:r>
              <a:rPr lang="en-US" sz="1100" b="1">
                <a:solidFill>
                  <a:srgbClr val="FFFFFF"/>
                </a:solidFill>
                <a:latin typeface="+mj-lt"/>
              </a:rPr>
              <a:t>Sign-off conditions: </a:t>
            </a:r>
            <a:r>
              <a:rPr lang="en-US" sz="1100">
                <a:solidFill>
                  <a:srgbClr val="FFFFFF"/>
                </a:solidFill>
                <a:latin typeface="+mj-lt"/>
              </a:rPr>
              <a:t>NORTH demand and sequencing • Database decision matrix • DB2 disposition • ODS ownership • NFR and security ownership • Funding and delivery assumptions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>
              <a:latin typeface="+mj-lt"/>
            </a:endParaRP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1371600" y="1371600"/>
          <a:ext cx="11218320" cy="3420000"/>
        </p:xfrm>
        <a:graphic>
          <a:graphicData uri="http://schemas.openxmlformats.org/drawingml/2006/table">
            <a:tbl>
              <a:tblPr firstRow="1" bandRow="1"/>
              <a:tblGrid>
                <a:gridCol w="9846720"/>
                <a:gridCol w="1371600"/>
              </a:tblGrid>
              <a:tr h="36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Topic</a:t>
                      </a:r>
                      <a:endParaRPr lang="en-US" sz="14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Page</a:t>
                      </a:r>
                      <a:endParaRPr lang="en-US" sz="14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34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01  Vision and outcomes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4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02  Strategic domains and principles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5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03  Current-state landscape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9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04  NORTH and program dependencies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12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05  Target-state direction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14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06  Database decision framework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10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07  Strategic initiatives and sequencing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18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08  Decisions and dependencies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22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09  Appendix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23</a:t>
                      </a:r>
                      <a:endParaRPr lang="en-US" sz="13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Advancing Enterprise Database Maturity</a:t>
            </a:r>
            <a:endParaRPr lang="en-US" sz="2600">
              <a:latin typeface="+mj-lt"/>
            </a:endParaRPr>
          </a:p>
        </p:txBody>
      </p:sp>
      <p:sp>
        <p:nvSpPr>
          <p:cNvPr id="102" name="Card 102"/>
          <p:cNvSpPr/>
          <p:nvPr/>
        </p:nvSpPr>
        <p:spPr>
          <a:xfrm>
            <a:off x="457200" y="1200000"/>
            <a:ext cx="11282000" cy="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3"/>
          <p:cNvSpPr/>
          <p:nvPr/>
        </p:nvSpPr>
        <p:spPr>
          <a:xfrm>
            <a:off x="707200" y="1330000"/>
            <a:ext cx="10782000" cy="650000"/>
          </a:xfrm>
          <a:prstGeom prst="rect">
            <a:avLst/>
          </a:prstGeom>
          <a:noFill/>
          <a:ln/>
        </p:spPr>
        <p:txBody>
          <a:bodyPr wrap="square" anchor="ctr" lIns="0" tIns="0"/>
          <a:lstStyle/>
          <a:p>
            <a:pPr/>
            <a:r>
              <a:rPr lang="en-US" sz="1400" b="1">
                <a:solidFill>
                  <a:srgbClr val="2E2E38"/>
                </a:solidFill>
                <a:latin typeface="+mj-lt"/>
              </a:rPr>
              <a:t>Enable secure, resilient and cost-effective enterprise database services through governed workload placement, managed-service adoption, lifecycle modernization and consistent operational controls.</a:t>
            </a:r>
          </a:p>
        </p:txBody>
      </p:sp>
      <p:sp>
        <p:nvSpPr>
          <p:cNvPr id="104" name="Card 104"/>
          <p:cNvSpPr/>
          <p:nvPr/>
        </p:nvSpPr>
        <p:spPr>
          <a:xfrm>
            <a:off x="457200" y="2350000"/>
            <a:ext cx="2136400" cy="2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CardHeader 105"/>
          <p:cNvSpPr/>
          <p:nvPr/>
        </p:nvSpPr>
        <p:spPr>
          <a:xfrm>
            <a:off x="577200" y="2500000"/>
            <a:ext cx="1896400" cy="7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00" b="1">
                <a:solidFill>
                  <a:srgbClr val="BA0C2F"/>
                </a:solidFill>
                <a:latin typeface="+mj-lt"/>
              </a:rPr>
              <a:t>Accelerate time-to-market</a:t>
            </a:r>
          </a:p>
        </p:txBody>
      </p:sp>
      <p:sp>
        <p:nvSpPr>
          <p:cNvPr id="106" name="Text 106"/>
          <p:cNvSpPr/>
          <p:nvPr/>
        </p:nvSpPr>
        <p:spPr>
          <a:xfrm>
            <a:off x="577200" y="3300000"/>
            <a:ext cx="1896400" cy="9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950">
                <a:solidFill>
                  <a:srgbClr val="2E2E38"/>
                </a:solidFill>
                <a:latin typeface="+mj-lt"/>
              </a:rPr>
              <a:t>Faster governed onboarding</a:t>
            </a:r>
          </a:p>
        </p:txBody>
      </p:sp>
      <p:sp>
        <p:nvSpPr>
          <p:cNvPr id="107" name="Card 107"/>
          <p:cNvSpPr/>
          <p:nvPr/>
        </p:nvSpPr>
        <p:spPr>
          <a:xfrm>
            <a:off x="2743600" y="2350000"/>
            <a:ext cx="2136400" cy="2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CardHeader 108"/>
          <p:cNvSpPr/>
          <p:nvPr/>
        </p:nvSpPr>
        <p:spPr>
          <a:xfrm>
            <a:off x="2863600" y="2500000"/>
            <a:ext cx="1896400" cy="7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00" b="1">
                <a:solidFill>
                  <a:srgbClr val="BA0C2F"/>
                </a:solidFill>
                <a:latin typeface="+mj-lt"/>
              </a:rPr>
              <a:t>Increase service resilience</a:t>
            </a:r>
          </a:p>
        </p:txBody>
      </p:sp>
      <p:sp>
        <p:nvSpPr>
          <p:cNvPr id="109" name="Text 109"/>
          <p:cNvSpPr/>
          <p:nvPr/>
        </p:nvSpPr>
        <p:spPr>
          <a:xfrm>
            <a:off x="2863600" y="3300000"/>
            <a:ext cx="1896400" cy="9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950">
                <a:solidFill>
                  <a:srgbClr val="2E2E38"/>
                </a:solidFill>
                <a:latin typeface="+mj-lt"/>
              </a:rPr>
              <a:t>Tiered recovery and testing</a:t>
            </a:r>
          </a:p>
        </p:txBody>
      </p:sp>
      <p:sp>
        <p:nvSpPr>
          <p:cNvPr id="110" name="Card 110"/>
          <p:cNvSpPr/>
          <p:nvPr/>
        </p:nvSpPr>
        <p:spPr>
          <a:xfrm>
            <a:off x="5030000" y="2350000"/>
            <a:ext cx="2136400" cy="2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CardHeader 111"/>
          <p:cNvSpPr/>
          <p:nvPr/>
        </p:nvSpPr>
        <p:spPr>
          <a:xfrm>
            <a:off x="5150000" y="2500000"/>
            <a:ext cx="1896400" cy="7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00" b="1">
                <a:solidFill>
                  <a:srgbClr val="BA0C2F"/>
                </a:solidFill>
                <a:latin typeface="+mj-lt"/>
              </a:rPr>
              <a:t>Strengthen security &amp; compliance</a:t>
            </a:r>
          </a:p>
        </p:txBody>
      </p:sp>
      <p:sp>
        <p:nvSpPr>
          <p:cNvPr id="112" name="Text 112"/>
          <p:cNvSpPr/>
          <p:nvPr/>
        </p:nvSpPr>
        <p:spPr>
          <a:xfrm>
            <a:off x="5150000" y="3300000"/>
            <a:ext cx="1896400" cy="9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950">
                <a:solidFill>
                  <a:srgbClr val="2E2E38"/>
                </a:solidFill>
                <a:latin typeface="+mj-lt"/>
              </a:rPr>
              <a:t>Common controls and evidence</a:t>
            </a:r>
          </a:p>
        </p:txBody>
      </p:sp>
      <p:sp>
        <p:nvSpPr>
          <p:cNvPr id="113" name="Card 113"/>
          <p:cNvSpPr/>
          <p:nvPr/>
        </p:nvSpPr>
        <p:spPr>
          <a:xfrm>
            <a:off x="7316400" y="2350000"/>
            <a:ext cx="2136400" cy="2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CardHeader 114"/>
          <p:cNvSpPr/>
          <p:nvPr/>
        </p:nvSpPr>
        <p:spPr>
          <a:xfrm>
            <a:off x="7436400" y="2500000"/>
            <a:ext cx="1896400" cy="7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00" b="1">
                <a:solidFill>
                  <a:srgbClr val="BA0C2F"/>
                </a:solidFill>
                <a:latin typeface="+mj-lt"/>
              </a:rPr>
              <a:t>Enable data and AI workloads</a:t>
            </a:r>
          </a:p>
        </p:txBody>
      </p:sp>
      <p:sp>
        <p:nvSpPr>
          <p:cNvPr id="115" name="Text 115"/>
          <p:cNvSpPr/>
          <p:nvPr/>
        </p:nvSpPr>
        <p:spPr>
          <a:xfrm>
            <a:off x="7436400" y="3300000"/>
            <a:ext cx="1896400" cy="9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950">
                <a:solidFill>
                  <a:srgbClr val="2E2E38"/>
                </a:solidFill>
                <a:latin typeface="+mj-lt"/>
              </a:rPr>
              <a:t>Demand-led capabilities</a:t>
            </a:r>
          </a:p>
        </p:txBody>
      </p:sp>
      <p:sp>
        <p:nvSpPr>
          <p:cNvPr id="116" name="Card 116"/>
          <p:cNvSpPr/>
          <p:nvPr/>
        </p:nvSpPr>
        <p:spPr>
          <a:xfrm>
            <a:off x="9602800" y="2350000"/>
            <a:ext cx="2136400" cy="2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CardHeader 117"/>
          <p:cNvSpPr/>
          <p:nvPr/>
        </p:nvSpPr>
        <p:spPr>
          <a:xfrm>
            <a:off x="9722800" y="2500000"/>
            <a:ext cx="1896400" cy="7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00" b="1">
                <a:solidFill>
                  <a:srgbClr val="BA0C2F"/>
                </a:solidFill>
                <a:latin typeface="+mj-lt"/>
              </a:rPr>
              <a:t>Reduce operational effort</a:t>
            </a:r>
          </a:p>
        </p:txBody>
      </p:sp>
      <p:sp>
        <p:nvSpPr>
          <p:cNvPr id="118" name="Text 118"/>
          <p:cNvSpPr/>
          <p:nvPr/>
        </p:nvSpPr>
        <p:spPr>
          <a:xfrm>
            <a:off x="9722800" y="3300000"/>
            <a:ext cx="1896400" cy="9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950">
                <a:solidFill>
                  <a:srgbClr val="2E2E38"/>
                </a:solidFill>
                <a:latin typeface="+mj-lt"/>
              </a:rPr>
              <a:t>Managed services and automation</a:t>
            </a:r>
          </a:p>
        </p:txBody>
      </p:sp>
      <p:sp>
        <p:nvSpPr>
          <p:cNvPr id="119" name="Text 119"/>
          <p:cNvSpPr/>
          <p:nvPr/>
        </p:nvSpPr>
        <p:spPr>
          <a:xfrm>
            <a:off x="457200" y="4850000"/>
            <a:ext cx="11282000" cy="4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1100" i="1">
                <a:solidFill>
                  <a:srgbClr val="747480"/>
                </a:solidFill>
                <a:latin typeface="+mj-lt"/>
              </a:rPr>
              <a:t>Emerging analytical and AI capabilities are enabled where demand, platform ownership, risk and cost are validated.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Database Services Value Chain</a:t>
            </a:r>
            <a:endParaRPr lang="en-US" sz="2600">
              <a:latin typeface="+mj-lt"/>
            </a:endParaRPr>
          </a:p>
        </p:txBody>
      </p:sp>
      <p:sp>
        <p:nvSpPr>
          <p:cNvPr id="102" name="Card 102"/>
          <p:cNvSpPr/>
          <p:nvPr/>
        </p:nvSpPr>
        <p:spPr>
          <a:xfrm>
            <a:off x="457200" y="1250000"/>
            <a:ext cx="1780333" cy="2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Card 103"/>
          <p:cNvSpPr/>
          <p:nvPr/>
        </p:nvSpPr>
        <p:spPr>
          <a:xfrm>
            <a:off x="457200" y="1250000"/>
            <a:ext cx="1780333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CardHeader 104"/>
          <p:cNvSpPr/>
          <p:nvPr/>
        </p:nvSpPr>
        <p:spPr>
          <a:xfrm>
            <a:off x="547200" y="1400000"/>
            <a:ext cx="1600333" cy="3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00" b="1">
                <a:solidFill>
                  <a:srgbClr val="BA0C2F"/>
                </a:solidFill>
                <a:latin typeface="+mj-lt"/>
              </a:rPr>
              <a:t>PLAN</a:t>
            </a:r>
          </a:p>
        </p:txBody>
      </p:sp>
      <p:sp>
        <p:nvSpPr>
          <p:cNvPr id="105" name="Bullets 105"/>
          <p:cNvSpPr/>
          <p:nvPr/>
        </p:nvSpPr>
        <p:spPr>
          <a:xfrm>
            <a:off x="547200" y="1800000"/>
            <a:ext cx="1600333" cy="22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Classify workload and data</a:t>
            </a:r>
            <a:endParaRPr lang="en-US" sz="9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Apply decision matrix</a:t>
            </a:r>
            <a:endParaRPr lang="en-US" sz="9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Confirm SOR ownership</a:t>
            </a:r>
            <a:endParaRPr lang="en-US" sz="900"/>
          </a:p>
        </p:txBody>
      </p:sp>
      <p:sp>
        <p:nvSpPr>
          <p:cNvPr id="106" name="Card 106"/>
          <p:cNvSpPr/>
          <p:nvPr/>
        </p:nvSpPr>
        <p:spPr>
          <a:xfrm>
            <a:off x="2357533" y="1250000"/>
            <a:ext cx="1780333" cy="2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Card 107"/>
          <p:cNvSpPr/>
          <p:nvPr/>
        </p:nvSpPr>
        <p:spPr>
          <a:xfrm>
            <a:off x="2357533" y="1250000"/>
            <a:ext cx="1780333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CardHeader 108"/>
          <p:cNvSpPr/>
          <p:nvPr/>
        </p:nvSpPr>
        <p:spPr>
          <a:xfrm>
            <a:off x="2447533" y="1400000"/>
            <a:ext cx="1600333" cy="3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00" b="1">
                <a:solidFill>
                  <a:srgbClr val="BA0C2F"/>
                </a:solidFill>
                <a:latin typeface="+mj-lt"/>
              </a:rPr>
              <a:t>PROVISION</a:t>
            </a:r>
          </a:p>
        </p:txBody>
      </p:sp>
      <p:sp>
        <p:nvSpPr>
          <p:cNvPr id="109" name="Bullets 109"/>
          <p:cNvSpPr/>
          <p:nvPr/>
        </p:nvSpPr>
        <p:spPr>
          <a:xfrm>
            <a:off x="2447533" y="1800000"/>
            <a:ext cx="1600333" cy="22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Approved service pattern</a:t>
            </a:r>
            <a:endParaRPr lang="en-US" sz="9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Policy-controlled onboarding</a:t>
            </a:r>
            <a:endParaRPr lang="en-US" sz="9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IaC / self-service</a:t>
            </a:r>
            <a:endParaRPr lang="en-US" sz="900"/>
          </a:p>
        </p:txBody>
      </p:sp>
      <p:sp>
        <p:nvSpPr>
          <p:cNvPr id="110" name="Card 110"/>
          <p:cNvSpPr/>
          <p:nvPr/>
        </p:nvSpPr>
        <p:spPr>
          <a:xfrm>
            <a:off x="4257866" y="1250000"/>
            <a:ext cx="1780333" cy="2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Card 111"/>
          <p:cNvSpPr/>
          <p:nvPr/>
        </p:nvSpPr>
        <p:spPr>
          <a:xfrm>
            <a:off x="4257866" y="1250000"/>
            <a:ext cx="1780333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Header 112"/>
          <p:cNvSpPr/>
          <p:nvPr/>
        </p:nvSpPr>
        <p:spPr>
          <a:xfrm>
            <a:off x="4347866" y="1400000"/>
            <a:ext cx="1600333" cy="3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00" b="1">
                <a:solidFill>
                  <a:srgbClr val="BA0C2F"/>
                </a:solidFill>
                <a:latin typeface="+mj-lt"/>
              </a:rPr>
              <a:t>SECURE</a:t>
            </a:r>
          </a:p>
        </p:txBody>
      </p:sp>
      <p:sp>
        <p:nvSpPr>
          <p:cNvPr id="113" name="Bullets 113"/>
          <p:cNvSpPr/>
          <p:nvPr/>
        </p:nvSpPr>
        <p:spPr>
          <a:xfrm>
            <a:off x="4347866" y="1800000"/>
            <a:ext cx="1600333" cy="22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RBAC and PAM</a:t>
            </a:r>
            <a:endParaRPr lang="en-US" sz="9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Encryption and audit</a:t>
            </a:r>
            <a:endParaRPr lang="en-US" sz="9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Residency and evidence</a:t>
            </a:r>
            <a:endParaRPr lang="en-US" sz="900"/>
          </a:p>
        </p:txBody>
      </p:sp>
      <p:sp>
        <p:nvSpPr>
          <p:cNvPr id="114" name="Card 114"/>
          <p:cNvSpPr/>
          <p:nvPr/>
        </p:nvSpPr>
        <p:spPr>
          <a:xfrm>
            <a:off x="6158199" y="1250000"/>
            <a:ext cx="1780333" cy="2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Card 115"/>
          <p:cNvSpPr/>
          <p:nvPr/>
        </p:nvSpPr>
        <p:spPr>
          <a:xfrm>
            <a:off x="6158199" y="1250000"/>
            <a:ext cx="1780333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CardHeader 116"/>
          <p:cNvSpPr/>
          <p:nvPr/>
        </p:nvSpPr>
        <p:spPr>
          <a:xfrm>
            <a:off x="6248199" y="1400000"/>
            <a:ext cx="1600333" cy="3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00" b="1">
                <a:solidFill>
                  <a:srgbClr val="BA0C2F"/>
                </a:solidFill>
                <a:latin typeface="+mj-lt"/>
              </a:rPr>
              <a:t>OPERATE</a:t>
            </a:r>
          </a:p>
        </p:txBody>
      </p:sp>
      <p:sp>
        <p:nvSpPr>
          <p:cNvPr id="117" name="Bullets 117"/>
          <p:cNvSpPr/>
          <p:nvPr/>
        </p:nvSpPr>
        <p:spPr>
          <a:xfrm>
            <a:off x="6248199" y="1800000"/>
            <a:ext cx="1600333" cy="22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RTO/RPO tier</a:t>
            </a:r>
            <a:endParaRPr lang="en-US" sz="9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Monitoring, patching</a:t>
            </a:r>
            <a:endParaRPr lang="en-US" sz="9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Recovery testing</a:t>
            </a:r>
            <a:endParaRPr lang="en-US" sz="900"/>
          </a:p>
        </p:txBody>
      </p:sp>
      <p:sp>
        <p:nvSpPr>
          <p:cNvPr id="118" name="Card 118"/>
          <p:cNvSpPr/>
          <p:nvPr/>
        </p:nvSpPr>
        <p:spPr>
          <a:xfrm>
            <a:off x="8058532" y="1250000"/>
            <a:ext cx="1780333" cy="2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Card 119"/>
          <p:cNvSpPr/>
          <p:nvPr/>
        </p:nvSpPr>
        <p:spPr>
          <a:xfrm>
            <a:off x="8058532" y="1250000"/>
            <a:ext cx="1780333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CardHeader 120"/>
          <p:cNvSpPr/>
          <p:nvPr/>
        </p:nvSpPr>
        <p:spPr>
          <a:xfrm>
            <a:off x="8148532" y="1400000"/>
            <a:ext cx="1600333" cy="3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00" b="1">
                <a:solidFill>
                  <a:srgbClr val="BA0C2F"/>
                </a:solidFill>
                <a:latin typeface="+mj-lt"/>
              </a:rPr>
              <a:t>OPTIMIZE</a:t>
            </a:r>
          </a:p>
        </p:txBody>
      </p:sp>
      <p:sp>
        <p:nvSpPr>
          <p:cNvPr id="121" name="Bullets 121"/>
          <p:cNvSpPr/>
          <p:nvPr/>
        </p:nvSpPr>
        <p:spPr>
          <a:xfrm>
            <a:off x="8148532" y="1800000"/>
            <a:ext cx="1600333" cy="22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Capacity and performance</a:t>
            </a:r>
            <a:endParaRPr lang="en-US" sz="9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TCO and licence exposure</a:t>
            </a:r>
            <a:endParaRPr lang="en-US" sz="9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Retirement savings</a:t>
            </a:r>
            <a:endParaRPr lang="en-US" sz="900"/>
          </a:p>
        </p:txBody>
      </p:sp>
      <p:sp>
        <p:nvSpPr>
          <p:cNvPr id="122" name="Card 122"/>
          <p:cNvSpPr/>
          <p:nvPr/>
        </p:nvSpPr>
        <p:spPr>
          <a:xfrm>
            <a:off x="9958865" y="1250000"/>
            <a:ext cx="1780333" cy="2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Card 123"/>
          <p:cNvSpPr/>
          <p:nvPr/>
        </p:nvSpPr>
        <p:spPr>
          <a:xfrm>
            <a:off x="9958865" y="1250000"/>
            <a:ext cx="1780333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CardHeader 124"/>
          <p:cNvSpPr/>
          <p:nvPr/>
        </p:nvSpPr>
        <p:spPr>
          <a:xfrm>
            <a:off x="10048865" y="1400000"/>
            <a:ext cx="1600333" cy="3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00" b="1">
                <a:solidFill>
                  <a:srgbClr val="BA0C2F"/>
                </a:solidFill>
                <a:latin typeface="+mj-lt"/>
              </a:rPr>
              <a:t>RETIRE</a:t>
            </a:r>
          </a:p>
        </p:txBody>
      </p:sp>
      <p:sp>
        <p:nvSpPr>
          <p:cNvPr id="125" name="Bullets 125"/>
          <p:cNvSpPr/>
          <p:nvPr/>
        </p:nvSpPr>
        <p:spPr>
          <a:xfrm>
            <a:off x="10048865" y="1800000"/>
            <a:ext cx="1600333" cy="22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Exit and archival plan</a:t>
            </a:r>
            <a:endParaRPr lang="en-US" sz="9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Dependency validation</a:t>
            </a:r>
            <a:endParaRPr lang="en-US" sz="9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E2E38"/>
                </a:solidFill>
                <a:latin typeface="+mj-lt"/>
              </a:rPr>
              <a:t>Licence reclamation</a:t>
            </a:r>
            <a:endParaRPr lang="en-US" sz="900"/>
          </a:p>
        </p:txBody>
      </p:sp>
      <p:sp>
        <p:nvSpPr>
          <p:cNvPr id="126" name="Text 126"/>
          <p:cNvSpPr/>
          <p:nvPr/>
        </p:nvSpPr>
        <p:spPr>
          <a:xfrm>
            <a:off x="457200" y="4300000"/>
            <a:ext cx="11282000" cy="5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 i="1">
                <a:solidFill>
                  <a:srgbClr val="747480"/>
                </a:solidFill>
                <a:latin typeface="+mj-lt"/>
              </a:rPr>
              <a:t>Key constituents: Database Product Owner • EA/Data Portfolio Architecture • DBA/Engineering • Application Owners • Security • IAM • Data Governance • FinOps •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I&amp;O Guiding Principles</a:t>
            </a:r>
            <a:endParaRPr lang="en-US" sz="2600">
              <a:latin typeface="+mj-lt"/>
            </a:endParaRPr>
          </a:p>
        </p:txBody>
      </p:sp>
      <p:sp>
        <p:nvSpPr>
          <p:cNvPr id="102" name="Card 102"/>
          <p:cNvSpPr/>
          <p:nvPr/>
        </p:nvSpPr>
        <p:spPr>
          <a:xfrm>
            <a:off x="457200" y="1250000"/>
            <a:ext cx="3627333" cy="2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Card 103"/>
          <p:cNvSpPr/>
          <p:nvPr/>
        </p:nvSpPr>
        <p:spPr>
          <a:xfrm>
            <a:off x="457200" y="1250000"/>
            <a:ext cx="70000" cy="220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CardHeader 104"/>
          <p:cNvSpPr/>
          <p:nvPr/>
        </p:nvSpPr>
        <p:spPr>
          <a:xfrm>
            <a:off x="677200" y="1430000"/>
            <a:ext cx="3207333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Managed services first</a:t>
            </a:r>
          </a:p>
        </p:txBody>
      </p:sp>
      <p:sp>
        <p:nvSpPr>
          <p:cNvPr id="105" name="Text 105"/>
          <p:cNvSpPr/>
          <p:nvPr/>
        </p:nvSpPr>
        <p:spPr>
          <a:xfrm>
            <a:off x="677200" y="2070000"/>
            <a:ext cx="3207333" cy="12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Prefer SaaS/PaaS where compatibility, residency, resilience, support and economics are validated.</a:t>
            </a:r>
          </a:p>
        </p:txBody>
      </p:sp>
      <p:sp>
        <p:nvSpPr>
          <p:cNvPr id="106" name="Card 106"/>
          <p:cNvSpPr/>
          <p:nvPr/>
        </p:nvSpPr>
        <p:spPr>
          <a:xfrm>
            <a:off x="4284533" y="1250000"/>
            <a:ext cx="3627333" cy="2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Card 107"/>
          <p:cNvSpPr/>
          <p:nvPr/>
        </p:nvSpPr>
        <p:spPr>
          <a:xfrm>
            <a:off x="4284533" y="1250000"/>
            <a:ext cx="70000" cy="220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CardHeader 108"/>
          <p:cNvSpPr/>
          <p:nvPr/>
        </p:nvSpPr>
        <p:spPr>
          <a:xfrm>
            <a:off x="4504533" y="1430000"/>
            <a:ext cx="3207333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Cloud appropriate</a:t>
            </a:r>
          </a:p>
        </p:txBody>
      </p:sp>
      <p:sp>
        <p:nvSpPr>
          <p:cNvPr id="109" name="Text 109"/>
          <p:cNvSpPr/>
          <p:nvPr/>
        </p:nvSpPr>
        <p:spPr>
          <a:xfrm>
            <a:off x="4504533" y="2070000"/>
            <a:ext cx="3207333" cy="12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Select hosting based on workload and control requirements, not cloud preference alone.</a:t>
            </a:r>
          </a:p>
        </p:txBody>
      </p:sp>
      <p:sp>
        <p:nvSpPr>
          <p:cNvPr id="110" name="Card 110"/>
          <p:cNvSpPr/>
          <p:nvPr/>
        </p:nvSpPr>
        <p:spPr>
          <a:xfrm>
            <a:off x="8111866" y="1250000"/>
            <a:ext cx="3627333" cy="2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Card 111"/>
          <p:cNvSpPr/>
          <p:nvPr/>
        </p:nvSpPr>
        <p:spPr>
          <a:xfrm>
            <a:off x="8111866" y="1250000"/>
            <a:ext cx="70000" cy="220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Header 112"/>
          <p:cNvSpPr/>
          <p:nvPr/>
        </p:nvSpPr>
        <p:spPr>
          <a:xfrm>
            <a:off x="8331866" y="1430000"/>
            <a:ext cx="3207333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Governed workload placement</a:t>
            </a:r>
          </a:p>
        </p:txBody>
      </p:sp>
      <p:sp>
        <p:nvSpPr>
          <p:cNvPr id="113" name="Text 113"/>
          <p:cNvSpPr/>
          <p:nvPr/>
        </p:nvSpPr>
        <p:spPr>
          <a:xfrm>
            <a:off x="8331866" y="2070000"/>
            <a:ext cx="3207333" cy="12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Apply approved decision criteria before selecting an engine or service.</a:t>
            </a:r>
          </a:p>
        </p:txBody>
      </p:sp>
      <p:sp>
        <p:nvSpPr>
          <p:cNvPr id="114" name="Card 114"/>
          <p:cNvSpPr/>
          <p:nvPr/>
        </p:nvSpPr>
        <p:spPr>
          <a:xfrm>
            <a:off x="457200" y="3630000"/>
            <a:ext cx="3627333" cy="2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Card 115"/>
          <p:cNvSpPr/>
          <p:nvPr/>
        </p:nvSpPr>
        <p:spPr>
          <a:xfrm>
            <a:off x="457200" y="3630000"/>
            <a:ext cx="70000" cy="220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CardHeader 116"/>
          <p:cNvSpPr/>
          <p:nvPr/>
        </p:nvSpPr>
        <p:spPr>
          <a:xfrm>
            <a:off x="677200" y="3810000"/>
            <a:ext cx="3207333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Automation everywhere</a:t>
            </a:r>
          </a:p>
        </p:txBody>
      </p:sp>
      <p:sp>
        <p:nvSpPr>
          <p:cNvPr id="117" name="Text 117"/>
          <p:cNvSpPr/>
          <p:nvPr/>
        </p:nvSpPr>
        <p:spPr>
          <a:xfrm>
            <a:off x="677200" y="4450000"/>
            <a:ext cx="3207333" cy="12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Provision, configure, patch and retire through repeatable automation.</a:t>
            </a:r>
          </a:p>
        </p:txBody>
      </p:sp>
      <p:sp>
        <p:nvSpPr>
          <p:cNvPr id="118" name="Card 118"/>
          <p:cNvSpPr/>
          <p:nvPr/>
        </p:nvSpPr>
        <p:spPr>
          <a:xfrm>
            <a:off x="4284533" y="3630000"/>
            <a:ext cx="3627333" cy="2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Card 119"/>
          <p:cNvSpPr/>
          <p:nvPr/>
        </p:nvSpPr>
        <p:spPr>
          <a:xfrm>
            <a:off x="4284533" y="3630000"/>
            <a:ext cx="70000" cy="220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CardHeader 120"/>
          <p:cNvSpPr/>
          <p:nvPr/>
        </p:nvSpPr>
        <p:spPr>
          <a:xfrm>
            <a:off x="4504533" y="3810000"/>
            <a:ext cx="3207333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Secure and resilient by design</a:t>
            </a:r>
          </a:p>
        </p:txBody>
      </p:sp>
      <p:sp>
        <p:nvSpPr>
          <p:cNvPr id="121" name="Text 121"/>
          <p:cNvSpPr/>
          <p:nvPr/>
        </p:nvSpPr>
        <p:spPr>
          <a:xfrm>
            <a:off x="4504533" y="4450000"/>
            <a:ext cx="3207333" cy="12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Build service tiers, controls, evidence and recovery testing into every offering.</a:t>
            </a:r>
          </a:p>
        </p:txBody>
      </p:sp>
      <p:sp>
        <p:nvSpPr>
          <p:cNvPr id="122" name="Card 122"/>
          <p:cNvSpPr/>
          <p:nvPr/>
        </p:nvSpPr>
        <p:spPr>
          <a:xfrm>
            <a:off x="8111866" y="3630000"/>
            <a:ext cx="3627333" cy="2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Card 123"/>
          <p:cNvSpPr/>
          <p:nvPr/>
        </p:nvSpPr>
        <p:spPr>
          <a:xfrm>
            <a:off x="8111866" y="3630000"/>
            <a:ext cx="70000" cy="220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CardHeader 124"/>
          <p:cNvSpPr/>
          <p:nvPr/>
        </p:nvSpPr>
        <p:spPr>
          <a:xfrm>
            <a:off x="8331866" y="3810000"/>
            <a:ext cx="3207333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Value oriented</a:t>
            </a:r>
          </a:p>
        </p:txBody>
      </p:sp>
      <p:sp>
        <p:nvSpPr>
          <p:cNvPr id="125" name="Text 125"/>
          <p:cNvSpPr/>
          <p:nvPr/>
        </p:nvSpPr>
        <p:spPr>
          <a:xfrm>
            <a:off x="8331866" y="4450000"/>
            <a:ext cx="3207333" cy="12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Balance velocity, resilience, experience, risk and total cost of ownership.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Six Strategic Domains</a:t>
            </a:r>
            <a:endParaRPr lang="en-US" sz="2600">
              <a:latin typeface="+mj-lt"/>
            </a:endParaRPr>
          </a:p>
        </p:txBody>
      </p:sp>
      <p:sp>
        <p:nvSpPr>
          <p:cNvPr id="102" name="Circle 102"/>
          <p:cNvSpPr/>
          <p:nvPr/>
        </p:nvSpPr>
        <p:spPr>
          <a:xfrm>
            <a:off x="1787533" y="1350000"/>
            <a:ext cx="900000" cy="900000"/>
          </a:xfrm>
          <a:prstGeom prst="ellipse">
            <a:avLst/>
          </a:prstGeom>
          <a:solidFill>
            <a:srgbClr val="BA0C2F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+mj-lt"/>
              </a:rPr>
              <a:t>F</a:t>
            </a:r>
          </a:p>
        </p:txBody>
      </p:sp>
      <p:sp>
        <p:nvSpPr>
          <p:cNvPr id="103" name="Text 103"/>
          <p:cNvSpPr/>
          <p:nvPr/>
        </p:nvSpPr>
        <p:spPr>
          <a:xfrm>
            <a:off x="457200" y="2370000"/>
            <a:ext cx="3560666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1300" b="1">
                <a:solidFill>
                  <a:srgbClr val="2E2E38"/>
                </a:solidFill>
                <a:latin typeface="+mj-lt"/>
              </a:rPr>
              <a:t>Foundation</a:t>
            </a:r>
          </a:p>
        </p:txBody>
      </p:sp>
      <p:sp>
        <p:nvSpPr>
          <p:cNvPr id="104" name="Text 104"/>
          <p:cNvSpPr/>
          <p:nvPr/>
        </p:nvSpPr>
        <p:spPr>
          <a:xfrm>
            <a:off x="607200" y="2770000"/>
            <a:ext cx="3260666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950">
                <a:solidFill>
                  <a:srgbClr val="2E2E38"/>
                </a:solidFill>
                <a:latin typeface="+mj-lt"/>
              </a:rPr>
              <a:t>Decision framework, approved patterns, ownership and onboarding</a:t>
            </a:r>
          </a:p>
        </p:txBody>
      </p:sp>
      <p:sp>
        <p:nvSpPr>
          <p:cNvPr id="105" name="Circle 105"/>
          <p:cNvSpPr/>
          <p:nvPr/>
        </p:nvSpPr>
        <p:spPr>
          <a:xfrm>
            <a:off x="5648199" y="1350000"/>
            <a:ext cx="900000" cy="90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+mj-lt"/>
              </a:rPr>
              <a:t>S</a:t>
            </a:r>
          </a:p>
        </p:txBody>
      </p:sp>
      <p:sp>
        <p:nvSpPr>
          <p:cNvPr id="106" name="Text 106"/>
          <p:cNvSpPr/>
          <p:nvPr/>
        </p:nvSpPr>
        <p:spPr>
          <a:xfrm>
            <a:off x="4317866" y="2370000"/>
            <a:ext cx="3560666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1300" b="1">
                <a:solidFill>
                  <a:srgbClr val="2E2E38"/>
                </a:solidFill>
                <a:latin typeface="+mj-lt"/>
              </a:rPr>
              <a:t>Security</a:t>
            </a:r>
          </a:p>
        </p:txBody>
      </p:sp>
      <p:sp>
        <p:nvSpPr>
          <p:cNvPr id="107" name="Text 107"/>
          <p:cNvSpPr/>
          <p:nvPr/>
        </p:nvSpPr>
        <p:spPr>
          <a:xfrm>
            <a:off x="4467866" y="2770000"/>
            <a:ext cx="3260666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950">
                <a:solidFill>
                  <a:srgbClr val="2E2E38"/>
                </a:solidFill>
                <a:latin typeface="+mj-lt"/>
              </a:rPr>
              <a:t>Controls, PAM, residency and evidence</a:t>
            </a:r>
          </a:p>
        </p:txBody>
      </p:sp>
      <p:sp>
        <p:nvSpPr>
          <p:cNvPr id="108" name="Circle 108"/>
          <p:cNvSpPr/>
          <p:nvPr/>
        </p:nvSpPr>
        <p:spPr>
          <a:xfrm>
            <a:off x="9508865" y="1350000"/>
            <a:ext cx="900000" cy="900000"/>
          </a:xfrm>
          <a:prstGeom prst="ellipse">
            <a:avLst/>
          </a:prstGeom>
          <a:solidFill>
            <a:srgbClr val="2E2E3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+mj-lt"/>
              </a:rPr>
              <a:t>G</a:t>
            </a:r>
          </a:p>
        </p:txBody>
      </p:sp>
      <p:sp>
        <p:nvSpPr>
          <p:cNvPr id="109" name="Text 109"/>
          <p:cNvSpPr/>
          <p:nvPr/>
        </p:nvSpPr>
        <p:spPr>
          <a:xfrm>
            <a:off x="8178532" y="2370000"/>
            <a:ext cx="3560666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1300" b="1">
                <a:solidFill>
                  <a:srgbClr val="2E2E38"/>
                </a:solidFill>
                <a:latin typeface="+mj-lt"/>
              </a:rPr>
              <a:t>Governance</a:t>
            </a:r>
          </a:p>
        </p:txBody>
      </p:sp>
      <p:sp>
        <p:nvSpPr>
          <p:cNvPr id="110" name="Text 110"/>
          <p:cNvSpPr/>
          <p:nvPr/>
        </p:nvSpPr>
        <p:spPr>
          <a:xfrm>
            <a:off x="8328532" y="2770000"/>
            <a:ext cx="3260666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950">
                <a:solidFill>
                  <a:srgbClr val="2E2E38"/>
                </a:solidFill>
                <a:latin typeface="+mj-lt"/>
              </a:rPr>
              <a:t>Placement, exceptions, lifecycle and data-platform interlocks</a:t>
            </a:r>
          </a:p>
        </p:txBody>
      </p:sp>
      <p:sp>
        <p:nvSpPr>
          <p:cNvPr id="111" name="Circle 111"/>
          <p:cNvSpPr/>
          <p:nvPr/>
        </p:nvSpPr>
        <p:spPr>
          <a:xfrm>
            <a:off x="1787533" y="3500000"/>
            <a:ext cx="900000" cy="900000"/>
          </a:xfrm>
          <a:prstGeom prst="ellipse">
            <a:avLst/>
          </a:prstGeom>
          <a:solidFill>
            <a:srgbClr val="BA0C2F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+mj-lt"/>
              </a:rPr>
              <a:t>P</a:t>
            </a:r>
          </a:p>
        </p:txBody>
      </p:sp>
      <p:sp>
        <p:nvSpPr>
          <p:cNvPr id="112" name="Text 112"/>
          <p:cNvSpPr/>
          <p:nvPr/>
        </p:nvSpPr>
        <p:spPr>
          <a:xfrm>
            <a:off x="457200" y="4520000"/>
            <a:ext cx="3560666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1300" b="1">
                <a:solidFill>
                  <a:srgbClr val="2E2E38"/>
                </a:solidFill>
                <a:latin typeface="+mj-lt"/>
              </a:rPr>
              <a:t>Platform &amp; Services</a:t>
            </a:r>
          </a:p>
        </p:txBody>
      </p:sp>
      <p:sp>
        <p:nvSpPr>
          <p:cNvPr id="113" name="Text 113"/>
          <p:cNvSpPr/>
          <p:nvPr/>
        </p:nvSpPr>
        <p:spPr>
          <a:xfrm>
            <a:off x="607200" y="4920000"/>
            <a:ext cx="3260666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950">
                <a:solidFill>
                  <a:srgbClr val="2E2E38"/>
                </a:solidFill>
                <a:latin typeface="+mj-lt"/>
              </a:rPr>
              <a:t>Modernization, ODS assessment and service tiers</a:t>
            </a:r>
          </a:p>
        </p:txBody>
      </p:sp>
      <p:sp>
        <p:nvSpPr>
          <p:cNvPr id="114" name="Circle 114"/>
          <p:cNvSpPr/>
          <p:nvPr/>
        </p:nvSpPr>
        <p:spPr>
          <a:xfrm>
            <a:off x="5648199" y="3500000"/>
            <a:ext cx="900000" cy="90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+mj-lt"/>
              </a:rPr>
              <a:t>C</a:t>
            </a:r>
          </a:p>
        </p:txBody>
      </p:sp>
      <p:sp>
        <p:nvSpPr>
          <p:cNvPr id="115" name="Text 115"/>
          <p:cNvSpPr/>
          <p:nvPr/>
        </p:nvSpPr>
        <p:spPr>
          <a:xfrm>
            <a:off x="4317866" y="4520000"/>
            <a:ext cx="3560666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1300" b="1">
                <a:solidFill>
                  <a:srgbClr val="2E2E38"/>
                </a:solidFill>
                <a:latin typeface="+mj-lt"/>
              </a:rPr>
              <a:t>Cost &amp; Optimization</a:t>
            </a:r>
          </a:p>
        </p:txBody>
      </p:sp>
      <p:sp>
        <p:nvSpPr>
          <p:cNvPr id="116" name="Text 116"/>
          <p:cNvSpPr/>
          <p:nvPr/>
        </p:nvSpPr>
        <p:spPr>
          <a:xfrm>
            <a:off x="4467866" y="4920000"/>
            <a:ext cx="3260666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950">
                <a:solidFill>
                  <a:srgbClr val="2E2E38"/>
                </a:solidFill>
                <a:latin typeface="+mj-lt"/>
              </a:rPr>
              <a:t>TCO, licensing and retirement economics</a:t>
            </a:r>
          </a:p>
        </p:txBody>
      </p:sp>
      <p:sp>
        <p:nvSpPr>
          <p:cNvPr id="117" name="Circle 117"/>
          <p:cNvSpPr/>
          <p:nvPr/>
        </p:nvSpPr>
        <p:spPr>
          <a:xfrm>
            <a:off x="9508865" y="3500000"/>
            <a:ext cx="900000" cy="900000"/>
          </a:xfrm>
          <a:prstGeom prst="ellipse">
            <a:avLst/>
          </a:prstGeom>
          <a:solidFill>
            <a:srgbClr val="2E2E3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+mj-lt"/>
              </a:rPr>
              <a:t>A</a:t>
            </a:r>
          </a:p>
        </p:txBody>
      </p:sp>
      <p:sp>
        <p:nvSpPr>
          <p:cNvPr id="118" name="Text 118"/>
          <p:cNvSpPr/>
          <p:nvPr/>
        </p:nvSpPr>
        <p:spPr>
          <a:xfrm>
            <a:off x="8178532" y="4520000"/>
            <a:ext cx="3560666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1300" b="1">
                <a:solidFill>
                  <a:srgbClr val="2E2E38"/>
                </a:solidFill>
                <a:latin typeface="+mj-lt"/>
              </a:rPr>
              <a:t>Automation</a:t>
            </a:r>
          </a:p>
        </p:txBody>
      </p:sp>
      <p:sp>
        <p:nvSpPr>
          <p:cNvPr id="119" name="Text 119"/>
          <p:cNvSpPr/>
          <p:nvPr/>
        </p:nvSpPr>
        <p:spPr>
          <a:xfrm>
            <a:off x="8328532" y="4920000"/>
            <a:ext cx="3260666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algn="ctr"/>
            <a:r>
              <a:rPr lang="en-US" sz="950">
                <a:solidFill>
                  <a:srgbClr val="2E2E38"/>
                </a:solidFill>
                <a:latin typeface="+mj-lt"/>
              </a:rPr>
              <a:t>Provisioning lifecycle, policy-as-code and self-service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Strategic Focus Areas &amp; Transformation Opportunities</a:t>
            </a:r>
            <a:endParaRPr lang="en-US" sz="2600">
              <a:latin typeface="+mj-lt"/>
            </a:endParaRPr>
          </a:p>
        </p:txBody>
      </p:sp>
      <p:sp>
        <p:nvSpPr>
          <p:cNvPr id="102" name="NumCircle 102"/>
          <p:cNvSpPr/>
          <p:nvPr/>
        </p:nvSpPr>
        <p:spPr>
          <a:xfrm>
            <a:off x="457200" y="1320000"/>
            <a:ext cx="550000" cy="550000"/>
          </a:xfrm>
          <a:prstGeom prst="ellipse">
            <a:avLst/>
          </a:prstGeom>
          <a:solidFill>
            <a:srgbClr val="BA0C2F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1</a:t>
            </a:r>
          </a:p>
        </p:txBody>
      </p:sp>
      <p:sp>
        <p:nvSpPr>
          <p:cNvPr id="103" name="Card 103"/>
          <p:cNvSpPr/>
          <p:nvPr/>
        </p:nvSpPr>
        <p:spPr>
          <a:xfrm>
            <a:off x="1207200" y="1250000"/>
            <a:ext cx="10532000" cy="7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CardHeader 104"/>
          <p:cNvSpPr/>
          <p:nvPr/>
        </p:nvSpPr>
        <p:spPr>
          <a:xfrm>
            <a:off x="1357200" y="1350000"/>
            <a:ext cx="10232000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Governed platform standardization</a:t>
            </a:r>
          </a:p>
        </p:txBody>
      </p:sp>
      <p:sp>
        <p:nvSpPr>
          <p:cNvPr id="105" name="Text 105"/>
          <p:cNvSpPr/>
          <p:nvPr/>
        </p:nvSpPr>
        <p:spPr>
          <a:xfrm>
            <a:off x="1357200" y="1680000"/>
            <a:ext cx="10232000" cy="28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Decision matrix; service classifications; consistent intake</a:t>
            </a:r>
          </a:p>
        </p:txBody>
      </p:sp>
      <p:sp>
        <p:nvSpPr>
          <p:cNvPr id="106" name="NumCircle 106"/>
          <p:cNvSpPr/>
          <p:nvPr/>
        </p:nvSpPr>
        <p:spPr>
          <a:xfrm>
            <a:off x="457200" y="2130000"/>
            <a:ext cx="550000" cy="550000"/>
          </a:xfrm>
          <a:prstGeom prst="ellipse">
            <a:avLst/>
          </a:prstGeom>
          <a:solidFill>
            <a:srgbClr val="BA0C2F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2</a:t>
            </a:r>
          </a:p>
        </p:txBody>
      </p:sp>
      <p:sp>
        <p:nvSpPr>
          <p:cNvPr id="107" name="Card 107"/>
          <p:cNvSpPr/>
          <p:nvPr/>
        </p:nvSpPr>
        <p:spPr>
          <a:xfrm>
            <a:off x="1207200" y="2060000"/>
            <a:ext cx="10532000" cy="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CardHeader 108"/>
          <p:cNvSpPr/>
          <p:nvPr/>
        </p:nvSpPr>
        <p:spPr>
          <a:xfrm>
            <a:off x="1357200" y="2160000"/>
            <a:ext cx="10232000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Migration and modernization</a:t>
            </a:r>
          </a:p>
        </p:txBody>
      </p:sp>
      <p:sp>
        <p:nvSpPr>
          <p:cNvPr id="109" name="Text 109"/>
          <p:cNvSpPr/>
          <p:nvPr/>
        </p:nvSpPr>
        <p:spPr>
          <a:xfrm>
            <a:off x="1357200" y="2490000"/>
            <a:ext cx="10232000" cy="28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Managed-service adoption; Evergreen; migration vs modernization</a:t>
            </a:r>
          </a:p>
        </p:txBody>
      </p:sp>
      <p:sp>
        <p:nvSpPr>
          <p:cNvPr id="110" name="NumCircle 110"/>
          <p:cNvSpPr/>
          <p:nvPr/>
        </p:nvSpPr>
        <p:spPr>
          <a:xfrm>
            <a:off x="457200" y="2940000"/>
            <a:ext cx="550000" cy="550000"/>
          </a:xfrm>
          <a:prstGeom prst="ellipse">
            <a:avLst/>
          </a:prstGeom>
          <a:solidFill>
            <a:srgbClr val="BA0C2F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3</a:t>
            </a:r>
          </a:p>
        </p:txBody>
      </p:sp>
      <p:sp>
        <p:nvSpPr>
          <p:cNvPr id="111" name="Card 111"/>
          <p:cNvSpPr/>
          <p:nvPr/>
        </p:nvSpPr>
        <p:spPr>
          <a:xfrm>
            <a:off x="1207200" y="2870000"/>
            <a:ext cx="10532000" cy="7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Header 112"/>
          <p:cNvSpPr/>
          <p:nvPr/>
        </p:nvSpPr>
        <p:spPr>
          <a:xfrm>
            <a:off x="1357200" y="2970000"/>
            <a:ext cx="10232000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Legacy disposition</a:t>
            </a:r>
          </a:p>
        </p:txBody>
      </p:sp>
      <p:sp>
        <p:nvSpPr>
          <p:cNvPr id="113" name="Text 113"/>
          <p:cNvSpPr/>
          <p:nvPr/>
        </p:nvSpPr>
        <p:spPr>
          <a:xfrm>
            <a:off x="1357200" y="3300000"/>
            <a:ext cx="10232000" cy="28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DB2 inventory; eligible migrations; controlled exceptions</a:t>
            </a:r>
          </a:p>
        </p:txBody>
      </p:sp>
      <p:sp>
        <p:nvSpPr>
          <p:cNvPr id="114" name="NumCircle 114"/>
          <p:cNvSpPr/>
          <p:nvPr/>
        </p:nvSpPr>
        <p:spPr>
          <a:xfrm>
            <a:off x="457200" y="3750000"/>
            <a:ext cx="550000" cy="550000"/>
          </a:xfrm>
          <a:prstGeom prst="ellipse">
            <a:avLst/>
          </a:prstGeom>
          <a:solidFill>
            <a:srgbClr val="BA0C2F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4</a:t>
            </a:r>
          </a:p>
        </p:txBody>
      </p:sp>
      <p:sp>
        <p:nvSpPr>
          <p:cNvPr id="115" name="Card 115"/>
          <p:cNvSpPr/>
          <p:nvPr/>
        </p:nvSpPr>
        <p:spPr>
          <a:xfrm>
            <a:off x="1207200" y="3680000"/>
            <a:ext cx="10532000" cy="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CardHeader 116"/>
          <p:cNvSpPr/>
          <p:nvPr/>
        </p:nvSpPr>
        <p:spPr>
          <a:xfrm>
            <a:off x="1357200" y="3780000"/>
            <a:ext cx="10232000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Resilience, security and compliance</a:t>
            </a:r>
          </a:p>
        </p:txBody>
      </p:sp>
      <p:sp>
        <p:nvSpPr>
          <p:cNvPr id="117" name="Text 117"/>
          <p:cNvSpPr/>
          <p:nvPr/>
        </p:nvSpPr>
        <p:spPr>
          <a:xfrm>
            <a:off x="1357200" y="4110000"/>
            <a:ext cx="10232000" cy="28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Service tiers; RTO/RPO; HA/DR; minimum controls</a:t>
            </a:r>
          </a:p>
        </p:txBody>
      </p:sp>
      <p:sp>
        <p:nvSpPr>
          <p:cNvPr id="118" name="NumCircle 118"/>
          <p:cNvSpPr/>
          <p:nvPr/>
        </p:nvSpPr>
        <p:spPr>
          <a:xfrm>
            <a:off x="457200" y="4560000"/>
            <a:ext cx="550000" cy="550000"/>
          </a:xfrm>
          <a:prstGeom prst="ellipse">
            <a:avLst/>
          </a:prstGeom>
          <a:solidFill>
            <a:srgbClr val="BA0C2F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j-lt"/>
              </a:rPr>
              <a:t>5</a:t>
            </a:r>
          </a:p>
        </p:txBody>
      </p:sp>
      <p:sp>
        <p:nvSpPr>
          <p:cNvPr id="119" name="Card 119"/>
          <p:cNvSpPr/>
          <p:nvPr/>
        </p:nvSpPr>
        <p:spPr>
          <a:xfrm>
            <a:off x="1207200" y="4490000"/>
            <a:ext cx="10532000" cy="7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CardHeader 120"/>
          <p:cNvSpPr/>
          <p:nvPr/>
        </p:nvSpPr>
        <p:spPr>
          <a:xfrm>
            <a:off x="1357200" y="4590000"/>
            <a:ext cx="10232000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Operating model and automation</a:t>
            </a:r>
          </a:p>
        </p:txBody>
      </p:sp>
      <p:sp>
        <p:nvSpPr>
          <p:cNvPr id="121" name="Text 121"/>
          <p:cNvSpPr/>
          <p:nvPr/>
        </p:nvSpPr>
        <p:spPr>
          <a:xfrm>
            <a:off x="1357200" y="4920000"/>
            <a:ext cx="10232000" cy="28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Patterns; reference implementations; service readiness; self-service</a:t>
            </a:r>
          </a:p>
        </p:txBody>
      </p:sp>
      <p:sp>
        <p:nvSpPr>
          <p:cNvPr id="122" name="Text 122"/>
          <p:cNvSpPr/>
          <p:nvPr/>
        </p:nvSpPr>
        <p:spPr>
          <a:xfrm>
            <a:off x="457200" y="5360000"/>
            <a:ext cx="11282000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50" i="1">
                <a:solidFill>
                  <a:srgbClr val="747480"/>
                </a:solidFill>
                <a:latin typeface="+mj-lt"/>
              </a:rPr>
              <a:t>AI-native, vector and graph capabilities remain demand-led assessments rather than automatic service commitments.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ooter Placeholder 10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CONFIDENTIAL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583267" y="2900795"/>
            <a:ext cx="9025466" cy="800219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600" b="1">
                <a:solidFill>
                  <a:srgbClr val="BA0C2F"/>
                </a:solidFill>
                <a:latin typeface="+mj-lt"/>
              </a:rPr>
              <a:t>Current State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583267" y="3750000"/>
            <a:ext cx="9025466" cy="5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400" i="1">
                <a:solidFill>
                  <a:srgbClr val="747480"/>
                </a:solidFill>
                <a:latin typeface="+mj-lt"/>
              </a:rPr>
              <a:t>Technology landscape, operational maturity and modernization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Enterprise Database Landscape</a:t>
            </a:r>
            <a:endParaRPr lang="en-US" sz="2600">
              <a:latin typeface="+mj-lt"/>
            </a:endParaRP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57200" y="1250000"/>
          <a:ext cx="11282000" cy="3480000"/>
        </p:xfrm>
        <a:graphic>
          <a:graphicData uri="http://schemas.openxmlformats.org/drawingml/2006/table">
            <a:tbl>
              <a:tblPr firstRow="1" bandRow="1"/>
              <a:tblGrid>
                <a:gridCol w="2100000"/>
                <a:gridCol w="4800000"/>
                <a:gridCol w="4382000"/>
              </a:tblGrid>
              <a:tr h="38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Platform</a:t>
                      </a:r>
                      <a:endParaRPr lang="en-US" sz="11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Current-state position</a:t>
                      </a:r>
                      <a:endParaRPr lang="en-US" sz="11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Roadmap implication</a:t>
                      </a:r>
                      <a:endParaRPr lang="en-US" sz="11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62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MS SQL Server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On-premises and cloud IaaS coexist with managed SQL services.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Managed services preferred, subject to compatibility, resilience, licensing and cost.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Oracle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19c estate with Exadata services and lifecycle modernization opportunities.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Sequence modernization through Evergreen and approved service direction.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2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IBM DB2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Long-standing containment with application and ETL dependencies.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Assess migration candidates, retained workloads and any new exception demand.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MongoDB / PostgreSQL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Existing use requires clearer service classification and operating ownership.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Define workload fit, support tier and onboarding through decision matrix.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2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ODS / specialized stores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Ownership and technology choices remain unresolved.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Resolve operational serving vs transactional state before technology selection.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Text 103"/>
          <p:cNvSpPr/>
          <p:nvPr/>
        </p:nvSpPr>
        <p:spPr>
          <a:xfrm>
            <a:off x="457200" y="5250000"/>
            <a:ext cx="11282000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50" i="1">
                <a:solidFill>
                  <a:srgbClr val="747480"/>
                </a:solidFill>
                <a:latin typeface="+mj-lt"/>
              </a:rPr>
              <a:t>Current deployment does not automatically constitute an approved enterprise placement pattern.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Database Capability Maturity Framework</a:t>
            </a:r>
            <a:endParaRPr lang="en-US" sz="2600">
              <a:latin typeface="+mj-lt"/>
            </a:endParaRP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57200" y="1250000"/>
          <a:ext cx="11282000" cy="3480000"/>
        </p:xfrm>
        <a:graphic>
          <a:graphicData uri="http://schemas.openxmlformats.org/drawingml/2006/table">
            <a:tbl>
              <a:tblPr firstRow="1" bandRow="1"/>
              <a:tblGrid>
                <a:gridCol w="2600000"/>
                <a:gridCol w="1900000"/>
                <a:gridCol w="1900000"/>
                <a:gridCol w="900000"/>
                <a:gridCol w="900000"/>
                <a:gridCol w="3082000"/>
              </a:tblGrid>
              <a:tr h="36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Dimension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Evidence owner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Evidence source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Current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Target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Linked initiatives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39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Platform standardization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Lifecycle &amp; technical debt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Cloud / managed adoption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Automation &amp; self-service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Resilience &amp; DR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Security &amp; compliance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Observability &amp; operations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Cost / FinOps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—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Pending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3" name="Text 103"/>
          <p:cNvSpPr/>
          <p:nvPr/>
        </p:nvSpPr>
        <p:spPr>
          <a:xfrm>
            <a:off x="457200" y="4880000"/>
            <a:ext cx="11282000" cy="4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50" i="1">
                <a:solidFill>
                  <a:srgbClr val="747480"/>
                </a:solidFill>
                <a:latin typeface="+mj-lt"/>
              </a:rPr>
              <a:t>Scores and supporting evidence must be validated with capability owners before the roadmap presents a maturity baseline or target.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Alignment with the NORTH Data Platform / Data Strategy</a:t>
            </a:r>
            <a:endParaRPr lang="en-US" sz="2600">
              <a:latin typeface="+mj-lt"/>
            </a:endParaRPr>
          </a:p>
        </p:txBody>
      </p:sp>
      <p:sp>
        <p:nvSpPr>
          <p:cNvPr id="102" name="Card 102"/>
          <p:cNvSpPr/>
          <p:nvPr/>
        </p:nvSpPr>
        <p:spPr>
          <a:xfrm>
            <a:off x="457200" y="1250000"/>
            <a:ext cx="3627333" cy="33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CardHeader 103"/>
          <p:cNvSpPr/>
          <p:nvPr/>
        </p:nvSpPr>
        <p:spPr>
          <a:xfrm>
            <a:off x="677200" y="1430000"/>
            <a:ext cx="3207333" cy="4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300" b="1">
                <a:solidFill>
                  <a:srgbClr val="BA0C2F"/>
                </a:solidFill>
                <a:latin typeface="+mj-lt"/>
              </a:rPr>
              <a:t>Confirmed boundary</a:t>
            </a:r>
          </a:p>
        </p:txBody>
      </p:sp>
      <p:sp>
        <p:nvSpPr>
          <p:cNvPr id="104" name="Bullets 104"/>
          <p:cNvSpPr/>
          <p:nvPr/>
        </p:nvSpPr>
        <p:spPr>
          <a:xfrm>
            <a:off x="677200" y="1900000"/>
            <a:ext cx="3207333" cy="2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Enterprise Database Services provides governed operational database capabilities and lifecycle services.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NORTH consumes and serves data through approved platform and integration patterns.</a:t>
            </a:r>
            <a:endParaRPr lang="en-US" sz="1000"/>
          </a:p>
        </p:txBody>
      </p:sp>
      <p:sp>
        <p:nvSpPr>
          <p:cNvPr id="105" name="Card 105"/>
          <p:cNvSpPr/>
          <p:nvPr/>
        </p:nvSpPr>
        <p:spPr>
          <a:xfrm>
            <a:off x="4284533" y="1250000"/>
            <a:ext cx="3627333" cy="3300000"/>
          </a:xfrm>
          <a:prstGeom prst="rect">
            <a:avLst/>
          </a:prstGeom>
          <a:solidFill>
            <a:srgbClr val="F0CC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CardHeader 106"/>
          <p:cNvSpPr/>
          <p:nvPr/>
        </p:nvSpPr>
        <p:spPr>
          <a:xfrm>
            <a:off x="4504533" y="1430000"/>
            <a:ext cx="3207333" cy="4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300" b="1">
                <a:solidFill>
                  <a:srgbClr val="8C0924"/>
                </a:solidFill>
                <a:latin typeface="+mj-lt"/>
              </a:rPr>
              <a:t>FY27–FY28 interlock</a:t>
            </a:r>
          </a:p>
        </p:txBody>
      </p:sp>
      <p:sp>
        <p:nvSpPr>
          <p:cNvPr id="107" name="Bullets 107"/>
          <p:cNvSpPr/>
          <p:nvPr/>
        </p:nvSpPr>
        <p:spPr>
          <a:xfrm>
            <a:off x="4504533" y="1900000"/>
            <a:ext cx="3207333" cy="2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Validate database-service demand.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Define ODS and transactional-state ownership.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Confirm batch, streaming, API and CDC dependencies.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Validate Ab Initio / IDMC constraints.</a:t>
            </a:r>
            <a:endParaRPr lang="en-US" sz="1000"/>
          </a:p>
        </p:txBody>
      </p:sp>
      <p:sp>
        <p:nvSpPr>
          <p:cNvPr id="108" name="Card 108"/>
          <p:cNvSpPr/>
          <p:nvPr/>
        </p:nvSpPr>
        <p:spPr>
          <a:xfrm>
            <a:off x="8111866" y="1250000"/>
            <a:ext cx="3627333" cy="3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Card 109"/>
          <p:cNvSpPr/>
          <p:nvPr/>
        </p:nvSpPr>
        <p:spPr>
          <a:xfrm>
            <a:off x="8111866" y="1250000"/>
            <a:ext cx="70000" cy="330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CardHeader 110"/>
          <p:cNvSpPr/>
          <p:nvPr/>
        </p:nvSpPr>
        <p:spPr>
          <a:xfrm>
            <a:off x="8331866" y="1430000"/>
            <a:ext cx="3207333" cy="4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300" b="1">
                <a:solidFill>
                  <a:srgbClr val="BA0C2F"/>
                </a:solidFill>
                <a:latin typeface="+mj-lt"/>
              </a:rPr>
              <a:t>Pending decisions</a:t>
            </a:r>
          </a:p>
        </p:txBody>
      </p:sp>
      <p:sp>
        <p:nvSpPr>
          <p:cNvPr id="111" name="Bullets 111"/>
          <p:cNvSpPr/>
          <p:nvPr/>
        </p:nvSpPr>
        <p:spPr>
          <a:xfrm>
            <a:off x="8331866" y="1900000"/>
            <a:ext cx="3207333" cy="2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ODS technology and operating ownership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MDM, graph and vector boundaries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Approved capability sequencing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Business demand and funding</a:t>
            </a:r>
            <a:endParaRPr lang="en-US" sz="1000"/>
          </a:p>
        </p:txBody>
      </p:sp>
      <p:sp>
        <p:nvSpPr>
          <p:cNvPr id="112" name="Text 112"/>
          <p:cNvSpPr/>
          <p:nvPr/>
        </p:nvSpPr>
        <p:spPr>
          <a:xfrm>
            <a:off x="457200" y="4700000"/>
            <a:ext cx="11282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50" i="1">
                <a:solidFill>
                  <a:srgbClr val="747480"/>
                </a:solidFill>
                <a:latin typeface="+mj-lt"/>
              </a:rPr>
              <a:t>Roadmap completeness and sequencing remain dependent on validation of NORTH priorities, business demand, approved capabilities and Accenture-supported sequencing during Q4 2026–Q1 2027.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From Current-State Insights to Future-Ready Focus Areas</a:t>
            </a:r>
            <a:endParaRPr lang="en-US" sz="2600">
              <a:latin typeface="+mj-lt"/>
            </a:endParaRP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57200" y="1300000"/>
          <a:ext cx="11282000" cy="3680000"/>
        </p:xfrm>
        <a:graphic>
          <a:graphicData uri="http://schemas.openxmlformats.org/drawingml/2006/table">
            <a:tbl>
              <a:tblPr firstRow="1" bandRow="1"/>
              <a:tblGrid>
                <a:gridCol w="5282000"/>
                <a:gridCol w="6000000"/>
              </a:tblGrid>
              <a:tr h="38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Current-state insight</a:t>
                      </a:r>
                      <a:endParaRPr lang="en-US" sz="11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Future-ready focus area</a:t>
                      </a:r>
                      <a:endParaRPr lang="en-US" sz="11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5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MS SQL fragmentation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Managed-service modernization and governed exceptions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DB2 containment and dependencies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Strategic disposition and cross-program planning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5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Oracle lifecycle opportunity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Evergreen and evidence-based modernization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MongoDB / PostgreSQL service ambiguity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Service classification and placement guidance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5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ODS ownership unresolved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Decision matrix and data-strategy interlock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Ticket-driven provisioning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Operating model and automation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ooter Placeholder 10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CONFIDENTIAL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583267" y="2900795"/>
            <a:ext cx="9025466" cy="800219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600" b="1">
                <a:solidFill>
                  <a:srgbClr val="BA0C2F"/>
                </a:solidFill>
                <a:latin typeface="+mj-lt"/>
              </a:rPr>
              <a:t>Target State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583267" y="3750000"/>
            <a:ext cx="9025466" cy="5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400" i="1">
                <a:solidFill>
                  <a:srgbClr val="747480"/>
                </a:solidFill>
                <a:latin typeface="+mj-lt"/>
              </a:rPr>
              <a:t>Confirmed direction, conditional capabilities and governed decisions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Design Principles for Target State &amp; Expected Outcomes</a:t>
            </a:r>
            <a:endParaRPr lang="en-US" sz="2600">
              <a:latin typeface="+mj-lt"/>
            </a:endParaRPr>
          </a:p>
        </p:txBody>
      </p:sp>
      <p:sp>
        <p:nvSpPr>
          <p:cNvPr id="102" name="Card 102"/>
          <p:cNvSpPr/>
          <p:nvPr/>
        </p:nvSpPr>
        <p:spPr>
          <a:xfrm>
            <a:off x="457200" y="1250000"/>
            <a:ext cx="5516000" cy="13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CardHeader 103"/>
          <p:cNvSpPr/>
          <p:nvPr/>
        </p:nvSpPr>
        <p:spPr>
          <a:xfrm>
            <a:off x="657200" y="1400000"/>
            <a:ext cx="5116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50" b="1">
                <a:solidFill>
                  <a:srgbClr val="BA0C2F"/>
                </a:solidFill>
                <a:latin typeface="+mj-lt"/>
              </a:rPr>
              <a:t>Right service for the workload</a:t>
            </a:r>
          </a:p>
        </p:txBody>
      </p:sp>
      <p:sp>
        <p:nvSpPr>
          <p:cNvPr id="104" name="Text 104"/>
          <p:cNvSpPr/>
          <p:nvPr/>
        </p:nvSpPr>
        <p:spPr>
          <a:xfrm>
            <a:off x="657200" y="1870000"/>
            <a:ext cx="5116000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Use data model, transaction pattern, availability, recovery, latency, scale, regulation, compatibility, support and TCO.</a:t>
            </a:r>
          </a:p>
        </p:txBody>
      </p:sp>
      <p:sp>
        <p:nvSpPr>
          <p:cNvPr id="105" name="Card 105"/>
          <p:cNvSpPr/>
          <p:nvPr/>
        </p:nvSpPr>
        <p:spPr>
          <a:xfrm>
            <a:off x="6223200" y="1250000"/>
            <a:ext cx="5516000" cy="1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CardHeader 106"/>
          <p:cNvSpPr/>
          <p:nvPr/>
        </p:nvSpPr>
        <p:spPr>
          <a:xfrm>
            <a:off x="6423200" y="1400000"/>
            <a:ext cx="5116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50" b="1">
                <a:solidFill>
                  <a:srgbClr val="BA0C2F"/>
                </a:solidFill>
                <a:latin typeface="+mj-lt"/>
              </a:rPr>
              <a:t>Resilient tiered architecture</a:t>
            </a:r>
          </a:p>
        </p:txBody>
      </p:sp>
      <p:sp>
        <p:nvSpPr>
          <p:cNvPr id="107" name="Text 107"/>
          <p:cNvSpPr/>
          <p:nvPr/>
        </p:nvSpPr>
        <p:spPr>
          <a:xfrm>
            <a:off x="6423200" y="1870000"/>
            <a:ext cx="5116000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Match RTO, RPO, HA, DR and recovery testing to workload criticality.</a:t>
            </a:r>
          </a:p>
        </p:txBody>
      </p:sp>
      <p:sp>
        <p:nvSpPr>
          <p:cNvPr id="108" name="Card 108"/>
          <p:cNvSpPr/>
          <p:nvPr/>
        </p:nvSpPr>
        <p:spPr>
          <a:xfrm>
            <a:off x="457200" y="2780000"/>
            <a:ext cx="5516000" cy="1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CardHeader 109"/>
          <p:cNvSpPr/>
          <p:nvPr/>
        </p:nvSpPr>
        <p:spPr>
          <a:xfrm>
            <a:off x="657200" y="2930000"/>
            <a:ext cx="5116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50" b="1">
                <a:solidFill>
                  <a:srgbClr val="BA0C2F"/>
                </a:solidFill>
                <a:latin typeface="+mj-lt"/>
              </a:rPr>
              <a:t>Security and governance by design</a:t>
            </a:r>
          </a:p>
        </p:txBody>
      </p:sp>
      <p:sp>
        <p:nvSpPr>
          <p:cNvPr id="110" name="Text 110"/>
          <p:cNvSpPr/>
          <p:nvPr/>
        </p:nvSpPr>
        <p:spPr>
          <a:xfrm>
            <a:off x="657200" y="3400000"/>
            <a:ext cx="5116000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Use policy guardrails, privileged access, encryption, audit, residency and evidence.</a:t>
            </a:r>
          </a:p>
        </p:txBody>
      </p:sp>
      <p:sp>
        <p:nvSpPr>
          <p:cNvPr id="111" name="Card 111"/>
          <p:cNvSpPr/>
          <p:nvPr/>
        </p:nvSpPr>
        <p:spPr>
          <a:xfrm>
            <a:off x="6223200" y="2780000"/>
            <a:ext cx="5516000" cy="13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Header 112"/>
          <p:cNvSpPr/>
          <p:nvPr/>
        </p:nvSpPr>
        <p:spPr>
          <a:xfrm>
            <a:off x="6423200" y="2930000"/>
            <a:ext cx="5116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50" b="1">
                <a:solidFill>
                  <a:srgbClr val="BA0C2F"/>
                </a:solidFill>
                <a:latin typeface="+mj-lt"/>
              </a:rPr>
              <a:t>Cost-transparent operations</a:t>
            </a:r>
          </a:p>
        </p:txBody>
      </p:sp>
      <p:sp>
        <p:nvSpPr>
          <p:cNvPr id="113" name="Text 113"/>
          <p:cNvSpPr/>
          <p:nvPr/>
        </p:nvSpPr>
        <p:spPr>
          <a:xfrm>
            <a:off x="6423200" y="3400000"/>
            <a:ext cx="5116000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Make licensing, consumption and managed-versus-self-managed economics visible.</a:t>
            </a:r>
          </a:p>
        </p:txBody>
      </p:sp>
      <p:sp>
        <p:nvSpPr>
          <p:cNvPr id="114" name="Card 114"/>
          <p:cNvSpPr/>
          <p:nvPr/>
        </p:nvSpPr>
        <p:spPr>
          <a:xfrm>
            <a:off x="457200" y="4310000"/>
            <a:ext cx="11282000" cy="1350000"/>
          </a:xfrm>
          <a:prstGeom prst="rect">
            <a:avLst/>
          </a:prstGeom>
          <a:solidFill>
            <a:srgbClr val="F0CC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CardHeader 115"/>
          <p:cNvSpPr/>
          <p:nvPr/>
        </p:nvSpPr>
        <p:spPr>
          <a:xfrm>
            <a:off x="657200" y="4460000"/>
            <a:ext cx="10882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50" b="1">
                <a:solidFill>
                  <a:srgbClr val="8C0924"/>
                </a:solidFill>
                <a:latin typeface="+mj-lt"/>
              </a:rPr>
              <a:t>Legacy disposition with controlled exceptions</a:t>
            </a:r>
          </a:p>
        </p:txBody>
      </p:sp>
      <p:sp>
        <p:nvSpPr>
          <p:cNvPr id="116" name="Text 116"/>
          <p:cNvSpPr/>
          <p:nvPr/>
        </p:nvSpPr>
        <p:spPr>
          <a:xfrm>
            <a:off x="657200" y="4930000"/>
            <a:ext cx="10882000" cy="6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Migrate eligible DB2 workloads and retain justified workloads only with support horizons and exit criteria.</a:t>
            </a:r>
          </a:p>
        </p:txBody>
      </p:sp>
      <p:sp>
        <p:nvSpPr>
          <p:cNvPr id="117" name="Text 117"/>
          <p:cNvSpPr/>
          <p:nvPr/>
        </p:nvSpPr>
        <p:spPr>
          <a:xfrm>
            <a:off x="457200" y="5810000"/>
            <a:ext cx="11282000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50" i="1">
                <a:solidFill>
                  <a:srgbClr val="747480"/>
                </a:solidFill>
                <a:latin typeface="+mj-lt"/>
              </a:rPr>
              <a:t>Expected outcomes: cost efficiency • speed to value • reduced operational risk • controlled technical debt • evidence-based maturity uplift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Enterprise Database Landscape – Proposed Target State</a:t>
            </a:r>
            <a:endParaRPr lang="en-US" sz="2600">
              <a:latin typeface="+mj-lt"/>
            </a:endParaRP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57200" y="1250000"/>
          <a:ext cx="11282000" cy="3480000"/>
        </p:xfrm>
        <a:graphic>
          <a:graphicData uri="http://schemas.openxmlformats.org/drawingml/2006/table">
            <a:tbl>
              <a:tblPr firstRow="1" bandRow="1"/>
              <a:tblGrid>
                <a:gridCol w="2100000"/>
                <a:gridCol w="4800000"/>
                <a:gridCol w="4382000"/>
              </a:tblGrid>
              <a:tr h="38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Platform</a:t>
                      </a:r>
                      <a:endParaRPr lang="en-US" sz="11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Confirmed direction</a:t>
                      </a:r>
                      <a:endParaRPr lang="en-US" sz="11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Conditional / pending</a:t>
                      </a:r>
                      <a:endParaRPr lang="en-US" sz="11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62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MS SQL Server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Managed services preferred over new self-managed cloud IaaS.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Placement across Azure SQL MI, AWS RDS and retained on-premises requires approved criteria.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Oracle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Exadata service direction and supported lifecycle management.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26ai and Autonomous adoption depend on workload fit, business case and Evergreen sequencing.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2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IBM DB2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Containment and strategic disposition.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Eligible transformation, application replacement or justified residual retention under exception.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MongoDB / PostgreSQL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Existing services remain candidates in the enterprise matrix.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Support tiers, workload fit and operating responsibilities require confirmation.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2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ODS / graph / vector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Assessment may begin as demand emerges.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Technology, ownership, risk and cost decisions remain open.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High-Level Target Operating Model</a:t>
            </a:r>
            <a:endParaRPr lang="en-US" sz="2600">
              <a:latin typeface="+mj-lt"/>
            </a:endParaRPr>
          </a:p>
        </p:txBody>
      </p:sp>
      <p:sp>
        <p:nvSpPr>
          <p:cNvPr id="102" name="Card 102"/>
          <p:cNvSpPr/>
          <p:nvPr/>
        </p:nvSpPr>
        <p:spPr>
          <a:xfrm>
            <a:off x="457200" y="1250000"/>
            <a:ext cx="11282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CardHeader 103"/>
          <p:cNvSpPr/>
          <p:nvPr/>
        </p:nvSpPr>
        <p:spPr>
          <a:xfrm>
            <a:off x="707200" y="1360000"/>
            <a:ext cx="3200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2E2E38"/>
                </a:solidFill>
                <a:latin typeface="+mj-lt"/>
              </a:rPr>
              <a:t>Consumers</a:t>
            </a:r>
          </a:p>
        </p:txBody>
      </p:sp>
      <p:sp>
        <p:nvSpPr>
          <p:cNvPr id="104" name="Text 104"/>
          <p:cNvSpPr/>
          <p:nvPr/>
        </p:nvSpPr>
        <p:spPr>
          <a:xfrm>
            <a:off x="4057200" y="1380000"/>
            <a:ext cx="7432000" cy="500000"/>
          </a:xfrm>
          <a:prstGeom prst="rect">
            <a:avLst/>
          </a:prstGeom>
          <a:noFill/>
          <a:ln/>
        </p:spPr>
        <p:txBody>
          <a:bodyPr wrap="square" anchor="ctr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Application teams • operational data consumers • analytics and BI • AI/ML workloads</a:t>
            </a:r>
          </a:p>
        </p:txBody>
      </p:sp>
      <p:sp>
        <p:nvSpPr>
          <p:cNvPr id="105" name="Card 105"/>
          <p:cNvSpPr/>
          <p:nvPr/>
        </p:nvSpPr>
        <p:spPr>
          <a:xfrm>
            <a:off x="457200" y="2040000"/>
            <a:ext cx="11282000" cy="700000"/>
          </a:xfrm>
          <a:prstGeom prst="rect">
            <a:avLst/>
          </a:prstGeom>
          <a:solidFill>
            <a:srgbClr val="F0CC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CardHeader 106"/>
          <p:cNvSpPr/>
          <p:nvPr/>
        </p:nvSpPr>
        <p:spPr>
          <a:xfrm>
            <a:off x="707200" y="2150000"/>
            <a:ext cx="3200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8C0924"/>
                </a:solidFill>
                <a:latin typeface="+mj-lt"/>
              </a:rPr>
              <a:t>Intake &amp; decision</a:t>
            </a:r>
          </a:p>
        </p:txBody>
      </p:sp>
      <p:sp>
        <p:nvSpPr>
          <p:cNvPr id="107" name="Text 107"/>
          <p:cNvSpPr/>
          <p:nvPr/>
        </p:nvSpPr>
        <p:spPr>
          <a:xfrm>
            <a:off x="4057200" y="2170000"/>
            <a:ext cx="7432000" cy="500000"/>
          </a:xfrm>
          <a:prstGeom prst="rect">
            <a:avLst/>
          </a:prstGeom>
          <a:noFill/>
          <a:ln/>
        </p:spPr>
        <p:txBody>
          <a:bodyPr wrap="square" anchor="ctr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Workload classification • database decision matrix • service tier • architecture / exception decision</a:t>
            </a:r>
          </a:p>
        </p:txBody>
      </p:sp>
      <p:sp>
        <p:nvSpPr>
          <p:cNvPr id="108" name="Card 108"/>
          <p:cNvSpPr/>
          <p:nvPr/>
        </p:nvSpPr>
        <p:spPr>
          <a:xfrm>
            <a:off x="457200" y="2830000"/>
            <a:ext cx="11282000" cy="7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CardHeader 109"/>
          <p:cNvSpPr/>
          <p:nvPr/>
        </p:nvSpPr>
        <p:spPr>
          <a:xfrm>
            <a:off x="707200" y="2940000"/>
            <a:ext cx="3200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Database service layer</a:t>
            </a:r>
          </a:p>
        </p:txBody>
      </p:sp>
      <p:sp>
        <p:nvSpPr>
          <p:cNvPr id="110" name="Text 110"/>
          <p:cNvSpPr/>
          <p:nvPr/>
        </p:nvSpPr>
        <p:spPr>
          <a:xfrm>
            <a:off x="4057200" y="2960000"/>
            <a:ext cx="7432000" cy="500000"/>
          </a:xfrm>
          <a:prstGeom prst="rect">
            <a:avLst/>
          </a:prstGeom>
          <a:noFill/>
          <a:ln/>
        </p:spPr>
        <p:txBody>
          <a:bodyPr wrap="square" anchor="ctr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Approved relational, non-relational and specialized services with clear classifications</a:t>
            </a:r>
          </a:p>
        </p:txBody>
      </p:sp>
      <p:sp>
        <p:nvSpPr>
          <p:cNvPr id="111" name="Card 111"/>
          <p:cNvSpPr/>
          <p:nvPr/>
        </p:nvSpPr>
        <p:spPr>
          <a:xfrm>
            <a:off x="457200" y="3620000"/>
            <a:ext cx="11282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Header 112"/>
          <p:cNvSpPr/>
          <p:nvPr/>
        </p:nvSpPr>
        <p:spPr>
          <a:xfrm>
            <a:off x="707200" y="3730000"/>
            <a:ext cx="3200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2E2E38"/>
                </a:solidFill>
                <a:latin typeface="+mj-lt"/>
              </a:rPr>
              <a:t>Automation, security &amp; governance</a:t>
            </a:r>
          </a:p>
        </p:txBody>
      </p:sp>
      <p:sp>
        <p:nvSpPr>
          <p:cNvPr id="113" name="Text 113"/>
          <p:cNvSpPr/>
          <p:nvPr/>
        </p:nvSpPr>
        <p:spPr>
          <a:xfrm>
            <a:off x="4057200" y="3750000"/>
            <a:ext cx="7432000" cy="500000"/>
          </a:xfrm>
          <a:prstGeom prst="rect">
            <a:avLst/>
          </a:prstGeom>
          <a:noFill/>
          <a:ln/>
        </p:spPr>
        <p:txBody>
          <a:bodyPr wrap="square" anchor="ctr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Policy-as-code • RBAC/PAM • backup and DR • monitoring • evidence • cost controls</a:t>
            </a:r>
          </a:p>
        </p:txBody>
      </p:sp>
      <p:sp>
        <p:nvSpPr>
          <p:cNvPr id="114" name="Card 114"/>
          <p:cNvSpPr/>
          <p:nvPr/>
        </p:nvSpPr>
        <p:spPr>
          <a:xfrm>
            <a:off x="457200" y="4410000"/>
            <a:ext cx="11282000" cy="7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CardHeader 115"/>
          <p:cNvSpPr/>
          <p:nvPr/>
        </p:nvSpPr>
        <p:spPr>
          <a:xfrm>
            <a:off x="707200" y="4520000"/>
            <a:ext cx="3200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00" b="1">
                <a:solidFill>
                  <a:srgbClr val="BA0C2F"/>
                </a:solidFill>
                <a:latin typeface="+mj-lt"/>
              </a:rPr>
              <a:t>Foundation &amp; operations</a:t>
            </a:r>
          </a:p>
        </p:txBody>
      </p:sp>
      <p:sp>
        <p:nvSpPr>
          <p:cNvPr id="116" name="Text 116"/>
          <p:cNvSpPr/>
          <p:nvPr/>
        </p:nvSpPr>
        <p:spPr>
          <a:xfrm>
            <a:off x="4057200" y="4540000"/>
            <a:ext cx="7432000" cy="500000"/>
          </a:xfrm>
          <a:prstGeom prst="rect">
            <a:avLst/>
          </a:prstGeom>
          <a:noFill/>
          <a:ln/>
        </p:spPr>
        <p:txBody>
          <a:bodyPr wrap="square" anchor="ctr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Cloud and on-premises platforms • service owner • runbooks • lifecycle • support model</a:t>
            </a:r>
          </a:p>
        </p:txBody>
      </p:sp>
      <p:sp>
        <p:nvSpPr>
          <p:cNvPr id="117" name="Text 117"/>
          <p:cNvSpPr/>
          <p:nvPr/>
        </p:nvSpPr>
        <p:spPr>
          <a:xfrm>
            <a:off x="457200" y="5200000"/>
            <a:ext cx="11282000" cy="4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50" i="1">
                <a:solidFill>
                  <a:srgbClr val="747480"/>
                </a:solidFill>
                <a:latin typeface="+mj-lt"/>
              </a:rPr>
              <a:t>Enterprise-ready services require ownership, support tiers, provisioning, controls, recovery, monitoring, lifecycle, cost model and operational runbooks.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ooter Placeholder 10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CONFIDENTIAL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583267" y="2900795"/>
            <a:ext cx="9025466" cy="800219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600" b="1">
                <a:solidFill>
                  <a:srgbClr val="BA0C2F"/>
                </a:solidFill>
                <a:latin typeface="+mj-lt"/>
              </a:rPr>
              <a:t>Work Packages &amp; Sequencing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583267" y="3750000"/>
            <a:ext cx="9025466" cy="5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400" i="1">
                <a:solidFill>
                  <a:srgbClr val="747480"/>
                </a:solidFill>
                <a:latin typeface="+mj-lt"/>
              </a:rPr>
              <a:t>Decision enablement, platform readiness and modernization delivery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Strategic Work Packages / Initiatives &amp; Objectives</a:t>
            </a:r>
            <a:endParaRPr lang="en-US" sz="2600">
              <a:latin typeface="+mj-lt"/>
            </a:endParaRP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57200" y="1250000"/>
          <a:ext cx="11282000" cy="436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3600000"/>
                <a:gridCol w="1100000"/>
                <a:gridCol w="5682000"/>
              </a:tblGrid>
              <a:tr h="36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Code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Initiative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Rank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Objective</a:t>
                      </a:r>
                      <a:endParaRPr lang="en-US" sz="10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WP1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Enterprise database decision matrix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High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Placement criteria and technology classifications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WP2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NORTH and ODS database interlock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High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Demand, ownership and integration boundaries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WP3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Database NFR and security baseline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High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Service tiers, resilience and minimum controls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WP4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ARM database migrations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High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Move database components to approved cloud landing patterns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WP5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ARM database modernization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High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Modernize eligible IaaS databases to managed services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WP6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DB2 strategic disposition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High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Inventory and determine migrate, replace or retain paths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WP7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DBMS Evergreen and Oracle modernization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Medium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Lifecycle currency and evidence-based modernization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WP8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ETL / database modernization interlock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Medium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Ab Initio, CDC and IDMC dependency plan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WP9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Operating model and automation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Medium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Service readiness, patterns and self-service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WP10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AI-native capability assessment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Low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Demand-led vector and graph assessment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Work Packages / Initiatives Sequencing (2027–2028)</a:t>
            </a:r>
            <a:endParaRPr lang="en-US" sz="2600">
              <a:latin typeface="+mj-lt"/>
            </a:endParaRP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57200" y="1250000"/>
          <a:ext cx="11282000" cy="4130000"/>
        </p:xfrm>
        <a:graphic>
          <a:graphicData uri="http://schemas.openxmlformats.org/drawingml/2006/table">
            <a:tbl>
              <a:tblPr firstRow="1" bandRow="1"/>
              <a:tblGrid>
                <a:gridCol w="2082000"/>
                <a:gridCol w="2300000"/>
                <a:gridCol w="2300000"/>
                <a:gridCol w="2300000"/>
                <a:gridCol w="2300000"/>
              </a:tblGrid>
              <a:tr h="42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Workstream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Q4 2026–Q1 2027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Q2 2027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Q3–Q4 2027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2028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Decision framework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Define matrix and classifications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Approve criteria and exception process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Embed into intake and patterns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Review and optimize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NORTH / ODS interlock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Validate demand, ownership and sequencing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Approve boundaries and dependencies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Support prioritized platform demand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Reassess future demand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NFR / security baseline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Draft service tiers and controls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Approve owners and evidence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Implement across offerings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Measure compliance and recovery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DB2 disposition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Resolve CP4BA question; inventory estate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Approve waves and containment rules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Begin eligible transformations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Continue waves and track reduction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Modernization / Evergreen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Confirm dependencies and priorities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Plan managed-service and Oracle waves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Execute modernization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Continue delivery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Operating model / patterns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Identify gaps and readiness criteria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Prioritize patterns and automation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Deliver references and self-service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Expand automation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AI-native capability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Capture use cases only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Define discovery criteria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Assess funded demand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Decision-led adoption if justified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Text 103"/>
          <p:cNvSpPr/>
          <p:nvPr/>
        </p:nvSpPr>
        <p:spPr>
          <a:xfrm>
            <a:off x="457200" y="5500000"/>
            <a:ext cx="11282000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 i="1">
                <a:solidFill>
                  <a:srgbClr val="747480"/>
                </a:solidFill>
                <a:latin typeface="+mj-lt"/>
              </a:rPr>
              <a:t>Delivery timing depends on business prioritization, funding, migration feasibility, application readiness and cross-program sequencing.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Initiative Scope, Dependencies, Investment Status &amp; Delivery Horizon</a:t>
            </a:r>
            <a:endParaRPr lang="en-US" sz="2600">
              <a:latin typeface="+mj-lt"/>
            </a:endParaRP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57200" y="1250000"/>
          <a:ext cx="11282000" cy="3720000"/>
        </p:xfrm>
        <a:graphic>
          <a:graphicData uri="http://schemas.openxmlformats.org/drawingml/2006/table">
            <a:tbl>
              <a:tblPr firstRow="1" bandRow="1"/>
              <a:tblGrid>
                <a:gridCol w="2282000"/>
                <a:gridCol w="2600000"/>
                <a:gridCol w="2100000"/>
                <a:gridCol w="2200000"/>
                <a:gridCol w="2100000"/>
              </a:tblGrid>
              <a:tr h="42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Initiative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Scope / technology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Investment status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Delivery horizon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Key dependency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5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ARM database migration &amp; modernization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MS SQL, Oracle and related database components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Parent-program / confirm allocation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Extends beyond roadmap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Application readiness and landing patterns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DB2 strategic disposition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DB2 workloads and approved target services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To be assessed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Phased; extends beyond roadmap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Inventory, IBM validation, app and ETL compatibility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5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DBMS Evergreen / Oracle modernization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Supported database platforms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BAU plus project investment where required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Perpetual / sequenced waves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Vendor lifecycle and workload business case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ETL modernization interlock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Ab Initio, CDC, source DBs and IDMC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Program ownership to confirm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Decision and transition planning in 2027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Compatibility and funded target architecture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5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NORTH / ODS demand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Operational serving and integration demand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NORTH allocation to confirm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Q4 2026–Q1 2027 validation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Business priority and ownership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Operating model &amp; automation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Provisioning, monitoring, runbooks and self-service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I&amp;O capacity and budget to confirm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2027–2028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Service owner and readiness backlog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3" name="Text 103"/>
          <p:cNvSpPr/>
          <p:nvPr/>
        </p:nvSpPr>
        <p:spPr>
          <a:xfrm>
            <a:off x="457200" y="5090000"/>
            <a:ext cx="11282000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 i="1">
                <a:solidFill>
                  <a:srgbClr val="747480"/>
                </a:solidFill>
                <a:latin typeface="+mj-lt"/>
              </a:rPr>
              <a:t>Standardized fields tracked per initiative: funding status • internal effort • vendor investment • delivery horizon • confidence • dependencies.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Assumptions, Dependencies &amp; Decisions Before Sign-off</a:t>
            </a:r>
            <a:endParaRPr lang="en-US" sz="2600">
              <a:latin typeface="+mj-lt"/>
            </a:endParaRP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57200" y="1200000"/>
          <a:ext cx="11282000" cy="42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600000"/>
                <a:gridCol w="3400000"/>
                <a:gridCol w="1700000"/>
                <a:gridCol w="700000"/>
                <a:gridCol w="2282000"/>
                <a:gridCol w="1100000"/>
              </a:tblGrid>
              <a:tr h="36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ID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Decision / Input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Question to Resolve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Participants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Target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Output Required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Status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8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D01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NORTH interlock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Which FY27/28 data strategy priorities are sufficiently validated to anchor roadmap sequencing?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NORTH/Data EA/I&amp;O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Q4 2026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Validated FY27/28 demand and caveats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Open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D02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CP4BA DB2 on AWS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Is AWS RDS for DB2 technically available and supported for CP4BA?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CP4BA/I&amp;O/EA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Q1 2027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ADR with lifecycle and exit criteria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Open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D03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DB2 migration strategy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Which DB2 estates will remain, modernize, or convert to Oracle?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App owners/DB Services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Q1 2027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Workload inventory and phased plan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Open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D04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ODS ownership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When is NORTH responsible for serving data versus hosting application transactional state?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NORTH/Data EA/I&amp;O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Q1 2027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Approved pattern boundaries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Open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D05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Ab Initio modernization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What is the endorsed target and timing for IDMC migration?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ETL program/Data EA/I&amp;O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Q1 2027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Architecture and transition dependencies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Open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D06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ARM and Bill 64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What database service demand and funding are expected from these programs?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Portfolio EA/program leads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Q1 2027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Demand estimates and funding confidence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Open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D07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Service NFR and ownership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Which availability, recovery, monitoring and support tiers will I&amp;O offer?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I&amp;O/Security/EA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Q2 2027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Service tier baseline and runbooks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Open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D08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Target architecture sign-off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Who approves technology choices, exceptions and reference patterns under existing RACI?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EA/I&amp;O/NORTH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Q2 2027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Governance and decision register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Open</a:t>
                      </a:r>
                      <a:endParaRPr lang="en-US" sz="8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ooter Placeholder 10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CONFIDENTIAL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583267" y="2900795"/>
            <a:ext cx="9025466" cy="800219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600" b="1">
                <a:solidFill>
                  <a:srgbClr val="BA0C2F"/>
                </a:solidFill>
                <a:latin typeface="+mj-lt"/>
              </a:rPr>
              <a:t>Appendix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583267" y="3750000"/>
            <a:ext cx="9025466" cy="5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400" i="1">
                <a:solidFill>
                  <a:srgbClr val="747480"/>
                </a:solidFill>
                <a:latin typeface="+mj-lt"/>
              </a:rPr>
              <a:t>Decision criteria, detailed landscapes and assessment frameworks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Capability Mapping</a:t>
            </a:r>
            <a:endParaRPr lang="en-US" sz="2600">
              <a:latin typeface="+mj-lt"/>
            </a:endParaRPr>
          </a:p>
        </p:txBody>
      </p:sp>
      <p:sp>
        <p:nvSpPr>
          <p:cNvPr id="102" name="Text 102"/>
          <p:cNvSpPr/>
          <p:nvPr/>
        </p:nvSpPr>
        <p:spPr>
          <a:xfrm>
            <a:off x="457200" y="1120000"/>
            <a:ext cx="11282000" cy="3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 i="1">
                <a:solidFill>
                  <a:srgbClr val="747480"/>
                </a:solidFill>
                <a:latin typeface="+mj-lt"/>
              </a:rPr>
              <a:t>Technology categorization with descriptions. L1–L3 are standardized TBM taxonomy names; L4 Service Categories are Canada Life-specific.</a:t>
            </a:r>
          </a:p>
        </p:txBody>
      </p:sp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457200" y="1500000"/>
          <a:ext cx="11282000" cy="3720000"/>
        </p:xfrm>
        <a:graphic>
          <a:graphicData uri="http://schemas.openxmlformats.org/drawingml/2006/table">
            <a:tbl>
              <a:tblPr firstRow="1" bandRow="1"/>
              <a:tblGrid>
                <a:gridCol w="1700000"/>
                <a:gridCol w="1700000"/>
                <a:gridCol w="1600000"/>
                <a:gridCol w="2100000"/>
                <a:gridCol w="4182000"/>
              </a:tblGrid>
              <a:tr h="36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L1 Capability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L2 Capability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L3 Capability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L4 Service Category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Description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6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Technology Infrastructure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Data Platform Services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Database Services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Relational Database Services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Managed relational database platforms supporting transactional and analytical workloads, including availability, backup/recovery, patching, upgrades and lifecycle management.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Non-Relational Database Services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Managed document, key-value, NoSQL and caching platforms for workloads requiring flexible schemas, low latency and scale.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Database Resilience &amp; Recovery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Standardized high availability, backup, restore, replication, disaster recovery, RPO/RTO and recovery-testing capabilities.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Database Observability &amp; Performance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Monitoring, capacity management, performance optimization, health checks and operational telemetry.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Database Security &amp; Protection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Platform capabilities supporting encryption, access control, auditing, secrets management and approved masking/security controls.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/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Database Automation &amp; Lifecycle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8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Automated provisioning, configuration, patching, upgrades, decommissioning and infrastructure-as-code patterns across database platforms.</a:t>
                      </a:r>
                      <a:endParaRPr lang="en-US" sz="8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4" name="Text 104"/>
          <p:cNvSpPr/>
          <p:nvPr/>
        </p:nvSpPr>
        <p:spPr>
          <a:xfrm>
            <a:off x="457200" y="5350000"/>
            <a:ext cx="11282000" cy="5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 i="1">
                <a:solidFill>
                  <a:srgbClr val="747480"/>
                </a:solidFill>
                <a:latin typeface="+mj-lt"/>
              </a:rPr>
              <a:t>Retain this mapping in the appendix until it is validated against the authoritative Canada Life Technology Capability Model. Engineering design patterns and the database decision matrix reuse the existing EA-approved pattern inventory and RACI — not duplicated here.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Database Capability Maturity – Evidence Plan</a:t>
            </a:r>
            <a:endParaRPr lang="en-US" sz="2600">
              <a:latin typeface="+mj-lt"/>
            </a:endParaRP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57200" y="1250000"/>
          <a:ext cx="11282000" cy="3820000"/>
        </p:xfrm>
        <a:graphic>
          <a:graphicData uri="http://schemas.openxmlformats.org/drawingml/2006/table">
            <a:tbl>
              <a:tblPr firstRow="1" bandRow="1"/>
              <a:tblGrid>
                <a:gridCol w="2600000"/>
                <a:gridCol w="4082000"/>
                <a:gridCol w="2000000"/>
                <a:gridCol w="2600000"/>
              </a:tblGrid>
              <a:tr h="38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Dimension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Evidence Required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Owner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Linked Roadmap Initiative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Platform standardization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Approved patterns, estate split and exceptions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EA + I&amp;O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Decision matrix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Lifecycle &amp; technical debt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Version and containment inventory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DB Services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Evergreen / DB2 disposition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Managed-service adoption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Workload and platform inventory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I&amp;O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ARM modernization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Automation &amp; self-service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Provisioning and patching evidence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I&amp;O Engineering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Operating model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Resilience &amp; DR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Tier, test and recovery evidence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Support team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NFR baseline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Security &amp; compliance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Control and evidence ownership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Security / IAM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Security baseline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Observability &amp; operations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Monitoring and incident evidence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Operations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Operating model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Cost / FinOps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Licence and TCO evidence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FinOps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Cost validation</a:t>
                      </a:r>
                      <a:endParaRPr lang="en-US" sz="95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3" name="Text 103"/>
          <p:cNvSpPr/>
          <p:nvPr/>
        </p:nvSpPr>
        <p:spPr>
          <a:xfrm>
            <a:off x="457200" y="5190000"/>
            <a:ext cx="11282000" cy="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 i="1">
                <a:solidFill>
                  <a:srgbClr val="747480"/>
                </a:solidFill>
                <a:latin typeface="+mj-lt"/>
              </a:rPr>
              <a:t>Do not publish precise current or target scores until evidence and capability-owner validation are complete.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Enterprise Database Landscape – MS SQL Current State</a:t>
            </a:r>
            <a:endParaRPr lang="en-US" sz="2600">
              <a:latin typeface="+mj-lt"/>
            </a:endParaRPr>
          </a:p>
        </p:txBody>
      </p:sp>
      <p:sp>
        <p:nvSpPr>
          <p:cNvPr id="102" name="Card 102"/>
          <p:cNvSpPr/>
          <p:nvPr/>
        </p:nvSpPr>
        <p:spPr>
          <a:xfrm>
            <a:off x="457200" y="1300000"/>
            <a:ext cx="11282000" cy="28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Bullets 103"/>
          <p:cNvSpPr/>
          <p:nvPr/>
        </p:nvSpPr>
        <p:spPr>
          <a:xfrm>
            <a:off x="757200" y="1500000"/>
            <a:ext cx="10682000" cy="24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2E38"/>
                </a:solidFill>
                <a:latin typeface="+mj-lt"/>
              </a:rPr>
              <a:t>On-premises dedicated VM clusters remain in use and are expected to persist beyond the roadmap horizon.</a:t>
            </a:r>
            <a:endParaRPr lang="en-US" sz="115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2E38"/>
                </a:solidFill>
                <a:latin typeface="+mj-lt"/>
              </a:rPr>
              <a:t>AWS includes self-managed SQL Server on EC2 and managed RDS services.</a:t>
            </a:r>
            <a:endParaRPr lang="en-US" sz="115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2E38"/>
                </a:solidFill>
                <a:latin typeface="+mj-lt"/>
              </a:rPr>
              <a:t>Azure includes SQL Server on VMs and Azure SQL managed-service options.</a:t>
            </a:r>
            <a:endParaRPr lang="en-US" sz="115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2E38"/>
                </a:solidFill>
                <a:latin typeface="+mj-lt"/>
              </a:rPr>
              <a:t>Existing deployment is not equivalent to approved future placement.</a:t>
            </a:r>
            <a:endParaRPr lang="en-US" sz="115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2E38"/>
                </a:solidFill>
                <a:latin typeface="+mj-lt"/>
              </a:rPr>
              <a:t>The decision matrix must consider compatibility, HA/DR, residency, licensing, cost and operational ownership.</a:t>
            </a:r>
            <a:endParaRPr lang="en-US" sz="11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Enterprise Database Landscape – DB2, Oracle, MongoDB &amp; PostgreSQL</a:t>
            </a:r>
            <a:endParaRPr lang="en-US" sz="2600">
              <a:latin typeface="+mj-lt"/>
            </a:endParaRPr>
          </a:p>
        </p:txBody>
      </p:sp>
      <p:sp>
        <p:nvSpPr>
          <p:cNvPr id="102" name="Card 102"/>
          <p:cNvSpPr/>
          <p:nvPr/>
        </p:nvSpPr>
        <p:spPr>
          <a:xfrm>
            <a:off x="457200" y="1250000"/>
            <a:ext cx="2685500" cy="36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Card 103"/>
          <p:cNvSpPr/>
          <p:nvPr/>
        </p:nvSpPr>
        <p:spPr>
          <a:xfrm>
            <a:off x="457200" y="1250000"/>
            <a:ext cx="2685500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CardHeader 104"/>
          <p:cNvSpPr/>
          <p:nvPr/>
        </p:nvSpPr>
        <p:spPr>
          <a:xfrm>
            <a:off x="607200" y="1450000"/>
            <a:ext cx="2385500" cy="4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50" b="1">
                <a:solidFill>
                  <a:srgbClr val="BA0C2F"/>
                </a:solidFill>
                <a:latin typeface="+mj-lt"/>
              </a:rPr>
              <a:t>IBM DB2</a:t>
            </a:r>
          </a:p>
        </p:txBody>
      </p:sp>
      <p:sp>
        <p:nvSpPr>
          <p:cNvPr id="105" name="Bullets 105"/>
          <p:cNvSpPr/>
          <p:nvPr/>
        </p:nvSpPr>
        <p:spPr>
          <a:xfrm>
            <a:off x="607200" y="1950000"/>
            <a:ext cx="2385500" cy="27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+mj-lt"/>
              </a:rPr>
              <a:t>On-premises AIX/Linux estate plus an application-specific AWS deployment.</a:t>
            </a:r>
            <a:endParaRPr lang="en-US" sz="95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+mj-lt"/>
              </a:rPr>
              <a:t>Contained platform with application and ETL dependencies.</a:t>
            </a:r>
            <a:endParaRPr lang="en-US" sz="95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+mj-lt"/>
              </a:rPr>
              <a:t>Future demand requires explicit exception review.</a:t>
            </a:r>
            <a:endParaRPr lang="en-US" sz="950"/>
          </a:p>
        </p:txBody>
      </p:sp>
      <p:sp>
        <p:nvSpPr>
          <p:cNvPr id="106" name="Card 106"/>
          <p:cNvSpPr/>
          <p:nvPr/>
        </p:nvSpPr>
        <p:spPr>
          <a:xfrm>
            <a:off x="3322700" y="1250000"/>
            <a:ext cx="26855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Card 107"/>
          <p:cNvSpPr/>
          <p:nvPr/>
        </p:nvSpPr>
        <p:spPr>
          <a:xfrm>
            <a:off x="3322700" y="1250000"/>
            <a:ext cx="2685500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CardHeader 108"/>
          <p:cNvSpPr/>
          <p:nvPr/>
        </p:nvSpPr>
        <p:spPr>
          <a:xfrm>
            <a:off x="3472700" y="1450000"/>
            <a:ext cx="2385500" cy="4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50" b="1">
                <a:solidFill>
                  <a:srgbClr val="BA0C2F"/>
                </a:solidFill>
                <a:latin typeface="+mj-lt"/>
              </a:rPr>
              <a:t>Oracle</a:t>
            </a:r>
          </a:p>
        </p:txBody>
      </p:sp>
      <p:sp>
        <p:nvSpPr>
          <p:cNvPr id="109" name="Bullets 109"/>
          <p:cNvSpPr/>
          <p:nvPr/>
        </p:nvSpPr>
        <p:spPr>
          <a:xfrm>
            <a:off x="3472700" y="1950000"/>
            <a:ext cx="2385500" cy="27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+mj-lt"/>
              </a:rPr>
              <a:t>On-premises / Exadata estate with Azure direction.</a:t>
            </a:r>
            <a:endParaRPr lang="en-US" sz="95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+mj-lt"/>
              </a:rPr>
              <a:t>19c lifecycle position is supported.</a:t>
            </a:r>
            <a:endParaRPr lang="en-US" sz="95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+mj-lt"/>
              </a:rPr>
              <a:t>Future modernization must be sequenced through Evergreen and workload criteria.</a:t>
            </a:r>
            <a:endParaRPr lang="en-US" sz="950"/>
          </a:p>
        </p:txBody>
      </p:sp>
      <p:sp>
        <p:nvSpPr>
          <p:cNvPr id="110" name="Card 110"/>
          <p:cNvSpPr/>
          <p:nvPr/>
        </p:nvSpPr>
        <p:spPr>
          <a:xfrm>
            <a:off x="6188200" y="1250000"/>
            <a:ext cx="2685500" cy="36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Card 111"/>
          <p:cNvSpPr/>
          <p:nvPr/>
        </p:nvSpPr>
        <p:spPr>
          <a:xfrm>
            <a:off x="6188200" y="1250000"/>
            <a:ext cx="2685500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Header 112"/>
          <p:cNvSpPr/>
          <p:nvPr/>
        </p:nvSpPr>
        <p:spPr>
          <a:xfrm>
            <a:off x="6338200" y="1450000"/>
            <a:ext cx="2385500" cy="4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50" b="1">
                <a:solidFill>
                  <a:srgbClr val="BA0C2F"/>
                </a:solidFill>
                <a:latin typeface="+mj-lt"/>
              </a:rPr>
              <a:t>MongoDB</a:t>
            </a:r>
          </a:p>
        </p:txBody>
      </p:sp>
      <p:sp>
        <p:nvSpPr>
          <p:cNvPr id="113" name="Bullets 113"/>
          <p:cNvSpPr/>
          <p:nvPr/>
        </p:nvSpPr>
        <p:spPr>
          <a:xfrm>
            <a:off x="6338200" y="1950000"/>
            <a:ext cx="2385500" cy="27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+mj-lt"/>
              </a:rPr>
              <a:t>Existing use requires validation of service, workload role, hosting and operating ownership.</a:t>
            </a:r>
            <a:endParaRPr lang="en-US" sz="95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+mj-lt"/>
              </a:rPr>
              <a:t>Do not equate one current use case with the enterprise pattern.</a:t>
            </a:r>
            <a:endParaRPr lang="en-US" sz="950"/>
          </a:p>
        </p:txBody>
      </p:sp>
      <p:sp>
        <p:nvSpPr>
          <p:cNvPr id="114" name="Card 114"/>
          <p:cNvSpPr/>
          <p:nvPr/>
        </p:nvSpPr>
        <p:spPr>
          <a:xfrm>
            <a:off x="9053700" y="1250000"/>
            <a:ext cx="26855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Card 115"/>
          <p:cNvSpPr/>
          <p:nvPr/>
        </p:nvSpPr>
        <p:spPr>
          <a:xfrm>
            <a:off x="9053700" y="1250000"/>
            <a:ext cx="2685500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CardHeader 116"/>
          <p:cNvSpPr/>
          <p:nvPr/>
        </p:nvSpPr>
        <p:spPr>
          <a:xfrm>
            <a:off x="9203700" y="1450000"/>
            <a:ext cx="2385500" cy="4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250" b="1">
                <a:solidFill>
                  <a:srgbClr val="BA0C2F"/>
                </a:solidFill>
                <a:latin typeface="+mj-lt"/>
              </a:rPr>
              <a:t>PostgreSQL</a:t>
            </a:r>
          </a:p>
        </p:txBody>
      </p:sp>
      <p:sp>
        <p:nvSpPr>
          <p:cNvPr id="117" name="Bullets 117"/>
          <p:cNvSpPr/>
          <p:nvPr/>
        </p:nvSpPr>
        <p:spPr>
          <a:xfrm>
            <a:off x="9203700" y="1950000"/>
            <a:ext cx="2385500" cy="27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+mj-lt"/>
              </a:rPr>
              <a:t>AWS RDS PostgreSQL is in the landscape.</a:t>
            </a:r>
            <a:endParaRPr lang="en-US" sz="95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+mj-lt"/>
              </a:rPr>
              <a:t>Placement, support tier and onboarding rules belong in the enterprise decision matrix.</a:t>
            </a:r>
            <a:endParaRPr lang="en-US" sz="9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Enterprise Database Landscape – MS SQL Target Direction</a:t>
            </a:r>
            <a:endParaRPr lang="en-US" sz="2600">
              <a:latin typeface="+mj-lt"/>
            </a:endParaRPr>
          </a:p>
        </p:txBody>
      </p:sp>
      <p:sp>
        <p:nvSpPr>
          <p:cNvPr id="102" name="Card 102"/>
          <p:cNvSpPr/>
          <p:nvPr/>
        </p:nvSpPr>
        <p:spPr>
          <a:xfrm>
            <a:off x="457200" y="1250000"/>
            <a:ext cx="3627333" cy="33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CardHeader 103"/>
          <p:cNvSpPr/>
          <p:nvPr/>
        </p:nvSpPr>
        <p:spPr>
          <a:xfrm>
            <a:off x="677200" y="1430000"/>
            <a:ext cx="3207333" cy="5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300" b="1">
                <a:solidFill>
                  <a:srgbClr val="BA0C2F"/>
                </a:solidFill>
                <a:latin typeface="+mj-lt"/>
              </a:rPr>
              <a:t>Preferred direction</a:t>
            </a:r>
          </a:p>
        </p:txBody>
      </p:sp>
      <p:sp>
        <p:nvSpPr>
          <p:cNvPr id="104" name="Bullets 104"/>
          <p:cNvSpPr/>
          <p:nvPr/>
        </p:nvSpPr>
        <p:spPr>
          <a:xfrm>
            <a:off x="677200" y="2000000"/>
            <a:ext cx="3207333" cy="2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Use managed SQL services for eligible cloud workloads and avoid new self-managed cloud IaaS where a managed pattern meets requirements.</a:t>
            </a:r>
            <a:endParaRPr lang="en-US" sz="1000"/>
          </a:p>
        </p:txBody>
      </p:sp>
      <p:sp>
        <p:nvSpPr>
          <p:cNvPr id="105" name="Card 105"/>
          <p:cNvSpPr/>
          <p:nvPr/>
        </p:nvSpPr>
        <p:spPr>
          <a:xfrm>
            <a:off x="4284533" y="1250000"/>
            <a:ext cx="3627333" cy="3300000"/>
          </a:xfrm>
          <a:prstGeom prst="rect">
            <a:avLst/>
          </a:prstGeom>
          <a:solidFill>
            <a:srgbClr val="F0CC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CardHeader 106"/>
          <p:cNvSpPr/>
          <p:nvPr/>
        </p:nvSpPr>
        <p:spPr>
          <a:xfrm>
            <a:off x="4504533" y="1430000"/>
            <a:ext cx="3207333" cy="5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300" b="1">
                <a:solidFill>
                  <a:srgbClr val="8C0924"/>
                </a:solidFill>
                <a:latin typeface="+mj-lt"/>
              </a:rPr>
              <a:t>Placement outcomes</a:t>
            </a:r>
          </a:p>
        </p:txBody>
      </p:sp>
      <p:sp>
        <p:nvSpPr>
          <p:cNvPr id="107" name="Bullets 107"/>
          <p:cNvSpPr/>
          <p:nvPr/>
        </p:nvSpPr>
        <p:spPr>
          <a:xfrm>
            <a:off x="4504533" y="2000000"/>
            <a:ext cx="3207333" cy="2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Azure SQL Managed Instance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AWS RDS for SQL Server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Retained on-premises patterns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Approved exceptions</a:t>
            </a:r>
            <a:endParaRPr lang="en-US" sz="1000"/>
          </a:p>
        </p:txBody>
      </p:sp>
      <p:sp>
        <p:nvSpPr>
          <p:cNvPr id="108" name="Card 108"/>
          <p:cNvSpPr/>
          <p:nvPr/>
        </p:nvSpPr>
        <p:spPr>
          <a:xfrm>
            <a:off x="8111866" y="1250000"/>
            <a:ext cx="3627333" cy="3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Card 109"/>
          <p:cNvSpPr/>
          <p:nvPr/>
        </p:nvSpPr>
        <p:spPr>
          <a:xfrm>
            <a:off x="8111866" y="1250000"/>
            <a:ext cx="70000" cy="330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CardHeader 110"/>
          <p:cNvSpPr/>
          <p:nvPr/>
        </p:nvSpPr>
        <p:spPr>
          <a:xfrm>
            <a:off x="8331866" y="1430000"/>
            <a:ext cx="3207333" cy="5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300" b="1">
                <a:solidFill>
                  <a:srgbClr val="BA0C2F"/>
                </a:solidFill>
                <a:latin typeface="+mj-lt"/>
              </a:rPr>
              <a:t>Decision criteria</a:t>
            </a:r>
          </a:p>
        </p:txBody>
      </p:sp>
      <p:sp>
        <p:nvSpPr>
          <p:cNvPr id="111" name="Bullets 111"/>
          <p:cNvSpPr/>
          <p:nvPr/>
        </p:nvSpPr>
        <p:spPr>
          <a:xfrm>
            <a:off x="8331866" y="2000000"/>
            <a:ext cx="3207333" cy="23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Compatibility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Availability and recovery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Residency and security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Licensing and TCO</a:t>
            </a:r>
            <a:endParaRPr lang="en-US" sz="100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+mj-lt"/>
              </a:rPr>
              <a:t>Operational ownership</a:t>
            </a:r>
            <a:endParaRPr lang="en-US" sz="1000"/>
          </a:p>
        </p:txBody>
      </p:sp>
      <p:sp>
        <p:nvSpPr>
          <p:cNvPr id="112" name="Text 112"/>
          <p:cNvSpPr/>
          <p:nvPr/>
        </p:nvSpPr>
        <p:spPr>
          <a:xfrm>
            <a:off x="457200" y="4700000"/>
            <a:ext cx="11282000" cy="4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 i="1">
                <a:solidFill>
                  <a:srgbClr val="747480"/>
                </a:solidFill>
                <a:latin typeface="+mj-lt"/>
              </a:rPr>
              <a:t>SQL Server 2025 should be shown as an Evergreen lifecycle direction subject to support, compatibility and delivery validation.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Enterprise Database Landscape – Oracle Target Direction</a:t>
            </a:r>
            <a:endParaRPr lang="en-US" sz="2600">
              <a:latin typeface="+mj-lt"/>
            </a:endParaRPr>
          </a:p>
        </p:txBody>
      </p:sp>
      <p:sp>
        <p:nvSpPr>
          <p:cNvPr id="102" name="Card 102"/>
          <p:cNvSpPr/>
          <p:nvPr/>
        </p:nvSpPr>
        <p:spPr>
          <a:xfrm>
            <a:off x="457200" y="1250000"/>
            <a:ext cx="3627333" cy="16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CardHeader 103"/>
          <p:cNvSpPr/>
          <p:nvPr/>
        </p:nvSpPr>
        <p:spPr>
          <a:xfrm>
            <a:off x="657200" y="1430000"/>
            <a:ext cx="3227333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50" b="1">
                <a:solidFill>
                  <a:srgbClr val="BA0C2F"/>
                </a:solidFill>
                <a:latin typeface="+mj-lt"/>
              </a:rPr>
              <a:t>Supported estate</a:t>
            </a:r>
          </a:p>
        </p:txBody>
      </p:sp>
      <p:sp>
        <p:nvSpPr>
          <p:cNvPr id="104" name="Text 104"/>
          <p:cNvSpPr/>
          <p:nvPr/>
        </p:nvSpPr>
        <p:spPr>
          <a:xfrm>
            <a:off x="657200" y="1950000"/>
            <a:ext cx="3227333" cy="8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Maintain supported 19c workloads where migration is not yet justified.</a:t>
            </a:r>
          </a:p>
        </p:txBody>
      </p:sp>
      <p:sp>
        <p:nvSpPr>
          <p:cNvPr id="105" name="Card 105"/>
          <p:cNvSpPr/>
          <p:nvPr/>
        </p:nvSpPr>
        <p:spPr>
          <a:xfrm>
            <a:off x="4284533" y="1250000"/>
            <a:ext cx="3627333" cy="16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CardHeader 106"/>
          <p:cNvSpPr/>
          <p:nvPr/>
        </p:nvSpPr>
        <p:spPr>
          <a:xfrm>
            <a:off x="4484533" y="1430000"/>
            <a:ext cx="3227333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50" b="1">
                <a:solidFill>
                  <a:srgbClr val="BA0C2F"/>
                </a:solidFill>
                <a:latin typeface="+mj-lt"/>
              </a:rPr>
              <a:t>Service direction</a:t>
            </a:r>
          </a:p>
        </p:txBody>
      </p:sp>
      <p:sp>
        <p:nvSpPr>
          <p:cNvPr id="107" name="Text 107"/>
          <p:cNvSpPr/>
          <p:nvPr/>
        </p:nvSpPr>
        <p:spPr>
          <a:xfrm>
            <a:off x="4484533" y="1950000"/>
            <a:ext cx="3227333" cy="8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Use approved Exadata services for qualifying Oracle workloads.</a:t>
            </a:r>
          </a:p>
        </p:txBody>
      </p:sp>
      <p:sp>
        <p:nvSpPr>
          <p:cNvPr id="108" name="Card 108"/>
          <p:cNvSpPr/>
          <p:nvPr/>
        </p:nvSpPr>
        <p:spPr>
          <a:xfrm>
            <a:off x="8111866" y="1250000"/>
            <a:ext cx="3627333" cy="16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CardHeader 109"/>
          <p:cNvSpPr/>
          <p:nvPr/>
        </p:nvSpPr>
        <p:spPr>
          <a:xfrm>
            <a:off x="8311866" y="1430000"/>
            <a:ext cx="3227333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50" b="1">
                <a:solidFill>
                  <a:srgbClr val="BA0C2F"/>
                </a:solidFill>
                <a:latin typeface="+mj-lt"/>
              </a:rPr>
              <a:t>Lifecycle modernization</a:t>
            </a:r>
          </a:p>
        </p:txBody>
      </p:sp>
      <p:sp>
        <p:nvSpPr>
          <p:cNvPr id="110" name="Text 110"/>
          <p:cNvSpPr/>
          <p:nvPr/>
        </p:nvSpPr>
        <p:spPr>
          <a:xfrm>
            <a:off x="8311866" y="1950000"/>
            <a:ext cx="3227333" cy="8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Assess 26ai through DBMS Evergreen based on compatibility, value, risk and cost.</a:t>
            </a:r>
          </a:p>
        </p:txBody>
      </p:sp>
      <p:sp>
        <p:nvSpPr>
          <p:cNvPr id="111" name="Card 111"/>
          <p:cNvSpPr/>
          <p:nvPr/>
        </p:nvSpPr>
        <p:spPr>
          <a:xfrm>
            <a:off x="457200" y="3100000"/>
            <a:ext cx="5516000" cy="1650000"/>
          </a:xfrm>
          <a:prstGeom prst="rect">
            <a:avLst/>
          </a:prstGeom>
          <a:solidFill>
            <a:srgbClr val="F0CC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Header 112"/>
          <p:cNvSpPr/>
          <p:nvPr/>
        </p:nvSpPr>
        <p:spPr>
          <a:xfrm>
            <a:off x="657200" y="3280000"/>
            <a:ext cx="5116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50" b="1">
                <a:solidFill>
                  <a:srgbClr val="8C0924"/>
                </a:solidFill>
                <a:latin typeface="+mj-lt"/>
              </a:rPr>
              <a:t>Autonomous capability</a:t>
            </a:r>
          </a:p>
        </p:txBody>
      </p:sp>
      <p:sp>
        <p:nvSpPr>
          <p:cNvPr id="113" name="Text 113"/>
          <p:cNvSpPr/>
          <p:nvPr/>
        </p:nvSpPr>
        <p:spPr>
          <a:xfrm>
            <a:off x="657200" y="3800000"/>
            <a:ext cx="5116000" cy="8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Use only where workload fit and operating-model benefits are demonstrated.</a:t>
            </a:r>
          </a:p>
        </p:txBody>
      </p:sp>
      <p:sp>
        <p:nvSpPr>
          <p:cNvPr id="114" name="Card 114"/>
          <p:cNvSpPr/>
          <p:nvPr/>
        </p:nvSpPr>
        <p:spPr>
          <a:xfrm>
            <a:off x="6223200" y="3100000"/>
            <a:ext cx="5516000" cy="1650000"/>
          </a:xfrm>
          <a:prstGeom prst="rect">
            <a:avLst/>
          </a:prstGeom>
          <a:solidFill>
            <a:srgbClr val="F0CCD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CardHeader 115"/>
          <p:cNvSpPr/>
          <p:nvPr/>
        </p:nvSpPr>
        <p:spPr>
          <a:xfrm>
            <a:off x="6423200" y="3280000"/>
            <a:ext cx="5116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150" b="1">
                <a:solidFill>
                  <a:srgbClr val="8C0924"/>
                </a:solidFill>
                <a:latin typeface="+mj-lt"/>
              </a:rPr>
              <a:t>DB2 transformation</a:t>
            </a:r>
          </a:p>
        </p:txBody>
      </p:sp>
      <p:sp>
        <p:nvSpPr>
          <p:cNvPr id="116" name="Text 116"/>
          <p:cNvSpPr/>
          <p:nvPr/>
        </p:nvSpPr>
        <p:spPr>
          <a:xfrm>
            <a:off x="6423200" y="3800000"/>
            <a:ext cx="5116000" cy="8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00">
                <a:solidFill>
                  <a:srgbClr val="2E2E38"/>
                </a:solidFill>
                <a:latin typeface="+mj-lt"/>
              </a:rPr>
              <a:t>Apply only to eligible applications; retain non-transformable workloads under controlled DB2 containment.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High-Level Target Operating Model – Detailed View</a:t>
            </a:r>
            <a:endParaRPr lang="en-US" sz="2600">
              <a:latin typeface="+mj-lt"/>
            </a:endParaRPr>
          </a:p>
        </p:txBody>
      </p:sp>
      <p:sp>
        <p:nvSpPr>
          <p:cNvPr id="102" name="Card 102"/>
          <p:cNvSpPr/>
          <p:nvPr/>
        </p:nvSpPr>
        <p:spPr>
          <a:xfrm>
            <a:off x="457200" y="1300000"/>
            <a:ext cx="1780333" cy="2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Card 103"/>
          <p:cNvSpPr/>
          <p:nvPr/>
        </p:nvSpPr>
        <p:spPr>
          <a:xfrm>
            <a:off x="457200" y="1300000"/>
            <a:ext cx="1780333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CardHeader 104"/>
          <p:cNvSpPr/>
          <p:nvPr/>
        </p:nvSpPr>
        <p:spPr>
          <a:xfrm>
            <a:off x="547200" y="1450000"/>
            <a:ext cx="1600333" cy="5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050" b="1">
                <a:solidFill>
                  <a:srgbClr val="BA0C2F"/>
                </a:solidFill>
                <a:latin typeface="+mj-lt"/>
              </a:rPr>
              <a:t>1. Demand</a:t>
            </a:r>
          </a:p>
        </p:txBody>
      </p:sp>
      <p:sp>
        <p:nvSpPr>
          <p:cNvPr id="105" name="Text 105"/>
          <p:cNvSpPr/>
          <p:nvPr/>
        </p:nvSpPr>
        <p:spPr>
          <a:xfrm>
            <a:off x="547200" y="2000000"/>
            <a:ext cx="1600333" cy="20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900">
                <a:solidFill>
                  <a:srgbClr val="2E2E38"/>
                </a:solidFill>
                <a:latin typeface="+mj-lt"/>
              </a:rPr>
              <a:t>Business and program requirements, criticality, data classification</a:t>
            </a:r>
          </a:p>
        </p:txBody>
      </p:sp>
      <p:sp>
        <p:nvSpPr>
          <p:cNvPr id="106" name="Card 106"/>
          <p:cNvSpPr/>
          <p:nvPr/>
        </p:nvSpPr>
        <p:spPr>
          <a:xfrm>
            <a:off x="2357533" y="1300000"/>
            <a:ext cx="1780333" cy="2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Card 107"/>
          <p:cNvSpPr/>
          <p:nvPr/>
        </p:nvSpPr>
        <p:spPr>
          <a:xfrm>
            <a:off x="2357533" y="1300000"/>
            <a:ext cx="1780333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CardHeader 108"/>
          <p:cNvSpPr/>
          <p:nvPr/>
        </p:nvSpPr>
        <p:spPr>
          <a:xfrm>
            <a:off x="2447533" y="1450000"/>
            <a:ext cx="1600333" cy="5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050" b="1">
                <a:solidFill>
                  <a:srgbClr val="BA0C2F"/>
                </a:solidFill>
                <a:latin typeface="+mj-lt"/>
              </a:rPr>
              <a:t>2. Decide</a:t>
            </a:r>
          </a:p>
        </p:txBody>
      </p:sp>
      <p:sp>
        <p:nvSpPr>
          <p:cNvPr id="109" name="Text 109"/>
          <p:cNvSpPr/>
          <p:nvPr/>
        </p:nvSpPr>
        <p:spPr>
          <a:xfrm>
            <a:off x="2447533" y="2000000"/>
            <a:ext cx="1600333" cy="20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900">
                <a:solidFill>
                  <a:srgbClr val="2E2E38"/>
                </a:solidFill>
                <a:latin typeface="+mj-lt"/>
              </a:rPr>
              <a:t>Workload placement matrix, service classification and exception path</a:t>
            </a:r>
          </a:p>
        </p:txBody>
      </p:sp>
      <p:sp>
        <p:nvSpPr>
          <p:cNvPr id="110" name="Card 110"/>
          <p:cNvSpPr/>
          <p:nvPr/>
        </p:nvSpPr>
        <p:spPr>
          <a:xfrm>
            <a:off x="4257866" y="1300000"/>
            <a:ext cx="1780333" cy="2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Card 111"/>
          <p:cNvSpPr/>
          <p:nvPr/>
        </p:nvSpPr>
        <p:spPr>
          <a:xfrm>
            <a:off x="4257866" y="1300000"/>
            <a:ext cx="1780333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ardHeader 112"/>
          <p:cNvSpPr/>
          <p:nvPr/>
        </p:nvSpPr>
        <p:spPr>
          <a:xfrm>
            <a:off x="4347866" y="1450000"/>
            <a:ext cx="1600333" cy="5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050" b="1">
                <a:solidFill>
                  <a:srgbClr val="BA0C2F"/>
                </a:solidFill>
                <a:latin typeface="+mj-lt"/>
              </a:rPr>
              <a:t>3. Provision</a:t>
            </a:r>
          </a:p>
        </p:txBody>
      </p:sp>
      <p:sp>
        <p:nvSpPr>
          <p:cNvPr id="113" name="Text 113"/>
          <p:cNvSpPr/>
          <p:nvPr/>
        </p:nvSpPr>
        <p:spPr>
          <a:xfrm>
            <a:off x="4347866" y="2000000"/>
            <a:ext cx="1600333" cy="20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900">
                <a:solidFill>
                  <a:srgbClr val="2E2E38"/>
                </a:solidFill>
                <a:latin typeface="+mj-lt"/>
              </a:rPr>
              <a:t>Approved pattern, automated onboarding, CMDB and ownership</a:t>
            </a:r>
          </a:p>
        </p:txBody>
      </p:sp>
      <p:sp>
        <p:nvSpPr>
          <p:cNvPr id="114" name="Card 114"/>
          <p:cNvSpPr/>
          <p:nvPr/>
        </p:nvSpPr>
        <p:spPr>
          <a:xfrm>
            <a:off x="6158199" y="1300000"/>
            <a:ext cx="1780333" cy="2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Card 115"/>
          <p:cNvSpPr/>
          <p:nvPr/>
        </p:nvSpPr>
        <p:spPr>
          <a:xfrm>
            <a:off x="6158199" y="1300000"/>
            <a:ext cx="1780333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CardHeader 116"/>
          <p:cNvSpPr/>
          <p:nvPr/>
        </p:nvSpPr>
        <p:spPr>
          <a:xfrm>
            <a:off x="6248199" y="1450000"/>
            <a:ext cx="1600333" cy="5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050" b="1">
                <a:solidFill>
                  <a:srgbClr val="BA0C2F"/>
                </a:solidFill>
                <a:latin typeface="+mj-lt"/>
              </a:rPr>
              <a:t>4. Protect</a:t>
            </a:r>
          </a:p>
        </p:txBody>
      </p:sp>
      <p:sp>
        <p:nvSpPr>
          <p:cNvPr id="117" name="Text 117"/>
          <p:cNvSpPr/>
          <p:nvPr/>
        </p:nvSpPr>
        <p:spPr>
          <a:xfrm>
            <a:off x="6248199" y="2000000"/>
            <a:ext cx="1600333" cy="20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900">
                <a:solidFill>
                  <a:srgbClr val="2E2E38"/>
                </a:solidFill>
                <a:latin typeface="+mj-lt"/>
              </a:rPr>
              <a:t>RBAC/PAM, encryption, audit, residency, backup and DR tier</a:t>
            </a:r>
          </a:p>
        </p:txBody>
      </p:sp>
      <p:sp>
        <p:nvSpPr>
          <p:cNvPr id="118" name="Card 118"/>
          <p:cNvSpPr/>
          <p:nvPr/>
        </p:nvSpPr>
        <p:spPr>
          <a:xfrm>
            <a:off x="8058532" y="1300000"/>
            <a:ext cx="1780333" cy="29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Card 119"/>
          <p:cNvSpPr/>
          <p:nvPr/>
        </p:nvSpPr>
        <p:spPr>
          <a:xfrm>
            <a:off x="8058532" y="1300000"/>
            <a:ext cx="1780333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CardHeader 120"/>
          <p:cNvSpPr/>
          <p:nvPr/>
        </p:nvSpPr>
        <p:spPr>
          <a:xfrm>
            <a:off x="8148532" y="1450000"/>
            <a:ext cx="1600333" cy="5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050" b="1">
                <a:solidFill>
                  <a:srgbClr val="BA0C2F"/>
                </a:solidFill>
                <a:latin typeface="+mj-lt"/>
              </a:rPr>
              <a:t>5. Operate</a:t>
            </a:r>
          </a:p>
        </p:txBody>
      </p:sp>
      <p:sp>
        <p:nvSpPr>
          <p:cNvPr id="121" name="Text 121"/>
          <p:cNvSpPr/>
          <p:nvPr/>
        </p:nvSpPr>
        <p:spPr>
          <a:xfrm>
            <a:off x="8148532" y="2000000"/>
            <a:ext cx="1600333" cy="20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900">
                <a:solidFill>
                  <a:srgbClr val="2E2E38"/>
                </a:solidFill>
                <a:latin typeface="+mj-lt"/>
              </a:rPr>
              <a:t>Monitoring, patching, runbooks, capacity and incident management</a:t>
            </a:r>
          </a:p>
        </p:txBody>
      </p:sp>
      <p:sp>
        <p:nvSpPr>
          <p:cNvPr id="122" name="Card 122"/>
          <p:cNvSpPr/>
          <p:nvPr/>
        </p:nvSpPr>
        <p:spPr>
          <a:xfrm>
            <a:off x="9958865" y="1300000"/>
            <a:ext cx="1780333" cy="2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Card 123"/>
          <p:cNvSpPr/>
          <p:nvPr/>
        </p:nvSpPr>
        <p:spPr>
          <a:xfrm>
            <a:off x="9958865" y="1300000"/>
            <a:ext cx="1780333" cy="70000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CardHeader 124"/>
          <p:cNvSpPr/>
          <p:nvPr/>
        </p:nvSpPr>
        <p:spPr>
          <a:xfrm>
            <a:off x="10048865" y="1450000"/>
            <a:ext cx="1600333" cy="50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r>
              <a:rPr lang="en-US" sz="1050" b="1">
                <a:solidFill>
                  <a:srgbClr val="BA0C2F"/>
                </a:solidFill>
                <a:latin typeface="+mj-lt"/>
              </a:rPr>
              <a:t>6. Optimize / Retire</a:t>
            </a:r>
          </a:p>
        </p:txBody>
      </p:sp>
      <p:sp>
        <p:nvSpPr>
          <p:cNvPr id="125" name="Text 125"/>
          <p:cNvSpPr/>
          <p:nvPr/>
        </p:nvSpPr>
        <p:spPr>
          <a:xfrm>
            <a:off x="10048865" y="2000000"/>
            <a:ext cx="1600333" cy="20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900">
                <a:solidFill>
                  <a:srgbClr val="2E2E38"/>
                </a:solidFill>
                <a:latin typeface="+mj-lt"/>
              </a:rPr>
              <a:t>TCO, licence optimization, modernization and controlled decommissioning</a:t>
            </a:r>
          </a:p>
        </p:txBody>
      </p:sp>
      <p:sp>
        <p:nvSpPr>
          <p:cNvPr id="126" name="Text 126"/>
          <p:cNvSpPr/>
          <p:nvPr/>
        </p:nvSpPr>
        <p:spPr>
          <a:xfrm>
            <a:off x="457200" y="4350000"/>
            <a:ext cx="11282000" cy="450000"/>
          </a:xfrm>
          <a:prstGeom prst="rect">
            <a:avLst/>
          </a:prstGeom>
          <a:noFill/>
          <a:ln/>
        </p:spPr>
        <p:txBody>
          <a:bodyPr wrap="square" anchor="t" lIns="0" tIns="0"/>
          <a:lstStyle/>
          <a:p>
            <a:pPr/>
            <a:r>
              <a:rPr lang="en-US" sz="1050" i="1">
                <a:solidFill>
                  <a:srgbClr val="747480"/>
                </a:solidFill>
                <a:latin typeface="+mj-lt"/>
              </a:rPr>
              <a:t>Graph and vector capabilities remain conditional and demand-led; DB2 remains under strategic disposition rather than unconditional retirement.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BA0C2F"/>
                </a:solidFill>
                <a:latin typeface="+mj-lt"/>
                <a:ea typeface="Calibri" pitchFamily="34" charset="-122"/>
                <a:cs typeface="Calibri" pitchFamily="34" charset="-120"/>
              </a:rPr>
              <a:t>Roadmap Priorities Summary</a:t>
            </a:r>
            <a:endParaRPr lang="en-US" sz="2600">
              <a:latin typeface="+mj-lt"/>
            </a:endParaRP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57200" y="1250000"/>
          <a:ext cx="11282000" cy="4380000"/>
        </p:xfrm>
        <a:graphic>
          <a:graphicData uri="http://schemas.openxmlformats.org/drawingml/2006/table">
            <a:tbl>
              <a:tblPr firstRow="1" bandRow="1"/>
              <a:tblGrid>
                <a:gridCol w="2982000"/>
                <a:gridCol w="900000"/>
                <a:gridCol w="3100000"/>
                <a:gridCol w="2800000"/>
                <a:gridCol w="1500000"/>
              </a:tblGrid>
              <a:tr h="38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Priority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Rank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Pain Point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Business Impact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Calibri"/>
                          <a:cs typeface="Arial"/>
                        </a:rPr>
                        <a:t>Domain</a:t>
                      </a:r>
                      <a:endParaRPr lang="en-US" sz="10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Enterprise database decision matrix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High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Inconsistent placement and service classifications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Governed intake and exceptions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Governance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NORTH / ODS database interlock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High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Unresolved ownership and demand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Avoid conflicting platform decisions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Platform &amp; Services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Database NFR / security baseline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High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Inconsistent requirements and evidence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Resilience and compliance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Security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Managed-service modernization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High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Fragmented self-managed patterns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Lower operational overhead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Platform &amp; Services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DB2 strategic disposition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High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Contained legacy estate and new demand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Controlled migration and risk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Cost &amp; Optimization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Evergreen / Oracle modernization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Medium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Lifecycle modernization needs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Supportability and justified value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Platform &amp; Services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Patterns and reference implementations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Medium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Missing implementation guidance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Repeatable delivery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Foundation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Operating-model automation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Medium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Ticket-driven provisioning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Faster service delivery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Automation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ETL / database interlocks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Medium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Compatibility may block change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Reduced migration risk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Governance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AI-native capability assessment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Low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Unvalidated demand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Avoid premature commitment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54864" tIns="27432" rIns="54864" bIns="27432" anchor="ctr"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2E38"/>
                          </a:solidFill>
                          <a:latin typeface="Arial"/>
                          <a:ea typeface="Calibri"/>
                          <a:cs typeface="Arial"/>
                        </a:rPr>
                        <a:t>Platform &amp; Services</a:t>
                      </a:r>
                      <a:endParaRPr lang="en-US" sz="900">
                        <a:latin typeface="Arial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T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WUVlBBH2l3k9hxXzMmW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9g.6aq00WkbNTDofa0y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H8FluR_n9Smw5TXsjfNQ"/>
</p:tagLst>
</file>

<file path=ppt/theme/theme1.xml><?xml version="1.0" encoding="utf-8"?>
<a:theme xmlns:a="http://schemas.openxmlformats.org/drawingml/2006/main" name="EY-P Widescreen Template 2022">
  <a:themeElements>
    <a:clrScheme name="EYP2020_PPT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1A9AFA"/>
      </a:accent1>
      <a:accent2>
        <a:srgbClr val="2E2E38"/>
      </a:accent2>
      <a:accent3>
        <a:srgbClr val="747480"/>
      </a:accent3>
      <a:accent4>
        <a:srgbClr val="C4C4CD"/>
      </a:accent4>
      <a:accent5>
        <a:srgbClr val="FF4136"/>
      </a:accent5>
      <a:accent6>
        <a:srgbClr val="2DB757"/>
      </a:accent6>
      <a:hlink>
        <a:srgbClr val="1A9AFA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9525">
          <a:noFill/>
        </a:ln>
      </a:spPr>
      <a:bodyPr lIns="72000" tIns="72000" rIns="72000" bIns="72000" rtlCol="0" anchor="ctr" anchorCtr="0"/>
      <a:lstStyle>
        <a:defPPr algn="l">
          <a:defRPr sz="12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3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>
        <a:spAutoFit/>
      </a:bodyPr>
      <a:lstStyle>
        <a:defPPr marL="171450" indent="-171450" algn="l">
          <a:lnSpc>
            <a:spcPct val="85000"/>
          </a:lnSpc>
          <a:spcAft>
            <a:spcPts val="600"/>
          </a:spcAft>
          <a:buSzPct val="110000"/>
          <a:buFont typeface="EYInterstate Light" panose="02000506000000020004" pitchFamily="2" charset="0"/>
          <a:buChar char="•"/>
          <a:defRPr sz="1100" dirty="0">
            <a:solidFill>
              <a:schemeClr val="bg1"/>
            </a:solidFill>
          </a:defRPr>
        </a:defPPr>
      </a:lstStyle>
    </a:txDef>
  </a:objectDefaults>
  <a:extraClrSchemeLst/>
  <a:custClrLst>
    <a:custClr name="Teal">
      <a:srgbClr val="27ACAA"/>
    </a:custClr>
    <a:custClr name="Green">
      <a:srgbClr val="2DB757"/>
    </a:custClr>
    <a:custClr name="Orange">
      <a:srgbClr val="FF6D00"/>
    </a:custClr>
    <a:custClr name="Purple">
      <a:srgbClr val="3D108A"/>
    </a:custClr>
    <a:custClr name="Maroon">
      <a:srgbClr val="750E5C"/>
    </a:custClr>
    <a:custClr name="Red">
      <a:srgbClr val="FF4136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42C9C2"/>
    </a:custClr>
    <a:custClr name="Green">
      <a:srgbClr val="34C768"/>
    </a:custClr>
    <a:custClr name="Orange">
      <a:srgbClr val="FF810A"/>
    </a:custClr>
    <a:custClr name="Purple">
      <a:srgbClr val="542EA5"/>
    </a:custClr>
    <a:custClr name="Maroon">
      <a:srgbClr val="922B73"/>
    </a:custClr>
    <a:custClr name="Red">
      <a:srgbClr val="F95D54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60E6E1"/>
    </a:custClr>
    <a:custClr name="Green">
      <a:srgbClr val="57E188"/>
    </a:custClr>
    <a:custClr name="Orange">
      <a:srgbClr val="FF9831"/>
    </a:custClr>
    <a:custClr name="Purple">
      <a:srgbClr val="724BC3"/>
    </a:custClr>
    <a:custClr name="Maroon">
      <a:srgbClr val="B14891"/>
    </a:custClr>
    <a:custClr name="Red">
      <a:srgbClr val="FF736A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eal">
      <a:srgbClr val="93F0E6"/>
    </a:custClr>
    <a:custClr name="Green">
      <a:srgbClr val="8CE8AD"/>
    </a:custClr>
    <a:custClr name="Orange">
      <a:srgbClr val="FFB46A"/>
    </a:custClr>
    <a:custClr name="Purple">
      <a:srgbClr val="9C82D4"/>
    </a:custClr>
    <a:custClr name="Maroon">
      <a:srgbClr val="C981B2"/>
    </a:custClr>
    <a:custClr name="Red">
      <a:srgbClr val="FF9A91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EY-Parthenon Template 2022.potx" id="{F61FB716-DF41-43AC-96D7-4F936D1FCDB7}" vid="{3715C607-16CB-460C-A685-A77F3281436D}"/>
    </a:ext>
  </a:extLst>
</a:theme>
</file>

<file path=ppt/theme/theme2.xml><?xml version="1.0" encoding="utf-8"?>
<a:theme xmlns:a="http://schemas.openxmlformats.org/drawingml/2006/main" name="Office Theme">
  <a:themeElements>
    <a:clrScheme name="Custom 9">
      <a:dk1>
        <a:srgbClr val="515349"/>
      </a:dk1>
      <a:lt1>
        <a:srgbClr val="FFFFFF"/>
      </a:lt1>
      <a:dk2>
        <a:srgbClr val="BA0C2F"/>
      </a:dk2>
      <a:lt2>
        <a:srgbClr val="E2E2DF"/>
      </a:lt2>
      <a:accent1>
        <a:srgbClr val="838271"/>
      </a:accent1>
      <a:accent2>
        <a:srgbClr val="007DC1"/>
      </a:accent2>
      <a:accent3>
        <a:srgbClr val="862633"/>
      </a:accent3>
      <a:accent4>
        <a:srgbClr val="5F59A2"/>
      </a:accent4>
      <a:accent5>
        <a:srgbClr val="00BDF1"/>
      </a:accent5>
      <a:accent6>
        <a:srgbClr val="497D3B"/>
      </a:accent6>
      <a:hlink>
        <a:srgbClr val="0563C1"/>
      </a:hlink>
      <a:folHlink>
        <a:srgbClr val="954F7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numCol="1" spcCol="228600" rtlCol="0">
        <a:noAutofit/>
      </a:bodyPr>
      <a:lstStyle>
        <a:defPPr marL="228600" indent="-228600" algn="l">
          <a:spcAft>
            <a:spcPts val="500"/>
          </a:spcAft>
          <a:buFont typeface="Arial" panose="020B0604020202020204" pitchFamily="34" charset="0"/>
          <a:buChar char="•"/>
          <a:defRPr sz="1200"/>
        </a:defPPr>
      </a:lstStyle>
    </a:txDef>
  </a:objectDefaults>
  <a:extraClrSchemeLst/>
  <a:extLst>
    <a:ext uri="{05A4C25C-085E-4340-85A3-A5531E510DB2}">
      <thm15:themeFamily xmlns:thm15="http://schemas.microsoft.com/office/thememl/2012/main" name="CanadaLife_PPT_Widescreen_v4" id="{6F2DBD4F-3169-9046-8051-6C880174377F}" vid="{C6DAB6E1-BB97-0945-B1CA-D2BD6B60DABC}"/>
    </a:ext>
  </a:extLst>
</a:theme>
</file>

<file path=ppt/theme/theme3.xml><?xml version="1.0" encoding="utf-8"?>
<a:theme xmlns:a="http://schemas.openxmlformats.org/drawingml/2006/main" name="White">
  <a:themeElements>
    <a:clrScheme name="Scheme1">
      <a:dk1>
        <a:srgbClr val="515349"/>
      </a:dk1>
      <a:lt1>
        <a:srgbClr val="FFFFFF"/>
      </a:lt1>
      <a:dk2>
        <a:srgbClr val="FFFFFF"/>
      </a:dk2>
      <a:lt2>
        <a:srgbClr val="FFFFFF"/>
      </a:lt2>
      <a:accent1>
        <a:srgbClr val="BA0C2F"/>
      </a:accent1>
      <a:accent2>
        <a:srgbClr val="838271"/>
      </a:accent2>
      <a:accent3>
        <a:srgbClr val="0078BD"/>
      </a:accent3>
      <a:accent4>
        <a:srgbClr val="00BDF1"/>
      </a:accent4>
      <a:accent5>
        <a:srgbClr val="862633"/>
      </a:accent5>
      <a:accent6>
        <a:srgbClr val="5F59A2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515349"/>
        </a:dk1>
        <a:lt1>
          <a:srgbClr val="FFFFFF"/>
        </a:lt1>
        <a:dk2>
          <a:srgbClr val="FFFFFF"/>
        </a:dk2>
        <a:lt2>
          <a:srgbClr val="FFFFFF"/>
        </a:lt2>
        <a:accent1>
          <a:srgbClr val="BA0C2F"/>
        </a:accent1>
        <a:accent2>
          <a:srgbClr val="838271"/>
        </a:accent2>
        <a:accent3>
          <a:srgbClr val="0078BD"/>
        </a:accent3>
        <a:accent4>
          <a:srgbClr val="00BDF1"/>
        </a:accent4>
        <a:accent5>
          <a:srgbClr val="862633"/>
        </a:accent5>
        <a:accent6>
          <a:srgbClr val="5F59A2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497D3B"/>
    </a:custClr>
    <a:custClr name="Custom Color7">
      <a:srgbClr val="E2E2DF"/>
    </a:custClr>
  </a:custClrLst>
  <a:extLst>
    <a:ext uri="{05A4C25C-085E-4340-85A3-A5531E510DB2}">
      <thm15:themeFamily xmlns:thm15="http://schemas.microsoft.com/office/thememl/2012/main" name="20240827_Termination Future State_Workshop_vF" id="{A06D6D69-020E-49A6-A12E-644DE06562A2}" vid="{3E032959-9D99-4C85-A2CB-842CCC176EC2}"/>
    </a:ext>
  </a:extLst>
</a:theme>
</file>

<file path=ppt/theme/theme4.xml><?xml version="1.0" encoding="utf-8"?>
<a:theme xmlns:a="http://schemas.openxmlformats.org/drawingml/2006/main" name="2_Office Theme">
  <a:themeElements>
    <a:clrScheme name="Custom 9">
      <a:dk1>
        <a:srgbClr val="515349"/>
      </a:dk1>
      <a:lt1>
        <a:srgbClr val="FFFFFF"/>
      </a:lt1>
      <a:dk2>
        <a:srgbClr val="BA0C2F"/>
      </a:dk2>
      <a:lt2>
        <a:srgbClr val="E2E2DF"/>
      </a:lt2>
      <a:accent1>
        <a:srgbClr val="838271"/>
      </a:accent1>
      <a:accent2>
        <a:srgbClr val="007DC1"/>
      </a:accent2>
      <a:accent3>
        <a:srgbClr val="862633"/>
      </a:accent3>
      <a:accent4>
        <a:srgbClr val="5F59A2"/>
      </a:accent4>
      <a:accent5>
        <a:srgbClr val="00BDF1"/>
      </a:accent5>
      <a:accent6>
        <a:srgbClr val="497D3B"/>
      </a:accent6>
      <a:hlink>
        <a:srgbClr val="0563C1"/>
      </a:hlink>
      <a:folHlink>
        <a:srgbClr val="954F7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numCol="1" spcCol="228600" rtlCol="0">
        <a:noAutofit/>
      </a:bodyPr>
      <a:lstStyle>
        <a:defPPr marL="228600" indent="-228600" algn="l">
          <a:spcAft>
            <a:spcPts val="500"/>
          </a:spcAft>
          <a:buFont typeface="Arial" panose="020B0604020202020204" pitchFamily="34" charset="0"/>
          <a:buChar char="•"/>
          <a:defRPr sz="1200"/>
        </a:defPPr>
      </a:lstStyle>
    </a:txDef>
  </a:objectDefaults>
  <a:extraClrSchemeLst/>
  <a:extLst>
    <a:ext uri="{05A4C25C-085E-4340-85A3-A5531E510DB2}">
      <thm15:themeFamily xmlns:thm15="http://schemas.microsoft.com/office/thememl/2012/main" name="Canada Life" id="{83FECA6D-FBFC-42FC-AC3F-8C5F6EA4A3BD}" vid="{0E4B6146-B41C-4AD3-BCED-DF2BCCD9B058}"/>
    </a:ext>
  </a:extLst>
</a:theme>
</file>

<file path=ppt/theme/theme5.xml><?xml version="1.0" encoding="utf-8"?>
<a:theme xmlns:a="http://schemas.openxmlformats.org/drawingml/2006/main" name="1_Office Theme">
  <a:themeElements>
    <a:clrScheme name="Custom 9">
      <a:dk1>
        <a:srgbClr val="515349"/>
      </a:dk1>
      <a:lt1>
        <a:srgbClr val="FFFFFF"/>
      </a:lt1>
      <a:dk2>
        <a:srgbClr val="BA0C2F"/>
      </a:dk2>
      <a:lt2>
        <a:srgbClr val="E2E2DF"/>
      </a:lt2>
      <a:accent1>
        <a:srgbClr val="838271"/>
      </a:accent1>
      <a:accent2>
        <a:srgbClr val="007DC1"/>
      </a:accent2>
      <a:accent3>
        <a:srgbClr val="862633"/>
      </a:accent3>
      <a:accent4>
        <a:srgbClr val="5F59A2"/>
      </a:accent4>
      <a:accent5>
        <a:srgbClr val="00BDF1"/>
      </a:accent5>
      <a:accent6>
        <a:srgbClr val="497D3B"/>
      </a:accent6>
      <a:hlink>
        <a:srgbClr val="0563C1"/>
      </a:hlink>
      <a:folHlink>
        <a:srgbClr val="954F7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numCol="1" spcCol="228600" rtlCol="0">
        <a:noAutofit/>
      </a:bodyPr>
      <a:lstStyle>
        <a:defPPr marL="228600" indent="-228600" algn="l">
          <a:spcAft>
            <a:spcPts val="500"/>
          </a:spcAft>
          <a:buFont typeface="Arial" panose="020B0604020202020204" pitchFamily="34" charset="0"/>
          <a:buChar char="•"/>
          <a:defRPr sz="1200"/>
        </a:defPPr>
      </a:lstStyle>
    </a:txDef>
  </a:objectDefaults>
  <a:extraClrSchemeLst/>
  <a:extLst>
    <a:ext uri="{05A4C25C-085E-4340-85A3-A5531E510DB2}">
      <thm15:themeFamily xmlns:thm15="http://schemas.microsoft.com/office/thememl/2012/main" name="CanadaLife_PPT_Widescreen_v4" id="{6F2DBD4F-3169-9046-8051-6C880174377F}" vid="{C6DAB6E1-BB97-0945-B1CA-D2BD6B60DABC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6B9DB8-D533-4468-B211-F7FF947954F4}">
  <we:reference id="c3b3159f-c9fe-4860-a4cb-a5d5f254c545" version="9.5.6.7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F5BF3D4589ED4EB85F1FC304733CE9" ma:contentTypeVersion="11" ma:contentTypeDescription="Create a new document." ma:contentTypeScope="" ma:versionID="9a01957f481432195f1f28f331ce03ee">
  <xsd:schema xmlns:xsd="http://www.w3.org/2001/XMLSchema" xmlns:xs="http://www.w3.org/2001/XMLSchema" xmlns:p="http://schemas.microsoft.com/office/2006/metadata/properties" xmlns:ns3="7feefdba-c6d7-42a0-b52c-223d7c6e34c3" targetNamespace="http://schemas.microsoft.com/office/2006/metadata/properties" ma:root="true" ma:fieldsID="7d04f62c4ddb97e101a3674ac00de363" ns3:_="">
    <xsd:import namespace="7feefdba-c6d7-42a0-b52c-223d7c6e34c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efdba-c6d7-42a0-b52c-223d7c6e34c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eefdba-c6d7-42a0-b52c-223d7c6e34c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2F2251-C8F5-4E4A-9085-C1EF4402F54C}">
  <ds:schemaRefs>
    <ds:schemaRef ds:uri="7feefdba-c6d7-42a0-b52c-223d7c6e34c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122C61-147F-4056-A5E1-37F4DBB0052A}">
  <ds:schemaRefs>
    <ds:schemaRef ds:uri="7feefdba-c6d7-42a0-b52c-223d7c6e34c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1858EEC-0583-4ECA-90A4-3B690D9E91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X. CL Template</Template>
  <TotalTime>0</TotalTime>
  <Words>3245</Words>
  <Application>Microsoft Office PowerPoint</Application>
  <PresentationFormat>Widescreen</PresentationFormat>
  <Paragraphs>449</Paragraphs>
  <Slides>30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Aptos</vt:lpstr>
      <vt:lpstr>Arial</vt:lpstr>
      <vt:lpstr>Calibri</vt:lpstr>
      <vt:lpstr>Segoe UI</vt:lpstr>
      <vt:lpstr>Wingdings</vt:lpstr>
      <vt:lpstr>Wingdings 3</vt:lpstr>
      <vt:lpstr>EY-P Widescreen Template 2022</vt:lpstr>
      <vt:lpstr>Office Theme</vt:lpstr>
      <vt:lpstr>White</vt:lpstr>
      <vt:lpstr>2_Office Theme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I3. DR Design</dc:title>
  <dc:creator>Sachin Sagar</dc:creator>
  <cp:lastModifiedBy>Chandrashekar, Santhosh Kumar</cp:lastModifiedBy>
  <cp:revision>2</cp:revision>
  <cp:lastPrinted>2024-12-05T16:58:02Z</cp:lastPrinted>
  <dcterms:created xsi:type="dcterms:W3CDTF">2024-08-09T13:49:42Z</dcterms:created>
  <dcterms:modified xsi:type="dcterms:W3CDTF">2026-09-02T07:35:00Z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0x01010090F5BF3D4589ED4EB85F1FC304733CE9</vt:lpwstr>
  </property>
  <property fmtid="{D5CDD505-2E9C-101B-9397-08002B2CF9AE}" pid="3" name="MediaServiceImageTags">
    <vt:lpwstr/>
  </property>
  <property fmtid="{D5CDD505-2E9C-101B-9397-08002B2CF9AE}" pid="4" name="MSIP_Label_b07bbe84-2447-47ed-9f95-d9c34bc076ba_Name">
    <vt:lpwstr>Confidential</vt:lpwstr>
  </property>
  <property fmtid="{D5CDD505-2E9C-101B-9397-08002B2CF9AE}" pid="5" name="MSIP_Label_b07bbe84-2447-47ed-9f95-d9c34bc076ba_Enabled">
    <vt:lpwstr>true</vt:lpwstr>
  </property>
  <property fmtid="{D5CDD505-2E9C-101B-9397-08002B2CF9AE}" pid="6" name="MSIP_Label_b07bbe84-2447-47ed-9f95-d9c34bc076ba_SetDate">
    <vt:lpwstr>2024-09-27T10:55:17Z</vt:lpwstr>
  </property>
  <property fmtid="{D5CDD505-2E9C-101B-9397-08002B2CF9AE}" pid="7" name="MSIP_Label_b07bbe84-2447-47ed-9f95-d9c34bc076ba_SiteId">
    <vt:lpwstr>633f3069-d670-4419-9fee-2ab4251c88ee</vt:lpwstr>
  </property>
  <property fmtid="{D5CDD505-2E9C-101B-9397-08002B2CF9AE}" pid="8" name="MSIP_Label_b07bbe84-2447-47ed-9f95-d9c34bc076ba_Method">
    <vt:lpwstr>Standard</vt:lpwstr>
  </property>
  <property fmtid="{D5CDD505-2E9C-101B-9397-08002B2CF9AE}" pid="9" name="MSIP_Label_b07bbe84-2447-47ed-9f95-d9c34bc076ba_ContentBits">
    <vt:lpwstr>0</vt:lpwstr>
  </property>
  <property fmtid="{D5CDD505-2E9C-101B-9397-08002B2CF9AE}" pid="10" name="MSIP_Label_b07bbe84-2447-47ed-9f95-d9c34bc076ba_ActionId">
    <vt:lpwstr>82008502-0ea2-48a0-bd7b-cac11b1135da</vt:lpwstr>
  </property>
</Properties>
</file>