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Meeting transcript and Enterprise_Database_Roadmap_Changes_FY27_FY28.xlsx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2E38"/>
                </a:solidFill>
              </a:rPr>
              <a:t>Infrastructure &amp; Operations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A0C2F"/>
                </a:solidFill>
              </a:rPr>
              <a:t>Enterprise Database Services Roadmap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2788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47480"/>
                </a:solidFill>
              </a:rPr>
              <a:t>FY27–FY28 strategic direction, modernization priorities and dependencies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2E38"/>
                </a:solidFill>
              </a:rPr>
              <a:t>October 2026  |  Draft for stakeholder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6355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47480"/>
                </a:solidFill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Status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051560"/>
            <a:ext cx="73152" cy="18745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1978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Status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5544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October 2026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Draft for stakeholder validation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Technology direction, sequencing and investment assumptions remain subject to validation.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05156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05156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1978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Author &amp; contributors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5544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Author: Santhosh Kumar Chandrashekar, Enterprise Architecture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Contributors: Glen Loewen, Rakesh Nair and roadmap stakeholders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05156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051560"/>
            <a:ext cx="73152" cy="187452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1978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26A00"/>
                </a:solidFill>
              </a:rPr>
              <a:t>Review &amp; endorsement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15544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L1: Hani Mousa, Goran Zugic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L2: Charles Lewis, Joe Kitchen, Kaushik Venkatadri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Final endorsement follows closure of key roadmap decisions.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109270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337560"/>
            <a:ext cx="73152" cy="150876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8386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Sign-off conditions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840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NORTH demand and sequencing • Database decision matrix • DB2 disposition • ODS ownership • NFR and security ownership • Funding and delivery assumptions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960120"/>
            <a:ext cx="73152" cy="713232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064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01  Vision and outcomes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463040"/>
            <a:ext cx="4846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901952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1901952"/>
            <a:ext cx="73152" cy="713232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0482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02  Strategic domains and principles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404872"/>
            <a:ext cx="4846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843784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2843784"/>
            <a:ext cx="73152" cy="713232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9900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03  Current-state landscape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346704"/>
            <a:ext cx="4846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785616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785616"/>
            <a:ext cx="73152" cy="713232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931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04  NORTH and program dependencies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288536"/>
            <a:ext cx="4846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727448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4727448"/>
            <a:ext cx="73152" cy="713232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8737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05  Target-state direction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5230368"/>
            <a:ext cx="4846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960120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960120"/>
            <a:ext cx="73152" cy="713232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1064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06  Database decision framework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1463040"/>
            <a:ext cx="4846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1901952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1901952"/>
            <a:ext cx="73152" cy="713232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0482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26A00"/>
                </a:solidFill>
              </a:rPr>
              <a:t>07  Strategic initiatives and sequencing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92240" y="2404872"/>
            <a:ext cx="4846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2843784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2843784"/>
            <a:ext cx="73152" cy="713232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9900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26A00"/>
                </a:solidFill>
              </a:rPr>
              <a:t>08  Decisions and dependencies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92240" y="3346704"/>
            <a:ext cx="4846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785616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3785616"/>
            <a:ext cx="73152" cy="713232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931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26A00"/>
                </a:solidFill>
              </a:rPr>
              <a:t>09  Appendix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92240" y="4288536"/>
            <a:ext cx="4846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Advancing Enterprise Database Maturity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VISION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A0C2F"/>
                </a:solidFill>
              </a:rPr>
              <a:t>Vision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426464"/>
            <a:ext cx="107442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E2E38"/>
                </a:solidFill>
              </a:rPr>
              <a:t>Enable secure, resilient and cost-effective enterprise database services through governed workload placement, managed-service adoption, lifecycle modernization and consistent operational controls.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80360"/>
            <a:ext cx="73152" cy="146304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266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Accelerate time-to-market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Faster governed onboarding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07792" y="288036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07792" y="2880360"/>
            <a:ext cx="73152" cy="146304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30266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Increase service resilience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90672" y="3383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Tiered recovery and testing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75504" y="288036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75504" y="2880360"/>
            <a:ext cx="73152" cy="146304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30266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Strengthen security &amp; compliance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58384" y="3383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Common controls and evidence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43216" y="288036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43216" y="2880360"/>
            <a:ext cx="73152" cy="146304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30266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Enable data and AI workloads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26096" y="3383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Demand-led capabilities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10928" y="288036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10928" y="2880360"/>
            <a:ext cx="73152" cy="146304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93808" y="30266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Reduce operational effort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93808" y="3383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Managed services and automation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Emerging analytical and AI capabilities are enabled where demand, platform ownership, risk and cost are validated.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Services Value Chain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STRATEGY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1737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143000"/>
            <a:ext cx="73152" cy="34747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9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1417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Classify workload and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Apply decision matrix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Confirm SOR ownership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50008" y="1143000"/>
            <a:ext cx="1737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50008" y="1143000"/>
            <a:ext cx="73152" cy="34747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289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PROVISION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32888" y="1645920"/>
            <a:ext cx="1417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Approved service pattern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Policy-controlled onboarding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IaC / self-service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88536" y="1143000"/>
            <a:ext cx="1737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88536" y="1143000"/>
            <a:ext cx="73152" cy="34747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1289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SECURE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71416" y="1645920"/>
            <a:ext cx="1417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RBAC and PAM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Encryption and audit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Residency and evidence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27064" y="1143000"/>
            <a:ext cx="1737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27064" y="1143000"/>
            <a:ext cx="73152" cy="34747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1289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OPERATE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9944" y="1645920"/>
            <a:ext cx="1417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RTO/RPO tier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Monitoring, patching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Recovery testing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65592" y="1143000"/>
            <a:ext cx="1737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65592" y="1143000"/>
            <a:ext cx="73152" cy="347472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1289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26A00"/>
                </a:solidFill>
              </a:rPr>
              <a:t>OPTIMIZE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48472" y="1645920"/>
            <a:ext cx="1417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Capacity and performance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TCO and licence exposure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Retirement savings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04120" y="1143000"/>
            <a:ext cx="1737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104120" y="1143000"/>
            <a:ext cx="73152" cy="34747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87000" y="1289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RETIRE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287000" y="1645920"/>
            <a:ext cx="1417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Exit and archival plan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Dependency validation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Licence reclamation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Key constituents: Database Product Owner • EA/Data Portfolio Architecture • DBA/Engineering • Application Owners • Security • IAM • Data Governance • FinOps • Compliance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I&amp;O Guiding Principles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STRATEGY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00584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152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Managed services first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508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Prefer SaaS/PaaS where compatibility, residency, resilience, support and economics are validated.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00584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00584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152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Cloud appropriate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508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Select hosting based on workload and control requirements, not cloud preference alone.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00584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005840"/>
            <a:ext cx="73152" cy="18745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152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Governed workload placement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1508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Apply approved decision criteria before selecting an engine or service.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29184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38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Automation everywhere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794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Provision, configure, patch and retire through repeatable automation.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29184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0" y="329184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438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Secure and resilient by design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3794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Build service tiers, controls, evidence and recovery testing into every offering.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329184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8160" y="329184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438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Value oriented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3794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Balance velocity, resilience, experience, risk and total cost of ownership.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Strategic Domains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STRATEGY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960120"/>
            <a:ext cx="594360" cy="594360"/>
          </a:xfrm>
          <a:prstGeom prst="ellipse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960120"/>
            <a:ext cx="27432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960120"/>
            <a:ext cx="73152" cy="173736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106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Foundation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4630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Decision framework, approved patterns, ownership and onboarding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960120"/>
            <a:ext cx="594360" cy="594360"/>
          </a:xfrm>
          <a:prstGeom prst="ellipse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20640" y="960120"/>
            <a:ext cx="27432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960120"/>
            <a:ext cx="73152" cy="173736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106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Security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14630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Controls, PAM, residency and evidence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960120"/>
            <a:ext cx="594360" cy="594360"/>
          </a:xfrm>
          <a:prstGeom prst="ellipse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69680" y="960120"/>
            <a:ext cx="27432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69680" y="960120"/>
            <a:ext cx="73152" cy="173736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1106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0" y="14630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Placement, exceptions, lifecycle and data-platform interlocks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291840"/>
            <a:ext cx="594360" cy="594360"/>
          </a:xfrm>
          <a:prstGeom prst="ellipse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71600" y="3291840"/>
            <a:ext cx="27432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71600" y="3291840"/>
            <a:ext cx="73152" cy="173736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34381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Platform &amp; Services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37947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Modernization, ODS assessment and service tiers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3291840"/>
            <a:ext cx="594360" cy="594360"/>
          </a:xfrm>
          <a:prstGeom prst="ellipse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53712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20640" y="3291840"/>
            <a:ext cx="27432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120640" y="3291840"/>
            <a:ext cx="73152" cy="173736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34381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Cost &amp; Optimization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03520" y="37947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TCO, licensing and retirement economics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38160" y="3291840"/>
            <a:ext cx="594360" cy="594360"/>
          </a:xfrm>
          <a:prstGeom prst="ellipse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869680" y="3291840"/>
            <a:ext cx="27432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869680" y="3291840"/>
            <a:ext cx="73152" cy="173736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52560" y="34381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Automation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52560" y="37947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Provisioning lifecycle, policy-as-code and self-service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Focus Areas &amp; Transformation Opportunities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STRATEGY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8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960120"/>
            <a:ext cx="502920" cy="502920"/>
          </a:xfrm>
          <a:prstGeom prst="ellipse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069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914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38"/>
                </a:solidFill>
              </a:rPr>
              <a:t>Governed platform standardization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91440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</a:rPr>
              <a:t>Decision matrix; service classifications; consistent intake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1874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38"/>
                </a:solidFill>
              </a:rPr>
              <a:t>Migration and modernization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187452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</a:rPr>
              <a:t>Managed-service adoption; Evergreen; migration vs modernization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2990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834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38"/>
                </a:solidFill>
              </a:rPr>
              <a:t>Legacy disposition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283464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</a:rPr>
              <a:t>DB2 inventory; eligible migrations; controlled exceptions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794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38"/>
                </a:solidFill>
              </a:rPr>
              <a:t>Resilience, security and compliance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26280" y="379476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</a:rPr>
              <a:t>Service tiers; RTO/RPO; HA/DR; minimum controls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910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4754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E38"/>
                </a:solidFill>
              </a:rPr>
              <a:t>Operating model and automation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26280" y="475488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</a:rPr>
              <a:t>Patterns; reference implementations; service readiness; self-service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AI-native, vector and graph capabilities remain demand-led assessments rather than automatic service commitments.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Current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31272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DADF"/>
                </a:solidFill>
              </a:rPr>
              <a:t>Technology landscape, operational maturity and modernization constraints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FC2C8"/>
                </a:solidFill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Database Landscape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CURRENT STATE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10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05840"/>
          <a:ext cx="10835640" cy="2542032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Current-state position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Roadmap implication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MS SQL Server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On-premises and cloud IaaS coexist with managed SQL services.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Managed services preferred, subject to compatibility, resilience, licensing and cost.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Oracle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19c estate with Exadata services and lifecycle modernization opportunities.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Sequence modernization through Evergreen and approved service direction.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IBM DB2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Long-standing containment with application and ETL dependencies.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Assess migration candidates, retained workloads and any new exception demand.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MongoDB / PostgreSQL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Existing use requires clearer service classification and operating ownership.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Define workload fit, support tier and onboarding through decision matrix.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ODS / specialized stores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Ownership and technology choices remain unresolved.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</a:rPr>
                        <a:t>Resolve operational serving vs transactional state before technology selection.</a:t>
                      </a:r>
                      <a:endParaRPr lang="en-US" sz="10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Current deployment does not automatically constitute an approved enterprise placement pattern.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Capability Maturity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CURRENT STATE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11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960120"/>
            <a:ext cx="73152" cy="16002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064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Platform standardization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463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owner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source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Current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Target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Linked initiatives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47288" y="9601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47288" y="960120"/>
            <a:ext cx="73152" cy="16002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11064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Lifecycle &amp; technical debt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0168" y="1463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owner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source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Current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Target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Linked initiatives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0216" y="9601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0216" y="960120"/>
            <a:ext cx="73152" cy="16002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11064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Cloud / managed adoption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83096" y="1463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owner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source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Current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Target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Linked initiatives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53144" y="9601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53144" y="960120"/>
            <a:ext cx="73152" cy="16002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11064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Automation &amp; self-service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36024" y="1463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owner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source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Current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Target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Linked initiatives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30175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017520"/>
            <a:ext cx="73152" cy="160020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1638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Resilience &amp; DR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owner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source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Current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Target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Linked initiatives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47288" y="30175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47288" y="3017520"/>
            <a:ext cx="73152" cy="160020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31638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Security &amp; compliance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30168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owner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source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Current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Target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Linked initiatives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0216" y="30175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0216" y="3017520"/>
            <a:ext cx="73152" cy="160020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83096" y="31638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Observability &amp; operations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83096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owner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source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Current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Target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Linked initiatives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53144" y="301752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53144" y="3017520"/>
            <a:ext cx="73152" cy="160020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36024" y="31638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Cost / FinOps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336024" y="35204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owner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Evidence source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Current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Target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Linked initiatives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Scores and supporting evidence must be validated with capability owners before the roadmap presents a maturity baseline or target.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with the NORTH Data Platform / Data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DEPENDENCIES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12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960120"/>
            <a:ext cx="3429000" cy="35661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60120"/>
            <a:ext cx="73152" cy="356616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1064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Confirmed boundary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Enterprise Database Services provides governed operational database capabilities and lifecycle services.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NORTH consumes and serves data through approved platform and integration patterns.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960120"/>
            <a:ext cx="3429000" cy="35661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960120"/>
            <a:ext cx="73152" cy="356616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1064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FY27–FY28 interlock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46304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Validate database-service demand.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Define ODS and transactional-state ownership.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Confirm batch, streaming, API and CDC dependencies.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Validate Ab Initio / IDMC constraints.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960120"/>
            <a:ext cx="3429000" cy="35661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960120"/>
            <a:ext cx="73152" cy="356616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1064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26A00"/>
                </a:solidFill>
              </a:rPr>
              <a:t>Pending decisions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146304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ODS technology and operating ownership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MDM, graph and vector boundaries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Approved capability sequencing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Business demand and funding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Roadmap completeness and sequencing remain dependent on validation of NORTH priorities, business demand, approved capabilities and Accenture-supported sequencing during Q4 2026–Q1 2027.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Current-State Insights to Future-Ready Focus Areas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CURRENT STATE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</a:rPr>
              <a:t>MS SQL fragmentation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932688"/>
            <a:ext cx="502920" cy="329184"/>
          </a:xfrm>
          <a:prstGeom prst="chevron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91440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47480"/>
                </a:solidFill>
              </a:rPr>
              <a:t>Managed-service modernization and governed exceptions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7099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</a:rPr>
              <a:t>DB2 containment and dependencies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1728216"/>
            <a:ext cx="502920" cy="329184"/>
          </a:xfrm>
          <a:prstGeom prst="chevron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709928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47480"/>
                </a:solidFill>
              </a:rPr>
              <a:t>Strategic disposition and cross-program planning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5054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</a:rPr>
              <a:t>Oracle lifecycle opportunity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2523744"/>
            <a:ext cx="502920" cy="329184"/>
          </a:xfrm>
          <a:prstGeom prst="chevron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505456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47480"/>
                </a:solidFill>
              </a:rPr>
              <a:t>Evergreen and evidence-based modernization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3009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</a:rPr>
              <a:t>MongoDB / PostgreSQL service ambiguity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3319272"/>
            <a:ext cx="502920" cy="329184"/>
          </a:xfrm>
          <a:prstGeom prst="chevron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30098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47480"/>
                </a:solidFill>
              </a:rPr>
              <a:t>Service classification and placement guidance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096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</a:rPr>
              <a:t>ODS ownership unresolved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4114800"/>
            <a:ext cx="502920" cy="329184"/>
          </a:xfrm>
          <a:prstGeom prst="chevron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4096512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47480"/>
                </a:solidFill>
              </a:rPr>
              <a:t>Decision matrix and data-strategy interlock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4892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</a:rPr>
              <a:t>Ticket-driven provisioning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4910328"/>
            <a:ext cx="502920" cy="329184"/>
          </a:xfrm>
          <a:prstGeom prst="chevron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489204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47480"/>
                </a:solidFill>
              </a:rPr>
              <a:t>Operating model and automation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Target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31272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DADF"/>
                </a:solidFill>
              </a:rPr>
              <a:t>Confirmed direction, conditional capabilities and governed decisions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FC2C8"/>
                </a:solidFill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 for Target State &amp; Expected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TARGET STATE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15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96012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064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Right service for the workload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463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Use data model, transaction pattern, availability, recovery, latency, scale, regulation, compatibility, support and TCO.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9601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96012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1064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Resilient tiered architecture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463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Match RTO, RPO, HA, DR and recovery testing to workload criticality.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9601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96012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1064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Security and governance by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14630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Use policy guardrails, privileged access, encryption, audit, residency and evidence.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29184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29184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438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Cost-transparent operations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Make licensing, consumption and managed-versus-self-managed economics visible.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29184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0" y="3291840"/>
            <a:ext cx="73152" cy="18745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438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Legacy disposition with controlled exceptions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37947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Migrate eligible DB2 workloads and retain justified workloads only with support horizons and exit criteria.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Expected outcomes: cost efficiency • speed to value • reduced operational risk • controlled technical debt • evidence-based maturity uplift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Database Landscape – Proposed Target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TARGET STATE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16</a:t>
            </a:r>
            <a:endParaRPr lang="en-US" sz="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05840"/>
          <a:ext cx="10835640" cy="24963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</a:rPr>
                        <a:t>Confirmed direction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</a:rPr>
                        <a:t>Conditional / pending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MS SQL Server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Managed services preferred over new self-managed cloud IaaS.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Placement across Azure SQL MI, AWS RDS and retained on-premises requires approved criteria.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Oracle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Exadata service direction and supported lifecycle management.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26ai and Autonomous adoption depend on workload fit, business case and Evergreen sequencing.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IBM DB2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Containment and strategic disposition.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Eligible transformation, application replacement or justified residual retention under exception.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MongoDB / PostgreSQL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Existing services remain candidates in the enterprise matrix.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Support tiers, workload fit and operating responsibilities require confirmation.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ODS / graph / vector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Assessment may begin as demand emerges.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 dirty="0">
                          <a:solidFill>
                            <a:srgbClr val="2E2E38"/>
                          </a:solidFill>
                        </a:rPr>
                        <a:t>Technology, ownership, risk and cost decisions remain open.</a:t>
                      </a:r>
                      <a:endParaRPr lang="en-US" sz="10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Target Operating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TARGET STATE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868680"/>
            <a:ext cx="10652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014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</a:rPr>
              <a:t>Consumers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014984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47480"/>
                </a:solidFill>
              </a:rPr>
              <a:t>Application teams • operational data consumers • analytics and BI • AI/ML workloads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1856232"/>
            <a:ext cx="10652760" cy="713232"/>
          </a:xfrm>
          <a:prstGeom prst="roundRect">
            <a:avLst/>
          </a:prstGeom>
          <a:solidFill>
            <a:srgbClr val="FCECE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002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Intake &amp; decision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002536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47480"/>
                </a:solidFill>
              </a:rPr>
              <a:t>Workload classification • database decision matrix • service tier • architecture / exception decision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2843784"/>
            <a:ext cx="10652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990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</a:rPr>
              <a:t>Database service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990088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47480"/>
                </a:solidFill>
              </a:rPr>
              <a:t>Approved relational, non-relational and specialized services with clear classifications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831336"/>
            <a:ext cx="1065276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5D7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77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</a:rPr>
              <a:t>Automation, security &amp; governance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3977640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47480"/>
                </a:solidFill>
              </a:rPr>
              <a:t>Policy-as-code • RBAC/PAM • backup and DR • monitoring • evidence • cost controls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4818888"/>
            <a:ext cx="10652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965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</a:rPr>
              <a:t>Foundation &amp; operations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4965192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47480"/>
                </a:solidFill>
              </a:rPr>
              <a:t>Cloud and on-premises platforms • service owner • runbooks • lifecycle • support model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Enterprise-ready services require ownership, support tiers, provisioning, controls, recovery, monitoring, lifecycle, cost model and operational runbooks.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Work Packages &amp; Sequencing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31272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DADF"/>
                </a:solidFill>
              </a:rPr>
              <a:t>Decision enablement, platform readiness and modernization delivery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FC2C8"/>
                </a:solidFill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Work Packages / Initiatives &amp;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19</a:t>
            </a:r>
            <a:endParaRPr lang="en-US" sz="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22960"/>
          <a:ext cx="10835640" cy="45262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D1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Enterprise database decision matrix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High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Placement criteria and technology classifications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D2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NORTH and ODS database interlock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High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Demand, ownership and integration boundaries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D3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Database NFR and security baseline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High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Service tiers, resilience and minimum controls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D4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ARM database migrations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High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Move database components to approved cloud landing patterns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D5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ARM database modernization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High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Modernize eligible IaaS databases to managed services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D6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DB2 strategic disposition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High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Inventory and determine migrate, replace or retain paths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D7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DBMS Evergreen and Oracle modernization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Medium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Lifecycle currency and evidence-based modernization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D8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ETL / database modernization interlock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Medium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Ab Initio, CDC and IDMC dependency plan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D9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Operating model and automation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Medium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Service readiness, patterns and self-service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D10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AI-native capability assessment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Low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2E2E38"/>
                          </a:solidFill>
                        </a:rPr>
                        <a:t>Demand-led vector and graph assessment</a:t>
                      </a:r>
                      <a:endParaRPr lang="en-US" sz="92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Packages / Initiatives Sequencing (2027–2028)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20</a:t>
            </a:r>
            <a:endParaRPr lang="en-US" sz="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10927080" cy="3291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Workstream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Q4 2026–Q1 2027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Q2 2027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Q3–Q4 2027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2028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Decision framework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Define matrix and classifications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Approve criteria and exception process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Embed into intake and patterns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Review and optimize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NORTH / ODS interlock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Validate demand, ownership and sequencing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Approve boundaries and dependencies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Support prioritized platform demand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Reassess future demand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NFR / security baseline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Draft service tiers and controls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Approve owners and evidence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Implement across offerings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Measure compliance and recovery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DB2 disposition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Resolve CP4BA question; inventory estate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Approve waves and containment rules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Begin eligible transformations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Continue waves and track reduction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Modernization / Evergreen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Confirm dependencies and priorities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Plan managed-service and Oracle waves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Execute modernization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Continue delivery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Operating model / patterns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Identify gaps and readiness criteria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Prioritize patterns and automation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Deliver references and self-service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Expand automation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AI-native capability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Capture use cases only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Define discovery criteria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Assess funded demand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E2E38"/>
                          </a:solidFill>
                        </a:rPr>
                        <a:t>Decision-led adoption if justified</a:t>
                      </a:r>
                      <a:endParaRPr lang="en-US" sz="85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Delivery timing depends on business prioritization, funding, migration feasibility, application readiness and cross-program sequencing.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Scope, Dependencies, Investment Status &amp; Delivery Horizon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21</a:t>
            </a:r>
            <a:endParaRPr lang="en-US" sz="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10972800" cy="288036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</a:rPr>
                        <a:t>Scope / technology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</a:rPr>
                        <a:t>Investment status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</a:rPr>
                        <a:t>Delivery horizon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</a:rPr>
                        <a:t>Key dependency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ARM database migration &amp; modernization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MS SQL, Oracle and related database components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Parent-program / confirm allocation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Extends beyond roadmap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Application readiness and landing patterns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DB2 strategic disposition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DB2 workloads and approved target services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To be assessed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Phased; extends beyond roadmap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Inventory, IBM validation, app and ETL compatibility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DBMS Evergreen / Oracle modernization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Supported database platforms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BAU plus project investment where required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Perpetual / sequenced waves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Vendor lifecycle and workload business case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ETL modernization interlock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Ab Initio, CDC, source DBs and IDMC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Program ownership to confirm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Decision and transition planning in 2027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Compatibility and funded target architecture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NORTH / ODS demand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Operational serving and integration demand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NORTH allocation to confirm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Q4 2026–Q1 2027 validation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Business priority and ownership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Operating model &amp; automation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Provisioning, monitoring, runbooks and self-service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I&amp;O capacity and budget to confirm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2027–2028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2E2E38"/>
                          </a:solidFill>
                        </a:rPr>
                        <a:t>Service owner and readiness backlog</a:t>
                      </a:r>
                      <a:endParaRPr lang="en-US" sz="86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Use consistent fields: funding status • internal effort • vendor investment • delivery horizon • confidence • dependencies.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Assumptions, Dependencies &amp; Decisions Before Sign-off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22</a:t>
            </a:r>
            <a:endParaRPr lang="en-US" sz="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11064240" cy="470916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Decision / input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Required output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D01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NORTH interlock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Validated FY27/28 demand and caveats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Q4 2026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D02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CP4BA DB2 on AWS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ADR with lifecycle and exit criteria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Near-term decision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D03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DB2 migration strategy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Workload inventory and phased plan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Q1 2027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D04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ODS ownership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Approved pattern boundaries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Q1 2027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D05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Ab Initio modernization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Architecture and transition dependencies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Q1 2027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D06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ARM and Bill 64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Demand estimates and funding confidence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Q1 2027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D07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Service NFR and ownership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Service tier baseline and runbooks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Q2 2027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D08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Target architecture sign-off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Governance and decision register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Q2 2027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E2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Appendix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31272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DADF"/>
                </a:solidFill>
              </a:rPr>
              <a:t>Decision criteria, detailed landscapes and assessment frameworks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BFC2C8"/>
                </a:solidFill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Mapping – Validation Required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APPENDIX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24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1060704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E2E38"/>
                </a:solidFill>
              </a:rPr>
              <a:t>Retain this mapping in the appendix until it is validated against the authoritative Canada Life Technology Capability Model.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E2E38"/>
                </a:solidFill>
              </a:rPr>
              <a:t>Use official L1–L3 TBM-aligned capability names; place Canada Life-specific service definitions only at the appropriate lower level.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E2E38"/>
                </a:solidFill>
              </a:rPr>
              <a:t>Separate capabilities from service categories and technology products.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E2E38"/>
                </a:solidFill>
              </a:rPr>
              <a:t>Map roadmap initiatives to approved capabilities after taxonomy validation.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663440"/>
            <a:ext cx="10561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4663440"/>
            <a:ext cx="73152" cy="77724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80974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26A00"/>
                </a:solidFill>
              </a:rPr>
              <a:t>Status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5166360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Capability hierarchy and service-category mapping are working content, not an approved taxonomy.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Capability Maturity – Evidence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APPENDIX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25</a:t>
            </a:r>
            <a:endParaRPr lang="en-US" sz="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10835640" cy="37033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Evidence required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Linked roadmap initiative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Platform standardization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Approved patterns, estate split and exceptions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EA + I&amp;O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Decision matrix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Lifecycle &amp; technical debt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Version and containment inventory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DB Services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Evergreen / DB2 disposition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Managed-service adoption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Workload and platform inventory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I&amp;O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ARM modernization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Automation &amp; self-service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Provisioning and patching evidence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I&amp;O Engineering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Operating model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Resilience &amp; DR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Tier, test and recovery evidence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Support team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NFR baseline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Security &amp; compliance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Control and evidence ownership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Security / IAM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Security baseline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Observability &amp; operations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Monitoring and incident evidence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Operations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Operating model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Cost / FinOps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Licence and TCO evidence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FinOps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2E2E38"/>
                          </a:solidFill>
                        </a:rPr>
                        <a:t>Cost validation</a:t>
                      </a:r>
                      <a:endParaRPr lang="en-US" sz="88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Do not publish precise current or target scores until evidence and capability-owner validation are complete.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Database Landscape – MS SQL Current State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APPENDIX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1078992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E2E38"/>
                </a:solidFill>
              </a:rPr>
              <a:t>On-premises dedicated VM clusters remain in use and are expected to persist beyond the roadmap horizon.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E2E38"/>
                </a:solidFill>
              </a:rPr>
              <a:t>AWS includes self-managed SQL Server on EC2 and managed RDS services.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E2E38"/>
                </a:solidFill>
              </a:rPr>
              <a:t>Azure includes SQL Server on VMs and Azure SQL managed-service options.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E2E38"/>
                </a:solidFill>
              </a:rPr>
              <a:t>Existing deployment is not equivalent to approved future placement.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E2E38"/>
                </a:solidFill>
              </a:rPr>
              <a:t>The decision matrix must consider compatibility, HA/DR, residency, licensing, cost and operational ownership.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Database Landscape – DB2, Oracle, MongoDB &amp; PostgreSQL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APPENDIX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27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960120"/>
            <a:ext cx="260604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60120"/>
            <a:ext cx="73152" cy="41605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106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IBM DB2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On-premises AIX/Linux estate plus an application-specific AWS deployment.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Contained platform with application and ETL dependencies.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Future demand requires explicit exception review.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960120"/>
            <a:ext cx="260604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960120"/>
            <a:ext cx="73152" cy="4160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106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Oracle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146304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On-premises / Exadata estate with Azure direction.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19c lifecycle position is supported.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Future modernization must be sequenced through Evergreen and workload criteria.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60604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60120"/>
            <a:ext cx="73152" cy="416052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106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26A00"/>
                </a:solidFill>
              </a:rPr>
              <a:t>MongoDB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146304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Existing use requires validation of service, workload role, hosting and operating ownership.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Do not equate one current use case with the enterprise pattern.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840" y="960120"/>
            <a:ext cx="2606040" cy="41605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960120"/>
            <a:ext cx="73152" cy="4160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106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9720" y="1463040"/>
            <a:ext cx="2286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AWS RDS PostgreSQL is in the landscape.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Placement, support tier and onboarding rules belong in the enterprise decision matrix.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Database Landscape – MS SQL Target Direction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APPENDIX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28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3832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051560"/>
            <a:ext cx="73152" cy="32461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97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Preferred direction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55448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Use managed SQL services for eligible cloud workloads and avoid new self-managed cloud IaaS where a managed pattern meets requirements.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7408" y="1051560"/>
            <a:ext cx="33832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07408" y="1051560"/>
            <a:ext cx="73152" cy="32461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197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Placement outcomes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0288" y="155448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Azure SQL Managed Instance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AWS RDS for SQL Server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Retained on-premises patterns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Approved exceptions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9016" y="1051560"/>
            <a:ext cx="33832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9016" y="1051560"/>
            <a:ext cx="73152" cy="324612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197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26A00"/>
                </a:solidFill>
              </a:rPr>
              <a:t>Decision criteria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11896" y="155448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Compatibility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Availability and recovery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Residency and security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Licensing and TCO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Operational ownership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SQL Server 2025 should be shown as an Evergreen lifecycle direction subject to support, compatibility and delivery validation.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Database Landscape – Oracle Target Direction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APPENDIX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29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96012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6012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1064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Supported estate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Maintain supported 19c workloads where migration is not yet justified.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96012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96012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1064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Service direction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4630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Use approved Exadata services for qualifying Oracle workloads.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96012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96012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1064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Lifecycle modernization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14630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Assess 26ai through DBMS Evergreen based on compatibility, value, risk and cost.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291840"/>
            <a:ext cx="73152" cy="18745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38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Autonomous capability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794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Use only where workload fit and operating-model benefits are demonstrated.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29184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0" y="3291840"/>
            <a:ext cx="73152" cy="18745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4381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DB2 transformation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3794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Apply only to eligible applications; retain non-transformable workloads under controlled DB2 containment.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Target Operating Model – Detailed 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APPENDIX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30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1737360" cy="37033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143000"/>
            <a:ext cx="73152" cy="37033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89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1. Demand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1417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Business and program requirements, criticality, data classification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1448" y="1143000"/>
            <a:ext cx="1737360" cy="37033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1143000"/>
            <a:ext cx="73152" cy="37033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289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2. Decide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24328" y="1645920"/>
            <a:ext cx="1417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Workload placement matrix, service classification and exception path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1143000"/>
            <a:ext cx="1737360" cy="37033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79976" y="1143000"/>
            <a:ext cx="73152" cy="37033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2856" y="1289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3. Provision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62856" y="1645920"/>
            <a:ext cx="1417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Approved pattern, automated onboarding, CMDB and ownership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18504" y="1143000"/>
            <a:ext cx="1737360" cy="37033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18504" y="1143000"/>
            <a:ext cx="73152" cy="37033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1289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4. Protect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01384" y="1645920"/>
            <a:ext cx="1417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RBAC/PAM, encryption, audit, residency, backup and DR tier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57032" y="1143000"/>
            <a:ext cx="1737360" cy="37033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57032" y="1143000"/>
            <a:ext cx="73152" cy="3703320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9912" y="1289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</a:rPr>
              <a:t>5. Operate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39912" y="1645920"/>
            <a:ext cx="1417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Monitoring, patching, runbooks, capacity and incident management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95560" y="1143000"/>
            <a:ext cx="1737360" cy="37033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7DC"/>
            </a:solidFill>
            <a:prstDash val="solid"/>
          </a:ln>
          <a:effectLst>
            <a:outerShdw blurRad="12700" dist="50800" dir="2700000" algn="bl" rotWithShape="0">
              <a:srgbClr val="AAAAA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195560" y="1143000"/>
            <a:ext cx="73152" cy="3703320"/>
          </a:xfrm>
          <a:prstGeom prst="rect">
            <a:avLst/>
          </a:prstGeom>
          <a:solidFill>
            <a:srgbClr val="245B85"/>
          </a:solidFill>
          <a:ln w="12700">
            <a:solidFill>
              <a:srgbClr val="245B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78440" y="1289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45B85"/>
                </a:solidFill>
              </a:rPr>
              <a:t>6. Optimize / retire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378440" y="1645920"/>
            <a:ext cx="1417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</a:rPr>
              <a:t>TCO, licence optimization, modernization and controlled decommissioning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47480"/>
                </a:solidFill>
              </a:rPr>
              <a:t>Graph and vector capabilities remain conditional and demand-led; DB2 remains under strategic disposition rather than unconditional retirement.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A0C2F"/>
          </a:solidFill>
          <a:ln w="12700">
            <a:solidFill>
              <a:srgbClr val="BA0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A0C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Priorities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0" y="347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747480"/>
                </a:solidFill>
              </a:rPr>
              <a:t>EXECUTIVE 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</a:rPr>
              <a:t>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47480"/>
                </a:solidFill>
              </a:rPr>
              <a:t>31</a:t>
            </a:r>
            <a:endParaRPr lang="en-US" sz="7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777240"/>
          <a:ext cx="11704320" cy="553212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Pain point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Business impact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Domain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Enterprise database decision matrix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High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Inconsistent placement and service classifications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Governed intake and exceptions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Governance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NORTH / ODS database interlock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High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Unresolved ownership and demand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Avoid conflicting platform decisions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Platform &amp; Services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Database NFR / security baseline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High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Inconsistent requirements and evidence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Resilience and compliance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Security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Managed-service modernization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High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Fragmented self-managed patterns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Lower operational overhead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Platform &amp; Services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DB2 strategic disposition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High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Contained legacy estate and new demand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Controlled migration and risk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Cost &amp; Optimization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Evergreen / Oracle modernization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Medium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Lifecycle modernization needs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Supportability and justified value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Platform &amp; Services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Patterns and reference implementations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Medium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Missing implementation guidance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Repeatable delivery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Foundation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Operating-model automation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Medium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Ticket-driven provisioning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Faster service delivery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Automation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ETL / database interlocks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Medium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Compatibility may block change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Reduced migration risk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Governance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AI-native capability assessment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Low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Unvalidated demand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Avoid premature commitment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E2E38"/>
                          </a:solidFill>
                        </a:rPr>
                        <a:t>Platform &amp; Services</a:t>
                      </a:r>
                      <a:endParaRPr lang="en-US" sz="830" dirty="0"/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31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Canada Life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Database Services Roadmap</dc:title>
  <dc:subject>Enterprise Database Services Roadmap FY27-FY28</dc:subject>
  <dc:creator>Chandrashekar, Santhosh Kumar</dc:creator>
  <cp:lastModifiedBy>Chandrashekar, Santhosh Kumar</cp:lastModifiedBy>
  <cp:revision>3</cp:revision>
  <dcterms:created xsi:type="dcterms:W3CDTF">2026-10-21T09:12:03Z</dcterms:created>
  <dcterms:modified xsi:type="dcterms:W3CDTF">2026-10-21T10:12:30Z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7bbe84-2447-47ed-9f95-d9c34bc076ba_Enabled">
    <vt:lpwstr>true</vt:lpwstr>
  </property>
  <property fmtid="{D5CDD505-2E9C-101B-9397-08002B2CF9AE}" pid="3" name="MSIP_Label_b07bbe84-2447-47ed-9f95-d9c34bc076ba_SetDate">
    <vt:lpwstr>2026-10-21T09:14:06Z</vt:lpwstr>
  </property>
  <property fmtid="{D5CDD505-2E9C-101B-9397-08002B2CF9AE}" pid="4" name="MSIP_Label_b07bbe84-2447-47ed-9f95-d9c34bc076ba_Method">
    <vt:lpwstr>Standard</vt:lpwstr>
  </property>
  <property fmtid="{D5CDD505-2E9C-101B-9397-08002B2CF9AE}" pid="5" name="MSIP_Label_b07bbe84-2447-47ed-9f95-d9c34bc076ba_Name">
    <vt:lpwstr>Confidential</vt:lpwstr>
  </property>
  <property fmtid="{D5CDD505-2E9C-101B-9397-08002B2CF9AE}" pid="6" name="MSIP_Label_b07bbe84-2447-47ed-9f95-d9c34bc076ba_SiteId">
    <vt:lpwstr>633f3069-d670-4419-9fee-2ab4251c88ee</vt:lpwstr>
  </property>
  <property fmtid="{D5CDD505-2E9C-101B-9397-08002B2CF9AE}" pid="7" name="MSIP_Label_b07bbe84-2447-47ed-9f95-d9c34bc076ba_ActionId">
    <vt:lpwstr>9d60aab6-70e1-46c0-804f-378a909d09f1</vt:lpwstr>
  </property>
  <property fmtid="{D5CDD505-2E9C-101B-9397-08002B2CF9AE}" pid="8" name="MSIP_Label_b07bbe84-2447-47ed-9f95-d9c34bc076ba_ContentBits">
    <vt:lpwstr>0</vt:lpwstr>
  </property>
  <property fmtid="{D5CDD505-2E9C-101B-9397-08002B2CF9AE}" pid="9" name="MSIP_Label_b07bbe84-2447-47ed-9f95-d9c34bc076ba_Tag">
    <vt:lpwstr>10, 3, 0, 2</vt:lpwstr>
  </property>
</Properties>
</file>