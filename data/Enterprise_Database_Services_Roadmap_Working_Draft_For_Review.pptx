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ags/tag152.xml" ContentType="application/vnd.openxmlformats-officedocument.presentationml.tags+xml"/>
  <Override PartName="/ppt/tags/tag153.xml" ContentType="application/vnd.openxmlformats-officedocument.presentationml.tags+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7FFFFFDE_5BC3D19E.xml" ContentType="application/vnd.ms-powerpoint.comments+xml"/>
  <Override PartName="/ppt/comments/modernComment_7FFFFFDC_361A3D05.xml" ContentType="application/vnd.ms-powerpoint.comments+xml"/>
  <Override PartName="/ppt/comments/modernComment_7FFFFFEC_8B8DEA0C.xml" ContentType="application/vnd.ms-powerpoint.comments+xml"/>
  <Override PartName="/ppt/comments/modernComment_7FFFFFDB_C29B17EF.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7FFFFFDA_C41A335.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4024" r:id="rId6"/>
    <p:sldMasterId id="2147484045" r:id="rId7"/>
    <p:sldMasterId id="2147484060" r:id="rId8"/>
  </p:sldMasterIdLst>
  <p:notesMasterIdLst>
    <p:notesMasterId r:id="rId39"/>
  </p:notesMasterIdLst>
  <p:sldIdLst>
    <p:sldId id="2147483602" r:id="rId9"/>
    <p:sldId id="2147483597" r:id="rId10"/>
    <p:sldId id="2147483608" r:id="rId11"/>
    <p:sldId id="2147483609" r:id="rId12"/>
    <p:sldId id="2147483614" r:id="rId13"/>
    <p:sldId id="2147483613" r:id="rId14"/>
    <p:sldId id="2147483612" r:id="rId15"/>
    <p:sldId id="2147483628" r:id="rId16"/>
    <p:sldId id="2147483611" r:id="rId17"/>
    <p:sldId id="2147483584" r:id="rId18"/>
    <p:sldId id="2147483615" r:id="rId19"/>
    <p:sldId id="2147483616" r:id="rId20"/>
    <p:sldId id="2147483617" r:id="rId21"/>
    <p:sldId id="2147483618" r:id="rId22"/>
    <p:sldId id="2147483622" r:id="rId23"/>
    <p:sldId id="2147483619" r:id="rId24"/>
    <p:sldId id="2147483635" r:id="rId25"/>
    <p:sldId id="2147483621" r:id="rId26"/>
    <p:sldId id="2147483623" r:id="rId27"/>
    <p:sldId id="2147483625" r:id="rId28"/>
    <p:sldId id="2147483624" r:id="rId29"/>
    <p:sldId id="2147483627" r:id="rId30"/>
    <p:sldId id="2147483626" r:id="rId31"/>
    <p:sldId id="2147483595" r:id="rId32"/>
    <p:sldId id="2147483634" r:id="rId33"/>
    <p:sldId id="2147483610" r:id="rId34"/>
    <p:sldId id="2147483630" r:id="rId35"/>
    <p:sldId id="2147483631" r:id="rId36"/>
    <p:sldId id="2147483632" r:id="rId37"/>
    <p:sldId id="2147483633" r:id="rId38"/>
  </p:sldIdLst>
  <p:sldSz cx="12192000" cy="6858000"/>
  <p:notesSz cx="7004050" cy="9290050"/>
  <p:custDataLst>
    <p:tags r:id="rId40"/>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50" userDrawn="1">
          <p15:clr>
            <a:srgbClr val="A4A3A4"/>
          </p15:clr>
        </p15:guide>
        <p15:guide id="2" orient="horz" pos="4042" userDrawn="1">
          <p15:clr>
            <a:srgbClr val="A4A3A4"/>
          </p15:clr>
        </p15:guide>
        <p15:guide id="3" pos="166" userDrawn="1">
          <p15:clr>
            <a:srgbClr val="A4A3A4"/>
          </p15:clr>
        </p15:guide>
        <p15:guide id="4" pos="746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985800-086B-0B26-9039-790680839114}" name="Varawalla, Shamim" initials="VS" userId="S::shamim.varawalla@canadalife.com::bb4b3e17-5bef-40d6-a954-434fcbe8182a" providerId="AD"/>
  <p188:author id="{D9659B02-1549-51CC-294C-4A45BAB934AF}" name="Venkatadri, Kaushik" initials="VK" userId="S::kaushik.venkatadri@canadalife.com::507e3d5f-b488-442e-8e6d-90767e555ee6" providerId="AD"/>
  <p188:author id="{E7E14C09-947E-D627-6EEC-880EFC710BEF}" name="Chandrashekar, Santhosh Kumar" initials="CS" userId="S::santhoshkumar.chandrashekar@canadalife.com::33ddd543-969c-47e7-9de7-a6e3c0b036f2" providerId="AD"/>
  <p188:author id="{54AB9D23-3050-6395-67D6-8126D87AE149}" name="Chandrashekar, Santhosh Kumar" initials="SC" userId="S::SanthoshKumar.Chandrashekar@canadalife.com::33ddd543-969c-47e7-9de7-a6e3c0b036f2" providerId="AD"/>
  <p188:author id="{07226F2C-BBF1-2E73-5429-B840E5F99F10}" name="Varawalla, Shamim" initials="VS" userId="S::Shamim.Varawalla@canadalife.com::bb4b3e17-5bef-40d6-a954-434fcbe8182a" providerId="AD"/>
  <p188:author id="{2226CC32-4625-E88E-F680-52A44C4808B8}" name="Bassett, Jeff" initials="JB" userId="S::Jeff.Bassett@canadalife.com::d4654886-c54c-4d12-b957-9029a28d1c44" providerId="AD"/>
  <p188:author id="{9F47EC35-8066-C244-EF33-120C4BDDB4DF}" name="Haugh, Mhairi" initials="HM" userId="S::mhairi.haugh@canadalife.com::19308c5b-d963-4db0-83be-ed092f923b27" providerId="AD"/>
  <p188:author id="{2C65743B-54AA-C80E-FE2B-44E02C59A2EE}" name="Sagar, Sachin" initials="SS" userId="S::Sachin.Sagar@canadalife.com::4455667c-a27b-439d-96fe-dcbbd42989b6" providerId="AD"/>
  <p188:author id="{85939C49-9FC2-AF71-8858-ADCF6B5D6A34}" name="Laroiya, Tushar" initials="TL" userId="S::Tushar.Laroiya@canadalife.com::3884597f-4f91-440c-ab68-e576263846ac" providerId="AD"/>
  <p188:author id="{B0331150-1052-7BA9-3CD5-B9ABE9D9A0D8}" name="Venkatadri, Kaushik" initials="" userId="S::Kaushik.Venkatadri@canadalife.com::507e3d5f-b488-442e-8e6d-90767e555ee6" providerId="AD"/>
  <p188:author id="{B31A1A53-C77B-15BD-DAE1-7DF83A5B6D9D}" name="Loewen, Glen" initials="GL" userId="S::Glen.Loewen@canadalife.com::2ef9f537-55ec-4477-811e-2e72de9426b5" providerId="AD"/>
  <p188:author id="{A4D75254-E6B0-CDF7-938A-68A6545FDE00}" name="Caruso, Dan" initials="CD" userId="S::dan.caruso@canadalife.com::6cd8c7bf-357b-4593-a01f-083e1efa18c5" providerId="AD"/>
  <p188:author id="{291BF75B-CA50-D6FB-3C2C-A039324CE87A}" name="Rempel, Gord" initials="RG" userId="S::gord.rempel@canadalife.com::53d8bceb-b799-4cb6-aaea-c9175897fdf7" providerId="AD"/>
  <p188:author id="{04997B61-8C70-F2F8-B125-916FA1F5FBBD}" name="Singh, Ashish Deep" initials="AS" userId="S::AshishDeep.Singh@canadalife.com::801a5197-f33d-4ee5-a86c-1f6137e3ebd8" providerId="AD"/>
  <p188:author id="{6451CE62-9D8B-E9C3-114A-6C7DB4895624}" name="Rangwani, Shweta" initials="" userId="S::Shweta.Rangwani@canadalife.com::21ae6fc3-079e-4c46-8796-7fbae64933c6" providerId="AD"/>
  <p188:author id="{02872268-5CB5-E934-903F-009E7174D41F}" name="Kochhar, Prasoon" initials="" userId="S::Prasoon.Kochhar@canadalife.com::ddb32b7c-f9d1-4e51-8128-0236a5afa510" providerId="AD"/>
  <p188:author id="{42B70170-2136-25D0-D056-83E890C90CDD}" name="Harriet, Debbie" initials="" userId="S::Debbie.Harriet@canadalife.com::be688dbb-d007-4c8e-a802-3c4adc5ed671" providerId="AD"/>
  <p188:author id="{98D00081-B044-18A2-FB57-81CD714F3789}" name="Bruchanski, Terinia" initials="BT" userId="S::terinia.bruchanski@canadalife.com::5d202a2c-dfac-4bbc-a9d8-2568859b7861" providerId="AD"/>
  <p188:author id="{44E69D85-6C70-496C-17CB-F421CF938756}" name="Haq, Moazzam" initials="MH" userId="S::Moazzam.Haq@canadalife.com::ebcdbb6d-5d9c-444c-9b61-0ce996728529" providerId="AD"/>
  <p188:author id="{6C895D8B-B78C-AAFA-3A6B-B2395AD77428}" name="Nair, Rakesh" initials="" userId="S::Rakesh.Nair@canadalife.com::8070e9ac-250d-454a-bfe7-9c4d9e94aa96" providerId="AD"/>
  <p188:author id="{78E7B191-E266-1B8F-87E1-B130546D2419}" name="Nair, Rakesh" initials="NR" userId="S::rakesh.nair@canadalife.com::8070e9ac-250d-454a-bfe7-9c4d9e94aa96" providerId="AD"/>
  <p188:author id="{ACF0E3A0-10AB-7F8A-C21C-229F505D0C31}" name="Tompkins, Drew" initials="TD" userId="S::drew.tompkins@canadalife.com::5fe6eec8-64fa-464b-8aab-1c923af06b5d" providerId="AD"/>
  <p188:author id="{364702B4-2B68-C300-84DD-439F353EE71F}" name="James, Alison" initials="AJ" userId="S::Alison.James@canadalife.com::299cfd36-2895-48f6-a50e-d6fa25adb1b0" providerId="AD"/>
  <p188:author id="{C59E05C1-8306-A3A8-69C5-2745E0B2A51D}" name="Haugh, Mhairi" initials="MH" userId="S::Mhairi.Haugh@canadalife.com::19308c5b-d963-4db0-83be-ed092f923b27" providerId="AD"/>
  <p188:author id="{A0AE89C3-82C7-4B6A-5944-23E451E2D0E9}" name="Dev Ghosh" initials="DG" userId="S::Dev.Ghosh@parthenon.ey.com::40e6b782-4947-4ff8-98e4-e41331243699" providerId="AD"/>
  <p188:author id="{C9BAE8C6-2B81-B20F-882D-FD365AA73456}" name="James, Alison" initials="JA" userId="S::alison.james@canadalife.com::299cfd36-2895-48f6-a50e-d6fa25adb1b0" providerId="AD"/>
  <p188:author id="{4274E7D4-145F-003F-60FB-0AE7D1781563}" name="Khan, Urooj" initials="KU" userId="S::urooj.khan@canadalife.com::c4c10e43-875b-4366-a7a3-71c462862334" providerId="AD"/>
  <p188:author id="{25B83BD5-1FC8-0D2D-F6CA-11F26F792CE1}" name="Harriet, Debbie" initials="HD" userId="S::debbie.harriet@canadalife.com::be688dbb-d007-4c8e-a802-3c4adc5ed671" providerId="AD"/>
  <p188:author id="{F89D28E7-763E-26FD-C7D4-94E93CC3CC7A}" name="Caruso, Dan" initials="DC" userId="S::Dan.Caruso@canadalife.com::6cd8c7bf-357b-4593-a01f-083e1efa18c5" providerId="AD"/>
  <p188:author id="{A256A5E9-6520-AB5C-B6D3-B9889DFB9156}" name="Singh, Harjot (OCIO)" initials="" userId="S::Harjot.Singh@canadalife.com::aa284084-3f3c-4b29-91fc-54a0819acf76" providerId="AD"/>
  <p188:author id="{6E4D6AF5-F032-D07E-A799-E087948866CC}" name="Mudgil, Ruhi" initials="RM" userId="S::Ruhi.Mudgil@canadalife.com::11c5fdf3-67eb-4ce4-addf-9bd1059f5981" providerId="AD"/>
  <p188:author id="{9D9127F6-C6B8-9372-92BC-D73D56527D9C}" name="Khan, Urooj" initials="UK" userId="S::Urooj.Khan@canadalife.com::c4c10e43-875b-4366-a7a3-71c462862334" providerId="AD"/>
  <p188:author id="{8B597DF9-E2F4-2859-1BBD-F8F32E37FE7F}" name="Tompkins, Drew" initials="DT" userId="S::Drew.Tompkins@canadalife.com::5fe6eec8-64fa-464b-8aab-1c923af06b5d" providerId="AD"/>
  <p188:author id="{988B63FD-84DC-437D-CA1D-AB35886BE6DF}" name="Tran, Han" initials="HT" userId="S::Han.Tran@canadalife.com::bc7537e5-71c1-4515-993e-ff9a95e4f4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CD2"/>
    <a:srgbClr val="BA0C2F"/>
    <a:srgbClr val="000000"/>
    <a:srgbClr val="F2DDAC"/>
    <a:srgbClr val="E0DDC5"/>
    <a:srgbClr val="D9D9D9"/>
    <a:srgbClr val="FFFFFF"/>
    <a:srgbClr val="E61E1E"/>
    <a:srgbClr val="F2F2F2"/>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61B837-0AB3-4B9A-98CB-5558A6C4535F}" v="445" dt="2026-09-02T07:34:59.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194" y="726"/>
      </p:cViewPr>
      <p:guideLst>
        <p:guide orient="horz" pos="550"/>
        <p:guide orient="horz" pos="4042"/>
        <p:guide pos="166"/>
        <p:guide pos="746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microsoft.com/office/2018/10/relationships/authors" Target="authors.xml"/><Relationship Id="rId20" Type="http://schemas.openxmlformats.org/officeDocument/2006/relationships/slide" Target="slides/slide12.xml"/><Relationship Id="rId41"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dirty="0"/>
              <a:t>Current vs. Target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radarChart>
        <c:radarStyle val="marker"/>
        <c:varyColors val="0"/>
        <c:ser>
          <c:idx val="0"/>
          <c:order val="0"/>
          <c:tx>
            <c:strRef>
              <c:f>Sheet1!$B$1</c:f>
              <c:strCache>
                <c:ptCount val="1"/>
                <c:pt idx="0">
                  <c:v>Current State</c:v>
                </c:pt>
              </c:strCache>
            </c:strRef>
          </c:tx>
          <c:spPr>
            <a:ln w="28575" cap="rnd">
              <a:solidFill>
                <a:schemeClr val="tx1"/>
              </a:solidFill>
              <a:round/>
            </a:ln>
            <a:effectLst/>
          </c:spPr>
          <c:marker>
            <c:symbol val="circle"/>
            <c:size val="5"/>
            <c:spPr>
              <a:solidFill>
                <a:schemeClr val="tx1"/>
              </a:solidFill>
              <a:ln w="9525">
                <a:solidFill>
                  <a:schemeClr val="tx1"/>
                </a:solidFill>
              </a:ln>
              <a:effectLst/>
            </c:spPr>
          </c:marker>
          <c:cat>
            <c:strRef>
              <c:f>Sheet1!$A$2:$A$9</c:f>
              <c:strCache>
                <c:ptCount val="8"/>
                <c:pt idx="0">
                  <c:v>Platform Standardization</c:v>
                </c:pt>
                <c:pt idx="1">
                  <c:v>Lifecycle &amp; Technical Debt</c:v>
                </c:pt>
                <c:pt idx="2">
                  <c:v>Cloud/Managed Adoption</c:v>
                </c:pt>
                <c:pt idx="3">
                  <c:v>Automation &amp; Self-Service</c:v>
                </c:pt>
                <c:pt idx="4">
                  <c:v>Resilience &amp; DR</c:v>
                </c:pt>
                <c:pt idx="5">
                  <c:v>Security &amp; Compliance</c:v>
                </c:pt>
                <c:pt idx="6">
                  <c:v>Observability &amp; Ops</c:v>
                </c:pt>
                <c:pt idx="7">
                  <c:v>Cost / FinOps</c:v>
                </c:pt>
              </c:strCache>
            </c:strRef>
          </c:cat>
          <c:val>
            <c:numRef>
              <c:f>Sheet1!$B$2:$B$9</c:f>
              <c:numCache>
                <c:formatCode>General</c:formatCode>
                <c:ptCount val="8"/>
                <c:pt idx="0">
                  <c:v>3</c:v>
                </c:pt>
                <c:pt idx="1">
                  <c:v>3</c:v>
                </c:pt>
                <c:pt idx="2">
                  <c:v>3</c:v>
                </c:pt>
                <c:pt idx="3">
                  <c:v>3</c:v>
                </c:pt>
                <c:pt idx="4">
                  <c:v>3</c:v>
                </c:pt>
                <c:pt idx="5">
                  <c:v>3</c:v>
                </c:pt>
                <c:pt idx="6">
                  <c:v>3</c:v>
                </c:pt>
                <c:pt idx="7">
                  <c:v>3</c:v>
                </c:pt>
              </c:numCache>
            </c:numRef>
          </c:val>
          <c:extLst>
            <c:ext xmlns:c16="http://schemas.microsoft.com/office/drawing/2014/chart" uri="{C3380CC4-5D6E-409C-BE32-E72D297353CC}">
              <c16:uniqueId val="{00000000-A2CB-4EF1-AA7A-F8FBB4632FC9}"/>
            </c:ext>
          </c:extLst>
        </c:ser>
        <c:ser>
          <c:idx val="1"/>
          <c:order val="1"/>
          <c:tx>
            <c:strRef>
              <c:f>Sheet1!$C$1</c:f>
              <c:strCache>
                <c:ptCount val="1"/>
                <c:pt idx="0">
                  <c:v>Target State</c:v>
                </c:pt>
              </c:strCache>
            </c:strRef>
          </c:tx>
          <c:spPr>
            <a:ln w="28575" cap="rnd">
              <a:solidFill>
                <a:srgbClr val="C00000"/>
              </a:solidFill>
              <a:round/>
            </a:ln>
            <a:effectLst/>
          </c:spPr>
          <c:marker>
            <c:symbol val="circle"/>
            <c:size val="5"/>
            <c:spPr>
              <a:solidFill>
                <a:srgbClr val="C00000"/>
              </a:solidFill>
              <a:ln w="9525">
                <a:solidFill>
                  <a:srgbClr val="C00000"/>
                </a:solidFill>
              </a:ln>
              <a:effectLst/>
            </c:spPr>
          </c:marker>
          <c:cat>
            <c:strRef>
              <c:f>Sheet1!$A$2:$A$9</c:f>
              <c:strCache>
                <c:ptCount val="8"/>
                <c:pt idx="0">
                  <c:v>Platform Standardization</c:v>
                </c:pt>
                <c:pt idx="1">
                  <c:v>Lifecycle &amp; Technical Debt</c:v>
                </c:pt>
                <c:pt idx="2">
                  <c:v>Cloud/Managed Adoption</c:v>
                </c:pt>
                <c:pt idx="3">
                  <c:v>Automation &amp; Self-Service</c:v>
                </c:pt>
                <c:pt idx="4">
                  <c:v>Resilience &amp; DR</c:v>
                </c:pt>
                <c:pt idx="5">
                  <c:v>Security &amp; Compliance</c:v>
                </c:pt>
                <c:pt idx="6">
                  <c:v>Observability &amp; Ops</c:v>
                </c:pt>
                <c:pt idx="7">
                  <c:v>Cost / FinOps</c:v>
                </c:pt>
              </c:strCache>
            </c:strRef>
          </c:cat>
          <c:val>
            <c:numRef>
              <c:f>Sheet1!$C$2:$C$9</c:f>
              <c:numCache>
                <c:formatCode>General</c:formatCode>
                <c:ptCount val="8"/>
                <c:pt idx="0">
                  <c:v>5</c:v>
                </c:pt>
                <c:pt idx="1">
                  <c:v>5</c:v>
                </c:pt>
                <c:pt idx="2">
                  <c:v>4</c:v>
                </c:pt>
                <c:pt idx="3">
                  <c:v>5</c:v>
                </c:pt>
                <c:pt idx="4">
                  <c:v>4</c:v>
                </c:pt>
                <c:pt idx="5">
                  <c:v>5</c:v>
                </c:pt>
                <c:pt idx="6">
                  <c:v>4</c:v>
                </c:pt>
                <c:pt idx="7">
                  <c:v>5</c:v>
                </c:pt>
              </c:numCache>
            </c:numRef>
          </c:val>
          <c:extLst>
            <c:ext xmlns:c16="http://schemas.microsoft.com/office/drawing/2014/chart" uri="{C3380CC4-5D6E-409C-BE32-E72D297353CC}">
              <c16:uniqueId val="{00000001-A2CB-4EF1-AA7A-F8FBB4632FC9}"/>
            </c:ext>
          </c:extLst>
        </c:ser>
        <c:dLbls>
          <c:showLegendKey val="0"/>
          <c:showVal val="0"/>
          <c:showCatName val="0"/>
          <c:showSerName val="0"/>
          <c:showPercent val="0"/>
          <c:showBubbleSize val="0"/>
        </c:dLbls>
        <c:axId val="1695619024"/>
        <c:axId val="1325755471"/>
      </c:radarChart>
      <c:catAx>
        <c:axId val="1695619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25755471"/>
        <c:crosses val="autoZero"/>
        <c:auto val="1"/>
        <c:lblAlgn val="ctr"/>
        <c:lblOffset val="100"/>
        <c:noMultiLvlLbl val="0"/>
      </c:catAx>
      <c:valAx>
        <c:axId val="13257554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95619024"/>
        <c:crosses val="autoZero"/>
        <c:crossBetween val="between"/>
      </c:valAx>
      <c:spPr>
        <a:noFill/>
        <a:ln>
          <a:noFill/>
        </a:ln>
        <a:effectLst/>
      </c:spPr>
    </c:plotArea>
    <c:legend>
      <c:legendPos val="t"/>
      <c:layout>
        <c:manualLayout>
          <c:xMode val="edge"/>
          <c:yMode val="edge"/>
          <c:x val="0.18717177071200911"/>
          <c:y val="0.10461138775727012"/>
          <c:w val="0.61458449572125007"/>
          <c:h val="6.20902250250277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FFFFFDA_C41A335.xml><?xml version="1.0" encoding="utf-8"?>
<p188:cmLst xmlns:a="http://schemas.openxmlformats.org/drawingml/2006/main" xmlns:r="http://schemas.openxmlformats.org/officeDocument/2006/relationships" xmlns:p188="http://schemas.microsoft.com/office/powerpoint/2018/8/main">
  <p188:cm id="{018A0CB5-2690-483C-A6DE-8073165E98B8}" authorId="{E7E14C09-947E-D627-6EEC-880EFC710BEF}" created="2026-08-24T14:53:47.918" startDate="2026-08-24T14:53:47.918" dueDate="2026-08-24T14:53:47.918" assignedTo="{6C895D8B-B78C-AAFA-3A6B-B2395AD77428}" title="@Nair, Rakesh L1 to L3 section does not appear to align with the actual TBM capabilities. I'll move it to the appendix for now. You can get this sorted out in the meantime.">
    <ac:deMkLst xmlns:ac="http://schemas.microsoft.com/office/drawing/2013/main/command">
      <pc:docMk xmlns:pc="http://schemas.microsoft.com/office/powerpoint/2013/main/command"/>
      <pc:sldMk xmlns:pc="http://schemas.microsoft.com/office/powerpoint/2013/main/command" cId="205628213" sldId="2147483610"/>
      <ac:spMk id="3" creationId="{F29AA31C-1ACC-95CE-3B44-E7B7A6096DAB}"/>
    </ac:deMkLst>
    <p188:replyLst>
      <p188:reply id="{8872FC8F-36EA-479C-AA44-EF65C625ACC0}" authorId="{78E7B191-E266-1B8F-87E1-B130546D2419}" created="2026-08-28T16:41:06.536">
        <p188:txBody>
          <a:bodyPr/>
          <a:lstStyle/>
          <a:p>
            <a:r>
              <a:rPr lang="en-US"/>
              <a:t>[@Chandrashekar, Santhosh Kumar]  Agreed. The capability hierarchy should use the official Canada Life TBM taxonomy for L1–L3. I’ll validate the mapping against the authoritative TBM model and only use Canada Life-specific service definitions at the appropriate lower level. Moving the current version to the appendix is appropriate until that validation is complete.</a:t>
            </a:r>
          </a:p>
        </p188:txBody>
      </p188:reply>
    </p188:replyLst>
    <p188:txBody>
      <a:bodyPr/>
      <a:lstStyle/>
      <a:p>
        <a:r>
          <a:rPr lang="en-US"/>
          <a:t>[@Nair, Rakesh] L1 to L3 section does not appear to align with the actual TBM capabilities. I'll move it to the appendix for now. You can get this sorted out in the meantime.</a:t>
        </a:r>
      </a:p>
    </p188:txBody>
    <p188:extLst>
      <p:ext xmlns:p="http://schemas.openxmlformats.org/presentationml/2006/main" uri="{5BB2D875-25FF-4072-B9AC-8F64D62656EB}">
        <p228:taskDetails xmlns:p228="http://schemas.microsoft.com/office/powerpoint/2022/08/main">
          <p228:history>
            <p228:event time="2026-08-24T14:53:47.918" id="{E0BC964D-74D0-4105-818B-C7E2CCCE549A}">
              <p228:atrbtn authorId="{E7E14C09-947E-D627-6EEC-880EFC710BEF}"/>
              <p228:anchr>
                <p228:comment id="{018A0CB5-2690-483C-A6DE-8073165E98B8}"/>
              </p228:anchr>
              <p228:add/>
            </p228:event>
            <p228:event time="2026-08-24T14:53:47.918" id="{7F29BB87-C3EB-4317-BAF0-ECAA9802A47C}">
              <p228:atrbtn authorId="{E7E14C09-947E-D627-6EEC-880EFC710BEF}"/>
              <p228:anchr>
                <p228:comment id="{018A0CB5-2690-483C-A6DE-8073165E98B8}"/>
              </p228:anchr>
              <p228:asgn authorId="{6C895D8B-B78C-AAFA-3A6B-B2395AD77428}"/>
            </p228:event>
            <p228:event time="2026-08-24T14:53:47.918" id="{A47EDB15-766F-434B-9208-EE146BD677AA}">
              <p228:atrbtn authorId="{E7E14C09-947E-D627-6EEC-880EFC710BEF}"/>
              <p228:anchr>
                <p228:comment id="{018A0CB5-2690-483C-A6DE-8073165E98B8}"/>
              </p228:anchr>
              <p228:title val="@Nair, Rakesh L1 to L3 section does not appear to align with the actual TBM capabilities. I'll move it to the appendix for now. You can get this sorted out in the meantime."/>
            </p228:event>
            <p228:event time="2026-08-24T14:53:47.918" id="{EFFD1CF3-CAE6-498B-80AD-A6D395277917}">
              <p228:atrbtn authorId="{E7E14C09-947E-D627-6EEC-880EFC710BEF}"/>
              <p228:anchr>
                <p228:comment id="{018A0CB5-2690-483C-A6DE-8073165E98B8}"/>
              </p228:anchr>
              <p228:date stDt="2026-08-24T14:53:47.918" endDt="2026-08-24T14:53:47.918"/>
            </p228:event>
          </p228:history>
        </p228:taskDetails>
      </p:ext>
    </p188:extLst>
  </p188:cm>
</p188:cmLst>
</file>

<file path=ppt/comments/modernComment_7FFFFFDB_C29B17EF.xml><?xml version="1.0" encoding="utf-8"?>
<p188:cmLst xmlns:a="http://schemas.openxmlformats.org/drawingml/2006/main" xmlns:r="http://schemas.openxmlformats.org/officeDocument/2006/relationships" xmlns:p188="http://schemas.microsoft.com/office/powerpoint/2018/8/main">
  <p188:cm id="{E3808CA6-A0E3-44D0-93BD-9282B313ABF1}" authorId="{E7E14C09-947E-D627-6EEC-880EFC710BEF}" created="2026-08-24T14:44:37.524">
    <ac:deMkLst xmlns:ac="http://schemas.microsoft.com/office/drawing/2013/main/command">
      <pc:docMk xmlns:pc="http://schemas.microsoft.com/office/powerpoint/2013/main/command"/>
      <pc:sldMk xmlns:pc="http://schemas.microsoft.com/office/powerpoint/2013/main/command" cId="3264944111" sldId="2147483611"/>
      <ac:spMk id="3" creationId="{5CCFC663-025C-24D6-B404-03302A2E1511}"/>
    </ac:deMkLst>
    <p188:replyLst>
      <p188:reply id="{97CF734F-7106-4D39-B0C8-CBBE126E5AF6}" authorId="{78E7B191-E266-1B8F-87E1-B130546D2419}" created="2026-08-28T16:39:01.740">
        <p188:txBody>
          <a:bodyPr/>
          <a:lstStyle/>
          <a:p>
            <a:r>
              <a:rPr lang="en-US"/>
              <a:t>[@Chandrashekar, Santhosh Kumar] Agreed. I’ll update this section so it reflects the broader Canada Life Data Strategy, not only the NORTH platform view. I’ll also clarify the boundary between Enterprise Database Services and NORTH: operational/system-of-record database responsibilities remain with the appropriate database/application platforms, while NORTH consumes data through approved ingestion patterns and provides governed analytical/data-product capabilities. Any ownership of ODS, MDM, graph, vector or similar specialized capabilities will only be stated where it is explicitly defined in the approved target architecture.</a:t>
            </a:r>
          </a:p>
        </p188:txBody>
      </p188:reply>
    </p188:replyLst>
    <p188:txBody>
      <a:bodyPr/>
      <a:lstStyle/>
      <a:p>
        <a:r>
          <a:rPr lang="en-US"/>
          <a:t>[@Nair, Rakesh] - please review and update this deck to align with the CL Data Strategy. I have used content from the North Data Platform document you shared earlier, but I'm not sure of the accuracy and I believe the deck should also reflect the broader data strategy.</a:t>
        </a:r>
      </a:p>
    </p188:txBody>
  </p188:cm>
</p188:cmLst>
</file>

<file path=ppt/comments/modernComment_7FFFFFDC_361A3D05.xml><?xml version="1.0" encoding="utf-8"?>
<p188:cmLst xmlns:a="http://schemas.openxmlformats.org/drawingml/2006/main" xmlns:r="http://schemas.openxmlformats.org/officeDocument/2006/relationships" xmlns:p188="http://schemas.microsoft.com/office/powerpoint/2018/8/main">
  <p188:cm id="{8A00A083-F09F-4700-97D0-16F5335BE2AB}" authorId="{B31A1A53-C77B-15BD-DAE1-7DF83A5B6D9D}" created="2026-08-19T19:30:46.480">
    <ac:txMkLst xmlns:ac="http://schemas.microsoft.com/office/drawing/2013/main/command">
      <pc:docMk xmlns:pc="http://schemas.microsoft.com/office/powerpoint/2013/main/command"/>
      <pc:sldMk xmlns:pc="http://schemas.microsoft.com/office/powerpoint/2013/main/command" cId="907689221" sldId="2147483612"/>
      <ac:spMk id="53" creationId="{AC94FAB9-A1BE-8A02-F23B-5251083A7417}"/>
      <ac:txMk cp="15" len="16">
        <ac:context len="71" hash="3700755006"/>
      </ac:txMk>
    </ac:txMkLst>
    <p188:pos x="2529840" y="434702"/>
    <p188:replyLst>
      <p188:reply id="{CA4B712B-D0FD-4FB0-86D5-2B3585A44670}" authorId="{78E7B191-E266-1B8F-87E1-B130546D2419}" created="2026-08-28T16:28:21.382">
        <p188:txBody>
          <a:bodyPr/>
          <a:lstStyle/>
          <a:p>
            <a:r>
              <a:rPr lang="en-US"/>
              <a:t>@Loewen, Glen Agreed. Adding “Operational” makes the scope clearer since this domain is intended to cover both infrastructure and ongoing operational cost optimization, in addition to licensing and capacity considerations.</a:t>
            </a:r>
          </a:p>
        </p188:txBody>
      </p188:reply>
    </p188:replyLst>
    <p188:txBody>
      <a:bodyPr/>
      <a:lstStyle/>
      <a:p>
        <a:r>
          <a:rPr lang="en-CA"/>
          <a:t>Added “Operational” for cost optimization</a:t>
        </a:r>
      </a:p>
    </p188:txBody>
  </p188:cm>
</p188:cmLst>
</file>

<file path=ppt/comments/modernComment_7FFFFFDE_5BC3D19E.xml><?xml version="1.0" encoding="utf-8"?>
<p188:cmLst xmlns:a="http://schemas.openxmlformats.org/drawingml/2006/main" xmlns:r="http://schemas.openxmlformats.org/officeDocument/2006/relationships" xmlns:p188="http://schemas.microsoft.com/office/powerpoint/2018/8/main">
  <p188:cm id="{A36790C1-D05A-4187-8AE8-0A0C23CE2246}" authorId="{B31A1A53-C77B-15BD-DAE1-7DF83A5B6D9D}" created="2026-08-19T19:29:30.102">
    <ac:txMkLst xmlns:ac="http://schemas.microsoft.com/office/drawing/2013/main/command">
      <pc:docMk xmlns:pc="http://schemas.microsoft.com/office/powerpoint/2013/main/command"/>
      <pc:sldMk xmlns:pc="http://schemas.microsoft.com/office/powerpoint/2013/main/command" cId="1539559838" sldId="2147483614"/>
      <ac:spMk id="84" creationId="{E303EEAC-6223-1E67-ED2E-2ED8B1FCE48B}"/>
      <ac:txMk cp="42" len="35">
        <ac:context len="78" hash="987211799"/>
      </ac:txMk>
    </ac:txMkLst>
    <p188:pos x="1517904" y="1343152"/>
    <p188:replyLst>
      <p188:reply id="{F49B9382-1C24-4961-8BD1-E27E352EA14C}" authorId="{78E7B191-E266-1B8F-87E1-B130546D2419}" created="2026-08-28T16:28:01.054">
        <p188:txBody>
          <a:bodyPr/>
          <a:lstStyle/>
          <a:p>
            <a:r>
              <a:rPr lang="en-US"/>
              <a:t>[@Loewen, Glen]  Agreed. I’m aligned with removing database masking/classification from this lifecycle view and retaining Principle of Least Privilege (PoLP) under Secure. Masking/classification can continue to be addressed through the appropriate enterprise data security/governance capabilities rather than being represented here as a core database lifecycle activity.</a:t>
            </a:r>
          </a:p>
        </p188:txBody>
      </p188:reply>
    </p188:replyLst>
    <p188:txBody>
      <a:bodyPr/>
      <a:lstStyle/>
      <a:p>
        <a:r>
          <a:rPr lang="en-CA"/>
          <a:t>Removed Database masking and classification but added PoLP. </a:t>
        </a:r>
      </a:p>
    </p188:txBody>
  </p188:cm>
</p188:cmLst>
</file>

<file path=ppt/comments/modernComment_7FFFFFEC_8B8DEA0C.xml><?xml version="1.0" encoding="utf-8"?>
<p188:cmLst xmlns:a="http://schemas.openxmlformats.org/drawingml/2006/main" xmlns:r="http://schemas.openxmlformats.org/officeDocument/2006/relationships" xmlns:p188="http://schemas.microsoft.com/office/powerpoint/2018/8/main">
  <p188:cm id="{FCB0C64C-D8B7-4ADD-93E8-AF93DD21EEC7}" authorId="{B31A1A53-C77B-15BD-DAE1-7DF83A5B6D9D}" created="2026-08-19T19:28:07.681">
    <ac:txMkLst xmlns:ac="http://schemas.microsoft.com/office/drawing/2013/main/command">
      <pc:docMk xmlns:pc="http://schemas.microsoft.com/office/powerpoint/2013/main/command"/>
      <pc:sldMk xmlns:pc="http://schemas.microsoft.com/office/powerpoint/2013/main/command" cId="2341333516" sldId="2147483628"/>
      <ac:spMk id="83" creationId="{1781EA45-2961-CF56-B460-9A0F0FD890CC}"/>
      <ac:txMk cp="74" len="20">
        <ac:context len="95" hash="1371617300"/>
      </ac:txMk>
    </ac:txMkLst>
    <p188:pos x="3747008" y="568816"/>
    <p188:replyLst>
      <p188:reply id="{F6DACC88-AFC8-49B0-8343-AB0A7ABC89C6}" authorId="{78E7B191-E266-1B8F-87E1-B130546D2419}" created="2026-08-28T16:29:17.382">
        <p188:txBody>
          <a:bodyPr/>
          <a:lstStyle/>
          <a:p>
            <a:r>
              <a:rPr lang="en-US"/>
              <a:t>[@Loewen, Glen] Agreed. We should update the product reference to Oracle Database 26ai to reflect the current Oracle naming and the AI capabilities being referenced in the roadmap.</a:t>
            </a:r>
          </a:p>
        </p188:txBody>
      </p188:reply>
    </p188:replyLst>
    <p188:txBody>
      <a:bodyPr/>
      <a:lstStyle/>
      <a:p>
        <a:r>
          <a:rPr lang="en-CA"/>
          <a:t>Added this statement in an effort to indicate that retiring DB2 could mean Apps with dependency of DB2 can change, or backend can change to Oracle. </a:t>
        </a:r>
      </a:p>
    </p188:txBody>
  </p188:cm>
  <p188:cm id="{01C228A3-6842-4325-9475-79B110422791}" authorId="{B31A1A53-C77B-15BD-DAE1-7DF83A5B6D9D}" created="2026-08-21T20:12:23.071">
    <ac:txMkLst xmlns:ac="http://schemas.microsoft.com/office/drawing/2013/main/command">
      <pc:docMk xmlns:pc="http://schemas.microsoft.com/office/powerpoint/2013/main/command"/>
      <pc:sldMk xmlns:pc="http://schemas.microsoft.com/office/powerpoint/2013/main/command" cId="2341333516" sldId="2147483628"/>
      <ac:spMk id="93" creationId="{A9C1428C-8626-EF2A-6265-F6F27A60F72E}"/>
      <ac:txMk cp="71" len="31">
        <ac:context len="103" hash="4279465336"/>
      </ac:txMk>
    </ac:txMkLst>
    <p188:pos x="4224528" y="564608"/>
    <p188:replyLst>
      <p188:reply id="{EE31235B-AB18-4567-A953-94ED0927F702}" authorId="{E7E14C09-947E-D627-6EEC-880EFC710BEF}" created="2026-08-24T14:48:21.057">
        <p188:txBody>
          <a:bodyPr/>
          <a:lstStyle/>
          <a:p>
            <a:r>
              <a:rPr lang="en-US"/>
              <a:t>[@Nair, Rakesh] I referenced this from the North Data Platform document. Please review and confirm that it aligns with what Glen has mentioned.</a:t>
            </a:r>
          </a:p>
        </p188:txBody>
      </p188:reply>
      <p188:reply id="{16C16D69-A7FF-4601-AD36-345F9A49EEE9}" authorId="{78E7B191-E266-1B8F-87E1-B130546D2419}" created="2026-08-28T16:30:15.163">
        <p188:txBody>
          <a:bodyPr/>
          <a:lstStyle/>
          <a:p>
            <a:r>
              <a:rPr lang="en-US"/>
              <a:t>[@Chandrashekar, Santhosh Kumar]  This is fine.</a:t>
            </a:r>
          </a:p>
        </p188:txBody>
      </p188:reply>
    </p188:replyLst>
    <p188:txBody>
      <a:bodyPr/>
      <a:lstStyle/>
      <a:p>
        <a:r>
          <a:rPr lang="en-CA"/>
          <a:t>This should be Oracle 26ai since it does all mentioned. </a:t>
        </a:r>
      </a:p>
    </p188:txBody>
  </p188:cm>
</p188:cmLst>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620C3F-5D84-4983-8B5F-BB5CE3F5AA45}" type="doc">
      <dgm:prSet loTypeId="urn:microsoft.com/office/officeart/2005/8/layout/cycle6" loCatId="cycle" qsTypeId="urn:microsoft.com/office/officeart/2005/8/quickstyle/simple1#1" qsCatId="simple" csTypeId="urn:microsoft.com/office/officeart/2005/8/colors/accent0_3#1" csCatId="mainScheme" phldr="1"/>
      <dgm:spPr/>
      <dgm:t>
        <a:bodyPr/>
        <a:lstStyle/>
        <a:p>
          <a:endParaRPr lang="en-US"/>
        </a:p>
      </dgm:t>
    </dgm:pt>
    <dgm:pt modelId="{F0B1C57C-26D9-4790-A369-695A15F47780}">
      <dgm:prSet phldrT="[Text]" phldr="0" custT="1"/>
      <dgm:spPr/>
      <dgm:t>
        <a:bodyPr/>
        <a:lstStyle/>
        <a:p>
          <a:pPr rtl="0"/>
          <a:r>
            <a:rPr lang="en-US" sz="1200" b="0">
              <a:latin typeface="Arial" panose="020B0604020202020204"/>
            </a:rPr>
            <a:t>Agility</a:t>
          </a:r>
          <a:r>
            <a:rPr lang="en-US" sz="1000" b="0">
              <a:latin typeface="Arial" panose="020B0604020202020204"/>
            </a:rPr>
            <a:t> </a:t>
          </a:r>
          <a:endParaRPr lang="en-US" sz="1000" b="0"/>
        </a:p>
      </dgm:t>
    </dgm:pt>
    <dgm:pt modelId="{F6BBE1B3-D24D-4E68-A6AB-E6E013AC980E}" type="parTrans" cxnId="{C001F2FB-5655-4273-A8A3-180A92C01186}">
      <dgm:prSet/>
      <dgm:spPr/>
      <dgm:t>
        <a:bodyPr/>
        <a:lstStyle/>
        <a:p>
          <a:endParaRPr lang="en-US"/>
        </a:p>
      </dgm:t>
    </dgm:pt>
    <dgm:pt modelId="{ECECC51B-5DA4-414B-9B22-CCECA176B0D3}" type="sibTrans" cxnId="{C001F2FB-5655-4273-A8A3-180A92C01186}">
      <dgm:prSet/>
      <dgm:spPr/>
      <dgm:t>
        <a:bodyPr/>
        <a:lstStyle/>
        <a:p>
          <a:endParaRPr lang="en-US"/>
        </a:p>
      </dgm:t>
    </dgm:pt>
    <dgm:pt modelId="{E117D3B8-6723-483A-B594-ACFEC5655590}">
      <dgm:prSet phldrT="[Text]" phldr="0"/>
      <dgm:spPr/>
      <dgm:t>
        <a:bodyPr/>
        <a:lstStyle/>
        <a:p>
          <a:r>
            <a:rPr lang="en-US" b="0">
              <a:latin typeface="Arial" panose="020B0604020202020204"/>
            </a:rPr>
            <a:t>Resilience</a:t>
          </a:r>
          <a:endParaRPr lang="en-US" b="0"/>
        </a:p>
      </dgm:t>
    </dgm:pt>
    <dgm:pt modelId="{D8A81A21-E83D-472C-9ED2-EBAD90D45CFA}" type="parTrans" cxnId="{FFBD601D-82AC-4314-A2D5-028281A17640}">
      <dgm:prSet/>
      <dgm:spPr/>
      <dgm:t>
        <a:bodyPr/>
        <a:lstStyle/>
        <a:p>
          <a:endParaRPr lang="en-US"/>
        </a:p>
      </dgm:t>
    </dgm:pt>
    <dgm:pt modelId="{1BDA580D-62D5-4616-96C8-8B9987F89A28}" type="sibTrans" cxnId="{FFBD601D-82AC-4314-A2D5-028281A17640}">
      <dgm:prSet/>
      <dgm:spPr/>
      <dgm:t>
        <a:bodyPr/>
        <a:lstStyle/>
        <a:p>
          <a:endParaRPr lang="en-US"/>
        </a:p>
      </dgm:t>
    </dgm:pt>
    <dgm:pt modelId="{79E3B3E3-4226-46DC-BF21-2FD84CB51979}">
      <dgm:prSet phldrT="[Text]" phldr="0"/>
      <dgm:spPr/>
      <dgm:t>
        <a:bodyPr/>
        <a:lstStyle/>
        <a:p>
          <a:pPr rtl="0"/>
          <a:r>
            <a:rPr lang="en-US" b="0">
              <a:latin typeface="Arial" panose="020B0604020202020204"/>
            </a:rPr>
            <a:t>Compliance &amp; Security</a:t>
          </a:r>
          <a:endParaRPr lang="en-US" b="0"/>
        </a:p>
      </dgm:t>
    </dgm:pt>
    <dgm:pt modelId="{2CA8D4ED-4EAE-4617-B86A-B51F606997C4}" type="parTrans" cxnId="{9823E00A-CF16-4579-A0F0-CF269DE96BC1}">
      <dgm:prSet/>
      <dgm:spPr/>
      <dgm:t>
        <a:bodyPr/>
        <a:lstStyle/>
        <a:p>
          <a:endParaRPr lang="en-US"/>
        </a:p>
      </dgm:t>
    </dgm:pt>
    <dgm:pt modelId="{372188EE-E33F-4ECA-8E4A-20DE78D0BDF7}" type="sibTrans" cxnId="{9823E00A-CF16-4579-A0F0-CF269DE96BC1}">
      <dgm:prSet/>
      <dgm:spPr/>
      <dgm:t>
        <a:bodyPr/>
        <a:lstStyle/>
        <a:p>
          <a:endParaRPr lang="en-US"/>
        </a:p>
      </dgm:t>
    </dgm:pt>
    <dgm:pt modelId="{81A131C8-6111-4C0F-ADDC-041704F1FAA5}">
      <dgm:prSet phldrT="[Text]" phldr="0"/>
      <dgm:spPr/>
      <dgm:t>
        <a:bodyPr/>
        <a:lstStyle/>
        <a:p>
          <a:pPr rtl="0"/>
          <a:r>
            <a:rPr lang="en-US" b="0">
              <a:latin typeface="Arial" panose="020B0604020202020204"/>
            </a:rPr>
            <a:t>Consumable Features</a:t>
          </a:r>
          <a:endParaRPr lang="en-US" b="0"/>
        </a:p>
      </dgm:t>
    </dgm:pt>
    <dgm:pt modelId="{4B3F2466-C4D2-451B-A1ED-F77EF9D4A044}" type="parTrans" cxnId="{3F46BFA3-05AF-4EBF-8644-ED0A35B70E97}">
      <dgm:prSet/>
      <dgm:spPr/>
      <dgm:t>
        <a:bodyPr/>
        <a:lstStyle/>
        <a:p>
          <a:endParaRPr lang="en-US"/>
        </a:p>
      </dgm:t>
    </dgm:pt>
    <dgm:pt modelId="{27965818-1BC9-4266-9F65-5C0A204C8581}" type="sibTrans" cxnId="{3F46BFA3-05AF-4EBF-8644-ED0A35B70E97}">
      <dgm:prSet/>
      <dgm:spPr/>
      <dgm:t>
        <a:bodyPr/>
        <a:lstStyle/>
        <a:p>
          <a:endParaRPr lang="en-US"/>
        </a:p>
      </dgm:t>
    </dgm:pt>
    <dgm:pt modelId="{88E063CF-C787-427D-92D4-3AFAFDFE8C96}">
      <dgm:prSet phldrT="[Text]" phldr="0"/>
      <dgm:spPr/>
      <dgm:t>
        <a:bodyPr/>
        <a:lstStyle/>
        <a:p>
          <a:pPr rtl="0"/>
          <a:r>
            <a:rPr lang="en-US" b="0">
              <a:latin typeface="Arial" panose="020B0604020202020204"/>
            </a:rPr>
            <a:t>Reduced Operations</a:t>
          </a:r>
          <a:endParaRPr lang="en-US" b="0"/>
        </a:p>
      </dgm:t>
    </dgm:pt>
    <dgm:pt modelId="{FEB59B61-8481-4109-8AE7-CFFA4CC137B1}" type="parTrans" cxnId="{DE8072A7-5476-469F-BE24-F0B16B6F00FD}">
      <dgm:prSet/>
      <dgm:spPr/>
      <dgm:t>
        <a:bodyPr/>
        <a:lstStyle/>
        <a:p>
          <a:endParaRPr lang="en-US"/>
        </a:p>
      </dgm:t>
    </dgm:pt>
    <dgm:pt modelId="{90DE983F-B54D-4ACA-B6A3-1C18DCB699D4}" type="sibTrans" cxnId="{DE8072A7-5476-469F-BE24-F0B16B6F00FD}">
      <dgm:prSet/>
      <dgm:spPr/>
      <dgm:t>
        <a:bodyPr/>
        <a:lstStyle/>
        <a:p>
          <a:endParaRPr lang="en-US"/>
        </a:p>
      </dgm:t>
    </dgm:pt>
    <dgm:pt modelId="{FBCB326E-761A-404F-AF5C-2A2BFB83EC0F}" type="pres">
      <dgm:prSet presAssocID="{CD620C3F-5D84-4983-8B5F-BB5CE3F5AA45}" presName="cycle" presStyleCnt="0">
        <dgm:presLayoutVars>
          <dgm:dir/>
          <dgm:resizeHandles val="exact"/>
        </dgm:presLayoutVars>
      </dgm:prSet>
      <dgm:spPr/>
    </dgm:pt>
    <dgm:pt modelId="{F112F7CD-A62A-4BB3-92F0-1104CFCEA451}" type="pres">
      <dgm:prSet presAssocID="{F0B1C57C-26D9-4790-A369-695A15F47780}" presName="node" presStyleLbl="node1" presStyleIdx="0" presStyleCnt="5">
        <dgm:presLayoutVars>
          <dgm:bulletEnabled val="1"/>
        </dgm:presLayoutVars>
      </dgm:prSet>
      <dgm:spPr/>
    </dgm:pt>
    <dgm:pt modelId="{D3D8C612-6642-457C-9ED7-EBBA0EFC7CD9}" type="pres">
      <dgm:prSet presAssocID="{F0B1C57C-26D9-4790-A369-695A15F47780}" presName="spNode" presStyleCnt="0"/>
      <dgm:spPr/>
    </dgm:pt>
    <dgm:pt modelId="{86F3AD0F-8783-4AB7-A848-615793932683}" type="pres">
      <dgm:prSet presAssocID="{ECECC51B-5DA4-414B-9B22-CCECA176B0D3}" presName="sibTrans" presStyleLbl="sibTrans1D1" presStyleIdx="0" presStyleCnt="5"/>
      <dgm:spPr/>
    </dgm:pt>
    <dgm:pt modelId="{E453FB4C-32C7-48A0-8666-A3BE31AE7EF4}" type="pres">
      <dgm:prSet presAssocID="{E117D3B8-6723-483A-B594-ACFEC5655590}" presName="node" presStyleLbl="node1" presStyleIdx="1" presStyleCnt="5">
        <dgm:presLayoutVars>
          <dgm:bulletEnabled val="1"/>
        </dgm:presLayoutVars>
      </dgm:prSet>
      <dgm:spPr/>
    </dgm:pt>
    <dgm:pt modelId="{47A0B3C1-BB16-4B83-9F71-5821119AE120}" type="pres">
      <dgm:prSet presAssocID="{E117D3B8-6723-483A-B594-ACFEC5655590}" presName="spNode" presStyleCnt="0"/>
      <dgm:spPr/>
    </dgm:pt>
    <dgm:pt modelId="{C3FFE0B8-9423-4C1B-8E7F-5F6D887A54F1}" type="pres">
      <dgm:prSet presAssocID="{1BDA580D-62D5-4616-96C8-8B9987F89A28}" presName="sibTrans" presStyleLbl="sibTrans1D1" presStyleIdx="1" presStyleCnt="5"/>
      <dgm:spPr/>
    </dgm:pt>
    <dgm:pt modelId="{B48BFF20-8F6B-4365-9131-2837AD6DD5D8}" type="pres">
      <dgm:prSet presAssocID="{79E3B3E3-4226-46DC-BF21-2FD84CB51979}" presName="node" presStyleLbl="node1" presStyleIdx="2" presStyleCnt="5">
        <dgm:presLayoutVars>
          <dgm:bulletEnabled val="1"/>
        </dgm:presLayoutVars>
      </dgm:prSet>
      <dgm:spPr/>
    </dgm:pt>
    <dgm:pt modelId="{16668136-F720-415C-B72B-0A69A590ED77}" type="pres">
      <dgm:prSet presAssocID="{79E3B3E3-4226-46DC-BF21-2FD84CB51979}" presName="spNode" presStyleCnt="0"/>
      <dgm:spPr/>
    </dgm:pt>
    <dgm:pt modelId="{73A313AC-4557-4CF6-94EE-743397B97E45}" type="pres">
      <dgm:prSet presAssocID="{372188EE-E33F-4ECA-8E4A-20DE78D0BDF7}" presName="sibTrans" presStyleLbl="sibTrans1D1" presStyleIdx="2" presStyleCnt="5"/>
      <dgm:spPr/>
    </dgm:pt>
    <dgm:pt modelId="{D3A05672-6DAE-4942-B62E-2CA4D4B41CB3}" type="pres">
      <dgm:prSet presAssocID="{81A131C8-6111-4C0F-ADDC-041704F1FAA5}" presName="node" presStyleLbl="node1" presStyleIdx="3" presStyleCnt="5">
        <dgm:presLayoutVars>
          <dgm:bulletEnabled val="1"/>
        </dgm:presLayoutVars>
      </dgm:prSet>
      <dgm:spPr/>
    </dgm:pt>
    <dgm:pt modelId="{6BC6223E-82E9-4AE9-9900-B855454CF6E2}" type="pres">
      <dgm:prSet presAssocID="{81A131C8-6111-4C0F-ADDC-041704F1FAA5}" presName="spNode" presStyleCnt="0"/>
      <dgm:spPr/>
    </dgm:pt>
    <dgm:pt modelId="{D68D9E6A-620A-4139-AA55-7E81397DABE9}" type="pres">
      <dgm:prSet presAssocID="{27965818-1BC9-4266-9F65-5C0A204C8581}" presName="sibTrans" presStyleLbl="sibTrans1D1" presStyleIdx="3" presStyleCnt="5"/>
      <dgm:spPr/>
    </dgm:pt>
    <dgm:pt modelId="{2ABDFF02-0FD3-4AA9-9A59-6B12B223EF3E}" type="pres">
      <dgm:prSet presAssocID="{88E063CF-C787-427D-92D4-3AFAFDFE8C96}" presName="node" presStyleLbl="node1" presStyleIdx="4" presStyleCnt="5">
        <dgm:presLayoutVars>
          <dgm:bulletEnabled val="1"/>
        </dgm:presLayoutVars>
      </dgm:prSet>
      <dgm:spPr/>
    </dgm:pt>
    <dgm:pt modelId="{E1AFDB13-D4F1-4ADA-9CA3-47801C814EC2}" type="pres">
      <dgm:prSet presAssocID="{88E063CF-C787-427D-92D4-3AFAFDFE8C96}" presName="spNode" presStyleCnt="0"/>
      <dgm:spPr/>
    </dgm:pt>
    <dgm:pt modelId="{525700EF-8480-4B6E-8C7A-A6B594088B3B}" type="pres">
      <dgm:prSet presAssocID="{90DE983F-B54D-4ACA-B6A3-1C18DCB699D4}" presName="sibTrans" presStyleLbl="sibTrans1D1" presStyleIdx="4" presStyleCnt="5"/>
      <dgm:spPr/>
    </dgm:pt>
  </dgm:ptLst>
  <dgm:cxnLst>
    <dgm:cxn modelId="{9D53A504-5E3F-4BF6-BA6C-4B2AA570AB22}" type="presOf" srcId="{90DE983F-B54D-4ACA-B6A3-1C18DCB699D4}" destId="{525700EF-8480-4B6E-8C7A-A6B594088B3B}" srcOrd="0" destOrd="0" presId="urn:microsoft.com/office/officeart/2005/8/layout/cycle6"/>
    <dgm:cxn modelId="{9823E00A-CF16-4579-A0F0-CF269DE96BC1}" srcId="{CD620C3F-5D84-4983-8B5F-BB5CE3F5AA45}" destId="{79E3B3E3-4226-46DC-BF21-2FD84CB51979}" srcOrd="2" destOrd="0" parTransId="{2CA8D4ED-4EAE-4617-B86A-B51F606997C4}" sibTransId="{372188EE-E33F-4ECA-8E4A-20DE78D0BDF7}"/>
    <dgm:cxn modelId="{FFBD601D-82AC-4314-A2D5-028281A17640}" srcId="{CD620C3F-5D84-4983-8B5F-BB5CE3F5AA45}" destId="{E117D3B8-6723-483A-B594-ACFEC5655590}" srcOrd="1" destOrd="0" parTransId="{D8A81A21-E83D-472C-9ED2-EBAD90D45CFA}" sibTransId="{1BDA580D-62D5-4616-96C8-8B9987F89A28}"/>
    <dgm:cxn modelId="{B8FE323F-EE8E-4BD6-B1EF-822E2BB6A6CD}" type="presOf" srcId="{27965818-1BC9-4266-9F65-5C0A204C8581}" destId="{D68D9E6A-620A-4139-AA55-7E81397DABE9}" srcOrd="0" destOrd="0" presId="urn:microsoft.com/office/officeart/2005/8/layout/cycle6"/>
    <dgm:cxn modelId="{1F9D886E-6F99-44A4-9095-02858BBD0C43}" type="presOf" srcId="{CD620C3F-5D84-4983-8B5F-BB5CE3F5AA45}" destId="{FBCB326E-761A-404F-AF5C-2A2BFB83EC0F}" srcOrd="0" destOrd="0" presId="urn:microsoft.com/office/officeart/2005/8/layout/cycle6"/>
    <dgm:cxn modelId="{91F12088-6515-4E36-809E-79585DB97A15}" type="presOf" srcId="{ECECC51B-5DA4-414B-9B22-CCECA176B0D3}" destId="{86F3AD0F-8783-4AB7-A848-615793932683}" srcOrd="0" destOrd="0" presId="urn:microsoft.com/office/officeart/2005/8/layout/cycle6"/>
    <dgm:cxn modelId="{4A460C8C-9736-4D2B-A673-8F17BF1E4F82}" type="presOf" srcId="{E117D3B8-6723-483A-B594-ACFEC5655590}" destId="{E453FB4C-32C7-48A0-8666-A3BE31AE7EF4}" srcOrd="0" destOrd="0" presId="urn:microsoft.com/office/officeart/2005/8/layout/cycle6"/>
    <dgm:cxn modelId="{9A3E2691-673D-494C-BD80-5BBDA74BF7B5}" type="presOf" srcId="{372188EE-E33F-4ECA-8E4A-20DE78D0BDF7}" destId="{73A313AC-4557-4CF6-94EE-743397B97E45}" srcOrd="0" destOrd="0" presId="urn:microsoft.com/office/officeart/2005/8/layout/cycle6"/>
    <dgm:cxn modelId="{D31A459B-CAE4-4BAD-A409-2EE9F14E6C7F}" type="presOf" srcId="{1BDA580D-62D5-4616-96C8-8B9987F89A28}" destId="{C3FFE0B8-9423-4C1B-8E7F-5F6D887A54F1}" srcOrd="0" destOrd="0" presId="urn:microsoft.com/office/officeart/2005/8/layout/cycle6"/>
    <dgm:cxn modelId="{1830A39F-6062-4FED-A142-43FF6B2817B7}" type="presOf" srcId="{F0B1C57C-26D9-4790-A369-695A15F47780}" destId="{F112F7CD-A62A-4BB3-92F0-1104CFCEA451}" srcOrd="0" destOrd="0" presId="urn:microsoft.com/office/officeart/2005/8/layout/cycle6"/>
    <dgm:cxn modelId="{3F46BFA3-05AF-4EBF-8644-ED0A35B70E97}" srcId="{CD620C3F-5D84-4983-8B5F-BB5CE3F5AA45}" destId="{81A131C8-6111-4C0F-ADDC-041704F1FAA5}" srcOrd="3" destOrd="0" parTransId="{4B3F2466-C4D2-451B-A1ED-F77EF9D4A044}" sibTransId="{27965818-1BC9-4266-9F65-5C0A204C8581}"/>
    <dgm:cxn modelId="{DE8072A7-5476-469F-BE24-F0B16B6F00FD}" srcId="{CD620C3F-5D84-4983-8B5F-BB5CE3F5AA45}" destId="{88E063CF-C787-427D-92D4-3AFAFDFE8C96}" srcOrd="4" destOrd="0" parTransId="{FEB59B61-8481-4109-8AE7-CFFA4CC137B1}" sibTransId="{90DE983F-B54D-4ACA-B6A3-1C18DCB699D4}"/>
    <dgm:cxn modelId="{D23F19AD-1DFB-4909-AE07-A9BCE904F509}" type="presOf" srcId="{79E3B3E3-4226-46DC-BF21-2FD84CB51979}" destId="{B48BFF20-8F6B-4365-9131-2837AD6DD5D8}" srcOrd="0" destOrd="0" presId="urn:microsoft.com/office/officeart/2005/8/layout/cycle6"/>
    <dgm:cxn modelId="{767F5EDB-2E96-44E4-B951-1499C87AF65A}" type="presOf" srcId="{81A131C8-6111-4C0F-ADDC-041704F1FAA5}" destId="{D3A05672-6DAE-4942-B62E-2CA4D4B41CB3}" srcOrd="0" destOrd="0" presId="urn:microsoft.com/office/officeart/2005/8/layout/cycle6"/>
    <dgm:cxn modelId="{8A780AEC-A406-43EB-A973-F6FF246F3CC4}" type="presOf" srcId="{88E063CF-C787-427D-92D4-3AFAFDFE8C96}" destId="{2ABDFF02-0FD3-4AA9-9A59-6B12B223EF3E}" srcOrd="0" destOrd="0" presId="urn:microsoft.com/office/officeart/2005/8/layout/cycle6"/>
    <dgm:cxn modelId="{C001F2FB-5655-4273-A8A3-180A92C01186}" srcId="{CD620C3F-5D84-4983-8B5F-BB5CE3F5AA45}" destId="{F0B1C57C-26D9-4790-A369-695A15F47780}" srcOrd="0" destOrd="0" parTransId="{F6BBE1B3-D24D-4E68-A6AB-E6E013AC980E}" sibTransId="{ECECC51B-5DA4-414B-9B22-CCECA176B0D3}"/>
    <dgm:cxn modelId="{B1254704-9C8D-40AB-9435-F2F303F0572C}" type="presParOf" srcId="{FBCB326E-761A-404F-AF5C-2A2BFB83EC0F}" destId="{F112F7CD-A62A-4BB3-92F0-1104CFCEA451}" srcOrd="0" destOrd="0" presId="urn:microsoft.com/office/officeart/2005/8/layout/cycle6"/>
    <dgm:cxn modelId="{6EC4CC6B-E875-4712-8081-895AA67FFFD4}" type="presParOf" srcId="{FBCB326E-761A-404F-AF5C-2A2BFB83EC0F}" destId="{D3D8C612-6642-457C-9ED7-EBBA0EFC7CD9}" srcOrd="1" destOrd="0" presId="urn:microsoft.com/office/officeart/2005/8/layout/cycle6"/>
    <dgm:cxn modelId="{D7499E21-A560-4168-9ABA-DFC8CE7CA944}" type="presParOf" srcId="{FBCB326E-761A-404F-AF5C-2A2BFB83EC0F}" destId="{86F3AD0F-8783-4AB7-A848-615793932683}" srcOrd="2" destOrd="0" presId="urn:microsoft.com/office/officeart/2005/8/layout/cycle6"/>
    <dgm:cxn modelId="{0BBA147C-6228-4D93-BFCE-2E20F092BC0D}" type="presParOf" srcId="{FBCB326E-761A-404F-AF5C-2A2BFB83EC0F}" destId="{E453FB4C-32C7-48A0-8666-A3BE31AE7EF4}" srcOrd="3" destOrd="0" presId="urn:microsoft.com/office/officeart/2005/8/layout/cycle6"/>
    <dgm:cxn modelId="{667E188B-8563-42CB-B209-064BFD2DCE9B}" type="presParOf" srcId="{FBCB326E-761A-404F-AF5C-2A2BFB83EC0F}" destId="{47A0B3C1-BB16-4B83-9F71-5821119AE120}" srcOrd="4" destOrd="0" presId="urn:microsoft.com/office/officeart/2005/8/layout/cycle6"/>
    <dgm:cxn modelId="{BB3F7439-74F5-4359-9042-B48A7A1E2C0D}" type="presParOf" srcId="{FBCB326E-761A-404F-AF5C-2A2BFB83EC0F}" destId="{C3FFE0B8-9423-4C1B-8E7F-5F6D887A54F1}" srcOrd="5" destOrd="0" presId="urn:microsoft.com/office/officeart/2005/8/layout/cycle6"/>
    <dgm:cxn modelId="{E5D0B37E-F9BD-4E59-A6EC-D9DCB2BC7646}" type="presParOf" srcId="{FBCB326E-761A-404F-AF5C-2A2BFB83EC0F}" destId="{B48BFF20-8F6B-4365-9131-2837AD6DD5D8}" srcOrd="6" destOrd="0" presId="urn:microsoft.com/office/officeart/2005/8/layout/cycle6"/>
    <dgm:cxn modelId="{1A1B5CCD-305E-4CD3-8D1E-C18E31C65B51}" type="presParOf" srcId="{FBCB326E-761A-404F-AF5C-2A2BFB83EC0F}" destId="{16668136-F720-415C-B72B-0A69A590ED77}" srcOrd="7" destOrd="0" presId="urn:microsoft.com/office/officeart/2005/8/layout/cycle6"/>
    <dgm:cxn modelId="{99BF16DB-6A9A-46B7-8424-28DC6BAF7223}" type="presParOf" srcId="{FBCB326E-761A-404F-AF5C-2A2BFB83EC0F}" destId="{73A313AC-4557-4CF6-94EE-743397B97E45}" srcOrd="8" destOrd="0" presId="urn:microsoft.com/office/officeart/2005/8/layout/cycle6"/>
    <dgm:cxn modelId="{7EDFCA97-3595-439A-B200-B2837689C473}" type="presParOf" srcId="{FBCB326E-761A-404F-AF5C-2A2BFB83EC0F}" destId="{D3A05672-6DAE-4942-B62E-2CA4D4B41CB3}" srcOrd="9" destOrd="0" presId="urn:microsoft.com/office/officeart/2005/8/layout/cycle6"/>
    <dgm:cxn modelId="{3DA55E85-D0AC-4310-A833-057FA9A478F5}" type="presParOf" srcId="{FBCB326E-761A-404F-AF5C-2A2BFB83EC0F}" destId="{6BC6223E-82E9-4AE9-9900-B855454CF6E2}" srcOrd="10" destOrd="0" presId="urn:microsoft.com/office/officeart/2005/8/layout/cycle6"/>
    <dgm:cxn modelId="{F9E2D7AD-ED68-49FE-9156-C608A282D359}" type="presParOf" srcId="{FBCB326E-761A-404F-AF5C-2A2BFB83EC0F}" destId="{D68D9E6A-620A-4139-AA55-7E81397DABE9}" srcOrd="11" destOrd="0" presId="urn:microsoft.com/office/officeart/2005/8/layout/cycle6"/>
    <dgm:cxn modelId="{FF54B473-BC4F-44E0-9BFC-37B3820BD056}" type="presParOf" srcId="{FBCB326E-761A-404F-AF5C-2A2BFB83EC0F}" destId="{2ABDFF02-0FD3-4AA9-9A59-6B12B223EF3E}" srcOrd="12" destOrd="0" presId="urn:microsoft.com/office/officeart/2005/8/layout/cycle6"/>
    <dgm:cxn modelId="{AA1EC9AA-AC56-49D0-85E8-6C9CD3BCA95A}" type="presParOf" srcId="{FBCB326E-761A-404F-AF5C-2A2BFB83EC0F}" destId="{E1AFDB13-D4F1-4ADA-9CA3-47801C814EC2}" srcOrd="13" destOrd="0" presId="urn:microsoft.com/office/officeart/2005/8/layout/cycle6"/>
    <dgm:cxn modelId="{7B746340-BE2B-42E1-943B-9C0390D89400}" type="presParOf" srcId="{FBCB326E-761A-404F-AF5C-2A2BFB83EC0F}" destId="{525700EF-8480-4B6E-8C7A-A6B594088B3B}"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2F7CD-A62A-4BB3-92F0-1104CFCEA451}">
      <dsp:nvSpPr>
        <dsp:cNvPr id="0" name=""/>
        <dsp:cNvSpPr/>
      </dsp:nvSpPr>
      <dsp:spPr>
        <a:xfrm>
          <a:off x="1348058" y="1343"/>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a:latin typeface="Arial" panose="020B0604020202020204"/>
            </a:rPr>
            <a:t>Agility</a:t>
          </a:r>
          <a:r>
            <a:rPr lang="en-US" sz="1000" b="0" kern="1200">
              <a:latin typeface="Arial" panose="020B0604020202020204"/>
            </a:rPr>
            <a:t> </a:t>
          </a:r>
          <a:endParaRPr lang="en-US" sz="1000" b="0" kern="1200"/>
        </a:p>
      </dsp:txBody>
      <dsp:txXfrm>
        <a:off x="1377322" y="30607"/>
        <a:ext cx="863734" cy="540942"/>
      </dsp:txXfrm>
    </dsp:sp>
    <dsp:sp modelId="{86F3AD0F-8783-4AB7-A848-615793932683}">
      <dsp:nvSpPr>
        <dsp:cNvPr id="0" name=""/>
        <dsp:cNvSpPr/>
      </dsp:nvSpPr>
      <dsp:spPr>
        <a:xfrm>
          <a:off x="609678" y="301078"/>
          <a:ext cx="2399022" cy="2399022"/>
        </a:xfrm>
        <a:custGeom>
          <a:avLst/>
          <a:gdLst/>
          <a:ahLst/>
          <a:cxnLst/>
          <a:rect l="0" t="0" r="0" b="0"/>
          <a:pathLst>
            <a:path>
              <a:moveTo>
                <a:pt x="1667001" y="94848"/>
              </a:moveTo>
              <a:arcTo wR="1199511" hR="1199511" stAng="17576276" swAng="1965182"/>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453FB4C-32C7-48A0-8666-A3BE31AE7EF4}">
      <dsp:nvSpPr>
        <dsp:cNvPr id="0" name=""/>
        <dsp:cNvSpPr/>
      </dsp:nvSpPr>
      <dsp:spPr>
        <a:xfrm>
          <a:off x="2488861" y="830185"/>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kern="1200">
              <a:latin typeface="Arial" panose="020B0604020202020204"/>
            </a:rPr>
            <a:t>Resilience</a:t>
          </a:r>
          <a:endParaRPr lang="en-US" sz="1000" b="0" kern="1200"/>
        </a:p>
      </dsp:txBody>
      <dsp:txXfrm>
        <a:off x="2518125" y="859449"/>
        <a:ext cx="863734" cy="540942"/>
      </dsp:txXfrm>
    </dsp:sp>
    <dsp:sp modelId="{C3FFE0B8-9423-4C1B-8E7F-5F6D887A54F1}">
      <dsp:nvSpPr>
        <dsp:cNvPr id="0" name=""/>
        <dsp:cNvSpPr/>
      </dsp:nvSpPr>
      <dsp:spPr>
        <a:xfrm>
          <a:off x="609678" y="301078"/>
          <a:ext cx="2399022" cy="2399022"/>
        </a:xfrm>
        <a:custGeom>
          <a:avLst/>
          <a:gdLst/>
          <a:ahLst/>
          <a:cxnLst/>
          <a:rect l="0" t="0" r="0" b="0"/>
          <a:pathLst>
            <a:path>
              <a:moveTo>
                <a:pt x="2397353" y="1136254"/>
              </a:moveTo>
              <a:arcTo wR="1199511" hR="1199511" stAng="21418623" swAng="2199104"/>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48BFF20-8F6B-4365-9131-2837AD6DD5D8}">
      <dsp:nvSpPr>
        <dsp:cNvPr id="0" name=""/>
        <dsp:cNvSpPr/>
      </dsp:nvSpPr>
      <dsp:spPr>
        <a:xfrm>
          <a:off x="2053113" y="2171279"/>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0" kern="1200">
              <a:latin typeface="Arial" panose="020B0604020202020204"/>
            </a:rPr>
            <a:t>Compliance &amp; Security</a:t>
          </a:r>
          <a:endParaRPr lang="en-US" sz="1000" b="0" kern="1200"/>
        </a:p>
      </dsp:txBody>
      <dsp:txXfrm>
        <a:off x="2082377" y="2200543"/>
        <a:ext cx="863734" cy="540942"/>
      </dsp:txXfrm>
    </dsp:sp>
    <dsp:sp modelId="{73A313AC-4557-4CF6-94EE-743397B97E45}">
      <dsp:nvSpPr>
        <dsp:cNvPr id="0" name=""/>
        <dsp:cNvSpPr/>
      </dsp:nvSpPr>
      <dsp:spPr>
        <a:xfrm>
          <a:off x="609678" y="301078"/>
          <a:ext cx="2399022" cy="2399022"/>
        </a:xfrm>
        <a:custGeom>
          <a:avLst/>
          <a:gdLst/>
          <a:ahLst/>
          <a:cxnLst/>
          <a:rect l="0" t="0" r="0" b="0"/>
          <a:pathLst>
            <a:path>
              <a:moveTo>
                <a:pt x="1438656" y="2374941"/>
              </a:moveTo>
              <a:arcTo wR="1199511" hR="1199511" stAng="4709997" swAng="1380006"/>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3A05672-6DAE-4942-B62E-2CA4D4B41CB3}">
      <dsp:nvSpPr>
        <dsp:cNvPr id="0" name=""/>
        <dsp:cNvSpPr/>
      </dsp:nvSpPr>
      <dsp:spPr>
        <a:xfrm>
          <a:off x="643003" y="2171279"/>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0" kern="1200">
              <a:latin typeface="Arial" panose="020B0604020202020204"/>
            </a:rPr>
            <a:t>Consumable Features</a:t>
          </a:r>
          <a:endParaRPr lang="en-US" sz="1000" b="0" kern="1200"/>
        </a:p>
      </dsp:txBody>
      <dsp:txXfrm>
        <a:off x="672267" y="2200543"/>
        <a:ext cx="863734" cy="540942"/>
      </dsp:txXfrm>
    </dsp:sp>
    <dsp:sp modelId="{D68D9E6A-620A-4139-AA55-7E81397DABE9}">
      <dsp:nvSpPr>
        <dsp:cNvPr id="0" name=""/>
        <dsp:cNvSpPr/>
      </dsp:nvSpPr>
      <dsp:spPr>
        <a:xfrm>
          <a:off x="609678" y="301078"/>
          <a:ext cx="2399022" cy="2399022"/>
        </a:xfrm>
        <a:custGeom>
          <a:avLst/>
          <a:gdLst/>
          <a:ahLst/>
          <a:cxnLst/>
          <a:rect l="0" t="0" r="0" b="0"/>
          <a:pathLst>
            <a:path>
              <a:moveTo>
                <a:pt x="200746" y="1863812"/>
              </a:moveTo>
              <a:arcTo wR="1199511" hR="1199511" stAng="8782273" swAng="2199104"/>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ABDFF02-0FD3-4AA9-9A59-6B12B223EF3E}">
      <dsp:nvSpPr>
        <dsp:cNvPr id="0" name=""/>
        <dsp:cNvSpPr/>
      </dsp:nvSpPr>
      <dsp:spPr>
        <a:xfrm>
          <a:off x="207255" y="830185"/>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0" kern="1200">
              <a:latin typeface="Arial" panose="020B0604020202020204"/>
            </a:rPr>
            <a:t>Reduced Operations</a:t>
          </a:r>
          <a:endParaRPr lang="en-US" sz="1000" b="0" kern="1200"/>
        </a:p>
      </dsp:txBody>
      <dsp:txXfrm>
        <a:off x="236519" y="859449"/>
        <a:ext cx="863734" cy="540942"/>
      </dsp:txXfrm>
    </dsp:sp>
    <dsp:sp modelId="{525700EF-8480-4B6E-8C7A-A6B594088B3B}">
      <dsp:nvSpPr>
        <dsp:cNvPr id="0" name=""/>
        <dsp:cNvSpPr/>
      </dsp:nvSpPr>
      <dsp:spPr>
        <a:xfrm>
          <a:off x="609678" y="301078"/>
          <a:ext cx="2399022" cy="2399022"/>
        </a:xfrm>
        <a:custGeom>
          <a:avLst/>
          <a:gdLst/>
          <a:ahLst/>
          <a:cxnLst/>
          <a:rect l="0" t="0" r="0" b="0"/>
          <a:pathLst>
            <a:path>
              <a:moveTo>
                <a:pt x="208703" y="523399"/>
              </a:moveTo>
              <a:arcTo wR="1199511" hR="1199511" stAng="12858542" swAng="1965182"/>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088" cy="466116"/>
          </a:xfrm>
          <a:prstGeom prst="rect">
            <a:avLst/>
          </a:prstGeom>
        </p:spPr>
        <p:txBody>
          <a:bodyPr vert="horz" lIns="93104" tIns="46552" rIns="93104" bIns="46552" rtlCol="0"/>
          <a:lstStyle>
            <a:lvl1pPr algn="l">
              <a:defRPr sz="1200"/>
            </a:lvl1pPr>
          </a:lstStyle>
          <a:p>
            <a:endParaRPr lang="en-US"/>
          </a:p>
        </p:txBody>
      </p:sp>
      <p:sp>
        <p:nvSpPr>
          <p:cNvPr id="3" name="Date Placeholder 2"/>
          <p:cNvSpPr>
            <a:spLocks noGrp="1"/>
          </p:cNvSpPr>
          <p:nvPr>
            <p:ph type="dt" idx="1"/>
          </p:nvPr>
        </p:nvSpPr>
        <p:spPr>
          <a:xfrm>
            <a:off x="3967341" y="0"/>
            <a:ext cx="3035088" cy="466116"/>
          </a:xfrm>
          <a:prstGeom prst="rect">
            <a:avLst/>
          </a:prstGeom>
        </p:spPr>
        <p:txBody>
          <a:bodyPr vert="horz" lIns="93104" tIns="46552" rIns="93104" bIns="46552" rtlCol="0"/>
          <a:lstStyle>
            <a:lvl1pPr algn="r">
              <a:defRPr sz="1200"/>
            </a:lvl1pPr>
          </a:lstStyle>
          <a:p>
            <a:fld id="{96DF29BA-0CA2-49C2-976B-1DCB9770595F}" type="datetimeFigureOut">
              <a:rPr lang="en-US" smtClean="0"/>
              <a:t>9/2/2026</a:t>
            </a:fld>
            <a:endParaRPr lang="en-US"/>
          </a:p>
        </p:txBody>
      </p:sp>
      <p:sp>
        <p:nvSpPr>
          <p:cNvPr id="4" name="Slide Image Placeholder 3"/>
          <p:cNvSpPr>
            <a:spLocks noGrp="1" noRot="1" noChangeAspect="1"/>
          </p:cNvSpPr>
          <p:nvPr>
            <p:ph type="sldImg" idx="2"/>
          </p:nvPr>
        </p:nvSpPr>
        <p:spPr>
          <a:xfrm>
            <a:off x="714375" y="1160463"/>
            <a:ext cx="5575300" cy="3136900"/>
          </a:xfrm>
          <a:prstGeom prst="rect">
            <a:avLst/>
          </a:prstGeom>
          <a:noFill/>
          <a:ln w="12700">
            <a:solidFill>
              <a:prstClr val="black"/>
            </a:solidFill>
          </a:ln>
        </p:spPr>
        <p:txBody>
          <a:bodyPr vert="horz" lIns="93104" tIns="46552" rIns="93104" bIns="46552" rtlCol="0" anchor="ctr"/>
          <a:lstStyle/>
          <a:p>
            <a:endParaRPr lang="en-US"/>
          </a:p>
        </p:txBody>
      </p:sp>
      <p:sp>
        <p:nvSpPr>
          <p:cNvPr id="5" name="Notes Placeholder 4"/>
          <p:cNvSpPr>
            <a:spLocks noGrp="1"/>
          </p:cNvSpPr>
          <p:nvPr>
            <p:ph type="body" sz="quarter" idx="3"/>
          </p:nvPr>
        </p:nvSpPr>
        <p:spPr>
          <a:xfrm>
            <a:off x="700405" y="4470837"/>
            <a:ext cx="5603240" cy="3657957"/>
          </a:xfrm>
          <a:prstGeom prst="rect">
            <a:avLst/>
          </a:prstGeom>
        </p:spPr>
        <p:txBody>
          <a:bodyPr vert="horz" lIns="93104" tIns="46552" rIns="93104" bIns="4655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3936"/>
            <a:ext cx="3035088" cy="466115"/>
          </a:xfrm>
          <a:prstGeom prst="rect">
            <a:avLst/>
          </a:prstGeom>
        </p:spPr>
        <p:txBody>
          <a:bodyPr vert="horz" lIns="93104" tIns="46552" rIns="93104" bIns="46552" rtlCol="0" anchor="b"/>
          <a:lstStyle>
            <a:lvl1pPr algn="l">
              <a:defRPr sz="1200"/>
            </a:lvl1pPr>
          </a:lstStyle>
          <a:p>
            <a:endParaRPr lang="en-US"/>
          </a:p>
        </p:txBody>
      </p:sp>
      <p:sp>
        <p:nvSpPr>
          <p:cNvPr id="7" name="Slide Number Placeholder 6"/>
          <p:cNvSpPr>
            <a:spLocks noGrp="1"/>
          </p:cNvSpPr>
          <p:nvPr>
            <p:ph type="sldNum" sz="quarter" idx="5"/>
          </p:nvPr>
        </p:nvSpPr>
        <p:spPr>
          <a:xfrm>
            <a:off x="3967341" y="8823936"/>
            <a:ext cx="3035088" cy="466115"/>
          </a:xfrm>
          <a:prstGeom prst="rect">
            <a:avLst/>
          </a:prstGeom>
        </p:spPr>
        <p:txBody>
          <a:bodyPr vert="horz" lIns="93104" tIns="46552" rIns="93104" bIns="46552" rtlCol="0" anchor="b"/>
          <a:lstStyle>
            <a:lvl1pPr algn="r">
              <a:defRPr sz="1200"/>
            </a:lvl1pPr>
          </a:lstStyle>
          <a:p>
            <a:fld id="{0992D678-824D-4B52-AB7F-FB5175FA13D5}" type="slidenum">
              <a:rPr lang="en-US" smtClean="0"/>
              <a:t>‹#›</a:t>
            </a:fld>
            <a:endParaRPr lang="en-US"/>
          </a:p>
        </p:txBody>
      </p:sp>
    </p:spTree>
    <p:extLst>
      <p:ext uri="{BB962C8B-B14F-4D97-AF65-F5344CB8AC3E}">
        <p14:creationId xmlns:p14="http://schemas.microsoft.com/office/powerpoint/2010/main" val="56622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2.xml"/><Relationship Id="rId7" Type="http://schemas.openxmlformats.org/officeDocument/2006/relationships/oleObject" Target="../embeddings/oleObject4.bin"/><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3.xml"/><Relationship Id="rId5" Type="http://schemas.openxmlformats.org/officeDocument/2006/relationships/tags" Target="../tags/tag34.xml"/><Relationship Id="rId4" Type="http://schemas.openxmlformats.org/officeDocument/2006/relationships/tags" Target="../tags/tag33.xml"/><Relationship Id="rId9"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37.xml"/><Relationship Id="rId7" Type="http://schemas.openxmlformats.org/officeDocument/2006/relationships/slideMaster" Target="../slideMasters/slideMaster3.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3.xml"/><Relationship Id="rId7" Type="http://schemas.openxmlformats.org/officeDocument/2006/relationships/slideMaster" Target="../slideMasters/slideMaster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9.xml"/><Relationship Id="rId7" Type="http://schemas.openxmlformats.org/officeDocument/2006/relationships/oleObject" Target="../embeddings/oleObject4.bin"/><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3.xml"/><Relationship Id="rId5" Type="http://schemas.openxmlformats.org/officeDocument/2006/relationships/tags" Target="../tags/tag51.xml"/><Relationship Id="rId4" Type="http://schemas.openxmlformats.org/officeDocument/2006/relationships/tags" Target="../tags/tag50.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54.xml"/><Relationship Id="rId7" Type="http://schemas.openxmlformats.org/officeDocument/2006/relationships/oleObject" Target="../embeddings/oleObject7.bin"/><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Master" Target="../slideMasters/slideMaster3.xml"/><Relationship Id="rId5" Type="http://schemas.openxmlformats.org/officeDocument/2006/relationships/tags" Target="../tags/tag56.xml"/><Relationship Id="rId4" Type="http://schemas.openxmlformats.org/officeDocument/2006/relationships/tags" Target="../tags/tag55.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59.xml"/><Relationship Id="rId7" Type="http://schemas.openxmlformats.org/officeDocument/2006/relationships/oleObject" Target="../embeddings/oleObject4.bin"/><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3.xml"/><Relationship Id="rId5" Type="http://schemas.openxmlformats.org/officeDocument/2006/relationships/tags" Target="../tags/tag61.xml"/><Relationship Id="rId4" Type="http://schemas.openxmlformats.org/officeDocument/2006/relationships/tags" Target="../tags/tag60.xml"/></Relationships>
</file>

<file path=ppt/slideLayouts/_rels/slideLayout21.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tags" Target="../tags/tag64.xml"/><Relationship Id="rId7" Type="http://schemas.openxmlformats.org/officeDocument/2006/relationships/slideMaster" Target="../slideMasters/slideMaster3.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9"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3.emf"/><Relationship Id="rId5" Type="http://schemas.openxmlformats.org/officeDocument/2006/relationships/tags" Target="../tags/tag72.xml"/><Relationship Id="rId10" Type="http://schemas.openxmlformats.org/officeDocument/2006/relationships/image" Target="../media/image4.emf"/><Relationship Id="rId4" Type="http://schemas.openxmlformats.org/officeDocument/2006/relationships/tags" Target="../tags/tag71.xml"/><Relationship Id="rId9" Type="http://schemas.openxmlformats.org/officeDocument/2006/relationships/oleObject" Target="../embeddings/oleObject9.bin"/></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77.xml"/><Relationship Id="rId7" Type="http://schemas.openxmlformats.org/officeDocument/2006/relationships/tags" Target="../tags/tag81.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image" Target="../media/image3.emf"/><Relationship Id="rId5" Type="http://schemas.openxmlformats.org/officeDocument/2006/relationships/tags" Target="../tags/tag79.xml"/><Relationship Id="rId10" Type="http://schemas.openxmlformats.org/officeDocument/2006/relationships/image" Target="../media/image4.emf"/><Relationship Id="rId4" Type="http://schemas.openxmlformats.org/officeDocument/2006/relationships/tags" Target="../tags/tag78.xml"/><Relationship Id="rId9" Type="http://schemas.openxmlformats.org/officeDocument/2006/relationships/oleObject" Target="../embeddings/oleObject10.bin"/></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media/image3.emf"/><Relationship Id="rId5" Type="http://schemas.openxmlformats.org/officeDocument/2006/relationships/tags" Target="../tags/tag86.xml"/><Relationship Id="rId10" Type="http://schemas.openxmlformats.org/officeDocument/2006/relationships/image" Target="../media/image4.emf"/><Relationship Id="rId4" Type="http://schemas.openxmlformats.org/officeDocument/2006/relationships/tags" Target="../tags/tag85.xml"/><Relationship Id="rId9" Type="http://schemas.openxmlformats.org/officeDocument/2006/relationships/oleObject" Target="../embeddings/oleObject11.bin"/></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3.emf"/><Relationship Id="rId5" Type="http://schemas.openxmlformats.org/officeDocument/2006/relationships/tags" Target="../tags/tag93.xml"/><Relationship Id="rId10" Type="http://schemas.openxmlformats.org/officeDocument/2006/relationships/image" Target="../media/image5.emf"/><Relationship Id="rId4" Type="http://schemas.openxmlformats.org/officeDocument/2006/relationships/tags" Target="../tags/tag92.xml"/><Relationship Id="rId9" Type="http://schemas.openxmlformats.org/officeDocument/2006/relationships/oleObject" Target="../embeddings/oleObject12.bin"/></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98.xml"/><Relationship Id="rId7" Type="http://schemas.openxmlformats.org/officeDocument/2006/relationships/tags" Target="../tags/tag10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3.emf"/><Relationship Id="rId5" Type="http://schemas.openxmlformats.org/officeDocument/2006/relationships/tags" Target="../tags/tag100.xml"/><Relationship Id="rId10" Type="http://schemas.openxmlformats.org/officeDocument/2006/relationships/image" Target="../media/image4.emf"/><Relationship Id="rId4" Type="http://schemas.openxmlformats.org/officeDocument/2006/relationships/tags" Target="../tags/tag99.xml"/><Relationship Id="rId9" Type="http://schemas.openxmlformats.org/officeDocument/2006/relationships/oleObject" Target="../embeddings/oleObject13.bin"/></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image" Target="../media/image3.emf"/><Relationship Id="rId5" Type="http://schemas.openxmlformats.org/officeDocument/2006/relationships/tags" Target="../tags/tag107.xml"/><Relationship Id="rId10" Type="http://schemas.openxmlformats.org/officeDocument/2006/relationships/image" Target="../media/image4.emf"/><Relationship Id="rId4" Type="http://schemas.openxmlformats.org/officeDocument/2006/relationships/tags" Target="../tags/tag106.xml"/><Relationship Id="rId9" Type="http://schemas.openxmlformats.org/officeDocument/2006/relationships/oleObject" Target="../embeddings/oleObject14.bin"/></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12.xml"/><Relationship Id="rId7" Type="http://schemas.openxmlformats.org/officeDocument/2006/relationships/tags" Target="../tags/tag116.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3.emf"/><Relationship Id="rId5" Type="http://schemas.openxmlformats.org/officeDocument/2006/relationships/tags" Target="../tags/tag114.xml"/><Relationship Id="rId10" Type="http://schemas.openxmlformats.org/officeDocument/2006/relationships/image" Target="../media/image5.emf"/><Relationship Id="rId4" Type="http://schemas.openxmlformats.org/officeDocument/2006/relationships/tags" Target="../tags/tag113.xml"/><Relationship Id="rId9" Type="http://schemas.openxmlformats.org/officeDocument/2006/relationships/oleObject" Target="../embeddings/oleObject15.bin"/></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19.xml"/><Relationship Id="rId7" Type="http://schemas.openxmlformats.org/officeDocument/2006/relationships/tags" Target="../tags/tag123.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image" Target="../media/image3.emf"/><Relationship Id="rId5" Type="http://schemas.openxmlformats.org/officeDocument/2006/relationships/tags" Target="../tags/tag121.xml"/><Relationship Id="rId10" Type="http://schemas.openxmlformats.org/officeDocument/2006/relationships/image" Target="../media/image4.emf"/><Relationship Id="rId4" Type="http://schemas.openxmlformats.org/officeDocument/2006/relationships/tags" Target="../tags/tag120.xml"/><Relationship Id="rId9" Type="http://schemas.openxmlformats.org/officeDocument/2006/relationships/oleObject" Target="../embeddings/oleObject16.bin"/></Relationships>
</file>

<file path=ppt/slideLayouts/_rels/slideLayout3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26.xml"/><Relationship Id="rId7" Type="http://schemas.openxmlformats.org/officeDocument/2006/relationships/tags" Target="../tags/tag130.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image" Target="../media/image3.emf"/><Relationship Id="rId5" Type="http://schemas.openxmlformats.org/officeDocument/2006/relationships/tags" Target="../tags/tag128.xml"/><Relationship Id="rId10" Type="http://schemas.openxmlformats.org/officeDocument/2006/relationships/image" Target="../media/image4.emf"/><Relationship Id="rId4" Type="http://schemas.openxmlformats.org/officeDocument/2006/relationships/tags" Target="../tags/tag127.xml"/><Relationship Id="rId9" Type="http://schemas.openxmlformats.org/officeDocument/2006/relationships/oleObject" Target="../embeddings/oleObject17.bin"/></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33.xml"/><Relationship Id="rId7" Type="http://schemas.openxmlformats.org/officeDocument/2006/relationships/tags" Target="../tags/tag137.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image" Target="../media/image3.emf"/><Relationship Id="rId5" Type="http://schemas.openxmlformats.org/officeDocument/2006/relationships/tags" Target="../tags/tag135.xml"/><Relationship Id="rId10" Type="http://schemas.openxmlformats.org/officeDocument/2006/relationships/image" Target="../media/image4.emf"/><Relationship Id="rId4" Type="http://schemas.openxmlformats.org/officeDocument/2006/relationships/tags" Target="../tags/tag134.xml"/><Relationship Id="rId9" Type="http://schemas.openxmlformats.org/officeDocument/2006/relationships/oleObject" Target="../embeddings/oleObject4.bin"/></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140.xml"/><Relationship Id="rId7" Type="http://schemas.openxmlformats.org/officeDocument/2006/relationships/oleObject" Target="../embeddings/oleObject18.bin"/><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Master" Target="../slideMasters/slideMaster3.xml"/><Relationship Id="rId5" Type="http://schemas.openxmlformats.org/officeDocument/2006/relationships/tags" Target="../tags/tag142.xml"/><Relationship Id="rId4" Type="http://schemas.openxmlformats.org/officeDocument/2006/relationships/tags" Target="../tags/tag141.xml"/><Relationship Id="rId9"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145.xml"/><Relationship Id="rId7" Type="http://schemas.openxmlformats.org/officeDocument/2006/relationships/image" Target="../media/image3.emf"/><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image" Target="../media/image2.emf"/><Relationship Id="rId5" Type="http://schemas.openxmlformats.org/officeDocument/2006/relationships/oleObject" Target="../embeddings/oleObject19.bin"/><Relationship Id="rId4"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oleObject" Target="../embeddings/oleObject20.bin"/></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image" Target="../media/image4.emf"/><Relationship Id="rId5" Type="http://schemas.openxmlformats.org/officeDocument/2006/relationships/oleObject" Target="../embeddings/oleObject22.bin"/><Relationship Id="rId4"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YP Title only">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8A2F35C-CCC5-4796-8DA9-F5D8192CB2D6}"/>
              </a:ext>
            </a:extLst>
          </p:cNvPr>
          <p:cNvGraphicFramePr>
            <a:graphicFrameLocks noChangeAspect="1"/>
          </p:cNvGraphicFramePr>
          <p:nvPr userDrawn="1">
            <p:custDataLst>
              <p:tags r:id="rId1"/>
            </p:custData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8" name="Object 7" hidden="1">
                        <a:extLst>
                          <a:ext uri="{FF2B5EF4-FFF2-40B4-BE49-F238E27FC236}">
                            <a16:creationId xmlns:a16="http://schemas.microsoft.com/office/drawing/2014/main" id="{E8A2F35C-CCC5-4796-8DA9-F5D8192CB2D6}"/>
                          </a:ext>
                        </a:extLst>
                      </p:cNvPr>
                      <p:cNvPicPr/>
                      <p:nvPr/>
                    </p:nvPicPr>
                    <p:blipFill>
                      <a:blip r:embed="rId5"/>
                      <a:stretch>
                        <a:fillRect/>
                      </a:stretch>
                    </p:blipFill>
                    <p:spPr>
                      <a:xfrm>
                        <a:off x="1587" y="1588"/>
                        <a:ext cx="158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8AA3264E-CB34-4429-9275-D4DC18E9B1E0}"/>
              </a:ext>
            </a:extLst>
          </p:cNvPr>
          <p:cNvSpPr/>
          <p:nvPr userDrawn="1">
            <p:custDataLst>
              <p:tags r:id="rId2"/>
            </p:custDataLst>
          </p:nvPr>
        </p:nvSpPr>
        <p:spPr>
          <a:xfrm>
            <a:off x="0" y="0"/>
            <a:ext cx="158667" cy="158750"/>
          </a:xfrm>
          <a:prstGeom prst="rect">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kumimoji="0" lang="en-US" sz="2199" b="0" i="0" u="none" cap="none" baseline="0">
              <a:solidFill>
                <a:schemeClr val="tx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cap="flat" cmpd="sng" algn="ctr">
            <a:solidFill>
              <a:srgbClr val="1A9AFA"/>
            </a:solid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latin typeface="Arial" panose="020B0604020202020204" pitchFamily="34" charset="0"/>
              <a:sym typeface="Arial" panose="020B0604020202020204" pitchFamily="34" charset="0"/>
            </a:endParaRPr>
          </a:p>
        </p:txBody>
      </p:sp>
      <p:sp>
        <p:nvSpPr>
          <p:cNvPr id="9" name="Title Placeholder 1">
            <a:extLst>
              <a:ext uri="{FF2B5EF4-FFF2-40B4-BE49-F238E27FC236}">
                <a16:creationId xmlns:a16="http://schemas.microsoft.com/office/drawing/2014/main" id="{2A343A82-E9F8-4308-B804-1ABAAE8F4928}"/>
              </a:ext>
            </a:extLst>
          </p:cNvPr>
          <p:cNvSpPr>
            <a:spLocks noGrp="1"/>
          </p:cNvSpPr>
          <p:nvPr>
            <p:ph type="title"/>
          </p:nvPr>
        </p:nvSpPr>
        <p:spPr>
          <a:xfrm>
            <a:off x="609600" y="269600"/>
            <a:ext cx="10974283" cy="590880"/>
          </a:xfrm>
          <a:prstGeom prst="rect">
            <a:avLst/>
          </a:prstGeom>
        </p:spPr>
        <p:txBody>
          <a:bodyPr vert="horz" lIns="0" tIns="0" rIns="0" bIns="0" rtlCol="0" anchor="t" anchorCtr="0">
            <a:noAutofit/>
          </a:bodyPr>
          <a:lstStyle>
            <a:lvl1pPr>
              <a:defRPr>
                <a:solidFill>
                  <a:srgbClr val="2E2E38"/>
                </a:solidFill>
              </a:defRPr>
            </a:lvl1pPr>
          </a:lstStyle>
          <a:p>
            <a:r>
              <a:rPr lang="en-US"/>
              <a:t>Click to edit Master title style</a:t>
            </a:r>
            <a:endParaRPr lang="en-GB"/>
          </a:p>
        </p:txBody>
      </p:sp>
    </p:spTree>
    <p:extLst>
      <p:ext uri="{BB962C8B-B14F-4D97-AF65-F5344CB8AC3E}">
        <p14:creationId xmlns:p14="http://schemas.microsoft.com/office/powerpoint/2010/main" val="3264679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384048" y="2711195"/>
            <a:ext cx="11420856" cy="2268222"/>
          </a:xfrm>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Date Placeholder 7">
            <a:extLst>
              <a:ext uri="{FF2B5EF4-FFF2-40B4-BE49-F238E27FC236}">
                <a16:creationId xmlns:a16="http://schemas.microsoft.com/office/drawing/2014/main" id="{6A5BF6AB-2D80-4B33-BD00-B219B9E88ACB}"/>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endParaRPr lang="en-CA"/>
          </a:p>
        </p:txBody>
      </p:sp>
      <p:sp>
        <p:nvSpPr>
          <p:cNvPr id="9" name="Footer Placeholder 8">
            <a:extLst>
              <a:ext uri="{FF2B5EF4-FFF2-40B4-BE49-F238E27FC236}">
                <a16:creationId xmlns:a16="http://schemas.microsoft.com/office/drawing/2014/main" id="{EE916F14-7935-4AE8-8068-C3EB1FBA7D46}"/>
              </a:ext>
            </a:extLst>
          </p:cNvPr>
          <p:cNvSpPr>
            <a:spLocks noGrp="1"/>
          </p:cNvSpPr>
          <p:nvPr>
            <p:ph type="ftr" sz="quarter" idx="11"/>
          </p:nvPr>
        </p:nvSpPr>
        <p:spPr>
          <a:xfrm>
            <a:off x="381000" y="6515098"/>
            <a:ext cx="9664700" cy="342900"/>
          </a:xfrm>
          <a:prstGeom prst="rect">
            <a:avLst/>
          </a:prstGeom>
        </p:spPr>
        <p:txBody>
          <a:bodyPr/>
          <a:lstStyle/>
          <a:p>
            <a:endParaRPr lang="en-CA"/>
          </a:p>
        </p:txBody>
      </p:sp>
      <p:pic>
        <p:nvPicPr>
          <p:cNvPr id="14" name="Picture 13">
            <a:extLst>
              <a:ext uri="{FF2B5EF4-FFF2-40B4-BE49-F238E27FC236}">
                <a16:creationId xmlns:a16="http://schemas.microsoft.com/office/drawing/2014/main" id="{D30950D2-F01E-9F44-AD9E-7771212C5D9A}"/>
              </a:ext>
            </a:extLst>
          </p:cNvPr>
          <p:cNvPicPr>
            <a:picLocks/>
          </p:cNvPicPr>
          <p:nvPr userDrawn="1"/>
        </p:nvPicPr>
        <p:blipFill>
          <a:blip r:embed="rId2"/>
          <a:stretch>
            <a:fillRect/>
          </a:stretch>
        </p:blipFill>
        <p:spPr>
          <a:xfrm>
            <a:off x="10203942" y="5912934"/>
            <a:ext cx="1600200" cy="602166"/>
          </a:xfrm>
          <a:prstGeom prst="rect">
            <a:avLst/>
          </a:prstGeom>
        </p:spPr>
      </p:pic>
    </p:spTree>
    <p:extLst>
      <p:ext uri="{BB962C8B-B14F-4D97-AF65-F5344CB8AC3E}">
        <p14:creationId xmlns:p14="http://schemas.microsoft.com/office/powerpoint/2010/main" val="349312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8F241A-25B2-3D41-ADDE-A82C17268E58}"/>
              </a:ext>
            </a:extLst>
          </p:cNvPr>
          <p:cNvSpPr/>
          <p:nvPr userDrawn="1"/>
        </p:nvSpPr>
        <p:spPr>
          <a:xfrm>
            <a:off x="1753114" y="1371600"/>
            <a:ext cx="4544568" cy="45456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lang="en-CA" sz="1350">
              <a:solidFill>
                <a:schemeClr val="bg1"/>
              </a:solidFill>
            </a:endParaRPr>
          </a:p>
        </p:txBody>
      </p:sp>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2186945" y="1676400"/>
            <a:ext cx="3959352" cy="2971800"/>
          </a:xfrm>
          <a:noFill/>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2186945" y="4648200"/>
            <a:ext cx="3959352" cy="914400"/>
          </a:xfrm>
          <a:noFill/>
        </p:spPr>
        <p:txBody>
          <a:bodyPr anchor="b" anchorCtr="0">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7" name="Date Placeholder 6">
            <a:extLst>
              <a:ext uri="{FF2B5EF4-FFF2-40B4-BE49-F238E27FC236}">
                <a16:creationId xmlns:a16="http://schemas.microsoft.com/office/drawing/2014/main" id="{17A58CD2-A995-4262-A6D6-8D0AADA58C10}"/>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endParaRPr lang="en-CA"/>
          </a:p>
        </p:txBody>
      </p:sp>
      <p:pic>
        <p:nvPicPr>
          <p:cNvPr id="12" name="Picture 11">
            <a:extLst>
              <a:ext uri="{FF2B5EF4-FFF2-40B4-BE49-F238E27FC236}">
                <a16:creationId xmlns:a16="http://schemas.microsoft.com/office/drawing/2014/main" id="{EA6A21FE-07F5-4A52-B78A-91402A316252}"/>
              </a:ext>
            </a:extLst>
          </p:cNvPr>
          <p:cNvPicPr>
            <a:picLocks/>
          </p:cNvPicPr>
          <p:nvPr userDrawn="1"/>
        </p:nvPicPr>
        <p:blipFill>
          <a:blip r:embed="rId2"/>
          <a:stretch>
            <a:fillRect/>
          </a:stretch>
        </p:blipFill>
        <p:spPr>
          <a:xfrm>
            <a:off x="10203942" y="5912934"/>
            <a:ext cx="1600200" cy="602166"/>
          </a:xfrm>
          <a:prstGeom prst="rect">
            <a:avLst/>
          </a:prstGeom>
        </p:spPr>
      </p:pic>
      <p:sp>
        <p:nvSpPr>
          <p:cNvPr id="9" name="Footer Placeholder 8">
            <a:extLst>
              <a:ext uri="{FF2B5EF4-FFF2-40B4-BE49-F238E27FC236}">
                <a16:creationId xmlns:a16="http://schemas.microsoft.com/office/drawing/2014/main" id="{20BD4B6A-B0A7-DE49-A4C4-D89305445939}"/>
              </a:ext>
            </a:extLst>
          </p:cNvPr>
          <p:cNvSpPr>
            <a:spLocks noGrp="1"/>
          </p:cNvSpPr>
          <p:nvPr>
            <p:ph type="ftr" sz="quarter" idx="11"/>
          </p:nvPr>
        </p:nvSpPr>
        <p:spPr>
          <a:xfrm>
            <a:off x="381000" y="6515098"/>
            <a:ext cx="9664700" cy="342900"/>
          </a:xfrm>
          <a:prstGeom prst="rect">
            <a:avLst/>
          </a:prstGeom>
        </p:spPr>
        <p:txBody>
          <a:bodyPr/>
          <a:lstStyle/>
          <a:p>
            <a:endParaRPr lang="en-CA"/>
          </a:p>
        </p:txBody>
      </p:sp>
    </p:spTree>
    <p:extLst>
      <p:ext uri="{BB962C8B-B14F-4D97-AF65-F5344CB8AC3E}">
        <p14:creationId xmlns:p14="http://schemas.microsoft.com/office/powerpoint/2010/main" val="1821762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10" name="Table Placeholder 9">
            <a:extLst>
              <a:ext uri="{FF2B5EF4-FFF2-40B4-BE49-F238E27FC236}">
                <a16:creationId xmlns:a16="http://schemas.microsoft.com/office/drawing/2014/main" id="{B83CA65E-AE9C-F54B-B443-CD30308C2CA7}"/>
              </a:ext>
            </a:extLst>
          </p:cNvPr>
          <p:cNvSpPr>
            <a:spLocks noGrp="1"/>
          </p:cNvSpPr>
          <p:nvPr>
            <p:ph type="tbl" sz="quarter" idx="14" hasCustomPrompt="1"/>
          </p:nvPr>
        </p:nvSpPr>
        <p:spPr>
          <a:xfrm>
            <a:off x="381000" y="1295400"/>
            <a:ext cx="11430000" cy="4724400"/>
          </a:xfrm>
        </p:spPr>
        <p:txBody>
          <a:bodyPr/>
          <a:lstStyle>
            <a:lvl1pPr marL="0" indent="0">
              <a:buNone/>
              <a:defRPr sz="1600"/>
            </a:lvl1pPr>
            <a:lvl2pPr marL="685800" indent="-228600">
              <a:buFont typeface="Arial" panose="020B0604020202020204" pitchFamily="34" charset="0"/>
              <a:buChar char="•"/>
              <a:defRPr sz="1600"/>
            </a:lvl2pPr>
            <a:lvl3pPr marL="1143000" indent="-228600">
              <a:buFont typeface="Wingdings" pitchFamily="2" charset="2"/>
              <a:buChar char="§"/>
              <a:defRPr sz="1400"/>
            </a:lvl3pPr>
            <a:lvl4pPr marL="1600200" indent="-228600">
              <a:buFont typeface="Arial" panose="020B0604020202020204" pitchFamily="34" charset="0"/>
              <a:buChar char="•"/>
              <a:defRPr sz="1200"/>
            </a:lvl4pPr>
            <a:lvl5pPr marL="2057400" indent="-228600">
              <a:buFont typeface="Wingdings" pitchFamily="2" charset="2"/>
              <a:buChar char="§"/>
              <a:defRPr sz="1000"/>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Tree>
    <p:extLst>
      <p:ext uri="{BB962C8B-B14F-4D97-AF65-F5344CB8AC3E}">
        <p14:creationId xmlns:p14="http://schemas.microsoft.com/office/powerpoint/2010/main" val="2824354072"/>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38591767"/>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0BD3AE-39E3-494F-A1EE-16FB6F252764}"/>
              </a:ext>
            </a:extLst>
          </p:cNvPr>
          <p:cNvSpPr>
            <a:spLocks noGrp="1"/>
          </p:cNvSpPr>
          <p:nvPr>
            <p:ph idx="1" hasCustomPrompt="1"/>
          </p:nvPr>
        </p:nvSpPr>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510051756"/>
      </p:ext>
    </p:extLst>
  </p:cSld>
  <p:clrMapOvr>
    <a:masterClrMapping/>
  </p:clrMapOvr>
  <p:extLst>
    <p:ext uri="{DCECCB84-F9BA-43D5-87BE-67443E8EF086}">
      <p15:sldGuideLst xmlns:p15="http://schemas.microsoft.com/office/powerpoint/2012/main">
        <p15:guide id="1" orient="horz" pos="816" userDrawn="1">
          <p15:clr>
            <a:srgbClr val="FBAE40"/>
          </p15:clr>
        </p15:guide>
        <p15:guide id="2" orient="horz" pos="672" userDrawn="1">
          <p15:clr>
            <a:srgbClr val="FBAE40"/>
          </p15:clr>
        </p15:guide>
        <p15:guide id="3" orient="horz" pos="3936" userDrawn="1">
          <p15:clr>
            <a:srgbClr val="FBAE40"/>
          </p15:clr>
        </p15:guide>
        <p15:guide id="4" orient="horz" pos="3792" userDrawn="1">
          <p15:clr>
            <a:srgbClr val="FBAE40"/>
          </p15:clr>
        </p15:guide>
        <p15:guide id="5" orient="horz" pos="5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E597-5579-A045-9648-491A56F1DD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84AE1E-60E5-6446-BB3C-C46E835D3342}"/>
              </a:ext>
            </a:extLst>
          </p:cNvPr>
          <p:cNvSpPr>
            <a:spLocks noGrp="1"/>
          </p:cNvSpPr>
          <p:nvPr>
            <p:ph sz="half" idx="1" hasCustomPrompt="1"/>
          </p:nvPr>
        </p:nvSpPr>
        <p:spPr>
          <a:xfrm>
            <a:off x="384048" y="1295401"/>
            <a:ext cx="5559552" cy="4724400"/>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4" name="Content Placeholder 3">
            <a:extLst>
              <a:ext uri="{FF2B5EF4-FFF2-40B4-BE49-F238E27FC236}">
                <a16:creationId xmlns:a16="http://schemas.microsoft.com/office/drawing/2014/main" id="{DDB161A1-7135-6A48-88B5-FA6A609C298F}"/>
              </a:ext>
            </a:extLst>
          </p:cNvPr>
          <p:cNvSpPr>
            <a:spLocks noGrp="1"/>
          </p:cNvSpPr>
          <p:nvPr>
            <p:ph sz="half" idx="2" hasCustomPrompt="1"/>
          </p:nvPr>
        </p:nvSpPr>
        <p:spPr>
          <a:xfrm>
            <a:off x="6248400" y="1295403"/>
            <a:ext cx="5556250" cy="4724399"/>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8" name="Footer Placeholder 4">
            <a:extLst>
              <a:ext uri="{FF2B5EF4-FFF2-40B4-BE49-F238E27FC236}">
                <a16:creationId xmlns:a16="http://schemas.microsoft.com/office/drawing/2014/main" id="{97C1624E-A29C-1D46-89E2-F842DD42DDE8}"/>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9" name="Date Placeholder 3">
            <a:extLst>
              <a:ext uri="{FF2B5EF4-FFF2-40B4-BE49-F238E27FC236}">
                <a16:creationId xmlns:a16="http://schemas.microsoft.com/office/drawing/2014/main" id="{990CB781-62E8-C740-9FC2-AF70714CA6FB}"/>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B9DA3F-10E5-7D41-84AB-9050D4311949}"/>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B699D31A-57EC-B04B-A41A-F3C3AF558E17}"/>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591648496"/>
      </p:ext>
    </p:extLst>
  </p:cSld>
  <p:clrMapOvr>
    <a:masterClrMapping/>
  </p:clrMapOvr>
  <p:extLst>
    <p:ext uri="{DCECCB84-F9BA-43D5-87BE-67443E8EF086}">
      <p15:sldGuideLst xmlns:p15="http://schemas.microsoft.com/office/powerpoint/2012/main">
        <p15:guide id="1" orient="horz" pos="576" userDrawn="1">
          <p15:clr>
            <a:srgbClr val="FBAE40"/>
          </p15:clr>
        </p15:guide>
        <p15:guide id="2" orient="horz" pos="672" userDrawn="1">
          <p15:clr>
            <a:srgbClr val="FBAE40"/>
          </p15:clr>
        </p15:guide>
        <p15:guide id="3" orient="horz" pos="816" userDrawn="1">
          <p15:clr>
            <a:srgbClr val="FBAE40"/>
          </p15:clr>
        </p15:guide>
        <p15:guide id="4" orient="horz" pos="3936" userDrawn="1">
          <p15:clr>
            <a:srgbClr val="FBAE40"/>
          </p15:clr>
        </p15:guide>
        <p15:guide id="5" orient="horz" pos="3792" userDrawn="1">
          <p15:clr>
            <a:srgbClr val="FBAE40"/>
          </p15:clr>
        </p15:guide>
        <p15:guide id="6" pos="3744" userDrawn="1">
          <p15:clr>
            <a:srgbClr val="FBAE40"/>
          </p15:clr>
        </p15:guide>
        <p15:guide id="7" pos="39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5E1948-A0F9-446F-A911-3D63891A9EE4}"/>
              </a:ext>
            </a:extLst>
          </p:cNvPr>
          <p:cNvSpPr>
            <a:spLocks noGrp="1"/>
          </p:cNvSpPr>
          <p:nvPr>
            <p:ph type="body" idx="1"/>
          </p:nvPr>
        </p:nvSpPr>
        <p:spPr>
          <a:xfrm>
            <a:off x="384048" y="1298448"/>
            <a:ext cx="5564124"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B8382803-AA33-4BE8-B029-8C6D44878A59}"/>
              </a:ext>
            </a:extLst>
          </p:cNvPr>
          <p:cNvSpPr>
            <a:spLocks noGrp="1"/>
          </p:cNvSpPr>
          <p:nvPr>
            <p:ph sz="half" idx="2"/>
          </p:nvPr>
        </p:nvSpPr>
        <p:spPr>
          <a:xfrm>
            <a:off x="384048" y="1981200"/>
            <a:ext cx="5564124"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D253C96-7453-445F-9A82-BC56E5098671}"/>
              </a:ext>
            </a:extLst>
          </p:cNvPr>
          <p:cNvSpPr>
            <a:spLocks noGrp="1"/>
          </p:cNvSpPr>
          <p:nvPr>
            <p:ph type="body" sz="quarter" idx="3"/>
          </p:nvPr>
        </p:nvSpPr>
        <p:spPr>
          <a:xfrm>
            <a:off x="6245352" y="1298448"/>
            <a:ext cx="5559297"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9EBCD2F-8EC4-4C1F-8B3F-1D6D8381165B}"/>
              </a:ext>
            </a:extLst>
          </p:cNvPr>
          <p:cNvSpPr>
            <a:spLocks noGrp="1"/>
          </p:cNvSpPr>
          <p:nvPr>
            <p:ph sz="quarter" idx="4"/>
          </p:nvPr>
        </p:nvSpPr>
        <p:spPr>
          <a:xfrm>
            <a:off x="6245352" y="1981200"/>
            <a:ext cx="5559297"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Title 12">
            <a:extLst>
              <a:ext uri="{FF2B5EF4-FFF2-40B4-BE49-F238E27FC236}">
                <a16:creationId xmlns:a16="http://schemas.microsoft.com/office/drawing/2014/main" id="{BFB384AC-20BD-4E27-BC9E-242394EDC903}"/>
              </a:ext>
            </a:extLst>
          </p:cNvPr>
          <p:cNvSpPr>
            <a:spLocks noGrp="1"/>
          </p:cNvSpPr>
          <p:nvPr>
            <p:ph type="title"/>
          </p:nvPr>
        </p:nvSpPr>
        <p:spPr/>
        <p:txBody>
          <a:bodyPr/>
          <a:lstStyle/>
          <a:p>
            <a:r>
              <a:rPr lang="en-US"/>
              <a:t>Click to edit Master title style</a:t>
            </a:r>
            <a:endParaRPr lang="en-CA"/>
          </a:p>
        </p:txBody>
      </p:sp>
      <p:sp>
        <p:nvSpPr>
          <p:cNvPr id="14" name="Footer Placeholder 4">
            <a:extLst>
              <a:ext uri="{FF2B5EF4-FFF2-40B4-BE49-F238E27FC236}">
                <a16:creationId xmlns:a16="http://schemas.microsoft.com/office/drawing/2014/main" id="{B10DE041-1517-5A47-97B4-72983B7208BB}"/>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15" name="Date Placeholder 3">
            <a:extLst>
              <a:ext uri="{FF2B5EF4-FFF2-40B4-BE49-F238E27FC236}">
                <a16:creationId xmlns:a16="http://schemas.microsoft.com/office/drawing/2014/main" id="{C5E41CEC-9B27-A749-A91A-F3876DEE64F5}"/>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9" name="Footer Placeholder 8">
            <a:extLst>
              <a:ext uri="{FF2B5EF4-FFF2-40B4-BE49-F238E27FC236}">
                <a16:creationId xmlns:a16="http://schemas.microsoft.com/office/drawing/2014/main" id="{537CB532-8D5C-8945-8545-5DB40674F21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A7EA675A-F366-9445-A648-5A3407423352}"/>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08761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3E20-716D-D744-AD1B-2265FFE51936}"/>
              </a:ext>
            </a:extLst>
          </p:cNvPr>
          <p:cNvSpPr>
            <a:spLocks noGrp="1"/>
          </p:cNvSpPr>
          <p:nvPr>
            <p:ph type="title"/>
          </p:nvPr>
        </p:nvSpPr>
        <p:spPr/>
        <p:txBody>
          <a:bodyPr/>
          <a:lstStyle/>
          <a:p>
            <a:r>
              <a:rPr lang="en-US"/>
              <a:t>Click to edit Master title style</a:t>
            </a:r>
            <a:endParaRPr lang="en-CA"/>
          </a:p>
        </p:txBody>
      </p:sp>
      <p:sp>
        <p:nvSpPr>
          <p:cNvPr id="6" name="Footer Placeholder 4">
            <a:extLst>
              <a:ext uri="{FF2B5EF4-FFF2-40B4-BE49-F238E27FC236}">
                <a16:creationId xmlns:a16="http://schemas.microsoft.com/office/drawing/2014/main" id="{92D4AE55-D906-0746-A30E-B9A295D9F9D4}"/>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7" name="Date Placeholder 3">
            <a:extLst>
              <a:ext uri="{FF2B5EF4-FFF2-40B4-BE49-F238E27FC236}">
                <a16:creationId xmlns:a16="http://schemas.microsoft.com/office/drawing/2014/main" id="{DE99D70A-FB1B-FA4E-8933-89A0D75272BA}"/>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5" name="Footer Placeholder 8">
            <a:extLst>
              <a:ext uri="{FF2B5EF4-FFF2-40B4-BE49-F238E27FC236}">
                <a16:creationId xmlns:a16="http://schemas.microsoft.com/office/drawing/2014/main" id="{49664162-4786-1942-ACFE-99521245B22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EB75E0D-B022-7046-BA11-100FFB7C79CE}"/>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539821737"/>
      </p:ext>
    </p:extLst>
  </p:cSld>
  <p:clrMapOvr>
    <a:masterClrMapping/>
  </p:clrMapOvr>
  <p:extLst>
    <p:ext uri="{DCECCB84-F9BA-43D5-87BE-67443E8EF086}">
      <p15:sldGuideLst xmlns:p15="http://schemas.microsoft.com/office/powerpoint/2012/main">
        <p15:guide id="1" orient="horz" pos="3936" userDrawn="1">
          <p15:clr>
            <a:srgbClr val="FBAE40"/>
          </p15:clr>
        </p15:guide>
        <p15:guide id="2" orient="horz" pos="672" userDrawn="1">
          <p15:clr>
            <a:srgbClr val="FBAE40"/>
          </p15:clr>
        </p15:guide>
        <p15:guide id="3" orient="horz" pos="576" userDrawn="1">
          <p15:clr>
            <a:srgbClr val="FBAE40"/>
          </p15:clr>
        </p15:guide>
        <p15:guide id="4" orient="horz" pos="81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6" name="Footer Placeholder 8">
            <a:extLst>
              <a:ext uri="{FF2B5EF4-FFF2-40B4-BE49-F238E27FC236}">
                <a16:creationId xmlns:a16="http://schemas.microsoft.com/office/drawing/2014/main" id="{CFA69B87-9945-1E41-B174-CB3CA724A68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7" name="Footer Placeholder 8">
            <a:extLst>
              <a:ext uri="{FF2B5EF4-FFF2-40B4-BE49-F238E27FC236}">
                <a16:creationId xmlns:a16="http://schemas.microsoft.com/office/drawing/2014/main" id="{1A906DB9-9029-BD41-B151-DAC6CE38C40C}"/>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829679944"/>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E6DF-B3B9-7E40-B9F1-4880D25FF57B}"/>
              </a:ext>
            </a:extLst>
          </p:cNvPr>
          <p:cNvSpPr>
            <a:spLocks noGrp="1"/>
          </p:cNvSpPr>
          <p:nvPr>
            <p:ph type="title"/>
          </p:nvPr>
        </p:nvSpPr>
        <p:spPr>
          <a:xfrm>
            <a:off x="384048" y="2711194"/>
            <a:ext cx="11420856" cy="1327406"/>
          </a:xfrm>
        </p:spPr>
        <p:txBody>
          <a:bodyPr anchor="t" anchorCtr="0">
            <a:normAutofit/>
          </a:bodyPr>
          <a:lstStyle>
            <a:lvl1pPr>
              <a:defRPr sz="4400">
                <a:solidFill>
                  <a:schemeClr val="tx1"/>
                </a:solidFill>
              </a:defRPr>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C59257A0-6B83-4D3D-A541-6CB290CD7808}"/>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9" name="Footer Placeholder 8">
            <a:extLst>
              <a:ext uri="{FF2B5EF4-FFF2-40B4-BE49-F238E27FC236}">
                <a16:creationId xmlns:a16="http://schemas.microsoft.com/office/drawing/2014/main" id="{5023D39E-AEBB-3045-BEFE-A5D4AC3AA1A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E5C5F2E2-F73E-ED44-995B-929141C21D26}"/>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475147007"/>
      </p:ext>
    </p:extLst>
  </p:cSld>
  <p:clrMapOvr>
    <a:masterClrMapping/>
  </p:clrMapOvr>
  <p:extLst>
    <p:ext uri="{DCECCB84-F9BA-43D5-87BE-67443E8EF086}">
      <p15:sldGuideLst xmlns:p15="http://schemas.microsoft.com/office/powerpoint/2012/main">
        <p15:guide id="1" orient="horz" pos="39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V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9771C-B75B-5948-B389-31FAC5236817}"/>
              </a:ext>
            </a:extLst>
          </p:cNvPr>
          <p:cNvSpPr>
            <a:spLocks noGrp="1"/>
          </p:cNvSpPr>
          <p:nvPr>
            <p:ph type="title"/>
          </p:nvPr>
        </p:nvSpPr>
        <p:spPr>
          <a:xfrm>
            <a:off x="339299" y="258707"/>
            <a:ext cx="10515600" cy="497940"/>
          </a:xfrm>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75EF05CB-0C0C-0346-B965-4B52E38BD165}"/>
              </a:ext>
            </a:extLst>
          </p:cNvPr>
          <p:cNvSpPr>
            <a:spLocks noGrp="1"/>
          </p:cNvSpPr>
          <p:nvPr>
            <p:ph type="sldNum" sz="quarter" idx="10"/>
          </p:nvPr>
        </p:nvSpPr>
        <p:spPr/>
        <p:txBody>
          <a:bodyPr/>
          <a:lstStyle/>
          <a:p>
            <a:fld id="{CFEC9632-FDFC-7346-ADAC-032CD905505E}" type="slidenum">
              <a:rPr lang="en-US" smtClean="0"/>
              <a:pPr/>
              <a:t>‹#›</a:t>
            </a:fld>
            <a:endParaRPr lang="en-US"/>
          </a:p>
        </p:txBody>
      </p:sp>
      <p:sp>
        <p:nvSpPr>
          <p:cNvPr id="5" name="Rectangle 4">
            <a:extLst>
              <a:ext uri="{FF2B5EF4-FFF2-40B4-BE49-F238E27FC236}">
                <a16:creationId xmlns:a16="http://schemas.microsoft.com/office/drawing/2014/main" id="{1CD51D7F-14A2-E349-A752-D858A6B93E45}"/>
              </a:ext>
            </a:extLst>
          </p:cNvPr>
          <p:cNvSpPr/>
          <p:nvPr userDrawn="1"/>
        </p:nvSpPr>
        <p:spPr>
          <a:xfrm>
            <a:off x="0" y="914400"/>
            <a:ext cx="12192000" cy="5259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3">
            <a:extLst>
              <a:ext uri="{FF2B5EF4-FFF2-40B4-BE49-F238E27FC236}">
                <a16:creationId xmlns:a16="http://schemas.microsoft.com/office/drawing/2014/main" id="{1A6D5213-C91B-FB4F-87B7-F8A925E83358}"/>
              </a:ext>
            </a:extLst>
          </p:cNvPr>
          <p:cNvSpPr>
            <a:spLocks noGrp="1"/>
          </p:cNvSpPr>
          <p:nvPr>
            <p:ph type="ftr" sz="quarter" idx="3"/>
          </p:nvPr>
        </p:nvSpPr>
        <p:spPr>
          <a:xfrm>
            <a:off x="635364" y="6477535"/>
            <a:ext cx="2195443" cy="365125"/>
          </a:xfrm>
          <a:prstGeom prst="rect">
            <a:avLst/>
          </a:prstGeom>
        </p:spPr>
        <p:txBody>
          <a:bodyPr vert="horz" lIns="91440" tIns="45720" rIns="91440" bIns="45720" rtlCol="0" anchor="ctr"/>
          <a:lstStyle>
            <a:lvl1pPr algn="l">
              <a:defRPr sz="1050">
                <a:solidFill>
                  <a:schemeClr val="tx1"/>
                </a:solidFill>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307552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content, footnotes">
    <p:spTree>
      <p:nvGrpSpPr>
        <p:cNvPr id="1" name=""/>
        <p:cNvGrpSpPr/>
        <p:nvPr/>
      </p:nvGrpSpPr>
      <p:grpSpPr>
        <a:xfrm>
          <a:off x="0" y="0"/>
          <a:ext cx="0" cy="0"/>
          <a:chOff x="0" y="0"/>
          <a:chExt cx="0" cy="0"/>
        </a:xfrm>
      </p:grpSpPr>
      <p:sp>
        <p:nvSpPr>
          <p:cNvPr id="7" name="Rectangle 18"/>
          <p:cNvSpPr>
            <a:spLocks noGrp="1" noChangeArrowheads="1"/>
          </p:cNvSpPr>
          <p:nvPr>
            <p:ph type="title"/>
          </p:nvPr>
        </p:nvSpPr>
        <p:spPr bwMode="auto">
          <a:xfrm>
            <a:off x="426720" y="347472"/>
            <a:ext cx="11338560" cy="658368"/>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sz="1800"/>
            </a:lvl1pPr>
          </a:lstStyle>
          <a:p>
            <a:pPr lvl="0"/>
            <a:r>
              <a:rPr lang="en-US"/>
              <a:t>Click to edit Master title style</a:t>
            </a:r>
          </a:p>
        </p:txBody>
      </p:sp>
      <p:sp>
        <p:nvSpPr>
          <p:cNvPr id="4" name="Line 4"/>
          <p:cNvSpPr>
            <a:spLocks noChangeShapeType="1"/>
          </p:cNvSpPr>
          <p:nvPr userDrawn="1"/>
        </p:nvSpPr>
        <p:spPr bwMode="auto">
          <a:xfrm>
            <a:off x="426720" y="1060704"/>
            <a:ext cx="11338560" cy="0"/>
          </a:xfrm>
          <a:prstGeom prst="line">
            <a:avLst/>
          </a:prstGeom>
          <a:noFill/>
          <a:ln w="28575">
            <a:solidFill>
              <a:srgbClr val="DBCDA3"/>
            </a:solidFill>
            <a:round/>
            <a:headEnd/>
            <a:tailEnd/>
          </a:ln>
        </p:spPr>
        <p:txBody>
          <a:bodyPr wrap="none" anchor="ctr"/>
          <a:lstStyle/>
          <a:p>
            <a:pPr marL="0" marR="0" lvl="0" indent="0" algn="l" defTabSz="457200" rtl="0" eaLnBrk="0" fontAlgn="auto" latinLnBrk="0" hangingPunct="0">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Content Placeholder 10"/>
          <p:cNvSpPr>
            <a:spLocks noGrp="1"/>
          </p:cNvSpPr>
          <p:nvPr>
            <p:ph sz="quarter" idx="10"/>
          </p:nvPr>
        </p:nvSpPr>
        <p:spPr>
          <a:xfrm>
            <a:off x="426720" y="1188721"/>
            <a:ext cx="11338560" cy="4986801"/>
          </a:xfrm>
        </p:spPr>
        <p:txBody>
          <a:bodyPr/>
          <a:lstStyle>
            <a:lvl2pPr>
              <a:buSzPct val="100000"/>
              <a:defRPr/>
            </a:lvl2pPr>
            <a:lvl3pPr marL="685800" indent="-228600">
              <a:buSzPct val="100000"/>
              <a:defRPr/>
            </a:lvl3pPr>
            <a:lvl4pPr marL="685800" indent="0">
              <a:buSzPct val="100000"/>
              <a:buNone/>
              <a:defRPr/>
            </a:lvl4pPr>
          </a:lstStyle>
          <a:p>
            <a:pPr lvl="0"/>
            <a:r>
              <a:rPr lang="en-US"/>
              <a:t>Click to edit Master text styles</a:t>
            </a:r>
          </a:p>
          <a:p>
            <a:pPr lvl="1"/>
            <a:r>
              <a:rPr lang="en-US"/>
              <a:t>Second level</a:t>
            </a:r>
          </a:p>
          <a:p>
            <a:pPr lvl="2"/>
            <a:r>
              <a:rPr lang="en-US"/>
              <a:t>Third level</a:t>
            </a:r>
          </a:p>
        </p:txBody>
      </p:sp>
      <p:sp>
        <p:nvSpPr>
          <p:cNvPr id="10" name="Slide Number Placeholder 5">
            <a:extLst>
              <a:ext uri="{FF2B5EF4-FFF2-40B4-BE49-F238E27FC236}">
                <a16:creationId xmlns:a16="http://schemas.microsoft.com/office/drawing/2014/main" id="{FC6EA941-3153-4BEC-91E1-C253E1A9E112}"/>
              </a:ext>
            </a:extLst>
          </p:cNvPr>
          <p:cNvSpPr txBox="1">
            <a:spLocks/>
          </p:cNvSpPr>
          <p:nvPr userDrawn="1"/>
        </p:nvSpPr>
        <p:spPr>
          <a:xfrm>
            <a:off x="11519337" y="155448"/>
            <a:ext cx="568367" cy="274320"/>
          </a:xfrm>
          <a:prstGeom prst="rect">
            <a:avLst/>
          </a:prstGeom>
          <a:ln>
            <a:solidFill>
              <a:sysClr val="windowText" lastClr="000000"/>
            </a:solidFill>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0566C06B-7969-479A-854B-651176F39A74}"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9" name="Text Placeholder 12">
            <a:extLst>
              <a:ext uri="{FF2B5EF4-FFF2-40B4-BE49-F238E27FC236}">
                <a16:creationId xmlns:a16="http://schemas.microsoft.com/office/drawing/2014/main" id="{18064655-CA29-4AAE-B70C-F27350921FC2}"/>
              </a:ext>
            </a:extLst>
          </p:cNvPr>
          <p:cNvSpPr>
            <a:spLocks noGrp="1"/>
          </p:cNvSpPr>
          <p:nvPr>
            <p:ph type="body" sz="quarter" idx="11"/>
          </p:nvPr>
        </p:nvSpPr>
        <p:spPr>
          <a:xfrm>
            <a:off x="426720" y="6230388"/>
            <a:ext cx="11338560" cy="365125"/>
          </a:xfrm>
        </p:spPr>
        <p:txBody>
          <a:bodyPr/>
          <a:lstStyle>
            <a:lvl1pPr>
              <a:buNone/>
              <a:defRPr sz="900"/>
            </a:lvl1pPr>
          </a:lstStyle>
          <a:p>
            <a:pPr lvl="0"/>
            <a:r>
              <a:rPr lang="en-US"/>
              <a:t>Click to edit Master text styles</a:t>
            </a:r>
          </a:p>
        </p:txBody>
      </p:sp>
      <p:sp>
        <p:nvSpPr>
          <p:cNvPr id="12" name="Footer Placeholder 4">
            <a:extLst>
              <a:ext uri="{FF2B5EF4-FFF2-40B4-BE49-F238E27FC236}">
                <a16:creationId xmlns:a16="http://schemas.microsoft.com/office/drawing/2014/main" id="{15C51CB0-F570-462F-B2F9-2F3FC829B957}"/>
              </a:ext>
            </a:extLst>
          </p:cNvPr>
          <p:cNvSpPr txBox="1">
            <a:spLocks/>
          </p:cNvSpPr>
          <p:nvPr userDrawn="1"/>
        </p:nvSpPr>
        <p:spPr>
          <a:xfrm>
            <a:off x="4150720" y="6524716"/>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tint val="75000"/>
                  </a:srgbClr>
                </a:solidFill>
                <a:effectLst/>
                <a:uLnTx/>
                <a:uFillTx/>
                <a:latin typeface="Arial" pitchFamily="34" charset="0"/>
                <a:ea typeface="+mn-ea"/>
                <a:cs typeface="Arial" pitchFamily="34" charset="0"/>
              </a:rPr>
              <a:t>Confidential</a:t>
            </a:r>
          </a:p>
        </p:txBody>
      </p:sp>
    </p:spTree>
    <p:extLst>
      <p:ext uri="{BB962C8B-B14F-4D97-AF65-F5344CB8AC3E}">
        <p14:creationId xmlns:p14="http://schemas.microsoft.com/office/powerpoint/2010/main" val="2155475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3" imgH="416" progId="TCLayout.ActiveDocument.1">
                  <p:embed/>
                </p:oleObj>
              </mc:Choice>
              <mc:Fallback>
                <p:oleObj name="think-cell Slide" r:id="rId5"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3"/>
            </p:custDataLst>
          </p:nvPr>
        </p:nvSpPr>
        <p:spPr>
          <a:xfrm>
            <a:off x="384048"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CA"/>
              <a:t>Source: …</a:t>
            </a:r>
          </a:p>
        </p:txBody>
      </p:sp>
      <p:sp>
        <p:nvSpPr>
          <p:cNvPr id="18" name="Slide Number">
            <a:extLst>
              <a:ext uri="{FF2B5EF4-FFF2-40B4-BE49-F238E27FC236}">
                <a16:creationId xmlns:a16="http://schemas.microsoft.com/office/drawing/2014/main" id="{97F3F571-51EF-4F44-0AC8-1FAE3154C6D3}"/>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462350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223032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3"/>
            </p:custDataLst>
          </p:nvPr>
        </p:nvSpPr>
        <p:spPr>
          <a:xfrm>
            <a:off x="384048" y="4980756"/>
            <a:ext cx="11420856" cy="276999"/>
          </a:xfrm>
          <a:prstGeom prst="rect">
            <a:avLst/>
          </a:prstGeom>
        </p:spPr>
        <p:txBody>
          <a:bodyPr vert="horz" wrap="square" lIns="0" tIns="0" rIns="0" bIns="0" rtlCol="0">
            <a:spAutoFit/>
          </a:bodyPr>
          <a:lstStyle>
            <a:lvl1pPr rtl="0">
              <a:defRPr kumimoji="0" lang="en-US" sz="2000" b="0" i="0" u="none" strike="noStrike" cap="none" spc="0" normalizeH="0" baseline="0" dirty="0">
                <a:ln>
                  <a:noFill/>
                </a:ln>
                <a:solidFill>
                  <a:srgbClr val="515349"/>
                </a:solidFill>
                <a:effectLst/>
                <a:uLnTx/>
                <a:uFillTx/>
                <a:latin typeface="Arial" panose="020B0604020202020204"/>
                <a:cs typeface="+mn-cs"/>
              </a:defRPr>
            </a:lvl1pPr>
          </a:lstStyle>
          <a:p>
            <a:pPr marR="0" lvl="0" defTabSz="685800" fontAlgn="auto">
              <a:lnSpc>
                <a:spcPct val="90000"/>
              </a:lnSpc>
              <a:spcBef>
                <a:spcPts val="1000"/>
              </a:spcBef>
              <a:spcAft>
                <a:spcPts val="0"/>
              </a:spcAft>
              <a:buClrTx/>
              <a:buSzTx/>
              <a:buFont typeface="Arial" panose="020B0604020202020204" pitchFamily="34" charset="0"/>
              <a:buNone/>
              <a:tabLst/>
            </a:pPr>
            <a:r>
              <a:rPr lang="en-US"/>
              <a:t>Click to edit Master subtitle style</a:t>
            </a:r>
            <a:endParaRPr lang="en-CA"/>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4"/>
            </p:custDataLst>
          </p:nvPr>
        </p:nvSpPr>
        <p:spPr>
          <a:xfrm>
            <a:off x="384048" y="2711195"/>
            <a:ext cx="11420856" cy="609398"/>
          </a:xfrm>
          <a:prstGeom prst="rect">
            <a:avLst/>
          </a:prstGeom>
        </p:spPr>
        <p:txBody>
          <a:bodyPr vert="horz" wrap="square" lIns="0" tIns="0" rIns="0" bIns="0" rtlCol="0" anchor="t" anchorCtr="0">
            <a:spAutoFit/>
          </a:bodyPr>
          <a:lstStyle>
            <a:lvl1pPr rtl="0">
              <a:defRPr kumimoji="0" lang="en-US" sz="4400" i="0" u="none" strike="noStrike" cap="none" normalizeH="0" dirty="0">
                <a:ln>
                  <a:noFill/>
                </a:ln>
                <a:solidFill>
                  <a:srgbClr val="515349"/>
                </a:solidFill>
                <a:effectLst/>
                <a:uLnTx/>
                <a:uFillTx/>
                <a:latin typeface="Arial" panose="020B0604020202020204"/>
              </a:defRPr>
            </a:lvl1pPr>
          </a:lstStyle>
          <a:p>
            <a:pPr marL="0" marR="0" lvl="0" indent="0" defTabSz="685800" fontAlgn="auto">
              <a:lnSpc>
                <a:spcPct val="90000"/>
              </a:lnSpc>
              <a:spcAft>
                <a:spcPts val="0"/>
              </a:spcAft>
              <a:buClrTx/>
              <a:buSzTx/>
              <a:buFontTx/>
              <a:tabLst/>
            </a:pPr>
            <a:r>
              <a:rPr lang="en-US"/>
              <a:t>Click to edit Master title style</a:t>
            </a:r>
            <a:endParaRPr lang="en-CA"/>
          </a:p>
        </p:txBody>
      </p:sp>
      <p:pic>
        <p:nvPicPr>
          <p:cNvPr id="12" name="Picture 11">
            <a:extLst>
              <a:ext uri="{FF2B5EF4-FFF2-40B4-BE49-F238E27FC236}">
                <a16:creationId xmlns:a16="http://schemas.microsoft.com/office/drawing/2014/main" id="{F1CF0184-ECB8-E567-18D1-18A7529CA6D1}"/>
              </a:ext>
            </a:extLst>
          </p:cNvPr>
          <p:cNvPicPr>
            <a:picLocks/>
          </p:cNvPicPr>
          <p:nvPr userDrawn="1"/>
        </p:nvPicPr>
        <p:blipFill>
          <a:blip r:embed="rId9"/>
          <a:stretch>
            <a:fillRect/>
          </a:stretch>
        </p:blipFill>
        <p:spPr>
          <a:xfrm>
            <a:off x="10203942" y="5912934"/>
            <a:ext cx="1600200" cy="602166"/>
          </a:xfrm>
          <a:prstGeom prst="rect">
            <a:avLst/>
          </a:prstGeom>
        </p:spPr>
      </p:pic>
      <p:sp>
        <p:nvSpPr>
          <p:cNvPr id="13" name="TextBox 12">
            <a:extLst>
              <a:ext uri="{FF2B5EF4-FFF2-40B4-BE49-F238E27FC236}">
                <a16:creationId xmlns:a16="http://schemas.microsoft.com/office/drawing/2014/main" id="{5DAD9AAC-CE4A-6459-4CDD-63A45392768C}"/>
              </a:ext>
            </a:extLst>
          </p:cNvPr>
          <p:cNvSpPr txBox="1"/>
          <p:nvPr userDrawn="1"/>
        </p:nvSpPr>
        <p:spPr>
          <a:xfrm>
            <a:off x="390981" y="6386285"/>
            <a:ext cx="1865085" cy="138499"/>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CA" sz="900" b="0" i="0" u="none" strike="noStrike" kern="0" cap="none" spc="0" normalizeH="0" baseline="0" noProof="0">
                <a:ln>
                  <a:noFill/>
                </a:ln>
                <a:solidFill>
                  <a:srgbClr val="515349"/>
                </a:solidFill>
                <a:effectLst/>
                <a:uLnTx/>
                <a:uFillTx/>
              </a:rPr>
              <a:t>CONFIDENTIAL</a:t>
            </a:r>
          </a:p>
        </p:txBody>
      </p:sp>
      <p:sp>
        <p:nvSpPr>
          <p:cNvPr id="14" name="Date Placeholder 3">
            <a:extLst>
              <a:ext uri="{FF2B5EF4-FFF2-40B4-BE49-F238E27FC236}">
                <a16:creationId xmlns:a16="http://schemas.microsoft.com/office/drawing/2014/main" id="{7F57E0A3-B8F1-434E-5D86-6C16788C5AC0}"/>
              </a:ext>
            </a:extLst>
          </p:cNvPr>
          <p:cNvSpPr txBox="1">
            <a:spLocks/>
          </p:cNvSpPr>
          <p:nvPr userDrawn="1"/>
        </p:nvSpPr>
        <p:spPr>
          <a:xfrm>
            <a:off x="381000" y="0"/>
            <a:ext cx="1371600" cy="1371600"/>
          </a:xfrm>
          <a:prstGeom prst="rect">
            <a:avLst/>
          </a:prstGeom>
          <a:solidFill>
            <a:srgbClr val="BA0C2F"/>
          </a:solidFill>
        </p:spPr>
        <p:txBody>
          <a:bodyPr vert="horz" lIns="91440" tIns="0" rIns="0" bIns="137160" rtlCol="0" anchor="b" anchorCtr="0">
            <a:no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5"/>
            </p:custDataLst>
          </p:nvPr>
        </p:nvSpPr>
        <p:spPr>
          <a:xfrm>
            <a:off x="471448" y="1082457"/>
            <a:ext cx="1133554" cy="15388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rtl="0">
              <a:defRPr lang="en-US" sz="1000" dirty="0">
                <a:solidFill>
                  <a:schemeClr val="bg1"/>
                </a:solidFill>
              </a:defRPr>
            </a:lvl1pPr>
          </a:lstStyle>
          <a:p>
            <a:pPr lvl="0">
              <a:buNone/>
            </a:pPr>
            <a:r>
              <a:rPr lang="en-CA"/>
              <a:t>Edit date or title/role</a:t>
            </a:r>
          </a:p>
        </p:txBody>
      </p:sp>
    </p:spTree>
    <p:extLst>
      <p:ext uri="{BB962C8B-B14F-4D97-AF65-F5344CB8AC3E}">
        <p14:creationId xmlns:p14="http://schemas.microsoft.com/office/powerpoint/2010/main" val="2623178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000049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384048" y="1115190"/>
            <a:ext cx="1142085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vl1pPr>
          </a:lstStyle>
          <a:p>
            <a:pPr lvl="0">
              <a:buNone/>
            </a:pPr>
            <a:r>
              <a:rPr lang="en-US"/>
              <a:t>Click to edit Master subtitle style</a:t>
            </a:r>
            <a:endParaRPr lang="en-CA"/>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a:xfrm>
            <a:off x="384048"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CA"/>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384048" y="474575"/>
            <a:ext cx="114208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rtl="0">
              <a:defRPr lang="en-US" b="0" dirty="0">
                <a:solidFill>
                  <a:schemeClr val="accent1"/>
                </a:solidFill>
              </a:defRPr>
            </a:lvl1pPr>
          </a:lstStyle>
          <a:p>
            <a:pPr lvl="0"/>
            <a:r>
              <a:rPr lang="en-US"/>
              <a:t>Click to edit Master title style</a:t>
            </a:r>
            <a:endParaRPr lang="en-CA"/>
          </a:p>
        </p:txBody>
      </p:sp>
      <p:sp>
        <p:nvSpPr>
          <p:cNvPr id="18" name="Slide Number">
            <a:extLst>
              <a:ext uri="{FF2B5EF4-FFF2-40B4-BE49-F238E27FC236}">
                <a16:creationId xmlns:a16="http://schemas.microsoft.com/office/drawing/2014/main" id="{97F3F571-51EF-4F44-0AC8-1FAE3154C6D3}"/>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4094850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6151402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384048" y="1590395"/>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CA"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384048" y="1323370"/>
            <a:ext cx="11420856"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bwMode="gray">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hasCustomPrompt="1"/>
            <p:custDataLst>
              <p:tags r:id="rId5"/>
            </p:custDataLst>
          </p:nvPr>
        </p:nvSpPr>
        <p:spPr bwMode="gray">
          <a:xfrm>
            <a:off x="384048" y="474575"/>
            <a:ext cx="11420856" cy="769441"/>
          </a:xfrm>
          <a:prstGeom prst="rect">
            <a:avLst/>
          </a:prstGeom>
        </p:spPr>
        <p:txBody>
          <a:bodyPr vert="horz" wrap="square" lIns="0" tIns="0" rIns="0" bIns="0" rtlCol="0" anchor="t" anchorCtr="0">
            <a:noAutofit/>
          </a:bodyPr>
          <a:lstStyle>
            <a:lvl1pPr rtl="0">
              <a:defRPr/>
            </a:lvl1pPr>
          </a:lstStyle>
          <a:p>
            <a:r>
              <a:rPr lang="en-CA"/>
              <a:t>Click to edit Master title style</a:t>
            </a:r>
            <a:br>
              <a:rPr lang="en-CA"/>
            </a:br>
            <a:endParaRPr lang="en-CA"/>
          </a:p>
        </p:txBody>
      </p:sp>
      <p:sp>
        <p:nvSpPr>
          <p:cNvPr id="13" name="1. On-page tracker">
            <a:extLst>
              <a:ext uri="{FF2B5EF4-FFF2-40B4-BE49-F238E27FC236}">
                <a16:creationId xmlns:a16="http://schemas.microsoft.com/office/drawing/2014/main" id="{07FBFE66-0229-81D3-DEA7-A5D6BC24A4F4}"/>
              </a:ext>
            </a:extLst>
          </p:cNvPr>
          <p:cNvSpPr>
            <a:spLocks noGrp="1"/>
          </p:cNvSpPr>
          <p:nvPr>
            <p:ph type="body" sz="quarter" idx="10" hasCustomPrompt="1"/>
            <p:custDataLst>
              <p:tags r:id="rId6"/>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4" name="Slide Number">
            <a:extLst>
              <a:ext uri="{FF2B5EF4-FFF2-40B4-BE49-F238E27FC236}">
                <a16:creationId xmlns:a16="http://schemas.microsoft.com/office/drawing/2014/main" id="{40B08A77-C8F9-D70A-A072-D3ED836CF0AD}"/>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306463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347251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384048" y="1408557"/>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endParaRPr lang="en-CA"/>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5" name="1. On-page tracker">
            <a:extLst>
              <a:ext uri="{FF2B5EF4-FFF2-40B4-BE49-F238E27FC236}">
                <a16:creationId xmlns:a16="http://schemas.microsoft.com/office/drawing/2014/main" id="{EB71C6E1-DE5D-7A0F-63A1-33C47957C435}"/>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4" name="Slide Number">
            <a:extLst>
              <a:ext uri="{FF2B5EF4-FFF2-40B4-BE49-F238E27FC236}">
                <a16:creationId xmlns:a16="http://schemas.microsoft.com/office/drawing/2014/main" id="{E869EB9E-E8D7-915A-FAA4-6FB69BAE7D16}"/>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281998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4109350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384048"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endParaRPr lang="en-CA"/>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6" name="1. On-page tracker">
            <a:extLst>
              <a:ext uri="{FF2B5EF4-FFF2-40B4-BE49-F238E27FC236}">
                <a16:creationId xmlns:a16="http://schemas.microsoft.com/office/drawing/2014/main" id="{2F1A3042-0217-F9CF-F5A5-A65BDF92251C}"/>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7" name="Slide Number">
            <a:extLst>
              <a:ext uri="{FF2B5EF4-FFF2-40B4-BE49-F238E27FC236}">
                <a16:creationId xmlns:a16="http://schemas.microsoft.com/office/drawing/2014/main" id="{56C1B020-44DE-6693-0D74-237F8F4102C5}"/>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07150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3202342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FF0955D6-D05B-7664-303A-D5A9940E27F5}"/>
              </a:ext>
            </a:extLst>
          </p:cNvPr>
          <p:cNvSpPr>
            <a:spLocks/>
          </p:cNvSpPr>
          <p:nvPr userDrawn="1"/>
        </p:nvSpPr>
        <p:spPr>
          <a:xfrm>
            <a:off x="-6628" y="-1"/>
            <a:ext cx="12198627" cy="6210301"/>
          </a:xfrm>
          <a:prstGeom prst="rect">
            <a:avLst/>
          </a:prstGeom>
          <a:solidFill>
            <a:srgbClr val="E6E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35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384048" y="2711194"/>
            <a:ext cx="11426952" cy="677108"/>
          </a:xfrm>
        </p:spPr>
        <p:txBody>
          <a:bodyPr vert="horz" anchor="b">
            <a:noAutofit/>
          </a:bodyPr>
          <a:lstStyle>
            <a:lvl1pPr rtl="0">
              <a:lnSpc>
                <a:spcPct val="100000"/>
              </a:lnSpc>
              <a:defRPr sz="4400">
                <a:solidFill>
                  <a:schemeClr val="tx1"/>
                </a:solidFill>
              </a:defRPr>
            </a:lvl1pPr>
          </a:lstStyle>
          <a:p>
            <a:r>
              <a:rPr lang="en-US"/>
              <a:t>Click to edit Master title style</a:t>
            </a:r>
            <a:endParaRPr lang="en-CA"/>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5" name="1. On-page tracker">
            <a:extLst>
              <a:ext uri="{FF2B5EF4-FFF2-40B4-BE49-F238E27FC236}">
                <a16:creationId xmlns:a16="http://schemas.microsoft.com/office/drawing/2014/main" id="{16D4646D-BA34-98E0-F9F9-093863FFBBE6}"/>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15" name="Subtitle 2">
            <a:extLst>
              <a:ext uri="{FF2B5EF4-FFF2-40B4-BE49-F238E27FC236}">
                <a16:creationId xmlns:a16="http://schemas.microsoft.com/office/drawing/2014/main" id="{71079BF3-6963-A282-86D6-96139A5133C2}"/>
              </a:ext>
            </a:extLst>
          </p:cNvPr>
          <p:cNvSpPr>
            <a:spLocks noGrp="1"/>
          </p:cNvSpPr>
          <p:nvPr>
            <p:ph type="subTitle" idx="1"/>
          </p:nvPr>
        </p:nvSpPr>
        <p:spPr>
          <a:xfrm>
            <a:off x="384048" y="4980756"/>
            <a:ext cx="11420856" cy="930841"/>
          </a:xfrm>
        </p:spPr>
        <p:txBody>
          <a:bodyPr>
            <a:normAutofit/>
          </a:bodyPr>
          <a:lstStyle>
            <a:lvl1pPr marL="0" indent="0" algn="l" rtl="0">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Slide Number">
            <a:extLst>
              <a:ext uri="{FF2B5EF4-FFF2-40B4-BE49-F238E27FC236}">
                <a16:creationId xmlns:a16="http://schemas.microsoft.com/office/drawing/2014/main" id="{5D06A922-CECD-E279-7930-6D1DFBF959FA}"/>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086178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791233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nchor="b">
            <a:spAutoFit/>
          </a:bodyPr>
          <a:lstStyle>
            <a:lvl1pPr rtl="0">
              <a:lnSpc>
                <a:spcPct val="105000"/>
              </a:lnSpc>
              <a:defRPr sz="3400"/>
            </a:lvl1pPr>
          </a:lstStyle>
          <a:p>
            <a:r>
              <a:rPr lang="en-CA"/>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Click to add quote source</a:t>
            </a: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5" name="1. On-page tracker">
            <a:extLst>
              <a:ext uri="{FF2B5EF4-FFF2-40B4-BE49-F238E27FC236}">
                <a16:creationId xmlns:a16="http://schemas.microsoft.com/office/drawing/2014/main" id="{FDEF8BC5-6191-1F35-7C7B-6D5416C1724B}"/>
              </a:ext>
            </a:extLst>
          </p:cNvPr>
          <p:cNvSpPr>
            <a:spLocks noGrp="1"/>
          </p:cNvSpPr>
          <p:nvPr>
            <p:ph type="body" sz="quarter" idx="10" hasCustomPrompt="1"/>
            <p:custDataLst>
              <p:tags r:id="rId6"/>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9" name="Slide Number">
            <a:extLst>
              <a:ext uri="{FF2B5EF4-FFF2-40B4-BE49-F238E27FC236}">
                <a16:creationId xmlns:a16="http://schemas.microsoft.com/office/drawing/2014/main" id="{2A8991E8-2D24-AAF4-9655-7C15CED50A2B}"/>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862086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086546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4"/>
            </p:custDataLst>
          </p:nvPr>
        </p:nvSpPr>
        <p:spPr>
          <a:xfrm>
            <a:off x="381000" y="3659644"/>
            <a:ext cx="2688336"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381000" y="41597"/>
            <a:ext cx="2688336" cy="123111"/>
          </a:xfrm>
          <a:prstGeom prst="rect">
            <a:avLst/>
          </a:prstGeom>
          <a:ln w="6350">
            <a:noFill/>
            <a:miter lim="800000"/>
          </a:ln>
        </p:spPr>
        <p:txBody>
          <a:bodyPr vert="horz" wrap="square" lIns="0" tIns="0" rIns="0" bIns="0" rtlCol="0">
            <a:noAutofit/>
          </a:bodyPr>
          <a:lstStyle>
            <a:lvl1pPr rtl="0">
              <a:defRPr lang="en-US" sz="800" b="0" dirty="0">
                <a:cs typeface="+mn-cs"/>
              </a:defRPr>
            </a:lvl1pPr>
          </a:lstStyle>
          <a:p>
            <a:pPr lvl="0">
              <a:buNone/>
            </a:pPr>
            <a:r>
              <a:rPr lang="en-CA"/>
              <a:t>Add tracker</a:t>
            </a:r>
          </a:p>
        </p:txBody>
      </p:sp>
      <p:sp>
        <p:nvSpPr>
          <p:cNvPr id="11" name="2. Slide Title">
            <a:extLst>
              <a:ext uri="{FF2B5EF4-FFF2-40B4-BE49-F238E27FC236}">
                <a16:creationId xmlns:a16="http://schemas.microsoft.com/office/drawing/2014/main" id="{BD1E8CEA-59CA-420E-955C-4C9FBA24773C}"/>
              </a:ext>
            </a:extLst>
          </p:cNvPr>
          <p:cNvSpPr>
            <a:spLocks noGrp="1"/>
          </p:cNvSpPr>
          <p:nvPr>
            <p:ph type="title"/>
            <p:custDataLst>
              <p:tags r:id="rId7"/>
            </p:custDataLst>
          </p:nvPr>
        </p:nvSpPr>
        <p:spPr>
          <a:xfrm>
            <a:off x="381000" y="2744369"/>
            <a:ext cx="2688336"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1603FDD6-0839-DB06-FE77-FA0CD3809260}"/>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pic>
        <p:nvPicPr>
          <p:cNvPr id="12" name="Picture 11">
            <a:extLst>
              <a:ext uri="{FF2B5EF4-FFF2-40B4-BE49-F238E27FC236}">
                <a16:creationId xmlns:a16="http://schemas.microsoft.com/office/drawing/2014/main" id="{D1994489-C8A4-5CBD-D014-867AC0650C52}"/>
              </a:ext>
            </a:extLst>
          </p:cNvPr>
          <p:cNvPicPr>
            <a:picLocks/>
          </p:cNvPicPr>
          <p:nvPr userDrawn="1"/>
        </p:nvPicPr>
        <p:blipFill>
          <a:blip r:embed="rId11"/>
          <a:stretch>
            <a:fillRect/>
          </a:stretch>
        </p:blipFill>
        <p:spPr>
          <a:xfrm>
            <a:off x="10853928" y="6388101"/>
            <a:ext cx="950976" cy="357859"/>
          </a:xfrm>
          <a:prstGeom prst="rect">
            <a:avLst/>
          </a:prstGeom>
        </p:spPr>
      </p:pic>
      <p:sp>
        <p:nvSpPr>
          <p:cNvPr id="7" name="Slide Number">
            <a:extLst>
              <a:ext uri="{FF2B5EF4-FFF2-40B4-BE49-F238E27FC236}">
                <a16:creationId xmlns:a16="http://schemas.microsoft.com/office/drawing/2014/main" id="{01C9D920-E27C-991F-5BF9-F69F2FEB620E}"/>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4975208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16644388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4"/>
            </p:custDataLst>
          </p:nvPr>
        </p:nvSpPr>
        <p:spPr>
          <a:xfrm>
            <a:off x="380999" y="3659644"/>
            <a:ext cx="3639311"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1" name="2. Slide Title">
            <a:extLst>
              <a:ext uri="{FF2B5EF4-FFF2-40B4-BE49-F238E27FC236}">
                <a16:creationId xmlns:a16="http://schemas.microsoft.com/office/drawing/2014/main" id="{B064DA18-FA54-43C0-B981-F306F40179F4}"/>
              </a:ext>
            </a:extLst>
          </p:cNvPr>
          <p:cNvSpPr>
            <a:spLocks noGrp="1"/>
          </p:cNvSpPr>
          <p:nvPr>
            <p:ph type="title"/>
            <p:custDataLst>
              <p:tags r:id="rId6"/>
            </p:custDataLst>
          </p:nvPr>
        </p:nvSpPr>
        <p:spPr>
          <a:xfrm>
            <a:off x="381000" y="2744369"/>
            <a:ext cx="3639310"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4AE06247-B4E4-3760-6D3A-246B7082D3B9}"/>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8" name="1. On-page tracker">
            <a:extLst>
              <a:ext uri="{FF2B5EF4-FFF2-40B4-BE49-F238E27FC236}">
                <a16:creationId xmlns:a16="http://schemas.microsoft.com/office/drawing/2014/main" id="{EEA478D6-0038-FCEC-114C-9815DC7B99A5}"/>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9" name="Picture 8">
            <a:extLst>
              <a:ext uri="{FF2B5EF4-FFF2-40B4-BE49-F238E27FC236}">
                <a16:creationId xmlns:a16="http://schemas.microsoft.com/office/drawing/2014/main" id="{7547A4F8-6242-C226-F584-9D2FFC9BC952}"/>
              </a:ext>
            </a:extLst>
          </p:cNvPr>
          <p:cNvPicPr>
            <a:picLocks/>
          </p:cNvPicPr>
          <p:nvPr userDrawn="1"/>
        </p:nvPicPr>
        <p:blipFill>
          <a:blip r:embed="rId11"/>
          <a:stretch>
            <a:fillRect/>
          </a:stretch>
        </p:blipFill>
        <p:spPr>
          <a:xfrm>
            <a:off x="10853928" y="6388101"/>
            <a:ext cx="950976" cy="357859"/>
          </a:xfrm>
          <a:prstGeom prst="rect">
            <a:avLst/>
          </a:prstGeom>
        </p:spPr>
      </p:pic>
      <p:sp>
        <p:nvSpPr>
          <p:cNvPr id="7" name="Slide Number">
            <a:extLst>
              <a:ext uri="{FF2B5EF4-FFF2-40B4-BE49-F238E27FC236}">
                <a16:creationId xmlns:a16="http://schemas.microsoft.com/office/drawing/2014/main" id="{903A619D-61BB-3412-4045-F5E27F0D5E1D}"/>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30856701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984165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5236463"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5236463"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2" name="Slide Number Placeholder 5">
            <a:extLst>
              <a:ext uri="{FF2B5EF4-FFF2-40B4-BE49-F238E27FC236}">
                <a16:creationId xmlns:a16="http://schemas.microsoft.com/office/drawing/2014/main" id="{565DC02E-B329-EB93-B8A7-27601F26D8CE}"/>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4" name="1. On-page tracker">
            <a:extLst>
              <a:ext uri="{FF2B5EF4-FFF2-40B4-BE49-F238E27FC236}">
                <a16:creationId xmlns:a16="http://schemas.microsoft.com/office/drawing/2014/main" id="{E713FEFC-2BDB-122E-D26F-A4B8B64B7F7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5" name="Picture 14">
            <a:extLst>
              <a:ext uri="{FF2B5EF4-FFF2-40B4-BE49-F238E27FC236}">
                <a16:creationId xmlns:a16="http://schemas.microsoft.com/office/drawing/2014/main" id="{E0818379-956A-0326-E041-CFC8B000C209}"/>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EA76B8C4-DFB3-C0B8-ABA8-9D0E25A7AE5A}"/>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8844363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0035905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384048" y="474575"/>
            <a:ext cx="7138416" cy="384721"/>
          </a:xfrm>
        </p:spPr>
        <p:txBody>
          <a:bodyPr vert="horz" wrap="square" anchor="ctr">
            <a:spAutoFit/>
          </a:bodyPr>
          <a:lstStyle>
            <a:lvl1pPr rtl="0">
              <a:defRPr/>
            </a:lvl1pPr>
          </a:lstStyle>
          <a:p>
            <a:r>
              <a:rPr lang="en-US"/>
              <a:t>Click to edit Master title style</a:t>
            </a:r>
            <a:endParaRPr lang="en-CA"/>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384048" y="1115190"/>
            <a:ext cx="713841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384048"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solidFill>
                  <a:schemeClr val="tx1"/>
                </a:solidFill>
              </a:rPr>
              <a:t>Source: …</a:t>
            </a:r>
          </a:p>
        </p:txBody>
      </p:sp>
      <p:sp>
        <p:nvSpPr>
          <p:cNvPr id="2" name="Slide Number Placeholder 5">
            <a:extLst>
              <a:ext uri="{FF2B5EF4-FFF2-40B4-BE49-F238E27FC236}">
                <a16:creationId xmlns:a16="http://schemas.microsoft.com/office/drawing/2014/main" id="{56B5062B-A2D4-0FFA-26FA-D9C7D16114F7}"/>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2" name="1. On-page tracker">
            <a:extLst>
              <a:ext uri="{FF2B5EF4-FFF2-40B4-BE49-F238E27FC236}">
                <a16:creationId xmlns:a16="http://schemas.microsoft.com/office/drawing/2014/main" id="{75EDA958-CF08-C5B5-A0A7-F79FB7FF36A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3" name="Picture 12">
            <a:extLst>
              <a:ext uri="{FF2B5EF4-FFF2-40B4-BE49-F238E27FC236}">
                <a16:creationId xmlns:a16="http://schemas.microsoft.com/office/drawing/2014/main" id="{ED0D55CD-7793-96C5-0580-9246A9AA87F0}"/>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7709F06F-F39B-DBB5-035E-B50500563775}"/>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7584786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91141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8092440"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8092440"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CA"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2" name="Slide Number Placeholder 5">
            <a:extLst>
              <a:ext uri="{FF2B5EF4-FFF2-40B4-BE49-F238E27FC236}">
                <a16:creationId xmlns:a16="http://schemas.microsoft.com/office/drawing/2014/main" id="{11F5CE6D-12A9-9F4B-3F38-D49889F785C4}"/>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1" name="1. On-page tracker">
            <a:extLst>
              <a:ext uri="{FF2B5EF4-FFF2-40B4-BE49-F238E27FC236}">
                <a16:creationId xmlns:a16="http://schemas.microsoft.com/office/drawing/2014/main" id="{C902F8C6-7197-256D-AF28-E116E8A9088F}"/>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2" name="Picture 11">
            <a:extLst>
              <a:ext uri="{FF2B5EF4-FFF2-40B4-BE49-F238E27FC236}">
                <a16:creationId xmlns:a16="http://schemas.microsoft.com/office/drawing/2014/main" id="{7CA63795-6D85-2C78-1870-D6ED3F56AB87}"/>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94941C7D-7712-A57F-3467-7208697E35C5}"/>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9256167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_1/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4095093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RectangleLight">
            <a:extLst>
              <a:ext uri="{FF2B5EF4-FFF2-40B4-BE49-F238E27FC236}">
                <a16:creationId xmlns:a16="http://schemas.microsoft.com/office/drawing/2014/main" id="{2F33DBBD-D018-E13A-1BB4-24E6363740ED}"/>
              </a:ext>
            </a:extLst>
          </p:cNvPr>
          <p:cNvSpPr/>
          <p:nvPr userDrawn="1">
            <p:custDataLst>
              <p:tags r:id="rId2"/>
            </p:custDataLst>
          </p:nvPr>
        </p:nvSpPr>
        <p:spPr bwMode="ltGray">
          <a:xfrm>
            <a:off x="0" y="0"/>
            <a:ext cx="8781416"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4" name="Rectangle 1" hidden="1">
            <a:extLst>
              <a:ext uri="{FF2B5EF4-FFF2-40B4-BE49-F238E27FC236}">
                <a16:creationId xmlns:a16="http://schemas.microsoft.com/office/drawing/2014/main" id="{50854476-2923-4515-A585-4477FF86118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8092440"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8092440"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CA"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2" name="Slide Number Placeholder 5">
            <a:extLst>
              <a:ext uri="{FF2B5EF4-FFF2-40B4-BE49-F238E27FC236}">
                <a16:creationId xmlns:a16="http://schemas.microsoft.com/office/drawing/2014/main" id="{11F5CE6D-12A9-9F4B-3F38-D49889F785C4}"/>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1" name="1. On-page tracker">
            <a:extLst>
              <a:ext uri="{FF2B5EF4-FFF2-40B4-BE49-F238E27FC236}">
                <a16:creationId xmlns:a16="http://schemas.microsoft.com/office/drawing/2014/main" id="{C902F8C6-7197-256D-AF28-E116E8A9088F}"/>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2" name="Picture 11">
            <a:extLst>
              <a:ext uri="{FF2B5EF4-FFF2-40B4-BE49-F238E27FC236}">
                <a16:creationId xmlns:a16="http://schemas.microsoft.com/office/drawing/2014/main" id="{7CA63795-6D85-2C78-1870-D6ED3F56AB87}"/>
              </a:ext>
            </a:extLst>
          </p:cNvPr>
          <p:cNvPicPr>
            <a:picLocks/>
          </p:cNvPicPr>
          <p:nvPr userDrawn="1"/>
        </p:nvPicPr>
        <p:blipFill>
          <a:blip r:embed="rId11"/>
          <a:stretch>
            <a:fillRect/>
          </a:stretch>
        </p:blipFill>
        <p:spPr>
          <a:xfrm>
            <a:off x="10853928" y="6388101"/>
            <a:ext cx="950976" cy="357859"/>
          </a:xfrm>
          <a:prstGeom prst="rect">
            <a:avLst/>
          </a:prstGeom>
        </p:spPr>
      </p:pic>
      <p:sp>
        <p:nvSpPr>
          <p:cNvPr id="8" name="Slide Number">
            <a:extLst>
              <a:ext uri="{FF2B5EF4-FFF2-40B4-BE49-F238E27FC236}">
                <a16:creationId xmlns:a16="http://schemas.microsoft.com/office/drawing/2014/main" id="{E0C43123-19A3-8B65-9B81-0473D548C30E}"/>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976768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_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64750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RectangleLight">
            <a:extLst>
              <a:ext uri="{FF2B5EF4-FFF2-40B4-BE49-F238E27FC236}">
                <a16:creationId xmlns:a16="http://schemas.microsoft.com/office/drawing/2014/main" id="{C82B4365-42A1-0C83-A7D6-A5881F3F6464}"/>
              </a:ext>
            </a:extLst>
          </p:cNvPr>
          <p:cNvSpPr/>
          <p:nvPr userDrawn="1">
            <p:custDataLst>
              <p:tags r:id="rId2"/>
            </p:custDataLst>
          </p:nvPr>
        </p:nvSpPr>
        <p:spPr bwMode="ltGray">
          <a:xfrm>
            <a:off x="0" y="0"/>
            <a:ext cx="7830312"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4" name="Rectangle 3" hidden="1">
            <a:extLst>
              <a:ext uri="{FF2B5EF4-FFF2-40B4-BE49-F238E27FC236}">
                <a16:creationId xmlns:a16="http://schemas.microsoft.com/office/drawing/2014/main" id="{2D668F04-7049-40BA-8D63-D8BBB6921318}"/>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384048" y="474575"/>
            <a:ext cx="7138416"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384048" y="1115190"/>
            <a:ext cx="713841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384048"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solidFill>
                  <a:schemeClr val="tx1"/>
                </a:solidFill>
              </a:rPr>
              <a:t>Source: …</a:t>
            </a:r>
          </a:p>
        </p:txBody>
      </p:sp>
      <p:sp>
        <p:nvSpPr>
          <p:cNvPr id="2" name="Slide Number Placeholder 5">
            <a:extLst>
              <a:ext uri="{FF2B5EF4-FFF2-40B4-BE49-F238E27FC236}">
                <a16:creationId xmlns:a16="http://schemas.microsoft.com/office/drawing/2014/main" id="{56B5062B-A2D4-0FFA-26FA-D9C7D16114F7}"/>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2" name="1. On-page tracker">
            <a:extLst>
              <a:ext uri="{FF2B5EF4-FFF2-40B4-BE49-F238E27FC236}">
                <a16:creationId xmlns:a16="http://schemas.microsoft.com/office/drawing/2014/main" id="{75EDA958-CF08-C5B5-A0A7-F79FB7FF36A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3" name="Picture 12">
            <a:extLst>
              <a:ext uri="{FF2B5EF4-FFF2-40B4-BE49-F238E27FC236}">
                <a16:creationId xmlns:a16="http://schemas.microsoft.com/office/drawing/2014/main" id="{ED0D55CD-7793-96C5-0580-9246A9AA87F0}"/>
              </a:ext>
            </a:extLst>
          </p:cNvPr>
          <p:cNvPicPr>
            <a:picLocks/>
          </p:cNvPicPr>
          <p:nvPr userDrawn="1"/>
        </p:nvPicPr>
        <p:blipFill>
          <a:blip r:embed="rId11"/>
          <a:stretch>
            <a:fillRect/>
          </a:stretch>
        </p:blipFill>
        <p:spPr>
          <a:xfrm>
            <a:off x="10853928" y="6388101"/>
            <a:ext cx="950976" cy="357859"/>
          </a:xfrm>
          <a:prstGeom prst="rect">
            <a:avLst/>
          </a:prstGeom>
        </p:spPr>
      </p:pic>
      <p:sp>
        <p:nvSpPr>
          <p:cNvPr id="9" name="Slide Number">
            <a:extLst>
              <a:ext uri="{FF2B5EF4-FFF2-40B4-BE49-F238E27FC236}">
                <a16:creationId xmlns:a16="http://schemas.microsoft.com/office/drawing/2014/main" id="{253AFE7D-2F46-BC91-11DC-37C515A1D18F}"/>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7999648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verse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059816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5236463"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5236463"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2" name="Slide Number Placeholder 5">
            <a:extLst>
              <a:ext uri="{FF2B5EF4-FFF2-40B4-BE49-F238E27FC236}">
                <a16:creationId xmlns:a16="http://schemas.microsoft.com/office/drawing/2014/main" id="{565DC02E-B329-EB93-B8A7-27601F26D8CE}"/>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4" name="1. On-page tracker">
            <a:extLst>
              <a:ext uri="{FF2B5EF4-FFF2-40B4-BE49-F238E27FC236}">
                <a16:creationId xmlns:a16="http://schemas.microsoft.com/office/drawing/2014/main" id="{E713FEFC-2BDB-122E-D26F-A4B8B64B7F7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5" name="Picture 14">
            <a:extLst>
              <a:ext uri="{FF2B5EF4-FFF2-40B4-BE49-F238E27FC236}">
                <a16:creationId xmlns:a16="http://schemas.microsoft.com/office/drawing/2014/main" id="{E0818379-956A-0326-E041-CFC8B000C209}"/>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AA632E3D-E3B6-5296-664F-9B5620B4DDD1}"/>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431619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verse_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0235533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Light">
            <a:extLst>
              <a:ext uri="{FF2B5EF4-FFF2-40B4-BE49-F238E27FC236}">
                <a16:creationId xmlns:a16="http://schemas.microsoft.com/office/drawing/2014/main" id="{8CF36762-9C23-6452-C20C-1DC4C5CE329B}"/>
              </a:ext>
            </a:extLst>
          </p:cNvPr>
          <p:cNvSpPr/>
          <p:nvPr userDrawn="1">
            <p:custDataLst>
              <p:tags r:id="rId2"/>
            </p:custDataLst>
          </p:nvPr>
        </p:nvSpPr>
        <p:spPr bwMode="ltGray">
          <a:xfrm>
            <a:off x="0" y="0"/>
            <a:ext cx="4364736"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4" name="Rectangle 3" hidden="1">
            <a:extLst>
              <a:ext uri="{FF2B5EF4-FFF2-40B4-BE49-F238E27FC236}">
                <a16:creationId xmlns:a16="http://schemas.microsoft.com/office/drawing/2014/main" id="{29D2CA90-0144-4292-9526-98A508F5317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4"/>
            </p:custDataLst>
          </p:nvPr>
        </p:nvSpPr>
        <p:spPr>
          <a:xfrm>
            <a:off x="380999" y="3659644"/>
            <a:ext cx="3639311"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1" name="2. Slide Title">
            <a:extLst>
              <a:ext uri="{FF2B5EF4-FFF2-40B4-BE49-F238E27FC236}">
                <a16:creationId xmlns:a16="http://schemas.microsoft.com/office/drawing/2014/main" id="{B064DA18-FA54-43C0-B981-F306F40179F4}"/>
              </a:ext>
            </a:extLst>
          </p:cNvPr>
          <p:cNvSpPr>
            <a:spLocks noGrp="1"/>
          </p:cNvSpPr>
          <p:nvPr>
            <p:ph type="title"/>
            <p:custDataLst>
              <p:tags r:id="rId6"/>
            </p:custDataLst>
          </p:nvPr>
        </p:nvSpPr>
        <p:spPr>
          <a:xfrm>
            <a:off x="381000" y="2744369"/>
            <a:ext cx="3639310"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4AE06247-B4E4-3760-6D3A-246B7082D3B9}"/>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8" name="1. On-page tracker">
            <a:extLst>
              <a:ext uri="{FF2B5EF4-FFF2-40B4-BE49-F238E27FC236}">
                <a16:creationId xmlns:a16="http://schemas.microsoft.com/office/drawing/2014/main" id="{EEA478D6-0038-FCEC-114C-9815DC7B99A5}"/>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9" name="Picture 8">
            <a:extLst>
              <a:ext uri="{FF2B5EF4-FFF2-40B4-BE49-F238E27FC236}">
                <a16:creationId xmlns:a16="http://schemas.microsoft.com/office/drawing/2014/main" id="{7547A4F8-6242-C226-F584-9D2FFC9BC952}"/>
              </a:ext>
            </a:extLst>
          </p:cNvPr>
          <p:cNvPicPr>
            <a:picLocks/>
          </p:cNvPicPr>
          <p:nvPr userDrawn="1"/>
        </p:nvPicPr>
        <p:blipFill>
          <a:blip r:embed="rId11"/>
          <a:stretch>
            <a:fillRect/>
          </a:stretch>
        </p:blipFill>
        <p:spPr>
          <a:xfrm>
            <a:off x="10853928" y="6388101"/>
            <a:ext cx="950976" cy="357859"/>
          </a:xfrm>
          <a:prstGeom prst="rect">
            <a:avLst/>
          </a:prstGeom>
        </p:spPr>
      </p:pic>
      <p:sp>
        <p:nvSpPr>
          <p:cNvPr id="12" name="Slide Number">
            <a:extLst>
              <a:ext uri="{FF2B5EF4-FFF2-40B4-BE49-F238E27FC236}">
                <a16:creationId xmlns:a16="http://schemas.microsoft.com/office/drawing/2014/main" id="{2984F8DB-A255-1CC2-D6FF-60E0EB2C9F37}"/>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4474600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verse_3/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4761010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Light">
            <a:extLst>
              <a:ext uri="{FF2B5EF4-FFF2-40B4-BE49-F238E27FC236}">
                <a16:creationId xmlns:a16="http://schemas.microsoft.com/office/drawing/2014/main" id="{8C3601F5-5F44-52AC-F768-AA5D6FC20CD0}"/>
              </a:ext>
            </a:extLst>
          </p:cNvPr>
          <p:cNvSpPr/>
          <p:nvPr userDrawn="1">
            <p:custDataLst>
              <p:tags r:id="rId2"/>
            </p:custDataLst>
          </p:nvPr>
        </p:nvSpPr>
        <p:spPr bwMode="ltGray">
          <a:xfrm>
            <a:off x="0" y="0"/>
            <a:ext cx="3413760"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4" name="Rectangle 1" hidden="1">
            <a:extLst>
              <a:ext uri="{FF2B5EF4-FFF2-40B4-BE49-F238E27FC236}">
                <a16:creationId xmlns:a16="http://schemas.microsoft.com/office/drawing/2014/main" id="{67C50C85-5FB9-4798-A8A4-1DA5B9F3ACC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4"/>
            </p:custDataLst>
          </p:nvPr>
        </p:nvSpPr>
        <p:spPr>
          <a:xfrm>
            <a:off x="381000" y="3659644"/>
            <a:ext cx="2688336"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381000" y="41597"/>
            <a:ext cx="2688336" cy="123111"/>
          </a:xfrm>
          <a:prstGeom prst="rect">
            <a:avLst/>
          </a:prstGeom>
          <a:ln w="6350">
            <a:noFill/>
            <a:miter lim="800000"/>
          </a:ln>
        </p:spPr>
        <p:txBody>
          <a:bodyPr vert="horz" wrap="square" lIns="0" tIns="0" rIns="0" bIns="0" rtlCol="0">
            <a:noAutofit/>
          </a:bodyPr>
          <a:lstStyle>
            <a:lvl1pPr rtl="0">
              <a:defRPr lang="en-US" sz="800" b="0" dirty="0">
                <a:cs typeface="+mn-cs"/>
              </a:defRPr>
            </a:lvl1pPr>
          </a:lstStyle>
          <a:p>
            <a:pPr lvl="0">
              <a:buNone/>
            </a:pPr>
            <a:r>
              <a:rPr lang="en-CA"/>
              <a:t>Add tracker</a:t>
            </a:r>
          </a:p>
        </p:txBody>
      </p:sp>
      <p:sp>
        <p:nvSpPr>
          <p:cNvPr id="11" name="2. Slide Title">
            <a:extLst>
              <a:ext uri="{FF2B5EF4-FFF2-40B4-BE49-F238E27FC236}">
                <a16:creationId xmlns:a16="http://schemas.microsoft.com/office/drawing/2014/main" id="{BD1E8CEA-59CA-420E-955C-4C9FBA24773C}"/>
              </a:ext>
            </a:extLst>
          </p:cNvPr>
          <p:cNvSpPr>
            <a:spLocks noGrp="1"/>
          </p:cNvSpPr>
          <p:nvPr>
            <p:ph type="title"/>
            <p:custDataLst>
              <p:tags r:id="rId7"/>
            </p:custDataLst>
          </p:nvPr>
        </p:nvSpPr>
        <p:spPr>
          <a:xfrm>
            <a:off x="381000" y="2744369"/>
            <a:ext cx="2688336"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1603FDD6-0839-DB06-FE77-FA0CD3809260}"/>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pic>
        <p:nvPicPr>
          <p:cNvPr id="12" name="Picture 11">
            <a:extLst>
              <a:ext uri="{FF2B5EF4-FFF2-40B4-BE49-F238E27FC236}">
                <a16:creationId xmlns:a16="http://schemas.microsoft.com/office/drawing/2014/main" id="{D1994489-C8A4-5CBD-D014-867AC0650C52}"/>
              </a:ext>
            </a:extLst>
          </p:cNvPr>
          <p:cNvPicPr>
            <a:picLocks/>
          </p:cNvPicPr>
          <p:nvPr userDrawn="1"/>
        </p:nvPicPr>
        <p:blipFill>
          <a:blip r:embed="rId11"/>
          <a:stretch>
            <a:fillRect/>
          </a:stretch>
        </p:blipFill>
        <p:spPr>
          <a:xfrm>
            <a:off x="10853928" y="6388101"/>
            <a:ext cx="950976" cy="357859"/>
          </a:xfrm>
          <a:prstGeom prst="rect">
            <a:avLst/>
          </a:prstGeom>
        </p:spPr>
      </p:pic>
      <p:sp>
        <p:nvSpPr>
          <p:cNvPr id="9" name="Slide Number">
            <a:extLst>
              <a:ext uri="{FF2B5EF4-FFF2-40B4-BE49-F238E27FC236}">
                <a16:creationId xmlns:a16="http://schemas.microsoft.com/office/drawing/2014/main" id="{1F606D18-7C17-279C-E859-6955303D02BF}"/>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5183577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3261793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384048" y="666935"/>
            <a:ext cx="11420856" cy="384721"/>
          </a:xfrm>
        </p:spPr>
        <p:txBody>
          <a:bodyPr vert="horz" anchor="ctr">
            <a:spAutoFit/>
          </a:bodyPr>
          <a:lstStyle>
            <a:lvl1pPr rtl="0">
              <a:defRPr/>
            </a:lvl1pPr>
          </a:lstStyle>
          <a:p>
            <a:r>
              <a:rPr lang="en-US"/>
              <a:t>Click to edit Master title style</a:t>
            </a:r>
            <a:endParaRPr lang="en-CA"/>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9" name="Sticker" hidden="1">
            <a:extLst>
              <a:ext uri="{FF2B5EF4-FFF2-40B4-BE49-F238E27FC236}">
                <a16:creationId xmlns:a16="http://schemas.microsoft.com/office/drawing/2014/main" id="{2B5F1846-DB86-4338-8AFA-F2C1B534B900}"/>
              </a:ext>
            </a:extLst>
          </p:cNvPr>
          <p:cNvSpPr txBox="1"/>
          <p:nvPr userDrawn="1"/>
        </p:nvSpPr>
        <p:spPr>
          <a:xfrm>
            <a:off x="384048" y="1497050"/>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CA" sz="800" b="1" cap="all" baseline="0"/>
              <a:t>STICKER</a:t>
            </a:r>
          </a:p>
        </p:txBody>
      </p:sp>
      <p:sp>
        <p:nvSpPr>
          <p:cNvPr id="5" name="Slide Number Placeholder 5">
            <a:extLst>
              <a:ext uri="{FF2B5EF4-FFF2-40B4-BE49-F238E27FC236}">
                <a16:creationId xmlns:a16="http://schemas.microsoft.com/office/drawing/2014/main" id="{5515DEFA-E174-36C7-A79A-4D8CDA98F8F5}"/>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1" name="1. On-page tracker">
            <a:extLst>
              <a:ext uri="{FF2B5EF4-FFF2-40B4-BE49-F238E27FC236}">
                <a16:creationId xmlns:a16="http://schemas.microsoft.com/office/drawing/2014/main" id="{2217D473-9605-5466-92BB-EC2EAB18D79A}"/>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2" name="Picture 11">
            <a:extLst>
              <a:ext uri="{FF2B5EF4-FFF2-40B4-BE49-F238E27FC236}">
                <a16:creationId xmlns:a16="http://schemas.microsoft.com/office/drawing/2014/main" id="{7CCA7084-3635-AC2B-A202-189AD36903BF}"/>
              </a:ext>
            </a:extLst>
          </p:cNvPr>
          <p:cNvPicPr>
            <a:picLocks/>
          </p:cNvPicPr>
          <p:nvPr userDrawn="1"/>
        </p:nvPicPr>
        <p:blipFill>
          <a:blip r:embed="rId9"/>
          <a:stretch>
            <a:fillRect/>
          </a:stretch>
        </p:blipFill>
        <p:spPr>
          <a:xfrm>
            <a:off x="10853928" y="6388101"/>
            <a:ext cx="950976" cy="357859"/>
          </a:xfrm>
          <a:prstGeom prst="rect">
            <a:avLst/>
          </a:prstGeom>
        </p:spPr>
      </p:pic>
      <p:cxnSp>
        <p:nvCxnSpPr>
          <p:cNvPr id="13" name="Straight Connector 12">
            <a:extLst>
              <a:ext uri="{FF2B5EF4-FFF2-40B4-BE49-F238E27FC236}">
                <a16:creationId xmlns:a16="http://schemas.microsoft.com/office/drawing/2014/main" id="{5DCA823A-DDBF-6B2A-B2C2-90847A3911BE}"/>
              </a:ext>
            </a:extLst>
          </p:cNvPr>
          <p:cNvCxnSpPr>
            <a:cxnSpLocks/>
          </p:cNvCxnSpPr>
          <p:nvPr userDrawn="1"/>
        </p:nvCxnSpPr>
        <p:spPr>
          <a:xfrm>
            <a:off x="384048" y="6210993"/>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Slide Number">
            <a:extLst>
              <a:ext uri="{FF2B5EF4-FFF2-40B4-BE49-F238E27FC236}">
                <a16:creationId xmlns:a16="http://schemas.microsoft.com/office/drawing/2014/main" id="{80ED6C01-14DF-B809-6CDD-8AADF741EDDA}"/>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cxnSp>
        <p:nvCxnSpPr>
          <p:cNvPr id="20" name="Straight Connector 19">
            <a:extLst>
              <a:ext uri="{FF2B5EF4-FFF2-40B4-BE49-F238E27FC236}">
                <a16:creationId xmlns:a16="http://schemas.microsoft.com/office/drawing/2014/main" id="{BFF71626-6519-CC8A-030C-BDBA8219FDC7}"/>
              </a:ext>
            </a:extLst>
          </p:cNvPr>
          <p:cNvCxnSpPr>
            <a:cxnSpLocks/>
          </p:cNvCxnSpPr>
          <p:nvPr userDrawn="1"/>
        </p:nvCxnSpPr>
        <p:spPr>
          <a:xfrm>
            <a:off x="384048" y="1471012"/>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5979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3705366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3" name="Slide Number Placeholder 5">
            <a:extLst>
              <a:ext uri="{FF2B5EF4-FFF2-40B4-BE49-F238E27FC236}">
                <a16:creationId xmlns:a16="http://schemas.microsoft.com/office/drawing/2014/main" id="{A438ED75-4ED6-626D-0A85-643507C0AB88}"/>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4" name="Slide Number Placeholder 5">
            <a:extLst>
              <a:ext uri="{FF2B5EF4-FFF2-40B4-BE49-F238E27FC236}">
                <a16:creationId xmlns:a16="http://schemas.microsoft.com/office/drawing/2014/main" id="{760400E1-CF9C-5CB0-A8CB-B5A5F511324F}"/>
              </a:ext>
            </a:extLst>
          </p:cNvPr>
          <p:cNvSpPr>
            <a:spLocks noGrp="1"/>
          </p:cNvSpPr>
          <p:nvPr>
            <p:ph type="sldNum" sz="quarter" idx="4"/>
          </p:nvPr>
        </p:nvSpPr>
        <p:spPr>
          <a:xfrm>
            <a:off x="11445240" y="15240"/>
            <a:ext cx="365760" cy="289560"/>
          </a:xfrm>
          <a:prstGeom prst="rect">
            <a:avLst/>
          </a:prstGeom>
        </p:spPr>
        <p:txBody>
          <a:bodyPr vert="horz" lIns="0" tIns="0" rIns="0" bIns="0" rtlCol="0" anchor="b" anchorCtr="0"/>
          <a:lstStyle>
            <a:lvl1pPr marL="0" indent="0" algn="r" rtl="0">
              <a:tabLst>
                <a:tab pos="1338263" algn="r"/>
              </a:tabLst>
              <a:defRPr sz="900">
                <a:solidFill>
                  <a:schemeClr val="tx1"/>
                </a:solidFill>
              </a:defRPr>
            </a:lvl1pPr>
          </a:lstStyle>
          <a:p>
            <a:pPr>
              <a:tabLst>
                <a:tab pos="1236663" algn="r"/>
              </a:tabLst>
              <a:defRPr/>
            </a:pPr>
            <a:fld id="{6007601C-0F56-1D44-9B09-FD7525EEC724}" type="slidenum">
              <a:rPr lang="en-CA" smtClean="0">
                <a:solidFill>
                  <a:srgbClr val="515349"/>
                </a:solidFill>
              </a:rPr>
              <a:pPr>
                <a:tabLst>
                  <a:tab pos="1236663" algn="r"/>
                </a:tabLst>
                <a:defRPr/>
              </a:pPr>
              <a:t>‹#›</a:t>
            </a:fld>
            <a:endParaRPr lang="en-CA">
              <a:solidFill>
                <a:srgbClr val="515349"/>
              </a:solidFill>
            </a:endParaRPr>
          </a:p>
        </p:txBody>
      </p:sp>
      <p:sp>
        <p:nvSpPr>
          <p:cNvPr id="5" name="1. On-page tracker">
            <a:extLst>
              <a:ext uri="{FF2B5EF4-FFF2-40B4-BE49-F238E27FC236}">
                <a16:creationId xmlns:a16="http://schemas.microsoft.com/office/drawing/2014/main" id="{620CB9B9-4617-C642-819E-6EBB8BF7D77F}"/>
              </a:ext>
            </a:extLst>
          </p:cNvPr>
          <p:cNvSpPr>
            <a:spLocks noGrp="1"/>
          </p:cNvSpPr>
          <p:nvPr>
            <p:ph type="body" sz="quarter" idx="10" hasCustomPrompt="1"/>
            <p:custDataLst>
              <p:tags r:id="rId3"/>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6" name="Picture 5">
            <a:extLst>
              <a:ext uri="{FF2B5EF4-FFF2-40B4-BE49-F238E27FC236}">
                <a16:creationId xmlns:a16="http://schemas.microsoft.com/office/drawing/2014/main" id="{5F308DD5-9CE5-9BBB-6D37-DC8022108524}"/>
              </a:ext>
            </a:extLst>
          </p:cNvPr>
          <p:cNvPicPr>
            <a:picLocks/>
          </p:cNvPicPr>
          <p:nvPr userDrawn="1"/>
        </p:nvPicPr>
        <p:blipFill>
          <a:blip r:embed="rId7"/>
          <a:stretch>
            <a:fillRect/>
          </a:stretch>
        </p:blipFill>
        <p:spPr>
          <a:xfrm>
            <a:off x="10853928" y="6388101"/>
            <a:ext cx="950976" cy="357859"/>
          </a:xfrm>
          <a:prstGeom prst="rect">
            <a:avLst/>
          </a:prstGeom>
        </p:spPr>
      </p:pic>
    </p:spTree>
    <p:extLst>
      <p:ext uri="{BB962C8B-B14F-4D97-AF65-F5344CB8AC3E}">
        <p14:creationId xmlns:p14="http://schemas.microsoft.com/office/powerpoint/2010/main" val="3725804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614814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pic>
        <p:nvPicPr>
          <p:cNvPr id="6" name="Picture 5">
            <a:extLst>
              <a:ext uri="{FF2B5EF4-FFF2-40B4-BE49-F238E27FC236}">
                <a16:creationId xmlns:a16="http://schemas.microsoft.com/office/drawing/2014/main" id="{CD63D52D-FC6C-C10E-68DA-02C9EC9BFB9C}"/>
              </a:ext>
            </a:extLst>
          </p:cNvPr>
          <p:cNvPicPr>
            <a:picLocks/>
          </p:cNvPicPr>
          <p:nvPr userDrawn="1"/>
        </p:nvPicPr>
        <p:blipFill>
          <a:blip r:embed="rId6"/>
          <a:stretch>
            <a:fillRect/>
          </a:stretch>
        </p:blipFill>
        <p:spPr>
          <a:xfrm>
            <a:off x="4964515" y="3003214"/>
            <a:ext cx="2262971" cy="851572"/>
          </a:xfrm>
          <a:prstGeom prst="rect">
            <a:avLst/>
          </a:prstGeom>
        </p:spPr>
      </p:pic>
    </p:spTree>
    <p:extLst>
      <p:ext uri="{BB962C8B-B14F-4D97-AF65-F5344CB8AC3E}">
        <p14:creationId xmlns:p14="http://schemas.microsoft.com/office/powerpoint/2010/main" val="33932001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384048" y="2711195"/>
            <a:ext cx="11420856" cy="2268222"/>
          </a:xfrm>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Date Placeholder 7">
            <a:extLst>
              <a:ext uri="{FF2B5EF4-FFF2-40B4-BE49-F238E27FC236}">
                <a16:creationId xmlns:a16="http://schemas.microsoft.com/office/drawing/2014/main" id="{6A5BF6AB-2D80-4B33-BD00-B219B9E88ACB}"/>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799490EA-2102-4C89-863D-10A7A47B8107}" type="datetime1">
              <a:rPr lang="en-US" smtClean="0"/>
              <a:t>9/2/2026</a:t>
            </a:fld>
            <a:endParaRPr lang="en-CA"/>
          </a:p>
        </p:txBody>
      </p:sp>
      <p:sp>
        <p:nvSpPr>
          <p:cNvPr id="9" name="Footer Placeholder 8">
            <a:extLst>
              <a:ext uri="{FF2B5EF4-FFF2-40B4-BE49-F238E27FC236}">
                <a16:creationId xmlns:a16="http://schemas.microsoft.com/office/drawing/2014/main" id="{EE916F14-7935-4AE8-8068-C3EB1FBA7D46}"/>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pic>
        <p:nvPicPr>
          <p:cNvPr id="14" name="Picture 13">
            <a:extLst>
              <a:ext uri="{FF2B5EF4-FFF2-40B4-BE49-F238E27FC236}">
                <a16:creationId xmlns:a16="http://schemas.microsoft.com/office/drawing/2014/main" id="{D30950D2-F01E-9F44-AD9E-7771212C5D9A}"/>
              </a:ext>
            </a:extLst>
          </p:cNvPr>
          <p:cNvPicPr>
            <a:picLocks/>
          </p:cNvPicPr>
          <p:nvPr userDrawn="1"/>
        </p:nvPicPr>
        <p:blipFill>
          <a:blip r:embed="rId2"/>
          <a:stretch>
            <a:fillRect/>
          </a:stretch>
        </p:blipFill>
        <p:spPr>
          <a:xfrm>
            <a:off x="10203942" y="5912934"/>
            <a:ext cx="1600200" cy="602166"/>
          </a:xfrm>
          <a:prstGeom prst="rect">
            <a:avLst/>
          </a:prstGeom>
        </p:spPr>
      </p:pic>
    </p:spTree>
    <p:extLst>
      <p:ext uri="{BB962C8B-B14F-4D97-AF65-F5344CB8AC3E}">
        <p14:creationId xmlns:p14="http://schemas.microsoft.com/office/powerpoint/2010/main" val="40979412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8F241A-25B2-3D41-ADDE-A82C17268E58}"/>
              </a:ext>
            </a:extLst>
          </p:cNvPr>
          <p:cNvSpPr/>
          <p:nvPr userDrawn="1"/>
        </p:nvSpPr>
        <p:spPr>
          <a:xfrm>
            <a:off x="1753114" y="1371600"/>
            <a:ext cx="4544568" cy="45456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lang="en-CA" sz="1350">
              <a:solidFill>
                <a:schemeClr val="bg1"/>
              </a:solidFill>
            </a:endParaRPr>
          </a:p>
        </p:txBody>
      </p:sp>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2186945" y="1676400"/>
            <a:ext cx="3959352" cy="2971800"/>
          </a:xfrm>
          <a:noFill/>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2186945" y="4648200"/>
            <a:ext cx="3959352" cy="914400"/>
          </a:xfrm>
          <a:noFill/>
        </p:spPr>
        <p:txBody>
          <a:bodyPr anchor="b" anchorCtr="0">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7" name="Date Placeholder 6">
            <a:extLst>
              <a:ext uri="{FF2B5EF4-FFF2-40B4-BE49-F238E27FC236}">
                <a16:creationId xmlns:a16="http://schemas.microsoft.com/office/drawing/2014/main" id="{17A58CD2-A995-4262-A6D6-8D0AADA58C10}"/>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91FF3DF2-E35D-4C4D-80DF-954FD10E999E}" type="datetime1">
              <a:rPr lang="en-US" smtClean="0"/>
              <a:t>9/2/2026</a:t>
            </a:fld>
            <a:endParaRPr lang="en-CA"/>
          </a:p>
        </p:txBody>
      </p:sp>
      <p:pic>
        <p:nvPicPr>
          <p:cNvPr id="12" name="Picture 11">
            <a:extLst>
              <a:ext uri="{FF2B5EF4-FFF2-40B4-BE49-F238E27FC236}">
                <a16:creationId xmlns:a16="http://schemas.microsoft.com/office/drawing/2014/main" id="{EA6A21FE-07F5-4A52-B78A-91402A316252}"/>
              </a:ext>
            </a:extLst>
          </p:cNvPr>
          <p:cNvPicPr>
            <a:picLocks/>
          </p:cNvPicPr>
          <p:nvPr userDrawn="1"/>
        </p:nvPicPr>
        <p:blipFill>
          <a:blip r:embed="rId2"/>
          <a:stretch>
            <a:fillRect/>
          </a:stretch>
        </p:blipFill>
        <p:spPr>
          <a:xfrm>
            <a:off x="10203942" y="5912934"/>
            <a:ext cx="1600200" cy="602166"/>
          </a:xfrm>
          <a:prstGeom prst="rect">
            <a:avLst/>
          </a:prstGeom>
        </p:spPr>
      </p:pic>
      <p:sp>
        <p:nvSpPr>
          <p:cNvPr id="9" name="Footer Placeholder 8">
            <a:extLst>
              <a:ext uri="{FF2B5EF4-FFF2-40B4-BE49-F238E27FC236}">
                <a16:creationId xmlns:a16="http://schemas.microsoft.com/office/drawing/2014/main" id="{20BD4B6A-B0A7-DE49-A4C4-D89305445939}"/>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spTree>
    <p:extLst>
      <p:ext uri="{BB962C8B-B14F-4D97-AF65-F5344CB8AC3E}">
        <p14:creationId xmlns:p14="http://schemas.microsoft.com/office/powerpoint/2010/main" val="35805922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AC830EDD-E25E-4688-8B29-7C93A56EF674}" type="datetime1">
              <a:rPr lang="en-US" smtClean="0"/>
              <a:t>9/2/2026</a:t>
            </a:fld>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10" name="Table Placeholder 9">
            <a:extLst>
              <a:ext uri="{FF2B5EF4-FFF2-40B4-BE49-F238E27FC236}">
                <a16:creationId xmlns:a16="http://schemas.microsoft.com/office/drawing/2014/main" id="{B83CA65E-AE9C-F54B-B443-CD30308C2CA7}"/>
              </a:ext>
            </a:extLst>
          </p:cNvPr>
          <p:cNvSpPr>
            <a:spLocks noGrp="1"/>
          </p:cNvSpPr>
          <p:nvPr>
            <p:ph type="tbl" sz="quarter" idx="14" hasCustomPrompt="1"/>
          </p:nvPr>
        </p:nvSpPr>
        <p:spPr>
          <a:xfrm>
            <a:off x="381000" y="1295400"/>
            <a:ext cx="11430000" cy="4724400"/>
          </a:xfrm>
        </p:spPr>
        <p:txBody>
          <a:bodyPr/>
          <a:lstStyle>
            <a:lvl1pPr marL="0" indent="0">
              <a:buNone/>
              <a:defRPr sz="1600"/>
            </a:lvl1pPr>
            <a:lvl2pPr marL="685800" indent="-228600">
              <a:buFont typeface="Arial" panose="020B0604020202020204" pitchFamily="34" charset="0"/>
              <a:buChar char="•"/>
              <a:defRPr sz="1600"/>
            </a:lvl2pPr>
            <a:lvl3pPr marL="1143000" indent="-228600">
              <a:buFont typeface="Wingdings" pitchFamily="2" charset="2"/>
              <a:buChar char="§"/>
              <a:defRPr sz="1400"/>
            </a:lvl3pPr>
            <a:lvl4pPr marL="1600200" indent="-228600">
              <a:buFont typeface="Arial" panose="020B0604020202020204" pitchFamily="34" charset="0"/>
              <a:buChar char="•"/>
              <a:defRPr sz="1200"/>
            </a:lvl4pPr>
            <a:lvl5pPr marL="2057400" indent="-228600">
              <a:buFont typeface="Wingdings" pitchFamily="2" charset="2"/>
              <a:buChar char="§"/>
              <a:defRPr sz="1000"/>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Tree>
    <p:extLst>
      <p:ext uri="{BB962C8B-B14F-4D97-AF65-F5344CB8AC3E}">
        <p14:creationId xmlns:p14="http://schemas.microsoft.com/office/powerpoint/2010/main" val="1760190346"/>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1DFF5FEA-9A85-43E6-8C59-BAAE89ED3061}" type="datetime1">
              <a:rPr lang="en-US" smtClean="0"/>
              <a:t>9/2/2026</a:t>
            </a:fld>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3380011492"/>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0BD3AE-39E3-494F-A1EE-16FB6F252764}"/>
              </a:ext>
            </a:extLst>
          </p:cNvPr>
          <p:cNvSpPr>
            <a:spLocks noGrp="1"/>
          </p:cNvSpPr>
          <p:nvPr>
            <p:ph idx="1" hasCustomPrompt="1"/>
          </p:nvPr>
        </p:nvSpPr>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DFC179E5-4269-44D4-A984-C57F7029D15D}" type="datetime1">
              <a:rPr lang="en-US" smtClean="0"/>
              <a:t>9/2/2026</a:t>
            </a:fld>
            <a:endParaRPr lang="en-CA"/>
          </a:p>
        </p:txBody>
      </p:sp>
    </p:spTree>
    <p:extLst>
      <p:ext uri="{BB962C8B-B14F-4D97-AF65-F5344CB8AC3E}">
        <p14:creationId xmlns:p14="http://schemas.microsoft.com/office/powerpoint/2010/main" val="3560082535"/>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E597-5579-A045-9648-491A56F1DD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84AE1E-60E5-6446-BB3C-C46E835D3342}"/>
              </a:ext>
            </a:extLst>
          </p:cNvPr>
          <p:cNvSpPr>
            <a:spLocks noGrp="1"/>
          </p:cNvSpPr>
          <p:nvPr>
            <p:ph sz="half" idx="1" hasCustomPrompt="1"/>
          </p:nvPr>
        </p:nvSpPr>
        <p:spPr>
          <a:xfrm>
            <a:off x="384048" y="1295401"/>
            <a:ext cx="5559552" cy="4724400"/>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4" name="Content Placeholder 3">
            <a:extLst>
              <a:ext uri="{FF2B5EF4-FFF2-40B4-BE49-F238E27FC236}">
                <a16:creationId xmlns:a16="http://schemas.microsoft.com/office/drawing/2014/main" id="{DDB161A1-7135-6A48-88B5-FA6A609C298F}"/>
              </a:ext>
            </a:extLst>
          </p:cNvPr>
          <p:cNvSpPr>
            <a:spLocks noGrp="1"/>
          </p:cNvSpPr>
          <p:nvPr>
            <p:ph sz="half" idx="2" hasCustomPrompt="1"/>
          </p:nvPr>
        </p:nvSpPr>
        <p:spPr>
          <a:xfrm>
            <a:off x="6248400" y="1295403"/>
            <a:ext cx="5556250" cy="4724399"/>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8" name="Footer Placeholder 4">
            <a:extLst>
              <a:ext uri="{FF2B5EF4-FFF2-40B4-BE49-F238E27FC236}">
                <a16:creationId xmlns:a16="http://schemas.microsoft.com/office/drawing/2014/main" id="{97C1624E-A29C-1D46-89E2-F842DD42DDE8}"/>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9" name="Date Placeholder 3">
            <a:extLst>
              <a:ext uri="{FF2B5EF4-FFF2-40B4-BE49-F238E27FC236}">
                <a16:creationId xmlns:a16="http://schemas.microsoft.com/office/drawing/2014/main" id="{990CB781-62E8-C740-9FC2-AF70714CA6FB}"/>
              </a:ext>
            </a:extLst>
          </p:cNvPr>
          <p:cNvSpPr>
            <a:spLocks noGrp="1"/>
          </p:cNvSpPr>
          <p:nvPr>
            <p:ph type="dt" sz="half" idx="13"/>
          </p:nvPr>
        </p:nvSpPr>
        <p:spPr>
          <a:xfrm>
            <a:off x="8569452" y="6515098"/>
            <a:ext cx="1474248" cy="342902"/>
          </a:xfrm>
          <a:prstGeom prst="rect">
            <a:avLst/>
          </a:prstGeom>
        </p:spPr>
        <p:txBody>
          <a:bodyPr/>
          <a:lstStyle/>
          <a:p>
            <a:fld id="{99AEB2EC-B98E-4DA9-999E-94A62D6D17F4}" type="datetime1">
              <a:rPr lang="en-US" smtClean="0"/>
              <a:t>9/2/2026</a:t>
            </a:fld>
            <a:endParaRPr lang="en-CA"/>
          </a:p>
        </p:txBody>
      </p:sp>
      <p:sp>
        <p:nvSpPr>
          <p:cNvPr id="7" name="Footer Placeholder 8">
            <a:extLst>
              <a:ext uri="{FF2B5EF4-FFF2-40B4-BE49-F238E27FC236}">
                <a16:creationId xmlns:a16="http://schemas.microsoft.com/office/drawing/2014/main" id="{67B9DA3F-10E5-7D41-84AB-9050D4311949}"/>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B699D31A-57EC-B04B-A41A-F3C3AF558E17}"/>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125002004"/>
      </p:ext>
    </p:extLst>
  </p:cSld>
  <p:clrMapOvr>
    <a:masterClrMapping/>
  </p:clrMapOvr>
  <p:extLst>
    <p:ext uri="{DCECCB84-F9BA-43D5-87BE-67443E8EF086}">
      <p15:sldGuideLst xmlns:p15="http://schemas.microsoft.com/office/powerpoint/2012/main">
        <p15:guide id="1" orient="horz" pos="576">
          <p15:clr>
            <a:srgbClr val="FBAE40"/>
          </p15:clr>
        </p15:guide>
        <p15:guide id="2" orient="horz" pos="672">
          <p15:clr>
            <a:srgbClr val="FBAE40"/>
          </p15:clr>
        </p15:guide>
        <p15:guide id="3" orient="horz" pos="816">
          <p15:clr>
            <a:srgbClr val="FBAE40"/>
          </p15:clr>
        </p15:guide>
        <p15:guide id="4" orient="horz" pos="3936">
          <p15:clr>
            <a:srgbClr val="FBAE40"/>
          </p15:clr>
        </p15:guide>
        <p15:guide id="5" orient="horz" pos="3792">
          <p15:clr>
            <a:srgbClr val="FBAE40"/>
          </p15:clr>
        </p15:guide>
        <p15:guide id="6" pos="3744">
          <p15:clr>
            <a:srgbClr val="FBAE40"/>
          </p15:clr>
        </p15:guide>
        <p15:guide id="7" pos="393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5E1948-A0F9-446F-A911-3D63891A9EE4}"/>
              </a:ext>
            </a:extLst>
          </p:cNvPr>
          <p:cNvSpPr>
            <a:spLocks noGrp="1"/>
          </p:cNvSpPr>
          <p:nvPr>
            <p:ph type="body" idx="1"/>
          </p:nvPr>
        </p:nvSpPr>
        <p:spPr>
          <a:xfrm>
            <a:off x="384048" y="1298448"/>
            <a:ext cx="5564124"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8382803-AA33-4BE8-B029-8C6D44878A59}"/>
              </a:ext>
            </a:extLst>
          </p:cNvPr>
          <p:cNvSpPr>
            <a:spLocks noGrp="1"/>
          </p:cNvSpPr>
          <p:nvPr>
            <p:ph sz="half" idx="2"/>
          </p:nvPr>
        </p:nvSpPr>
        <p:spPr>
          <a:xfrm>
            <a:off x="384048" y="1981200"/>
            <a:ext cx="5564124" cy="4044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D253C96-7453-445F-9A82-BC56E5098671}"/>
              </a:ext>
            </a:extLst>
          </p:cNvPr>
          <p:cNvSpPr>
            <a:spLocks noGrp="1"/>
          </p:cNvSpPr>
          <p:nvPr>
            <p:ph type="body" sz="quarter" idx="3"/>
          </p:nvPr>
        </p:nvSpPr>
        <p:spPr>
          <a:xfrm>
            <a:off x="6245352" y="1298448"/>
            <a:ext cx="5559297"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9EBCD2F-8EC4-4C1F-8B3F-1D6D8381165B}"/>
              </a:ext>
            </a:extLst>
          </p:cNvPr>
          <p:cNvSpPr>
            <a:spLocks noGrp="1"/>
          </p:cNvSpPr>
          <p:nvPr>
            <p:ph sz="quarter" idx="4"/>
          </p:nvPr>
        </p:nvSpPr>
        <p:spPr>
          <a:xfrm>
            <a:off x="6245352" y="1981200"/>
            <a:ext cx="5559297" cy="4044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Title 12">
            <a:extLst>
              <a:ext uri="{FF2B5EF4-FFF2-40B4-BE49-F238E27FC236}">
                <a16:creationId xmlns:a16="http://schemas.microsoft.com/office/drawing/2014/main" id="{BFB384AC-20BD-4E27-BC9E-242394EDC903}"/>
              </a:ext>
            </a:extLst>
          </p:cNvPr>
          <p:cNvSpPr>
            <a:spLocks noGrp="1"/>
          </p:cNvSpPr>
          <p:nvPr>
            <p:ph type="title"/>
          </p:nvPr>
        </p:nvSpPr>
        <p:spPr/>
        <p:txBody>
          <a:bodyPr/>
          <a:lstStyle/>
          <a:p>
            <a:r>
              <a:rPr lang="en-US"/>
              <a:t>Click to edit Master title style</a:t>
            </a:r>
            <a:endParaRPr lang="en-CA"/>
          </a:p>
        </p:txBody>
      </p:sp>
      <p:sp>
        <p:nvSpPr>
          <p:cNvPr id="14" name="Footer Placeholder 4">
            <a:extLst>
              <a:ext uri="{FF2B5EF4-FFF2-40B4-BE49-F238E27FC236}">
                <a16:creationId xmlns:a16="http://schemas.microsoft.com/office/drawing/2014/main" id="{B10DE041-1517-5A47-97B4-72983B7208BB}"/>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15" name="Date Placeholder 3">
            <a:extLst>
              <a:ext uri="{FF2B5EF4-FFF2-40B4-BE49-F238E27FC236}">
                <a16:creationId xmlns:a16="http://schemas.microsoft.com/office/drawing/2014/main" id="{C5E41CEC-9B27-A749-A91A-F3876DEE64F5}"/>
              </a:ext>
            </a:extLst>
          </p:cNvPr>
          <p:cNvSpPr>
            <a:spLocks noGrp="1"/>
          </p:cNvSpPr>
          <p:nvPr>
            <p:ph type="dt" sz="half" idx="13"/>
          </p:nvPr>
        </p:nvSpPr>
        <p:spPr>
          <a:xfrm>
            <a:off x="8569452" y="6515098"/>
            <a:ext cx="1474248" cy="342902"/>
          </a:xfrm>
          <a:prstGeom prst="rect">
            <a:avLst/>
          </a:prstGeom>
        </p:spPr>
        <p:txBody>
          <a:bodyPr/>
          <a:lstStyle/>
          <a:p>
            <a:fld id="{142621F5-A24C-4F03-A48E-31E768572852}" type="datetime1">
              <a:rPr lang="en-US" smtClean="0"/>
              <a:t>9/2/2026</a:t>
            </a:fld>
            <a:endParaRPr lang="en-CA"/>
          </a:p>
        </p:txBody>
      </p:sp>
      <p:sp>
        <p:nvSpPr>
          <p:cNvPr id="9" name="Footer Placeholder 8">
            <a:extLst>
              <a:ext uri="{FF2B5EF4-FFF2-40B4-BE49-F238E27FC236}">
                <a16:creationId xmlns:a16="http://schemas.microsoft.com/office/drawing/2014/main" id="{537CB532-8D5C-8945-8545-5DB40674F21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A7EA675A-F366-9445-A648-5A3407423352}"/>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0485184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3E20-716D-D744-AD1B-2265FFE51936}"/>
              </a:ext>
            </a:extLst>
          </p:cNvPr>
          <p:cNvSpPr>
            <a:spLocks noGrp="1"/>
          </p:cNvSpPr>
          <p:nvPr>
            <p:ph type="title"/>
          </p:nvPr>
        </p:nvSpPr>
        <p:spPr/>
        <p:txBody>
          <a:bodyPr/>
          <a:lstStyle/>
          <a:p>
            <a:r>
              <a:rPr lang="en-US"/>
              <a:t>Click to edit Master title style</a:t>
            </a:r>
            <a:endParaRPr lang="en-CA"/>
          </a:p>
        </p:txBody>
      </p:sp>
      <p:sp>
        <p:nvSpPr>
          <p:cNvPr id="6" name="Footer Placeholder 4">
            <a:extLst>
              <a:ext uri="{FF2B5EF4-FFF2-40B4-BE49-F238E27FC236}">
                <a16:creationId xmlns:a16="http://schemas.microsoft.com/office/drawing/2014/main" id="{92D4AE55-D906-0746-A30E-B9A295D9F9D4}"/>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Date Placeholder 3">
            <a:extLst>
              <a:ext uri="{FF2B5EF4-FFF2-40B4-BE49-F238E27FC236}">
                <a16:creationId xmlns:a16="http://schemas.microsoft.com/office/drawing/2014/main" id="{DE99D70A-FB1B-FA4E-8933-89A0D75272BA}"/>
              </a:ext>
            </a:extLst>
          </p:cNvPr>
          <p:cNvSpPr>
            <a:spLocks noGrp="1"/>
          </p:cNvSpPr>
          <p:nvPr>
            <p:ph type="dt" sz="half" idx="13"/>
          </p:nvPr>
        </p:nvSpPr>
        <p:spPr>
          <a:xfrm>
            <a:off x="8569452" y="6515098"/>
            <a:ext cx="1474248" cy="342902"/>
          </a:xfrm>
          <a:prstGeom prst="rect">
            <a:avLst/>
          </a:prstGeom>
        </p:spPr>
        <p:txBody>
          <a:bodyPr/>
          <a:lstStyle/>
          <a:p>
            <a:fld id="{B01D7BC3-961C-46B9-A6DE-2A4B9BFDFACA}" type="datetime1">
              <a:rPr lang="en-US" smtClean="0"/>
              <a:t>9/2/2026</a:t>
            </a:fld>
            <a:endParaRPr lang="en-CA"/>
          </a:p>
        </p:txBody>
      </p:sp>
      <p:sp>
        <p:nvSpPr>
          <p:cNvPr id="5" name="Footer Placeholder 8">
            <a:extLst>
              <a:ext uri="{FF2B5EF4-FFF2-40B4-BE49-F238E27FC236}">
                <a16:creationId xmlns:a16="http://schemas.microsoft.com/office/drawing/2014/main" id="{49664162-4786-1942-ACFE-99521245B22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EB75E0D-B022-7046-BA11-100FFB7C79CE}"/>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215448149"/>
      </p:ext>
    </p:extLst>
  </p:cSld>
  <p:clrMapOvr>
    <a:masterClrMapping/>
  </p:clrMapOvr>
  <p:extLst>
    <p:ext uri="{DCECCB84-F9BA-43D5-87BE-67443E8EF086}">
      <p15:sldGuideLst xmlns:p15="http://schemas.microsoft.com/office/powerpoint/2012/main">
        <p15:guide id="1" orient="horz" pos="3936">
          <p15:clr>
            <a:srgbClr val="FBAE40"/>
          </p15:clr>
        </p15:guide>
        <p15:guide id="2" orient="horz" pos="672">
          <p15:clr>
            <a:srgbClr val="FBAE40"/>
          </p15:clr>
        </p15:guide>
        <p15:guide id="3" orient="horz" pos="576">
          <p15:clr>
            <a:srgbClr val="FBAE40"/>
          </p15:clr>
        </p15:guide>
        <p15:guide id="4" orient="horz" pos="81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fld id="{61674021-7670-40BD-A0D8-5DBD86FDADC1}" type="datetime1">
              <a:rPr lang="en-US" smtClean="0"/>
              <a:t>9/2/2026</a:t>
            </a:fld>
            <a:endParaRPr lang="en-CA"/>
          </a:p>
        </p:txBody>
      </p:sp>
      <p:sp>
        <p:nvSpPr>
          <p:cNvPr id="6" name="Footer Placeholder 8">
            <a:extLst>
              <a:ext uri="{FF2B5EF4-FFF2-40B4-BE49-F238E27FC236}">
                <a16:creationId xmlns:a16="http://schemas.microsoft.com/office/drawing/2014/main" id="{CFA69B87-9945-1E41-B174-CB3CA724A68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7" name="Footer Placeholder 8">
            <a:extLst>
              <a:ext uri="{FF2B5EF4-FFF2-40B4-BE49-F238E27FC236}">
                <a16:creationId xmlns:a16="http://schemas.microsoft.com/office/drawing/2014/main" id="{1A906DB9-9029-BD41-B151-DAC6CE38C40C}"/>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228828066"/>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E6DF-B3B9-7E40-B9F1-4880D25FF57B}"/>
              </a:ext>
            </a:extLst>
          </p:cNvPr>
          <p:cNvSpPr>
            <a:spLocks noGrp="1"/>
          </p:cNvSpPr>
          <p:nvPr>
            <p:ph type="title"/>
          </p:nvPr>
        </p:nvSpPr>
        <p:spPr>
          <a:xfrm>
            <a:off x="384048" y="2711194"/>
            <a:ext cx="11420856" cy="1327406"/>
          </a:xfrm>
        </p:spPr>
        <p:txBody>
          <a:bodyPr anchor="t" anchorCtr="0">
            <a:normAutofit/>
          </a:bodyPr>
          <a:lstStyle>
            <a:lvl1pPr>
              <a:defRPr sz="4400">
                <a:solidFill>
                  <a:schemeClr val="tx1"/>
                </a:solidFill>
              </a:defRPr>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C59257A0-6B83-4D3D-A541-6CB290CD7808}"/>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fld id="{CF944FD7-3ED2-438A-8383-15783F3719A1}" type="datetime1">
              <a:rPr lang="en-US" smtClean="0"/>
              <a:t>9/2/2026</a:t>
            </a:fld>
            <a:endParaRPr lang="en-CA"/>
          </a:p>
        </p:txBody>
      </p:sp>
      <p:sp>
        <p:nvSpPr>
          <p:cNvPr id="9" name="Footer Placeholder 8">
            <a:extLst>
              <a:ext uri="{FF2B5EF4-FFF2-40B4-BE49-F238E27FC236}">
                <a16:creationId xmlns:a16="http://schemas.microsoft.com/office/drawing/2014/main" id="{5023D39E-AEBB-3045-BEFE-A5D4AC3AA1A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E5C5F2E2-F73E-ED44-995B-929141C21D26}"/>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05144468"/>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3D375-B998-DB2E-0658-3A60F61D3A02}"/>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1629413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14" name="Content Placeholder 2">
            <a:extLst>
              <a:ext uri="{FF2B5EF4-FFF2-40B4-BE49-F238E27FC236}">
                <a16:creationId xmlns:a16="http://schemas.microsoft.com/office/drawing/2014/main" id="{C619E497-760E-2343-8AB4-5FC074170557}"/>
              </a:ext>
            </a:extLst>
          </p:cNvPr>
          <p:cNvSpPr>
            <a:spLocks noGrp="1"/>
          </p:cNvSpPr>
          <p:nvPr>
            <p:ph idx="1" hasCustomPrompt="1"/>
          </p:nvPr>
        </p:nvSpPr>
        <p:spPr>
          <a:xfrm>
            <a:off x="1524001" y="1638795"/>
            <a:ext cx="7315200" cy="4228606"/>
          </a:xfrm>
        </p:spPr>
        <p:txBody>
          <a:bodyPr>
            <a:normAutofit/>
          </a:bodyPr>
          <a:lstStyle>
            <a:lvl1pPr marL="228596" marR="0" indent="-228596" algn="l" defTabSz="685787" rtl="0" eaLnBrk="1" fontAlgn="auto" latinLnBrk="0" hangingPunct="1">
              <a:lnSpc>
                <a:spcPct val="90000"/>
              </a:lnSpc>
              <a:spcBef>
                <a:spcPts val="2800"/>
              </a:spcBef>
              <a:spcAft>
                <a:spcPts val="0"/>
              </a:spcAft>
              <a:buClrTx/>
              <a:buSzTx/>
              <a:buFont typeface="Arial" panose="020B0604020202020204" pitchFamily="34" charset="0"/>
              <a:buChar char="•"/>
              <a:tabLst/>
              <a:defRPr sz="1801" baseline="0"/>
            </a:lvl1pPr>
            <a:lvl2pPr marL="457193"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600"/>
            </a:lvl2pPr>
            <a:lvl3pPr marL="685787"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a:lvl3pPr>
            <a:lvl4pPr marL="914384"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402"/>
            </a:lvl4pPr>
            <a:lvl5pPr marL="1142980"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sz="1402"/>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Date Placeholder 3">
            <a:extLst>
              <a:ext uri="{FF2B5EF4-FFF2-40B4-BE49-F238E27FC236}">
                <a16:creationId xmlns:a16="http://schemas.microsoft.com/office/drawing/2014/main" id="{D4C8E8A9-AB08-7B48-9A0F-E83591189685}"/>
              </a:ext>
            </a:extLst>
          </p:cNvPr>
          <p:cNvSpPr>
            <a:spLocks noGrp="1"/>
          </p:cNvSpPr>
          <p:nvPr>
            <p:ph type="dt" sz="half" idx="2"/>
          </p:nvPr>
        </p:nvSpPr>
        <p:spPr>
          <a:xfrm>
            <a:off x="7624841" y="6392640"/>
            <a:ext cx="1886858" cy="365125"/>
          </a:xfrm>
          <a:prstGeom prst="rect">
            <a:avLst/>
          </a:prstGeom>
        </p:spPr>
        <p:txBody>
          <a:bodyPr vert="horz" lIns="0" tIns="0" rIns="0" bIns="0" rtlCol="0" anchor="ctr"/>
          <a:lstStyle>
            <a:lvl1pPr algn="r">
              <a:defRPr sz="901">
                <a:solidFill>
                  <a:schemeClr val="tx1"/>
                </a:solidFill>
              </a:defRPr>
            </a:lvl1pPr>
          </a:lstStyle>
          <a:p>
            <a:endParaRPr lang="fr-CA"/>
          </a:p>
        </p:txBody>
      </p:sp>
      <p:sp>
        <p:nvSpPr>
          <p:cNvPr id="6" name="Footer Placeholder 4">
            <a:extLst>
              <a:ext uri="{FF2B5EF4-FFF2-40B4-BE49-F238E27FC236}">
                <a16:creationId xmlns:a16="http://schemas.microsoft.com/office/drawing/2014/main" id="{13457E63-6189-B349-88A8-D285627B5945}"/>
              </a:ext>
            </a:extLst>
          </p:cNvPr>
          <p:cNvSpPr>
            <a:spLocks noGrp="1"/>
          </p:cNvSpPr>
          <p:nvPr>
            <p:ph type="ftr" sz="quarter" idx="3"/>
          </p:nvPr>
        </p:nvSpPr>
        <p:spPr>
          <a:xfrm>
            <a:off x="516469" y="6392640"/>
            <a:ext cx="6953552" cy="365125"/>
          </a:xfrm>
          <a:prstGeom prst="rect">
            <a:avLst/>
          </a:prstGeom>
        </p:spPr>
        <p:txBody>
          <a:bodyPr vert="horz" lIns="0" tIns="0" rIns="0" bIns="0" rtlCol="0" anchor="ctr"/>
          <a:lstStyle>
            <a:lvl1pPr algn="l">
              <a:defRPr sz="901">
                <a:solidFill>
                  <a:schemeClr val="tx1"/>
                </a:solidFill>
              </a:defRPr>
            </a:lvl1pPr>
          </a:lstStyle>
          <a:p>
            <a:endParaRPr lang="fr-CA"/>
          </a:p>
        </p:txBody>
      </p:sp>
      <p:sp>
        <p:nvSpPr>
          <p:cNvPr id="7" name="Slide Number Placeholder 5">
            <a:extLst>
              <a:ext uri="{FF2B5EF4-FFF2-40B4-BE49-F238E27FC236}">
                <a16:creationId xmlns:a16="http://schemas.microsoft.com/office/drawing/2014/main" id="{755A9E83-A26F-CB4A-BA70-D976E7A6DB16}"/>
              </a:ext>
            </a:extLst>
          </p:cNvPr>
          <p:cNvSpPr>
            <a:spLocks noGrp="1"/>
          </p:cNvSpPr>
          <p:nvPr>
            <p:ph type="sldNum" sz="quarter" idx="4"/>
          </p:nvPr>
        </p:nvSpPr>
        <p:spPr>
          <a:xfrm>
            <a:off x="11196320" y="1"/>
            <a:ext cx="487680" cy="289560"/>
          </a:xfrm>
          <a:prstGeom prst="rect">
            <a:avLst/>
          </a:prstGeom>
        </p:spPr>
        <p:txBody>
          <a:bodyPr vert="horz" lIns="0" tIns="0" rIns="0" bIns="0" rtlCol="0" anchor="b" anchorCtr="0"/>
          <a:lstStyle>
            <a:lvl1pPr marL="0" indent="0" algn="r">
              <a:tabLst>
                <a:tab pos="1338239" algn="r"/>
              </a:tabLst>
              <a:defRPr sz="901">
                <a:solidFill>
                  <a:schemeClr val="tx1"/>
                </a:solidFill>
              </a:defRPr>
            </a:lvl1pPr>
          </a:lstStyle>
          <a:p>
            <a:pPr>
              <a:tabLst>
                <a:tab pos="1236642" algn="r"/>
              </a:tabLst>
            </a:pPr>
            <a:fld id="{6007601C-0F56-1D44-9B09-FD7525EEC724}" type="slidenum">
              <a:rPr lang="fr-CA" smtClean="0"/>
              <a:pPr>
                <a:tabLst>
                  <a:tab pos="1236642" algn="r"/>
                </a:tabLst>
              </a:pPr>
              <a:t>‹#›</a:t>
            </a:fld>
            <a:endParaRPr lang="fr-CA"/>
          </a:p>
        </p:txBody>
      </p:sp>
    </p:spTree>
    <p:extLst>
      <p:ext uri="{BB962C8B-B14F-4D97-AF65-F5344CB8AC3E}">
        <p14:creationId xmlns:p14="http://schemas.microsoft.com/office/powerpoint/2010/main" val="2464546213"/>
      </p:ext>
    </p:extLst>
  </p:cSld>
  <p:clrMapOvr>
    <a:masterClrMapping/>
  </p:clrMapOvr>
  <p:extLst>
    <p:ext uri="{DCECCB84-F9BA-43D5-87BE-67443E8EF086}">
      <p15:sldGuideLst xmlns:p15="http://schemas.microsoft.com/office/powerpoint/2012/main">
        <p15:guide id="1" orient="horz" pos="1087">
          <p15:clr>
            <a:srgbClr val="FBAE40"/>
          </p15:clr>
        </p15:guide>
        <p15:guide id="2" orient="horz" pos="895">
          <p15:clr>
            <a:srgbClr val="FBAE40"/>
          </p15:clr>
        </p15:guide>
        <p15:guide id="3" orient="horz" pos="5243">
          <p15:clr>
            <a:srgbClr val="FBAE40"/>
          </p15:clr>
        </p15:guide>
        <p15:guide id="4" orient="horz" pos="5051">
          <p15:clr>
            <a:srgbClr val="FBAE40"/>
          </p15:clr>
        </p15:guide>
        <p15:guide id="5" orient="horz" pos="76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14" name="Content Placeholder 2">
            <a:extLst>
              <a:ext uri="{FF2B5EF4-FFF2-40B4-BE49-F238E27FC236}">
                <a16:creationId xmlns:a16="http://schemas.microsoft.com/office/drawing/2014/main" id="{C619E497-760E-2343-8AB4-5FC074170557}"/>
              </a:ext>
            </a:extLst>
          </p:cNvPr>
          <p:cNvSpPr>
            <a:spLocks noGrp="1"/>
          </p:cNvSpPr>
          <p:nvPr>
            <p:ph idx="1" hasCustomPrompt="1"/>
          </p:nvPr>
        </p:nvSpPr>
        <p:spPr>
          <a:xfrm>
            <a:off x="1524001" y="1638795"/>
            <a:ext cx="7315200" cy="4228606"/>
          </a:xfrm>
        </p:spPr>
        <p:txBody>
          <a:bodyPr>
            <a:normAutofit/>
          </a:bodyPr>
          <a:lstStyle>
            <a:lvl1pPr marL="228596" marR="0" indent="-228596" algn="l" defTabSz="685787" rtl="0" eaLnBrk="1" fontAlgn="auto" latinLnBrk="0" hangingPunct="1">
              <a:lnSpc>
                <a:spcPct val="90000"/>
              </a:lnSpc>
              <a:spcBef>
                <a:spcPts val="2800"/>
              </a:spcBef>
              <a:spcAft>
                <a:spcPts val="0"/>
              </a:spcAft>
              <a:buClrTx/>
              <a:buSzTx/>
              <a:buFont typeface="Arial" panose="020B0604020202020204" pitchFamily="34" charset="0"/>
              <a:buChar char="•"/>
              <a:tabLst/>
              <a:defRPr sz="1801" baseline="0"/>
            </a:lvl1pPr>
            <a:lvl2pPr marL="457193"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600"/>
            </a:lvl2pPr>
            <a:lvl3pPr marL="685787"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a:lvl3pPr>
            <a:lvl4pPr marL="914384"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402"/>
            </a:lvl4pPr>
            <a:lvl5pPr marL="1142980"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sz="1402"/>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Date Placeholder 3">
            <a:extLst>
              <a:ext uri="{FF2B5EF4-FFF2-40B4-BE49-F238E27FC236}">
                <a16:creationId xmlns:a16="http://schemas.microsoft.com/office/drawing/2014/main" id="{D4C8E8A9-AB08-7B48-9A0F-E83591189685}"/>
              </a:ext>
            </a:extLst>
          </p:cNvPr>
          <p:cNvSpPr>
            <a:spLocks noGrp="1"/>
          </p:cNvSpPr>
          <p:nvPr>
            <p:ph type="dt" sz="half" idx="2"/>
          </p:nvPr>
        </p:nvSpPr>
        <p:spPr>
          <a:xfrm>
            <a:off x="7624841" y="6392640"/>
            <a:ext cx="1886858" cy="365125"/>
          </a:xfrm>
          <a:prstGeom prst="rect">
            <a:avLst/>
          </a:prstGeom>
        </p:spPr>
        <p:txBody>
          <a:bodyPr vert="horz" lIns="0" tIns="0" rIns="0" bIns="0" rtlCol="0" anchor="ctr"/>
          <a:lstStyle>
            <a:lvl1pPr algn="r">
              <a:defRPr sz="901">
                <a:solidFill>
                  <a:schemeClr val="tx1"/>
                </a:solidFill>
              </a:defRPr>
            </a:lvl1pPr>
          </a:lstStyle>
          <a:p>
            <a:endParaRPr lang="fr-CA"/>
          </a:p>
        </p:txBody>
      </p:sp>
      <p:sp>
        <p:nvSpPr>
          <p:cNvPr id="6" name="Footer Placeholder 4">
            <a:extLst>
              <a:ext uri="{FF2B5EF4-FFF2-40B4-BE49-F238E27FC236}">
                <a16:creationId xmlns:a16="http://schemas.microsoft.com/office/drawing/2014/main" id="{13457E63-6189-B349-88A8-D285627B5945}"/>
              </a:ext>
            </a:extLst>
          </p:cNvPr>
          <p:cNvSpPr>
            <a:spLocks noGrp="1"/>
          </p:cNvSpPr>
          <p:nvPr>
            <p:ph type="ftr" sz="quarter" idx="3"/>
          </p:nvPr>
        </p:nvSpPr>
        <p:spPr>
          <a:xfrm>
            <a:off x="516469" y="6392640"/>
            <a:ext cx="6953552" cy="365125"/>
          </a:xfrm>
          <a:prstGeom prst="rect">
            <a:avLst/>
          </a:prstGeom>
        </p:spPr>
        <p:txBody>
          <a:bodyPr vert="horz" lIns="0" tIns="0" rIns="0" bIns="0" rtlCol="0" anchor="ctr"/>
          <a:lstStyle>
            <a:lvl1pPr algn="l">
              <a:defRPr sz="901">
                <a:solidFill>
                  <a:schemeClr val="tx1"/>
                </a:solidFill>
              </a:defRPr>
            </a:lvl1pPr>
          </a:lstStyle>
          <a:p>
            <a:endParaRPr lang="fr-CA"/>
          </a:p>
        </p:txBody>
      </p:sp>
      <p:sp>
        <p:nvSpPr>
          <p:cNvPr id="7" name="Slide Number Placeholder 5">
            <a:extLst>
              <a:ext uri="{FF2B5EF4-FFF2-40B4-BE49-F238E27FC236}">
                <a16:creationId xmlns:a16="http://schemas.microsoft.com/office/drawing/2014/main" id="{755A9E83-A26F-CB4A-BA70-D976E7A6DB16}"/>
              </a:ext>
            </a:extLst>
          </p:cNvPr>
          <p:cNvSpPr>
            <a:spLocks noGrp="1"/>
          </p:cNvSpPr>
          <p:nvPr>
            <p:ph type="sldNum" sz="quarter" idx="4"/>
          </p:nvPr>
        </p:nvSpPr>
        <p:spPr>
          <a:xfrm>
            <a:off x="11196320" y="1"/>
            <a:ext cx="487680" cy="289560"/>
          </a:xfrm>
          <a:prstGeom prst="rect">
            <a:avLst/>
          </a:prstGeom>
        </p:spPr>
        <p:txBody>
          <a:bodyPr vert="horz" lIns="0" tIns="0" rIns="0" bIns="0" rtlCol="0" anchor="b" anchorCtr="0"/>
          <a:lstStyle>
            <a:lvl1pPr marL="0" indent="0" algn="r">
              <a:tabLst>
                <a:tab pos="1338239" algn="r"/>
              </a:tabLst>
              <a:defRPr sz="901">
                <a:solidFill>
                  <a:schemeClr val="tx1"/>
                </a:solidFill>
              </a:defRPr>
            </a:lvl1pPr>
          </a:lstStyle>
          <a:p>
            <a:pPr>
              <a:tabLst>
                <a:tab pos="1236642" algn="r"/>
              </a:tabLst>
            </a:pPr>
            <a:fld id="{6007601C-0F56-1D44-9B09-FD7525EEC724}" type="slidenum">
              <a:rPr lang="fr-CA" smtClean="0"/>
              <a:pPr>
                <a:tabLst>
                  <a:tab pos="1236642" algn="r"/>
                </a:tabLst>
              </a:pPr>
              <a:t>‹#›</a:t>
            </a:fld>
            <a:endParaRPr lang="fr-CA"/>
          </a:p>
        </p:txBody>
      </p:sp>
    </p:spTree>
    <p:extLst>
      <p:ext uri="{BB962C8B-B14F-4D97-AF65-F5344CB8AC3E}">
        <p14:creationId xmlns:p14="http://schemas.microsoft.com/office/powerpoint/2010/main" val="2287407695"/>
      </p:ext>
    </p:extLst>
  </p:cSld>
  <p:clrMapOvr>
    <a:masterClrMapping/>
  </p:clrMapOvr>
  <p:extLst>
    <p:ext uri="{DCECCB84-F9BA-43D5-87BE-67443E8EF086}">
      <p15:sldGuideLst xmlns:p15="http://schemas.microsoft.com/office/powerpoint/2012/main">
        <p15:guide id="1" orient="horz" pos="1087">
          <p15:clr>
            <a:srgbClr val="FBAE40"/>
          </p15:clr>
        </p15:guide>
        <p15:guide id="2" orient="horz" pos="895">
          <p15:clr>
            <a:srgbClr val="FBAE40"/>
          </p15:clr>
        </p15:guide>
        <p15:guide id="3" orient="horz" pos="5243">
          <p15:clr>
            <a:srgbClr val="FBAE40"/>
          </p15:clr>
        </p15:guide>
        <p15:guide id="4" orient="horz" pos="5051">
          <p15:clr>
            <a:srgbClr val="FBAE40"/>
          </p15:clr>
        </p15:guide>
        <p15:guide id="5" orient="horz" pos="76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3" imgH="416" progId="TCLayout.ActiveDocument.1">
                  <p:embed/>
                </p:oleObj>
              </mc:Choice>
              <mc:Fallback>
                <p:oleObj name="think-cell Slide" r:id="rId5"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384048" y="1115190"/>
            <a:ext cx="1142085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vl1pPr>
          </a:lstStyle>
          <a:p>
            <a:pPr lvl="0">
              <a:buNone/>
            </a:pPr>
            <a:r>
              <a:rPr lang="en-US"/>
              <a:t>Click to edit Master subtitle style</a:t>
            </a:r>
            <a:endParaRPr lang="en-CA"/>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3"/>
            </p:custDataLst>
          </p:nvPr>
        </p:nvSpPr>
        <p:spPr>
          <a:xfrm>
            <a:off x="384048" y="474575"/>
            <a:ext cx="114208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rtl="0">
              <a:defRPr lang="en-US" b="0" dirty="0">
                <a:solidFill>
                  <a:schemeClr val="accent1"/>
                </a:solidFill>
              </a:defRPr>
            </a:lvl1pPr>
          </a:lstStyle>
          <a:p>
            <a:pPr lvl="0"/>
            <a:r>
              <a:rPr lang="en-US"/>
              <a:t>Click to edit Master title style</a:t>
            </a:r>
            <a:endParaRPr lang="en-CA"/>
          </a:p>
        </p:txBody>
      </p:sp>
    </p:spTree>
    <p:extLst>
      <p:ext uri="{BB962C8B-B14F-4D97-AF65-F5344CB8AC3E}">
        <p14:creationId xmlns:p14="http://schemas.microsoft.com/office/powerpoint/2010/main" val="190134248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384048" y="2711195"/>
            <a:ext cx="11420856" cy="2268222"/>
          </a:xfrm>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Date Placeholder 7">
            <a:extLst>
              <a:ext uri="{FF2B5EF4-FFF2-40B4-BE49-F238E27FC236}">
                <a16:creationId xmlns:a16="http://schemas.microsoft.com/office/drawing/2014/main" id="{6A5BF6AB-2D80-4B33-BD00-B219B9E88ACB}"/>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CDBF8F42-D06F-45B9-B73A-766CE9B194F1}" type="datetime4">
              <a:rPr lang="en-US" smtClean="0"/>
              <a:t>September 2, 2026</a:t>
            </a:fld>
            <a:endParaRPr lang="en-CA"/>
          </a:p>
        </p:txBody>
      </p:sp>
      <p:sp>
        <p:nvSpPr>
          <p:cNvPr id="9" name="Footer Placeholder 8">
            <a:extLst>
              <a:ext uri="{FF2B5EF4-FFF2-40B4-BE49-F238E27FC236}">
                <a16:creationId xmlns:a16="http://schemas.microsoft.com/office/drawing/2014/main" id="{EE916F14-7935-4AE8-8068-C3EB1FBA7D46}"/>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pic>
        <p:nvPicPr>
          <p:cNvPr id="14" name="Picture 13">
            <a:extLst>
              <a:ext uri="{FF2B5EF4-FFF2-40B4-BE49-F238E27FC236}">
                <a16:creationId xmlns:a16="http://schemas.microsoft.com/office/drawing/2014/main" id="{D30950D2-F01E-9F44-AD9E-7771212C5D9A}"/>
              </a:ext>
            </a:extLst>
          </p:cNvPr>
          <p:cNvPicPr>
            <a:picLocks/>
          </p:cNvPicPr>
          <p:nvPr userDrawn="1"/>
        </p:nvPicPr>
        <p:blipFill>
          <a:blip r:embed="rId2"/>
          <a:stretch>
            <a:fillRect/>
          </a:stretch>
        </p:blipFill>
        <p:spPr>
          <a:xfrm>
            <a:off x="10203942" y="5912934"/>
            <a:ext cx="1600200" cy="602166"/>
          </a:xfrm>
          <a:prstGeom prst="rect">
            <a:avLst/>
          </a:prstGeom>
        </p:spPr>
      </p:pic>
    </p:spTree>
    <p:extLst>
      <p:ext uri="{BB962C8B-B14F-4D97-AF65-F5344CB8AC3E}">
        <p14:creationId xmlns:p14="http://schemas.microsoft.com/office/powerpoint/2010/main" val="14817620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8F241A-25B2-3D41-ADDE-A82C17268E58}"/>
              </a:ext>
            </a:extLst>
          </p:cNvPr>
          <p:cNvSpPr/>
          <p:nvPr userDrawn="1"/>
        </p:nvSpPr>
        <p:spPr>
          <a:xfrm>
            <a:off x="1753114" y="1371600"/>
            <a:ext cx="4544568" cy="45456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lang="en-CA" sz="1350">
              <a:solidFill>
                <a:schemeClr val="bg1"/>
              </a:solidFill>
            </a:endParaRPr>
          </a:p>
        </p:txBody>
      </p:sp>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2186945" y="1676400"/>
            <a:ext cx="3959352" cy="2971800"/>
          </a:xfrm>
          <a:noFill/>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2186945" y="4648200"/>
            <a:ext cx="3959352" cy="914400"/>
          </a:xfrm>
          <a:noFill/>
        </p:spPr>
        <p:txBody>
          <a:bodyPr anchor="b" anchorCtr="0">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7" name="Date Placeholder 6">
            <a:extLst>
              <a:ext uri="{FF2B5EF4-FFF2-40B4-BE49-F238E27FC236}">
                <a16:creationId xmlns:a16="http://schemas.microsoft.com/office/drawing/2014/main" id="{17A58CD2-A995-4262-A6D6-8D0AADA58C10}"/>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9CF9511F-66B6-4162-A656-B18DA862C9E7}" type="datetime4">
              <a:rPr lang="en-US" smtClean="0"/>
              <a:t>September 2, 2026</a:t>
            </a:fld>
            <a:endParaRPr lang="en-CA"/>
          </a:p>
        </p:txBody>
      </p:sp>
      <p:pic>
        <p:nvPicPr>
          <p:cNvPr id="12" name="Picture 11">
            <a:extLst>
              <a:ext uri="{FF2B5EF4-FFF2-40B4-BE49-F238E27FC236}">
                <a16:creationId xmlns:a16="http://schemas.microsoft.com/office/drawing/2014/main" id="{EA6A21FE-07F5-4A52-B78A-91402A316252}"/>
              </a:ext>
            </a:extLst>
          </p:cNvPr>
          <p:cNvPicPr>
            <a:picLocks/>
          </p:cNvPicPr>
          <p:nvPr userDrawn="1"/>
        </p:nvPicPr>
        <p:blipFill>
          <a:blip r:embed="rId2"/>
          <a:stretch>
            <a:fillRect/>
          </a:stretch>
        </p:blipFill>
        <p:spPr>
          <a:xfrm>
            <a:off x="10203942" y="5912934"/>
            <a:ext cx="1600200" cy="602166"/>
          </a:xfrm>
          <a:prstGeom prst="rect">
            <a:avLst/>
          </a:prstGeom>
        </p:spPr>
      </p:pic>
      <p:sp>
        <p:nvSpPr>
          <p:cNvPr id="9" name="Footer Placeholder 8">
            <a:extLst>
              <a:ext uri="{FF2B5EF4-FFF2-40B4-BE49-F238E27FC236}">
                <a16:creationId xmlns:a16="http://schemas.microsoft.com/office/drawing/2014/main" id="{20BD4B6A-B0A7-DE49-A4C4-D89305445939}"/>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spTree>
    <p:extLst>
      <p:ext uri="{BB962C8B-B14F-4D97-AF65-F5344CB8AC3E}">
        <p14:creationId xmlns:p14="http://schemas.microsoft.com/office/powerpoint/2010/main" val="6053731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10" name="Table Placeholder 9">
            <a:extLst>
              <a:ext uri="{FF2B5EF4-FFF2-40B4-BE49-F238E27FC236}">
                <a16:creationId xmlns:a16="http://schemas.microsoft.com/office/drawing/2014/main" id="{B83CA65E-AE9C-F54B-B443-CD30308C2CA7}"/>
              </a:ext>
            </a:extLst>
          </p:cNvPr>
          <p:cNvSpPr>
            <a:spLocks noGrp="1"/>
          </p:cNvSpPr>
          <p:nvPr>
            <p:ph type="tbl" sz="quarter" idx="14" hasCustomPrompt="1"/>
          </p:nvPr>
        </p:nvSpPr>
        <p:spPr>
          <a:xfrm>
            <a:off x="381000" y="1295400"/>
            <a:ext cx="11430000" cy="4724400"/>
          </a:xfrm>
        </p:spPr>
        <p:txBody>
          <a:bodyPr/>
          <a:lstStyle>
            <a:lvl1pPr marL="0" indent="0">
              <a:buNone/>
              <a:defRPr sz="1600"/>
            </a:lvl1pPr>
            <a:lvl2pPr marL="685800" indent="-228600">
              <a:buFont typeface="Arial" panose="020B0604020202020204" pitchFamily="34" charset="0"/>
              <a:buChar char="•"/>
              <a:defRPr sz="1600"/>
            </a:lvl2pPr>
            <a:lvl3pPr marL="1143000" indent="-228600">
              <a:buFont typeface="Wingdings" pitchFamily="2" charset="2"/>
              <a:buChar char="§"/>
              <a:defRPr sz="1400"/>
            </a:lvl3pPr>
            <a:lvl4pPr marL="1600200" indent="-228600">
              <a:buFont typeface="Arial" panose="020B0604020202020204" pitchFamily="34" charset="0"/>
              <a:buChar char="•"/>
              <a:defRPr sz="1200"/>
            </a:lvl4pPr>
            <a:lvl5pPr marL="2057400" indent="-228600">
              <a:buFont typeface="Wingdings" pitchFamily="2" charset="2"/>
              <a:buChar char="§"/>
              <a:defRPr sz="1000"/>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Tree>
    <p:extLst>
      <p:ext uri="{BB962C8B-B14F-4D97-AF65-F5344CB8AC3E}">
        <p14:creationId xmlns:p14="http://schemas.microsoft.com/office/powerpoint/2010/main" val="1633706756"/>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3558724973"/>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0BD3AE-39E3-494F-A1EE-16FB6F252764}"/>
              </a:ext>
            </a:extLst>
          </p:cNvPr>
          <p:cNvSpPr>
            <a:spLocks noGrp="1"/>
          </p:cNvSpPr>
          <p:nvPr>
            <p:ph idx="1" hasCustomPrompt="1"/>
          </p:nvPr>
        </p:nvSpPr>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176674381"/>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E597-5579-A045-9648-491A56F1DD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84AE1E-60E5-6446-BB3C-C46E835D3342}"/>
              </a:ext>
            </a:extLst>
          </p:cNvPr>
          <p:cNvSpPr>
            <a:spLocks noGrp="1"/>
          </p:cNvSpPr>
          <p:nvPr>
            <p:ph sz="half" idx="1" hasCustomPrompt="1"/>
          </p:nvPr>
        </p:nvSpPr>
        <p:spPr>
          <a:xfrm>
            <a:off x="384048" y="1295401"/>
            <a:ext cx="5559552" cy="4724400"/>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4" name="Content Placeholder 3">
            <a:extLst>
              <a:ext uri="{FF2B5EF4-FFF2-40B4-BE49-F238E27FC236}">
                <a16:creationId xmlns:a16="http://schemas.microsoft.com/office/drawing/2014/main" id="{DDB161A1-7135-6A48-88B5-FA6A609C298F}"/>
              </a:ext>
            </a:extLst>
          </p:cNvPr>
          <p:cNvSpPr>
            <a:spLocks noGrp="1"/>
          </p:cNvSpPr>
          <p:nvPr>
            <p:ph sz="half" idx="2" hasCustomPrompt="1"/>
          </p:nvPr>
        </p:nvSpPr>
        <p:spPr>
          <a:xfrm>
            <a:off x="6248400" y="1295403"/>
            <a:ext cx="5556250" cy="4724399"/>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8" name="Footer Placeholder 4">
            <a:extLst>
              <a:ext uri="{FF2B5EF4-FFF2-40B4-BE49-F238E27FC236}">
                <a16:creationId xmlns:a16="http://schemas.microsoft.com/office/drawing/2014/main" id="{97C1624E-A29C-1D46-89E2-F842DD42DDE8}"/>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B9DA3F-10E5-7D41-84AB-9050D4311949}"/>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B699D31A-57EC-B04B-A41A-F3C3AF558E17}"/>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1365615128"/>
      </p:ext>
    </p:extLst>
  </p:cSld>
  <p:clrMapOvr>
    <a:masterClrMapping/>
  </p:clrMapOvr>
  <p:extLst>
    <p:ext uri="{DCECCB84-F9BA-43D5-87BE-67443E8EF086}">
      <p15:sldGuideLst xmlns:p15="http://schemas.microsoft.com/office/powerpoint/2012/main">
        <p15:guide id="1" orient="horz" pos="576">
          <p15:clr>
            <a:srgbClr val="FBAE40"/>
          </p15:clr>
        </p15:guide>
        <p15:guide id="2" orient="horz" pos="672">
          <p15:clr>
            <a:srgbClr val="FBAE40"/>
          </p15:clr>
        </p15:guide>
        <p15:guide id="3" orient="horz" pos="816">
          <p15:clr>
            <a:srgbClr val="FBAE40"/>
          </p15:clr>
        </p15:guide>
        <p15:guide id="4" orient="horz" pos="3936">
          <p15:clr>
            <a:srgbClr val="FBAE40"/>
          </p15:clr>
        </p15:guide>
        <p15:guide id="5" orient="horz" pos="3792">
          <p15:clr>
            <a:srgbClr val="FBAE40"/>
          </p15:clr>
        </p15:guide>
        <p15:guide id="6" pos="3744">
          <p15:clr>
            <a:srgbClr val="FBAE40"/>
          </p15:clr>
        </p15:guide>
        <p15:guide id="7" pos="393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5E1948-A0F9-446F-A911-3D63891A9EE4}"/>
              </a:ext>
            </a:extLst>
          </p:cNvPr>
          <p:cNvSpPr>
            <a:spLocks noGrp="1"/>
          </p:cNvSpPr>
          <p:nvPr>
            <p:ph type="body" idx="1"/>
          </p:nvPr>
        </p:nvSpPr>
        <p:spPr>
          <a:xfrm>
            <a:off x="384048" y="1298448"/>
            <a:ext cx="5564124"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B8382803-AA33-4BE8-B029-8C6D44878A59}"/>
              </a:ext>
            </a:extLst>
          </p:cNvPr>
          <p:cNvSpPr>
            <a:spLocks noGrp="1"/>
          </p:cNvSpPr>
          <p:nvPr>
            <p:ph sz="half" idx="2"/>
          </p:nvPr>
        </p:nvSpPr>
        <p:spPr>
          <a:xfrm>
            <a:off x="384048" y="1981200"/>
            <a:ext cx="5564124"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D253C96-7453-445F-9A82-BC56E5098671}"/>
              </a:ext>
            </a:extLst>
          </p:cNvPr>
          <p:cNvSpPr>
            <a:spLocks noGrp="1"/>
          </p:cNvSpPr>
          <p:nvPr>
            <p:ph type="body" sz="quarter" idx="3"/>
          </p:nvPr>
        </p:nvSpPr>
        <p:spPr>
          <a:xfrm>
            <a:off x="6245352" y="1298448"/>
            <a:ext cx="5559297"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9EBCD2F-8EC4-4C1F-8B3F-1D6D8381165B}"/>
              </a:ext>
            </a:extLst>
          </p:cNvPr>
          <p:cNvSpPr>
            <a:spLocks noGrp="1"/>
          </p:cNvSpPr>
          <p:nvPr>
            <p:ph sz="quarter" idx="4"/>
          </p:nvPr>
        </p:nvSpPr>
        <p:spPr>
          <a:xfrm>
            <a:off x="6245352" y="1981200"/>
            <a:ext cx="5559297"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Title 12">
            <a:extLst>
              <a:ext uri="{FF2B5EF4-FFF2-40B4-BE49-F238E27FC236}">
                <a16:creationId xmlns:a16="http://schemas.microsoft.com/office/drawing/2014/main" id="{BFB384AC-20BD-4E27-BC9E-242394EDC903}"/>
              </a:ext>
            </a:extLst>
          </p:cNvPr>
          <p:cNvSpPr>
            <a:spLocks noGrp="1"/>
          </p:cNvSpPr>
          <p:nvPr>
            <p:ph type="title"/>
          </p:nvPr>
        </p:nvSpPr>
        <p:spPr/>
        <p:txBody>
          <a:bodyPr/>
          <a:lstStyle/>
          <a:p>
            <a:r>
              <a:rPr lang="en-US"/>
              <a:t>Click to edit Master title style</a:t>
            </a:r>
            <a:endParaRPr lang="en-CA"/>
          </a:p>
        </p:txBody>
      </p:sp>
      <p:sp>
        <p:nvSpPr>
          <p:cNvPr id="14" name="Footer Placeholder 4">
            <a:extLst>
              <a:ext uri="{FF2B5EF4-FFF2-40B4-BE49-F238E27FC236}">
                <a16:creationId xmlns:a16="http://schemas.microsoft.com/office/drawing/2014/main" id="{B10DE041-1517-5A47-97B4-72983B7208BB}"/>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9" name="Footer Placeholder 8">
            <a:extLst>
              <a:ext uri="{FF2B5EF4-FFF2-40B4-BE49-F238E27FC236}">
                <a16:creationId xmlns:a16="http://schemas.microsoft.com/office/drawing/2014/main" id="{537CB532-8D5C-8945-8545-5DB40674F21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A7EA675A-F366-9445-A648-5A3407423352}"/>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0532250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3E20-716D-D744-AD1B-2265FFE51936}"/>
              </a:ext>
            </a:extLst>
          </p:cNvPr>
          <p:cNvSpPr>
            <a:spLocks noGrp="1"/>
          </p:cNvSpPr>
          <p:nvPr>
            <p:ph type="title"/>
          </p:nvPr>
        </p:nvSpPr>
        <p:spPr/>
        <p:txBody>
          <a:bodyPr/>
          <a:lstStyle/>
          <a:p>
            <a:r>
              <a:rPr lang="en-US"/>
              <a:t>Click to edit Master title style</a:t>
            </a:r>
            <a:endParaRPr lang="en-CA"/>
          </a:p>
        </p:txBody>
      </p:sp>
      <p:sp>
        <p:nvSpPr>
          <p:cNvPr id="6" name="Footer Placeholder 4">
            <a:extLst>
              <a:ext uri="{FF2B5EF4-FFF2-40B4-BE49-F238E27FC236}">
                <a16:creationId xmlns:a16="http://schemas.microsoft.com/office/drawing/2014/main" id="{92D4AE55-D906-0746-A30E-B9A295D9F9D4}"/>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5" name="Footer Placeholder 8">
            <a:extLst>
              <a:ext uri="{FF2B5EF4-FFF2-40B4-BE49-F238E27FC236}">
                <a16:creationId xmlns:a16="http://schemas.microsoft.com/office/drawing/2014/main" id="{49664162-4786-1942-ACFE-99521245B22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EB75E0D-B022-7046-BA11-100FFB7C79CE}"/>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412406804"/>
      </p:ext>
    </p:extLst>
  </p:cSld>
  <p:clrMapOvr>
    <a:masterClrMapping/>
  </p:clrMapOvr>
  <p:extLst>
    <p:ext uri="{DCECCB84-F9BA-43D5-87BE-67443E8EF086}">
      <p15:sldGuideLst xmlns:p15="http://schemas.microsoft.com/office/powerpoint/2012/main">
        <p15:guide id="1" orient="horz" pos="3936">
          <p15:clr>
            <a:srgbClr val="FBAE40"/>
          </p15:clr>
        </p15:guide>
        <p15:guide id="2" orient="horz" pos="672">
          <p15:clr>
            <a:srgbClr val="FBAE40"/>
          </p15:clr>
        </p15:guide>
        <p15:guide id="3" orient="horz" pos="576">
          <p15:clr>
            <a:srgbClr val="FBAE40"/>
          </p15:clr>
        </p15:guide>
        <p15:guide id="4" orient="horz" pos="81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6" name="Footer Placeholder 8">
            <a:extLst>
              <a:ext uri="{FF2B5EF4-FFF2-40B4-BE49-F238E27FC236}">
                <a16:creationId xmlns:a16="http://schemas.microsoft.com/office/drawing/2014/main" id="{CFA69B87-9945-1E41-B174-CB3CA724A68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7" name="Footer Placeholder 8">
            <a:extLst>
              <a:ext uri="{FF2B5EF4-FFF2-40B4-BE49-F238E27FC236}">
                <a16:creationId xmlns:a16="http://schemas.microsoft.com/office/drawing/2014/main" id="{1A906DB9-9029-BD41-B151-DAC6CE38C40C}"/>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1510486602"/>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3.emf"/><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2.emf"/><Relationship Id="rId2" Type="http://schemas.openxmlformats.org/officeDocument/2006/relationships/slideLayout" Target="../slideLayouts/slideLayout3.xml"/><Relationship Id="rId16"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ags" Target="../tags/tag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14.xml"/><Relationship Id="rId39" Type="http://schemas.openxmlformats.org/officeDocument/2006/relationships/tags" Target="../tags/tag27.xml"/><Relationship Id="rId21" Type="http://schemas.openxmlformats.org/officeDocument/2006/relationships/theme" Target="../theme/theme3.xml"/><Relationship Id="rId34" Type="http://schemas.openxmlformats.org/officeDocument/2006/relationships/tags" Target="../tags/tag22.xml"/><Relationship Id="rId42" Type="http://schemas.openxmlformats.org/officeDocument/2006/relationships/oleObject" Target="../embeddings/oleObject5.bin"/><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tags" Target="../tags/tag17.xml"/><Relationship Id="rId41" Type="http://schemas.openxmlformats.org/officeDocument/2006/relationships/tags" Target="../tags/tag2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xml"/><Relationship Id="rId32" Type="http://schemas.openxmlformats.org/officeDocument/2006/relationships/tags" Target="../tags/tag20.xml"/><Relationship Id="rId37" Type="http://schemas.openxmlformats.org/officeDocument/2006/relationships/tags" Target="../tags/tag25.xml"/><Relationship Id="rId40" Type="http://schemas.openxmlformats.org/officeDocument/2006/relationships/tags" Target="../tags/tag2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1.xml"/><Relationship Id="rId28" Type="http://schemas.openxmlformats.org/officeDocument/2006/relationships/tags" Target="../tags/tag16.xml"/><Relationship Id="rId36" Type="http://schemas.openxmlformats.org/officeDocument/2006/relationships/tags" Target="../tags/tag24.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tags" Target="../tags/tag19.xml"/><Relationship Id="rId44" Type="http://schemas.openxmlformats.org/officeDocument/2006/relationships/image" Target="../media/image3.emf"/><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0.xml"/><Relationship Id="rId27" Type="http://schemas.openxmlformats.org/officeDocument/2006/relationships/tags" Target="../tags/tag15.xml"/><Relationship Id="rId30" Type="http://schemas.openxmlformats.org/officeDocument/2006/relationships/tags" Target="../tags/tag18.xml"/><Relationship Id="rId35" Type="http://schemas.openxmlformats.org/officeDocument/2006/relationships/tags" Target="../tags/tag23.xml"/><Relationship Id="rId43" Type="http://schemas.openxmlformats.org/officeDocument/2006/relationships/image" Target="../media/image4.emf"/><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3.xml"/><Relationship Id="rId33" Type="http://schemas.openxmlformats.org/officeDocument/2006/relationships/tags" Target="../tags/tag21.xml"/><Relationship Id="rId38" Type="http://schemas.openxmlformats.org/officeDocument/2006/relationships/tags" Target="../tags/tag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image" Target="../media/image2.emf"/><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oleObject" Target="../embeddings/oleObject21.bin"/><Relationship Id="rId2" Type="http://schemas.openxmlformats.org/officeDocument/2006/relationships/slideLayout" Target="../slideLayouts/slideLayout36.xml"/><Relationship Id="rId16" Type="http://schemas.openxmlformats.org/officeDocument/2006/relationships/tags" Target="../tags/tag148.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theme" Target="../theme/theme4.xml"/><Relationship Id="rId10" Type="http://schemas.openxmlformats.org/officeDocument/2006/relationships/slideLayout" Target="../slideLayouts/slideLayout44.xml"/><Relationship Id="rId19" Type="http://schemas.openxmlformats.org/officeDocument/2006/relationships/image" Target="../media/image3.emf"/><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oleObject" Target="../embeddings/oleObject23.bin"/><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ags" Target="../tags/tag153.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tags" Target="../tags/tag152.xml"/><Relationship Id="rId5" Type="http://schemas.openxmlformats.org/officeDocument/2006/relationships/slideLayout" Target="../slideLayouts/slideLayout53.xml"/><Relationship Id="rId15" Type="http://schemas.openxmlformats.org/officeDocument/2006/relationships/image" Target="../media/image3.emf"/><Relationship Id="rId10" Type="http://schemas.openxmlformats.org/officeDocument/2006/relationships/theme" Target="../theme/theme5.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0A7638E-A83A-4BAD-8DA4-A8AEDDEE13D4}"/>
              </a:ext>
            </a:extLst>
          </p:cNvPr>
          <p:cNvGraphicFramePr>
            <a:graphicFrameLocks noChangeAspect="1"/>
          </p:cNvGraphicFramePr>
          <p:nvPr userDrawn="1">
            <p:custDataLst>
              <p:tags r:id="rId3"/>
            </p:custData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5" name="Object 4" hidden="1">
                        <a:extLst>
                          <a:ext uri="{FF2B5EF4-FFF2-40B4-BE49-F238E27FC236}">
                            <a16:creationId xmlns:a16="http://schemas.microsoft.com/office/drawing/2014/main" id="{60A7638E-A83A-4BAD-8DA4-A8AEDDEE13D4}"/>
                          </a:ext>
                        </a:extLst>
                      </p:cNvPr>
                      <p:cNvPicPr/>
                      <p:nvPr/>
                    </p:nvPicPr>
                    <p:blipFill>
                      <a:blip r:embed="rId6"/>
                      <a:stretch>
                        <a:fillRect/>
                      </a:stretch>
                    </p:blipFill>
                    <p:spPr>
                      <a:xfrm>
                        <a:off x="1587" y="1588"/>
                        <a:ext cx="1587"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EF8F37F-E738-4C14-B7B6-CAB9C13BEEEC}"/>
              </a:ext>
            </a:extLst>
          </p:cNvPr>
          <p:cNvSpPr/>
          <p:nvPr userDrawn="1">
            <p:custDataLst>
              <p:tags r:id="rId4"/>
            </p:custDataLst>
          </p:nvPr>
        </p:nvSpPr>
        <p:spPr>
          <a:xfrm>
            <a:off x="0" y="0"/>
            <a:ext cx="158667" cy="15875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kumimoji="0" lang="en-US" sz="2199" b="0" i="0" u="none" cap="none" baseline="0">
              <a:solidFill>
                <a:schemeClr val="tx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Placeholder 1"/>
          <p:cNvSpPr>
            <a:spLocks noGrp="1"/>
          </p:cNvSpPr>
          <p:nvPr>
            <p:ph type="title"/>
          </p:nvPr>
        </p:nvSpPr>
        <p:spPr>
          <a:xfrm>
            <a:off x="609601" y="2696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18" name="TextBox 17">
            <a:extLst>
              <a:ext uri="{FF2B5EF4-FFF2-40B4-BE49-F238E27FC236}">
                <a16:creationId xmlns:a16="http://schemas.microsoft.com/office/drawing/2014/main" id="{84F0543D-5895-4F15-9AD6-423DC79B212B}"/>
              </a:ext>
            </a:extLst>
          </p:cNvPr>
          <p:cNvSpPr txBox="1"/>
          <p:nvPr userDrawn="1"/>
        </p:nvSpPr>
        <p:spPr>
          <a:xfrm>
            <a:off x="9836099" y="6565113"/>
            <a:ext cx="395736" cy="123111"/>
          </a:xfrm>
          <a:prstGeom prst="rect">
            <a:avLst/>
          </a:prstGeom>
          <a:noFill/>
        </p:spPr>
        <p:txBody>
          <a:bodyPr wrap="none" lIns="0" tIns="0" rIns="0" bIns="0" rtlCol="0" anchor="b">
            <a:spAutoFit/>
          </a:bodyPr>
          <a:lstStyle/>
          <a:p>
            <a:pPr marL="0" marR="0" indent="0" algn="l" defTabSz="913943" rtl="0" eaLnBrk="1" fontAlgn="auto" latinLnBrk="0" hangingPunct="1">
              <a:lnSpc>
                <a:spcPct val="100000"/>
              </a:lnSpc>
              <a:spcBef>
                <a:spcPts val="0"/>
              </a:spcBef>
              <a:spcAft>
                <a:spcPts val="0"/>
              </a:spcAft>
              <a:buClrTx/>
              <a:buSzTx/>
              <a:buFontTx/>
              <a:buNone/>
              <a:tabLst/>
              <a:defRPr/>
            </a:pPr>
            <a:r>
              <a:rPr lang="en-GB" sz="800">
                <a:solidFill>
                  <a:schemeClr val="bg1"/>
                </a:solidFill>
                <a:latin typeface="+mn-lt"/>
                <a:sym typeface="Arial" panose="020B0604020202020204" pitchFamily="34" charset="0"/>
              </a:rPr>
              <a:t>Page </a:t>
            </a:r>
            <a:fld id="{9AE4D82F-B047-469B-AC52-A46321747EAF}" type="slidenum">
              <a:rPr lang="en-GB" sz="800">
                <a:solidFill>
                  <a:schemeClr val="bg1"/>
                </a:solidFill>
                <a:latin typeface="+mn-lt"/>
                <a:sym typeface="Arial" panose="020B0604020202020204" pitchFamily="34" charset="0"/>
              </a:rPr>
              <a:pPr marL="0" marR="0" indent="0" algn="l" defTabSz="913943" rtl="0" eaLnBrk="1" fontAlgn="auto" latinLnBrk="0" hangingPunct="1">
                <a:lnSpc>
                  <a:spcPct val="100000"/>
                </a:lnSpc>
                <a:spcBef>
                  <a:spcPts val="0"/>
                </a:spcBef>
                <a:spcAft>
                  <a:spcPts val="0"/>
                </a:spcAft>
                <a:buClrTx/>
                <a:buSzTx/>
                <a:buFontTx/>
                <a:buNone/>
                <a:tabLst/>
                <a:defRPr/>
              </a:pPr>
              <a:t>‹#›</a:t>
            </a:fld>
            <a:endParaRPr lang="en-GB" sz="800">
              <a:solidFill>
                <a:schemeClr val="bg1"/>
              </a:solidFill>
              <a:latin typeface="+mn-lt"/>
              <a:sym typeface="Arial" panose="020B0604020202020204" pitchFamily="34" charset="0"/>
            </a:endParaRPr>
          </a:p>
        </p:txBody>
      </p:sp>
      <p:grpSp>
        <p:nvGrpSpPr>
          <p:cNvPr id="19" name="Group 18">
            <a:extLst>
              <a:ext uri="{FF2B5EF4-FFF2-40B4-BE49-F238E27FC236}">
                <a16:creationId xmlns:a16="http://schemas.microsoft.com/office/drawing/2014/main" id="{E5FF8F2A-9422-420C-B50E-588E96C8CB1E}"/>
              </a:ext>
            </a:extLst>
          </p:cNvPr>
          <p:cNvGrpSpPr>
            <a:grpSpLocks noChangeAspect="1"/>
          </p:cNvGrpSpPr>
          <p:nvPr userDrawn="1"/>
        </p:nvGrpSpPr>
        <p:grpSpPr>
          <a:xfrm>
            <a:off x="10624714" y="6359353"/>
            <a:ext cx="955115" cy="308551"/>
            <a:chOff x="2703513" y="2332038"/>
            <a:chExt cx="6784975" cy="2190751"/>
          </a:xfrm>
        </p:grpSpPr>
        <p:sp>
          <p:nvSpPr>
            <p:cNvPr id="20" name="Freeform 115">
              <a:extLst>
                <a:ext uri="{FF2B5EF4-FFF2-40B4-BE49-F238E27FC236}">
                  <a16:creationId xmlns:a16="http://schemas.microsoft.com/office/drawing/2014/main" id="{5C20A05E-7CB6-4514-8190-653E999CC8A1}"/>
                </a:ext>
              </a:extLst>
            </p:cNvPr>
            <p:cNvSpPr>
              <a:spLocks noEditPoints="1"/>
            </p:cNvSpPr>
            <p:nvPr userDrawn="1"/>
          </p:nvSpPr>
          <p:spPr bwMode="auto">
            <a:xfrm>
              <a:off x="4829176" y="3757613"/>
              <a:ext cx="554038" cy="754063"/>
            </a:xfrm>
            <a:custGeom>
              <a:avLst/>
              <a:gdLst>
                <a:gd name="T0" fmla="*/ 118 w 148"/>
                <a:gd name="T1" fmla="*/ 63 h 201"/>
                <a:gd name="T2" fmla="*/ 115 w 148"/>
                <a:gd name="T3" fmla="*/ 48 h 201"/>
                <a:gd name="T4" fmla="*/ 108 w 148"/>
                <a:gd name="T5" fmla="*/ 37 h 201"/>
                <a:gd name="T6" fmla="*/ 98 w 148"/>
                <a:gd name="T7" fmla="*/ 31 h 201"/>
                <a:gd name="T8" fmla="*/ 83 w 148"/>
                <a:gd name="T9" fmla="*/ 28 h 201"/>
                <a:gd name="T10" fmla="*/ 30 w 148"/>
                <a:gd name="T11" fmla="*/ 28 h 201"/>
                <a:gd name="T12" fmla="*/ 30 w 148"/>
                <a:gd name="T13" fmla="*/ 98 h 201"/>
                <a:gd name="T14" fmla="*/ 83 w 148"/>
                <a:gd name="T15" fmla="*/ 98 h 201"/>
                <a:gd name="T16" fmla="*/ 109 w 148"/>
                <a:gd name="T17" fmla="*/ 88 h 201"/>
                <a:gd name="T18" fmla="*/ 118 w 148"/>
                <a:gd name="T19" fmla="*/ 63 h 201"/>
                <a:gd name="T20" fmla="*/ 148 w 148"/>
                <a:gd name="T21" fmla="*/ 63 h 201"/>
                <a:gd name="T22" fmla="*/ 144 w 148"/>
                <a:gd name="T23" fmla="*/ 90 h 201"/>
                <a:gd name="T24" fmla="*/ 130 w 148"/>
                <a:gd name="T25" fmla="*/ 110 h 201"/>
                <a:gd name="T26" fmla="*/ 109 w 148"/>
                <a:gd name="T27" fmla="*/ 122 h 201"/>
                <a:gd name="T28" fmla="*/ 82 w 148"/>
                <a:gd name="T29" fmla="*/ 126 h 201"/>
                <a:gd name="T30" fmla="*/ 30 w 148"/>
                <a:gd name="T31" fmla="*/ 126 h 201"/>
                <a:gd name="T32" fmla="*/ 30 w 148"/>
                <a:gd name="T33" fmla="*/ 201 h 201"/>
                <a:gd name="T34" fmla="*/ 0 w 148"/>
                <a:gd name="T35" fmla="*/ 201 h 201"/>
                <a:gd name="T36" fmla="*/ 0 w 148"/>
                <a:gd name="T37" fmla="*/ 0 h 201"/>
                <a:gd name="T38" fmla="*/ 84 w 148"/>
                <a:gd name="T39" fmla="*/ 0 h 201"/>
                <a:gd name="T40" fmla="*/ 110 w 148"/>
                <a:gd name="T41" fmla="*/ 4 h 201"/>
                <a:gd name="T42" fmla="*/ 130 w 148"/>
                <a:gd name="T43" fmla="*/ 16 h 201"/>
                <a:gd name="T44" fmla="*/ 144 w 148"/>
                <a:gd name="T45" fmla="*/ 35 h 201"/>
                <a:gd name="T46" fmla="*/ 148 w 148"/>
                <a:gd name="T47" fmla="*/ 6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8" h="201">
                  <a:moveTo>
                    <a:pt x="118" y="63"/>
                  </a:moveTo>
                  <a:cubicBezTo>
                    <a:pt x="118" y="57"/>
                    <a:pt x="117" y="52"/>
                    <a:pt x="115" y="48"/>
                  </a:cubicBezTo>
                  <a:cubicBezTo>
                    <a:pt x="114" y="44"/>
                    <a:pt x="111" y="40"/>
                    <a:pt x="108" y="37"/>
                  </a:cubicBezTo>
                  <a:cubicBezTo>
                    <a:pt x="105" y="34"/>
                    <a:pt x="102" y="32"/>
                    <a:pt x="98" y="31"/>
                  </a:cubicBezTo>
                  <a:cubicBezTo>
                    <a:pt x="93" y="29"/>
                    <a:pt x="89" y="28"/>
                    <a:pt x="83" y="28"/>
                  </a:cubicBezTo>
                  <a:cubicBezTo>
                    <a:pt x="30" y="28"/>
                    <a:pt x="30" y="28"/>
                    <a:pt x="30" y="28"/>
                  </a:cubicBezTo>
                  <a:cubicBezTo>
                    <a:pt x="30" y="98"/>
                    <a:pt x="30" y="98"/>
                    <a:pt x="30" y="98"/>
                  </a:cubicBezTo>
                  <a:cubicBezTo>
                    <a:pt x="83" y="98"/>
                    <a:pt x="83" y="98"/>
                    <a:pt x="83" y="98"/>
                  </a:cubicBezTo>
                  <a:cubicBezTo>
                    <a:pt x="95" y="98"/>
                    <a:pt x="104" y="94"/>
                    <a:pt x="109" y="88"/>
                  </a:cubicBezTo>
                  <a:cubicBezTo>
                    <a:pt x="115" y="82"/>
                    <a:pt x="118" y="74"/>
                    <a:pt x="118" y="63"/>
                  </a:cubicBezTo>
                  <a:moveTo>
                    <a:pt x="148" y="63"/>
                  </a:moveTo>
                  <a:cubicBezTo>
                    <a:pt x="148" y="73"/>
                    <a:pt x="147" y="82"/>
                    <a:pt x="144" y="90"/>
                  </a:cubicBezTo>
                  <a:cubicBezTo>
                    <a:pt x="140" y="98"/>
                    <a:pt x="136" y="104"/>
                    <a:pt x="130" y="110"/>
                  </a:cubicBezTo>
                  <a:cubicBezTo>
                    <a:pt x="124" y="115"/>
                    <a:pt x="117" y="119"/>
                    <a:pt x="109" y="122"/>
                  </a:cubicBezTo>
                  <a:cubicBezTo>
                    <a:pt x="101" y="124"/>
                    <a:pt x="92" y="126"/>
                    <a:pt x="82" y="126"/>
                  </a:cubicBezTo>
                  <a:cubicBezTo>
                    <a:pt x="30" y="126"/>
                    <a:pt x="30" y="126"/>
                    <a:pt x="30" y="126"/>
                  </a:cubicBezTo>
                  <a:cubicBezTo>
                    <a:pt x="30" y="201"/>
                    <a:pt x="30" y="201"/>
                    <a:pt x="30" y="201"/>
                  </a:cubicBezTo>
                  <a:cubicBezTo>
                    <a:pt x="0" y="201"/>
                    <a:pt x="0" y="201"/>
                    <a:pt x="0" y="201"/>
                  </a:cubicBezTo>
                  <a:cubicBezTo>
                    <a:pt x="0" y="0"/>
                    <a:pt x="0" y="0"/>
                    <a:pt x="0" y="0"/>
                  </a:cubicBezTo>
                  <a:cubicBezTo>
                    <a:pt x="84" y="0"/>
                    <a:pt x="84" y="0"/>
                    <a:pt x="84" y="0"/>
                  </a:cubicBezTo>
                  <a:cubicBezTo>
                    <a:pt x="93" y="0"/>
                    <a:pt x="102" y="1"/>
                    <a:pt x="110" y="4"/>
                  </a:cubicBezTo>
                  <a:cubicBezTo>
                    <a:pt x="117" y="7"/>
                    <a:pt x="124" y="11"/>
                    <a:pt x="130" y="16"/>
                  </a:cubicBezTo>
                  <a:cubicBezTo>
                    <a:pt x="136" y="21"/>
                    <a:pt x="140" y="28"/>
                    <a:pt x="144" y="35"/>
                  </a:cubicBezTo>
                  <a:cubicBezTo>
                    <a:pt x="147" y="43"/>
                    <a:pt x="148" y="52"/>
                    <a:pt x="148" y="63"/>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1" name="Freeform 116">
              <a:extLst>
                <a:ext uri="{FF2B5EF4-FFF2-40B4-BE49-F238E27FC236}">
                  <a16:creationId xmlns:a16="http://schemas.microsoft.com/office/drawing/2014/main" id="{2906F4E8-7C8C-492D-AE92-6123472DE42E}"/>
                </a:ext>
              </a:extLst>
            </p:cNvPr>
            <p:cNvSpPr>
              <a:spLocks noEditPoints="1"/>
            </p:cNvSpPr>
            <p:nvPr userDrawn="1"/>
          </p:nvSpPr>
          <p:spPr bwMode="auto">
            <a:xfrm>
              <a:off x="5421313" y="3933826"/>
              <a:ext cx="457200" cy="588963"/>
            </a:xfrm>
            <a:custGeom>
              <a:avLst/>
              <a:gdLst>
                <a:gd name="T0" fmla="*/ 93 w 122"/>
                <a:gd name="T1" fmla="*/ 89 h 157"/>
                <a:gd name="T2" fmla="*/ 86 w 122"/>
                <a:gd name="T3" fmla="*/ 86 h 157"/>
                <a:gd name="T4" fmla="*/ 79 w 122"/>
                <a:gd name="T5" fmla="*/ 85 h 157"/>
                <a:gd name="T6" fmla="*/ 70 w 122"/>
                <a:gd name="T7" fmla="*/ 83 h 157"/>
                <a:gd name="T8" fmla="*/ 59 w 122"/>
                <a:gd name="T9" fmla="*/ 83 h 157"/>
                <a:gd name="T10" fmla="*/ 36 w 122"/>
                <a:gd name="T11" fmla="*/ 89 h 157"/>
                <a:gd name="T12" fmla="*/ 28 w 122"/>
                <a:gd name="T13" fmla="*/ 105 h 157"/>
                <a:gd name="T14" fmla="*/ 31 w 122"/>
                <a:gd name="T15" fmla="*/ 117 h 157"/>
                <a:gd name="T16" fmla="*/ 37 w 122"/>
                <a:gd name="T17" fmla="*/ 124 h 157"/>
                <a:gd name="T18" fmla="*/ 45 w 122"/>
                <a:gd name="T19" fmla="*/ 129 h 157"/>
                <a:gd name="T20" fmla="*/ 57 w 122"/>
                <a:gd name="T21" fmla="*/ 130 h 157"/>
                <a:gd name="T22" fmla="*/ 68 w 122"/>
                <a:gd name="T23" fmla="*/ 128 h 157"/>
                <a:gd name="T24" fmla="*/ 79 w 122"/>
                <a:gd name="T25" fmla="*/ 124 h 157"/>
                <a:gd name="T26" fmla="*/ 87 w 122"/>
                <a:gd name="T27" fmla="*/ 118 h 157"/>
                <a:gd name="T28" fmla="*/ 93 w 122"/>
                <a:gd name="T29" fmla="*/ 111 h 157"/>
                <a:gd name="T30" fmla="*/ 93 w 122"/>
                <a:gd name="T31" fmla="*/ 89 h 157"/>
                <a:gd name="T32" fmla="*/ 93 w 122"/>
                <a:gd name="T33" fmla="*/ 154 h 157"/>
                <a:gd name="T34" fmla="*/ 93 w 122"/>
                <a:gd name="T35" fmla="*/ 139 h 157"/>
                <a:gd name="T36" fmla="*/ 84 w 122"/>
                <a:gd name="T37" fmla="*/ 147 h 157"/>
                <a:gd name="T38" fmla="*/ 76 w 122"/>
                <a:gd name="T39" fmla="*/ 151 h 157"/>
                <a:gd name="T40" fmla="*/ 66 w 122"/>
                <a:gd name="T41" fmla="*/ 155 h 157"/>
                <a:gd name="T42" fmla="*/ 52 w 122"/>
                <a:gd name="T43" fmla="*/ 157 h 157"/>
                <a:gd name="T44" fmla="*/ 34 w 122"/>
                <a:gd name="T45" fmla="*/ 154 h 157"/>
                <a:gd name="T46" fmla="*/ 17 w 122"/>
                <a:gd name="T47" fmla="*/ 145 h 157"/>
                <a:gd name="T48" fmla="*/ 5 w 122"/>
                <a:gd name="T49" fmla="*/ 130 h 157"/>
                <a:gd name="T50" fmla="*/ 0 w 122"/>
                <a:gd name="T51" fmla="*/ 106 h 157"/>
                <a:gd name="T52" fmla="*/ 5 w 122"/>
                <a:gd name="T53" fmla="*/ 84 h 157"/>
                <a:gd name="T54" fmla="*/ 17 w 122"/>
                <a:gd name="T55" fmla="*/ 69 h 157"/>
                <a:gd name="T56" fmla="*/ 36 w 122"/>
                <a:gd name="T57" fmla="*/ 60 h 157"/>
                <a:gd name="T58" fmla="*/ 60 w 122"/>
                <a:gd name="T59" fmla="*/ 57 h 157"/>
                <a:gd name="T60" fmla="*/ 80 w 122"/>
                <a:gd name="T61" fmla="*/ 59 h 157"/>
                <a:gd name="T62" fmla="*/ 93 w 122"/>
                <a:gd name="T63" fmla="*/ 63 h 157"/>
                <a:gd name="T64" fmla="*/ 93 w 122"/>
                <a:gd name="T65" fmla="*/ 52 h 157"/>
                <a:gd name="T66" fmla="*/ 86 w 122"/>
                <a:gd name="T67" fmla="*/ 33 h 157"/>
                <a:gd name="T68" fmla="*/ 65 w 122"/>
                <a:gd name="T69" fmla="*/ 26 h 157"/>
                <a:gd name="T70" fmla="*/ 44 w 122"/>
                <a:gd name="T71" fmla="*/ 29 h 157"/>
                <a:gd name="T72" fmla="*/ 26 w 122"/>
                <a:gd name="T73" fmla="*/ 36 h 157"/>
                <a:gd name="T74" fmla="*/ 14 w 122"/>
                <a:gd name="T75" fmla="*/ 14 h 157"/>
                <a:gd name="T76" fmla="*/ 38 w 122"/>
                <a:gd name="T77" fmla="*/ 3 h 157"/>
                <a:gd name="T78" fmla="*/ 66 w 122"/>
                <a:gd name="T79" fmla="*/ 0 h 157"/>
                <a:gd name="T80" fmla="*/ 89 w 122"/>
                <a:gd name="T81" fmla="*/ 3 h 157"/>
                <a:gd name="T82" fmla="*/ 107 w 122"/>
                <a:gd name="T83" fmla="*/ 12 h 157"/>
                <a:gd name="T84" fmla="*/ 118 w 122"/>
                <a:gd name="T85" fmla="*/ 28 h 157"/>
                <a:gd name="T86" fmla="*/ 122 w 122"/>
                <a:gd name="T87" fmla="*/ 51 h 157"/>
                <a:gd name="T88" fmla="*/ 122 w 122"/>
                <a:gd name="T89" fmla="*/ 154 h 157"/>
                <a:gd name="T90" fmla="*/ 93 w 122"/>
                <a:gd name="T91" fmla="*/ 15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 h="157">
                  <a:moveTo>
                    <a:pt x="93" y="89"/>
                  </a:moveTo>
                  <a:cubicBezTo>
                    <a:pt x="91" y="88"/>
                    <a:pt x="88" y="87"/>
                    <a:pt x="86" y="86"/>
                  </a:cubicBezTo>
                  <a:cubicBezTo>
                    <a:pt x="84" y="86"/>
                    <a:pt x="81" y="85"/>
                    <a:pt x="79" y="85"/>
                  </a:cubicBezTo>
                  <a:cubicBezTo>
                    <a:pt x="77" y="84"/>
                    <a:pt x="74" y="84"/>
                    <a:pt x="70" y="83"/>
                  </a:cubicBezTo>
                  <a:cubicBezTo>
                    <a:pt x="67" y="83"/>
                    <a:pt x="63" y="83"/>
                    <a:pt x="59" y="83"/>
                  </a:cubicBezTo>
                  <a:cubicBezTo>
                    <a:pt x="50" y="83"/>
                    <a:pt x="42" y="85"/>
                    <a:pt x="36" y="89"/>
                  </a:cubicBezTo>
                  <a:cubicBezTo>
                    <a:pt x="31" y="93"/>
                    <a:pt x="28" y="98"/>
                    <a:pt x="28" y="105"/>
                  </a:cubicBezTo>
                  <a:cubicBezTo>
                    <a:pt x="28" y="110"/>
                    <a:pt x="29" y="113"/>
                    <a:pt x="31" y="117"/>
                  </a:cubicBezTo>
                  <a:cubicBezTo>
                    <a:pt x="32" y="120"/>
                    <a:pt x="34" y="122"/>
                    <a:pt x="37" y="124"/>
                  </a:cubicBezTo>
                  <a:cubicBezTo>
                    <a:pt x="39" y="126"/>
                    <a:pt x="42" y="128"/>
                    <a:pt x="45" y="129"/>
                  </a:cubicBezTo>
                  <a:cubicBezTo>
                    <a:pt x="48" y="130"/>
                    <a:pt x="52" y="130"/>
                    <a:pt x="57" y="130"/>
                  </a:cubicBezTo>
                  <a:cubicBezTo>
                    <a:pt x="61" y="130"/>
                    <a:pt x="65" y="130"/>
                    <a:pt x="68" y="128"/>
                  </a:cubicBezTo>
                  <a:cubicBezTo>
                    <a:pt x="72" y="127"/>
                    <a:pt x="75" y="126"/>
                    <a:pt x="79" y="124"/>
                  </a:cubicBezTo>
                  <a:cubicBezTo>
                    <a:pt x="82" y="122"/>
                    <a:pt x="85" y="120"/>
                    <a:pt x="87" y="118"/>
                  </a:cubicBezTo>
                  <a:cubicBezTo>
                    <a:pt x="90" y="116"/>
                    <a:pt x="92" y="113"/>
                    <a:pt x="93" y="111"/>
                  </a:cubicBezTo>
                  <a:lnTo>
                    <a:pt x="93" y="89"/>
                  </a:lnTo>
                  <a:close/>
                  <a:moveTo>
                    <a:pt x="93" y="154"/>
                  </a:moveTo>
                  <a:cubicBezTo>
                    <a:pt x="93" y="139"/>
                    <a:pt x="93" y="139"/>
                    <a:pt x="93" y="139"/>
                  </a:cubicBezTo>
                  <a:cubicBezTo>
                    <a:pt x="90" y="142"/>
                    <a:pt x="86" y="145"/>
                    <a:pt x="84" y="147"/>
                  </a:cubicBezTo>
                  <a:cubicBezTo>
                    <a:pt x="81" y="148"/>
                    <a:pt x="79" y="150"/>
                    <a:pt x="76" y="151"/>
                  </a:cubicBezTo>
                  <a:cubicBezTo>
                    <a:pt x="73" y="153"/>
                    <a:pt x="70" y="154"/>
                    <a:pt x="66" y="155"/>
                  </a:cubicBezTo>
                  <a:cubicBezTo>
                    <a:pt x="62" y="156"/>
                    <a:pt x="57" y="157"/>
                    <a:pt x="52" y="157"/>
                  </a:cubicBezTo>
                  <a:cubicBezTo>
                    <a:pt x="46" y="157"/>
                    <a:pt x="40" y="156"/>
                    <a:pt x="34" y="154"/>
                  </a:cubicBezTo>
                  <a:cubicBezTo>
                    <a:pt x="28" y="152"/>
                    <a:pt x="22" y="149"/>
                    <a:pt x="17" y="145"/>
                  </a:cubicBezTo>
                  <a:cubicBezTo>
                    <a:pt x="12" y="141"/>
                    <a:pt x="8" y="136"/>
                    <a:pt x="5" y="130"/>
                  </a:cubicBezTo>
                  <a:cubicBezTo>
                    <a:pt x="2" y="123"/>
                    <a:pt x="0" y="115"/>
                    <a:pt x="0" y="106"/>
                  </a:cubicBezTo>
                  <a:cubicBezTo>
                    <a:pt x="0" y="98"/>
                    <a:pt x="2" y="90"/>
                    <a:pt x="5" y="84"/>
                  </a:cubicBezTo>
                  <a:cubicBezTo>
                    <a:pt x="8" y="78"/>
                    <a:pt x="12" y="73"/>
                    <a:pt x="17" y="69"/>
                  </a:cubicBezTo>
                  <a:cubicBezTo>
                    <a:pt x="23" y="65"/>
                    <a:pt x="29" y="62"/>
                    <a:pt x="36" y="60"/>
                  </a:cubicBezTo>
                  <a:cubicBezTo>
                    <a:pt x="44" y="58"/>
                    <a:pt x="51" y="57"/>
                    <a:pt x="60" y="57"/>
                  </a:cubicBezTo>
                  <a:cubicBezTo>
                    <a:pt x="68" y="57"/>
                    <a:pt x="75" y="58"/>
                    <a:pt x="80" y="59"/>
                  </a:cubicBezTo>
                  <a:cubicBezTo>
                    <a:pt x="85" y="60"/>
                    <a:pt x="90" y="61"/>
                    <a:pt x="93" y="63"/>
                  </a:cubicBezTo>
                  <a:cubicBezTo>
                    <a:pt x="93" y="52"/>
                    <a:pt x="93" y="52"/>
                    <a:pt x="93" y="52"/>
                  </a:cubicBezTo>
                  <a:cubicBezTo>
                    <a:pt x="93" y="44"/>
                    <a:pt x="91" y="37"/>
                    <a:pt x="86" y="33"/>
                  </a:cubicBezTo>
                  <a:cubicBezTo>
                    <a:pt x="81" y="29"/>
                    <a:pt x="74" y="26"/>
                    <a:pt x="65" y="26"/>
                  </a:cubicBezTo>
                  <a:cubicBezTo>
                    <a:pt x="57" y="26"/>
                    <a:pt x="50" y="27"/>
                    <a:pt x="44" y="29"/>
                  </a:cubicBezTo>
                  <a:cubicBezTo>
                    <a:pt x="38" y="30"/>
                    <a:pt x="32" y="33"/>
                    <a:pt x="26" y="36"/>
                  </a:cubicBezTo>
                  <a:cubicBezTo>
                    <a:pt x="14" y="14"/>
                    <a:pt x="14" y="14"/>
                    <a:pt x="14" y="14"/>
                  </a:cubicBezTo>
                  <a:cubicBezTo>
                    <a:pt x="22" y="9"/>
                    <a:pt x="29" y="6"/>
                    <a:pt x="38" y="3"/>
                  </a:cubicBezTo>
                  <a:cubicBezTo>
                    <a:pt x="46" y="1"/>
                    <a:pt x="55" y="0"/>
                    <a:pt x="66" y="0"/>
                  </a:cubicBezTo>
                  <a:cubicBezTo>
                    <a:pt x="74" y="0"/>
                    <a:pt x="82" y="1"/>
                    <a:pt x="89" y="3"/>
                  </a:cubicBezTo>
                  <a:cubicBezTo>
                    <a:pt x="96" y="5"/>
                    <a:pt x="102" y="8"/>
                    <a:pt x="107" y="12"/>
                  </a:cubicBezTo>
                  <a:cubicBezTo>
                    <a:pt x="112" y="17"/>
                    <a:pt x="116" y="22"/>
                    <a:pt x="118" y="28"/>
                  </a:cubicBezTo>
                  <a:cubicBezTo>
                    <a:pt x="121" y="35"/>
                    <a:pt x="122" y="42"/>
                    <a:pt x="122" y="51"/>
                  </a:cubicBezTo>
                  <a:cubicBezTo>
                    <a:pt x="122" y="154"/>
                    <a:pt x="122" y="154"/>
                    <a:pt x="122" y="154"/>
                  </a:cubicBezTo>
                  <a:lnTo>
                    <a:pt x="93"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2" name="Freeform 117">
              <a:extLst>
                <a:ext uri="{FF2B5EF4-FFF2-40B4-BE49-F238E27FC236}">
                  <a16:creationId xmlns:a16="http://schemas.microsoft.com/office/drawing/2014/main" id="{175B30B7-5A53-4168-BFBE-6E4E12C1753D}"/>
                </a:ext>
              </a:extLst>
            </p:cNvPr>
            <p:cNvSpPr>
              <a:spLocks/>
            </p:cNvSpPr>
            <p:nvPr userDrawn="1"/>
          </p:nvSpPr>
          <p:spPr bwMode="auto">
            <a:xfrm>
              <a:off x="5986463" y="3933826"/>
              <a:ext cx="333375" cy="577850"/>
            </a:xfrm>
            <a:custGeom>
              <a:avLst/>
              <a:gdLst>
                <a:gd name="T0" fmla="*/ 82 w 89"/>
                <a:gd name="T1" fmla="*/ 34 h 154"/>
                <a:gd name="T2" fmla="*/ 72 w 89"/>
                <a:gd name="T3" fmla="*/ 30 h 154"/>
                <a:gd name="T4" fmla="*/ 59 w 89"/>
                <a:gd name="T5" fmla="*/ 29 h 154"/>
                <a:gd name="T6" fmla="*/ 37 w 89"/>
                <a:gd name="T7" fmla="*/ 39 h 154"/>
                <a:gd name="T8" fmla="*/ 30 w 89"/>
                <a:gd name="T9" fmla="*/ 68 h 154"/>
                <a:gd name="T10" fmla="*/ 30 w 89"/>
                <a:gd name="T11" fmla="*/ 154 h 154"/>
                <a:gd name="T12" fmla="*/ 0 w 89"/>
                <a:gd name="T13" fmla="*/ 154 h 154"/>
                <a:gd name="T14" fmla="*/ 0 w 89"/>
                <a:gd name="T15" fmla="*/ 3 h 154"/>
                <a:gd name="T16" fmla="*/ 30 w 89"/>
                <a:gd name="T17" fmla="*/ 3 h 154"/>
                <a:gd name="T18" fmla="*/ 30 w 89"/>
                <a:gd name="T19" fmla="*/ 18 h 154"/>
                <a:gd name="T20" fmla="*/ 36 w 89"/>
                <a:gd name="T21" fmla="*/ 11 h 154"/>
                <a:gd name="T22" fmla="*/ 44 w 89"/>
                <a:gd name="T23" fmla="*/ 5 h 154"/>
                <a:gd name="T24" fmla="*/ 53 w 89"/>
                <a:gd name="T25" fmla="*/ 1 h 154"/>
                <a:gd name="T26" fmla="*/ 64 w 89"/>
                <a:gd name="T27" fmla="*/ 0 h 154"/>
                <a:gd name="T28" fmla="*/ 79 w 89"/>
                <a:gd name="T29" fmla="*/ 2 h 154"/>
                <a:gd name="T30" fmla="*/ 89 w 89"/>
                <a:gd name="T31" fmla="*/ 6 h 154"/>
                <a:gd name="T32" fmla="*/ 82 w 89"/>
                <a:gd name="T33" fmla="*/ 3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9" h="154">
                  <a:moveTo>
                    <a:pt x="82" y="34"/>
                  </a:moveTo>
                  <a:cubicBezTo>
                    <a:pt x="78" y="33"/>
                    <a:pt x="75" y="31"/>
                    <a:pt x="72" y="30"/>
                  </a:cubicBezTo>
                  <a:cubicBezTo>
                    <a:pt x="68" y="29"/>
                    <a:pt x="64" y="29"/>
                    <a:pt x="59" y="29"/>
                  </a:cubicBezTo>
                  <a:cubicBezTo>
                    <a:pt x="50" y="29"/>
                    <a:pt x="42" y="32"/>
                    <a:pt x="37" y="39"/>
                  </a:cubicBezTo>
                  <a:cubicBezTo>
                    <a:pt x="32" y="45"/>
                    <a:pt x="30" y="55"/>
                    <a:pt x="30" y="68"/>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1" y="15"/>
                    <a:pt x="33" y="13"/>
                    <a:pt x="36" y="11"/>
                  </a:cubicBezTo>
                  <a:cubicBezTo>
                    <a:pt x="38" y="8"/>
                    <a:pt x="41" y="7"/>
                    <a:pt x="44" y="5"/>
                  </a:cubicBezTo>
                  <a:cubicBezTo>
                    <a:pt x="47" y="3"/>
                    <a:pt x="50" y="2"/>
                    <a:pt x="53" y="1"/>
                  </a:cubicBezTo>
                  <a:cubicBezTo>
                    <a:pt x="57" y="0"/>
                    <a:pt x="60" y="0"/>
                    <a:pt x="64" y="0"/>
                  </a:cubicBezTo>
                  <a:cubicBezTo>
                    <a:pt x="70" y="0"/>
                    <a:pt x="75" y="1"/>
                    <a:pt x="79" y="2"/>
                  </a:cubicBezTo>
                  <a:cubicBezTo>
                    <a:pt x="83" y="3"/>
                    <a:pt x="87" y="4"/>
                    <a:pt x="89" y="6"/>
                  </a:cubicBezTo>
                  <a:lnTo>
                    <a:pt x="82" y="3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3" name="Freeform 118">
              <a:extLst>
                <a:ext uri="{FF2B5EF4-FFF2-40B4-BE49-F238E27FC236}">
                  <a16:creationId xmlns:a16="http://schemas.microsoft.com/office/drawing/2014/main" id="{135215D0-9FE7-4759-B4E4-4F1CF36CDC9E}"/>
                </a:ext>
              </a:extLst>
            </p:cNvPr>
            <p:cNvSpPr>
              <a:spLocks/>
            </p:cNvSpPr>
            <p:nvPr userDrawn="1"/>
          </p:nvSpPr>
          <p:spPr bwMode="auto">
            <a:xfrm>
              <a:off x="6388101" y="3727451"/>
              <a:ext cx="325438" cy="795338"/>
            </a:xfrm>
            <a:custGeom>
              <a:avLst/>
              <a:gdLst>
                <a:gd name="T0" fmla="*/ 84 w 87"/>
                <a:gd name="T1" fmla="*/ 205 h 212"/>
                <a:gd name="T2" fmla="*/ 71 w 87"/>
                <a:gd name="T3" fmla="*/ 210 h 212"/>
                <a:gd name="T4" fmla="*/ 55 w 87"/>
                <a:gd name="T5" fmla="*/ 212 h 212"/>
                <a:gd name="T6" fmla="*/ 41 w 87"/>
                <a:gd name="T7" fmla="*/ 210 h 212"/>
                <a:gd name="T8" fmla="*/ 31 w 87"/>
                <a:gd name="T9" fmla="*/ 203 h 212"/>
                <a:gd name="T10" fmla="*/ 24 w 87"/>
                <a:gd name="T11" fmla="*/ 190 h 212"/>
                <a:gd name="T12" fmla="*/ 21 w 87"/>
                <a:gd name="T13" fmla="*/ 172 h 212"/>
                <a:gd name="T14" fmla="*/ 21 w 87"/>
                <a:gd name="T15" fmla="*/ 85 h 212"/>
                <a:gd name="T16" fmla="*/ 0 w 87"/>
                <a:gd name="T17" fmla="*/ 85 h 212"/>
                <a:gd name="T18" fmla="*/ 0 w 87"/>
                <a:gd name="T19" fmla="*/ 58 h 212"/>
                <a:gd name="T20" fmla="*/ 21 w 87"/>
                <a:gd name="T21" fmla="*/ 58 h 212"/>
                <a:gd name="T22" fmla="*/ 21 w 87"/>
                <a:gd name="T23" fmla="*/ 15 h 212"/>
                <a:gd name="T24" fmla="*/ 50 w 87"/>
                <a:gd name="T25" fmla="*/ 0 h 212"/>
                <a:gd name="T26" fmla="*/ 50 w 87"/>
                <a:gd name="T27" fmla="*/ 58 h 212"/>
                <a:gd name="T28" fmla="*/ 87 w 87"/>
                <a:gd name="T29" fmla="*/ 58 h 212"/>
                <a:gd name="T30" fmla="*/ 87 w 87"/>
                <a:gd name="T31" fmla="*/ 85 h 212"/>
                <a:gd name="T32" fmla="*/ 50 w 87"/>
                <a:gd name="T33" fmla="*/ 85 h 212"/>
                <a:gd name="T34" fmla="*/ 50 w 87"/>
                <a:gd name="T35" fmla="*/ 167 h 212"/>
                <a:gd name="T36" fmla="*/ 51 w 87"/>
                <a:gd name="T37" fmla="*/ 176 h 212"/>
                <a:gd name="T38" fmla="*/ 54 w 87"/>
                <a:gd name="T39" fmla="*/ 181 h 212"/>
                <a:gd name="T40" fmla="*/ 59 w 87"/>
                <a:gd name="T41" fmla="*/ 184 h 212"/>
                <a:gd name="T42" fmla="*/ 66 w 87"/>
                <a:gd name="T43" fmla="*/ 185 h 212"/>
                <a:gd name="T44" fmla="*/ 77 w 87"/>
                <a:gd name="T45" fmla="*/ 183 h 212"/>
                <a:gd name="T46" fmla="*/ 87 w 87"/>
                <a:gd name="T47" fmla="*/ 179 h 212"/>
                <a:gd name="T48" fmla="*/ 84 w 87"/>
                <a:gd name="T49" fmla="*/ 2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 h="212">
                  <a:moveTo>
                    <a:pt x="84" y="205"/>
                  </a:moveTo>
                  <a:cubicBezTo>
                    <a:pt x="80" y="207"/>
                    <a:pt x="76" y="209"/>
                    <a:pt x="71" y="210"/>
                  </a:cubicBezTo>
                  <a:cubicBezTo>
                    <a:pt x="66" y="211"/>
                    <a:pt x="61" y="212"/>
                    <a:pt x="55" y="212"/>
                  </a:cubicBezTo>
                  <a:cubicBezTo>
                    <a:pt x="50" y="212"/>
                    <a:pt x="45" y="211"/>
                    <a:pt x="41" y="210"/>
                  </a:cubicBezTo>
                  <a:cubicBezTo>
                    <a:pt x="38" y="208"/>
                    <a:pt x="34" y="206"/>
                    <a:pt x="31" y="203"/>
                  </a:cubicBezTo>
                  <a:cubicBezTo>
                    <a:pt x="28" y="200"/>
                    <a:pt x="25" y="196"/>
                    <a:pt x="24" y="190"/>
                  </a:cubicBezTo>
                  <a:cubicBezTo>
                    <a:pt x="22" y="185"/>
                    <a:pt x="21" y="179"/>
                    <a:pt x="21" y="172"/>
                  </a:cubicBezTo>
                  <a:cubicBezTo>
                    <a:pt x="21" y="85"/>
                    <a:pt x="21" y="85"/>
                    <a:pt x="21" y="85"/>
                  </a:cubicBezTo>
                  <a:cubicBezTo>
                    <a:pt x="0" y="85"/>
                    <a:pt x="0" y="85"/>
                    <a:pt x="0" y="85"/>
                  </a:cubicBezTo>
                  <a:cubicBezTo>
                    <a:pt x="0" y="58"/>
                    <a:pt x="0" y="58"/>
                    <a:pt x="0" y="58"/>
                  </a:cubicBezTo>
                  <a:cubicBezTo>
                    <a:pt x="21" y="58"/>
                    <a:pt x="21" y="58"/>
                    <a:pt x="21" y="58"/>
                  </a:cubicBezTo>
                  <a:cubicBezTo>
                    <a:pt x="21" y="15"/>
                    <a:pt x="21" y="15"/>
                    <a:pt x="21" y="15"/>
                  </a:cubicBezTo>
                  <a:cubicBezTo>
                    <a:pt x="50" y="0"/>
                    <a:pt x="50" y="0"/>
                    <a:pt x="50" y="0"/>
                  </a:cubicBezTo>
                  <a:cubicBezTo>
                    <a:pt x="50" y="58"/>
                    <a:pt x="50" y="58"/>
                    <a:pt x="50" y="58"/>
                  </a:cubicBezTo>
                  <a:cubicBezTo>
                    <a:pt x="87" y="58"/>
                    <a:pt x="87" y="58"/>
                    <a:pt x="87" y="58"/>
                  </a:cubicBezTo>
                  <a:cubicBezTo>
                    <a:pt x="87" y="85"/>
                    <a:pt x="87" y="85"/>
                    <a:pt x="87" y="85"/>
                  </a:cubicBezTo>
                  <a:cubicBezTo>
                    <a:pt x="50" y="85"/>
                    <a:pt x="50" y="85"/>
                    <a:pt x="50" y="85"/>
                  </a:cubicBezTo>
                  <a:cubicBezTo>
                    <a:pt x="50" y="167"/>
                    <a:pt x="50" y="167"/>
                    <a:pt x="50" y="167"/>
                  </a:cubicBezTo>
                  <a:cubicBezTo>
                    <a:pt x="50" y="170"/>
                    <a:pt x="50" y="173"/>
                    <a:pt x="51" y="176"/>
                  </a:cubicBezTo>
                  <a:cubicBezTo>
                    <a:pt x="52" y="178"/>
                    <a:pt x="52" y="180"/>
                    <a:pt x="54" y="181"/>
                  </a:cubicBezTo>
                  <a:cubicBezTo>
                    <a:pt x="55" y="182"/>
                    <a:pt x="57" y="183"/>
                    <a:pt x="59" y="184"/>
                  </a:cubicBezTo>
                  <a:cubicBezTo>
                    <a:pt x="61" y="185"/>
                    <a:pt x="63" y="185"/>
                    <a:pt x="66" y="185"/>
                  </a:cubicBezTo>
                  <a:cubicBezTo>
                    <a:pt x="69" y="185"/>
                    <a:pt x="73" y="184"/>
                    <a:pt x="77" y="183"/>
                  </a:cubicBezTo>
                  <a:cubicBezTo>
                    <a:pt x="81" y="182"/>
                    <a:pt x="85" y="180"/>
                    <a:pt x="87" y="179"/>
                  </a:cubicBezTo>
                  <a:lnTo>
                    <a:pt x="84" y="205"/>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4" name="Freeform 119">
              <a:extLst>
                <a:ext uri="{FF2B5EF4-FFF2-40B4-BE49-F238E27FC236}">
                  <a16:creationId xmlns:a16="http://schemas.microsoft.com/office/drawing/2014/main" id="{3901A9A3-4170-4947-A531-DCC49C48A627}"/>
                </a:ext>
              </a:extLst>
            </p:cNvPr>
            <p:cNvSpPr>
              <a:spLocks/>
            </p:cNvSpPr>
            <p:nvPr userDrawn="1"/>
          </p:nvSpPr>
          <p:spPr bwMode="auto">
            <a:xfrm>
              <a:off x="6818313" y="3727451"/>
              <a:ext cx="452438" cy="784225"/>
            </a:xfrm>
            <a:custGeom>
              <a:avLst/>
              <a:gdLst>
                <a:gd name="T0" fmla="*/ 91 w 121"/>
                <a:gd name="T1" fmla="*/ 209 h 209"/>
                <a:gd name="T2" fmla="*/ 91 w 121"/>
                <a:gd name="T3" fmla="*/ 124 h 209"/>
                <a:gd name="T4" fmla="*/ 84 w 121"/>
                <a:gd name="T5" fmla="*/ 93 h 209"/>
                <a:gd name="T6" fmla="*/ 60 w 121"/>
                <a:gd name="T7" fmla="*/ 82 h 209"/>
                <a:gd name="T8" fmla="*/ 47 w 121"/>
                <a:gd name="T9" fmla="*/ 85 h 209"/>
                <a:gd name="T10" fmla="*/ 38 w 121"/>
                <a:gd name="T11" fmla="*/ 92 h 209"/>
                <a:gd name="T12" fmla="*/ 31 w 121"/>
                <a:gd name="T13" fmla="*/ 104 h 209"/>
                <a:gd name="T14" fmla="*/ 29 w 121"/>
                <a:gd name="T15" fmla="*/ 121 h 209"/>
                <a:gd name="T16" fmla="*/ 29 w 121"/>
                <a:gd name="T17" fmla="*/ 209 h 209"/>
                <a:gd name="T18" fmla="*/ 0 w 121"/>
                <a:gd name="T19" fmla="*/ 209 h 209"/>
                <a:gd name="T20" fmla="*/ 0 w 121"/>
                <a:gd name="T21" fmla="*/ 15 h 209"/>
                <a:gd name="T22" fmla="*/ 29 w 121"/>
                <a:gd name="T23" fmla="*/ 0 h 209"/>
                <a:gd name="T24" fmla="*/ 29 w 121"/>
                <a:gd name="T25" fmla="*/ 73 h 209"/>
                <a:gd name="T26" fmla="*/ 36 w 121"/>
                <a:gd name="T27" fmla="*/ 65 h 209"/>
                <a:gd name="T28" fmla="*/ 45 w 121"/>
                <a:gd name="T29" fmla="*/ 60 h 209"/>
                <a:gd name="T30" fmla="*/ 55 w 121"/>
                <a:gd name="T31" fmla="*/ 56 h 209"/>
                <a:gd name="T32" fmla="*/ 67 w 121"/>
                <a:gd name="T33" fmla="*/ 55 h 209"/>
                <a:gd name="T34" fmla="*/ 90 w 121"/>
                <a:gd name="T35" fmla="*/ 59 h 209"/>
                <a:gd name="T36" fmla="*/ 107 w 121"/>
                <a:gd name="T37" fmla="*/ 72 h 209"/>
                <a:gd name="T38" fmla="*/ 117 w 121"/>
                <a:gd name="T39" fmla="*/ 94 h 209"/>
                <a:gd name="T40" fmla="*/ 121 w 121"/>
                <a:gd name="T41" fmla="*/ 122 h 209"/>
                <a:gd name="T42" fmla="*/ 121 w 121"/>
                <a:gd name="T43" fmla="*/ 209 h 209"/>
                <a:gd name="T44" fmla="*/ 91 w 121"/>
                <a:gd name="T45"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209">
                  <a:moveTo>
                    <a:pt x="91" y="209"/>
                  </a:moveTo>
                  <a:cubicBezTo>
                    <a:pt x="91" y="124"/>
                    <a:pt x="91" y="124"/>
                    <a:pt x="91" y="124"/>
                  </a:cubicBezTo>
                  <a:cubicBezTo>
                    <a:pt x="91" y="110"/>
                    <a:pt x="89" y="99"/>
                    <a:pt x="84" y="93"/>
                  </a:cubicBezTo>
                  <a:cubicBezTo>
                    <a:pt x="79" y="86"/>
                    <a:pt x="71" y="82"/>
                    <a:pt x="60" y="82"/>
                  </a:cubicBezTo>
                  <a:cubicBezTo>
                    <a:pt x="56" y="82"/>
                    <a:pt x="51" y="83"/>
                    <a:pt x="47" y="85"/>
                  </a:cubicBezTo>
                  <a:cubicBezTo>
                    <a:pt x="44" y="86"/>
                    <a:pt x="40" y="89"/>
                    <a:pt x="38" y="92"/>
                  </a:cubicBezTo>
                  <a:cubicBezTo>
                    <a:pt x="35" y="95"/>
                    <a:pt x="33" y="99"/>
                    <a:pt x="31" y="104"/>
                  </a:cubicBezTo>
                  <a:cubicBezTo>
                    <a:pt x="30" y="109"/>
                    <a:pt x="29" y="114"/>
                    <a:pt x="29" y="121"/>
                  </a:cubicBezTo>
                  <a:cubicBezTo>
                    <a:pt x="29" y="209"/>
                    <a:pt x="29" y="209"/>
                    <a:pt x="29" y="209"/>
                  </a:cubicBezTo>
                  <a:cubicBezTo>
                    <a:pt x="0" y="209"/>
                    <a:pt x="0" y="209"/>
                    <a:pt x="0" y="209"/>
                  </a:cubicBezTo>
                  <a:cubicBezTo>
                    <a:pt x="0" y="15"/>
                    <a:pt x="0" y="15"/>
                    <a:pt x="0" y="15"/>
                  </a:cubicBezTo>
                  <a:cubicBezTo>
                    <a:pt x="29" y="0"/>
                    <a:pt x="29" y="0"/>
                    <a:pt x="29" y="0"/>
                  </a:cubicBezTo>
                  <a:cubicBezTo>
                    <a:pt x="29" y="73"/>
                    <a:pt x="29" y="73"/>
                    <a:pt x="29" y="73"/>
                  </a:cubicBezTo>
                  <a:cubicBezTo>
                    <a:pt x="31" y="70"/>
                    <a:pt x="33" y="67"/>
                    <a:pt x="36" y="65"/>
                  </a:cubicBezTo>
                  <a:cubicBezTo>
                    <a:pt x="39" y="63"/>
                    <a:pt x="42" y="61"/>
                    <a:pt x="45" y="60"/>
                  </a:cubicBezTo>
                  <a:cubicBezTo>
                    <a:pt x="48" y="58"/>
                    <a:pt x="52" y="57"/>
                    <a:pt x="55" y="56"/>
                  </a:cubicBezTo>
                  <a:cubicBezTo>
                    <a:pt x="59" y="55"/>
                    <a:pt x="63" y="55"/>
                    <a:pt x="67" y="55"/>
                  </a:cubicBezTo>
                  <a:cubicBezTo>
                    <a:pt x="76" y="55"/>
                    <a:pt x="84" y="56"/>
                    <a:pt x="90" y="59"/>
                  </a:cubicBezTo>
                  <a:cubicBezTo>
                    <a:pt x="97" y="62"/>
                    <a:pt x="103" y="67"/>
                    <a:pt x="107" y="72"/>
                  </a:cubicBezTo>
                  <a:cubicBezTo>
                    <a:pt x="112" y="78"/>
                    <a:pt x="115" y="85"/>
                    <a:pt x="117" y="94"/>
                  </a:cubicBezTo>
                  <a:cubicBezTo>
                    <a:pt x="119" y="102"/>
                    <a:pt x="121" y="112"/>
                    <a:pt x="121" y="122"/>
                  </a:cubicBezTo>
                  <a:cubicBezTo>
                    <a:pt x="121" y="209"/>
                    <a:pt x="121" y="209"/>
                    <a:pt x="121" y="209"/>
                  </a:cubicBezTo>
                  <a:lnTo>
                    <a:pt x="91" y="209"/>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7" name="Freeform 120">
              <a:extLst>
                <a:ext uri="{FF2B5EF4-FFF2-40B4-BE49-F238E27FC236}">
                  <a16:creationId xmlns:a16="http://schemas.microsoft.com/office/drawing/2014/main" id="{392675B7-2FAB-4097-BCB9-AE9398EE666E}"/>
                </a:ext>
              </a:extLst>
            </p:cNvPr>
            <p:cNvSpPr>
              <a:spLocks noEditPoints="1"/>
            </p:cNvSpPr>
            <p:nvPr userDrawn="1"/>
          </p:nvSpPr>
          <p:spPr bwMode="auto">
            <a:xfrm>
              <a:off x="7350126" y="3933826"/>
              <a:ext cx="485775" cy="588963"/>
            </a:xfrm>
            <a:custGeom>
              <a:avLst/>
              <a:gdLst>
                <a:gd name="T0" fmla="*/ 100 w 130"/>
                <a:gd name="T1" fmla="*/ 65 h 157"/>
                <a:gd name="T2" fmla="*/ 97 w 130"/>
                <a:gd name="T3" fmla="*/ 50 h 157"/>
                <a:gd name="T4" fmla="*/ 91 w 130"/>
                <a:gd name="T5" fmla="*/ 38 h 157"/>
                <a:gd name="T6" fmla="*/ 80 w 130"/>
                <a:gd name="T7" fmla="*/ 30 h 157"/>
                <a:gd name="T8" fmla="*/ 64 w 130"/>
                <a:gd name="T9" fmla="*/ 27 h 157"/>
                <a:gd name="T10" fmla="*/ 51 w 130"/>
                <a:gd name="T11" fmla="*/ 29 h 157"/>
                <a:gd name="T12" fmla="*/ 41 w 130"/>
                <a:gd name="T13" fmla="*/ 37 h 157"/>
                <a:gd name="T14" fmla="*/ 34 w 130"/>
                <a:gd name="T15" fmla="*/ 48 h 157"/>
                <a:gd name="T16" fmla="*/ 30 w 130"/>
                <a:gd name="T17" fmla="*/ 65 h 157"/>
                <a:gd name="T18" fmla="*/ 100 w 130"/>
                <a:gd name="T19" fmla="*/ 65 h 157"/>
                <a:gd name="T20" fmla="*/ 130 w 130"/>
                <a:gd name="T21" fmla="*/ 75 h 157"/>
                <a:gd name="T22" fmla="*/ 129 w 130"/>
                <a:gd name="T23" fmla="*/ 83 h 157"/>
                <a:gd name="T24" fmla="*/ 129 w 130"/>
                <a:gd name="T25" fmla="*/ 89 h 157"/>
                <a:gd name="T26" fmla="*/ 29 w 130"/>
                <a:gd name="T27" fmla="*/ 89 h 157"/>
                <a:gd name="T28" fmla="*/ 34 w 130"/>
                <a:gd name="T29" fmla="*/ 108 h 157"/>
                <a:gd name="T30" fmla="*/ 43 w 130"/>
                <a:gd name="T31" fmla="*/ 120 h 157"/>
                <a:gd name="T32" fmla="*/ 54 w 130"/>
                <a:gd name="T33" fmla="*/ 128 h 157"/>
                <a:gd name="T34" fmla="*/ 67 w 130"/>
                <a:gd name="T35" fmla="*/ 130 h 157"/>
                <a:gd name="T36" fmla="*/ 77 w 130"/>
                <a:gd name="T37" fmla="*/ 129 h 157"/>
                <a:gd name="T38" fmla="*/ 85 w 130"/>
                <a:gd name="T39" fmla="*/ 127 h 157"/>
                <a:gd name="T40" fmla="*/ 92 w 130"/>
                <a:gd name="T41" fmla="*/ 123 h 157"/>
                <a:gd name="T42" fmla="*/ 100 w 130"/>
                <a:gd name="T43" fmla="*/ 118 h 157"/>
                <a:gd name="T44" fmla="*/ 117 w 130"/>
                <a:gd name="T45" fmla="*/ 137 h 157"/>
                <a:gd name="T46" fmla="*/ 107 w 130"/>
                <a:gd name="T47" fmla="*/ 146 h 157"/>
                <a:gd name="T48" fmla="*/ 96 w 130"/>
                <a:gd name="T49" fmla="*/ 151 h 157"/>
                <a:gd name="T50" fmla="*/ 82 w 130"/>
                <a:gd name="T51" fmla="*/ 155 h 157"/>
                <a:gd name="T52" fmla="*/ 65 w 130"/>
                <a:gd name="T53" fmla="*/ 157 h 157"/>
                <a:gd name="T54" fmla="*/ 47 w 130"/>
                <a:gd name="T55" fmla="*/ 154 h 157"/>
                <a:gd name="T56" fmla="*/ 32 w 130"/>
                <a:gd name="T57" fmla="*/ 147 h 157"/>
                <a:gd name="T58" fmla="*/ 20 w 130"/>
                <a:gd name="T59" fmla="*/ 137 h 157"/>
                <a:gd name="T60" fmla="*/ 10 w 130"/>
                <a:gd name="T61" fmla="*/ 122 h 157"/>
                <a:gd name="T62" fmla="*/ 3 w 130"/>
                <a:gd name="T63" fmla="*/ 102 h 157"/>
                <a:gd name="T64" fmla="*/ 0 w 130"/>
                <a:gd name="T65" fmla="*/ 78 h 157"/>
                <a:gd name="T66" fmla="*/ 5 w 130"/>
                <a:gd name="T67" fmla="*/ 45 h 157"/>
                <a:gd name="T68" fmla="*/ 19 w 130"/>
                <a:gd name="T69" fmla="*/ 20 h 157"/>
                <a:gd name="T70" fmla="*/ 40 w 130"/>
                <a:gd name="T71" fmla="*/ 5 h 157"/>
                <a:gd name="T72" fmla="*/ 66 w 130"/>
                <a:gd name="T73" fmla="*/ 0 h 157"/>
                <a:gd name="T74" fmla="*/ 94 w 130"/>
                <a:gd name="T75" fmla="*/ 6 h 157"/>
                <a:gd name="T76" fmla="*/ 114 w 130"/>
                <a:gd name="T77" fmla="*/ 22 h 157"/>
                <a:gd name="T78" fmla="*/ 126 w 130"/>
                <a:gd name="T79" fmla="*/ 46 h 157"/>
                <a:gd name="T80" fmla="*/ 130 w 130"/>
                <a:gd name="T81" fmla="*/ 7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0" h="157">
                  <a:moveTo>
                    <a:pt x="100" y="65"/>
                  </a:moveTo>
                  <a:cubicBezTo>
                    <a:pt x="100" y="59"/>
                    <a:pt x="99" y="55"/>
                    <a:pt x="97" y="50"/>
                  </a:cubicBezTo>
                  <a:cubicBezTo>
                    <a:pt x="96" y="45"/>
                    <a:pt x="94" y="41"/>
                    <a:pt x="91" y="38"/>
                  </a:cubicBezTo>
                  <a:cubicBezTo>
                    <a:pt x="88" y="34"/>
                    <a:pt x="84" y="32"/>
                    <a:pt x="80" y="30"/>
                  </a:cubicBezTo>
                  <a:cubicBezTo>
                    <a:pt x="76" y="28"/>
                    <a:pt x="70" y="27"/>
                    <a:pt x="64" y="27"/>
                  </a:cubicBezTo>
                  <a:cubicBezTo>
                    <a:pt x="59" y="27"/>
                    <a:pt x="55" y="28"/>
                    <a:pt x="51" y="29"/>
                  </a:cubicBezTo>
                  <a:cubicBezTo>
                    <a:pt x="47" y="31"/>
                    <a:pt x="43" y="34"/>
                    <a:pt x="41" y="37"/>
                  </a:cubicBezTo>
                  <a:cubicBezTo>
                    <a:pt x="38" y="40"/>
                    <a:pt x="35" y="44"/>
                    <a:pt x="34" y="48"/>
                  </a:cubicBezTo>
                  <a:cubicBezTo>
                    <a:pt x="32" y="53"/>
                    <a:pt x="31" y="58"/>
                    <a:pt x="30" y="65"/>
                  </a:cubicBezTo>
                  <a:lnTo>
                    <a:pt x="100" y="65"/>
                  </a:lnTo>
                  <a:close/>
                  <a:moveTo>
                    <a:pt x="130" y="75"/>
                  </a:moveTo>
                  <a:cubicBezTo>
                    <a:pt x="130" y="78"/>
                    <a:pt x="130" y="81"/>
                    <a:pt x="129" y="83"/>
                  </a:cubicBezTo>
                  <a:cubicBezTo>
                    <a:pt x="129" y="85"/>
                    <a:pt x="129" y="87"/>
                    <a:pt x="129" y="89"/>
                  </a:cubicBezTo>
                  <a:cubicBezTo>
                    <a:pt x="29" y="89"/>
                    <a:pt x="29" y="89"/>
                    <a:pt x="29" y="89"/>
                  </a:cubicBezTo>
                  <a:cubicBezTo>
                    <a:pt x="30" y="96"/>
                    <a:pt x="32" y="102"/>
                    <a:pt x="34" y="108"/>
                  </a:cubicBezTo>
                  <a:cubicBezTo>
                    <a:pt x="36" y="113"/>
                    <a:pt x="39" y="117"/>
                    <a:pt x="43" y="120"/>
                  </a:cubicBezTo>
                  <a:cubicBezTo>
                    <a:pt x="46" y="124"/>
                    <a:pt x="50" y="126"/>
                    <a:pt x="54" y="128"/>
                  </a:cubicBezTo>
                  <a:cubicBezTo>
                    <a:pt x="58" y="129"/>
                    <a:pt x="63" y="130"/>
                    <a:pt x="67" y="130"/>
                  </a:cubicBezTo>
                  <a:cubicBezTo>
                    <a:pt x="71" y="130"/>
                    <a:pt x="74" y="130"/>
                    <a:pt x="77" y="129"/>
                  </a:cubicBezTo>
                  <a:cubicBezTo>
                    <a:pt x="79" y="129"/>
                    <a:pt x="82" y="128"/>
                    <a:pt x="85" y="127"/>
                  </a:cubicBezTo>
                  <a:cubicBezTo>
                    <a:pt x="88" y="126"/>
                    <a:pt x="90" y="124"/>
                    <a:pt x="92" y="123"/>
                  </a:cubicBezTo>
                  <a:cubicBezTo>
                    <a:pt x="94" y="122"/>
                    <a:pt x="97" y="120"/>
                    <a:pt x="100" y="118"/>
                  </a:cubicBezTo>
                  <a:cubicBezTo>
                    <a:pt x="117" y="137"/>
                    <a:pt x="117" y="137"/>
                    <a:pt x="117" y="137"/>
                  </a:cubicBezTo>
                  <a:cubicBezTo>
                    <a:pt x="114" y="140"/>
                    <a:pt x="110" y="143"/>
                    <a:pt x="107" y="146"/>
                  </a:cubicBezTo>
                  <a:cubicBezTo>
                    <a:pt x="103" y="148"/>
                    <a:pt x="100" y="150"/>
                    <a:pt x="96" y="151"/>
                  </a:cubicBezTo>
                  <a:cubicBezTo>
                    <a:pt x="92" y="153"/>
                    <a:pt x="87" y="154"/>
                    <a:pt x="82" y="155"/>
                  </a:cubicBezTo>
                  <a:cubicBezTo>
                    <a:pt x="77" y="156"/>
                    <a:pt x="72" y="157"/>
                    <a:pt x="65" y="157"/>
                  </a:cubicBezTo>
                  <a:cubicBezTo>
                    <a:pt x="59" y="157"/>
                    <a:pt x="53" y="156"/>
                    <a:pt x="47" y="154"/>
                  </a:cubicBezTo>
                  <a:cubicBezTo>
                    <a:pt x="41" y="152"/>
                    <a:pt x="36" y="150"/>
                    <a:pt x="32" y="147"/>
                  </a:cubicBezTo>
                  <a:cubicBezTo>
                    <a:pt x="28" y="144"/>
                    <a:pt x="24" y="141"/>
                    <a:pt x="20" y="137"/>
                  </a:cubicBezTo>
                  <a:cubicBezTo>
                    <a:pt x="17" y="133"/>
                    <a:pt x="13" y="128"/>
                    <a:pt x="10" y="122"/>
                  </a:cubicBezTo>
                  <a:cubicBezTo>
                    <a:pt x="7" y="116"/>
                    <a:pt x="5" y="110"/>
                    <a:pt x="3" y="102"/>
                  </a:cubicBezTo>
                  <a:cubicBezTo>
                    <a:pt x="1" y="95"/>
                    <a:pt x="0" y="87"/>
                    <a:pt x="0" y="78"/>
                  </a:cubicBezTo>
                  <a:cubicBezTo>
                    <a:pt x="0" y="66"/>
                    <a:pt x="2" y="55"/>
                    <a:pt x="5" y="45"/>
                  </a:cubicBezTo>
                  <a:cubicBezTo>
                    <a:pt x="8" y="35"/>
                    <a:pt x="13" y="27"/>
                    <a:pt x="19" y="20"/>
                  </a:cubicBezTo>
                  <a:cubicBezTo>
                    <a:pt x="25" y="14"/>
                    <a:pt x="31" y="9"/>
                    <a:pt x="40" y="5"/>
                  </a:cubicBezTo>
                  <a:cubicBezTo>
                    <a:pt x="48" y="2"/>
                    <a:pt x="57" y="0"/>
                    <a:pt x="66" y="0"/>
                  </a:cubicBezTo>
                  <a:cubicBezTo>
                    <a:pt x="77" y="0"/>
                    <a:pt x="86" y="2"/>
                    <a:pt x="94" y="6"/>
                  </a:cubicBezTo>
                  <a:cubicBezTo>
                    <a:pt x="102" y="10"/>
                    <a:pt x="109" y="16"/>
                    <a:pt x="114" y="22"/>
                  </a:cubicBezTo>
                  <a:cubicBezTo>
                    <a:pt x="119" y="29"/>
                    <a:pt x="123" y="37"/>
                    <a:pt x="126" y="46"/>
                  </a:cubicBezTo>
                  <a:cubicBezTo>
                    <a:pt x="128" y="56"/>
                    <a:pt x="130" y="65"/>
                    <a:pt x="130" y="75"/>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8" name="Freeform 121">
              <a:extLst>
                <a:ext uri="{FF2B5EF4-FFF2-40B4-BE49-F238E27FC236}">
                  <a16:creationId xmlns:a16="http://schemas.microsoft.com/office/drawing/2014/main" id="{12E2F172-F143-4692-B4D7-15077F32B972}"/>
                </a:ext>
              </a:extLst>
            </p:cNvPr>
            <p:cNvSpPr>
              <a:spLocks/>
            </p:cNvSpPr>
            <p:nvPr userDrawn="1"/>
          </p:nvSpPr>
          <p:spPr bwMode="auto">
            <a:xfrm>
              <a:off x="7918451" y="3933826"/>
              <a:ext cx="449263" cy="577850"/>
            </a:xfrm>
            <a:custGeom>
              <a:avLst/>
              <a:gdLst>
                <a:gd name="T0" fmla="*/ 91 w 120"/>
                <a:gd name="T1" fmla="*/ 154 h 154"/>
                <a:gd name="T2" fmla="*/ 91 w 120"/>
                <a:gd name="T3" fmla="*/ 69 h 154"/>
                <a:gd name="T4" fmla="*/ 84 w 120"/>
                <a:gd name="T5" fmla="*/ 38 h 154"/>
                <a:gd name="T6" fmla="*/ 60 w 120"/>
                <a:gd name="T7" fmla="*/ 27 h 154"/>
                <a:gd name="T8" fmla="*/ 47 w 120"/>
                <a:gd name="T9" fmla="*/ 30 h 154"/>
                <a:gd name="T10" fmla="*/ 37 w 120"/>
                <a:gd name="T11" fmla="*/ 38 h 154"/>
                <a:gd name="T12" fmla="*/ 31 w 120"/>
                <a:gd name="T13" fmla="*/ 50 h 154"/>
                <a:gd name="T14" fmla="*/ 29 w 120"/>
                <a:gd name="T15" fmla="*/ 66 h 154"/>
                <a:gd name="T16" fmla="*/ 29 w 120"/>
                <a:gd name="T17" fmla="*/ 154 h 154"/>
                <a:gd name="T18" fmla="*/ 0 w 120"/>
                <a:gd name="T19" fmla="*/ 154 h 154"/>
                <a:gd name="T20" fmla="*/ 0 w 120"/>
                <a:gd name="T21" fmla="*/ 3 h 154"/>
                <a:gd name="T22" fmla="*/ 29 w 120"/>
                <a:gd name="T23" fmla="*/ 3 h 154"/>
                <a:gd name="T24" fmla="*/ 29 w 120"/>
                <a:gd name="T25" fmla="*/ 18 h 154"/>
                <a:gd name="T26" fmla="*/ 36 w 120"/>
                <a:gd name="T27" fmla="*/ 10 h 154"/>
                <a:gd name="T28" fmla="*/ 45 w 120"/>
                <a:gd name="T29" fmla="*/ 5 h 154"/>
                <a:gd name="T30" fmla="*/ 55 w 120"/>
                <a:gd name="T31" fmla="*/ 1 h 154"/>
                <a:gd name="T32" fmla="*/ 67 w 120"/>
                <a:gd name="T33" fmla="*/ 0 h 154"/>
                <a:gd name="T34" fmla="*/ 90 w 120"/>
                <a:gd name="T35" fmla="*/ 4 h 154"/>
                <a:gd name="T36" fmla="*/ 107 w 120"/>
                <a:gd name="T37" fmla="*/ 17 h 154"/>
                <a:gd name="T38" fmla="*/ 117 w 120"/>
                <a:gd name="T39" fmla="*/ 38 h 154"/>
                <a:gd name="T40" fmla="*/ 120 w 120"/>
                <a:gd name="T41" fmla="*/ 67 h 154"/>
                <a:gd name="T42" fmla="*/ 120 w 120"/>
                <a:gd name="T43" fmla="*/ 154 h 154"/>
                <a:gd name="T44" fmla="*/ 91 w 120"/>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54">
                  <a:moveTo>
                    <a:pt x="91" y="154"/>
                  </a:moveTo>
                  <a:cubicBezTo>
                    <a:pt x="91" y="69"/>
                    <a:pt x="91" y="69"/>
                    <a:pt x="91" y="69"/>
                  </a:cubicBezTo>
                  <a:cubicBezTo>
                    <a:pt x="91" y="55"/>
                    <a:pt x="88" y="45"/>
                    <a:pt x="84" y="38"/>
                  </a:cubicBezTo>
                  <a:cubicBezTo>
                    <a:pt x="79" y="31"/>
                    <a:pt x="71" y="27"/>
                    <a:pt x="60" y="27"/>
                  </a:cubicBezTo>
                  <a:cubicBezTo>
                    <a:pt x="55" y="27"/>
                    <a:pt x="51" y="28"/>
                    <a:pt x="47" y="30"/>
                  </a:cubicBezTo>
                  <a:cubicBezTo>
                    <a:pt x="43" y="32"/>
                    <a:pt x="40" y="34"/>
                    <a:pt x="37" y="38"/>
                  </a:cubicBezTo>
                  <a:cubicBezTo>
                    <a:pt x="34" y="41"/>
                    <a:pt x="32" y="45"/>
                    <a:pt x="31" y="50"/>
                  </a:cubicBezTo>
                  <a:cubicBezTo>
                    <a:pt x="30" y="55"/>
                    <a:pt x="29" y="60"/>
                    <a:pt x="29" y="66"/>
                  </a:cubicBezTo>
                  <a:cubicBezTo>
                    <a:pt x="29" y="154"/>
                    <a:pt x="29" y="154"/>
                    <a:pt x="29" y="154"/>
                  </a:cubicBezTo>
                  <a:cubicBezTo>
                    <a:pt x="0" y="154"/>
                    <a:pt x="0" y="154"/>
                    <a:pt x="0" y="154"/>
                  </a:cubicBezTo>
                  <a:cubicBezTo>
                    <a:pt x="0" y="3"/>
                    <a:pt x="0" y="3"/>
                    <a:pt x="0" y="3"/>
                  </a:cubicBezTo>
                  <a:cubicBezTo>
                    <a:pt x="29" y="3"/>
                    <a:pt x="29" y="3"/>
                    <a:pt x="29" y="3"/>
                  </a:cubicBezTo>
                  <a:cubicBezTo>
                    <a:pt x="29" y="18"/>
                    <a:pt x="29" y="18"/>
                    <a:pt x="29" y="18"/>
                  </a:cubicBezTo>
                  <a:cubicBezTo>
                    <a:pt x="31" y="15"/>
                    <a:pt x="33" y="12"/>
                    <a:pt x="36" y="10"/>
                  </a:cubicBezTo>
                  <a:cubicBezTo>
                    <a:pt x="39" y="8"/>
                    <a:pt x="42" y="6"/>
                    <a:pt x="45" y="5"/>
                  </a:cubicBezTo>
                  <a:cubicBezTo>
                    <a:pt x="48" y="3"/>
                    <a:pt x="52" y="2"/>
                    <a:pt x="55" y="1"/>
                  </a:cubicBezTo>
                  <a:cubicBezTo>
                    <a:pt x="59" y="0"/>
                    <a:pt x="63" y="0"/>
                    <a:pt x="67" y="0"/>
                  </a:cubicBezTo>
                  <a:cubicBezTo>
                    <a:pt x="76" y="0"/>
                    <a:pt x="84" y="2"/>
                    <a:pt x="90" y="4"/>
                  </a:cubicBezTo>
                  <a:cubicBezTo>
                    <a:pt x="97" y="7"/>
                    <a:pt x="103" y="12"/>
                    <a:pt x="107" y="17"/>
                  </a:cubicBezTo>
                  <a:cubicBezTo>
                    <a:pt x="112" y="23"/>
                    <a:pt x="115" y="30"/>
                    <a:pt x="117" y="38"/>
                  </a:cubicBezTo>
                  <a:cubicBezTo>
                    <a:pt x="119" y="46"/>
                    <a:pt x="120" y="56"/>
                    <a:pt x="120" y="67"/>
                  </a:cubicBezTo>
                  <a:cubicBezTo>
                    <a:pt x="120" y="154"/>
                    <a:pt x="120" y="154"/>
                    <a:pt x="120" y="154"/>
                  </a:cubicBezTo>
                  <a:lnTo>
                    <a:pt x="91"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9" name="Freeform 122">
              <a:extLst>
                <a:ext uri="{FF2B5EF4-FFF2-40B4-BE49-F238E27FC236}">
                  <a16:creationId xmlns:a16="http://schemas.microsoft.com/office/drawing/2014/main" id="{9C1166C9-6345-4EA6-96F2-A65CC247626C}"/>
                </a:ext>
              </a:extLst>
            </p:cNvPr>
            <p:cNvSpPr>
              <a:spLocks noEditPoints="1"/>
            </p:cNvSpPr>
            <p:nvPr userDrawn="1"/>
          </p:nvSpPr>
          <p:spPr bwMode="auto">
            <a:xfrm>
              <a:off x="8450263" y="3933826"/>
              <a:ext cx="501650" cy="588963"/>
            </a:xfrm>
            <a:custGeom>
              <a:avLst/>
              <a:gdLst>
                <a:gd name="T0" fmla="*/ 105 w 134"/>
                <a:gd name="T1" fmla="*/ 78 h 157"/>
                <a:gd name="T2" fmla="*/ 102 w 134"/>
                <a:gd name="T3" fmla="*/ 58 h 157"/>
                <a:gd name="T4" fmla="*/ 94 w 134"/>
                <a:gd name="T5" fmla="*/ 42 h 157"/>
                <a:gd name="T6" fmla="*/ 82 w 134"/>
                <a:gd name="T7" fmla="*/ 32 h 157"/>
                <a:gd name="T8" fmla="*/ 66 w 134"/>
                <a:gd name="T9" fmla="*/ 28 h 157"/>
                <a:gd name="T10" fmla="*/ 51 w 134"/>
                <a:gd name="T11" fmla="*/ 32 h 157"/>
                <a:gd name="T12" fmla="*/ 40 w 134"/>
                <a:gd name="T13" fmla="*/ 42 h 157"/>
                <a:gd name="T14" fmla="*/ 33 w 134"/>
                <a:gd name="T15" fmla="*/ 57 h 157"/>
                <a:gd name="T16" fmla="*/ 30 w 134"/>
                <a:gd name="T17" fmla="*/ 78 h 157"/>
                <a:gd name="T18" fmla="*/ 33 w 134"/>
                <a:gd name="T19" fmla="*/ 100 h 157"/>
                <a:gd name="T20" fmla="*/ 41 w 134"/>
                <a:gd name="T21" fmla="*/ 116 h 157"/>
                <a:gd name="T22" fmla="*/ 52 w 134"/>
                <a:gd name="T23" fmla="*/ 125 h 157"/>
                <a:gd name="T24" fmla="*/ 68 w 134"/>
                <a:gd name="T25" fmla="*/ 129 h 157"/>
                <a:gd name="T26" fmla="*/ 83 w 134"/>
                <a:gd name="T27" fmla="*/ 125 h 157"/>
                <a:gd name="T28" fmla="*/ 95 w 134"/>
                <a:gd name="T29" fmla="*/ 114 h 157"/>
                <a:gd name="T30" fmla="*/ 102 w 134"/>
                <a:gd name="T31" fmla="*/ 98 h 157"/>
                <a:gd name="T32" fmla="*/ 105 w 134"/>
                <a:gd name="T33" fmla="*/ 78 h 157"/>
                <a:gd name="T34" fmla="*/ 134 w 134"/>
                <a:gd name="T35" fmla="*/ 78 h 157"/>
                <a:gd name="T36" fmla="*/ 129 w 134"/>
                <a:gd name="T37" fmla="*/ 111 h 157"/>
                <a:gd name="T38" fmla="*/ 115 w 134"/>
                <a:gd name="T39" fmla="*/ 136 h 157"/>
                <a:gd name="T40" fmla="*/ 93 w 134"/>
                <a:gd name="T41" fmla="*/ 151 h 157"/>
                <a:gd name="T42" fmla="*/ 67 w 134"/>
                <a:gd name="T43" fmla="*/ 157 h 157"/>
                <a:gd name="T44" fmla="*/ 40 w 134"/>
                <a:gd name="T45" fmla="*/ 151 h 157"/>
                <a:gd name="T46" fmla="*/ 19 w 134"/>
                <a:gd name="T47" fmla="*/ 135 h 157"/>
                <a:gd name="T48" fmla="*/ 5 w 134"/>
                <a:gd name="T49" fmla="*/ 111 h 157"/>
                <a:gd name="T50" fmla="*/ 0 w 134"/>
                <a:gd name="T51" fmla="*/ 78 h 157"/>
                <a:gd name="T52" fmla="*/ 6 w 134"/>
                <a:gd name="T53" fmla="*/ 45 h 157"/>
                <a:gd name="T54" fmla="*/ 20 w 134"/>
                <a:gd name="T55" fmla="*/ 21 h 157"/>
                <a:gd name="T56" fmla="*/ 41 w 134"/>
                <a:gd name="T57" fmla="*/ 5 h 157"/>
                <a:gd name="T58" fmla="*/ 67 w 134"/>
                <a:gd name="T59" fmla="*/ 0 h 157"/>
                <a:gd name="T60" fmla="*/ 94 w 134"/>
                <a:gd name="T61" fmla="*/ 6 h 157"/>
                <a:gd name="T62" fmla="*/ 115 w 134"/>
                <a:gd name="T63" fmla="*/ 21 h 157"/>
                <a:gd name="T64" fmla="*/ 129 w 134"/>
                <a:gd name="T65" fmla="*/ 46 h 157"/>
                <a:gd name="T66" fmla="*/ 134 w 134"/>
                <a:gd name="T67" fmla="*/ 7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4" h="157">
                  <a:moveTo>
                    <a:pt x="105" y="78"/>
                  </a:moveTo>
                  <a:cubicBezTo>
                    <a:pt x="105" y="71"/>
                    <a:pt x="104" y="64"/>
                    <a:pt x="102" y="58"/>
                  </a:cubicBezTo>
                  <a:cubicBezTo>
                    <a:pt x="100" y="52"/>
                    <a:pt x="98" y="46"/>
                    <a:pt x="94" y="42"/>
                  </a:cubicBezTo>
                  <a:cubicBezTo>
                    <a:pt x="91" y="37"/>
                    <a:pt x="87" y="34"/>
                    <a:pt x="82" y="32"/>
                  </a:cubicBezTo>
                  <a:cubicBezTo>
                    <a:pt x="78" y="29"/>
                    <a:pt x="72" y="28"/>
                    <a:pt x="66" y="28"/>
                  </a:cubicBezTo>
                  <a:cubicBezTo>
                    <a:pt x="61" y="28"/>
                    <a:pt x="56" y="29"/>
                    <a:pt x="51" y="32"/>
                  </a:cubicBezTo>
                  <a:cubicBezTo>
                    <a:pt x="47" y="34"/>
                    <a:pt x="43" y="37"/>
                    <a:pt x="40" y="42"/>
                  </a:cubicBezTo>
                  <a:cubicBezTo>
                    <a:pt x="37" y="46"/>
                    <a:pt x="34" y="51"/>
                    <a:pt x="33" y="57"/>
                  </a:cubicBezTo>
                  <a:cubicBezTo>
                    <a:pt x="31" y="63"/>
                    <a:pt x="30" y="70"/>
                    <a:pt x="30" y="78"/>
                  </a:cubicBezTo>
                  <a:cubicBezTo>
                    <a:pt x="30" y="86"/>
                    <a:pt x="31" y="93"/>
                    <a:pt x="33" y="100"/>
                  </a:cubicBezTo>
                  <a:cubicBezTo>
                    <a:pt x="35" y="106"/>
                    <a:pt x="37" y="111"/>
                    <a:pt x="41" y="116"/>
                  </a:cubicBezTo>
                  <a:cubicBezTo>
                    <a:pt x="44" y="120"/>
                    <a:pt x="48" y="123"/>
                    <a:pt x="52" y="125"/>
                  </a:cubicBezTo>
                  <a:cubicBezTo>
                    <a:pt x="57" y="128"/>
                    <a:pt x="62" y="129"/>
                    <a:pt x="68" y="129"/>
                  </a:cubicBezTo>
                  <a:cubicBezTo>
                    <a:pt x="73" y="129"/>
                    <a:pt x="78" y="127"/>
                    <a:pt x="83" y="125"/>
                  </a:cubicBezTo>
                  <a:cubicBezTo>
                    <a:pt x="87" y="122"/>
                    <a:pt x="91" y="118"/>
                    <a:pt x="95" y="114"/>
                  </a:cubicBezTo>
                  <a:cubicBezTo>
                    <a:pt x="98" y="109"/>
                    <a:pt x="100" y="104"/>
                    <a:pt x="102" y="98"/>
                  </a:cubicBezTo>
                  <a:cubicBezTo>
                    <a:pt x="104" y="92"/>
                    <a:pt x="105" y="85"/>
                    <a:pt x="105" y="78"/>
                  </a:cubicBezTo>
                  <a:moveTo>
                    <a:pt x="134" y="78"/>
                  </a:moveTo>
                  <a:cubicBezTo>
                    <a:pt x="134" y="90"/>
                    <a:pt x="133" y="101"/>
                    <a:pt x="129" y="111"/>
                  </a:cubicBezTo>
                  <a:cubicBezTo>
                    <a:pt x="126" y="121"/>
                    <a:pt x="121" y="129"/>
                    <a:pt x="115" y="136"/>
                  </a:cubicBezTo>
                  <a:cubicBezTo>
                    <a:pt x="109" y="143"/>
                    <a:pt x="102" y="148"/>
                    <a:pt x="93" y="151"/>
                  </a:cubicBezTo>
                  <a:cubicBezTo>
                    <a:pt x="85" y="155"/>
                    <a:pt x="76" y="157"/>
                    <a:pt x="67" y="157"/>
                  </a:cubicBezTo>
                  <a:cubicBezTo>
                    <a:pt x="57" y="157"/>
                    <a:pt x="48" y="155"/>
                    <a:pt x="40" y="151"/>
                  </a:cubicBezTo>
                  <a:cubicBezTo>
                    <a:pt x="32" y="147"/>
                    <a:pt x="25" y="142"/>
                    <a:pt x="19" y="135"/>
                  </a:cubicBezTo>
                  <a:cubicBezTo>
                    <a:pt x="13" y="128"/>
                    <a:pt x="9" y="120"/>
                    <a:pt x="5" y="111"/>
                  </a:cubicBezTo>
                  <a:cubicBezTo>
                    <a:pt x="2" y="101"/>
                    <a:pt x="0" y="90"/>
                    <a:pt x="0" y="78"/>
                  </a:cubicBezTo>
                  <a:cubicBezTo>
                    <a:pt x="0" y="66"/>
                    <a:pt x="2" y="55"/>
                    <a:pt x="6" y="45"/>
                  </a:cubicBezTo>
                  <a:cubicBezTo>
                    <a:pt x="9" y="36"/>
                    <a:pt x="14" y="28"/>
                    <a:pt x="20" y="21"/>
                  </a:cubicBezTo>
                  <a:cubicBezTo>
                    <a:pt x="26" y="14"/>
                    <a:pt x="33" y="9"/>
                    <a:pt x="41" y="5"/>
                  </a:cubicBezTo>
                  <a:cubicBezTo>
                    <a:pt x="49" y="2"/>
                    <a:pt x="58" y="0"/>
                    <a:pt x="67" y="0"/>
                  </a:cubicBezTo>
                  <a:cubicBezTo>
                    <a:pt x="77" y="0"/>
                    <a:pt x="86" y="2"/>
                    <a:pt x="94" y="6"/>
                  </a:cubicBezTo>
                  <a:cubicBezTo>
                    <a:pt x="102" y="9"/>
                    <a:pt x="109" y="14"/>
                    <a:pt x="115" y="21"/>
                  </a:cubicBezTo>
                  <a:cubicBezTo>
                    <a:pt x="121" y="28"/>
                    <a:pt x="126" y="36"/>
                    <a:pt x="129" y="46"/>
                  </a:cubicBezTo>
                  <a:cubicBezTo>
                    <a:pt x="133" y="55"/>
                    <a:pt x="134" y="66"/>
                    <a:pt x="134" y="78"/>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40" name="Freeform 123">
              <a:extLst>
                <a:ext uri="{FF2B5EF4-FFF2-40B4-BE49-F238E27FC236}">
                  <a16:creationId xmlns:a16="http://schemas.microsoft.com/office/drawing/2014/main" id="{F6D0CFF4-3F25-4B8F-ADCB-12637DACA36E}"/>
                </a:ext>
              </a:extLst>
            </p:cNvPr>
            <p:cNvSpPr>
              <a:spLocks/>
            </p:cNvSpPr>
            <p:nvPr userDrawn="1"/>
          </p:nvSpPr>
          <p:spPr bwMode="auto">
            <a:xfrm>
              <a:off x="9034463" y="3933826"/>
              <a:ext cx="454025" cy="577850"/>
            </a:xfrm>
            <a:custGeom>
              <a:avLst/>
              <a:gdLst>
                <a:gd name="T0" fmla="*/ 92 w 121"/>
                <a:gd name="T1" fmla="*/ 154 h 154"/>
                <a:gd name="T2" fmla="*/ 92 w 121"/>
                <a:gd name="T3" fmla="*/ 69 h 154"/>
                <a:gd name="T4" fmla="*/ 84 w 121"/>
                <a:gd name="T5" fmla="*/ 38 h 154"/>
                <a:gd name="T6" fmla="*/ 61 w 121"/>
                <a:gd name="T7" fmla="*/ 27 h 154"/>
                <a:gd name="T8" fmla="*/ 48 w 121"/>
                <a:gd name="T9" fmla="*/ 30 h 154"/>
                <a:gd name="T10" fmla="*/ 38 w 121"/>
                <a:gd name="T11" fmla="*/ 38 h 154"/>
                <a:gd name="T12" fmla="*/ 32 w 121"/>
                <a:gd name="T13" fmla="*/ 50 h 154"/>
                <a:gd name="T14" fmla="*/ 30 w 121"/>
                <a:gd name="T15" fmla="*/ 66 h 154"/>
                <a:gd name="T16" fmla="*/ 30 w 121"/>
                <a:gd name="T17" fmla="*/ 154 h 154"/>
                <a:gd name="T18" fmla="*/ 0 w 121"/>
                <a:gd name="T19" fmla="*/ 154 h 154"/>
                <a:gd name="T20" fmla="*/ 0 w 121"/>
                <a:gd name="T21" fmla="*/ 3 h 154"/>
                <a:gd name="T22" fmla="*/ 30 w 121"/>
                <a:gd name="T23" fmla="*/ 3 h 154"/>
                <a:gd name="T24" fmla="*/ 30 w 121"/>
                <a:gd name="T25" fmla="*/ 18 h 154"/>
                <a:gd name="T26" fmla="*/ 37 w 121"/>
                <a:gd name="T27" fmla="*/ 10 h 154"/>
                <a:gd name="T28" fmla="*/ 46 w 121"/>
                <a:gd name="T29" fmla="*/ 5 h 154"/>
                <a:gd name="T30" fmla="*/ 56 w 121"/>
                <a:gd name="T31" fmla="*/ 1 h 154"/>
                <a:gd name="T32" fmla="*/ 68 w 121"/>
                <a:gd name="T33" fmla="*/ 0 h 154"/>
                <a:gd name="T34" fmla="*/ 91 w 121"/>
                <a:gd name="T35" fmla="*/ 4 h 154"/>
                <a:gd name="T36" fmla="*/ 108 w 121"/>
                <a:gd name="T37" fmla="*/ 17 h 154"/>
                <a:gd name="T38" fmla="*/ 118 w 121"/>
                <a:gd name="T39" fmla="*/ 38 h 154"/>
                <a:gd name="T40" fmla="*/ 121 w 121"/>
                <a:gd name="T41" fmla="*/ 67 h 154"/>
                <a:gd name="T42" fmla="*/ 121 w 121"/>
                <a:gd name="T43" fmla="*/ 154 h 154"/>
                <a:gd name="T44" fmla="*/ 92 w 121"/>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154">
                  <a:moveTo>
                    <a:pt x="92" y="154"/>
                  </a:moveTo>
                  <a:cubicBezTo>
                    <a:pt x="92" y="69"/>
                    <a:pt x="92" y="69"/>
                    <a:pt x="92" y="69"/>
                  </a:cubicBezTo>
                  <a:cubicBezTo>
                    <a:pt x="92" y="55"/>
                    <a:pt x="89" y="45"/>
                    <a:pt x="84" y="38"/>
                  </a:cubicBezTo>
                  <a:cubicBezTo>
                    <a:pt x="80" y="31"/>
                    <a:pt x="72" y="27"/>
                    <a:pt x="61" y="27"/>
                  </a:cubicBezTo>
                  <a:cubicBezTo>
                    <a:pt x="56" y="27"/>
                    <a:pt x="52" y="28"/>
                    <a:pt x="48" y="30"/>
                  </a:cubicBezTo>
                  <a:cubicBezTo>
                    <a:pt x="44" y="32"/>
                    <a:pt x="40" y="34"/>
                    <a:pt x="38" y="38"/>
                  </a:cubicBezTo>
                  <a:cubicBezTo>
                    <a:pt x="35" y="41"/>
                    <a:pt x="33" y="45"/>
                    <a:pt x="32" y="50"/>
                  </a:cubicBezTo>
                  <a:cubicBezTo>
                    <a:pt x="31" y="55"/>
                    <a:pt x="30" y="60"/>
                    <a:pt x="30" y="66"/>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2" y="15"/>
                    <a:pt x="34" y="12"/>
                    <a:pt x="37" y="10"/>
                  </a:cubicBezTo>
                  <a:cubicBezTo>
                    <a:pt x="39" y="8"/>
                    <a:pt x="42" y="6"/>
                    <a:pt x="46" y="5"/>
                  </a:cubicBezTo>
                  <a:cubicBezTo>
                    <a:pt x="49" y="3"/>
                    <a:pt x="52" y="2"/>
                    <a:pt x="56" y="1"/>
                  </a:cubicBezTo>
                  <a:cubicBezTo>
                    <a:pt x="60" y="0"/>
                    <a:pt x="64" y="0"/>
                    <a:pt x="68" y="0"/>
                  </a:cubicBezTo>
                  <a:cubicBezTo>
                    <a:pt x="77" y="0"/>
                    <a:pt x="85" y="2"/>
                    <a:pt x="91" y="4"/>
                  </a:cubicBezTo>
                  <a:cubicBezTo>
                    <a:pt x="98" y="7"/>
                    <a:pt x="103" y="12"/>
                    <a:pt x="108" y="17"/>
                  </a:cubicBezTo>
                  <a:cubicBezTo>
                    <a:pt x="112" y="23"/>
                    <a:pt x="116" y="30"/>
                    <a:pt x="118" y="38"/>
                  </a:cubicBezTo>
                  <a:cubicBezTo>
                    <a:pt x="120" y="46"/>
                    <a:pt x="121" y="56"/>
                    <a:pt x="121" y="67"/>
                  </a:cubicBezTo>
                  <a:cubicBezTo>
                    <a:pt x="121" y="154"/>
                    <a:pt x="121" y="154"/>
                    <a:pt x="121" y="154"/>
                  </a:cubicBezTo>
                  <a:lnTo>
                    <a:pt x="92"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41" name="Freeform 124">
              <a:extLst>
                <a:ext uri="{FF2B5EF4-FFF2-40B4-BE49-F238E27FC236}">
                  <a16:creationId xmlns:a16="http://schemas.microsoft.com/office/drawing/2014/main" id="{9932F642-1E35-48EC-B6C4-B38B0CA08E95}"/>
                </a:ext>
              </a:extLst>
            </p:cNvPr>
            <p:cNvSpPr>
              <a:spLocks/>
            </p:cNvSpPr>
            <p:nvPr userDrawn="1"/>
          </p:nvSpPr>
          <p:spPr bwMode="auto">
            <a:xfrm>
              <a:off x="2703513" y="2332038"/>
              <a:ext cx="2125663" cy="776288"/>
            </a:xfrm>
            <a:custGeom>
              <a:avLst/>
              <a:gdLst>
                <a:gd name="T0" fmla="*/ 1339 w 1339"/>
                <a:gd name="T1" fmla="*/ 0 h 489"/>
                <a:gd name="T2" fmla="*/ 0 w 1339"/>
                <a:gd name="T3" fmla="*/ 489 h 489"/>
                <a:gd name="T4" fmla="*/ 1339 w 1339"/>
                <a:gd name="T5" fmla="*/ 253 h 489"/>
                <a:gd name="T6" fmla="*/ 1339 w 1339"/>
                <a:gd name="T7" fmla="*/ 0 h 489"/>
                <a:gd name="T8" fmla="*/ 1339 w 1339"/>
                <a:gd name="T9" fmla="*/ 0 h 489"/>
              </a:gdLst>
              <a:ahLst/>
              <a:cxnLst>
                <a:cxn ang="0">
                  <a:pos x="T0" y="T1"/>
                </a:cxn>
                <a:cxn ang="0">
                  <a:pos x="T2" y="T3"/>
                </a:cxn>
                <a:cxn ang="0">
                  <a:pos x="T4" y="T5"/>
                </a:cxn>
                <a:cxn ang="0">
                  <a:pos x="T6" y="T7"/>
                </a:cxn>
                <a:cxn ang="0">
                  <a:pos x="T8" y="T9"/>
                </a:cxn>
              </a:cxnLst>
              <a:rect l="0" t="0" r="r" b="b"/>
              <a:pathLst>
                <a:path w="1339" h="489">
                  <a:moveTo>
                    <a:pt x="1339" y="0"/>
                  </a:moveTo>
                  <a:lnTo>
                    <a:pt x="0" y="489"/>
                  </a:lnTo>
                  <a:lnTo>
                    <a:pt x="1339" y="253"/>
                  </a:lnTo>
                  <a:lnTo>
                    <a:pt x="1339" y="0"/>
                  </a:lnTo>
                  <a:lnTo>
                    <a:pt x="1339" y="0"/>
                  </a:lnTo>
                  <a:close/>
                </a:path>
              </a:pathLst>
            </a:custGeom>
            <a:solidFill>
              <a:srgbClr val="FFE600"/>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42" name="Freeform 125">
              <a:extLst>
                <a:ext uri="{FF2B5EF4-FFF2-40B4-BE49-F238E27FC236}">
                  <a16:creationId xmlns:a16="http://schemas.microsoft.com/office/drawing/2014/main" id="{D5D95FF1-6143-4F5E-A9CE-4E0A96033573}"/>
                </a:ext>
              </a:extLst>
            </p:cNvPr>
            <p:cNvSpPr>
              <a:spLocks noEditPoints="1"/>
            </p:cNvSpPr>
            <p:nvPr userDrawn="1"/>
          </p:nvSpPr>
          <p:spPr bwMode="auto">
            <a:xfrm>
              <a:off x="2720976" y="3430588"/>
              <a:ext cx="1787525" cy="1081088"/>
            </a:xfrm>
            <a:custGeom>
              <a:avLst/>
              <a:gdLst>
                <a:gd name="T0" fmla="*/ 904 w 1126"/>
                <a:gd name="T1" fmla="*/ 0 h 681"/>
                <a:gd name="T2" fmla="*/ 788 w 1126"/>
                <a:gd name="T3" fmla="*/ 222 h 681"/>
                <a:gd name="T4" fmla="*/ 673 w 1126"/>
                <a:gd name="T5" fmla="*/ 0 h 681"/>
                <a:gd name="T6" fmla="*/ 449 w 1126"/>
                <a:gd name="T7" fmla="*/ 0 h 681"/>
                <a:gd name="T8" fmla="*/ 687 w 1126"/>
                <a:gd name="T9" fmla="*/ 411 h 681"/>
                <a:gd name="T10" fmla="*/ 687 w 1126"/>
                <a:gd name="T11" fmla="*/ 681 h 681"/>
                <a:gd name="T12" fmla="*/ 887 w 1126"/>
                <a:gd name="T13" fmla="*/ 681 h 681"/>
                <a:gd name="T14" fmla="*/ 887 w 1126"/>
                <a:gd name="T15" fmla="*/ 411 h 681"/>
                <a:gd name="T16" fmla="*/ 1126 w 1126"/>
                <a:gd name="T17" fmla="*/ 0 h 681"/>
                <a:gd name="T18" fmla="*/ 904 w 1126"/>
                <a:gd name="T19" fmla="*/ 0 h 681"/>
                <a:gd name="T20" fmla="*/ 0 w 1126"/>
                <a:gd name="T21" fmla="*/ 0 h 681"/>
                <a:gd name="T22" fmla="*/ 0 w 1126"/>
                <a:gd name="T23" fmla="*/ 681 h 681"/>
                <a:gd name="T24" fmla="*/ 543 w 1126"/>
                <a:gd name="T25" fmla="*/ 681 h 681"/>
                <a:gd name="T26" fmla="*/ 543 w 1126"/>
                <a:gd name="T27" fmla="*/ 525 h 681"/>
                <a:gd name="T28" fmla="*/ 203 w 1126"/>
                <a:gd name="T29" fmla="*/ 525 h 681"/>
                <a:gd name="T30" fmla="*/ 203 w 1126"/>
                <a:gd name="T31" fmla="*/ 411 h 681"/>
                <a:gd name="T32" fmla="*/ 449 w 1126"/>
                <a:gd name="T33" fmla="*/ 411 h 681"/>
                <a:gd name="T34" fmla="*/ 449 w 1126"/>
                <a:gd name="T35" fmla="*/ 269 h 681"/>
                <a:gd name="T36" fmla="*/ 203 w 1126"/>
                <a:gd name="T37" fmla="*/ 269 h 681"/>
                <a:gd name="T38" fmla="*/ 203 w 1126"/>
                <a:gd name="T39" fmla="*/ 156 h 681"/>
                <a:gd name="T40" fmla="*/ 475 w 1126"/>
                <a:gd name="T41" fmla="*/ 156 h 681"/>
                <a:gd name="T42" fmla="*/ 385 w 1126"/>
                <a:gd name="T43" fmla="*/ 0 h 681"/>
                <a:gd name="T44" fmla="*/ 0 w 1126"/>
                <a:gd name="T45" fmla="*/ 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26" h="681">
                  <a:moveTo>
                    <a:pt x="904" y="0"/>
                  </a:moveTo>
                  <a:lnTo>
                    <a:pt x="788" y="222"/>
                  </a:lnTo>
                  <a:lnTo>
                    <a:pt x="673" y="0"/>
                  </a:lnTo>
                  <a:lnTo>
                    <a:pt x="449" y="0"/>
                  </a:lnTo>
                  <a:lnTo>
                    <a:pt x="687" y="411"/>
                  </a:lnTo>
                  <a:lnTo>
                    <a:pt x="687" y="681"/>
                  </a:lnTo>
                  <a:lnTo>
                    <a:pt x="887" y="681"/>
                  </a:lnTo>
                  <a:lnTo>
                    <a:pt x="887" y="411"/>
                  </a:lnTo>
                  <a:lnTo>
                    <a:pt x="1126" y="0"/>
                  </a:lnTo>
                  <a:lnTo>
                    <a:pt x="904" y="0"/>
                  </a:lnTo>
                  <a:close/>
                  <a:moveTo>
                    <a:pt x="0" y="0"/>
                  </a:moveTo>
                  <a:lnTo>
                    <a:pt x="0" y="681"/>
                  </a:lnTo>
                  <a:lnTo>
                    <a:pt x="543" y="681"/>
                  </a:lnTo>
                  <a:lnTo>
                    <a:pt x="543" y="525"/>
                  </a:lnTo>
                  <a:lnTo>
                    <a:pt x="203" y="525"/>
                  </a:lnTo>
                  <a:lnTo>
                    <a:pt x="203" y="411"/>
                  </a:lnTo>
                  <a:lnTo>
                    <a:pt x="449" y="411"/>
                  </a:lnTo>
                  <a:lnTo>
                    <a:pt x="449" y="269"/>
                  </a:lnTo>
                  <a:lnTo>
                    <a:pt x="203" y="269"/>
                  </a:lnTo>
                  <a:lnTo>
                    <a:pt x="203" y="156"/>
                  </a:lnTo>
                  <a:lnTo>
                    <a:pt x="475" y="156"/>
                  </a:lnTo>
                  <a:lnTo>
                    <a:pt x="385" y="0"/>
                  </a:lnTo>
                  <a:lnTo>
                    <a:pt x="0"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grpSp>
      <p:sp>
        <p:nvSpPr>
          <p:cNvPr id="3" name="Text Placeholder 2"/>
          <p:cNvSpPr>
            <a:spLocks noGrp="1"/>
          </p:cNvSpPr>
          <p:nvPr>
            <p:ph type="body" idx="1"/>
          </p:nvPr>
        </p:nvSpPr>
        <p:spPr>
          <a:xfrm>
            <a:off x="609601" y="1327149"/>
            <a:ext cx="10972800" cy="981166"/>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OuterGrid" hidden="1">
            <a:extLst>
              <a:ext uri="{FF2B5EF4-FFF2-40B4-BE49-F238E27FC236}">
                <a16:creationId xmlns:a16="http://schemas.microsoft.com/office/drawing/2014/main" id="{497C0834-4F27-4726-9D1B-7289BEDDACB5}"/>
              </a:ext>
            </a:extLst>
          </p:cNvPr>
          <p:cNvSpPr/>
          <p:nvPr userDrawn="1"/>
        </p:nvSpPr>
        <p:spPr>
          <a:xfrm>
            <a:off x="609918" y="1327149"/>
            <a:ext cx="10980000" cy="4797425"/>
          </a:xfrm>
          <a:prstGeom prst="rect">
            <a:avLst/>
          </a:prstGeom>
          <a:solidFill>
            <a:schemeClr val="accent6">
              <a:alpha val="0"/>
            </a:schemeClr>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l"/>
            <a:endParaRPr lang="en-US" sz="1100">
              <a:solidFill>
                <a:schemeClr val="bg1"/>
              </a:solidFill>
            </a:endParaRPr>
          </a:p>
        </p:txBody>
      </p:sp>
    </p:spTree>
    <p:extLst>
      <p:ext uri="{BB962C8B-B14F-4D97-AF65-F5344CB8AC3E}">
        <p14:creationId xmlns:p14="http://schemas.microsoft.com/office/powerpoint/2010/main" val="4120024136"/>
      </p:ext>
    </p:extLst>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913943" rtl="0" eaLnBrk="1" latinLnBrk="0" hangingPunct="1">
        <a:lnSpc>
          <a:spcPct val="90000"/>
        </a:lnSpc>
        <a:spcBef>
          <a:spcPct val="0"/>
        </a:spcBef>
        <a:buNone/>
        <a:defRPr sz="2199" b="0" kern="1200">
          <a:solidFill>
            <a:schemeClr val="bg1"/>
          </a:solidFill>
          <a:latin typeface="+mn-lt"/>
          <a:ea typeface="+mj-ea"/>
          <a:cs typeface="Arial" pitchFamily="34" charset="0"/>
          <a:sym typeface="Arial" panose="020B0604020202020204" pitchFamily="34" charset="0"/>
        </a:defRPr>
      </a:lvl1pPr>
    </p:titleStyle>
    <p:bodyStyle>
      <a:lvl1pPr marL="171364"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1pPr>
      <a:lvl2pPr marL="342729"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2pPr>
      <a:lvl3pPr marL="514093"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3pPr>
      <a:lvl4pPr marL="685457"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4pPr>
      <a:lvl5pPr marL="856821"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099" kern="1200">
          <a:solidFill>
            <a:schemeClr val="tx1"/>
          </a:solidFill>
          <a:latin typeface="+mn-lt"/>
          <a:ea typeface="+mn-ea"/>
          <a:cs typeface="+mn-cs"/>
        </a:defRPr>
      </a:lvl1pPr>
      <a:lvl2pPr marL="456971" algn="l" defTabSz="913943" rtl="0" eaLnBrk="1" latinLnBrk="0" hangingPunct="1">
        <a:defRPr sz="1099" kern="1200">
          <a:solidFill>
            <a:schemeClr val="tx1"/>
          </a:solidFill>
          <a:latin typeface="+mn-lt"/>
          <a:ea typeface="+mn-ea"/>
          <a:cs typeface="+mn-cs"/>
        </a:defRPr>
      </a:lvl2pPr>
      <a:lvl3pPr marL="913943" algn="l" defTabSz="913943" rtl="0" eaLnBrk="1" latinLnBrk="0" hangingPunct="1">
        <a:defRPr sz="1099" kern="1200">
          <a:solidFill>
            <a:schemeClr val="tx1"/>
          </a:solidFill>
          <a:latin typeface="+mn-lt"/>
          <a:ea typeface="+mn-ea"/>
          <a:cs typeface="+mn-cs"/>
        </a:defRPr>
      </a:lvl3pPr>
      <a:lvl4pPr marL="1370914" algn="l" defTabSz="913943" rtl="0" eaLnBrk="1" latinLnBrk="0" hangingPunct="1">
        <a:defRPr sz="1099" kern="1200">
          <a:solidFill>
            <a:schemeClr val="tx1"/>
          </a:solidFill>
          <a:latin typeface="+mn-lt"/>
          <a:ea typeface="+mn-ea"/>
          <a:cs typeface="+mn-cs"/>
        </a:defRPr>
      </a:lvl4pPr>
      <a:lvl5pPr marL="1827886" algn="l" defTabSz="913943" rtl="0" eaLnBrk="1" latinLnBrk="0" hangingPunct="1">
        <a:defRPr sz="1099" kern="1200">
          <a:solidFill>
            <a:schemeClr val="tx1"/>
          </a:solidFill>
          <a:latin typeface="+mn-lt"/>
          <a:ea typeface="+mn-ea"/>
          <a:cs typeface="+mn-cs"/>
        </a:defRPr>
      </a:lvl5pPr>
      <a:lvl6pPr marL="2284857" algn="l" defTabSz="913943" rtl="0" eaLnBrk="1" latinLnBrk="0" hangingPunct="1">
        <a:defRPr sz="1099" kern="1200">
          <a:solidFill>
            <a:schemeClr val="tx1"/>
          </a:solidFill>
          <a:latin typeface="+mn-lt"/>
          <a:ea typeface="+mn-ea"/>
          <a:cs typeface="+mn-cs"/>
        </a:defRPr>
      </a:lvl6pPr>
      <a:lvl7pPr marL="2741828" algn="l" defTabSz="913943" rtl="0" eaLnBrk="1" latinLnBrk="0" hangingPunct="1">
        <a:defRPr sz="1099" kern="1200">
          <a:solidFill>
            <a:schemeClr val="tx1"/>
          </a:solidFill>
          <a:latin typeface="+mn-lt"/>
          <a:ea typeface="+mn-ea"/>
          <a:cs typeface="+mn-cs"/>
        </a:defRPr>
      </a:lvl7pPr>
      <a:lvl8pPr marL="3198800" algn="l" defTabSz="913943" rtl="0" eaLnBrk="1" latinLnBrk="0" hangingPunct="1">
        <a:defRPr sz="1099" kern="1200">
          <a:solidFill>
            <a:schemeClr val="tx1"/>
          </a:solidFill>
          <a:latin typeface="+mn-lt"/>
          <a:ea typeface="+mn-ea"/>
          <a:cs typeface="+mn-cs"/>
        </a:defRPr>
      </a:lvl8pPr>
      <a:lvl9pPr marL="3655771" algn="l" defTabSz="913943" rtl="0" eaLnBrk="1" latinLnBrk="0" hangingPunct="1">
        <a:defRPr sz="10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6" userDrawn="1">
          <p15:clr>
            <a:srgbClr val="F26B43"/>
          </p15:clr>
        </p15:guide>
        <p15:guide id="2" pos="7294" userDrawn="1">
          <p15:clr>
            <a:srgbClr val="F26B43"/>
          </p15:clr>
        </p15:guide>
        <p15:guide id="3" orient="horz" pos="711" userDrawn="1">
          <p15:clr>
            <a:srgbClr val="F26B43"/>
          </p15:clr>
        </p15:guide>
        <p15:guide id="4" orient="horz" pos="383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A504A55-94A1-4BE0-8451-269B82009EDA}"/>
              </a:ext>
            </a:extLst>
          </p:cNvPr>
          <p:cNvGraphicFramePr>
            <a:graphicFrameLocks noChangeAspect="1"/>
          </p:cNvGraphicFramePr>
          <p:nvPr userDrawn="1">
            <p:custDataLst>
              <p:tags r:id="rId1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92" imgH="591" progId="TCLayout.ActiveDocument.1">
                  <p:embed/>
                </p:oleObj>
              </mc:Choice>
              <mc:Fallback>
                <p:oleObj name="think-cell Slide" r:id="rId16" imgW="592" imgH="591" progId="TCLayout.ActiveDocument.1">
                  <p:embed/>
                  <p:pic>
                    <p:nvPicPr>
                      <p:cNvPr id="5" name="Object 4" hidden="1">
                        <a:extLst>
                          <a:ext uri="{FF2B5EF4-FFF2-40B4-BE49-F238E27FC236}">
                            <a16:creationId xmlns:a16="http://schemas.microsoft.com/office/drawing/2014/main" id="{0A504A55-94A1-4BE0-8451-269B82009ED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2AFB9C9-E550-A643-B6BA-1F85DC33CB6D}"/>
              </a:ext>
            </a:extLst>
          </p:cNvPr>
          <p:cNvSpPr>
            <a:spLocks noGrp="1"/>
          </p:cNvSpPr>
          <p:nvPr>
            <p:ph type="title"/>
          </p:nvPr>
        </p:nvSpPr>
        <p:spPr>
          <a:xfrm>
            <a:off x="384048" y="381000"/>
            <a:ext cx="11420856" cy="5334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8C041-B2CA-3140-B7D0-C1DCF07DF29D}"/>
              </a:ext>
            </a:extLst>
          </p:cNvPr>
          <p:cNvSpPr>
            <a:spLocks noGrp="1"/>
          </p:cNvSpPr>
          <p:nvPr>
            <p:ph type="body" idx="1"/>
          </p:nvPr>
        </p:nvSpPr>
        <p:spPr>
          <a:xfrm>
            <a:off x="384048" y="1295401"/>
            <a:ext cx="11420856" cy="472440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AD6BCD8-05CB-42C6-AD70-BAD591D95266}"/>
              </a:ext>
            </a:extLst>
          </p:cNvPr>
          <p:cNvCxnSpPr>
            <a:cxnSpLocks/>
          </p:cNvCxnSpPr>
          <p:nvPr userDrawn="1"/>
        </p:nvCxnSpPr>
        <p:spPr>
          <a:xfrm>
            <a:off x="384048" y="1066800"/>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2133AB-67BC-4F74-A07A-65A22E102BA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C18E352-8130-4711-86BD-9515E8F1C1C5}"/>
              </a:ext>
            </a:extLst>
          </p:cNvPr>
          <p:cNvPicPr>
            <a:picLocks/>
          </p:cNvPicPr>
          <p:nvPr userDrawn="1"/>
        </p:nvPicPr>
        <p:blipFill>
          <a:blip r:embed="rId18"/>
          <a:stretch>
            <a:fillRect/>
          </a:stretch>
        </p:blipFill>
        <p:spPr>
          <a:xfrm>
            <a:off x="10853928" y="6388101"/>
            <a:ext cx="950976" cy="357859"/>
          </a:xfrm>
          <a:prstGeom prst="rect">
            <a:avLst/>
          </a:prstGeom>
        </p:spPr>
      </p:pic>
      <p:sp>
        <p:nvSpPr>
          <p:cNvPr id="10" name="Footer Placeholder 4">
            <a:extLst>
              <a:ext uri="{FF2B5EF4-FFF2-40B4-BE49-F238E27FC236}">
                <a16:creationId xmlns:a16="http://schemas.microsoft.com/office/drawing/2014/main" id="{C619E110-F4CA-4E4F-B502-8E44D45BE640}"/>
              </a:ext>
            </a:extLst>
          </p:cNvPr>
          <p:cNvSpPr>
            <a:spLocks noGrp="1"/>
          </p:cNvSpPr>
          <p:nvPr>
            <p:ph type="ftr" sz="quarter" idx="3"/>
          </p:nvPr>
        </p:nvSpPr>
        <p:spPr>
          <a:xfrm>
            <a:off x="381000" y="6515098"/>
            <a:ext cx="8077200" cy="342900"/>
          </a:xfrm>
          <a:prstGeom prst="rect">
            <a:avLst/>
          </a:prstGeom>
        </p:spPr>
        <p:txBody>
          <a:bodyPr lIns="0" tIns="0" rIns="0"/>
          <a:lstStyle>
            <a:lvl1pPr algn="l">
              <a:defRPr sz="1000"/>
            </a:lvl1pPr>
          </a:lstStyle>
          <a:p>
            <a:endParaRPr lang="en-CA"/>
          </a:p>
        </p:txBody>
      </p:sp>
      <p:sp>
        <p:nvSpPr>
          <p:cNvPr id="11" name="Date Placeholder 3">
            <a:extLst>
              <a:ext uri="{FF2B5EF4-FFF2-40B4-BE49-F238E27FC236}">
                <a16:creationId xmlns:a16="http://schemas.microsoft.com/office/drawing/2014/main" id="{08947FEE-BC42-AB41-9311-D8AAD7B00567}"/>
              </a:ext>
            </a:extLst>
          </p:cNvPr>
          <p:cNvSpPr>
            <a:spLocks noGrp="1"/>
          </p:cNvSpPr>
          <p:nvPr>
            <p:ph type="dt" sz="half" idx="2"/>
          </p:nvPr>
        </p:nvSpPr>
        <p:spPr>
          <a:xfrm>
            <a:off x="8569452" y="6515098"/>
            <a:ext cx="1474248" cy="342902"/>
          </a:xfrm>
          <a:prstGeom prst="rect">
            <a:avLst/>
          </a:prstGeom>
        </p:spPr>
        <p:txBody>
          <a:bodyPr lIns="0" tIns="0" rIns="0"/>
          <a:lstStyle>
            <a:lvl1pPr>
              <a:defRPr sz="1000"/>
            </a:lvl1pPr>
          </a:lstStyle>
          <a:p>
            <a:endParaRPr lang="en-CA"/>
          </a:p>
        </p:txBody>
      </p:sp>
    </p:spTree>
    <p:extLst>
      <p:ext uri="{BB962C8B-B14F-4D97-AF65-F5344CB8AC3E}">
        <p14:creationId xmlns:p14="http://schemas.microsoft.com/office/powerpoint/2010/main" val="3168584421"/>
      </p:ext>
    </p:extLst>
  </p:cSld>
  <p:clrMap bg1="lt1" tx1="dk1" bg2="lt2" tx2="dk2" accent1="accent1" accent2="accent2" accent3="accent3" accent4="accent4" accent5="accent5" accent6="accent6" hlink="hlink" folHlink="folHlink"/>
  <p:sldLayoutIdLst>
    <p:sldLayoutId id="2147483674" r:id="rId1"/>
    <p:sldLayoutId id="2147483677" r:id="rId2"/>
    <p:sldLayoutId id="2147483689" r:id="rId3"/>
    <p:sldLayoutId id="2147483688" r:id="rId4"/>
    <p:sldLayoutId id="2147483679" r:id="rId5"/>
    <p:sldLayoutId id="2147483680" r:id="rId6"/>
    <p:sldLayoutId id="2147483685" r:id="rId7"/>
    <p:sldLayoutId id="2147483681" r:id="rId8"/>
    <p:sldLayoutId id="2147483686" r:id="rId9"/>
    <p:sldLayoutId id="2147483675" r:id="rId10"/>
    <p:sldLayoutId id="2147483749" r:id="rId11"/>
    <p:sldLayoutId id="2147483751" r:id="rId12"/>
    <p:sldLayoutId id="2147483980" r:id="rId13"/>
  </p:sldLayoutIdLst>
  <p:hf hdr="0" ftr="0" dt="0"/>
  <p:txStyles>
    <p:titleStyle>
      <a:lvl1pPr algn="l" defTabSz="6858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7436" userDrawn="1">
          <p15:clr>
            <a:srgbClr val="F26B43"/>
          </p15:clr>
        </p15:guide>
        <p15:guide id="4" pos="239" userDrawn="1">
          <p15:clr>
            <a:srgbClr val="F26B43"/>
          </p15:clr>
        </p15:guide>
        <p15:guide id="5" pos="3840" userDrawn="1">
          <p15:clr>
            <a:srgbClr val="F26B43"/>
          </p15:clr>
        </p15:guide>
        <p15:guide id="6" orient="horz" pos="4104" userDrawn="1">
          <p15:clr>
            <a:srgbClr val="F26B43"/>
          </p15:clr>
        </p15:guide>
        <p15:guide id="8" orient="horz" pos="2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2"/>
            </p:custDataLst>
            <p:extLst>
              <p:ext uri="{D42A27DB-BD31-4B8C-83A1-F6EECF244321}">
                <p14:modId xmlns:p14="http://schemas.microsoft.com/office/powerpoint/2010/main" val="3144049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2" imgW="413" imgH="416" progId="TCLayout.ActiveDocument.1">
                  <p:embed/>
                </p:oleObj>
              </mc:Choice>
              <mc:Fallback>
                <p:oleObj name="think-cell Slide" r:id="rId42"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grpSp>
        <p:nvGrpSpPr>
          <p:cNvPr id="170" name="Grid" hidden="1">
            <a:extLst>
              <a:ext uri="{FF2B5EF4-FFF2-40B4-BE49-F238E27FC236}">
                <a16:creationId xmlns:a16="http://schemas.microsoft.com/office/drawing/2014/main" id="{3BBFEB30-B5C9-4D5C-9A82-066C6BF363E3}"/>
              </a:ext>
            </a:extLst>
          </p:cNvPr>
          <p:cNvGrpSpPr/>
          <p:nvPr userDrawn="1"/>
        </p:nvGrpSpPr>
        <p:grpSpPr>
          <a:xfrm>
            <a:off x="0" y="0"/>
            <a:ext cx="12190476" cy="6858000"/>
            <a:chOff x="0" y="0"/>
            <a:chExt cx="12190476" cy="6858000"/>
          </a:xfrm>
        </p:grpSpPr>
        <p:sp>
          <p:nvSpPr>
            <p:cNvPr id="171" name="Freeform: Shape 170">
              <a:extLst>
                <a:ext uri="{FF2B5EF4-FFF2-40B4-BE49-F238E27FC236}">
                  <a16:creationId xmlns:a16="http://schemas.microsoft.com/office/drawing/2014/main" id="{950B3518-D8B6-4062-A4CE-0C1A1A286FE1}"/>
                </a:ext>
              </a:extLst>
            </p:cNvPr>
            <p:cNvSpPr/>
            <p:nvPr userDrawn="1"/>
          </p:nvSpPr>
          <p:spPr bwMode="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172" name="Freeform: Shape 171">
              <a:extLst>
                <a:ext uri="{FF2B5EF4-FFF2-40B4-BE49-F238E27FC236}">
                  <a16:creationId xmlns:a16="http://schemas.microsoft.com/office/drawing/2014/main" id="{EC45F528-EF91-4619-AF16-5D11F63D2FFC}"/>
                </a:ext>
              </a:extLst>
            </p:cNvPr>
            <p:cNvSpPr/>
            <p:nvPr/>
          </p:nvSpPr>
          <p:spPr bwMode="gray">
            <a:xfrm>
              <a:off x="1524" y="0"/>
              <a:ext cx="12188952" cy="6858000"/>
            </a:xfrm>
            <a:custGeom>
              <a:avLst/>
              <a:gdLst>
                <a:gd name="connsiteX0" fmla="*/ 553212 w 12188952"/>
                <a:gd name="connsiteY0" fmla="*/ 1405610 h 6858000"/>
                <a:gd name="connsiteX1" fmla="*/ 553212 w 12188952"/>
                <a:gd name="connsiteY1" fmla="*/ 1709928 h 6858000"/>
                <a:gd name="connsiteX2" fmla="*/ 551868 w 12188952"/>
                <a:gd name="connsiteY2" fmla="*/ 1709928 h 6858000"/>
                <a:gd name="connsiteX3" fmla="*/ 551868 w 12188952"/>
                <a:gd name="connsiteY3" fmla="*/ 6217920 h 6858000"/>
                <a:gd name="connsiteX4" fmla="*/ 553212 w 12188952"/>
                <a:gd name="connsiteY4" fmla="*/ 6217920 h 6858000"/>
                <a:gd name="connsiteX5" fmla="*/ 11635740 w 12188952"/>
                <a:gd name="connsiteY5" fmla="*/ 6217920 h 6858000"/>
                <a:gd name="connsiteX6" fmla="*/ 11636196 w 12188952"/>
                <a:gd name="connsiteY6" fmla="*/ 6217920 h 6858000"/>
                <a:gd name="connsiteX7" fmla="*/ 11636196 w 12188952"/>
                <a:gd name="connsiteY7" fmla="*/ 1709928 h 6858000"/>
                <a:gd name="connsiteX8" fmla="*/ 11635740 w 12188952"/>
                <a:gd name="connsiteY8" fmla="*/ 1709928 h 6858000"/>
                <a:gd name="connsiteX9" fmla="*/ 11635740 w 12188952"/>
                <a:gd name="connsiteY9" fmla="*/ 1405610 h 6858000"/>
                <a:gd name="connsiteX10" fmla="*/ 0 w 12188952"/>
                <a:gd name="connsiteY10" fmla="*/ 0 h 6858000"/>
                <a:gd name="connsiteX11" fmla="*/ 12188952 w 12188952"/>
                <a:gd name="connsiteY11" fmla="*/ 0 h 6858000"/>
                <a:gd name="connsiteX12" fmla="*/ 12188952 w 12188952"/>
                <a:gd name="connsiteY12" fmla="*/ 6858000 h 6858000"/>
                <a:gd name="connsiteX13" fmla="*/ 0 w 12188952"/>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8952" h="6858000">
                  <a:moveTo>
                    <a:pt x="553212" y="1405610"/>
                  </a:moveTo>
                  <a:lnTo>
                    <a:pt x="553212" y="1709928"/>
                  </a:lnTo>
                  <a:lnTo>
                    <a:pt x="551868" y="1709928"/>
                  </a:lnTo>
                  <a:lnTo>
                    <a:pt x="551868" y="6217920"/>
                  </a:lnTo>
                  <a:lnTo>
                    <a:pt x="553212" y="6217920"/>
                  </a:lnTo>
                  <a:lnTo>
                    <a:pt x="11635740" y="6217920"/>
                  </a:lnTo>
                  <a:lnTo>
                    <a:pt x="11636196" y="6217920"/>
                  </a:lnTo>
                  <a:lnTo>
                    <a:pt x="11636196" y="1709928"/>
                  </a:lnTo>
                  <a:lnTo>
                    <a:pt x="11635740" y="1709928"/>
                  </a:lnTo>
                  <a:lnTo>
                    <a:pt x="11635740" y="1405610"/>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rtl="0"/>
              <a:endParaRPr lang="en-CA">
                <a:solidFill>
                  <a:schemeClr val="tx1"/>
                </a:solidFill>
                <a:latin typeface="+mn-lt"/>
              </a:endParaRPr>
            </a:p>
          </p:txBody>
        </p:sp>
        <p:cxnSp>
          <p:nvCxnSpPr>
            <p:cNvPr id="173" name="Straight Connector 172">
              <a:extLst>
                <a:ext uri="{FF2B5EF4-FFF2-40B4-BE49-F238E27FC236}">
                  <a16:creationId xmlns:a16="http://schemas.microsoft.com/office/drawing/2014/main" id="{77ABF7BA-0428-4141-8351-03A2727DECBD}"/>
                </a:ext>
              </a:extLst>
            </p:cNvPr>
            <p:cNvCxnSpPr/>
            <p:nvPr/>
          </p:nvCxnSpPr>
          <p:spPr bwMode="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4EB93D9-2FE5-4212-8DB4-7A0327E33766}"/>
                </a:ext>
              </a:extLst>
            </p:cNvPr>
            <p:cNvCxnSpPr/>
            <p:nvPr/>
          </p:nvCxnSpPr>
          <p:spPr bwMode="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C2F34081-E688-4287-A553-264328F1E1E1}"/>
                </a:ext>
              </a:extLst>
            </p:cNvPr>
            <p:cNvCxnSpPr/>
            <p:nvPr/>
          </p:nvCxnSpPr>
          <p:spPr bwMode="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868CDEE-044B-4D04-A5D3-6A526BE51179}"/>
                </a:ext>
              </a:extLst>
            </p:cNvPr>
            <p:cNvCxnSpPr/>
            <p:nvPr/>
          </p:nvCxnSpPr>
          <p:spPr bwMode="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100C653-5CFA-4B3C-BD97-47499B419B53}"/>
                </a:ext>
              </a:extLst>
            </p:cNvPr>
            <p:cNvCxnSpPr/>
            <p:nvPr/>
          </p:nvCxnSpPr>
          <p:spPr bwMode="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21F5AB2-1154-4ACD-832F-CB2539EE783F}"/>
                </a:ext>
              </a:extLst>
            </p:cNvPr>
            <p:cNvCxnSpPr/>
            <p:nvPr/>
          </p:nvCxnSpPr>
          <p:spPr bwMode="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466910D2-AFA9-4FD1-8D04-D99BB3645452}"/>
                </a:ext>
              </a:extLst>
            </p:cNvPr>
            <p:cNvCxnSpPr/>
            <p:nvPr/>
          </p:nvCxnSpPr>
          <p:spPr bwMode="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769A11B-0399-4716-A212-6F179313A427}"/>
                </a:ext>
              </a:extLst>
            </p:cNvPr>
            <p:cNvCxnSpPr/>
            <p:nvPr/>
          </p:nvCxnSpPr>
          <p:spPr bwMode="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CB3272D-021B-49B8-92A5-D1DEB3202AE0}"/>
                </a:ext>
              </a:extLst>
            </p:cNvPr>
            <p:cNvCxnSpPr/>
            <p:nvPr/>
          </p:nvCxnSpPr>
          <p:spPr bwMode="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61701AE9-04C5-4AD4-8DEE-873680FD231F}"/>
                </a:ext>
              </a:extLst>
            </p:cNvPr>
            <p:cNvCxnSpPr/>
            <p:nvPr/>
          </p:nvCxnSpPr>
          <p:spPr bwMode="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4050D91B-89C3-45DE-BE0C-1430E2BE6F4B}"/>
                </a:ext>
              </a:extLst>
            </p:cNvPr>
            <p:cNvCxnSpPr/>
            <p:nvPr/>
          </p:nvCxnSpPr>
          <p:spPr bwMode="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8E5EF5D-0D94-4FCE-8BE2-F0790F7B1879}"/>
                </a:ext>
              </a:extLst>
            </p:cNvPr>
            <p:cNvCxnSpPr/>
            <p:nvPr/>
          </p:nvCxnSpPr>
          <p:spPr bwMode="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03" name="Freeform: Shape 202">
              <a:extLst>
                <a:ext uri="{FF2B5EF4-FFF2-40B4-BE49-F238E27FC236}">
                  <a16:creationId xmlns:a16="http://schemas.microsoft.com/office/drawing/2014/main" id="{205F8351-710E-49E9-A523-EA0755B417C5}"/>
                </a:ext>
              </a:extLst>
            </p:cNvPr>
            <p:cNvSpPr/>
            <p:nvPr/>
          </p:nvSpPr>
          <p:spPr bwMode="gray">
            <a:xfrm>
              <a:off x="1524" y="0"/>
              <a:ext cx="379314"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4" name="Freeform: Shape 203">
              <a:extLst>
                <a:ext uri="{FF2B5EF4-FFF2-40B4-BE49-F238E27FC236}">
                  <a16:creationId xmlns:a16="http://schemas.microsoft.com/office/drawing/2014/main" id="{47C1C31B-A122-4A09-9500-27B0684B272F}"/>
                </a:ext>
              </a:extLst>
            </p:cNvPr>
            <p:cNvSpPr/>
            <p:nvPr/>
          </p:nvSpPr>
          <p:spPr bwMode="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5" name="Freeform: Shape 204">
              <a:extLst>
                <a:ext uri="{FF2B5EF4-FFF2-40B4-BE49-F238E27FC236}">
                  <a16:creationId xmlns:a16="http://schemas.microsoft.com/office/drawing/2014/main" id="{7DF86859-7D4B-4DA1-91AA-0992644F5903}"/>
                </a:ext>
              </a:extLst>
            </p:cNvPr>
            <p:cNvSpPr/>
            <p:nvPr/>
          </p:nvSpPr>
          <p:spPr bwMode="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6" name="Freeform: Shape 205">
              <a:extLst>
                <a:ext uri="{FF2B5EF4-FFF2-40B4-BE49-F238E27FC236}">
                  <a16:creationId xmlns:a16="http://schemas.microsoft.com/office/drawing/2014/main" id="{3DC3E9CA-569C-4414-A75A-C805A4A40B64}"/>
                </a:ext>
              </a:extLst>
            </p:cNvPr>
            <p:cNvSpPr/>
            <p:nvPr/>
          </p:nvSpPr>
          <p:spPr bwMode="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7" name="Freeform: Shape 206">
              <a:extLst>
                <a:ext uri="{FF2B5EF4-FFF2-40B4-BE49-F238E27FC236}">
                  <a16:creationId xmlns:a16="http://schemas.microsoft.com/office/drawing/2014/main" id="{B532C466-D8D3-43AC-995C-2B54885AC096}"/>
                </a:ext>
              </a:extLst>
            </p:cNvPr>
            <p:cNvSpPr/>
            <p:nvPr/>
          </p:nvSpPr>
          <p:spPr bwMode="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8" name="Freeform: Shape 207">
              <a:extLst>
                <a:ext uri="{FF2B5EF4-FFF2-40B4-BE49-F238E27FC236}">
                  <a16:creationId xmlns:a16="http://schemas.microsoft.com/office/drawing/2014/main" id="{B0920AE1-B909-471F-9E77-7C3A31509F84}"/>
                </a:ext>
              </a:extLst>
            </p:cNvPr>
            <p:cNvSpPr/>
            <p:nvPr/>
          </p:nvSpPr>
          <p:spPr bwMode="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9" name="Freeform: Shape 208">
              <a:extLst>
                <a:ext uri="{FF2B5EF4-FFF2-40B4-BE49-F238E27FC236}">
                  <a16:creationId xmlns:a16="http://schemas.microsoft.com/office/drawing/2014/main" id="{2A1E8190-F3C6-4BF7-97E3-90F3FC84746E}"/>
                </a:ext>
              </a:extLst>
            </p:cNvPr>
            <p:cNvSpPr/>
            <p:nvPr/>
          </p:nvSpPr>
          <p:spPr bwMode="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0" name="Freeform: Shape 209">
              <a:extLst>
                <a:ext uri="{FF2B5EF4-FFF2-40B4-BE49-F238E27FC236}">
                  <a16:creationId xmlns:a16="http://schemas.microsoft.com/office/drawing/2014/main" id="{33B1FC28-C9D6-4928-BCCE-9873C7DEEFDE}"/>
                </a:ext>
              </a:extLst>
            </p:cNvPr>
            <p:cNvSpPr/>
            <p:nvPr/>
          </p:nvSpPr>
          <p:spPr bwMode="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1" name="Freeform: Shape 210">
              <a:extLst>
                <a:ext uri="{FF2B5EF4-FFF2-40B4-BE49-F238E27FC236}">
                  <a16:creationId xmlns:a16="http://schemas.microsoft.com/office/drawing/2014/main" id="{13C9C1F2-E745-44A5-AEA3-9DE0D69F2B15}"/>
                </a:ext>
              </a:extLst>
            </p:cNvPr>
            <p:cNvSpPr/>
            <p:nvPr/>
          </p:nvSpPr>
          <p:spPr bwMode="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2" name="Freeform: Shape 211">
              <a:extLst>
                <a:ext uri="{FF2B5EF4-FFF2-40B4-BE49-F238E27FC236}">
                  <a16:creationId xmlns:a16="http://schemas.microsoft.com/office/drawing/2014/main" id="{3F7DB9B8-09EF-46A7-9839-EE0FA8E11651}"/>
                </a:ext>
              </a:extLst>
            </p:cNvPr>
            <p:cNvSpPr/>
            <p:nvPr/>
          </p:nvSpPr>
          <p:spPr bwMode="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3" name="Freeform: Shape 212">
              <a:extLst>
                <a:ext uri="{FF2B5EF4-FFF2-40B4-BE49-F238E27FC236}">
                  <a16:creationId xmlns:a16="http://schemas.microsoft.com/office/drawing/2014/main" id="{759DC929-939A-40DF-96D2-82427AD8E191}"/>
                </a:ext>
              </a:extLst>
            </p:cNvPr>
            <p:cNvSpPr/>
            <p:nvPr/>
          </p:nvSpPr>
          <p:spPr bwMode="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4" name="Freeform: Shape 213">
              <a:extLst>
                <a:ext uri="{FF2B5EF4-FFF2-40B4-BE49-F238E27FC236}">
                  <a16:creationId xmlns:a16="http://schemas.microsoft.com/office/drawing/2014/main" id="{71E475EA-3BCA-4BD2-9129-0A15F92784B0}"/>
                </a:ext>
              </a:extLst>
            </p:cNvPr>
            <p:cNvSpPr/>
            <p:nvPr/>
          </p:nvSpPr>
          <p:spPr bwMode="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5" name="Freeform: Shape 214">
              <a:extLst>
                <a:ext uri="{FF2B5EF4-FFF2-40B4-BE49-F238E27FC236}">
                  <a16:creationId xmlns:a16="http://schemas.microsoft.com/office/drawing/2014/main" id="{B58358D8-4286-4ED9-A0FF-82879D8C9183}"/>
                </a:ext>
              </a:extLst>
            </p:cNvPr>
            <p:cNvSpPr/>
            <p:nvPr/>
          </p:nvSpPr>
          <p:spPr bwMode="gray">
            <a:xfrm>
              <a:off x="11811162" y="0"/>
              <a:ext cx="379314"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6" name="Freeform: Shape 215">
              <a:extLst>
                <a:ext uri="{FF2B5EF4-FFF2-40B4-BE49-F238E27FC236}">
                  <a16:creationId xmlns:a16="http://schemas.microsoft.com/office/drawing/2014/main" id="{07E8672D-5A21-4EE8-8FA5-FBB35E3AF6F8}"/>
                </a:ext>
              </a:extLst>
            </p:cNvPr>
            <p:cNvSpPr/>
            <p:nvPr/>
          </p:nvSpPr>
          <p:spPr bwMode="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7" name="Freeform: Shape 216">
              <a:extLst>
                <a:ext uri="{FF2B5EF4-FFF2-40B4-BE49-F238E27FC236}">
                  <a16:creationId xmlns:a16="http://schemas.microsoft.com/office/drawing/2014/main" id="{FA059A59-9BBE-4F86-862A-48E139D1EE64}"/>
                </a:ext>
              </a:extLst>
            </p:cNvPr>
            <p:cNvSpPr/>
            <p:nvPr userDrawn="1"/>
          </p:nvSpPr>
          <p:spPr bwMode="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8" name="Freeform: Shape 217">
              <a:extLst>
                <a:ext uri="{FF2B5EF4-FFF2-40B4-BE49-F238E27FC236}">
                  <a16:creationId xmlns:a16="http://schemas.microsoft.com/office/drawing/2014/main" id="{55CF5402-4FC2-4420-ABC5-BBFA3EA9D203}"/>
                </a:ext>
              </a:extLst>
            </p:cNvPr>
            <p:cNvSpPr/>
            <p:nvPr userDrawn="1"/>
          </p:nvSpPr>
          <p:spPr bwMode="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9" name="Freeform: Shape 218">
              <a:extLst>
                <a:ext uri="{FF2B5EF4-FFF2-40B4-BE49-F238E27FC236}">
                  <a16:creationId xmlns:a16="http://schemas.microsoft.com/office/drawing/2014/main" id="{10BB1258-8102-4E47-BE2F-816FBB6BA408}"/>
                </a:ext>
              </a:extLst>
            </p:cNvPr>
            <p:cNvSpPr/>
            <p:nvPr userDrawn="1"/>
          </p:nvSpPr>
          <p:spPr bwMode="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0" name="Freeform: Shape 219">
              <a:extLst>
                <a:ext uri="{FF2B5EF4-FFF2-40B4-BE49-F238E27FC236}">
                  <a16:creationId xmlns:a16="http://schemas.microsoft.com/office/drawing/2014/main" id="{B270BD53-6742-47F1-853C-FA770237F3FD}"/>
                </a:ext>
              </a:extLst>
            </p:cNvPr>
            <p:cNvSpPr/>
            <p:nvPr userDrawn="1"/>
          </p:nvSpPr>
          <p:spPr bwMode="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1" name="Freeform: Shape 220">
              <a:extLst>
                <a:ext uri="{FF2B5EF4-FFF2-40B4-BE49-F238E27FC236}">
                  <a16:creationId xmlns:a16="http://schemas.microsoft.com/office/drawing/2014/main" id="{3395B319-4702-4CD9-838C-C0612B6879BC}"/>
                </a:ext>
              </a:extLst>
            </p:cNvPr>
            <p:cNvSpPr/>
            <p:nvPr userDrawn="1"/>
          </p:nvSpPr>
          <p:spPr bwMode="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2" name="Freeform: Shape 221">
              <a:extLst>
                <a:ext uri="{FF2B5EF4-FFF2-40B4-BE49-F238E27FC236}">
                  <a16:creationId xmlns:a16="http://schemas.microsoft.com/office/drawing/2014/main" id="{AE5E70F1-247D-4F01-A473-C5A9226BCADC}"/>
                </a:ext>
              </a:extLst>
            </p:cNvPr>
            <p:cNvSpPr/>
            <p:nvPr userDrawn="1"/>
          </p:nvSpPr>
          <p:spPr bwMode="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3" name="Freeform: Shape 222">
              <a:extLst>
                <a:ext uri="{FF2B5EF4-FFF2-40B4-BE49-F238E27FC236}">
                  <a16:creationId xmlns:a16="http://schemas.microsoft.com/office/drawing/2014/main" id="{732858E4-B133-4A91-9BCA-BF80F093194A}"/>
                </a:ext>
              </a:extLst>
            </p:cNvPr>
            <p:cNvSpPr/>
            <p:nvPr userDrawn="1"/>
          </p:nvSpPr>
          <p:spPr bwMode="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4" name="Freeform: Shape 223">
              <a:extLst>
                <a:ext uri="{FF2B5EF4-FFF2-40B4-BE49-F238E27FC236}">
                  <a16:creationId xmlns:a16="http://schemas.microsoft.com/office/drawing/2014/main" id="{027DED92-EF7A-4687-A1A4-BDAA2F1EAF12}"/>
                </a:ext>
              </a:extLst>
            </p:cNvPr>
            <p:cNvSpPr/>
            <p:nvPr userDrawn="1"/>
          </p:nvSpPr>
          <p:spPr bwMode="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5" name="Freeform: Shape 224">
              <a:extLst>
                <a:ext uri="{FF2B5EF4-FFF2-40B4-BE49-F238E27FC236}">
                  <a16:creationId xmlns:a16="http://schemas.microsoft.com/office/drawing/2014/main" id="{53D72483-35F2-49AC-989D-0E1BC8456803}"/>
                </a:ext>
              </a:extLst>
            </p:cNvPr>
            <p:cNvSpPr/>
            <p:nvPr userDrawn="1"/>
          </p:nvSpPr>
          <p:spPr bwMode="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6" name="Freeform: Shape 225">
              <a:extLst>
                <a:ext uri="{FF2B5EF4-FFF2-40B4-BE49-F238E27FC236}">
                  <a16:creationId xmlns:a16="http://schemas.microsoft.com/office/drawing/2014/main" id="{2DD2F54E-53A3-49F6-905E-B0F8E1348C8E}"/>
                </a:ext>
              </a:extLst>
            </p:cNvPr>
            <p:cNvSpPr/>
            <p:nvPr userDrawn="1"/>
          </p:nvSpPr>
          <p:spPr bwMode="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cxnSp>
          <p:nvCxnSpPr>
            <p:cNvPr id="227" name="Straight Connector 226">
              <a:extLst>
                <a:ext uri="{FF2B5EF4-FFF2-40B4-BE49-F238E27FC236}">
                  <a16:creationId xmlns:a16="http://schemas.microsoft.com/office/drawing/2014/main" id="{557A01EE-7FB2-4BA0-B35A-2F95546E4624}"/>
                </a:ext>
              </a:extLst>
            </p:cNvPr>
            <p:cNvCxnSpPr/>
            <p:nvPr userDrawn="1"/>
          </p:nvCxnSpPr>
          <p:spPr bwMode="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7FC1C45B-2B29-4A42-8D4B-721F68CA1348}"/>
                </a:ext>
              </a:extLst>
            </p:cNvPr>
            <p:cNvCxnSpPr/>
            <p:nvPr userDrawn="1"/>
          </p:nvCxnSpPr>
          <p:spPr bwMode="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1A27E92-9270-4990-A7E0-13762B5DCF31}"/>
                </a:ext>
              </a:extLst>
            </p:cNvPr>
            <p:cNvCxnSpPr/>
            <p:nvPr userDrawn="1"/>
          </p:nvCxnSpPr>
          <p:spPr bwMode="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9F46154D-791B-4F7D-8E1C-E15CD03A29AA}"/>
                </a:ext>
              </a:extLst>
            </p:cNvPr>
            <p:cNvCxnSpPr/>
            <p:nvPr userDrawn="1"/>
          </p:nvCxnSpPr>
          <p:spPr bwMode="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C9B4B757-25C9-484E-A4FE-A49FBA3319A4}"/>
                </a:ext>
              </a:extLst>
            </p:cNvPr>
            <p:cNvCxnSpPr/>
            <p:nvPr userDrawn="1"/>
          </p:nvCxnSpPr>
          <p:spPr bwMode="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75535B4E-91AD-45A5-B3C9-3699892DFD15}"/>
                </a:ext>
              </a:extLst>
            </p:cNvPr>
            <p:cNvCxnSpPr/>
            <p:nvPr userDrawn="1"/>
          </p:nvCxnSpPr>
          <p:spPr bwMode="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BB8DA04A-5D80-45BB-8266-4A4ECB242742}"/>
                </a:ext>
              </a:extLst>
            </p:cNvPr>
            <p:cNvCxnSpPr/>
            <p:nvPr userDrawn="1"/>
          </p:nvCxnSpPr>
          <p:spPr bwMode="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5E52966-F7BC-421A-9050-FFBE6C9FDFFC}"/>
                </a:ext>
              </a:extLst>
            </p:cNvPr>
            <p:cNvCxnSpPr/>
            <p:nvPr userDrawn="1"/>
          </p:nvCxnSpPr>
          <p:spPr bwMode="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27183FD6-ADDC-4DBA-AD69-7D5A08920C83}"/>
                </a:ext>
              </a:extLst>
            </p:cNvPr>
            <p:cNvCxnSpPr/>
            <p:nvPr userDrawn="1"/>
          </p:nvCxnSpPr>
          <p:spPr bwMode="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3B1C3B52-250A-482D-AE65-9AAC3A76868D}"/>
                </a:ext>
              </a:extLst>
            </p:cNvPr>
            <p:cNvCxnSpPr/>
            <p:nvPr userDrawn="1"/>
          </p:nvCxnSpPr>
          <p:spPr bwMode="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3AB6E369-DE4F-4AA3-9B2B-FD9286DC14EB}"/>
                </a:ext>
              </a:extLst>
            </p:cNvPr>
            <p:cNvCxnSpPr/>
            <p:nvPr userDrawn="1"/>
          </p:nvCxnSpPr>
          <p:spPr bwMode="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02D96B38-98DE-4984-BD84-08887A144206}"/>
                </a:ext>
              </a:extLst>
            </p:cNvPr>
            <p:cNvCxnSpPr/>
            <p:nvPr userDrawn="1"/>
          </p:nvCxnSpPr>
          <p:spPr bwMode="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2A47B8B7-112A-4075-B20A-90A845CE256B}"/>
                </a:ext>
              </a:extLst>
            </p:cNvPr>
            <p:cNvCxnSpPr/>
            <p:nvPr userDrawn="1"/>
          </p:nvCxnSpPr>
          <p:spPr bwMode="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FEBE3CB-E087-4212-96D5-920E5C903EF2}"/>
                </a:ext>
              </a:extLst>
            </p:cNvPr>
            <p:cNvCxnSpPr/>
            <p:nvPr userDrawn="1"/>
          </p:nvCxnSpPr>
          <p:spPr bwMode="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686B76C-7301-4C4A-B5BE-0AFF241FAEB0}"/>
                </a:ext>
              </a:extLst>
            </p:cNvPr>
            <p:cNvCxnSpPr/>
            <p:nvPr userDrawn="1"/>
          </p:nvCxnSpPr>
          <p:spPr bwMode="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2B029B6E-808D-40CF-A2D1-AADA131A0D00}"/>
                </a:ext>
              </a:extLst>
            </p:cNvPr>
            <p:cNvCxnSpPr/>
            <p:nvPr userDrawn="1"/>
          </p:nvCxnSpPr>
          <p:spPr bwMode="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705E053-FBF3-4534-A74B-EC16CC92EE77}"/>
                </a:ext>
              </a:extLst>
            </p:cNvPr>
            <p:cNvCxnSpPr/>
            <p:nvPr userDrawn="1"/>
          </p:nvCxnSpPr>
          <p:spPr bwMode="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E0E44BE-C4B0-46A9-A59B-A43157B927C1}"/>
                </a:ext>
              </a:extLst>
            </p:cNvPr>
            <p:cNvCxnSpPr/>
            <p:nvPr userDrawn="1"/>
          </p:nvCxnSpPr>
          <p:spPr bwMode="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B09A95B-D404-461F-A093-7C895E3A741F}"/>
                </a:ext>
              </a:extLst>
            </p:cNvPr>
            <p:cNvCxnSpPr/>
            <p:nvPr userDrawn="1"/>
          </p:nvCxnSpPr>
          <p:spPr bwMode="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79A7095-2656-44EB-B0A3-4271C7264720}"/>
                </a:ext>
              </a:extLst>
            </p:cNvPr>
            <p:cNvCxnSpPr/>
            <p:nvPr userDrawn="1"/>
          </p:nvCxnSpPr>
          <p:spPr bwMode="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BA4BC595-5B69-4C71-A5EC-2940C48186D2}"/>
                </a:ext>
              </a:extLst>
            </p:cNvPr>
            <p:cNvCxnSpPr/>
            <p:nvPr userDrawn="1"/>
          </p:nvCxnSpPr>
          <p:spPr bwMode="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97474A32-631C-4FA8-B250-D9C17610DA92}"/>
                </a:ext>
              </a:extLst>
            </p:cNvPr>
            <p:cNvCxnSpPr/>
            <p:nvPr userDrawn="1"/>
          </p:nvCxnSpPr>
          <p:spPr bwMode="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FA397D1-2FFD-4719-93E4-17828F08EC1D}"/>
                </a:ext>
              </a:extLst>
            </p:cNvPr>
            <p:cNvCxnSpPr/>
            <p:nvPr userDrawn="1"/>
          </p:nvCxnSpPr>
          <p:spPr bwMode="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12CDBCAF-60C0-40A4-97EA-7B190F17D13D}"/>
                </a:ext>
              </a:extLst>
            </p:cNvPr>
            <p:cNvCxnSpPr/>
            <p:nvPr userDrawn="1"/>
          </p:nvCxnSpPr>
          <p:spPr bwMode="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88614279-F6F1-4779-A908-BEF080C471AB}"/>
                </a:ext>
              </a:extLst>
            </p:cNvPr>
            <p:cNvCxnSpPr/>
            <p:nvPr userDrawn="1"/>
          </p:nvCxnSpPr>
          <p:spPr bwMode="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77A8DFC-FE4B-4B06-8AEF-607F9AEE764E}"/>
                </a:ext>
              </a:extLst>
            </p:cNvPr>
            <p:cNvCxnSpPr/>
            <p:nvPr userDrawn="1"/>
          </p:nvCxnSpPr>
          <p:spPr bwMode="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942E819A-5DA8-4032-B3EB-D10DC14D6C84}"/>
                </a:ext>
              </a:extLst>
            </p:cNvPr>
            <p:cNvCxnSpPr/>
            <p:nvPr userDrawn="1"/>
          </p:nvCxnSpPr>
          <p:spPr bwMode="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912236D-CA1F-4315-989A-12010EB46505}"/>
                </a:ext>
              </a:extLst>
            </p:cNvPr>
            <p:cNvCxnSpPr/>
            <p:nvPr userDrawn="1"/>
          </p:nvCxnSpPr>
          <p:spPr bwMode="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44ED2ACF-C68A-42CC-A632-CD03AB2544F3}"/>
                </a:ext>
              </a:extLst>
            </p:cNvPr>
            <p:cNvCxnSpPr/>
            <p:nvPr userDrawn="1"/>
          </p:nvCxnSpPr>
          <p:spPr bwMode="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A8F039F-D473-4D39-8AC6-81810B219B3E}"/>
                </a:ext>
              </a:extLst>
            </p:cNvPr>
            <p:cNvCxnSpPr/>
            <p:nvPr userDrawn="1"/>
          </p:nvCxnSpPr>
          <p:spPr bwMode="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BA241E12-AAE1-45D8-9D67-A8007269A3E0}"/>
                </a:ext>
              </a:extLst>
            </p:cNvPr>
            <p:cNvCxnSpPr/>
            <p:nvPr userDrawn="1"/>
          </p:nvCxnSpPr>
          <p:spPr bwMode="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B3D829D9-0D54-4FB5-9FD5-512316CE5897}"/>
                </a:ext>
              </a:extLst>
            </p:cNvPr>
            <p:cNvCxnSpPr/>
            <p:nvPr userDrawn="1"/>
          </p:nvCxnSpPr>
          <p:spPr bwMode="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6DCAEE40-53ED-4281-A3F1-ACB0AA93B7BD}"/>
                </a:ext>
              </a:extLst>
            </p:cNvPr>
            <p:cNvCxnSpPr/>
            <p:nvPr userDrawn="1"/>
          </p:nvCxnSpPr>
          <p:spPr bwMode="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16D3477-104A-45EC-ABA6-46CC43BAB1CA}"/>
                </a:ext>
              </a:extLst>
            </p:cNvPr>
            <p:cNvCxnSpPr/>
            <p:nvPr userDrawn="1"/>
          </p:nvCxnSpPr>
          <p:spPr bwMode="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5EC7B04-40CF-4499-BF37-9874AB2E42BC}"/>
                </a:ext>
              </a:extLst>
            </p:cNvPr>
            <p:cNvCxnSpPr/>
            <p:nvPr userDrawn="1"/>
          </p:nvCxnSpPr>
          <p:spPr bwMode="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A1B7D422-DF11-439B-AA7B-5AE071A4C7DC}"/>
                </a:ext>
              </a:extLst>
            </p:cNvPr>
            <p:cNvCxnSpPr/>
            <p:nvPr userDrawn="1"/>
          </p:nvCxnSpPr>
          <p:spPr bwMode="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21103B97-22A5-4A41-A8B4-4FBC1AB3251F}"/>
                </a:ext>
              </a:extLst>
            </p:cNvPr>
            <p:cNvCxnSpPr/>
            <p:nvPr userDrawn="1"/>
          </p:nvCxnSpPr>
          <p:spPr bwMode="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06654E2-EE76-422E-8306-19CDD004E451}"/>
                </a:ext>
              </a:extLst>
            </p:cNvPr>
            <p:cNvCxnSpPr/>
            <p:nvPr userDrawn="1"/>
          </p:nvCxnSpPr>
          <p:spPr bwMode="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61A46DB1-E3F1-48B8-8CD6-686C08337E3D}"/>
                </a:ext>
              </a:extLst>
            </p:cNvPr>
            <p:cNvCxnSpPr/>
            <p:nvPr userDrawn="1"/>
          </p:nvCxnSpPr>
          <p:spPr bwMode="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7EB58E3-EE98-4C63-A5FA-31A1F31261BD}"/>
                </a:ext>
              </a:extLst>
            </p:cNvPr>
            <p:cNvCxnSpPr/>
            <p:nvPr userDrawn="1"/>
          </p:nvCxnSpPr>
          <p:spPr bwMode="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FDF83986-66A6-442D-9688-89B353D5848C}"/>
                </a:ext>
              </a:extLst>
            </p:cNvPr>
            <p:cNvCxnSpPr/>
            <p:nvPr userDrawn="1"/>
          </p:nvCxnSpPr>
          <p:spPr bwMode="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C32EE19-D046-4DA8-83C8-C7090C2032B7}"/>
                </a:ext>
              </a:extLst>
            </p:cNvPr>
            <p:cNvCxnSpPr/>
            <p:nvPr userDrawn="1"/>
          </p:nvCxnSpPr>
          <p:spPr bwMode="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E9073FA-D009-4B43-AE1C-76B2371EDB72}"/>
                </a:ext>
              </a:extLst>
            </p:cNvPr>
            <p:cNvCxnSpPr/>
            <p:nvPr userDrawn="1"/>
          </p:nvCxnSpPr>
          <p:spPr bwMode="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A37EEEBC-9035-46B4-859D-8637EB5F71E7}"/>
                </a:ext>
              </a:extLst>
            </p:cNvPr>
            <p:cNvCxnSpPr/>
            <p:nvPr userDrawn="1"/>
          </p:nvCxnSpPr>
          <p:spPr bwMode="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71" name="main body box">
              <a:extLst>
                <a:ext uri="{FF2B5EF4-FFF2-40B4-BE49-F238E27FC236}">
                  <a16:creationId xmlns:a16="http://schemas.microsoft.com/office/drawing/2014/main" id="{5A4E68D2-98C2-4107-A058-DD36C69DD1BD}"/>
                </a:ext>
              </a:extLst>
            </p:cNvPr>
            <p:cNvSpPr/>
            <p:nvPr userDrawn="1"/>
          </p:nvSpPr>
          <p:spPr bwMode="gray">
            <a:xfrm>
              <a:off x="380838" y="1863436"/>
              <a:ext cx="11424066" cy="4354484"/>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CA" sz="1323">
                <a:solidFill>
                  <a:schemeClr val="tx1"/>
                </a:solidFill>
                <a:latin typeface="+mn-lt"/>
              </a:endParaRPr>
            </a:p>
          </p:txBody>
        </p:sp>
        <p:cxnSp>
          <p:nvCxnSpPr>
            <p:cNvPr id="272" name="Straight Connector 271">
              <a:extLst>
                <a:ext uri="{FF2B5EF4-FFF2-40B4-BE49-F238E27FC236}">
                  <a16:creationId xmlns:a16="http://schemas.microsoft.com/office/drawing/2014/main" id="{CD320E2E-9A90-4FBD-95ED-547D38976E3C}"/>
                </a:ext>
              </a:extLst>
            </p:cNvPr>
            <p:cNvCxnSpPr>
              <a:cxnSpLocks/>
            </p:cNvCxnSpPr>
            <p:nvPr userDrawn="1"/>
          </p:nvCxnSpPr>
          <p:spPr bwMode="gray">
            <a:xfrm>
              <a:off x="380838" y="2331408"/>
              <a:ext cx="11424066" cy="0"/>
            </a:xfrm>
            <a:prstGeom prst="line">
              <a:avLst/>
            </a:prstGeom>
            <a:noFill/>
            <a:ln w="12700">
              <a:solidFill>
                <a:srgbClr val="19D3C5">
                  <a:alpha val="50000"/>
                </a:srgbClr>
              </a:solidFill>
            </a:ln>
          </p:spPr>
        </p:cxnSp>
        <p:cxnSp>
          <p:nvCxnSpPr>
            <p:cNvPr id="273" name="Straight Connector 272">
              <a:extLst>
                <a:ext uri="{FF2B5EF4-FFF2-40B4-BE49-F238E27FC236}">
                  <a16:creationId xmlns:a16="http://schemas.microsoft.com/office/drawing/2014/main" id="{70454B89-8DFA-4EF3-83A9-38CF648F4CD1}"/>
                </a:ext>
              </a:extLst>
            </p:cNvPr>
            <p:cNvCxnSpPr>
              <a:cxnSpLocks/>
            </p:cNvCxnSpPr>
            <p:nvPr userDrawn="1"/>
          </p:nvCxnSpPr>
          <p:spPr bwMode="gray">
            <a:xfrm>
              <a:off x="380838" y="1860735"/>
              <a:ext cx="11424066" cy="0"/>
            </a:xfrm>
            <a:prstGeom prst="line">
              <a:avLst/>
            </a:prstGeom>
            <a:noFill/>
            <a:ln w="12700">
              <a:solidFill>
                <a:srgbClr val="19D3C5">
                  <a:alpha val="50000"/>
                </a:srgbClr>
              </a:solidFill>
            </a:ln>
          </p:spPr>
        </p:cxnSp>
      </p:gr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4"/>
            </p:custDataLst>
          </p:nvPr>
        </p:nvSpPr>
        <p:spPr>
          <a:xfrm>
            <a:off x="384048" y="624643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t"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CA"/>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5"/>
            </p:custDataLst>
          </p:nvPr>
        </p:nvSpPr>
        <p:spPr>
          <a:xfrm>
            <a:off x="384048" y="474575"/>
            <a:ext cx="114208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p>
            <a:pPr lvl="0"/>
            <a:r>
              <a:rPr lang="en-US"/>
              <a:t>Click to edit Master title style</a:t>
            </a:r>
            <a:endParaRPr lang="en-CA"/>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6"/>
            </p:custDataLst>
          </p:nvPr>
        </p:nvSpPr>
        <p:spPr>
          <a:xfrm>
            <a:off x="5987738" y="2343981"/>
            <a:ext cx="3049253" cy="53860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CA"/>
              <a:t>Above Chart Exhibit Title</a:t>
            </a:r>
          </a:p>
          <a:p>
            <a:pPr lvl="0" rtl="0"/>
            <a:r>
              <a:rPr lang="en-CA" sz="1400"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384048" y="2343981"/>
            <a:ext cx="363337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grpSp>
        <p:nvGrpSpPr>
          <p:cNvPr id="6" name="LegendLines" hidden="1">
            <a:extLst>
              <a:ext uri="{FF2B5EF4-FFF2-40B4-BE49-F238E27FC236}">
                <a16:creationId xmlns:a16="http://schemas.microsoft.com/office/drawing/2014/main" id="{EA234921-0C7A-7D08-2D6F-C793BBB3EDC2}"/>
              </a:ext>
            </a:extLst>
          </p:cNvPr>
          <p:cNvGrpSpPr/>
          <p:nvPr userDrawn="1"/>
        </p:nvGrpSpPr>
        <p:grpSpPr>
          <a:xfrm>
            <a:off x="10317304" y="3355023"/>
            <a:ext cx="1319960" cy="958286"/>
            <a:chOff x="10162879" y="3243772"/>
            <a:chExt cx="1319960" cy="958286"/>
          </a:xfrm>
        </p:grpSpPr>
        <p:sp>
          <p:nvSpPr>
            <p:cNvPr id="7" name="Legend1" hidden="1">
              <a:extLst>
                <a:ext uri="{FF2B5EF4-FFF2-40B4-BE49-F238E27FC236}">
                  <a16:creationId xmlns:a16="http://schemas.microsoft.com/office/drawing/2014/main" id="{F75F3A66-2505-BB0B-5E30-2B59AE049ED6}"/>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8" name="Legend2" hidden="1">
              <a:extLst>
                <a:ext uri="{FF2B5EF4-FFF2-40B4-BE49-F238E27FC236}">
                  <a16:creationId xmlns:a16="http://schemas.microsoft.com/office/drawing/2014/main" id="{358C4D19-7BE3-3BB3-FAD4-14D48A59F3BE}"/>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9" name="Legend3" hidden="1">
              <a:extLst>
                <a:ext uri="{FF2B5EF4-FFF2-40B4-BE49-F238E27FC236}">
                  <a16:creationId xmlns:a16="http://schemas.microsoft.com/office/drawing/2014/main" id="{CAF3D808-9D98-97DF-72B8-70170E035662}"/>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0" name="LineLegend3" hidden="1">
              <a:extLst>
                <a:ext uri="{FF2B5EF4-FFF2-40B4-BE49-F238E27FC236}">
                  <a16:creationId xmlns:a16="http://schemas.microsoft.com/office/drawing/2014/main" id="{6B04EFE2-63A6-8945-2A2C-3B84D8751A5D}"/>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CA" sz="1400" baseline="0">
                <a:ea typeface="+mn-ea"/>
              </a:endParaRPr>
            </a:p>
          </p:txBody>
        </p:sp>
        <p:sp>
          <p:nvSpPr>
            <p:cNvPr id="11" name="LineLegend2" hidden="1">
              <a:extLst>
                <a:ext uri="{FF2B5EF4-FFF2-40B4-BE49-F238E27FC236}">
                  <a16:creationId xmlns:a16="http://schemas.microsoft.com/office/drawing/2014/main" id="{F77F9B09-5D2D-E0CF-5772-62A775EDD085}"/>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CA" sz="1400" baseline="0">
                <a:ea typeface="+mn-ea"/>
              </a:endParaRPr>
            </a:p>
          </p:txBody>
        </p:sp>
        <p:sp>
          <p:nvSpPr>
            <p:cNvPr id="12" name="LineLegend1" hidden="1">
              <a:extLst>
                <a:ext uri="{FF2B5EF4-FFF2-40B4-BE49-F238E27FC236}">
                  <a16:creationId xmlns:a16="http://schemas.microsoft.com/office/drawing/2014/main" id="{54DCC080-16CC-BF91-3814-CBA16AB6AA08}"/>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CA" sz="1400" baseline="0">
                <a:ea typeface="+mn-ea"/>
              </a:endParaRPr>
            </a:p>
          </p:txBody>
        </p:sp>
      </p:grpSp>
      <p:grpSp>
        <p:nvGrpSpPr>
          <p:cNvPr id="13" name="LegendMoons" hidden="1">
            <a:extLst>
              <a:ext uri="{FF2B5EF4-FFF2-40B4-BE49-F238E27FC236}">
                <a16:creationId xmlns:a16="http://schemas.microsoft.com/office/drawing/2014/main" id="{378D6C5F-D742-4C0D-3E03-C353B7610612}"/>
              </a:ext>
            </a:extLst>
          </p:cNvPr>
          <p:cNvGrpSpPr/>
          <p:nvPr userDrawn="1"/>
        </p:nvGrpSpPr>
        <p:grpSpPr>
          <a:xfrm>
            <a:off x="10688315" y="1415983"/>
            <a:ext cx="948949" cy="1731859"/>
            <a:chOff x="7723680" y="1702457"/>
            <a:chExt cx="948949" cy="1731859"/>
          </a:xfrm>
        </p:grpSpPr>
        <p:sp>
          <p:nvSpPr>
            <p:cNvPr id="14" name="Legend1" hidden="1">
              <a:extLst>
                <a:ext uri="{FF2B5EF4-FFF2-40B4-BE49-F238E27FC236}">
                  <a16:creationId xmlns:a16="http://schemas.microsoft.com/office/drawing/2014/main" id="{9A689FE4-E33C-643C-C145-86DF2E5B6FEA}"/>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5" name="Legend2" hidden="1">
              <a:extLst>
                <a:ext uri="{FF2B5EF4-FFF2-40B4-BE49-F238E27FC236}">
                  <a16:creationId xmlns:a16="http://schemas.microsoft.com/office/drawing/2014/main" id="{5F644834-E1B1-AE9E-8F4B-2D0E93160992}"/>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7" name="Legend3" hidden="1">
              <a:extLst>
                <a:ext uri="{FF2B5EF4-FFF2-40B4-BE49-F238E27FC236}">
                  <a16:creationId xmlns:a16="http://schemas.microsoft.com/office/drawing/2014/main" id="{A23E1154-0A6D-CFBB-2E14-254C48F0D565}"/>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8" name="Legend4" hidden="1">
              <a:extLst>
                <a:ext uri="{FF2B5EF4-FFF2-40B4-BE49-F238E27FC236}">
                  <a16:creationId xmlns:a16="http://schemas.microsoft.com/office/drawing/2014/main" id="{B18A95FD-16A0-0AF4-4314-984414461C41}"/>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9" name="Legend5" hidden="1">
              <a:extLst>
                <a:ext uri="{FF2B5EF4-FFF2-40B4-BE49-F238E27FC236}">
                  <a16:creationId xmlns:a16="http://schemas.microsoft.com/office/drawing/2014/main" id="{EE5062ED-1CAC-5382-7D75-A509E4F6C6D1}"/>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grpSp>
          <p:nvGrpSpPr>
            <p:cNvPr id="20" name="MoonLegend1" hidden="1">
              <a:extLst>
                <a:ext uri="{FF2B5EF4-FFF2-40B4-BE49-F238E27FC236}">
                  <a16:creationId xmlns:a16="http://schemas.microsoft.com/office/drawing/2014/main" id="{2CD292D8-4EE9-4E74-66B8-B57BB644EF4D}"/>
                </a:ext>
              </a:extLst>
            </p:cNvPr>
            <p:cNvGrpSpPr>
              <a:grpSpLocks noChangeAspect="1"/>
            </p:cNvGrpSpPr>
            <p:nvPr>
              <p:custDataLst>
                <p:tags r:id="rId27"/>
              </p:custDataLst>
            </p:nvPr>
          </p:nvGrpSpPr>
          <p:grpSpPr>
            <a:xfrm>
              <a:off x="7723680" y="1702457"/>
              <a:ext cx="228600" cy="228600"/>
              <a:chOff x="762000" y="1270000"/>
              <a:chExt cx="254000" cy="254000"/>
            </a:xfrm>
          </p:grpSpPr>
          <p:sp>
            <p:nvSpPr>
              <p:cNvPr id="33" name="Oval 32" hidden="1">
                <a:extLst>
                  <a:ext uri="{FF2B5EF4-FFF2-40B4-BE49-F238E27FC236}">
                    <a16:creationId xmlns:a16="http://schemas.microsoft.com/office/drawing/2014/main" id="{6A837824-A229-0AE9-C2F1-F129DEDBCF59}"/>
                  </a:ext>
                </a:extLst>
              </p:cNvPr>
              <p:cNvSpPr/>
              <p:nvPr>
                <p:custDataLst>
                  <p:tags r:id="rId4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34" name="Arc 33" hidden="1">
                <a:extLst>
                  <a:ext uri="{FF2B5EF4-FFF2-40B4-BE49-F238E27FC236}">
                    <a16:creationId xmlns:a16="http://schemas.microsoft.com/office/drawing/2014/main" id="{1DCD6E9F-E4E4-7A3A-E645-A5AAF091AEA3}"/>
                  </a:ext>
                </a:extLst>
              </p:cNvPr>
              <p:cNvSpPr/>
              <p:nvPr>
                <p:custDataLst>
                  <p:tags r:id="rId41"/>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1" name="MoonLegend2" hidden="1">
              <a:extLst>
                <a:ext uri="{FF2B5EF4-FFF2-40B4-BE49-F238E27FC236}">
                  <a16:creationId xmlns:a16="http://schemas.microsoft.com/office/drawing/2014/main" id="{2A455BD7-0F98-4835-5551-1B24D1D3A3C2}"/>
                </a:ext>
              </a:extLst>
            </p:cNvPr>
            <p:cNvGrpSpPr>
              <a:grpSpLocks noChangeAspect="1"/>
            </p:cNvGrpSpPr>
            <p:nvPr>
              <p:custDataLst>
                <p:tags r:id="rId28"/>
              </p:custDataLst>
            </p:nvPr>
          </p:nvGrpSpPr>
          <p:grpSpPr>
            <a:xfrm>
              <a:off x="7723680" y="2078270"/>
              <a:ext cx="228600" cy="228600"/>
              <a:chOff x="762000" y="1270000"/>
              <a:chExt cx="254000" cy="254000"/>
            </a:xfrm>
          </p:grpSpPr>
          <p:sp>
            <p:nvSpPr>
              <p:cNvPr id="31" name="Oval 30" hidden="1">
                <a:extLst>
                  <a:ext uri="{FF2B5EF4-FFF2-40B4-BE49-F238E27FC236}">
                    <a16:creationId xmlns:a16="http://schemas.microsoft.com/office/drawing/2014/main" id="{CAC01A08-735B-B412-0D8B-1E8FE89804AD}"/>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32" name="Arc 31" hidden="1">
                <a:extLst>
                  <a:ext uri="{FF2B5EF4-FFF2-40B4-BE49-F238E27FC236}">
                    <a16:creationId xmlns:a16="http://schemas.microsoft.com/office/drawing/2014/main" id="{DBCA3E94-27FB-7562-2516-A9B173E7BCEF}"/>
                  </a:ext>
                </a:extLst>
              </p:cNvPr>
              <p:cNvSpPr/>
              <p:nvPr>
                <p:custDataLst>
                  <p:tags r:id="rId39"/>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2" name="MoonLegend3" hidden="1">
              <a:extLst>
                <a:ext uri="{FF2B5EF4-FFF2-40B4-BE49-F238E27FC236}">
                  <a16:creationId xmlns:a16="http://schemas.microsoft.com/office/drawing/2014/main" id="{809F2A49-65C1-70B5-2E0F-C216B814CC60}"/>
                </a:ext>
              </a:extLst>
            </p:cNvPr>
            <p:cNvGrpSpPr>
              <a:grpSpLocks noChangeAspect="1"/>
            </p:cNvGrpSpPr>
            <p:nvPr>
              <p:custDataLst>
                <p:tags r:id="rId29"/>
              </p:custDataLst>
            </p:nvPr>
          </p:nvGrpSpPr>
          <p:grpSpPr>
            <a:xfrm>
              <a:off x="7723680" y="2454085"/>
              <a:ext cx="228600" cy="228600"/>
              <a:chOff x="762000" y="1270000"/>
              <a:chExt cx="254000" cy="254000"/>
            </a:xfrm>
          </p:grpSpPr>
          <p:sp>
            <p:nvSpPr>
              <p:cNvPr id="29" name="Oval 28" hidden="1">
                <a:extLst>
                  <a:ext uri="{FF2B5EF4-FFF2-40B4-BE49-F238E27FC236}">
                    <a16:creationId xmlns:a16="http://schemas.microsoft.com/office/drawing/2014/main" id="{98B2262E-13B1-D6AE-799C-57E70C6CE2FA}"/>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30" name="Arc 29" hidden="1">
                <a:extLst>
                  <a:ext uri="{FF2B5EF4-FFF2-40B4-BE49-F238E27FC236}">
                    <a16:creationId xmlns:a16="http://schemas.microsoft.com/office/drawing/2014/main" id="{11EF0689-14D5-C947-D20F-902187B731F3}"/>
                  </a:ext>
                </a:extLst>
              </p:cNvPr>
              <p:cNvSpPr/>
              <p:nvPr>
                <p:custDataLst>
                  <p:tags r:id="rId37"/>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3" name="MoonLegend4" hidden="1">
              <a:extLst>
                <a:ext uri="{FF2B5EF4-FFF2-40B4-BE49-F238E27FC236}">
                  <a16:creationId xmlns:a16="http://schemas.microsoft.com/office/drawing/2014/main" id="{872312CF-2656-C97E-F68A-7A5417E31A9B}"/>
                </a:ext>
              </a:extLst>
            </p:cNvPr>
            <p:cNvGrpSpPr>
              <a:grpSpLocks noChangeAspect="1"/>
            </p:cNvGrpSpPr>
            <p:nvPr>
              <p:custDataLst>
                <p:tags r:id="rId30"/>
              </p:custDataLst>
            </p:nvPr>
          </p:nvGrpSpPr>
          <p:grpSpPr>
            <a:xfrm>
              <a:off x="7723680" y="2829900"/>
              <a:ext cx="228600" cy="228600"/>
              <a:chOff x="762000" y="1270000"/>
              <a:chExt cx="254000" cy="254000"/>
            </a:xfrm>
          </p:grpSpPr>
          <p:sp>
            <p:nvSpPr>
              <p:cNvPr id="27" name="Oval 26" hidden="1">
                <a:extLst>
                  <a:ext uri="{FF2B5EF4-FFF2-40B4-BE49-F238E27FC236}">
                    <a16:creationId xmlns:a16="http://schemas.microsoft.com/office/drawing/2014/main" id="{D33BCD27-4276-8DE7-7261-5AF0D0B17EE7}"/>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28" name="Arc 27" hidden="1">
                <a:extLst>
                  <a:ext uri="{FF2B5EF4-FFF2-40B4-BE49-F238E27FC236}">
                    <a16:creationId xmlns:a16="http://schemas.microsoft.com/office/drawing/2014/main" id="{545582FC-7260-B44E-1D5F-1F332AD88536}"/>
                  </a:ext>
                </a:extLst>
              </p:cNvPr>
              <p:cNvSpPr/>
              <p:nvPr>
                <p:custDataLst>
                  <p:tags r:id="rId35"/>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4" name="MoonLegend5" hidden="1">
              <a:extLst>
                <a:ext uri="{FF2B5EF4-FFF2-40B4-BE49-F238E27FC236}">
                  <a16:creationId xmlns:a16="http://schemas.microsoft.com/office/drawing/2014/main" id="{D602E704-4E36-B920-77CB-86B935B091F9}"/>
                </a:ext>
              </a:extLst>
            </p:cNvPr>
            <p:cNvGrpSpPr>
              <a:grpSpLocks noChangeAspect="1"/>
            </p:cNvGrpSpPr>
            <p:nvPr>
              <p:custDataLst>
                <p:tags r:id="rId31"/>
              </p:custDataLst>
            </p:nvPr>
          </p:nvGrpSpPr>
          <p:grpSpPr>
            <a:xfrm>
              <a:off x="7723680" y="3205716"/>
              <a:ext cx="228600" cy="228600"/>
              <a:chOff x="762000" y="1270000"/>
              <a:chExt cx="254000" cy="254000"/>
            </a:xfrm>
          </p:grpSpPr>
          <p:sp>
            <p:nvSpPr>
              <p:cNvPr id="25" name="Oval 24" hidden="1">
                <a:extLst>
                  <a:ext uri="{FF2B5EF4-FFF2-40B4-BE49-F238E27FC236}">
                    <a16:creationId xmlns:a16="http://schemas.microsoft.com/office/drawing/2014/main" id="{F9C39D64-626C-1995-4391-4707C2E178E0}"/>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26" name="Arc 25" hidden="1">
                <a:extLst>
                  <a:ext uri="{FF2B5EF4-FFF2-40B4-BE49-F238E27FC236}">
                    <a16:creationId xmlns:a16="http://schemas.microsoft.com/office/drawing/2014/main" id="{61B92162-A048-104E-E85E-982ADCE006F3}"/>
                  </a:ext>
                </a:extLst>
              </p:cNvPr>
              <p:cNvSpPr/>
              <p:nvPr>
                <p:custDataLst>
                  <p:tags r:id="rId33"/>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grpSp>
        <p:nvGrpSpPr>
          <p:cNvPr id="35" name="LegendBoxes" hidden="1">
            <a:extLst>
              <a:ext uri="{FF2B5EF4-FFF2-40B4-BE49-F238E27FC236}">
                <a16:creationId xmlns:a16="http://schemas.microsoft.com/office/drawing/2014/main" id="{6E842153-17C2-61F2-E50A-0472058DD745}"/>
              </a:ext>
            </a:extLst>
          </p:cNvPr>
          <p:cNvGrpSpPr/>
          <p:nvPr userDrawn="1"/>
        </p:nvGrpSpPr>
        <p:grpSpPr>
          <a:xfrm>
            <a:off x="10714801" y="4520490"/>
            <a:ext cx="922463" cy="1717282"/>
            <a:chOff x="10652400" y="4322824"/>
            <a:chExt cx="922463" cy="1717282"/>
          </a:xfrm>
        </p:grpSpPr>
        <p:sp>
          <p:nvSpPr>
            <p:cNvPr id="36" name="RectangleLegend1" hidden="1">
              <a:extLst>
                <a:ext uri="{FF2B5EF4-FFF2-40B4-BE49-F238E27FC236}">
                  <a16:creationId xmlns:a16="http://schemas.microsoft.com/office/drawing/2014/main" id="{267CB977-1EF6-2EA7-3481-994A8EB53732}"/>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37" name="RectangleLegend2" hidden="1">
              <a:extLst>
                <a:ext uri="{FF2B5EF4-FFF2-40B4-BE49-F238E27FC236}">
                  <a16:creationId xmlns:a16="http://schemas.microsoft.com/office/drawing/2014/main" id="{9D4DF832-46B2-57E4-74B1-48BA66ADEA2C}"/>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38" name="RectangleLegend3" hidden="1">
              <a:extLst>
                <a:ext uri="{FF2B5EF4-FFF2-40B4-BE49-F238E27FC236}">
                  <a16:creationId xmlns:a16="http://schemas.microsoft.com/office/drawing/2014/main" id="{83E814A8-4C87-E3C3-F5CD-53EC45671161}"/>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39" name="RectangleLegend4" hidden="1">
              <a:extLst>
                <a:ext uri="{FF2B5EF4-FFF2-40B4-BE49-F238E27FC236}">
                  <a16:creationId xmlns:a16="http://schemas.microsoft.com/office/drawing/2014/main" id="{D7DBA70F-2356-A4A0-1268-E501CA01640D}"/>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40" name="RectangleLegend5" hidden="1">
              <a:extLst>
                <a:ext uri="{FF2B5EF4-FFF2-40B4-BE49-F238E27FC236}">
                  <a16:creationId xmlns:a16="http://schemas.microsoft.com/office/drawing/2014/main" id="{86A09846-5875-D2B9-DA7D-0948E150BA00}"/>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41" name="Legend1" hidden="1">
              <a:extLst>
                <a:ext uri="{FF2B5EF4-FFF2-40B4-BE49-F238E27FC236}">
                  <a16:creationId xmlns:a16="http://schemas.microsoft.com/office/drawing/2014/main" id="{75A08BBB-1344-2912-CDB5-6BBE444F2543}"/>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2" name="Legend2" hidden="1">
              <a:extLst>
                <a:ext uri="{FF2B5EF4-FFF2-40B4-BE49-F238E27FC236}">
                  <a16:creationId xmlns:a16="http://schemas.microsoft.com/office/drawing/2014/main" id="{E8C3C11F-972E-CF28-2C6F-F81EA9DCF404}"/>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3" name="Legend3" hidden="1">
              <a:extLst>
                <a:ext uri="{FF2B5EF4-FFF2-40B4-BE49-F238E27FC236}">
                  <a16:creationId xmlns:a16="http://schemas.microsoft.com/office/drawing/2014/main" id="{FE3172B7-0D53-82DE-307C-E89379E98741}"/>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4" name="Legend4" hidden="1">
              <a:extLst>
                <a:ext uri="{FF2B5EF4-FFF2-40B4-BE49-F238E27FC236}">
                  <a16:creationId xmlns:a16="http://schemas.microsoft.com/office/drawing/2014/main" id="{41ABD00E-621E-20EB-B096-EEB961BA5998}"/>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5" name="Legend5" hidden="1">
              <a:extLst>
                <a:ext uri="{FF2B5EF4-FFF2-40B4-BE49-F238E27FC236}">
                  <a16:creationId xmlns:a16="http://schemas.microsoft.com/office/drawing/2014/main" id="{CDD75596-96D4-FA21-EE9A-09A142460E56}"/>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grpSp>
      <p:pic>
        <p:nvPicPr>
          <p:cNvPr id="53" name="Picture 52">
            <a:extLst>
              <a:ext uri="{FF2B5EF4-FFF2-40B4-BE49-F238E27FC236}">
                <a16:creationId xmlns:a16="http://schemas.microsoft.com/office/drawing/2014/main" id="{4E1107AE-C36E-907E-E193-9F4301EF1A03}"/>
              </a:ext>
            </a:extLst>
          </p:cNvPr>
          <p:cNvPicPr>
            <a:picLocks/>
          </p:cNvPicPr>
          <p:nvPr userDrawn="1"/>
        </p:nvPicPr>
        <p:blipFill>
          <a:blip r:embed="rId44"/>
          <a:stretch>
            <a:fillRect/>
          </a:stretch>
        </p:blipFill>
        <p:spPr>
          <a:xfrm>
            <a:off x="10853928" y="6388101"/>
            <a:ext cx="950976" cy="357859"/>
          </a:xfrm>
          <a:prstGeom prst="rect">
            <a:avLst/>
          </a:prstGeom>
        </p:spPr>
      </p:pic>
      <p:cxnSp>
        <p:nvCxnSpPr>
          <p:cNvPr id="59" name="Straight Connector 58">
            <a:extLst>
              <a:ext uri="{FF2B5EF4-FFF2-40B4-BE49-F238E27FC236}">
                <a16:creationId xmlns:a16="http://schemas.microsoft.com/office/drawing/2014/main" id="{42F71B01-9AA7-FC6A-2303-1A5F02B23CAB}"/>
              </a:ext>
            </a:extLst>
          </p:cNvPr>
          <p:cNvCxnSpPr>
            <a:cxnSpLocks/>
          </p:cNvCxnSpPr>
          <p:nvPr userDrawn="1"/>
        </p:nvCxnSpPr>
        <p:spPr>
          <a:xfrm>
            <a:off x="384048" y="6210993"/>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05B7294-5F30-B529-F78D-A31AE58EE942}"/>
              </a:ext>
            </a:extLst>
          </p:cNvPr>
          <p:cNvCxnSpPr>
            <a:cxnSpLocks/>
          </p:cNvCxnSpPr>
          <p:nvPr userDrawn="1"/>
        </p:nvCxnSpPr>
        <p:spPr>
          <a:xfrm>
            <a:off x="384048" y="1083423"/>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Sticker" hidden="1">
            <a:extLst>
              <a:ext uri="{FF2B5EF4-FFF2-40B4-BE49-F238E27FC236}">
                <a16:creationId xmlns:a16="http://schemas.microsoft.com/office/drawing/2014/main" id="{32BF8EA6-734C-5DC0-0A46-DE2ED733409F}"/>
              </a:ext>
            </a:extLst>
          </p:cNvPr>
          <p:cNvSpPr txBox="1"/>
          <p:nvPr userDrawn="1"/>
        </p:nvSpPr>
        <p:spPr>
          <a:xfrm>
            <a:off x="384048" y="1419436"/>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en-CA"/>
              <a:t>STICKER</a:t>
            </a:r>
          </a:p>
        </p:txBody>
      </p:sp>
    </p:spTree>
    <p:extLst>
      <p:ext uri="{BB962C8B-B14F-4D97-AF65-F5344CB8AC3E}">
        <p14:creationId xmlns:p14="http://schemas.microsoft.com/office/powerpoint/2010/main" val="3014639164"/>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4040" r:id="rId16"/>
    <p:sldLayoutId id="2147484041" r:id="rId17"/>
    <p:sldLayoutId id="2147484042" r:id="rId18"/>
    <p:sldLayoutId id="2147484043" r:id="rId19"/>
    <p:sldLayoutId id="2147484044" r:id="rId20"/>
  </p:sldLayoutIdLst>
  <p:hf sldNum="0" hdr="0" ftr="0"/>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66">
          <p15:clr>
            <a:srgbClr val="5ACBF0"/>
          </p15:clr>
        </p15:guide>
        <p15:guide id="3" orient="horz" pos="3912">
          <p15:clr>
            <a:srgbClr val="5ACBF0"/>
          </p15:clr>
        </p15:guide>
        <p15:guide id="4" orient="horz" pos="1169">
          <p15:clr>
            <a:srgbClr val="F26B43"/>
          </p15:clr>
        </p15:guide>
        <p15:guide id="5" pos="7440">
          <p15:clr>
            <a:srgbClr val="F26B43"/>
          </p15:clr>
        </p15:guide>
        <p15:guide id="6" pos="240">
          <p15:clr>
            <a:srgbClr val="F26B43"/>
          </p15:clr>
        </p15:guide>
        <p15:guide id="8" orient="horz" pos="401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BE9A8BC-9B8C-5A84-FE94-A5D748D4FFF8}"/>
              </a:ext>
            </a:extLst>
          </p:cNvPr>
          <p:cNvGraphicFramePr>
            <a:graphicFrameLocks noChangeAspect="1"/>
          </p:cNvGraphicFramePr>
          <p:nvPr userDrawn="1">
            <p:custDataLst>
              <p:tags r:id="rId16"/>
            </p:custDataLst>
            <p:extLst>
              <p:ext uri="{D42A27DB-BD31-4B8C-83A1-F6EECF244321}">
                <p14:modId xmlns:p14="http://schemas.microsoft.com/office/powerpoint/2010/main" val="95824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73" imgH="473" progId="TCLayout.ActiveDocument.1">
                  <p:embed/>
                </p:oleObj>
              </mc:Choice>
              <mc:Fallback>
                <p:oleObj name="think-cell Slide" r:id="rId17" imgW="473" imgH="473" progId="TCLayout.ActiveDocument.1">
                  <p:embed/>
                  <p:pic>
                    <p:nvPicPr>
                      <p:cNvPr id="5" name="Object 4" hidden="1">
                        <a:extLst>
                          <a:ext uri="{FF2B5EF4-FFF2-40B4-BE49-F238E27FC236}">
                            <a16:creationId xmlns:a16="http://schemas.microsoft.com/office/drawing/2014/main" id="{DBE9A8BC-9B8C-5A84-FE94-A5D748D4FFF8}"/>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2AFB9C9-E550-A643-B6BA-1F85DC33CB6D}"/>
              </a:ext>
            </a:extLst>
          </p:cNvPr>
          <p:cNvSpPr>
            <a:spLocks noGrp="1"/>
          </p:cNvSpPr>
          <p:nvPr>
            <p:ph type="title"/>
          </p:nvPr>
        </p:nvSpPr>
        <p:spPr>
          <a:xfrm>
            <a:off x="384048" y="381000"/>
            <a:ext cx="11420856" cy="5334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8C041-B2CA-3140-B7D0-C1DCF07DF29D}"/>
              </a:ext>
            </a:extLst>
          </p:cNvPr>
          <p:cNvSpPr>
            <a:spLocks noGrp="1"/>
          </p:cNvSpPr>
          <p:nvPr>
            <p:ph type="body" idx="1"/>
          </p:nvPr>
        </p:nvSpPr>
        <p:spPr>
          <a:xfrm>
            <a:off x="384048" y="1295401"/>
            <a:ext cx="11420856" cy="47244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AD6BCD8-05CB-42C6-AD70-BAD591D95266}"/>
              </a:ext>
            </a:extLst>
          </p:cNvPr>
          <p:cNvCxnSpPr>
            <a:cxnSpLocks/>
          </p:cNvCxnSpPr>
          <p:nvPr userDrawn="1"/>
        </p:nvCxnSpPr>
        <p:spPr>
          <a:xfrm>
            <a:off x="384048" y="1066800"/>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2133AB-67BC-4F74-A07A-65A22E102BA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C18E352-8130-4711-86BD-9515E8F1C1C5}"/>
              </a:ext>
            </a:extLst>
          </p:cNvPr>
          <p:cNvPicPr>
            <a:picLocks/>
          </p:cNvPicPr>
          <p:nvPr userDrawn="1"/>
        </p:nvPicPr>
        <p:blipFill>
          <a:blip r:embed="rId19"/>
          <a:stretch>
            <a:fillRect/>
          </a:stretch>
        </p:blipFill>
        <p:spPr>
          <a:xfrm>
            <a:off x="10853928" y="6388101"/>
            <a:ext cx="950976" cy="357859"/>
          </a:xfrm>
          <a:prstGeom prst="rect">
            <a:avLst/>
          </a:prstGeom>
        </p:spPr>
      </p:pic>
      <p:sp>
        <p:nvSpPr>
          <p:cNvPr id="10" name="Footer Placeholder 4">
            <a:extLst>
              <a:ext uri="{FF2B5EF4-FFF2-40B4-BE49-F238E27FC236}">
                <a16:creationId xmlns:a16="http://schemas.microsoft.com/office/drawing/2014/main" id="{C619E110-F4CA-4E4F-B502-8E44D45BE640}"/>
              </a:ext>
            </a:extLst>
          </p:cNvPr>
          <p:cNvSpPr>
            <a:spLocks noGrp="1"/>
          </p:cNvSpPr>
          <p:nvPr>
            <p:ph type="ftr" sz="quarter" idx="3"/>
          </p:nvPr>
        </p:nvSpPr>
        <p:spPr>
          <a:xfrm>
            <a:off x="381000" y="6515098"/>
            <a:ext cx="8077200" cy="342900"/>
          </a:xfrm>
          <a:prstGeom prst="rect">
            <a:avLst/>
          </a:prstGeom>
        </p:spPr>
        <p:txBody>
          <a:bodyPr lIns="0" tIns="0" rIns="0"/>
          <a:lstStyle>
            <a:lvl1pPr algn="l">
              <a:defRPr sz="1000"/>
            </a:lvl1pPr>
          </a:lstStyle>
          <a:p>
            <a:r>
              <a:rPr lang="en-CA"/>
              <a:t>CONFIDENTIAL</a:t>
            </a:r>
          </a:p>
        </p:txBody>
      </p:sp>
      <p:sp>
        <p:nvSpPr>
          <p:cNvPr id="11" name="Date Placeholder 3">
            <a:extLst>
              <a:ext uri="{FF2B5EF4-FFF2-40B4-BE49-F238E27FC236}">
                <a16:creationId xmlns:a16="http://schemas.microsoft.com/office/drawing/2014/main" id="{08947FEE-BC42-AB41-9311-D8AAD7B00567}"/>
              </a:ext>
            </a:extLst>
          </p:cNvPr>
          <p:cNvSpPr>
            <a:spLocks noGrp="1"/>
          </p:cNvSpPr>
          <p:nvPr>
            <p:ph type="dt" sz="half" idx="2"/>
          </p:nvPr>
        </p:nvSpPr>
        <p:spPr>
          <a:xfrm>
            <a:off x="8569452" y="6515098"/>
            <a:ext cx="1474248" cy="342902"/>
          </a:xfrm>
          <a:prstGeom prst="rect">
            <a:avLst/>
          </a:prstGeom>
        </p:spPr>
        <p:txBody>
          <a:bodyPr lIns="0" tIns="0" rIns="0"/>
          <a:lstStyle>
            <a:lvl1pPr>
              <a:defRPr sz="1000"/>
            </a:lvl1pPr>
          </a:lstStyle>
          <a:p>
            <a:fld id="{B9EBF019-A5C2-491B-AAE2-7B2CD41A4D97}" type="datetime1">
              <a:rPr lang="en-US" smtClean="0"/>
              <a:t>9/2/2026</a:t>
            </a:fld>
            <a:endParaRPr lang="en-CA"/>
          </a:p>
        </p:txBody>
      </p:sp>
    </p:spTree>
    <p:extLst>
      <p:ext uri="{BB962C8B-B14F-4D97-AF65-F5344CB8AC3E}">
        <p14:creationId xmlns:p14="http://schemas.microsoft.com/office/powerpoint/2010/main" val="1316469757"/>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7" r:id="rId11"/>
    <p:sldLayoutId id="2147484058" r:id="rId12"/>
    <p:sldLayoutId id="2147484059" r:id="rId13"/>
    <p:sldLayoutId id="2147484070" r:id="rId14"/>
  </p:sldLayoutIdLst>
  <p:hf hdr="0"/>
  <p:txStyles>
    <p:titleStyle>
      <a:lvl1pPr algn="l" defTabSz="6858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36">
          <p15:clr>
            <a:srgbClr val="F26B43"/>
          </p15:clr>
        </p15:guide>
        <p15:guide id="4" pos="239">
          <p15:clr>
            <a:srgbClr val="F26B43"/>
          </p15:clr>
        </p15:guide>
        <p15:guide id="5" pos="3840">
          <p15:clr>
            <a:srgbClr val="F26B43"/>
          </p15:clr>
        </p15:guide>
        <p15:guide id="6" orient="horz" pos="4104">
          <p15:clr>
            <a:srgbClr val="F26B43"/>
          </p15:clr>
        </p15:guide>
        <p15:guide id="8" orient="horz" pos="2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9EAE993-7DEC-4775-BC26-26BFCFA95EF9}"/>
              </a:ext>
            </a:extLst>
          </p:cNvPr>
          <p:cNvGraphicFramePr>
            <a:graphicFrameLocks noChangeAspect="1"/>
          </p:cNvGraphicFramePr>
          <p:nvPr userDrawn="1">
            <p:custDataLst>
              <p:tags r:id="rId11"/>
            </p:custDataLst>
            <p:extLst>
              <p:ext uri="{D42A27DB-BD31-4B8C-83A1-F6EECF244321}">
                <p14:modId xmlns:p14="http://schemas.microsoft.com/office/powerpoint/2010/main" val="2337390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592" imgH="591" progId="TCLayout.ActiveDocument.1">
                  <p:embed/>
                </p:oleObj>
              </mc:Choice>
              <mc:Fallback>
                <p:oleObj name="think-cell Slide" r:id="rId13" imgW="592" imgH="591" progId="TCLayout.ActiveDocument.1">
                  <p:embed/>
                  <p:pic>
                    <p:nvPicPr>
                      <p:cNvPr id="5" name="Object 4" hidden="1">
                        <a:extLst>
                          <a:ext uri="{FF2B5EF4-FFF2-40B4-BE49-F238E27FC236}">
                            <a16:creationId xmlns:a16="http://schemas.microsoft.com/office/drawing/2014/main" id="{69EAE993-7DEC-4775-BC26-26BFCFA95EF9}"/>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0C1337B-6310-4C7E-950D-F4485A25CFA2}"/>
              </a:ext>
            </a:extLst>
          </p:cNvPr>
          <p:cNvSpPr/>
          <p:nvPr userDrawn="1">
            <p:custDataLst>
              <p:tags r:id="rId1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0"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E2AFB9C9-E550-A643-B6BA-1F85DC33CB6D}"/>
              </a:ext>
            </a:extLst>
          </p:cNvPr>
          <p:cNvSpPr>
            <a:spLocks noGrp="1"/>
          </p:cNvSpPr>
          <p:nvPr>
            <p:ph type="title"/>
          </p:nvPr>
        </p:nvSpPr>
        <p:spPr>
          <a:xfrm>
            <a:off x="384048" y="381000"/>
            <a:ext cx="11420856" cy="5334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8C041-B2CA-3140-B7D0-C1DCF07DF29D}"/>
              </a:ext>
            </a:extLst>
          </p:cNvPr>
          <p:cNvSpPr>
            <a:spLocks noGrp="1"/>
          </p:cNvSpPr>
          <p:nvPr>
            <p:ph type="body" idx="1"/>
          </p:nvPr>
        </p:nvSpPr>
        <p:spPr>
          <a:xfrm>
            <a:off x="384048" y="1295401"/>
            <a:ext cx="11420856" cy="472440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AD6BCD8-05CB-42C6-AD70-BAD591D95266}"/>
              </a:ext>
            </a:extLst>
          </p:cNvPr>
          <p:cNvCxnSpPr>
            <a:cxnSpLocks/>
          </p:cNvCxnSpPr>
          <p:nvPr userDrawn="1"/>
        </p:nvCxnSpPr>
        <p:spPr>
          <a:xfrm>
            <a:off x="384048" y="1066800"/>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2133AB-67BC-4F74-A07A-65A22E102BA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C18E352-8130-4711-86BD-9515E8F1C1C5}"/>
              </a:ext>
            </a:extLst>
          </p:cNvPr>
          <p:cNvPicPr>
            <a:picLocks/>
          </p:cNvPicPr>
          <p:nvPr userDrawn="1"/>
        </p:nvPicPr>
        <p:blipFill>
          <a:blip r:embed="rId15"/>
          <a:stretch>
            <a:fillRect/>
          </a:stretch>
        </p:blipFill>
        <p:spPr>
          <a:xfrm>
            <a:off x="10853928" y="6388101"/>
            <a:ext cx="950976" cy="357859"/>
          </a:xfrm>
          <a:prstGeom prst="rect">
            <a:avLst/>
          </a:prstGeom>
        </p:spPr>
      </p:pic>
      <p:sp>
        <p:nvSpPr>
          <p:cNvPr id="10" name="Footer Placeholder 4">
            <a:extLst>
              <a:ext uri="{FF2B5EF4-FFF2-40B4-BE49-F238E27FC236}">
                <a16:creationId xmlns:a16="http://schemas.microsoft.com/office/drawing/2014/main" id="{C619E110-F4CA-4E4F-B502-8E44D45BE640}"/>
              </a:ext>
            </a:extLst>
          </p:cNvPr>
          <p:cNvSpPr>
            <a:spLocks noGrp="1"/>
          </p:cNvSpPr>
          <p:nvPr>
            <p:ph type="ftr" sz="quarter" idx="3"/>
          </p:nvPr>
        </p:nvSpPr>
        <p:spPr>
          <a:xfrm>
            <a:off x="381000" y="6515098"/>
            <a:ext cx="8077200" cy="342900"/>
          </a:xfrm>
          <a:prstGeom prst="rect">
            <a:avLst/>
          </a:prstGeom>
        </p:spPr>
        <p:txBody>
          <a:bodyPr lIns="0" tIns="0" rIns="0"/>
          <a:lstStyle>
            <a:lvl1pPr algn="l">
              <a:defRPr sz="1000"/>
            </a:lvl1pPr>
          </a:lstStyle>
          <a:p>
            <a:r>
              <a:rPr lang="en-CA"/>
              <a:t>CONFIDENTIAL</a:t>
            </a:r>
          </a:p>
        </p:txBody>
      </p:sp>
      <p:sp>
        <p:nvSpPr>
          <p:cNvPr id="12" name="Footer Placeholder 8">
            <a:extLst>
              <a:ext uri="{FF2B5EF4-FFF2-40B4-BE49-F238E27FC236}">
                <a16:creationId xmlns:a16="http://schemas.microsoft.com/office/drawing/2014/main" id="{21B266CD-9F45-4261-9AAC-F9C9D3217C95}"/>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3" name="Footer Placeholder 8">
            <a:extLst>
              <a:ext uri="{FF2B5EF4-FFF2-40B4-BE49-F238E27FC236}">
                <a16:creationId xmlns:a16="http://schemas.microsoft.com/office/drawing/2014/main" id="{317151BC-72F8-45C7-80BF-84FFC8E5EEC0}"/>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491161113"/>
      </p:ext>
    </p:extLst>
  </p:cSld>
  <p:clrMap bg1="lt1" tx1="dk1" bg2="lt2" tx2="dk2" accent1="accent1" accent2="accent2" accent3="accent3" accent4="accent4" accent5="accent5" accent6="accent6" hlink="hlink" folHlink="folHlink"/>
  <p:sldLayoutIdLst>
    <p:sldLayoutId id="2147484061" r:id="rId1"/>
    <p:sldLayoutId id="2147484062" r:id="rId2"/>
    <p:sldLayoutId id="2147484063" r:id="rId3"/>
    <p:sldLayoutId id="2147484064" r:id="rId4"/>
    <p:sldLayoutId id="2147484065" r:id="rId5"/>
    <p:sldLayoutId id="2147484066" r:id="rId6"/>
    <p:sldLayoutId id="2147484067" r:id="rId7"/>
    <p:sldLayoutId id="2147484068" r:id="rId8"/>
    <p:sldLayoutId id="2147484069" r:id="rId9"/>
  </p:sldLayoutIdLst>
  <p:hf sldNum="0" hdr="0"/>
  <p:txStyles>
    <p:titleStyle>
      <a:lvl1pPr algn="l" defTabSz="6858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36">
          <p15:clr>
            <a:srgbClr val="F26B43"/>
          </p15:clr>
        </p15:guide>
        <p15:guide id="4" pos="239">
          <p15:clr>
            <a:srgbClr val="F26B43"/>
          </p15:clr>
        </p15:guide>
        <p15:guide id="5" pos="3840">
          <p15:clr>
            <a:srgbClr val="F26B43"/>
          </p15:clr>
        </p15:guide>
        <p15:guide id="6" orient="horz" pos="4104">
          <p15:clr>
            <a:srgbClr val="F26B43"/>
          </p15:clr>
        </p15:guide>
        <p15:guide id="8"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4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9.jpeg"/><Relationship Id="rId4" Type="http://schemas.openxmlformats.org/officeDocument/2006/relationships/diagramQuickStyle" Target="../diagrams/quickStyle1.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microsoft.com/office/2018/10/relationships/comments" Target="../comments/modernComment_7FFFFFDE_5BC3D19E.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svg"/><Relationship Id="rId1" Type="http://schemas.openxmlformats.org/officeDocument/2006/relationships/slideLayout" Target="../slideLayouts/slideLayout42.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svg"/></Relationships>
</file>

<file path=ppt/slides/_rels/slide7.xml.rels><?xml version="1.0" encoding="UTF-8" standalone="yes"?>
<Relationships xmlns="http://schemas.openxmlformats.org/package/2006/relationships"><Relationship Id="rId2" Type="http://schemas.microsoft.com/office/2018/10/relationships/comments" Target="../comments/modernComment_7FFFFFDC_361A3D05.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7FFFFFEC_8B8DEA0C.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7FFFFFDB_C29B17EF.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7FFFFFDA_C41A335.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0EA7AA2-262B-AC7E-FF62-780DEC2E827B}"/>
              </a:ext>
            </a:extLst>
          </p:cNvPr>
          <p:cNvSpPr>
            <a:spLocks noGrp="1"/>
          </p:cNvSpPr>
          <p:nvPr>
            <p:ph type="body" sz="quarter" idx="13"/>
          </p:nvPr>
        </p:nvSpPr>
        <p:spPr>
          <a:xfrm>
            <a:off x="537130" y="1071571"/>
            <a:ext cx="1073956" cy="310914"/>
          </a:xfrm>
        </p:spPr>
        <p:txBody>
          <a:bodyPr/>
          <a:lstStyle/>
          <a:p>
            <a:pPr algn="ctr"/>
            <a:r>
              <a:rPr lang="en-US" sz="1400" b="1">
                <a:latin typeface="+mj-lt"/>
                <a:cs typeface="Arial"/>
              </a:rPr>
              <a:t>Aug 2026</a:t>
            </a:r>
            <a:endParaRPr lang="en-US" sz="1400" b="1">
              <a:latin typeface="+mj-lt"/>
            </a:endParaRPr>
          </a:p>
        </p:txBody>
      </p:sp>
      <p:sp>
        <p:nvSpPr>
          <p:cNvPr id="38" name="Text 16">
            <a:extLst>
              <a:ext uri="{FF2B5EF4-FFF2-40B4-BE49-F238E27FC236}">
                <a16:creationId xmlns:a16="http://schemas.microsoft.com/office/drawing/2014/main" id="{E9847467-4CED-FC0F-00B4-709106C88094}"/>
              </a:ext>
            </a:extLst>
          </p:cNvPr>
          <p:cNvSpPr/>
          <p:nvPr/>
        </p:nvSpPr>
        <p:spPr>
          <a:xfrm>
            <a:off x="566928" y="2656114"/>
            <a:ext cx="11625072" cy="1554480"/>
          </a:xfrm>
          <a:prstGeom prst="rect">
            <a:avLst/>
          </a:prstGeom>
          <a:noFill/>
          <a:ln/>
        </p:spPr>
        <p:txBody>
          <a:bodyPr wrap="square" lIns="91440" tIns="45720" rIns="91440" bIns="45720" rtlCol="0" anchor="ctr"/>
          <a:lstStyle/>
          <a:p>
            <a:r>
              <a:rPr lang="en-US" sz="4400" b="1">
                <a:solidFill>
                  <a:srgbClr val="000000"/>
                </a:solidFill>
                <a:latin typeface="+mj-lt"/>
                <a:ea typeface="Calibri" pitchFamily="34" charset="-122"/>
                <a:cs typeface="Arial"/>
              </a:rPr>
              <a:t>Infrastructure &amp; Operations:</a:t>
            </a:r>
            <a:br>
              <a:rPr lang="en-US" sz="4400" b="1">
                <a:solidFill>
                  <a:srgbClr val="000000"/>
                </a:solidFill>
                <a:latin typeface="+mj-lt"/>
                <a:ea typeface="Calibri" pitchFamily="34" charset="-122"/>
                <a:cs typeface="Arial"/>
              </a:rPr>
            </a:br>
            <a:r>
              <a:rPr lang="en-US" sz="4400" b="1">
                <a:solidFill>
                  <a:srgbClr val="000000"/>
                </a:solidFill>
                <a:latin typeface="+mj-lt"/>
                <a:ea typeface="Calibri" pitchFamily="34" charset="-122"/>
                <a:cs typeface="Arial"/>
              </a:rPr>
              <a:t>Enterprise Database Services Roadmap</a:t>
            </a:r>
            <a:endParaRPr lang="en-US" sz="3600">
              <a:solidFill>
                <a:srgbClr val="4D4D4D"/>
              </a:solidFill>
              <a:latin typeface="+mj-lt"/>
              <a:ea typeface="Calibri"/>
              <a:cs typeface="Calibri"/>
            </a:endParaRPr>
          </a:p>
        </p:txBody>
      </p:sp>
    </p:spTree>
    <p:extLst>
      <p:ext uri="{BB962C8B-B14F-4D97-AF65-F5344CB8AC3E}">
        <p14:creationId xmlns:p14="http://schemas.microsoft.com/office/powerpoint/2010/main" val="1182135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03E9C-0CFF-D3F8-061B-3E7A2618E380}"/>
            </a:ext>
          </a:extLst>
        </p:cNvPr>
        <p:cNvGrpSpPr/>
        <p:nvPr/>
      </p:nvGrpSpPr>
      <p:grpSpPr>
        <a:xfrm>
          <a:off x="0" y="0"/>
          <a:ext cx="0" cy="0"/>
          <a:chOff x="0" y="0"/>
          <a:chExt cx="0" cy="0"/>
        </a:xfrm>
      </p:grpSpPr>
      <p:sp>
        <p:nvSpPr>
          <p:cNvPr id="18" name="Text 4">
            <a:extLst>
              <a:ext uri="{FF2B5EF4-FFF2-40B4-BE49-F238E27FC236}">
                <a16:creationId xmlns:a16="http://schemas.microsoft.com/office/drawing/2014/main" id="{97AC21ED-0C62-55B3-4DDF-75774E1215C1}"/>
              </a:ext>
            </a:extLst>
          </p:cNvPr>
          <p:cNvSpPr/>
          <p:nvPr/>
        </p:nvSpPr>
        <p:spPr>
          <a:xfrm>
            <a:off x="457200" y="384048"/>
            <a:ext cx="11155680" cy="640080"/>
          </a:xfrm>
          <a:prstGeom prst="rect">
            <a:avLst/>
          </a:prstGeom>
          <a:noFill/>
          <a:ln/>
        </p:spPr>
        <p:txBody>
          <a:bodyPr wrap="square" lIns="91440" tIns="45720" rIns="91440" bIns="45720" rtlCol="0" anchor="ctr"/>
          <a:lstStyle/>
          <a:p>
            <a:r>
              <a:rPr lang="en-US" sz="2600" b="1">
                <a:solidFill>
                  <a:srgbClr val="BA0C2F"/>
                </a:solidFill>
                <a:latin typeface="+mj-lt"/>
                <a:ea typeface="Calibri"/>
                <a:cs typeface="Calibri"/>
              </a:rPr>
              <a:t>Document Status (Work in-progress / Draft)</a:t>
            </a:r>
            <a:endParaRPr lang="en-US" sz="2600">
              <a:latin typeface="+mj-lt"/>
            </a:endParaRPr>
          </a:p>
        </p:txBody>
      </p:sp>
      <p:sp>
        <p:nvSpPr>
          <p:cNvPr id="22" name="Text 5">
            <a:extLst>
              <a:ext uri="{FF2B5EF4-FFF2-40B4-BE49-F238E27FC236}">
                <a16:creationId xmlns:a16="http://schemas.microsoft.com/office/drawing/2014/main" id="{250BF268-A54A-2BA1-15CA-942AF2E7B6E2}"/>
              </a:ext>
            </a:extLst>
          </p:cNvPr>
          <p:cNvSpPr/>
          <p:nvPr/>
        </p:nvSpPr>
        <p:spPr>
          <a:xfrm>
            <a:off x="457200" y="1371600"/>
            <a:ext cx="5303520" cy="320040"/>
          </a:xfrm>
          <a:prstGeom prst="rect">
            <a:avLst/>
          </a:prstGeom>
          <a:noFill/>
          <a:ln/>
        </p:spPr>
        <p:txBody>
          <a:bodyPr wrap="square" rtlCol="0" anchor="ctr"/>
          <a:lstStyle/>
          <a:p>
            <a:pPr marL="0" indent="0">
              <a:buNone/>
            </a:pPr>
            <a:r>
              <a:rPr lang="en-US" sz="1600" b="1">
                <a:solidFill>
                  <a:srgbClr val="2E2E38"/>
                </a:solidFill>
                <a:latin typeface="+mj-lt"/>
                <a:ea typeface="Calibri" pitchFamily="34" charset="-122"/>
                <a:cs typeface="Calibri" pitchFamily="34" charset="-120"/>
              </a:rPr>
              <a:t>Document Status:</a:t>
            </a:r>
            <a:endParaRPr lang="en-US" sz="1600">
              <a:latin typeface="+mj-lt"/>
            </a:endParaRPr>
          </a:p>
        </p:txBody>
      </p:sp>
      <p:sp>
        <p:nvSpPr>
          <p:cNvPr id="26" name="Text 6">
            <a:extLst>
              <a:ext uri="{FF2B5EF4-FFF2-40B4-BE49-F238E27FC236}">
                <a16:creationId xmlns:a16="http://schemas.microsoft.com/office/drawing/2014/main" id="{CB207F25-B453-080E-EE10-1B943C84B659}"/>
              </a:ext>
            </a:extLst>
          </p:cNvPr>
          <p:cNvSpPr/>
          <p:nvPr/>
        </p:nvSpPr>
        <p:spPr>
          <a:xfrm>
            <a:off x="457200" y="1737360"/>
            <a:ext cx="5303520" cy="822960"/>
          </a:xfrm>
          <a:prstGeom prst="rect">
            <a:avLst/>
          </a:prstGeom>
          <a:noFill/>
          <a:ln/>
        </p:spPr>
        <p:txBody>
          <a:bodyPr wrap="square" lIns="91440" tIns="45720" rIns="91440" bIns="45720" rtlCol="0" anchor="t"/>
          <a:lstStyle/>
          <a:p>
            <a:pPr marL="177800" indent="-177800">
              <a:spcAft>
                <a:spcPts val="800"/>
              </a:spcAft>
              <a:buSzPct val="100000"/>
              <a:buChar char="•"/>
            </a:pPr>
            <a:r>
              <a:rPr lang="en-US" sz="1600">
                <a:solidFill>
                  <a:srgbClr val="2E2E38"/>
                </a:solidFill>
                <a:latin typeface="+mj-lt"/>
                <a:ea typeface="Calibri"/>
                <a:cs typeface="Calibri"/>
              </a:rPr>
              <a:t>Date: </a:t>
            </a:r>
            <a:endParaRPr lang="en-US" sz="1600">
              <a:latin typeface="+mj-lt"/>
              <a:ea typeface="Calibri"/>
              <a:cs typeface="Calibri"/>
            </a:endParaRPr>
          </a:p>
          <a:p>
            <a:pPr marL="177800" indent="-177800">
              <a:spcAft>
                <a:spcPts val="800"/>
              </a:spcAft>
              <a:buSzPct val="100000"/>
              <a:buChar char="•"/>
            </a:pPr>
            <a:r>
              <a:rPr lang="en-US" sz="1600">
                <a:solidFill>
                  <a:srgbClr val="2E2E38"/>
                </a:solidFill>
                <a:latin typeface="+mj-lt"/>
                <a:ea typeface="Calibri"/>
                <a:cs typeface="Calibri"/>
              </a:rPr>
              <a:t>Status: </a:t>
            </a:r>
            <a:endParaRPr lang="en-US" sz="1600">
              <a:latin typeface="+mj-lt"/>
              <a:ea typeface="Calibri"/>
              <a:cs typeface="Calibri"/>
            </a:endParaRPr>
          </a:p>
        </p:txBody>
      </p:sp>
      <p:sp>
        <p:nvSpPr>
          <p:cNvPr id="30" name="Text 7">
            <a:extLst>
              <a:ext uri="{FF2B5EF4-FFF2-40B4-BE49-F238E27FC236}">
                <a16:creationId xmlns:a16="http://schemas.microsoft.com/office/drawing/2014/main" id="{30315F1D-D88E-DDCA-722F-D33F8EB64626}"/>
              </a:ext>
            </a:extLst>
          </p:cNvPr>
          <p:cNvSpPr/>
          <p:nvPr/>
        </p:nvSpPr>
        <p:spPr>
          <a:xfrm>
            <a:off x="457200" y="2651760"/>
            <a:ext cx="5303520" cy="320040"/>
          </a:xfrm>
          <a:prstGeom prst="rect">
            <a:avLst/>
          </a:prstGeom>
          <a:noFill/>
          <a:ln/>
        </p:spPr>
        <p:txBody>
          <a:bodyPr wrap="square" rtlCol="0" anchor="ctr"/>
          <a:lstStyle/>
          <a:p>
            <a:pPr marL="0" indent="0">
              <a:buNone/>
            </a:pPr>
            <a:r>
              <a:rPr lang="en-US" sz="1600" b="1">
                <a:solidFill>
                  <a:srgbClr val="2E2E38"/>
                </a:solidFill>
                <a:latin typeface="+mj-lt"/>
                <a:ea typeface="Calibri" pitchFamily="34" charset="-122"/>
                <a:cs typeface="Calibri" pitchFamily="34" charset="-120"/>
              </a:rPr>
              <a:t>Awareness:</a:t>
            </a:r>
            <a:endParaRPr lang="en-US" sz="1600">
              <a:latin typeface="+mj-lt"/>
            </a:endParaRPr>
          </a:p>
        </p:txBody>
      </p:sp>
      <p:sp>
        <p:nvSpPr>
          <p:cNvPr id="34" name="Text 8">
            <a:extLst>
              <a:ext uri="{FF2B5EF4-FFF2-40B4-BE49-F238E27FC236}">
                <a16:creationId xmlns:a16="http://schemas.microsoft.com/office/drawing/2014/main" id="{11A1D77F-45C6-3172-A29F-1172538B2E23}"/>
              </a:ext>
            </a:extLst>
          </p:cNvPr>
          <p:cNvSpPr/>
          <p:nvPr/>
        </p:nvSpPr>
        <p:spPr>
          <a:xfrm>
            <a:off x="457200" y="3017520"/>
            <a:ext cx="5303520" cy="822960"/>
          </a:xfrm>
          <a:prstGeom prst="rect">
            <a:avLst/>
          </a:prstGeom>
          <a:noFill/>
          <a:ln/>
        </p:spPr>
        <p:txBody>
          <a:bodyPr wrap="square" lIns="91440" tIns="45720" rIns="91440" bIns="45720" rtlCol="0" anchor="t"/>
          <a:lstStyle/>
          <a:p>
            <a:pPr marL="177800" indent="-177800">
              <a:spcAft>
                <a:spcPts val="800"/>
              </a:spcAft>
              <a:buSzPct val="100000"/>
              <a:buFont typeface="Arial"/>
              <a:buChar char="•"/>
            </a:pPr>
            <a:r>
              <a:rPr lang="en-US" sz="1600">
                <a:solidFill>
                  <a:srgbClr val="2E2E38"/>
                </a:solidFill>
                <a:latin typeface="+mj-lt"/>
                <a:ea typeface="Calibri"/>
                <a:cs typeface="Calibri"/>
              </a:rPr>
              <a:t>TTO Roadmap Program Leadership</a:t>
            </a:r>
            <a:endParaRPr lang="en-US" sz="1600"/>
          </a:p>
          <a:p>
            <a:pPr marL="177800" indent="-177800">
              <a:spcAft>
                <a:spcPts val="800"/>
              </a:spcAft>
              <a:buSzPct val="100000"/>
              <a:buFont typeface="Arial"/>
              <a:buChar char="•"/>
            </a:pPr>
            <a:r>
              <a:rPr lang="en-US" sz="1600">
                <a:solidFill>
                  <a:srgbClr val="2E2E38"/>
                </a:solidFill>
                <a:latin typeface="+mj-lt"/>
                <a:ea typeface="Calibri"/>
                <a:cs typeface="Calibri"/>
              </a:rPr>
              <a:t>I&amp;O Roadmap Leadership</a:t>
            </a:r>
            <a:endParaRPr lang="en-US" sz="1600">
              <a:latin typeface="+mj-lt"/>
              <a:cs typeface="Arial"/>
            </a:endParaRPr>
          </a:p>
        </p:txBody>
      </p:sp>
      <p:sp>
        <p:nvSpPr>
          <p:cNvPr id="46" name="Text 11">
            <a:extLst>
              <a:ext uri="{FF2B5EF4-FFF2-40B4-BE49-F238E27FC236}">
                <a16:creationId xmlns:a16="http://schemas.microsoft.com/office/drawing/2014/main" id="{C2440F31-9BF1-6DB1-49D3-492B98848E02}"/>
              </a:ext>
            </a:extLst>
          </p:cNvPr>
          <p:cNvSpPr/>
          <p:nvPr/>
        </p:nvSpPr>
        <p:spPr>
          <a:xfrm>
            <a:off x="6126480" y="1368367"/>
            <a:ext cx="5486400" cy="320040"/>
          </a:xfrm>
          <a:prstGeom prst="rect">
            <a:avLst/>
          </a:prstGeom>
          <a:noFill/>
          <a:ln/>
        </p:spPr>
        <p:txBody>
          <a:bodyPr wrap="square" rtlCol="0" anchor="ctr"/>
          <a:lstStyle/>
          <a:p>
            <a:pPr marL="0" indent="0">
              <a:buNone/>
            </a:pPr>
            <a:r>
              <a:rPr lang="en-US" sz="1600" b="1">
                <a:solidFill>
                  <a:srgbClr val="2E2E38"/>
                </a:solidFill>
                <a:latin typeface="+mj-lt"/>
                <a:ea typeface="Calibri" pitchFamily="34" charset="-122"/>
                <a:cs typeface="Calibri" pitchFamily="34" charset="-120"/>
              </a:rPr>
              <a:t>Author:</a:t>
            </a:r>
            <a:endParaRPr lang="en-US" sz="1600">
              <a:latin typeface="+mj-lt"/>
            </a:endParaRPr>
          </a:p>
        </p:txBody>
      </p:sp>
      <p:sp>
        <p:nvSpPr>
          <p:cNvPr id="50" name="Text 12">
            <a:extLst>
              <a:ext uri="{FF2B5EF4-FFF2-40B4-BE49-F238E27FC236}">
                <a16:creationId xmlns:a16="http://schemas.microsoft.com/office/drawing/2014/main" id="{26327140-21DD-3777-425A-3CB87E622166}"/>
              </a:ext>
            </a:extLst>
          </p:cNvPr>
          <p:cNvSpPr/>
          <p:nvPr/>
        </p:nvSpPr>
        <p:spPr>
          <a:xfrm>
            <a:off x="6126480" y="1734127"/>
            <a:ext cx="5486400" cy="457200"/>
          </a:xfrm>
          <a:prstGeom prst="rect">
            <a:avLst/>
          </a:prstGeom>
          <a:noFill/>
          <a:ln/>
        </p:spPr>
        <p:txBody>
          <a:bodyPr wrap="square" rtlCol="0" anchor="t"/>
          <a:lstStyle/>
          <a:p>
            <a:pPr marL="177800" indent="-177800">
              <a:spcAft>
                <a:spcPts val="800"/>
              </a:spcAft>
              <a:buSzPct val="100000"/>
              <a:buChar char="•"/>
            </a:pPr>
            <a:r>
              <a:rPr lang="en-US" sz="1600">
                <a:solidFill>
                  <a:srgbClr val="2E2E38"/>
                </a:solidFill>
                <a:latin typeface="+mj-lt"/>
                <a:ea typeface="Calibri" pitchFamily="34" charset="-122"/>
                <a:cs typeface="Calibri" pitchFamily="34" charset="-120"/>
              </a:rPr>
              <a:t>Santhosh Kumar Chandrashekar, Enterprise Architecture</a:t>
            </a:r>
            <a:endParaRPr lang="en-US" sz="1600">
              <a:latin typeface="+mj-lt"/>
            </a:endParaRPr>
          </a:p>
        </p:txBody>
      </p:sp>
      <p:sp>
        <p:nvSpPr>
          <p:cNvPr id="54" name="Text 13">
            <a:extLst>
              <a:ext uri="{FF2B5EF4-FFF2-40B4-BE49-F238E27FC236}">
                <a16:creationId xmlns:a16="http://schemas.microsoft.com/office/drawing/2014/main" id="{4D6A4DAB-BE27-07E0-F9C8-9985352430BF}"/>
              </a:ext>
            </a:extLst>
          </p:cNvPr>
          <p:cNvSpPr/>
          <p:nvPr/>
        </p:nvSpPr>
        <p:spPr>
          <a:xfrm>
            <a:off x="6126480" y="2374207"/>
            <a:ext cx="5486400" cy="320040"/>
          </a:xfrm>
          <a:prstGeom prst="rect">
            <a:avLst/>
          </a:prstGeom>
          <a:noFill/>
          <a:ln/>
        </p:spPr>
        <p:txBody>
          <a:bodyPr wrap="square" lIns="91440" tIns="45720" rIns="91440" bIns="45720" rtlCol="0" anchor="ctr"/>
          <a:lstStyle/>
          <a:p>
            <a:pPr marL="0" indent="0">
              <a:buNone/>
            </a:pPr>
            <a:r>
              <a:rPr lang="en-US" sz="1600" b="1">
                <a:solidFill>
                  <a:srgbClr val="2E2E38"/>
                </a:solidFill>
                <a:latin typeface="+mj-lt"/>
                <a:ea typeface="Calibri"/>
                <a:cs typeface="Calibri"/>
              </a:rPr>
              <a:t>Contributors:</a:t>
            </a:r>
            <a:endParaRPr lang="en-US" sz="1600">
              <a:latin typeface="+mj-lt"/>
              <a:ea typeface="Calibri"/>
              <a:cs typeface="Calibri"/>
            </a:endParaRPr>
          </a:p>
        </p:txBody>
      </p:sp>
      <p:sp>
        <p:nvSpPr>
          <p:cNvPr id="58" name="Text 14">
            <a:extLst>
              <a:ext uri="{FF2B5EF4-FFF2-40B4-BE49-F238E27FC236}">
                <a16:creationId xmlns:a16="http://schemas.microsoft.com/office/drawing/2014/main" id="{47ACE0D8-0CFA-96FE-B2C1-2BCAC67F83D5}"/>
              </a:ext>
            </a:extLst>
          </p:cNvPr>
          <p:cNvSpPr/>
          <p:nvPr/>
        </p:nvSpPr>
        <p:spPr>
          <a:xfrm>
            <a:off x="6103390" y="2693786"/>
            <a:ext cx="5509490" cy="1135610"/>
          </a:xfrm>
          <a:prstGeom prst="rect">
            <a:avLst/>
          </a:prstGeom>
          <a:noFill/>
          <a:ln/>
        </p:spPr>
        <p:txBody>
          <a:bodyPr wrap="square" lIns="91440" tIns="45720" rIns="91440" bIns="45720" rtlCol="0" anchor="t"/>
          <a:lstStyle/>
          <a:p>
            <a:pPr marL="177800" indent="-177800">
              <a:spcAft>
                <a:spcPts val="800"/>
              </a:spcAft>
              <a:buSzPct val="100000"/>
              <a:buFont typeface="Arial"/>
              <a:buChar char="•"/>
            </a:pPr>
            <a:r>
              <a:rPr lang="en-US" sz="1600">
                <a:solidFill>
                  <a:srgbClr val="2E2E38"/>
                </a:solidFill>
                <a:latin typeface="+mj-lt"/>
                <a:ea typeface="Calibri"/>
                <a:cs typeface="Calibri"/>
              </a:rPr>
              <a:t>Glen Loewen, Infrastructure &amp; Operations</a:t>
            </a:r>
          </a:p>
          <a:p>
            <a:pPr marL="177800" indent="-177800">
              <a:spcAft>
                <a:spcPts val="800"/>
              </a:spcAft>
              <a:buSzPct val="100000"/>
              <a:buFont typeface="Arial"/>
              <a:buChar char="•"/>
            </a:pPr>
            <a:r>
              <a:rPr lang="en-US" sz="1600">
                <a:solidFill>
                  <a:srgbClr val="2E2E38"/>
                </a:solidFill>
                <a:latin typeface="+mj-lt"/>
                <a:ea typeface="Calibri"/>
                <a:cs typeface="Calibri"/>
              </a:rPr>
              <a:t>John-Paul Vassart, Infrastructure &amp; Operations</a:t>
            </a:r>
          </a:p>
          <a:p>
            <a:pPr marL="177800" indent="-177800">
              <a:spcAft>
                <a:spcPts val="800"/>
              </a:spcAft>
              <a:buSzPct val="100000"/>
              <a:buFont typeface="Arial"/>
              <a:buChar char="•"/>
            </a:pPr>
            <a:r>
              <a:rPr lang="en-US" sz="1600">
                <a:solidFill>
                  <a:srgbClr val="2E2E38"/>
                </a:solidFill>
                <a:latin typeface="+mj-lt"/>
                <a:ea typeface="Calibri"/>
                <a:cs typeface="Calibri"/>
              </a:rPr>
              <a:t>Rakesh Nair, Enterprise Architecture</a:t>
            </a:r>
          </a:p>
          <a:p>
            <a:pPr marL="177800" indent="-177800">
              <a:spcAft>
                <a:spcPts val="800"/>
              </a:spcAft>
              <a:buSzPct val="100000"/>
              <a:buChar char="•"/>
            </a:pPr>
            <a:endParaRPr lang="en-US" sz="1600">
              <a:solidFill>
                <a:srgbClr val="2E2E38"/>
              </a:solidFill>
              <a:latin typeface="+mj-lt"/>
              <a:ea typeface="Calibri"/>
              <a:cs typeface="Calibri"/>
            </a:endParaRPr>
          </a:p>
        </p:txBody>
      </p:sp>
      <p:sp>
        <p:nvSpPr>
          <p:cNvPr id="2" name="Text 9">
            <a:extLst>
              <a:ext uri="{FF2B5EF4-FFF2-40B4-BE49-F238E27FC236}">
                <a16:creationId xmlns:a16="http://schemas.microsoft.com/office/drawing/2014/main" id="{3469F0F4-3651-4E19-D202-D8F4F472D8C0}"/>
              </a:ext>
            </a:extLst>
          </p:cNvPr>
          <p:cNvSpPr/>
          <p:nvPr/>
        </p:nvSpPr>
        <p:spPr>
          <a:xfrm>
            <a:off x="457662" y="3888509"/>
            <a:ext cx="5301343" cy="287383"/>
          </a:xfrm>
          <a:prstGeom prst="rect">
            <a:avLst/>
          </a:prstGeom>
          <a:noFill/>
          <a:ln/>
        </p:spPr>
        <p:txBody>
          <a:bodyPr wrap="square"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2E2E38"/>
                </a:solidFill>
                <a:latin typeface="+mj-lt"/>
                <a:ea typeface="Calibri"/>
                <a:cs typeface="Calibri"/>
              </a:rPr>
              <a:t>Approval L1:</a:t>
            </a:r>
            <a:endParaRPr lang="en-US" sz="1600">
              <a:latin typeface="+mj-lt"/>
              <a:ea typeface="Calibri"/>
              <a:cs typeface="Calibri"/>
            </a:endParaRPr>
          </a:p>
        </p:txBody>
      </p:sp>
      <p:sp>
        <p:nvSpPr>
          <p:cNvPr id="4" name="Text 8">
            <a:extLst>
              <a:ext uri="{FF2B5EF4-FFF2-40B4-BE49-F238E27FC236}">
                <a16:creationId xmlns:a16="http://schemas.microsoft.com/office/drawing/2014/main" id="{6D1FBF36-DC0B-2D42-FA7D-EEED50D3B287}"/>
              </a:ext>
            </a:extLst>
          </p:cNvPr>
          <p:cNvSpPr/>
          <p:nvPr/>
        </p:nvSpPr>
        <p:spPr>
          <a:xfrm>
            <a:off x="457200" y="4334691"/>
            <a:ext cx="5303520" cy="822960"/>
          </a:xfrm>
          <a:prstGeom prst="rect">
            <a:avLst/>
          </a:prstGeom>
          <a:noFill/>
          <a:ln/>
        </p:spPr>
        <p:txBody>
          <a:bodyPr wrap="square" lIns="91440" tIns="45720" rIns="91440" bIns="45720" rtlCol="0" anchor="t"/>
          <a:lstStyle/>
          <a:p>
            <a:pPr marL="177800" indent="-177800">
              <a:spcAft>
                <a:spcPts val="800"/>
              </a:spcAft>
              <a:buSzPct val="100000"/>
              <a:buFont typeface="Arial"/>
              <a:buChar char="•"/>
            </a:pPr>
            <a:r>
              <a:rPr lang="en-US" sz="1600">
                <a:solidFill>
                  <a:srgbClr val="2E2E38"/>
                </a:solidFill>
                <a:latin typeface="+mj-lt"/>
                <a:ea typeface="Calibri"/>
                <a:cs typeface="Calibri"/>
              </a:rPr>
              <a:t>Hani Mousa</a:t>
            </a:r>
            <a:endParaRPr lang="en-US" sz="1600">
              <a:cs typeface="Arial"/>
            </a:endParaRPr>
          </a:p>
          <a:p>
            <a:pPr marL="177800" indent="-177800">
              <a:spcAft>
                <a:spcPts val="800"/>
              </a:spcAft>
              <a:buSzPct val="100000"/>
              <a:buFont typeface="Arial"/>
              <a:buChar char="•"/>
            </a:pPr>
            <a:r>
              <a:rPr lang="en-US" sz="1600">
                <a:solidFill>
                  <a:srgbClr val="2E2E38"/>
                </a:solidFill>
                <a:latin typeface="+mj-lt"/>
                <a:ea typeface="Calibri"/>
                <a:cs typeface="Calibri"/>
              </a:rPr>
              <a:t>Goran </a:t>
            </a:r>
            <a:r>
              <a:rPr lang="en-US" sz="1600" err="1">
                <a:solidFill>
                  <a:srgbClr val="2E2E38"/>
                </a:solidFill>
                <a:latin typeface="+mj-lt"/>
                <a:ea typeface="Calibri"/>
                <a:cs typeface="Calibri"/>
              </a:rPr>
              <a:t>Zugic</a:t>
            </a:r>
            <a:endParaRPr lang="en-US" sz="1600" err="1">
              <a:latin typeface="+mj-lt"/>
              <a:cs typeface="Arial"/>
            </a:endParaRPr>
          </a:p>
        </p:txBody>
      </p:sp>
      <p:sp>
        <p:nvSpPr>
          <p:cNvPr id="5" name="Text 9">
            <a:extLst>
              <a:ext uri="{FF2B5EF4-FFF2-40B4-BE49-F238E27FC236}">
                <a16:creationId xmlns:a16="http://schemas.microsoft.com/office/drawing/2014/main" id="{6AA259F8-D9C3-0E39-8225-4A20A0D4021A}"/>
              </a:ext>
            </a:extLst>
          </p:cNvPr>
          <p:cNvSpPr/>
          <p:nvPr/>
        </p:nvSpPr>
        <p:spPr>
          <a:xfrm>
            <a:off x="6183547" y="3888509"/>
            <a:ext cx="5301343" cy="287383"/>
          </a:xfrm>
          <a:prstGeom prst="rect">
            <a:avLst/>
          </a:prstGeom>
          <a:noFill/>
          <a:ln/>
        </p:spPr>
        <p:txBody>
          <a:bodyPr wrap="square"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2E2E38"/>
                </a:solidFill>
                <a:latin typeface="+mj-lt"/>
                <a:ea typeface="Calibri"/>
                <a:cs typeface="Calibri"/>
              </a:rPr>
              <a:t>Approval L2:</a:t>
            </a:r>
            <a:endParaRPr lang="en-US" sz="1600">
              <a:latin typeface="+mj-lt"/>
              <a:ea typeface="Calibri"/>
              <a:cs typeface="Calibri"/>
            </a:endParaRPr>
          </a:p>
        </p:txBody>
      </p:sp>
      <p:sp>
        <p:nvSpPr>
          <p:cNvPr id="6" name="Text 8">
            <a:extLst>
              <a:ext uri="{FF2B5EF4-FFF2-40B4-BE49-F238E27FC236}">
                <a16:creationId xmlns:a16="http://schemas.microsoft.com/office/drawing/2014/main" id="{C1AF8696-CD81-3768-0E97-2678900D1C6F}"/>
              </a:ext>
            </a:extLst>
          </p:cNvPr>
          <p:cNvSpPr/>
          <p:nvPr/>
        </p:nvSpPr>
        <p:spPr>
          <a:xfrm>
            <a:off x="6139543" y="4334691"/>
            <a:ext cx="5347062" cy="1149531"/>
          </a:xfrm>
          <a:prstGeom prst="rect">
            <a:avLst/>
          </a:prstGeom>
          <a:noFill/>
          <a:ln/>
        </p:spPr>
        <p:txBody>
          <a:bodyPr wrap="square" lIns="91440" tIns="45720" rIns="91440" bIns="45720" rtlCol="0" anchor="t"/>
          <a:lstStyle/>
          <a:p>
            <a:pPr marL="177800" indent="-177800">
              <a:spcAft>
                <a:spcPts val="800"/>
              </a:spcAft>
              <a:buSzPct val="100000"/>
              <a:buFont typeface="Arial"/>
              <a:buChar char="•"/>
            </a:pPr>
            <a:r>
              <a:rPr lang="en-US" sz="1600">
                <a:solidFill>
                  <a:srgbClr val="2E2E38"/>
                </a:solidFill>
                <a:latin typeface="+mj-lt"/>
                <a:ea typeface="Calibri"/>
                <a:cs typeface="Calibri"/>
              </a:rPr>
              <a:t>Charles Lewis</a:t>
            </a:r>
            <a:endParaRPr lang="en-US" sz="1600">
              <a:cs typeface="Arial"/>
            </a:endParaRPr>
          </a:p>
          <a:p>
            <a:pPr marL="177800" indent="-177800">
              <a:spcAft>
                <a:spcPts val="800"/>
              </a:spcAft>
              <a:buSzPct val="100000"/>
              <a:buFont typeface="Arial"/>
              <a:buChar char="•"/>
            </a:pPr>
            <a:r>
              <a:rPr lang="en-US" sz="1600">
                <a:solidFill>
                  <a:srgbClr val="2E2E38"/>
                </a:solidFill>
                <a:latin typeface="+mj-lt"/>
                <a:ea typeface="Calibri"/>
                <a:cs typeface="Calibri"/>
              </a:rPr>
              <a:t>Joe Kitchen</a:t>
            </a:r>
          </a:p>
          <a:p>
            <a:pPr marL="177800" indent="-177800">
              <a:spcAft>
                <a:spcPts val="800"/>
              </a:spcAft>
              <a:buSzPct val="100000"/>
              <a:buFont typeface="Arial"/>
              <a:buChar char="•"/>
            </a:pPr>
            <a:r>
              <a:rPr lang="en-US" sz="1600">
                <a:solidFill>
                  <a:srgbClr val="2E2E38"/>
                </a:solidFill>
                <a:latin typeface="+mj-lt"/>
                <a:ea typeface="Calibri"/>
                <a:cs typeface="Calibri"/>
              </a:rPr>
              <a:t>Kaushik Venkatadri</a:t>
            </a:r>
          </a:p>
        </p:txBody>
      </p:sp>
    </p:spTree>
    <p:extLst>
      <p:ext uri="{BB962C8B-B14F-4D97-AF65-F5344CB8AC3E}">
        <p14:creationId xmlns:p14="http://schemas.microsoft.com/office/powerpoint/2010/main" val="1872616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703E8-E797-A844-1338-53CA33B98F04}"/>
            </a:ext>
          </a:extLst>
        </p:cNvPr>
        <p:cNvGrpSpPr/>
        <p:nvPr/>
      </p:nvGrpSpPr>
      <p:grpSpPr>
        <a:xfrm>
          <a:off x="0" y="0"/>
          <a:ext cx="0" cy="0"/>
          <a:chOff x="0" y="0"/>
          <a:chExt cx="0" cy="0"/>
        </a:xfrm>
      </p:grpSpPr>
      <p:sp>
        <p:nvSpPr>
          <p:cNvPr id="20" name="Text 4">
            <a:extLst>
              <a:ext uri="{FF2B5EF4-FFF2-40B4-BE49-F238E27FC236}">
                <a16:creationId xmlns:a16="http://schemas.microsoft.com/office/drawing/2014/main" id="{FDB9F2B4-FFF5-3567-9FC6-6E980EE5C692}"/>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Table of Contents</a:t>
            </a:r>
            <a:endParaRPr lang="en-US" sz="2600">
              <a:latin typeface="+mj-lt"/>
            </a:endParaRPr>
          </a:p>
        </p:txBody>
      </p:sp>
      <p:graphicFrame>
        <p:nvGraphicFramePr>
          <p:cNvPr id="24" name="Table 0">
            <a:extLst>
              <a:ext uri="{FF2B5EF4-FFF2-40B4-BE49-F238E27FC236}">
                <a16:creationId xmlns:a16="http://schemas.microsoft.com/office/drawing/2014/main" id="{F6E34DB6-69CF-6BDF-2294-F08276557D9A}"/>
              </a:ext>
            </a:extLst>
          </p:cNvPr>
          <p:cNvGraphicFramePr>
            <a:graphicFrameLocks noGrp="1"/>
          </p:cNvGraphicFramePr>
          <p:nvPr>
            <p:extLst>
              <p:ext uri="{D42A27DB-BD31-4B8C-83A1-F6EECF244321}">
                <p14:modId xmlns:p14="http://schemas.microsoft.com/office/powerpoint/2010/main" val="1459960546"/>
              </p:ext>
            </p:extLst>
          </p:nvPr>
        </p:nvGraphicFramePr>
        <p:xfrm>
          <a:off x="1371600" y="1371600"/>
          <a:ext cx="9418320" cy="3822192"/>
        </p:xfrm>
        <a:graphic>
          <a:graphicData uri="http://schemas.openxmlformats.org/drawingml/2006/table">
            <a:tbl>
              <a:tblPr/>
              <a:tblGrid>
                <a:gridCol w="8046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47472">
                <a:tc>
                  <a:txBody>
                    <a:bodyPr/>
                    <a:lstStyle/>
                    <a:p>
                      <a:pPr marL="0" indent="0">
                        <a:buNone/>
                      </a:pPr>
                      <a:r>
                        <a:rPr lang="en-US" sz="1600" b="1">
                          <a:solidFill>
                            <a:srgbClr val="FFFFFF"/>
                          </a:solidFill>
                          <a:latin typeface="Arial"/>
                          <a:ea typeface="Calibri"/>
                          <a:cs typeface="Arial"/>
                        </a:rPr>
                        <a:t>Topic</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r>
                        <a:rPr lang="en-US" sz="1600" b="1">
                          <a:solidFill>
                            <a:srgbClr val="FFFFFF"/>
                          </a:solidFill>
                          <a:latin typeface="Arial"/>
                          <a:ea typeface="Calibri"/>
                          <a:cs typeface="Arial"/>
                        </a:rPr>
                        <a:t>Page</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extLst>
                  <a:ext uri="{0D108BD9-81ED-4DB2-BD59-A6C34878D82A}">
                    <a16:rowId xmlns:a16="http://schemas.microsoft.com/office/drawing/2014/main" val="10000"/>
                  </a:ext>
                </a:extLst>
              </a:tr>
              <a:tr h="347472">
                <a:tc>
                  <a:txBody>
                    <a:bodyPr/>
                    <a:lstStyle/>
                    <a:p>
                      <a:pPr marL="0" indent="0">
                        <a:buNone/>
                      </a:pPr>
                      <a:r>
                        <a:rPr lang="en-US" sz="1600">
                          <a:solidFill>
                            <a:srgbClr val="2E2E38"/>
                          </a:solidFill>
                          <a:latin typeface="Arial"/>
                          <a:ea typeface="Calibri"/>
                          <a:cs typeface="Arial"/>
                        </a:rPr>
                        <a:t>Vision</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600">
                          <a:solidFill>
                            <a:srgbClr val="2E2E38"/>
                          </a:solidFill>
                          <a:latin typeface="Arial"/>
                          <a:ea typeface="Calibri"/>
                          <a:cs typeface="Arial"/>
                        </a:rPr>
                        <a:t>Database Services Value Chain</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47472">
                <a:tc>
                  <a:txBody>
                    <a:bodyPr/>
                    <a:lstStyle/>
                    <a:p>
                      <a:pPr marL="0" indent="0">
                        <a:buNone/>
                      </a:pPr>
                      <a:r>
                        <a:rPr lang="en-US" sz="1600">
                          <a:solidFill>
                            <a:srgbClr val="2E2E38"/>
                          </a:solidFill>
                          <a:latin typeface="Arial"/>
                          <a:ea typeface="Calibri"/>
                          <a:cs typeface="Arial"/>
                        </a:rPr>
                        <a:t>Guiding Principles</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600">
                          <a:solidFill>
                            <a:srgbClr val="2E2E38"/>
                          </a:solidFill>
                          <a:latin typeface="+mn-lt"/>
                          <a:ea typeface="Calibri"/>
                          <a:cs typeface="Arial"/>
                        </a:rPr>
                        <a:t>Strategic Focus Areas &amp; Transformation Opportunities</a:t>
                      </a:r>
                      <a:endParaRPr lang="en-US" sz="1600">
                        <a:latin typeface="+mn-lt"/>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47472">
                <a:tc>
                  <a:txBody>
                    <a:bodyPr/>
                    <a:lstStyle/>
                    <a:p>
                      <a:pPr marL="0" indent="0">
                        <a:buNone/>
                      </a:pPr>
                      <a:r>
                        <a:rPr lang="en-US" sz="1600">
                          <a:solidFill>
                            <a:srgbClr val="2E2E38"/>
                          </a:solidFill>
                          <a:latin typeface="Arial"/>
                          <a:ea typeface="Calibri"/>
                          <a:cs typeface="Arial"/>
                        </a:rPr>
                        <a:t>Alignment with the NORTH Data Platform</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600">
                          <a:solidFill>
                            <a:srgbClr val="2E2E38"/>
                          </a:solidFill>
                          <a:latin typeface="Arial"/>
                          <a:ea typeface="Calibri"/>
                          <a:cs typeface="Arial"/>
                        </a:rPr>
                        <a:t>Capability Mapping</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47472">
                <a:tc>
                  <a:txBody>
                    <a:bodyPr/>
                    <a:lstStyle/>
                    <a:p>
                      <a:pPr marL="0" indent="0">
                        <a:buNone/>
                      </a:pPr>
                      <a:r>
                        <a:rPr lang="en-US" sz="1600">
                          <a:solidFill>
                            <a:srgbClr val="2E2E38"/>
                          </a:solidFill>
                          <a:latin typeface="Arial"/>
                          <a:ea typeface="Calibri"/>
                          <a:cs typeface="Arial"/>
                        </a:rPr>
                        <a:t>Current State</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600">
                          <a:solidFill>
                            <a:srgbClr val="2E2E38"/>
                          </a:solidFill>
                          <a:latin typeface="Arial"/>
                          <a:ea typeface="Calibri"/>
                          <a:cs typeface="Arial"/>
                        </a:rPr>
                        <a:t>Target State</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347472">
                <a:tc>
                  <a:txBody>
                    <a:bodyPr/>
                    <a:lstStyle/>
                    <a:p>
                      <a:pPr marL="0" indent="0">
                        <a:buNone/>
                      </a:pPr>
                      <a:r>
                        <a:rPr lang="en-US" sz="1600">
                          <a:solidFill>
                            <a:srgbClr val="2E2E38"/>
                          </a:solidFill>
                          <a:latin typeface="Arial"/>
                          <a:ea typeface="Calibri"/>
                          <a:cs typeface="Arial"/>
                        </a:rPr>
                        <a:t>Work Packages / Initiatives Identification and Sequencing</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600">
                          <a:solidFill>
                            <a:srgbClr val="2E2E38"/>
                          </a:solidFill>
                          <a:latin typeface="Arial"/>
                          <a:ea typeface="Calibri"/>
                          <a:cs typeface="Arial"/>
                        </a:rPr>
                        <a:t>Appendix</a:t>
                      </a:r>
                      <a:endParaRPr lang="en-US" sz="1600">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endParaRPr lang="en-US" sz="1600">
                        <a:solidFill>
                          <a:srgbClr val="2E2E38"/>
                        </a:solidFill>
                        <a:latin typeface="Arial"/>
                        <a:ea typeface="Calibri"/>
                        <a:cs typeface="Arial"/>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182811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01F41-0C92-EFED-817F-B53F344AA4F2}"/>
            </a:ext>
          </a:extLst>
        </p:cNvPr>
        <p:cNvGrpSpPr/>
        <p:nvPr/>
      </p:nvGrpSpPr>
      <p:grpSpPr>
        <a:xfrm>
          <a:off x="0" y="0"/>
          <a:ext cx="0" cy="0"/>
          <a:chOff x="0" y="0"/>
          <a:chExt cx="0" cy="0"/>
        </a:xfrm>
      </p:grpSpPr>
      <p:sp>
        <p:nvSpPr>
          <p:cNvPr id="16" name="Text 4">
            <a:extLst>
              <a:ext uri="{FF2B5EF4-FFF2-40B4-BE49-F238E27FC236}">
                <a16:creationId xmlns:a16="http://schemas.microsoft.com/office/drawing/2014/main" id="{43AEDB5C-B8F2-D090-6759-87B6EDEE7675}"/>
              </a:ext>
            </a:extLst>
          </p:cNvPr>
          <p:cNvSpPr/>
          <p:nvPr/>
        </p:nvSpPr>
        <p:spPr>
          <a:xfrm>
            <a:off x="457200" y="384048"/>
            <a:ext cx="11155680" cy="640080"/>
          </a:xfrm>
          <a:prstGeom prst="rect">
            <a:avLst/>
          </a:prstGeom>
          <a:noFill/>
          <a:ln/>
        </p:spPr>
        <p:txBody>
          <a:bodyPr wrap="square" lIns="91440" tIns="45720" rIns="91440" bIns="45720" rtlCol="0" anchor="ctr"/>
          <a:lstStyle/>
          <a:p>
            <a:r>
              <a:rPr lang="en-US" sz="2600" b="1">
                <a:solidFill>
                  <a:srgbClr val="BA0C2F"/>
                </a:solidFill>
                <a:ea typeface="Calibri"/>
                <a:cs typeface="Calibri"/>
              </a:rPr>
              <a:t>Advancing Enterprise Database Maturity</a:t>
            </a:r>
          </a:p>
        </p:txBody>
      </p:sp>
      <p:sp>
        <p:nvSpPr>
          <p:cNvPr id="20" name="Shape 5">
            <a:extLst>
              <a:ext uri="{FF2B5EF4-FFF2-40B4-BE49-F238E27FC236}">
                <a16:creationId xmlns:a16="http://schemas.microsoft.com/office/drawing/2014/main" id="{6F87355D-56B5-BE9E-49E4-4AEEED22598D}"/>
              </a:ext>
            </a:extLst>
          </p:cNvPr>
          <p:cNvSpPr/>
          <p:nvPr/>
        </p:nvSpPr>
        <p:spPr>
          <a:xfrm>
            <a:off x="457200" y="1244600"/>
            <a:ext cx="6949440" cy="1371600"/>
          </a:xfrm>
          <a:prstGeom prst="roundRect">
            <a:avLst>
              <a:gd name="adj" fmla="val 4000"/>
            </a:avLst>
          </a:prstGeom>
          <a:solidFill>
            <a:srgbClr val="F0CCD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24" name="Text 6">
            <a:extLst>
              <a:ext uri="{FF2B5EF4-FFF2-40B4-BE49-F238E27FC236}">
                <a16:creationId xmlns:a16="http://schemas.microsoft.com/office/drawing/2014/main" id="{81F707D7-021F-52F1-401D-D8C4CDE771D1}"/>
              </a:ext>
            </a:extLst>
          </p:cNvPr>
          <p:cNvSpPr/>
          <p:nvPr/>
        </p:nvSpPr>
        <p:spPr>
          <a:xfrm>
            <a:off x="454892" y="1381759"/>
            <a:ext cx="6942511" cy="1096819"/>
          </a:xfrm>
          <a:prstGeom prst="rect">
            <a:avLst/>
          </a:prstGeom>
          <a:noFill/>
          <a:ln/>
        </p:spPr>
        <p:txBody>
          <a:bodyPr wrap="square" lIns="91440" tIns="45720" rIns="91440" bIns="45720" rtlCol="0" anchor="t"/>
          <a:lstStyle/>
          <a:p>
            <a:r>
              <a:rPr lang="en-US" sz="1400" b="1">
                <a:solidFill>
                  <a:srgbClr val="8C0924"/>
                </a:solidFill>
                <a:latin typeface="+mj-lt"/>
                <a:ea typeface="Calibri"/>
                <a:cs typeface="Calibri"/>
              </a:rPr>
              <a:t>Vision Statement : </a:t>
            </a:r>
            <a:r>
              <a:rPr lang="en-CA" sz="1400">
                <a:solidFill>
                  <a:srgbClr val="000000"/>
                </a:solidFill>
                <a:latin typeface="+mj-lt"/>
                <a:ea typeface="Calibri"/>
                <a:cs typeface="Arial"/>
              </a:rPr>
              <a:t>Advance a modern, resilient, and secure database enterprise that enables scalable growth, strengthens regulatory compliance, and accelerates innovation across the organization. Through strategic adoption of cloud-native and vendor-supported technologies, we will simplify operations, enhance service reliability, and unlock AI-enabled data capabilities that drive business value</a:t>
            </a:r>
            <a:endParaRPr lang="en-US" sz="1400">
              <a:latin typeface="+mj-lt"/>
              <a:ea typeface="Calibri"/>
            </a:endParaRPr>
          </a:p>
        </p:txBody>
      </p:sp>
      <p:sp>
        <p:nvSpPr>
          <p:cNvPr id="36" name="Shape 8">
            <a:extLst>
              <a:ext uri="{FF2B5EF4-FFF2-40B4-BE49-F238E27FC236}">
                <a16:creationId xmlns:a16="http://schemas.microsoft.com/office/drawing/2014/main" id="{13645A24-D1C5-C14E-8AC1-8C42A896C4A9}"/>
              </a:ext>
            </a:extLst>
          </p:cNvPr>
          <p:cNvSpPr/>
          <p:nvPr/>
        </p:nvSpPr>
        <p:spPr>
          <a:xfrm>
            <a:off x="7680960" y="1244600"/>
            <a:ext cx="4023360" cy="4663440"/>
          </a:xfrm>
          <a:prstGeom prst="roundRect">
            <a:avLst>
              <a:gd name="adj" fmla="val 1364"/>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70" name="Text 22">
            <a:extLst>
              <a:ext uri="{FF2B5EF4-FFF2-40B4-BE49-F238E27FC236}">
                <a16:creationId xmlns:a16="http://schemas.microsoft.com/office/drawing/2014/main" id="{D772D924-3DEC-64F4-C5F4-7C66828B2470}"/>
              </a:ext>
            </a:extLst>
          </p:cNvPr>
          <p:cNvSpPr/>
          <p:nvPr/>
        </p:nvSpPr>
        <p:spPr>
          <a:xfrm>
            <a:off x="457200" y="6172200"/>
            <a:ext cx="11247120" cy="457200"/>
          </a:xfrm>
          <a:prstGeom prst="rect">
            <a:avLst/>
          </a:prstGeom>
          <a:noFill/>
          <a:ln/>
        </p:spPr>
        <p:txBody>
          <a:bodyPr wrap="square" lIns="91440" tIns="45720" rIns="91440" bIns="45720" rtlCol="0" anchor="ctr"/>
          <a:lstStyle/>
          <a:p>
            <a:r>
              <a:rPr lang="en-US" sz="1200" b="1" i="1">
                <a:solidFill>
                  <a:srgbClr val="000000"/>
                </a:solidFill>
                <a:latin typeface="+mj-lt"/>
                <a:ea typeface="Calibri" pitchFamily="34" charset="-122"/>
                <a:cs typeface="Arial"/>
              </a:rPr>
              <a:t>“</a:t>
            </a:r>
            <a:r>
              <a:rPr lang="en-CA" sz="1200" b="1" i="1">
                <a:solidFill>
                  <a:srgbClr val="000000"/>
                </a:solidFill>
                <a:latin typeface="+mj-lt"/>
                <a:ea typeface="Calibri" pitchFamily="34" charset="-122"/>
                <a:cs typeface="Arial"/>
              </a:rPr>
              <a:t>Delivering Secure, Intelligent, and Resilient Data Platforms for the Future of Financial Services</a:t>
            </a:r>
            <a:r>
              <a:rPr lang="en-US" sz="1200" b="1" i="1">
                <a:solidFill>
                  <a:srgbClr val="000000"/>
                </a:solidFill>
                <a:latin typeface="+mj-lt"/>
                <a:ea typeface="Calibri" pitchFamily="34" charset="-122"/>
                <a:cs typeface="Arial"/>
              </a:rPr>
              <a:t>”</a:t>
            </a:r>
            <a:endParaRPr lang="en-US" sz="1200" b="1">
              <a:solidFill>
                <a:srgbClr val="000000"/>
              </a:solidFill>
              <a:latin typeface="+mj-lt"/>
              <a:ea typeface="Calibri" pitchFamily="34" charset="-122"/>
              <a:cs typeface="Arial"/>
            </a:endParaRPr>
          </a:p>
        </p:txBody>
      </p:sp>
      <p:sp>
        <p:nvSpPr>
          <p:cNvPr id="3" name="Oval 2">
            <a:extLst>
              <a:ext uri="{FF2B5EF4-FFF2-40B4-BE49-F238E27FC236}">
                <a16:creationId xmlns:a16="http://schemas.microsoft.com/office/drawing/2014/main" id="{8D5E2EA6-9F8F-9801-96FD-4A6BF208CE89}"/>
              </a:ext>
            </a:extLst>
          </p:cNvPr>
          <p:cNvSpPr/>
          <p:nvPr/>
        </p:nvSpPr>
        <p:spPr>
          <a:xfrm>
            <a:off x="2767610" y="3159366"/>
            <a:ext cx="2369560" cy="2371919"/>
          </a:xfrm>
          <a:prstGeom prst="ellipse">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4" name="Diagram 3">
            <a:extLst>
              <a:ext uri="{FF2B5EF4-FFF2-40B4-BE49-F238E27FC236}">
                <a16:creationId xmlns:a16="http://schemas.microsoft.com/office/drawing/2014/main" id="{C688069A-DBF1-FCE3-566E-0D68BFF49D04}"/>
              </a:ext>
            </a:extLst>
          </p:cNvPr>
          <p:cNvGraphicFramePr/>
          <p:nvPr>
            <p:extLst>
              <p:ext uri="{D42A27DB-BD31-4B8C-83A1-F6EECF244321}">
                <p14:modId xmlns:p14="http://schemas.microsoft.com/office/powerpoint/2010/main" val="1482272395"/>
              </p:ext>
            </p:extLst>
          </p:nvPr>
        </p:nvGraphicFramePr>
        <p:xfrm>
          <a:off x="2121503" y="2756567"/>
          <a:ext cx="3618379" cy="2812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1576">
            <a:extLst>
              <a:ext uri="{FF2B5EF4-FFF2-40B4-BE49-F238E27FC236}">
                <a16:creationId xmlns:a16="http://schemas.microsoft.com/office/drawing/2014/main" id="{585303E3-457F-A883-96E2-DB8BE91EF566}"/>
              </a:ext>
            </a:extLst>
          </p:cNvPr>
          <p:cNvSpPr txBox="1"/>
          <p:nvPr/>
        </p:nvSpPr>
        <p:spPr>
          <a:xfrm>
            <a:off x="3059694" y="3928345"/>
            <a:ext cx="1717815" cy="866904"/>
          </a:xfrm>
          <a:prstGeom prst="rect">
            <a:avLst/>
          </a:prstGeom>
          <a:noFill/>
        </p:spPr>
        <p:txBody>
          <a:bodyPr rot="0" spcFirstLastPara="0" vert="horz" wrap="square" lIns="0" tIns="0" rIns="0" bIns="0" numCol="1" spcCol="228600" rtlCol="0" fromWordArt="0" anchor="ctr" anchorCtr="0" forceAA="0" compatLnSpc="1">
            <a:prstTxWarp prst="textNoShape">
              <a:avLst/>
            </a:prstTxWarp>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500"/>
              </a:spcAft>
            </a:pPr>
            <a:r>
              <a:rPr lang="en-US" sz="1600" b="1">
                <a:solidFill>
                  <a:srgbClr val="000000"/>
                </a:solidFill>
                <a:cs typeface="Arial"/>
              </a:rPr>
              <a:t>Enterprise </a:t>
            </a:r>
            <a:endParaRPr lang="en-US" sz="1600">
              <a:solidFill>
                <a:srgbClr val="000000"/>
              </a:solidFill>
              <a:cs typeface="Arial" panose="020B0604020202020204"/>
            </a:endParaRPr>
          </a:p>
          <a:p>
            <a:pPr algn="ctr">
              <a:spcAft>
                <a:spcPts val="500"/>
              </a:spcAft>
            </a:pPr>
            <a:r>
              <a:rPr lang="en-US" sz="1600" b="1">
                <a:solidFill>
                  <a:srgbClr val="000000"/>
                </a:solidFill>
                <a:cs typeface="Arial"/>
              </a:rPr>
              <a:t>Database Value </a:t>
            </a:r>
            <a:endParaRPr lang="en-US" sz="1600">
              <a:solidFill>
                <a:srgbClr val="000000"/>
              </a:solidFill>
              <a:cs typeface="Arial"/>
            </a:endParaRPr>
          </a:p>
          <a:p>
            <a:pPr algn="ctr">
              <a:spcAft>
                <a:spcPts val="500"/>
              </a:spcAft>
            </a:pPr>
            <a:r>
              <a:rPr lang="en-US" sz="1600" b="1">
                <a:solidFill>
                  <a:srgbClr val="000000"/>
                </a:solidFill>
                <a:cs typeface="Arial"/>
              </a:rPr>
              <a:t>Pillars</a:t>
            </a:r>
            <a:endParaRPr lang="en-US" sz="1600">
              <a:solidFill>
                <a:srgbClr val="000000"/>
              </a:solidFill>
              <a:cs typeface="Arial"/>
            </a:endParaRPr>
          </a:p>
        </p:txBody>
      </p:sp>
      <p:graphicFrame>
        <p:nvGraphicFramePr>
          <p:cNvPr id="76" name="Table 75">
            <a:extLst>
              <a:ext uri="{FF2B5EF4-FFF2-40B4-BE49-F238E27FC236}">
                <a16:creationId xmlns:a16="http://schemas.microsoft.com/office/drawing/2014/main" id="{DB761A80-5DE6-2F98-8954-B79E80CADCF1}"/>
              </a:ext>
            </a:extLst>
          </p:cNvPr>
          <p:cNvGraphicFramePr>
            <a:graphicFrameLocks noGrp="1"/>
          </p:cNvGraphicFramePr>
          <p:nvPr>
            <p:extLst>
              <p:ext uri="{D42A27DB-BD31-4B8C-83A1-F6EECF244321}">
                <p14:modId xmlns:p14="http://schemas.microsoft.com/office/powerpoint/2010/main" val="1855644425"/>
              </p:ext>
            </p:extLst>
          </p:nvPr>
        </p:nvGraphicFramePr>
        <p:xfrm>
          <a:off x="8035636" y="1593272"/>
          <a:ext cx="3314744" cy="2171700"/>
        </p:xfrm>
        <a:graphic>
          <a:graphicData uri="http://schemas.openxmlformats.org/drawingml/2006/table">
            <a:tbl>
              <a:tblPr bandRow="1">
                <a:tableStyleId>{5C22544A-7EE6-4342-B048-85BDC9FD1C3A}</a:tableStyleId>
              </a:tblPr>
              <a:tblGrid>
                <a:gridCol w="3314744">
                  <a:extLst>
                    <a:ext uri="{9D8B030D-6E8A-4147-A177-3AD203B41FA5}">
                      <a16:colId xmlns:a16="http://schemas.microsoft.com/office/drawing/2014/main" val="2241366878"/>
                    </a:ext>
                  </a:extLst>
                </a:gridCol>
              </a:tblGrid>
              <a:tr h="361950">
                <a:tc>
                  <a:txBody>
                    <a:bodyPr/>
                    <a:lstStyle/>
                    <a:p>
                      <a:pPr marL="0" algn="ctr" fontAlgn="base">
                        <a:buNone/>
                      </a:pPr>
                      <a:r>
                        <a:rPr lang="en-US" sz="1400" b="1">
                          <a:solidFill>
                            <a:srgbClr val="FFFFFF"/>
                          </a:solidFill>
                          <a:effectLst/>
                          <a:latin typeface="Arial"/>
                        </a:rPr>
                        <a:t>Business Outcomes</a:t>
                      </a:r>
                    </a:p>
                  </a:txBody>
                  <a:tcPr anchor="ctr">
                    <a:lnL w="9525" cap="flat" cmpd="sng" algn="ctr">
                      <a:solidFill>
                        <a:srgbClr val="515349"/>
                      </a:solidFill>
                      <a:prstDash val="solid"/>
                      <a:round/>
                      <a:headEnd type="none" w="med" len="med"/>
                      <a:tailEnd type="none" w="med" len="med"/>
                    </a:lnL>
                    <a:lnR w="9525" cap="flat" cmpd="sng" algn="ctr">
                      <a:solidFill>
                        <a:srgbClr val="515349"/>
                      </a:solidFill>
                      <a:prstDash val="solid"/>
                      <a:round/>
                      <a:headEnd type="none" w="med" len="med"/>
                      <a:tailEnd type="none" w="med" len="med"/>
                    </a:lnR>
                    <a:lnT w="9525" cap="flat" cmpd="sng" algn="ctr">
                      <a:solidFill>
                        <a:srgbClr val="515349"/>
                      </a:solidFill>
                      <a:prstDash val="solid"/>
                      <a:round/>
                      <a:headEnd type="none" w="med" len="med"/>
                      <a:tailEnd type="none" w="med" len="med"/>
                    </a:lnT>
                    <a:lnB w="26194" cap="flat" cmpd="sng" algn="ctr">
                      <a:solidFill>
                        <a:srgbClr val="FFFFFF"/>
                      </a:solidFill>
                      <a:prstDash val="solid"/>
                      <a:round/>
                      <a:headEnd type="none" w="med" len="med"/>
                      <a:tailEnd type="none" w="med" len="med"/>
                    </a:lnB>
                    <a:solidFill>
                      <a:srgbClr val="BA0C2F"/>
                    </a:solidFill>
                  </a:tcPr>
                </a:tc>
                <a:extLst>
                  <a:ext uri="{0D108BD9-81ED-4DB2-BD59-A6C34878D82A}">
                    <a16:rowId xmlns:a16="http://schemas.microsoft.com/office/drawing/2014/main" val="2864725617"/>
                  </a:ext>
                </a:extLst>
              </a:tr>
              <a:tr h="361950">
                <a:tc>
                  <a:txBody>
                    <a:bodyPr/>
                    <a:lstStyle/>
                    <a:p>
                      <a:pPr marL="0" fontAlgn="base">
                        <a:buNone/>
                      </a:pPr>
                      <a:r>
                        <a:rPr lang="en-CA" sz="1400" b="1">
                          <a:solidFill>
                            <a:srgbClr val="000000"/>
                          </a:solidFill>
                          <a:effectLst/>
                          <a:latin typeface="Arial"/>
                        </a:rPr>
                        <a:t>Accelerate Time-to-Market</a:t>
                      </a:r>
                      <a:endParaRPr lang="en-US" sz="1400">
                        <a:solidFill>
                          <a:srgbClr val="515349"/>
                        </a:solidFill>
                        <a:effectLst/>
                        <a:latin typeface="Arial"/>
                      </a:endParaRPr>
                    </a:p>
                  </a:txBody>
                  <a:tcPr anchor="ctr">
                    <a:lnL w="9525" cap="flat" cmpd="sng" algn="ctr">
                      <a:solidFill>
                        <a:srgbClr val="515349"/>
                      </a:solidFill>
                      <a:prstDash val="solid"/>
                      <a:round/>
                      <a:headEnd type="none" w="med" len="med"/>
                      <a:tailEnd type="none" w="med" len="med"/>
                    </a:lnL>
                    <a:lnR w="9525" cap="flat" cmpd="sng" algn="ctr">
                      <a:solidFill>
                        <a:srgbClr val="515349"/>
                      </a:solidFill>
                      <a:prstDash val="solid"/>
                      <a:round/>
                      <a:headEnd type="none" w="med" len="med"/>
                      <a:tailEnd type="none" w="med" len="med"/>
                    </a:lnR>
                    <a:lnT w="2619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930300969"/>
                  </a:ext>
                </a:extLst>
              </a:tr>
              <a:tr h="361950">
                <a:tc>
                  <a:txBody>
                    <a:bodyPr/>
                    <a:lstStyle/>
                    <a:p>
                      <a:pPr marL="0" fontAlgn="base">
                        <a:buNone/>
                      </a:pPr>
                      <a:r>
                        <a:rPr lang="en-CA" sz="1400" b="1">
                          <a:solidFill>
                            <a:srgbClr val="000000"/>
                          </a:solidFill>
                          <a:effectLst/>
                          <a:latin typeface="Arial"/>
                        </a:rPr>
                        <a:t>Increase Service Resilience</a:t>
                      </a:r>
                      <a:endParaRPr lang="en-US" sz="1400">
                        <a:solidFill>
                          <a:srgbClr val="515349"/>
                        </a:solidFill>
                        <a:effectLst/>
                        <a:latin typeface="Arial"/>
                      </a:endParaRPr>
                    </a:p>
                  </a:txBody>
                  <a:tcPr anchor="ctr">
                    <a:lnL w="9525" cap="flat" cmpd="sng" algn="ctr">
                      <a:solidFill>
                        <a:srgbClr val="515349"/>
                      </a:solidFill>
                      <a:prstDash val="solid"/>
                      <a:round/>
                      <a:headEnd type="none" w="med" len="med"/>
                      <a:tailEnd type="none" w="med" len="med"/>
                    </a:lnL>
                    <a:lnR w="9525" cap="flat" cmpd="sng" algn="ctr">
                      <a:solidFill>
                        <a:srgbClr val="51534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970544774"/>
                  </a:ext>
                </a:extLst>
              </a:tr>
              <a:tr h="361950">
                <a:tc>
                  <a:txBody>
                    <a:bodyPr/>
                    <a:lstStyle/>
                    <a:p>
                      <a:pPr marL="0" fontAlgn="base">
                        <a:buNone/>
                      </a:pPr>
                      <a:r>
                        <a:rPr lang="en-CA" sz="1400" b="1">
                          <a:solidFill>
                            <a:srgbClr val="000000"/>
                          </a:solidFill>
                          <a:effectLst/>
                          <a:latin typeface="Arial"/>
                        </a:rPr>
                        <a:t>Strengthen Security Posture</a:t>
                      </a:r>
                      <a:endParaRPr lang="en-US" sz="1400">
                        <a:solidFill>
                          <a:srgbClr val="515349"/>
                        </a:solidFill>
                        <a:effectLst/>
                        <a:latin typeface="Arial"/>
                      </a:endParaRPr>
                    </a:p>
                  </a:txBody>
                  <a:tcPr anchor="ctr">
                    <a:lnL w="9525" cap="flat" cmpd="sng" algn="ctr">
                      <a:solidFill>
                        <a:srgbClr val="515349"/>
                      </a:solidFill>
                      <a:prstDash val="solid"/>
                      <a:round/>
                      <a:headEnd type="none" w="med" len="med"/>
                      <a:tailEnd type="none" w="med" len="med"/>
                    </a:lnL>
                    <a:lnR w="9525" cap="flat" cmpd="sng" algn="ctr">
                      <a:solidFill>
                        <a:srgbClr val="51534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09859531"/>
                  </a:ext>
                </a:extLst>
              </a:tr>
              <a:tr h="361950">
                <a:tc>
                  <a:txBody>
                    <a:bodyPr/>
                    <a:lstStyle/>
                    <a:p>
                      <a:pPr marL="0" fontAlgn="base">
                        <a:buNone/>
                      </a:pPr>
                      <a:r>
                        <a:rPr lang="en-CA" sz="1400" b="1">
                          <a:solidFill>
                            <a:srgbClr val="000000"/>
                          </a:solidFill>
                          <a:effectLst/>
                          <a:latin typeface="Arial"/>
                        </a:rPr>
                        <a:t>Modernized Features like AI</a:t>
                      </a:r>
                      <a:endParaRPr lang="en-US" sz="1400">
                        <a:solidFill>
                          <a:srgbClr val="515349"/>
                        </a:solidFill>
                        <a:effectLst/>
                        <a:latin typeface="Arial"/>
                      </a:endParaRPr>
                    </a:p>
                  </a:txBody>
                  <a:tcPr anchor="ctr">
                    <a:lnL w="9525" cap="flat" cmpd="sng" algn="ctr">
                      <a:solidFill>
                        <a:srgbClr val="515349"/>
                      </a:solidFill>
                      <a:prstDash val="solid"/>
                      <a:round/>
                      <a:headEnd type="none" w="med" len="med"/>
                      <a:tailEnd type="none" w="med" len="med"/>
                    </a:lnL>
                    <a:lnR w="9525" cap="flat" cmpd="sng" algn="ctr">
                      <a:solidFill>
                        <a:srgbClr val="51534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674530596"/>
                  </a:ext>
                </a:extLst>
              </a:tr>
              <a:tr h="361950">
                <a:tc>
                  <a:txBody>
                    <a:bodyPr/>
                    <a:lstStyle/>
                    <a:p>
                      <a:pPr marL="0" fontAlgn="base">
                        <a:buNone/>
                      </a:pPr>
                      <a:r>
                        <a:rPr lang="en-CA" sz="1400" b="1">
                          <a:solidFill>
                            <a:srgbClr val="000000"/>
                          </a:solidFill>
                          <a:effectLst/>
                          <a:latin typeface="Arial"/>
                        </a:rPr>
                        <a:t>Reduce Operational Effort</a:t>
                      </a:r>
                      <a:endParaRPr lang="en-US" sz="1400">
                        <a:solidFill>
                          <a:srgbClr val="515349"/>
                        </a:solidFill>
                        <a:effectLst/>
                        <a:latin typeface="Arial"/>
                      </a:endParaRPr>
                    </a:p>
                  </a:txBody>
                  <a:tcPr anchor="ctr">
                    <a:lnL w="9525" cap="flat" cmpd="sng" algn="ctr">
                      <a:solidFill>
                        <a:srgbClr val="515349"/>
                      </a:solidFill>
                      <a:prstDash val="solid"/>
                      <a:round/>
                      <a:headEnd type="none" w="med" len="med"/>
                      <a:tailEnd type="none" w="med" len="med"/>
                    </a:lnL>
                    <a:lnR w="9525" cap="flat" cmpd="sng" algn="ctr">
                      <a:solidFill>
                        <a:srgbClr val="51534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515349"/>
                      </a:solidFill>
                      <a:prstDash val="solid"/>
                      <a:round/>
                      <a:headEnd type="none" w="med" len="med"/>
                      <a:tailEnd type="none" w="med" len="med"/>
                    </a:lnB>
                    <a:noFill/>
                  </a:tcPr>
                </a:tc>
                <a:extLst>
                  <a:ext uri="{0D108BD9-81ED-4DB2-BD59-A6C34878D82A}">
                    <a16:rowId xmlns:a16="http://schemas.microsoft.com/office/drawing/2014/main" val="2968049411"/>
                  </a:ext>
                </a:extLst>
              </a:tr>
            </a:tbl>
          </a:graphicData>
        </a:graphic>
      </p:graphicFrame>
      <p:sp>
        <p:nvSpPr>
          <p:cNvPr id="99" name="Arrow: Down 98">
            <a:extLst>
              <a:ext uri="{FF2B5EF4-FFF2-40B4-BE49-F238E27FC236}">
                <a16:creationId xmlns:a16="http://schemas.microsoft.com/office/drawing/2014/main" id="{219BA650-3258-9813-CABB-64A89EF195BA}"/>
              </a:ext>
            </a:extLst>
          </p:cNvPr>
          <p:cNvSpPr/>
          <p:nvPr/>
        </p:nvSpPr>
        <p:spPr>
          <a:xfrm rot="10800000">
            <a:off x="10893843" y="2359644"/>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0" name="Arrow: Down 99">
            <a:extLst>
              <a:ext uri="{FF2B5EF4-FFF2-40B4-BE49-F238E27FC236}">
                <a16:creationId xmlns:a16="http://schemas.microsoft.com/office/drawing/2014/main" id="{EE4FDF1D-A663-1126-380F-A5E63DC1990F}"/>
              </a:ext>
            </a:extLst>
          </p:cNvPr>
          <p:cNvSpPr/>
          <p:nvPr/>
        </p:nvSpPr>
        <p:spPr>
          <a:xfrm rot="10800000">
            <a:off x="10893843" y="2746246"/>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1" name="Arrow: Down 100">
            <a:extLst>
              <a:ext uri="{FF2B5EF4-FFF2-40B4-BE49-F238E27FC236}">
                <a16:creationId xmlns:a16="http://schemas.microsoft.com/office/drawing/2014/main" id="{C280C214-DED9-B2F0-D2A1-ECAF7A876356}"/>
              </a:ext>
            </a:extLst>
          </p:cNvPr>
          <p:cNvSpPr/>
          <p:nvPr/>
        </p:nvSpPr>
        <p:spPr>
          <a:xfrm rot="10800000">
            <a:off x="10893843" y="1997693"/>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2" name="Arrow: Down 101">
            <a:extLst>
              <a:ext uri="{FF2B5EF4-FFF2-40B4-BE49-F238E27FC236}">
                <a16:creationId xmlns:a16="http://schemas.microsoft.com/office/drawing/2014/main" id="{92D78F95-A285-4EA2-FC48-BDC5A57B278D}"/>
              </a:ext>
            </a:extLst>
          </p:cNvPr>
          <p:cNvSpPr/>
          <p:nvPr/>
        </p:nvSpPr>
        <p:spPr>
          <a:xfrm rot="10800000">
            <a:off x="10893843" y="3108196"/>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3" name="Arrow: Down 102">
            <a:extLst>
              <a:ext uri="{FF2B5EF4-FFF2-40B4-BE49-F238E27FC236}">
                <a16:creationId xmlns:a16="http://schemas.microsoft.com/office/drawing/2014/main" id="{7BEE46A6-F092-D57C-1A9F-CA91DED33C5A}"/>
              </a:ext>
            </a:extLst>
          </p:cNvPr>
          <p:cNvSpPr/>
          <p:nvPr/>
        </p:nvSpPr>
        <p:spPr>
          <a:xfrm>
            <a:off x="10893843" y="3479671"/>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29" name="Group 128">
            <a:extLst>
              <a:ext uri="{FF2B5EF4-FFF2-40B4-BE49-F238E27FC236}">
                <a16:creationId xmlns:a16="http://schemas.microsoft.com/office/drawing/2014/main" id="{C2F0980D-9423-DDE4-A672-007DBA2836C0}"/>
              </a:ext>
            </a:extLst>
          </p:cNvPr>
          <p:cNvGrpSpPr/>
          <p:nvPr/>
        </p:nvGrpSpPr>
        <p:grpSpPr>
          <a:xfrm>
            <a:off x="8670612" y="4392875"/>
            <a:ext cx="2041596" cy="1291057"/>
            <a:chOff x="9698157" y="4854693"/>
            <a:chExt cx="2041596" cy="1291057"/>
          </a:xfrm>
        </p:grpSpPr>
        <p:pic>
          <p:nvPicPr>
            <p:cNvPr id="130" name="Picture 129" descr="A logo with a smile&#10;&#10;Description automatically generated">
              <a:extLst>
                <a:ext uri="{FF2B5EF4-FFF2-40B4-BE49-F238E27FC236}">
                  <a16:creationId xmlns:a16="http://schemas.microsoft.com/office/drawing/2014/main" id="{1784D4D1-F9D2-CBAB-221E-7B0552CB8E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71342" y="5564703"/>
              <a:ext cx="968411" cy="581047"/>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30" descr="A blue triangle logo with a black background&#10;&#10;Description automatically generated">
              <a:extLst>
                <a:ext uri="{FF2B5EF4-FFF2-40B4-BE49-F238E27FC236}">
                  <a16:creationId xmlns:a16="http://schemas.microsoft.com/office/drawing/2014/main" id="{E6D13945-DC54-7502-8A8B-6AD9773D78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98157" y="5565820"/>
              <a:ext cx="968410" cy="508415"/>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31">
              <a:extLst>
                <a:ext uri="{FF2B5EF4-FFF2-40B4-BE49-F238E27FC236}">
                  <a16:creationId xmlns:a16="http://schemas.microsoft.com/office/drawing/2014/main" id="{C4984337-7A60-9D80-3D27-1D26226EB14B}"/>
                </a:ext>
              </a:extLst>
            </p:cNvPr>
            <p:cNvPicPr>
              <a:picLocks noChangeAspect="1"/>
            </p:cNvPicPr>
            <p:nvPr/>
          </p:nvPicPr>
          <p:blipFill>
            <a:blip r:embed="rId9"/>
            <a:stretch>
              <a:fillRect/>
            </a:stretch>
          </p:blipFill>
          <p:spPr>
            <a:xfrm>
              <a:off x="9986117" y="4854693"/>
              <a:ext cx="1465675" cy="825355"/>
            </a:xfrm>
            <a:prstGeom prst="rect">
              <a:avLst/>
            </a:prstGeom>
          </p:spPr>
        </p:pic>
      </p:grpSp>
      <p:pic>
        <p:nvPicPr>
          <p:cNvPr id="133" name="Picture 132">
            <a:extLst>
              <a:ext uri="{FF2B5EF4-FFF2-40B4-BE49-F238E27FC236}">
                <a16:creationId xmlns:a16="http://schemas.microsoft.com/office/drawing/2014/main" id="{9C942235-64DF-6B22-AC8B-55ACFAE0CFAD}"/>
              </a:ext>
            </a:extLst>
          </p:cNvPr>
          <p:cNvPicPr>
            <a:picLocks noChangeAspect="1"/>
          </p:cNvPicPr>
          <p:nvPr/>
        </p:nvPicPr>
        <p:blipFill>
          <a:blip r:embed="rId10"/>
          <a:stretch>
            <a:fillRect/>
          </a:stretch>
        </p:blipFill>
        <p:spPr>
          <a:xfrm>
            <a:off x="2439555" y="5692198"/>
            <a:ext cx="2971800" cy="438150"/>
          </a:xfrm>
          <a:prstGeom prst="rect">
            <a:avLst/>
          </a:prstGeom>
        </p:spPr>
      </p:pic>
    </p:spTree>
    <p:extLst>
      <p:ext uri="{BB962C8B-B14F-4D97-AF65-F5344CB8AC3E}">
        <p14:creationId xmlns:p14="http://schemas.microsoft.com/office/powerpoint/2010/main" val="199611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D38FD-52D1-2B2E-6252-CFFCC614B08E}"/>
            </a:ext>
          </a:extLst>
        </p:cNvPr>
        <p:cNvGrpSpPr/>
        <p:nvPr/>
      </p:nvGrpSpPr>
      <p:grpSpPr>
        <a:xfrm>
          <a:off x="0" y="0"/>
          <a:ext cx="0" cy="0"/>
          <a:chOff x="0" y="0"/>
          <a:chExt cx="0" cy="0"/>
        </a:xfrm>
      </p:grpSpPr>
      <p:sp>
        <p:nvSpPr>
          <p:cNvPr id="20" name="Text 4">
            <a:extLst>
              <a:ext uri="{FF2B5EF4-FFF2-40B4-BE49-F238E27FC236}">
                <a16:creationId xmlns:a16="http://schemas.microsoft.com/office/drawing/2014/main" id="{B6E61EE3-B716-B4FE-0225-FD17FCFD59E8}"/>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Database Services Value Chain</a:t>
            </a:r>
            <a:endParaRPr lang="en-US" sz="2600">
              <a:latin typeface="+mj-lt"/>
            </a:endParaRPr>
          </a:p>
        </p:txBody>
      </p:sp>
      <p:sp>
        <p:nvSpPr>
          <p:cNvPr id="24" name="Text 5">
            <a:extLst>
              <a:ext uri="{FF2B5EF4-FFF2-40B4-BE49-F238E27FC236}">
                <a16:creationId xmlns:a16="http://schemas.microsoft.com/office/drawing/2014/main" id="{655E3213-214A-402A-32F6-E57F52C114D5}"/>
              </a:ext>
            </a:extLst>
          </p:cNvPr>
          <p:cNvSpPr/>
          <p:nvPr/>
        </p:nvSpPr>
        <p:spPr>
          <a:xfrm>
            <a:off x="457200" y="1155469"/>
            <a:ext cx="11247120" cy="457200"/>
          </a:xfrm>
          <a:prstGeom prst="rect">
            <a:avLst/>
          </a:prstGeom>
          <a:noFill/>
          <a:ln/>
        </p:spPr>
        <p:txBody>
          <a:bodyPr wrap="square" rtlCol="0" anchor="ctr"/>
          <a:lstStyle/>
          <a:p>
            <a:pPr marL="0" indent="0">
              <a:buNone/>
            </a:pPr>
            <a:r>
              <a:rPr lang="en-US" sz="1400">
                <a:solidFill>
                  <a:srgbClr val="747480"/>
                </a:solidFill>
                <a:latin typeface="+mj-lt"/>
                <a:ea typeface="Calibri" pitchFamily="34" charset="-122"/>
                <a:cs typeface="Calibri" pitchFamily="34" charset="-120"/>
              </a:rPr>
              <a:t>The end-to-end journey from planning to optimization — standardized, secure, and efficient database operations that enable faster delivery and compliance.</a:t>
            </a:r>
            <a:endParaRPr lang="en-US" sz="1400">
              <a:latin typeface="+mj-lt"/>
            </a:endParaRPr>
          </a:p>
        </p:txBody>
      </p:sp>
      <p:sp>
        <p:nvSpPr>
          <p:cNvPr id="28" name="Shape 6">
            <a:extLst>
              <a:ext uri="{FF2B5EF4-FFF2-40B4-BE49-F238E27FC236}">
                <a16:creationId xmlns:a16="http://schemas.microsoft.com/office/drawing/2014/main" id="{867CED7D-56A9-6563-0DF2-4C7BAC21811B}"/>
              </a:ext>
            </a:extLst>
          </p:cNvPr>
          <p:cNvSpPr/>
          <p:nvPr/>
        </p:nvSpPr>
        <p:spPr>
          <a:xfrm>
            <a:off x="457200" y="1691640"/>
            <a:ext cx="1783080" cy="548640"/>
          </a:xfrm>
          <a:prstGeom prst="roundRect">
            <a:avLst>
              <a:gd name="adj" fmla="val 10000"/>
            </a:avLst>
          </a:prstGeom>
          <a:solidFill>
            <a:srgbClr val="BA0C2F"/>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32" name="Text 7">
            <a:extLst>
              <a:ext uri="{FF2B5EF4-FFF2-40B4-BE49-F238E27FC236}">
                <a16:creationId xmlns:a16="http://schemas.microsoft.com/office/drawing/2014/main" id="{5136814C-D1F9-36EB-4D30-E0B935E03D8A}"/>
              </a:ext>
            </a:extLst>
          </p:cNvPr>
          <p:cNvSpPr/>
          <p:nvPr/>
        </p:nvSpPr>
        <p:spPr>
          <a:xfrm>
            <a:off x="457200" y="1691640"/>
            <a:ext cx="1783080" cy="548640"/>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Plan</a:t>
            </a:r>
            <a:endParaRPr lang="en-US" sz="1400">
              <a:latin typeface="+mj-lt"/>
            </a:endParaRPr>
          </a:p>
        </p:txBody>
      </p:sp>
      <p:sp>
        <p:nvSpPr>
          <p:cNvPr id="36" name="Shape 8">
            <a:extLst>
              <a:ext uri="{FF2B5EF4-FFF2-40B4-BE49-F238E27FC236}">
                <a16:creationId xmlns:a16="http://schemas.microsoft.com/office/drawing/2014/main" id="{52238204-7F67-4BDD-B7DA-EE085335EF95}"/>
              </a:ext>
            </a:extLst>
          </p:cNvPr>
          <p:cNvSpPr/>
          <p:nvPr/>
        </p:nvSpPr>
        <p:spPr>
          <a:xfrm>
            <a:off x="2350008" y="1691640"/>
            <a:ext cx="1783080" cy="548640"/>
          </a:xfrm>
          <a:prstGeom prst="roundRect">
            <a:avLst>
              <a:gd name="adj" fmla="val 10000"/>
            </a:avLst>
          </a:prstGeom>
          <a:solidFill>
            <a:srgbClr val="BA0C2F"/>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40" name="Text 9">
            <a:extLst>
              <a:ext uri="{FF2B5EF4-FFF2-40B4-BE49-F238E27FC236}">
                <a16:creationId xmlns:a16="http://schemas.microsoft.com/office/drawing/2014/main" id="{1A4401F6-42F7-08E6-908B-967193B6A13A}"/>
              </a:ext>
            </a:extLst>
          </p:cNvPr>
          <p:cNvSpPr/>
          <p:nvPr/>
        </p:nvSpPr>
        <p:spPr>
          <a:xfrm>
            <a:off x="2350008" y="1691640"/>
            <a:ext cx="1783080" cy="548640"/>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Provision</a:t>
            </a:r>
            <a:endParaRPr lang="en-US" sz="1400">
              <a:latin typeface="+mj-lt"/>
            </a:endParaRPr>
          </a:p>
        </p:txBody>
      </p:sp>
      <p:sp>
        <p:nvSpPr>
          <p:cNvPr id="44" name="Shape 10">
            <a:extLst>
              <a:ext uri="{FF2B5EF4-FFF2-40B4-BE49-F238E27FC236}">
                <a16:creationId xmlns:a16="http://schemas.microsoft.com/office/drawing/2014/main" id="{30A361DF-0AA1-90EE-DEF2-7D6E4997F36F}"/>
              </a:ext>
            </a:extLst>
          </p:cNvPr>
          <p:cNvSpPr/>
          <p:nvPr/>
        </p:nvSpPr>
        <p:spPr>
          <a:xfrm>
            <a:off x="4242816" y="1691640"/>
            <a:ext cx="1783080" cy="548640"/>
          </a:xfrm>
          <a:prstGeom prst="roundRect">
            <a:avLst>
              <a:gd name="adj" fmla="val 10000"/>
            </a:avLst>
          </a:prstGeom>
          <a:solidFill>
            <a:srgbClr val="BA0C2F"/>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48" name="Text 11">
            <a:extLst>
              <a:ext uri="{FF2B5EF4-FFF2-40B4-BE49-F238E27FC236}">
                <a16:creationId xmlns:a16="http://schemas.microsoft.com/office/drawing/2014/main" id="{5B218FF6-278F-A1BA-13F3-26881D25D78A}"/>
              </a:ext>
            </a:extLst>
          </p:cNvPr>
          <p:cNvSpPr/>
          <p:nvPr/>
        </p:nvSpPr>
        <p:spPr>
          <a:xfrm>
            <a:off x="4242816" y="1691640"/>
            <a:ext cx="1783080" cy="548640"/>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Secure</a:t>
            </a:r>
            <a:endParaRPr lang="en-US" sz="1400">
              <a:latin typeface="+mj-lt"/>
            </a:endParaRPr>
          </a:p>
        </p:txBody>
      </p:sp>
      <p:sp>
        <p:nvSpPr>
          <p:cNvPr id="52" name="Shape 12">
            <a:extLst>
              <a:ext uri="{FF2B5EF4-FFF2-40B4-BE49-F238E27FC236}">
                <a16:creationId xmlns:a16="http://schemas.microsoft.com/office/drawing/2014/main" id="{245A1238-2E19-0304-49FB-8C4490125FC5}"/>
              </a:ext>
            </a:extLst>
          </p:cNvPr>
          <p:cNvSpPr/>
          <p:nvPr/>
        </p:nvSpPr>
        <p:spPr>
          <a:xfrm>
            <a:off x="6135624" y="1691640"/>
            <a:ext cx="1783080" cy="548640"/>
          </a:xfrm>
          <a:prstGeom prst="roundRect">
            <a:avLst>
              <a:gd name="adj" fmla="val 10000"/>
            </a:avLst>
          </a:prstGeom>
          <a:solidFill>
            <a:srgbClr val="BA0C2F"/>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56" name="Text 13">
            <a:extLst>
              <a:ext uri="{FF2B5EF4-FFF2-40B4-BE49-F238E27FC236}">
                <a16:creationId xmlns:a16="http://schemas.microsoft.com/office/drawing/2014/main" id="{54EE1F0A-D798-8EAB-E94E-F8ADF0FC78CC}"/>
              </a:ext>
            </a:extLst>
          </p:cNvPr>
          <p:cNvSpPr/>
          <p:nvPr/>
        </p:nvSpPr>
        <p:spPr>
          <a:xfrm>
            <a:off x="6135624" y="1691640"/>
            <a:ext cx="1783080" cy="548640"/>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Operate</a:t>
            </a:r>
            <a:endParaRPr lang="en-US" sz="1400">
              <a:latin typeface="+mj-lt"/>
            </a:endParaRPr>
          </a:p>
        </p:txBody>
      </p:sp>
      <p:sp>
        <p:nvSpPr>
          <p:cNvPr id="60" name="Shape 14">
            <a:extLst>
              <a:ext uri="{FF2B5EF4-FFF2-40B4-BE49-F238E27FC236}">
                <a16:creationId xmlns:a16="http://schemas.microsoft.com/office/drawing/2014/main" id="{88191F3E-36CF-4C61-6F0A-E1695AB6A515}"/>
              </a:ext>
            </a:extLst>
          </p:cNvPr>
          <p:cNvSpPr/>
          <p:nvPr/>
        </p:nvSpPr>
        <p:spPr>
          <a:xfrm>
            <a:off x="8028432" y="1691640"/>
            <a:ext cx="1783080" cy="548640"/>
          </a:xfrm>
          <a:prstGeom prst="roundRect">
            <a:avLst>
              <a:gd name="adj" fmla="val 10000"/>
            </a:avLst>
          </a:prstGeom>
          <a:solidFill>
            <a:srgbClr val="BA0C2F"/>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64" name="Text 15">
            <a:extLst>
              <a:ext uri="{FF2B5EF4-FFF2-40B4-BE49-F238E27FC236}">
                <a16:creationId xmlns:a16="http://schemas.microsoft.com/office/drawing/2014/main" id="{53C1EBEA-F82C-AA26-6A4B-367AC6A87823}"/>
              </a:ext>
            </a:extLst>
          </p:cNvPr>
          <p:cNvSpPr/>
          <p:nvPr/>
        </p:nvSpPr>
        <p:spPr>
          <a:xfrm>
            <a:off x="8028432" y="1691640"/>
            <a:ext cx="1783080" cy="548640"/>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Optimize</a:t>
            </a:r>
            <a:endParaRPr lang="en-US" sz="1400">
              <a:latin typeface="+mj-lt"/>
            </a:endParaRPr>
          </a:p>
        </p:txBody>
      </p:sp>
      <p:sp>
        <p:nvSpPr>
          <p:cNvPr id="68" name="Shape 16">
            <a:extLst>
              <a:ext uri="{FF2B5EF4-FFF2-40B4-BE49-F238E27FC236}">
                <a16:creationId xmlns:a16="http://schemas.microsoft.com/office/drawing/2014/main" id="{E68E4F40-F01A-2E83-FDAA-457601CCBCBA}"/>
              </a:ext>
            </a:extLst>
          </p:cNvPr>
          <p:cNvSpPr/>
          <p:nvPr/>
        </p:nvSpPr>
        <p:spPr>
          <a:xfrm>
            <a:off x="9921240" y="1691640"/>
            <a:ext cx="1783080" cy="548640"/>
          </a:xfrm>
          <a:prstGeom prst="roundRect">
            <a:avLst>
              <a:gd name="adj" fmla="val 10000"/>
            </a:avLst>
          </a:prstGeom>
          <a:solidFill>
            <a:srgbClr val="BA0C2F"/>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72" name="Text 17">
            <a:extLst>
              <a:ext uri="{FF2B5EF4-FFF2-40B4-BE49-F238E27FC236}">
                <a16:creationId xmlns:a16="http://schemas.microsoft.com/office/drawing/2014/main" id="{DE3E8A11-260A-0802-2DED-182206370E2B}"/>
              </a:ext>
            </a:extLst>
          </p:cNvPr>
          <p:cNvSpPr/>
          <p:nvPr/>
        </p:nvSpPr>
        <p:spPr>
          <a:xfrm>
            <a:off x="9921240" y="1691640"/>
            <a:ext cx="1783080" cy="548640"/>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Retire</a:t>
            </a:r>
            <a:endParaRPr lang="en-US" sz="1400">
              <a:latin typeface="+mj-lt"/>
            </a:endParaRPr>
          </a:p>
        </p:txBody>
      </p:sp>
      <p:sp>
        <p:nvSpPr>
          <p:cNvPr id="74" name="Shape 18">
            <a:extLst>
              <a:ext uri="{FF2B5EF4-FFF2-40B4-BE49-F238E27FC236}">
                <a16:creationId xmlns:a16="http://schemas.microsoft.com/office/drawing/2014/main" id="{A562AC8E-6C7D-464B-4C62-5DDEE8822864}"/>
              </a:ext>
            </a:extLst>
          </p:cNvPr>
          <p:cNvSpPr/>
          <p:nvPr/>
        </p:nvSpPr>
        <p:spPr>
          <a:xfrm>
            <a:off x="457200" y="2377440"/>
            <a:ext cx="1783080" cy="2011680"/>
          </a:xfrm>
          <a:prstGeom prst="roundRect">
            <a:avLst>
              <a:gd name="adj" fmla="val 3077"/>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76" name="Text 19">
            <a:extLst>
              <a:ext uri="{FF2B5EF4-FFF2-40B4-BE49-F238E27FC236}">
                <a16:creationId xmlns:a16="http://schemas.microsoft.com/office/drawing/2014/main" id="{81414787-4BE7-0ADD-D6E1-6FD250AD3364}"/>
              </a:ext>
            </a:extLst>
          </p:cNvPr>
          <p:cNvSpPr/>
          <p:nvPr/>
        </p:nvSpPr>
        <p:spPr>
          <a:xfrm>
            <a:off x="548640" y="2487168"/>
            <a:ext cx="1600200" cy="1828800"/>
          </a:xfrm>
          <a:prstGeom prst="rect">
            <a:avLst/>
          </a:prstGeom>
          <a:noFill/>
          <a:ln/>
        </p:spPr>
        <p:txBody>
          <a:bodyPr wrap="square" rtlCol="0" anchor="t"/>
          <a:lstStyle/>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Assess workload needs</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Define engine strategy</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Plan cloud vs. on-prem</a:t>
            </a:r>
            <a:endParaRPr lang="en-US" sz="1400">
              <a:latin typeface="+mj-lt"/>
            </a:endParaRPr>
          </a:p>
        </p:txBody>
      </p:sp>
      <p:sp>
        <p:nvSpPr>
          <p:cNvPr id="78" name="Shape 20">
            <a:extLst>
              <a:ext uri="{FF2B5EF4-FFF2-40B4-BE49-F238E27FC236}">
                <a16:creationId xmlns:a16="http://schemas.microsoft.com/office/drawing/2014/main" id="{EE0B4DED-487D-661A-015A-FF87A267FE43}"/>
              </a:ext>
            </a:extLst>
          </p:cNvPr>
          <p:cNvSpPr/>
          <p:nvPr/>
        </p:nvSpPr>
        <p:spPr>
          <a:xfrm>
            <a:off x="2350008" y="2377440"/>
            <a:ext cx="1783080" cy="2011680"/>
          </a:xfrm>
          <a:prstGeom prst="roundRect">
            <a:avLst>
              <a:gd name="adj" fmla="val 3077"/>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80" name="Text 21">
            <a:extLst>
              <a:ext uri="{FF2B5EF4-FFF2-40B4-BE49-F238E27FC236}">
                <a16:creationId xmlns:a16="http://schemas.microsoft.com/office/drawing/2014/main" id="{7825F934-A1A8-8CDD-CA6C-2A07D1A33857}"/>
              </a:ext>
            </a:extLst>
          </p:cNvPr>
          <p:cNvSpPr/>
          <p:nvPr/>
        </p:nvSpPr>
        <p:spPr>
          <a:xfrm>
            <a:off x="2441448" y="2487168"/>
            <a:ext cx="1600200" cy="1828800"/>
          </a:xfrm>
          <a:prstGeom prst="rect">
            <a:avLst/>
          </a:prstGeom>
          <a:noFill/>
          <a:ln/>
        </p:spPr>
        <p:txBody>
          <a:bodyPr wrap="square" rtlCol="0" anchor="t"/>
          <a:lstStyle/>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Automated builds</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CMDB/tag registration</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Backup &amp; monitoring setup</a:t>
            </a:r>
            <a:endParaRPr lang="en-US" sz="1400">
              <a:latin typeface="+mj-lt"/>
            </a:endParaRPr>
          </a:p>
        </p:txBody>
      </p:sp>
      <p:sp>
        <p:nvSpPr>
          <p:cNvPr id="82" name="Shape 22">
            <a:extLst>
              <a:ext uri="{FF2B5EF4-FFF2-40B4-BE49-F238E27FC236}">
                <a16:creationId xmlns:a16="http://schemas.microsoft.com/office/drawing/2014/main" id="{751D9BD6-965D-7D53-15F2-DF169124538F}"/>
              </a:ext>
            </a:extLst>
          </p:cNvPr>
          <p:cNvSpPr/>
          <p:nvPr/>
        </p:nvSpPr>
        <p:spPr>
          <a:xfrm>
            <a:off x="4242816" y="2377440"/>
            <a:ext cx="1783080" cy="2011680"/>
          </a:xfrm>
          <a:prstGeom prst="roundRect">
            <a:avLst>
              <a:gd name="adj" fmla="val 3077"/>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84" name="Text 23">
            <a:extLst>
              <a:ext uri="{FF2B5EF4-FFF2-40B4-BE49-F238E27FC236}">
                <a16:creationId xmlns:a16="http://schemas.microsoft.com/office/drawing/2014/main" id="{E303EEAC-6223-1E67-ED2E-2ED8B1FCE48B}"/>
              </a:ext>
            </a:extLst>
          </p:cNvPr>
          <p:cNvSpPr/>
          <p:nvPr/>
        </p:nvSpPr>
        <p:spPr>
          <a:xfrm>
            <a:off x="4334256" y="2487168"/>
            <a:ext cx="1600200" cy="1828800"/>
          </a:xfrm>
          <a:prstGeom prst="rect">
            <a:avLst/>
          </a:prstGeom>
          <a:noFill/>
          <a:ln/>
        </p:spPr>
        <p:txBody>
          <a:bodyPr wrap="square" rtlCol="0" anchor="t"/>
          <a:lstStyle/>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Encryption &amp; RBAC</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Vulnerability baselines</a:t>
            </a:r>
            <a:endParaRPr lang="en-US" sz="1400">
              <a:latin typeface="+mj-lt"/>
            </a:endParaRPr>
          </a:p>
          <a:p>
            <a:pPr marL="177800" indent="-177800">
              <a:spcAft>
                <a:spcPts val="800"/>
              </a:spcAft>
              <a:buSzPct val="100000"/>
              <a:buChar char="•"/>
            </a:pPr>
            <a:r>
              <a:rPr lang="en-CA" sz="1400">
                <a:solidFill>
                  <a:srgbClr val="2E2E38"/>
                </a:solidFill>
                <a:latin typeface="+mj-lt"/>
                <a:ea typeface="Calibri" pitchFamily="34" charset="-122"/>
                <a:cs typeface="Calibri" pitchFamily="34" charset="-120"/>
              </a:rPr>
              <a:t>Principle of Least Privilege (</a:t>
            </a:r>
            <a:r>
              <a:rPr lang="en-CA" sz="1400" err="1">
                <a:solidFill>
                  <a:srgbClr val="2E2E38"/>
                </a:solidFill>
                <a:latin typeface="+mj-lt"/>
                <a:ea typeface="Calibri" pitchFamily="34" charset="-122"/>
                <a:cs typeface="Calibri" pitchFamily="34" charset="-120"/>
              </a:rPr>
              <a:t>PoLP</a:t>
            </a:r>
            <a:r>
              <a:rPr lang="en-CA" sz="1400">
                <a:solidFill>
                  <a:srgbClr val="2E2E38"/>
                </a:solidFill>
                <a:latin typeface="+mj-lt"/>
                <a:ea typeface="Calibri" pitchFamily="34" charset="-122"/>
                <a:cs typeface="Calibri" pitchFamily="34" charset="-120"/>
              </a:rPr>
              <a:t>)</a:t>
            </a:r>
            <a:endParaRPr lang="en-US" sz="1400">
              <a:latin typeface="+mj-lt"/>
            </a:endParaRPr>
          </a:p>
        </p:txBody>
      </p:sp>
      <p:sp>
        <p:nvSpPr>
          <p:cNvPr id="86" name="Shape 24">
            <a:extLst>
              <a:ext uri="{FF2B5EF4-FFF2-40B4-BE49-F238E27FC236}">
                <a16:creationId xmlns:a16="http://schemas.microsoft.com/office/drawing/2014/main" id="{2CF44EBB-0927-B26A-2FE8-31EA107E95D2}"/>
              </a:ext>
            </a:extLst>
          </p:cNvPr>
          <p:cNvSpPr/>
          <p:nvPr/>
        </p:nvSpPr>
        <p:spPr>
          <a:xfrm>
            <a:off x="6135624" y="2377440"/>
            <a:ext cx="1783080" cy="2011680"/>
          </a:xfrm>
          <a:prstGeom prst="roundRect">
            <a:avLst>
              <a:gd name="adj" fmla="val 3077"/>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88" name="Text 25">
            <a:extLst>
              <a:ext uri="{FF2B5EF4-FFF2-40B4-BE49-F238E27FC236}">
                <a16:creationId xmlns:a16="http://schemas.microsoft.com/office/drawing/2014/main" id="{51A070B4-26E9-F898-1141-FF9D871B692E}"/>
              </a:ext>
            </a:extLst>
          </p:cNvPr>
          <p:cNvSpPr/>
          <p:nvPr/>
        </p:nvSpPr>
        <p:spPr>
          <a:xfrm>
            <a:off x="6227064" y="2487168"/>
            <a:ext cx="1600200" cy="1828800"/>
          </a:xfrm>
          <a:prstGeom prst="rect">
            <a:avLst/>
          </a:prstGeom>
          <a:noFill/>
          <a:ln/>
        </p:spPr>
        <p:txBody>
          <a:bodyPr wrap="square" rtlCol="0" anchor="t"/>
          <a:lstStyle/>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24/7 monitoring &amp; incident mgmt</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Patch &amp; lifecycle mgmt</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Change management</a:t>
            </a:r>
            <a:endParaRPr lang="en-US" sz="1400">
              <a:latin typeface="+mj-lt"/>
            </a:endParaRPr>
          </a:p>
        </p:txBody>
      </p:sp>
      <p:sp>
        <p:nvSpPr>
          <p:cNvPr id="90" name="Shape 26">
            <a:extLst>
              <a:ext uri="{FF2B5EF4-FFF2-40B4-BE49-F238E27FC236}">
                <a16:creationId xmlns:a16="http://schemas.microsoft.com/office/drawing/2014/main" id="{7C367D67-DCAC-916D-8F46-9517C370D06C}"/>
              </a:ext>
            </a:extLst>
          </p:cNvPr>
          <p:cNvSpPr/>
          <p:nvPr/>
        </p:nvSpPr>
        <p:spPr>
          <a:xfrm>
            <a:off x="8028432" y="2377440"/>
            <a:ext cx="1783080" cy="2011680"/>
          </a:xfrm>
          <a:prstGeom prst="roundRect">
            <a:avLst>
              <a:gd name="adj" fmla="val 3077"/>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92" name="Text 27">
            <a:extLst>
              <a:ext uri="{FF2B5EF4-FFF2-40B4-BE49-F238E27FC236}">
                <a16:creationId xmlns:a16="http://schemas.microsoft.com/office/drawing/2014/main" id="{2C0D275E-3899-6FBA-7891-A7777BD2970F}"/>
              </a:ext>
            </a:extLst>
          </p:cNvPr>
          <p:cNvSpPr/>
          <p:nvPr/>
        </p:nvSpPr>
        <p:spPr>
          <a:xfrm>
            <a:off x="8119872" y="2487168"/>
            <a:ext cx="1600200" cy="1828800"/>
          </a:xfrm>
          <a:prstGeom prst="rect">
            <a:avLst/>
          </a:prstGeom>
          <a:noFill/>
          <a:ln/>
        </p:spPr>
        <p:txBody>
          <a:bodyPr wrap="square" rtlCol="0" anchor="t"/>
          <a:lstStyle/>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Capacity &amp; performance tuning</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License &amp; cost optimization</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DR testing</a:t>
            </a:r>
            <a:endParaRPr lang="en-US" sz="1400">
              <a:latin typeface="+mj-lt"/>
            </a:endParaRPr>
          </a:p>
        </p:txBody>
      </p:sp>
      <p:sp>
        <p:nvSpPr>
          <p:cNvPr id="94" name="Shape 28">
            <a:extLst>
              <a:ext uri="{FF2B5EF4-FFF2-40B4-BE49-F238E27FC236}">
                <a16:creationId xmlns:a16="http://schemas.microsoft.com/office/drawing/2014/main" id="{1658FD24-EA90-6D9A-5140-A6F1645ACD08}"/>
              </a:ext>
            </a:extLst>
          </p:cNvPr>
          <p:cNvSpPr/>
          <p:nvPr/>
        </p:nvSpPr>
        <p:spPr>
          <a:xfrm>
            <a:off x="9921240" y="2377440"/>
            <a:ext cx="1783080" cy="2011680"/>
          </a:xfrm>
          <a:prstGeom prst="roundRect">
            <a:avLst>
              <a:gd name="adj" fmla="val 3077"/>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96" name="Text 29">
            <a:extLst>
              <a:ext uri="{FF2B5EF4-FFF2-40B4-BE49-F238E27FC236}">
                <a16:creationId xmlns:a16="http://schemas.microsoft.com/office/drawing/2014/main" id="{EAEF7F32-A521-FA5A-254A-2D39E19A4ED1}"/>
              </a:ext>
            </a:extLst>
          </p:cNvPr>
          <p:cNvSpPr/>
          <p:nvPr/>
        </p:nvSpPr>
        <p:spPr>
          <a:xfrm>
            <a:off x="10012680" y="2487168"/>
            <a:ext cx="1600200" cy="1828800"/>
          </a:xfrm>
          <a:prstGeom prst="rect">
            <a:avLst/>
          </a:prstGeom>
          <a:noFill/>
          <a:ln/>
        </p:spPr>
        <p:txBody>
          <a:bodyPr wrap="square" lIns="91440" tIns="45720" rIns="91440" bIns="45720" rtlCol="0" anchor="t"/>
          <a:lstStyle/>
          <a:p>
            <a:pPr marL="177800" indent="-177800">
              <a:spcAft>
                <a:spcPts val="800"/>
              </a:spcAft>
              <a:buSzPct val="100000"/>
              <a:buChar char="•"/>
            </a:pPr>
            <a:r>
              <a:rPr lang="en-US" sz="1400">
                <a:solidFill>
                  <a:srgbClr val="2E2E38"/>
                </a:solidFill>
                <a:latin typeface="+mj-lt"/>
                <a:ea typeface="Calibri"/>
                <a:cs typeface="Calibri"/>
              </a:rPr>
              <a:t>Decommission</a:t>
            </a: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Data archival</a:t>
            </a:r>
            <a:endParaRPr lang="en-US" sz="1400">
              <a:latin typeface="+mj-lt"/>
            </a:endParaRPr>
          </a:p>
          <a:p>
            <a:pPr marL="177800" indent="-177800">
              <a:spcAft>
                <a:spcPts val="800"/>
              </a:spcAft>
              <a:buSzPct val="100000"/>
              <a:buChar char="•"/>
            </a:pPr>
            <a:r>
              <a:rPr lang="en-US" sz="1400">
                <a:solidFill>
                  <a:srgbClr val="2E2E38"/>
                </a:solidFill>
                <a:latin typeface="+mj-lt"/>
                <a:ea typeface="Calibri" pitchFamily="34" charset="-122"/>
                <a:cs typeface="Calibri" pitchFamily="34" charset="-120"/>
              </a:rPr>
              <a:t>License reclamation</a:t>
            </a:r>
            <a:endParaRPr lang="en-US" sz="1400">
              <a:latin typeface="+mj-lt"/>
            </a:endParaRPr>
          </a:p>
        </p:txBody>
      </p:sp>
      <p:sp>
        <p:nvSpPr>
          <p:cNvPr id="98" name="Text 30">
            <a:extLst>
              <a:ext uri="{FF2B5EF4-FFF2-40B4-BE49-F238E27FC236}">
                <a16:creationId xmlns:a16="http://schemas.microsoft.com/office/drawing/2014/main" id="{0E979405-FF05-8F3D-7921-26AC1B52098A}"/>
              </a:ext>
            </a:extLst>
          </p:cNvPr>
          <p:cNvSpPr/>
          <p:nvPr/>
        </p:nvSpPr>
        <p:spPr>
          <a:xfrm>
            <a:off x="457200" y="4617720"/>
            <a:ext cx="1828800" cy="274320"/>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Key constituents: </a:t>
            </a:r>
            <a:endParaRPr lang="en-US" sz="1400">
              <a:latin typeface="+mj-lt"/>
            </a:endParaRPr>
          </a:p>
        </p:txBody>
      </p:sp>
      <p:sp>
        <p:nvSpPr>
          <p:cNvPr id="100" name="Text 31">
            <a:extLst>
              <a:ext uri="{FF2B5EF4-FFF2-40B4-BE49-F238E27FC236}">
                <a16:creationId xmlns:a16="http://schemas.microsoft.com/office/drawing/2014/main" id="{9E19A796-95F6-ADA2-8946-0906040DEAE5}"/>
              </a:ext>
            </a:extLst>
          </p:cNvPr>
          <p:cNvSpPr/>
          <p:nvPr/>
        </p:nvSpPr>
        <p:spPr>
          <a:xfrm>
            <a:off x="457200" y="4892040"/>
            <a:ext cx="11247120" cy="365760"/>
          </a:xfrm>
          <a:prstGeom prst="rect">
            <a:avLst/>
          </a:prstGeom>
          <a:noFill/>
          <a:ln/>
        </p:spPr>
        <p:txBody>
          <a:bodyPr wrap="square" lIns="91440" tIns="45720" rIns="91440" bIns="45720" rtlCol="0" anchor="ctr"/>
          <a:lstStyle/>
          <a:p>
            <a:pPr marL="0" indent="0">
              <a:buNone/>
            </a:pPr>
            <a:r>
              <a:rPr lang="en-US" sz="1400">
                <a:solidFill>
                  <a:srgbClr val="747480"/>
                </a:solidFill>
                <a:latin typeface="+mj-lt"/>
                <a:ea typeface="Calibri"/>
                <a:cs typeface="Calibri"/>
              </a:rPr>
              <a:t>Database Product Owner  •  EA Data Portfolio Architect  •  DBA/Engineering Teams (HCL)  •  Application Owners  •  Security  •  FinOps  •  Compliance  •  Vendors</a:t>
            </a:r>
            <a:endParaRPr lang="en-US" sz="1400">
              <a:latin typeface="+mj-lt"/>
              <a:ea typeface="Calibri"/>
              <a:cs typeface="Calibri"/>
            </a:endParaRPr>
          </a:p>
        </p:txBody>
      </p:sp>
      <p:sp>
        <p:nvSpPr>
          <p:cNvPr id="102" name="Shape 32">
            <a:extLst>
              <a:ext uri="{FF2B5EF4-FFF2-40B4-BE49-F238E27FC236}">
                <a16:creationId xmlns:a16="http://schemas.microsoft.com/office/drawing/2014/main" id="{CFE53EC2-A88C-DD96-294D-43EEA2E2EF06}"/>
              </a:ext>
            </a:extLst>
          </p:cNvPr>
          <p:cNvSpPr/>
          <p:nvPr/>
        </p:nvSpPr>
        <p:spPr>
          <a:xfrm>
            <a:off x="457200" y="5394960"/>
            <a:ext cx="11247120" cy="822960"/>
          </a:xfrm>
          <a:prstGeom prst="roundRect">
            <a:avLst>
              <a:gd name="adj" fmla="val 6667"/>
            </a:avLst>
          </a:prstGeom>
          <a:solidFill>
            <a:srgbClr val="F0CCD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104" name="Text 33">
            <a:extLst>
              <a:ext uri="{FF2B5EF4-FFF2-40B4-BE49-F238E27FC236}">
                <a16:creationId xmlns:a16="http://schemas.microsoft.com/office/drawing/2014/main" id="{6F6DF151-A7A8-E416-14A0-BBF8A42B2D28}"/>
              </a:ext>
            </a:extLst>
          </p:cNvPr>
          <p:cNvSpPr/>
          <p:nvPr/>
        </p:nvSpPr>
        <p:spPr>
          <a:xfrm>
            <a:off x="640080" y="5394960"/>
            <a:ext cx="10881360" cy="822960"/>
          </a:xfrm>
          <a:prstGeom prst="rect">
            <a:avLst/>
          </a:prstGeom>
          <a:noFill/>
          <a:ln/>
        </p:spPr>
        <p:txBody>
          <a:bodyPr wrap="square" lIns="91440" tIns="45720" rIns="91440" bIns="45720" rtlCol="0" anchor="ctr"/>
          <a:lstStyle/>
          <a:p>
            <a:pPr marL="0" indent="0">
              <a:buNone/>
            </a:pPr>
            <a:r>
              <a:rPr lang="en-US" sz="1400" i="1">
                <a:solidFill>
                  <a:srgbClr val="8C0924"/>
                </a:solidFill>
                <a:latin typeface="+mj-lt"/>
                <a:ea typeface="Calibri"/>
                <a:cs typeface="Calibri"/>
              </a:rPr>
              <a:t>Enterprise Architecture Engagement: contributes to database strategy &amp; planning, ensures governance alignment across the full lifecycle, and keeps this roadmap connected to the dependent roadmaps.</a:t>
            </a:r>
            <a:endParaRPr lang="en-US" sz="1400">
              <a:latin typeface="+mj-lt"/>
              <a:ea typeface="Calibri"/>
              <a:cs typeface="Calibri"/>
            </a:endParaRPr>
          </a:p>
        </p:txBody>
      </p:sp>
    </p:spTree>
    <p:extLst>
      <p:ext uri="{BB962C8B-B14F-4D97-AF65-F5344CB8AC3E}">
        <p14:creationId xmlns:p14="http://schemas.microsoft.com/office/powerpoint/2010/main" val="153955983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E9202-ED27-ABF4-2A5A-3AD1754B06B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6A70B0A-2DA4-C388-88E8-32BC5E2ACF76}"/>
              </a:ext>
            </a:extLst>
          </p:cNvPr>
          <p:cNvSpPr/>
          <p:nvPr/>
        </p:nvSpPr>
        <p:spPr>
          <a:xfrm>
            <a:off x="2386679" y="1841191"/>
            <a:ext cx="1650705" cy="467993"/>
          </a:xfrm>
          <a:prstGeom prst="rect">
            <a:avLst/>
          </a:prstGeom>
          <a:solidFill>
            <a:srgbClr val="A9CE27"/>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Buy </a:t>
            </a:r>
            <a:r>
              <a:rPr lang="en-CA" sz="1100">
                <a:solidFill>
                  <a:srgbClr val="FFFFFF"/>
                </a:solidFill>
                <a:latin typeface="Arial" panose="020B0604020202020204"/>
              </a:rPr>
              <a:t>before</a:t>
            </a: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Build</a:t>
            </a:r>
          </a:p>
        </p:txBody>
      </p:sp>
      <p:sp>
        <p:nvSpPr>
          <p:cNvPr id="8" name="Rectangle 7">
            <a:extLst>
              <a:ext uri="{FF2B5EF4-FFF2-40B4-BE49-F238E27FC236}">
                <a16:creationId xmlns:a16="http://schemas.microsoft.com/office/drawing/2014/main" id="{88312546-2621-4EB6-C62B-C403F0278351}"/>
              </a:ext>
            </a:extLst>
          </p:cNvPr>
          <p:cNvSpPr/>
          <p:nvPr/>
        </p:nvSpPr>
        <p:spPr>
          <a:xfrm>
            <a:off x="2386679" y="1296724"/>
            <a:ext cx="1650705" cy="467993"/>
          </a:xfrm>
          <a:prstGeom prst="rect">
            <a:avLst/>
          </a:prstGeom>
          <a:solidFill>
            <a:srgbClr val="EDC6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Cloud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Appropriate</a:t>
            </a:r>
          </a:p>
        </p:txBody>
      </p:sp>
      <p:sp>
        <p:nvSpPr>
          <p:cNvPr id="10" name="Rectangle 9">
            <a:extLst>
              <a:ext uri="{FF2B5EF4-FFF2-40B4-BE49-F238E27FC236}">
                <a16:creationId xmlns:a16="http://schemas.microsoft.com/office/drawing/2014/main" id="{2E539D9B-08EE-3051-425E-9BAF981C4A5E}"/>
              </a:ext>
            </a:extLst>
          </p:cNvPr>
          <p:cNvSpPr/>
          <p:nvPr/>
        </p:nvSpPr>
        <p:spPr>
          <a:xfrm>
            <a:off x="2386679" y="2930125"/>
            <a:ext cx="1650705" cy="467993"/>
          </a:xfrm>
          <a:prstGeom prst="rect">
            <a:avLst/>
          </a:prstGeom>
          <a:solidFill>
            <a:srgbClr val="41BEF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Automation Everywhere </a:t>
            </a:r>
          </a:p>
        </p:txBody>
      </p:sp>
      <p:sp>
        <p:nvSpPr>
          <p:cNvPr id="12" name="Rectangle 11">
            <a:extLst>
              <a:ext uri="{FF2B5EF4-FFF2-40B4-BE49-F238E27FC236}">
                <a16:creationId xmlns:a16="http://schemas.microsoft.com/office/drawing/2014/main" id="{C80B4F74-7DE2-31D5-5E4F-01D8435C65CA}"/>
              </a:ext>
            </a:extLst>
          </p:cNvPr>
          <p:cNvSpPr/>
          <p:nvPr/>
        </p:nvSpPr>
        <p:spPr>
          <a:xfrm>
            <a:off x="2386679" y="3474592"/>
            <a:ext cx="1650705" cy="467993"/>
          </a:xfrm>
          <a:prstGeom prst="rect">
            <a:avLst/>
          </a:prstGeom>
          <a:solidFill>
            <a:srgbClr val="B97CB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Experientially Focused </a:t>
            </a:r>
          </a:p>
        </p:txBody>
      </p:sp>
      <p:sp>
        <p:nvSpPr>
          <p:cNvPr id="14" name="Rectangle 13">
            <a:extLst>
              <a:ext uri="{FF2B5EF4-FFF2-40B4-BE49-F238E27FC236}">
                <a16:creationId xmlns:a16="http://schemas.microsoft.com/office/drawing/2014/main" id="{8DF20E49-23BB-A046-D645-CCC0E016BBED}"/>
              </a:ext>
            </a:extLst>
          </p:cNvPr>
          <p:cNvSpPr/>
          <p:nvPr/>
        </p:nvSpPr>
        <p:spPr>
          <a:xfrm>
            <a:off x="2386679" y="2385658"/>
            <a:ext cx="1650705" cy="467993"/>
          </a:xfrm>
          <a:prstGeom prst="rect">
            <a:avLst/>
          </a:prstGeom>
          <a:solidFill>
            <a:srgbClr val="5FC0A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Responsible Autonomy </a:t>
            </a:r>
          </a:p>
        </p:txBody>
      </p:sp>
      <p:sp>
        <p:nvSpPr>
          <p:cNvPr id="16" name="Rectangle 15">
            <a:extLst>
              <a:ext uri="{FF2B5EF4-FFF2-40B4-BE49-F238E27FC236}">
                <a16:creationId xmlns:a16="http://schemas.microsoft.com/office/drawing/2014/main" id="{15C4B077-80AD-0518-D6D7-60D38A870623}"/>
              </a:ext>
            </a:extLst>
          </p:cNvPr>
          <p:cNvSpPr/>
          <p:nvPr/>
        </p:nvSpPr>
        <p:spPr>
          <a:xfrm>
            <a:off x="2386679" y="4019059"/>
            <a:ext cx="1650705" cy="467993"/>
          </a:xfrm>
          <a:prstGeom prst="rect">
            <a:avLst/>
          </a:prstGeom>
          <a:solidFill>
            <a:srgbClr val="605C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Value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Oriented</a:t>
            </a:r>
          </a:p>
        </p:txBody>
      </p:sp>
      <p:sp>
        <p:nvSpPr>
          <p:cNvPr id="18" name="Rectangle 17">
            <a:extLst>
              <a:ext uri="{FF2B5EF4-FFF2-40B4-BE49-F238E27FC236}">
                <a16:creationId xmlns:a16="http://schemas.microsoft.com/office/drawing/2014/main" id="{D7F4737F-1B33-389A-31F2-4A44C763002F}"/>
              </a:ext>
            </a:extLst>
          </p:cNvPr>
          <p:cNvSpPr/>
          <p:nvPr/>
        </p:nvSpPr>
        <p:spPr>
          <a:xfrm>
            <a:off x="2386679" y="4563526"/>
            <a:ext cx="1650705" cy="467993"/>
          </a:xfrm>
          <a:prstGeom prst="rect">
            <a:avLst/>
          </a:prstGeom>
          <a:solidFill>
            <a:srgbClr val="2A7DC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E2E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Observability </a:t>
            </a:r>
          </a:p>
        </p:txBody>
      </p:sp>
      <p:sp>
        <p:nvSpPr>
          <p:cNvPr id="20" name="Rectangle 19">
            <a:extLst>
              <a:ext uri="{FF2B5EF4-FFF2-40B4-BE49-F238E27FC236}">
                <a16:creationId xmlns:a16="http://schemas.microsoft.com/office/drawing/2014/main" id="{B12EDD6F-9740-F4A2-6CF8-D3573F1CF5FA}"/>
              </a:ext>
            </a:extLst>
          </p:cNvPr>
          <p:cNvSpPr/>
          <p:nvPr/>
        </p:nvSpPr>
        <p:spPr>
          <a:xfrm>
            <a:off x="2386679" y="5107993"/>
            <a:ext cx="1650705" cy="467993"/>
          </a:xfrm>
          <a:prstGeom prst="rect">
            <a:avLst/>
          </a:prstGeom>
          <a:solidFill>
            <a:srgbClr val="277E8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Secure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by Design </a:t>
            </a:r>
          </a:p>
        </p:txBody>
      </p:sp>
      <p:sp>
        <p:nvSpPr>
          <p:cNvPr id="22" name="Rectangle 21">
            <a:extLst>
              <a:ext uri="{FF2B5EF4-FFF2-40B4-BE49-F238E27FC236}">
                <a16:creationId xmlns:a16="http://schemas.microsoft.com/office/drawing/2014/main" id="{40648C47-B9FB-0D47-35A3-F6CF4613E891}"/>
              </a:ext>
            </a:extLst>
          </p:cNvPr>
          <p:cNvSpPr/>
          <p:nvPr/>
        </p:nvSpPr>
        <p:spPr>
          <a:xfrm>
            <a:off x="2386679" y="5652462"/>
            <a:ext cx="1650705" cy="467993"/>
          </a:xfrm>
          <a:prstGeom prst="rect">
            <a:avLst/>
          </a:prstGeom>
          <a:solidFill>
            <a:srgbClr val="B08B3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Continuous Optimization</a:t>
            </a:r>
          </a:p>
        </p:txBody>
      </p:sp>
      <p:sp>
        <p:nvSpPr>
          <p:cNvPr id="24" name="Rectangle 23">
            <a:extLst>
              <a:ext uri="{FF2B5EF4-FFF2-40B4-BE49-F238E27FC236}">
                <a16:creationId xmlns:a16="http://schemas.microsoft.com/office/drawing/2014/main" id="{73DA1403-79D8-77CD-159A-5D07C9E06EE3}"/>
              </a:ext>
            </a:extLst>
          </p:cNvPr>
          <p:cNvSpPr/>
          <p:nvPr/>
        </p:nvSpPr>
        <p:spPr>
          <a:xfrm>
            <a:off x="4137338" y="1841191"/>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Whenever possible, choose solutions that abstract management and operations.  SaaS are our first choice, followed by PaaS, followed by IaaS.​</a:t>
            </a:r>
          </a:p>
        </p:txBody>
      </p:sp>
      <p:sp>
        <p:nvSpPr>
          <p:cNvPr id="26" name="Rectangle 25">
            <a:extLst>
              <a:ext uri="{FF2B5EF4-FFF2-40B4-BE49-F238E27FC236}">
                <a16:creationId xmlns:a16="http://schemas.microsoft.com/office/drawing/2014/main" id="{8E2CB78F-DEF1-EB33-C2B5-13B7BF310DD5}"/>
              </a:ext>
            </a:extLst>
          </p:cNvPr>
          <p:cNvSpPr/>
          <p:nvPr/>
        </p:nvSpPr>
        <p:spPr>
          <a:xfrm>
            <a:off x="4137338" y="1296724"/>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Cloud first, cloud appropriate.  Leverage pattern-based decision frameworks to inform multi-cloud solution deployment.​</a:t>
            </a:r>
          </a:p>
        </p:txBody>
      </p:sp>
      <p:sp>
        <p:nvSpPr>
          <p:cNvPr id="28" name="Rectangle 27">
            <a:extLst>
              <a:ext uri="{FF2B5EF4-FFF2-40B4-BE49-F238E27FC236}">
                <a16:creationId xmlns:a16="http://schemas.microsoft.com/office/drawing/2014/main" id="{E76DA701-3EE5-FAA5-6B3D-2FBC24F4D7ED}"/>
              </a:ext>
            </a:extLst>
          </p:cNvPr>
          <p:cNvSpPr/>
          <p:nvPr/>
        </p:nvSpPr>
        <p:spPr>
          <a:xfrm>
            <a:off x="4137338" y="2930125"/>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Solutions are deployed through automated provisioning, configuration, integration, deployment and management.</a:t>
            </a:r>
          </a:p>
        </p:txBody>
      </p:sp>
      <p:sp>
        <p:nvSpPr>
          <p:cNvPr id="30" name="Rectangle 29">
            <a:extLst>
              <a:ext uri="{FF2B5EF4-FFF2-40B4-BE49-F238E27FC236}">
                <a16:creationId xmlns:a16="http://schemas.microsoft.com/office/drawing/2014/main" id="{790D1173-8745-5C27-BC2E-E8DD536D8597}"/>
              </a:ext>
            </a:extLst>
          </p:cNvPr>
          <p:cNvSpPr/>
          <p:nvPr/>
        </p:nvSpPr>
        <p:spPr>
          <a:xfrm>
            <a:off x="4137338" y="3474592"/>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Putting the customer at the center of everything we do.  This means placing a high value on the experience.</a:t>
            </a:r>
          </a:p>
        </p:txBody>
      </p:sp>
      <p:sp>
        <p:nvSpPr>
          <p:cNvPr id="32" name="Rectangle 31">
            <a:extLst>
              <a:ext uri="{FF2B5EF4-FFF2-40B4-BE49-F238E27FC236}">
                <a16:creationId xmlns:a16="http://schemas.microsoft.com/office/drawing/2014/main" id="{99B7CC4F-3F8C-DD0A-A3DD-ADE9446D6DF9}"/>
              </a:ext>
            </a:extLst>
          </p:cNvPr>
          <p:cNvSpPr/>
          <p:nvPr/>
        </p:nvSpPr>
        <p:spPr>
          <a:xfrm>
            <a:off x="4137338" y="2385658"/>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Practitioners are trusted to act in the best interest of the company and our customers.  Flexibility at the edge governed by a strong foundation.​</a:t>
            </a:r>
          </a:p>
        </p:txBody>
      </p:sp>
      <p:sp>
        <p:nvSpPr>
          <p:cNvPr id="34" name="Rectangle 33">
            <a:extLst>
              <a:ext uri="{FF2B5EF4-FFF2-40B4-BE49-F238E27FC236}">
                <a16:creationId xmlns:a16="http://schemas.microsoft.com/office/drawing/2014/main" id="{EB15EB78-C4D7-4D45-7ECB-F593C5879288}"/>
              </a:ext>
            </a:extLst>
          </p:cNvPr>
          <p:cNvSpPr/>
          <p:nvPr/>
        </p:nvSpPr>
        <p:spPr>
          <a:xfrm>
            <a:off x="4137338" y="4019059"/>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Outcomes are connected to value where velocity, frequency, experience, resilience and total cost of ownership are weighted considerations.</a:t>
            </a:r>
          </a:p>
        </p:txBody>
      </p:sp>
      <p:sp>
        <p:nvSpPr>
          <p:cNvPr id="36" name="Rectangle 35">
            <a:extLst>
              <a:ext uri="{FF2B5EF4-FFF2-40B4-BE49-F238E27FC236}">
                <a16:creationId xmlns:a16="http://schemas.microsoft.com/office/drawing/2014/main" id="{76628083-8F69-5E42-2C30-956758C06AE7}"/>
              </a:ext>
            </a:extLst>
          </p:cNvPr>
          <p:cNvSpPr/>
          <p:nvPr/>
        </p:nvSpPr>
        <p:spPr>
          <a:xfrm>
            <a:off x="4137338" y="4563526"/>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Prioritize unified, real-time visibility and insights into the health, performance and behaviour of services.​</a:t>
            </a:r>
          </a:p>
        </p:txBody>
      </p:sp>
      <p:sp>
        <p:nvSpPr>
          <p:cNvPr id="38" name="Rectangle 37">
            <a:extLst>
              <a:ext uri="{FF2B5EF4-FFF2-40B4-BE49-F238E27FC236}">
                <a16:creationId xmlns:a16="http://schemas.microsoft.com/office/drawing/2014/main" id="{999C80EC-8ED9-916D-961D-87DE6B4D744B}"/>
              </a:ext>
            </a:extLst>
          </p:cNvPr>
          <p:cNvSpPr/>
          <p:nvPr/>
        </p:nvSpPr>
        <p:spPr>
          <a:xfrm>
            <a:off x="4137338" y="5107993"/>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Solutions are governed by a multi-layer security architecture, policy-driven enforcement, data protection and incident detection and handling.</a:t>
            </a:r>
          </a:p>
        </p:txBody>
      </p:sp>
      <p:sp>
        <p:nvSpPr>
          <p:cNvPr id="40" name="Rectangle 39">
            <a:extLst>
              <a:ext uri="{FF2B5EF4-FFF2-40B4-BE49-F238E27FC236}">
                <a16:creationId xmlns:a16="http://schemas.microsoft.com/office/drawing/2014/main" id="{44073FE2-5526-0F0B-99F1-9494C24478D4}"/>
              </a:ext>
            </a:extLst>
          </p:cNvPr>
          <p:cNvSpPr/>
          <p:nvPr/>
        </p:nvSpPr>
        <p:spPr>
          <a:xfrm>
            <a:off x="4137338" y="5652462"/>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Programmatic measurement and feedback loops to promote efficient use of technology and processes.​</a:t>
            </a:r>
          </a:p>
        </p:txBody>
      </p:sp>
      <p:pic>
        <p:nvPicPr>
          <p:cNvPr id="42" name="Graphic 75" descr="Cloud outline">
            <a:extLst>
              <a:ext uri="{FF2B5EF4-FFF2-40B4-BE49-F238E27FC236}">
                <a16:creationId xmlns:a16="http://schemas.microsoft.com/office/drawing/2014/main" id="{06D6FA90-7CDF-F03E-0FEF-23D78693A6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86634" y="1310710"/>
            <a:ext cx="418344" cy="418344"/>
          </a:xfrm>
          <a:prstGeom prst="rect">
            <a:avLst/>
          </a:prstGeom>
        </p:spPr>
      </p:pic>
      <p:pic>
        <p:nvPicPr>
          <p:cNvPr id="44" name="Graphic 77" descr="Architecture outline">
            <a:extLst>
              <a:ext uri="{FF2B5EF4-FFF2-40B4-BE49-F238E27FC236}">
                <a16:creationId xmlns:a16="http://schemas.microsoft.com/office/drawing/2014/main" id="{97FDFB46-D75C-A573-1450-75FA2EC9F9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86634" y="1861724"/>
            <a:ext cx="418344" cy="418344"/>
          </a:xfrm>
          <a:prstGeom prst="rect">
            <a:avLst/>
          </a:prstGeom>
        </p:spPr>
      </p:pic>
      <p:pic>
        <p:nvPicPr>
          <p:cNvPr id="46" name="Graphic 81" descr="Robot outline">
            <a:extLst>
              <a:ext uri="{FF2B5EF4-FFF2-40B4-BE49-F238E27FC236}">
                <a16:creationId xmlns:a16="http://schemas.microsoft.com/office/drawing/2014/main" id="{F2E77AAC-46FC-4549-BFDA-DDB6E91D1B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86634" y="2950658"/>
            <a:ext cx="418344" cy="418344"/>
          </a:xfrm>
          <a:prstGeom prst="rect">
            <a:avLst/>
          </a:prstGeom>
        </p:spPr>
      </p:pic>
      <p:pic>
        <p:nvPicPr>
          <p:cNvPr id="48" name="Graphic 83" descr="Ui Ux outline">
            <a:extLst>
              <a:ext uri="{FF2B5EF4-FFF2-40B4-BE49-F238E27FC236}">
                <a16:creationId xmlns:a16="http://schemas.microsoft.com/office/drawing/2014/main" id="{12FF2AA7-B475-A1AC-44D2-E9302BB3B2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93752" y="2407065"/>
            <a:ext cx="418344" cy="418344"/>
          </a:xfrm>
          <a:prstGeom prst="rect">
            <a:avLst/>
          </a:prstGeom>
        </p:spPr>
      </p:pic>
      <p:pic>
        <p:nvPicPr>
          <p:cNvPr id="50" name="Graphic 85" descr="Diamond outline">
            <a:extLst>
              <a:ext uri="{FF2B5EF4-FFF2-40B4-BE49-F238E27FC236}">
                <a16:creationId xmlns:a16="http://schemas.microsoft.com/office/drawing/2014/main" id="{941FF34A-E43A-4B41-37F2-D5452F2184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86634" y="4036991"/>
            <a:ext cx="418344" cy="418344"/>
          </a:xfrm>
          <a:prstGeom prst="rect">
            <a:avLst/>
          </a:prstGeom>
        </p:spPr>
      </p:pic>
      <p:pic>
        <p:nvPicPr>
          <p:cNvPr id="52" name="Graphic 87" descr="Eye outline">
            <a:extLst>
              <a:ext uri="{FF2B5EF4-FFF2-40B4-BE49-F238E27FC236}">
                <a16:creationId xmlns:a16="http://schemas.microsoft.com/office/drawing/2014/main" id="{F0458663-C839-D6BB-5F14-652C17B36C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86634" y="4586880"/>
            <a:ext cx="418344" cy="418344"/>
          </a:xfrm>
          <a:prstGeom prst="rect">
            <a:avLst/>
          </a:prstGeom>
        </p:spPr>
      </p:pic>
      <p:pic>
        <p:nvPicPr>
          <p:cNvPr id="54" name="Graphic 89" descr="Safe outline">
            <a:extLst>
              <a:ext uri="{FF2B5EF4-FFF2-40B4-BE49-F238E27FC236}">
                <a16:creationId xmlns:a16="http://schemas.microsoft.com/office/drawing/2014/main" id="{AB4A91B5-4E5E-63FF-6604-967C23F42B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86634" y="5131348"/>
            <a:ext cx="418344" cy="418344"/>
          </a:xfrm>
          <a:prstGeom prst="rect">
            <a:avLst/>
          </a:prstGeom>
        </p:spPr>
      </p:pic>
      <p:pic>
        <p:nvPicPr>
          <p:cNvPr id="56" name="Graphic 91" descr="End outline">
            <a:extLst>
              <a:ext uri="{FF2B5EF4-FFF2-40B4-BE49-F238E27FC236}">
                <a16:creationId xmlns:a16="http://schemas.microsoft.com/office/drawing/2014/main" id="{ED29C2ED-3D7B-AF28-340A-6F617AE325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86634" y="5677225"/>
            <a:ext cx="418344" cy="418344"/>
          </a:xfrm>
          <a:prstGeom prst="rect">
            <a:avLst/>
          </a:prstGeom>
        </p:spPr>
      </p:pic>
      <p:pic>
        <p:nvPicPr>
          <p:cNvPr id="58" name="Graphic 98" descr="Target outline">
            <a:extLst>
              <a:ext uri="{FF2B5EF4-FFF2-40B4-BE49-F238E27FC236}">
                <a16:creationId xmlns:a16="http://schemas.microsoft.com/office/drawing/2014/main" id="{A1109718-537A-C6DF-A3A2-4C412BE99D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86634" y="3503170"/>
            <a:ext cx="418344" cy="418344"/>
          </a:xfrm>
          <a:prstGeom prst="rect">
            <a:avLst/>
          </a:prstGeom>
        </p:spPr>
      </p:pic>
      <p:sp>
        <p:nvSpPr>
          <p:cNvPr id="60" name="Arrow: Up-Down 59">
            <a:extLst>
              <a:ext uri="{FF2B5EF4-FFF2-40B4-BE49-F238E27FC236}">
                <a16:creationId xmlns:a16="http://schemas.microsoft.com/office/drawing/2014/main" id="{5FAB55B9-2B0F-74AF-4FAE-6B072040FBCE}"/>
              </a:ext>
            </a:extLst>
          </p:cNvPr>
          <p:cNvSpPr/>
          <p:nvPr/>
        </p:nvSpPr>
        <p:spPr>
          <a:xfrm>
            <a:off x="1662980" y="1342562"/>
            <a:ext cx="533695" cy="4823731"/>
          </a:xfrm>
          <a:prstGeom prst="upDownArrow">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FFFFFF"/>
                </a:solidFill>
                <a:effectLst/>
                <a:uLnTx/>
                <a:uFillTx/>
                <a:latin typeface="Arial" panose="020B0604020202020204"/>
                <a:ea typeface="+mn-ea"/>
                <a:cs typeface="+mn-cs"/>
              </a:rPr>
              <a:t>Guiding Principles</a:t>
            </a:r>
          </a:p>
        </p:txBody>
      </p:sp>
      <p:pic>
        <p:nvPicPr>
          <p:cNvPr id="62" name="Graphic 103" descr="Map compass outline">
            <a:extLst>
              <a:ext uri="{FF2B5EF4-FFF2-40B4-BE49-F238E27FC236}">
                <a16:creationId xmlns:a16="http://schemas.microsoft.com/office/drawing/2014/main" id="{DE1AEB9C-AC01-A424-5DE0-8813782953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0321" y="3314429"/>
            <a:ext cx="914400" cy="914400"/>
          </a:xfrm>
          <a:prstGeom prst="rect">
            <a:avLst/>
          </a:prstGeom>
        </p:spPr>
      </p:pic>
      <p:sp>
        <p:nvSpPr>
          <p:cNvPr id="64" name="Text 4">
            <a:extLst>
              <a:ext uri="{FF2B5EF4-FFF2-40B4-BE49-F238E27FC236}">
                <a16:creationId xmlns:a16="http://schemas.microsoft.com/office/drawing/2014/main" id="{2CB1DE38-466E-9F30-BECD-D6716AC6FBCB}"/>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I&amp;O Guiding Principles</a:t>
            </a:r>
            <a:endParaRPr lang="en-US" sz="2600">
              <a:latin typeface="+mj-lt"/>
            </a:endParaRPr>
          </a:p>
        </p:txBody>
      </p:sp>
    </p:spTree>
    <p:extLst>
      <p:ext uri="{BB962C8B-B14F-4D97-AF65-F5344CB8AC3E}">
        <p14:creationId xmlns:p14="http://schemas.microsoft.com/office/powerpoint/2010/main" val="2690211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7FC0-55B2-FEF0-6F57-58E8D66149B9}"/>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A71237E9-EBFA-BE01-97F1-2A306A3E921A}"/>
              </a:ext>
            </a:extLst>
          </p:cNvPr>
          <p:cNvSpPr/>
          <p:nvPr/>
        </p:nvSpPr>
        <p:spPr>
          <a:xfrm>
            <a:off x="457200" y="384048"/>
            <a:ext cx="11155680" cy="640080"/>
          </a:xfrm>
          <a:prstGeom prst="rect">
            <a:avLst/>
          </a:prstGeom>
          <a:noFill/>
          <a:ln/>
        </p:spPr>
        <p:txBody>
          <a:bodyPr wrap="square" rtlCol="0" anchor="ctr"/>
          <a:lstStyle/>
          <a:p>
            <a:r>
              <a:rPr lang="en-US" sz="2600" b="1">
                <a:solidFill>
                  <a:srgbClr val="BA0C2F"/>
                </a:solidFill>
                <a:latin typeface="+mj-lt"/>
                <a:ea typeface="Calibri" pitchFamily="34" charset="-122"/>
                <a:cs typeface="Calibri" pitchFamily="34" charset="-120"/>
              </a:rPr>
              <a:t>Six Strategic Domains</a:t>
            </a:r>
            <a:endParaRPr lang="en-US" sz="2600">
              <a:latin typeface="+mj-lt"/>
            </a:endParaRPr>
          </a:p>
        </p:txBody>
      </p:sp>
      <p:sp>
        <p:nvSpPr>
          <p:cNvPr id="4" name="TextBox 3">
            <a:extLst>
              <a:ext uri="{FF2B5EF4-FFF2-40B4-BE49-F238E27FC236}">
                <a16:creationId xmlns:a16="http://schemas.microsoft.com/office/drawing/2014/main" id="{4F84F94C-13C3-0E0C-FBD2-AC171D2630EA}"/>
              </a:ext>
            </a:extLst>
          </p:cNvPr>
          <p:cNvSpPr txBox="1"/>
          <p:nvPr/>
        </p:nvSpPr>
        <p:spPr>
          <a:xfrm>
            <a:off x="559444" y="1239456"/>
            <a:ext cx="11208151" cy="646331"/>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400">
                <a:latin typeface="Arial"/>
                <a:ea typeface="Segoe UI"/>
                <a:cs typeface="Arial"/>
              </a:rPr>
              <a:t>This roadmap organizes database services into six strategic domains the Cloud Foundations Roadmap uses, so the two roadmaps share one structural language – each domain below is grounded in confirmed technology direction.</a:t>
            </a:r>
          </a:p>
          <a:p>
            <a:pPr marL="228600" indent="-228600" algn="l">
              <a:spcAft>
                <a:spcPts val="500"/>
              </a:spcAft>
              <a:buFont typeface="Arial" panose="020B0604020202020204" pitchFamily="34" charset="0"/>
              <a:buChar char="•"/>
            </a:pPr>
            <a:endParaRPr lang="en-US" sz="1400"/>
          </a:p>
        </p:txBody>
      </p:sp>
      <p:sp>
        <p:nvSpPr>
          <p:cNvPr id="5" name="Shape 6">
            <a:extLst>
              <a:ext uri="{FF2B5EF4-FFF2-40B4-BE49-F238E27FC236}">
                <a16:creationId xmlns:a16="http://schemas.microsoft.com/office/drawing/2014/main" id="{41BA933D-A8F2-9E66-7606-8D0BDF0EB65C}"/>
              </a:ext>
            </a:extLst>
          </p:cNvPr>
          <p:cNvSpPr/>
          <p:nvPr/>
        </p:nvSpPr>
        <p:spPr>
          <a:xfrm>
            <a:off x="457200" y="1922418"/>
            <a:ext cx="3657600" cy="1737360"/>
          </a:xfrm>
          <a:prstGeom prst="roundRect">
            <a:avLst>
              <a:gd name="adj" fmla="val 3158"/>
            </a:avLst>
          </a:prstGeom>
          <a:solidFill>
            <a:srgbClr val="F2F2F2"/>
          </a:solidFill>
          <a:ln/>
          <a:effectLst>
            <a:outerShdw blurRad="50800" dist="25400" dir="5400000" algn="bl" rotWithShape="0">
              <a:srgbClr val="808080">
                <a:alpha val="20000"/>
              </a:srgbClr>
            </a:outerShdw>
          </a:effectLst>
        </p:spPr>
        <p:txBody>
          <a:bodyPr/>
          <a:lstStyle/>
          <a:p>
            <a:endParaRPr lang="en-US" sz="1600">
              <a:latin typeface="+mj-lt"/>
            </a:endParaRPr>
          </a:p>
        </p:txBody>
      </p:sp>
      <p:sp>
        <p:nvSpPr>
          <p:cNvPr id="7" name="Shape 7">
            <a:extLst>
              <a:ext uri="{FF2B5EF4-FFF2-40B4-BE49-F238E27FC236}">
                <a16:creationId xmlns:a16="http://schemas.microsoft.com/office/drawing/2014/main" id="{6429FCFE-5032-27E6-2CD1-76F45F4CB4B4}"/>
              </a:ext>
            </a:extLst>
          </p:cNvPr>
          <p:cNvSpPr/>
          <p:nvPr/>
        </p:nvSpPr>
        <p:spPr>
          <a:xfrm>
            <a:off x="685800" y="2151018"/>
            <a:ext cx="502920" cy="502920"/>
          </a:xfrm>
          <a:prstGeom prst="ellipse">
            <a:avLst/>
          </a:prstGeom>
          <a:solidFill>
            <a:srgbClr val="BA0C2F"/>
          </a:solidFill>
          <a:ln/>
        </p:spPr>
        <p:txBody>
          <a:bodyPr/>
          <a:lstStyle/>
          <a:p>
            <a:endParaRPr lang="en-US" sz="1600">
              <a:latin typeface="+mj-lt"/>
            </a:endParaRPr>
          </a:p>
        </p:txBody>
      </p:sp>
      <p:sp>
        <p:nvSpPr>
          <p:cNvPr id="9" name="Text 8">
            <a:extLst>
              <a:ext uri="{FF2B5EF4-FFF2-40B4-BE49-F238E27FC236}">
                <a16:creationId xmlns:a16="http://schemas.microsoft.com/office/drawing/2014/main" id="{2A7205BB-0A1E-D5BC-0DEE-ED7AAAF1155E}"/>
              </a:ext>
            </a:extLst>
          </p:cNvPr>
          <p:cNvSpPr/>
          <p:nvPr/>
        </p:nvSpPr>
        <p:spPr>
          <a:xfrm>
            <a:off x="685800" y="2151018"/>
            <a:ext cx="502920" cy="50292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F</a:t>
            </a:r>
            <a:endParaRPr lang="en-US" sz="1600">
              <a:latin typeface="+mj-lt"/>
            </a:endParaRPr>
          </a:p>
        </p:txBody>
      </p:sp>
      <p:sp>
        <p:nvSpPr>
          <p:cNvPr id="11" name="Text 9">
            <a:extLst>
              <a:ext uri="{FF2B5EF4-FFF2-40B4-BE49-F238E27FC236}">
                <a16:creationId xmlns:a16="http://schemas.microsoft.com/office/drawing/2014/main" id="{13E28C39-79AF-C6EF-6117-40C9CDA8A9C9}"/>
              </a:ext>
            </a:extLst>
          </p:cNvPr>
          <p:cNvSpPr/>
          <p:nvPr/>
        </p:nvSpPr>
        <p:spPr>
          <a:xfrm>
            <a:off x="1325880" y="2123586"/>
            <a:ext cx="2651760" cy="365760"/>
          </a:xfrm>
          <a:prstGeom prst="rect">
            <a:avLst/>
          </a:prstGeom>
          <a:noFill/>
          <a:ln/>
        </p:spPr>
        <p:txBody>
          <a:bodyPr wrap="square" rtlCol="0" anchor="ctr"/>
          <a:lstStyle/>
          <a:p>
            <a:pPr marL="0" indent="0">
              <a:buNone/>
            </a:pPr>
            <a:r>
              <a:rPr lang="en-US" sz="1600" b="1">
                <a:solidFill>
                  <a:srgbClr val="BA0C2F"/>
                </a:solidFill>
                <a:latin typeface="+mj-lt"/>
                <a:ea typeface="Calibri" pitchFamily="34" charset="-122"/>
                <a:cs typeface="Calibri" pitchFamily="34" charset="-120"/>
              </a:rPr>
              <a:t>Foundation</a:t>
            </a:r>
            <a:endParaRPr lang="en-US" sz="1600">
              <a:latin typeface="+mj-lt"/>
            </a:endParaRPr>
          </a:p>
        </p:txBody>
      </p:sp>
      <p:sp>
        <p:nvSpPr>
          <p:cNvPr id="13" name="Text 10">
            <a:extLst>
              <a:ext uri="{FF2B5EF4-FFF2-40B4-BE49-F238E27FC236}">
                <a16:creationId xmlns:a16="http://schemas.microsoft.com/office/drawing/2014/main" id="{F8D0C971-C61F-F52E-DAD8-4C6BEFEC4A30}"/>
              </a:ext>
            </a:extLst>
          </p:cNvPr>
          <p:cNvSpPr/>
          <p:nvPr/>
        </p:nvSpPr>
        <p:spPr>
          <a:xfrm>
            <a:off x="685800" y="2745378"/>
            <a:ext cx="3200400" cy="822960"/>
          </a:xfrm>
          <a:prstGeom prst="rect">
            <a:avLst/>
          </a:prstGeom>
          <a:noFill/>
          <a:ln/>
        </p:spPr>
        <p:txBody>
          <a:bodyPr wrap="square" rtlCol="0" anchor="ctr"/>
          <a:lstStyle/>
          <a:p>
            <a:pPr marL="0" indent="0">
              <a:buNone/>
            </a:pPr>
            <a:r>
              <a:rPr lang="en-US" sz="1400">
                <a:solidFill>
                  <a:srgbClr val="2E2E38"/>
                </a:solidFill>
                <a:latin typeface="+mj-lt"/>
                <a:ea typeface="Calibri" pitchFamily="34" charset="-122"/>
                <a:cs typeface="Calibri" pitchFamily="34" charset="-120"/>
              </a:rPr>
              <a:t>Platform architecture &amp; standards; provisioning &amp; onboarding.</a:t>
            </a:r>
            <a:endParaRPr lang="en-US" sz="1400">
              <a:latin typeface="+mj-lt"/>
            </a:endParaRPr>
          </a:p>
        </p:txBody>
      </p:sp>
      <p:sp>
        <p:nvSpPr>
          <p:cNvPr id="15" name="Shape 11">
            <a:extLst>
              <a:ext uri="{FF2B5EF4-FFF2-40B4-BE49-F238E27FC236}">
                <a16:creationId xmlns:a16="http://schemas.microsoft.com/office/drawing/2014/main" id="{88196C9C-A97F-E13A-DE8B-5FB696D262A4}"/>
              </a:ext>
            </a:extLst>
          </p:cNvPr>
          <p:cNvSpPr/>
          <p:nvPr/>
        </p:nvSpPr>
        <p:spPr>
          <a:xfrm>
            <a:off x="4251960" y="1922418"/>
            <a:ext cx="3657600" cy="1737360"/>
          </a:xfrm>
          <a:prstGeom prst="roundRect">
            <a:avLst>
              <a:gd name="adj" fmla="val 3158"/>
            </a:avLst>
          </a:prstGeom>
          <a:solidFill>
            <a:srgbClr val="F2F2F2"/>
          </a:solidFill>
          <a:ln/>
          <a:effectLst>
            <a:outerShdw blurRad="50800" dist="25400" dir="5400000" algn="bl" rotWithShape="0">
              <a:srgbClr val="808080">
                <a:alpha val="20000"/>
              </a:srgbClr>
            </a:outerShdw>
          </a:effectLst>
        </p:spPr>
        <p:txBody>
          <a:bodyPr/>
          <a:lstStyle/>
          <a:p>
            <a:endParaRPr lang="en-US" sz="1600">
              <a:latin typeface="+mj-lt"/>
            </a:endParaRPr>
          </a:p>
        </p:txBody>
      </p:sp>
      <p:sp>
        <p:nvSpPr>
          <p:cNvPr id="17" name="Shape 12">
            <a:extLst>
              <a:ext uri="{FF2B5EF4-FFF2-40B4-BE49-F238E27FC236}">
                <a16:creationId xmlns:a16="http://schemas.microsoft.com/office/drawing/2014/main" id="{883D6344-19AC-5016-F32E-99C7AF0741A2}"/>
              </a:ext>
            </a:extLst>
          </p:cNvPr>
          <p:cNvSpPr/>
          <p:nvPr/>
        </p:nvSpPr>
        <p:spPr>
          <a:xfrm>
            <a:off x="4480560" y="2151018"/>
            <a:ext cx="502920" cy="502920"/>
          </a:xfrm>
          <a:prstGeom prst="ellipse">
            <a:avLst/>
          </a:prstGeom>
          <a:solidFill>
            <a:srgbClr val="2E2E38"/>
          </a:solidFill>
          <a:ln/>
        </p:spPr>
        <p:txBody>
          <a:bodyPr/>
          <a:lstStyle/>
          <a:p>
            <a:endParaRPr lang="en-US" sz="1600">
              <a:latin typeface="+mj-lt"/>
            </a:endParaRPr>
          </a:p>
        </p:txBody>
      </p:sp>
      <p:sp>
        <p:nvSpPr>
          <p:cNvPr id="19" name="Text 13">
            <a:extLst>
              <a:ext uri="{FF2B5EF4-FFF2-40B4-BE49-F238E27FC236}">
                <a16:creationId xmlns:a16="http://schemas.microsoft.com/office/drawing/2014/main" id="{B04643F0-2750-CCF1-6B66-0E1029521E1C}"/>
              </a:ext>
            </a:extLst>
          </p:cNvPr>
          <p:cNvSpPr/>
          <p:nvPr/>
        </p:nvSpPr>
        <p:spPr>
          <a:xfrm>
            <a:off x="4480560" y="2151018"/>
            <a:ext cx="502920" cy="50292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S</a:t>
            </a:r>
            <a:endParaRPr lang="en-US" sz="1600">
              <a:latin typeface="+mj-lt"/>
            </a:endParaRPr>
          </a:p>
        </p:txBody>
      </p:sp>
      <p:sp>
        <p:nvSpPr>
          <p:cNvPr id="21" name="Text 14">
            <a:extLst>
              <a:ext uri="{FF2B5EF4-FFF2-40B4-BE49-F238E27FC236}">
                <a16:creationId xmlns:a16="http://schemas.microsoft.com/office/drawing/2014/main" id="{595B8E9A-81D8-F4F5-AC19-AB8ECE953468}"/>
              </a:ext>
            </a:extLst>
          </p:cNvPr>
          <p:cNvSpPr/>
          <p:nvPr/>
        </p:nvSpPr>
        <p:spPr>
          <a:xfrm>
            <a:off x="5120640" y="2123586"/>
            <a:ext cx="2651760" cy="365760"/>
          </a:xfrm>
          <a:prstGeom prst="rect">
            <a:avLst/>
          </a:prstGeom>
          <a:noFill/>
          <a:ln/>
        </p:spPr>
        <p:txBody>
          <a:bodyPr wrap="square" rtlCol="0" anchor="ctr"/>
          <a:lstStyle/>
          <a:p>
            <a:pPr marL="0" indent="0">
              <a:buNone/>
            </a:pPr>
            <a:r>
              <a:rPr lang="en-US" sz="1600" b="1">
                <a:solidFill>
                  <a:srgbClr val="BA0C2F"/>
                </a:solidFill>
                <a:latin typeface="+mj-lt"/>
                <a:ea typeface="Calibri" pitchFamily="34" charset="-122"/>
                <a:cs typeface="Calibri" pitchFamily="34" charset="-120"/>
              </a:rPr>
              <a:t>Security</a:t>
            </a:r>
            <a:endParaRPr lang="en-US" sz="1600">
              <a:latin typeface="+mj-lt"/>
            </a:endParaRPr>
          </a:p>
        </p:txBody>
      </p:sp>
      <p:sp>
        <p:nvSpPr>
          <p:cNvPr id="23" name="Text 15">
            <a:extLst>
              <a:ext uri="{FF2B5EF4-FFF2-40B4-BE49-F238E27FC236}">
                <a16:creationId xmlns:a16="http://schemas.microsoft.com/office/drawing/2014/main" id="{70D33AD6-E5C1-6662-EEA6-4F79BBC30051}"/>
              </a:ext>
            </a:extLst>
          </p:cNvPr>
          <p:cNvSpPr/>
          <p:nvPr/>
        </p:nvSpPr>
        <p:spPr>
          <a:xfrm>
            <a:off x="4480560" y="2745378"/>
            <a:ext cx="3200400" cy="822960"/>
          </a:xfrm>
          <a:prstGeom prst="rect">
            <a:avLst/>
          </a:prstGeom>
          <a:noFill/>
          <a:ln/>
        </p:spPr>
        <p:txBody>
          <a:bodyPr wrap="square" rtlCol="0" anchor="ctr"/>
          <a:lstStyle/>
          <a:p>
            <a:pPr marL="0" indent="0">
              <a:buNone/>
            </a:pPr>
            <a:r>
              <a:rPr lang="en-US" sz="1400">
                <a:solidFill>
                  <a:srgbClr val="2E2E38"/>
                </a:solidFill>
                <a:latin typeface="+mj-lt"/>
                <a:ea typeface="Calibri" pitchFamily="34" charset="-122"/>
                <a:cs typeface="Calibri" pitchFamily="34" charset="-120"/>
              </a:rPr>
              <a:t>Security engineering; access management.</a:t>
            </a:r>
            <a:endParaRPr lang="en-US" sz="1400">
              <a:latin typeface="+mj-lt"/>
            </a:endParaRPr>
          </a:p>
        </p:txBody>
      </p:sp>
      <p:sp>
        <p:nvSpPr>
          <p:cNvPr id="25" name="Shape 16">
            <a:extLst>
              <a:ext uri="{FF2B5EF4-FFF2-40B4-BE49-F238E27FC236}">
                <a16:creationId xmlns:a16="http://schemas.microsoft.com/office/drawing/2014/main" id="{367889B9-8246-B35D-63F6-45C56887C58A}"/>
              </a:ext>
            </a:extLst>
          </p:cNvPr>
          <p:cNvSpPr/>
          <p:nvPr/>
        </p:nvSpPr>
        <p:spPr>
          <a:xfrm>
            <a:off x="8046720" y="1922418"/>
            <a:ext cx="3657600" cy="1737360"/>
          </a:xfrm>
          <a:prstGeom prst="roundRect">
            <a:avLst>
              <a:gd name="adj" fmla="val 3158"/>
            </a:avLst>
          </a:prstGeom>
          <a:solidFill>
            <a:srgbClr val="F2F2F2"/>
          </a:solidFill>
          <a:ln/>
          <a:effectLst>
            <a:outerShdw blurRad="50800" dist="25400" dir="5400000" algn="bl" rotWithShape="0">
              <a:srgbClr val="808080">
                <a:alpha val="20000"/>
              </a:srgbClr>
            </a:outerShdw>
          </a:effectLst>
        </p:spPr>
        <p:txBody>
          <a:bodyPr/>
          <a:lstStyle/>
          <a:p>
            <a:endParaRPr lang="en-US" sz="1600">
              <a:latin typeface="+mj-lt"/>
            </a:endParaRPr>
          </a:p>
        </p:txBody>
      </p:sp>
      <p:sp>
        <p:nvSpPr>
          <p:cNvPr id="27" name="Shape 17">
            <a:extLst>
              <a:ext uri="{FF2B5EF4-FFF2-40B4-BE49-F238E27FC236}">
                <a16:creationId xmlns:a16="http://schemas.microsoft.com/office/drawing/2014/main" id="{CD324584-D4A0-389C-B43A-506EEBF91478}"/>
              </a:ext>
            </a:extLst>
          </p:cNvPr>
          <p:cNvSpPr/>
          <p:nvPr/>
        </p:nvSpPr>
        <p:spPr>
          <a:xfrm>
            <a:off x="8275320" y="2151018"/>
            <a:ext cx="502920" cy="502920"/>
          </a:xfrm>
          <a:prstGeom prst="ellipse">
            <a:avLst/>
          </a:prstGeom>
          <a:solidFill>
            <a:srgbClr val="BA0C2F"/>
          </a:solidFill>
          <a:ln/>
        </p:spPr>
        <p:txBody>
          <a:bodyPr/>
          <a:lstStyle/>
          <a:p>
            <a:endParaRPr lang="en-US" sz="1600">
              <a:latin typeface="+mj-lt"/>
            </a:endParaRPr>
          </a:p>
        </p:txBody>
      </p:sp>
      <p:sp>
        <p:nvSpPr>
          <p:cNvPr id="29" name="Text 18">
            <a:extLst>
              <a:ext uri="{FF2B5EF4-FFF2-40B4-BE49-F238E27FC236}">
                <a16:creationId xmlns:a16="http://schemas.microsoft.com/office/drawing/2014/main" id="{8BC6531C-AD76-FC6E-633D-D1AD3DF681B7}"/>
              </a:ext>
            </a:extLst>
          </p:cNvPr>
          <p:cNvSpPr/>
          <p:nvPr/>
        </p:nvSpPr>
        <p:spPr>
          <a:xfrm>
            <a:off x="8275320" y="2151018"/>
            <a:ext cx="502920" cy="50292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G</a:t>
            </a:r>
            <a:endParaRPr lang="en-US" sz="1600">
              <a:latin typeface="+mj-lt"/>
            </a:endParaRPr>
          </a:p>
        </p:txBody>
      </p:sp>
      <p:sp>
        <p:nvSpPr>
          <p:cNvPr id="31" name="Text 19">
            <a:extLst>
              <a:ext uri="{FF2B5EF4-FFF2-40B4-BE49-F238E27FC236}">
                <a16:creationId xmlns:a16="http://schemas.microsoft.com/office/drawing/2014/main" id="{FE471F2C-0873-1A72-C14F-6BED9E843BC6}"/>
              </a:ext>
            </a:extLst>
          </p:cNvPr>
          <p:cNvSpPr/>
          <p:nvPr/>
        </p:nvSpPr>
        <p:spPr>
          <a:xfrm>
            <a:off x="8915400" y="2123586"/>
            <a:ext cx="2651760" cy="365760"/>
          </a:xfrm>
          <a:prstGeom prst="rect">
            <a:avLst/>
          </a:prstGeom>
          <a:noFill/>
          <a:ln/>
        </p:spPr>
        <p:txBody>
          <a:bodyPr wrap="square" rtlCol="0" anchor="ctr"/>
          <a:lstStyle/>
          <a:p>
            <a:pPr marL="0" indent="0">
              <a:buNone/>
            </a:pPr>
            <a:r>
              <a:rPr lang="en-US" sz="1600" b="1">
                <a:solidFill>
                  <a:srgbClr val="BA0C2F"/>
                </a:solidFill>
                <a:latin typeface="+mj-lt"/>
                <a:ea typeface="Calibri" pitchFamily="34" charset="-122"/>
                <a:cs typeface="Calibri" pitchFamily="34" charset="-120"/>
              </a:rPr>
              <a:t>Governance</a:t>
            </a:r>
            <a:endParaRPr lang="en-US" sz="1600">
              <a:latin typeface="+mj-lt"/>
            </a:endParaRPr>
          </a:p>
        </p:txBody>
      </p:sp>
      <p:sp>
        <p:nvSpPr>
          <p:cNvPr id="33" name="Text 20">
            <a:extLst>
              <a:ext uri="{FF2B5EF4-FFF2-40B4-BE49-F238E27FC236}">
                <a16:creationId xmlns:a16="http://schemas.microsoft.com/office/drawing/2014/main" id="{3F932455-2A9A-EF1D-A4F3-89BE4171E053}"/>
              </a:ext>
            </a:extLst>
          </p:cNvPr>
          <p:cNvSpPr/>
          <p:nvPr/>
        </p:nvSpPr>
        <p:spPr>
          <a:xfrm>
            <a:off x="8275320" y="2745378"/>
            <a:ext cx="3200400" cy="822960"/>
          </a:xfrm>
          <a:prstGeom prst="rect">
            <a:avLst/>
          </a:prstGeom>
          <a:noFill/>
          <a:ln/>
        </p:spPr>
        <p:txBody>
          <a:bodyPr wrap="square" rtlCol="0" anchor="ctr"/>
          <a:lstStyle/>
          <a:p>
            <a:pPr marL="0" indent="0">
              <a:buNone/>
            </a:pPr>
            <a:r>
              <a:rPr lang="en-US" sz="1400">
                <a:solidFill>
                  <a:srgbClr val="2E2E38"/>
                </a:solidFill>
                <a:latin typeface="+mj-lt"/>
                <a:ea typeface="Calibri" pitchFamily="34" charset="-122"/>
                <a:cs typeface="Calibri" pitchFamily="34" charset="-120"/>
              </a:rPr>
              <a:t>Data movement &amp; integration governance; change &amp; lifecycle management.</a:t>
            </a:r>
            <a:endParaRPr lang="en-US" sz="1400">
              <a:latin typeface="+mj-lt"/>
            </a:endParaRPr>
          </a:p>
        </p:txBody>
      </p:sp>
      <p:sp>
        <p:nvSpPr>
          <p:cNvPr id="35" name="Shape 21">
            <a:extLst>
              <a:ext uri="{FF2B5EF4-FFF2-40B4-BE49-F238E27FC236}">
                <a16:creationId xmlns:a16="http://schemas.microsoft.com/office/drawing/2014/main" id="{C42E338A-C621-6450-456B-BC18530954B4}"/>
              </a:ext>
            </a:extLst>
          </p:cNvPr>
          <p:cNvSpPr/>
          <p:nvPr/>
        </p:nvSpPr>
        <p:spPr>
          <a:xfrm>
            <a:off x="457200" y="3842658"/>
            <a:ext cx="3657600" cy="1737360"/>
          </a:xfrm>
          <a:prstGeom prst="roundRect">
            <a:avLst>
              <a:gd name="adj" fmla="val 3158"/>
            </a:avLst>
          </a:prstGeom>
          <a:solidFill>
            <a:srgbClr val="F2F2F2"/>
          </a:solidFill>
          <a:ln/>
          <a:effectLst>
            <a:outerShdw blurRad="50800" dist="25400" dir="5400000" algn="bl" rotWithShape="0">
              <a:srgbClr val="808080">
                <a:alpha val="20000"/>
              </a:srgbClr>
            </a:outerShdw>
          </a:effectLst>
        </p:spPr>
        <p:txBody>
          <a:bodyPr/>
          <a:lstStyle/>
          <a:p>
            <a:endParaRPr lang="en-US" sz="1600">
              <a:latin typeface="+mj-lt"/>
            </a:endParaRPr>
          </a:p>
        </p:txBody>
      </p:sp>
      <p:sp>
        <p:nvSpPr>
          <p:cNvPr id="37" name="Shape 22">
            <a:extLst>
              <a:ext uri="{FF2B5EF4-FFF2-40B4-BE49-F238E27FC236}">
                <a16:creationId xmlns:a16="http://schemas.microsoft.com/office/drawing/2014/main" id="{1A31B7E1-7625-A580-E8FE-CF3D9550B528}"/>
              </a:ext>
            </a:extLst>
          </p:cNvPr>
          <p:cNvSpPr/>
          <p:nvPr/>
        </p:nvSpPr>
        <p:spPr>
          <a:xfrm>
            <a:off x="685800" y="4071258"/>
            <a:ext cx="502920" cy="502920"/>
          </a:xfrm>
          <a:prstGeom prst="ellipse">
            <a:avLst/>
          </a:prstGeom>
          <a:solidFill>
            <a:srgbClr val="2E2E38"/>
          </a:solidFill>
          <a:ln/>
        </p:spPr>
        <p:txBody>
          <a:bodyPr/>
          <a:lstStyle/>
          <a:p>
            <a:endParaRPr lang="en-US" sz="1600">
              <a:latin typeface="+mj-lt"/>
            </a:endParaRPr>
          </a:p>
        </p:txBody>
      </p:sp>
      <p:sp>
        <p:nvSpPr>
          <p:cNvPr id="39" name="Text 23">
            <a:extLst>
              <a:ext uri="{FF2B5EF4-FFF2-40B4-BE49-F238E27FC236}">
                <a16:creationId xmlns:a16="http://schemas.microsoft.com/office/drawing/2014/main" id="{6EBA2523-45C9-1E12-B7A6-AA55F2840513}"/>
              </a:ext>
            </a:extLst>
          </p:cNvPr>
          <p:cNvSpPr/>
          <p:nvPr/>
        </p:nvSpPr>
        <p:spPr>
          <a:xfrm>
            <a:off x="685800" y="4071258"/>
            <a:ext cx="502920" cy="50292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P</a:t>
            </a:r>
            <a:endParaRPr lang="en-US" sz="1600">
              <a:latin typeface="+mj-lt"/>
            </a:endParaRPr>
          </a:p>
        </p:txBody>
      </p:sp>
      <p:sp>
        <p:nvSpPr>
          <p:cNvPr id="41" name="Text 24">
            <a:extLst>
              <a:ext uri="{FF2B5EF4-FFF2-40B4-BE49-F238E27FC236}">
                <a16:creationId xmlns:a16="http://schemas.microsoft.com/office/drawing/2014/main" id="{04FCB0EE-406B-438B-E2A6-09BC20FC857D}"/>
              </a:ext>
            </a:extLst>
          </p:cNvPr>
          <p:cNvSpPr/>
          <p:nvPr/>
        </p:nvSpPr>
        <p:spPr>
          <a:xfrm>
            <a:off x="1325880" y="4043826"/>
            <a:ext cx="2651760" cy="365760"/>
          </a:xfrm>
          <a:prstGeom prst="rect">
            <a:avLst/>
          </a:prstGeom>
          <a:noFill/>
          <a:ln/>
        </p:spPr>
        <p:txBody>
          <a:bodyPr wrap="square" rtlCol="0" anchor="ctr"/>
          <a:lstStyle/>
          <a:p>
            <a:pPr marL="0" indent="0">
              <a:buNone/>
            </a:pPr>
            <a:r>
              <a:rPr lang="en-US" sz="1600" b="1">
                <a:solidFill>
                  <a:srgbClr val="BA0C2F"/>
                </a:solidFill>
                <a:latin typeface="+mj-lt"/>
                <a:ea typeface="Calibri" pitchFamily="34" charset="-122"/>
                <a:cs typeface="Calibri" pitchFamily="34" charset="-120"/>
              </a:rPr>
              <a:t>Platform &amp; Services</a:t>
            </a:r>
            <a:endParaRPr lang="en-US" sz="1600">
              <a:latin typeface="+mj-lt"/>
            </a:endParaRPr>
          </a:p>
        </p:txBody>
      </p:sp>
      <p:sp>
        <p:nvSpPr>
          <p:cNvPr id="43" name="Text 25">
            <a:extLst>
              <a:ext uri="{FF2B5EF4-FFF2-40B4-BE49-F238E27FC236}">
                <a16:creationId xmlns:a16="http://schemas.microsoft.com/office/drawing/2014/main" id="{D4DDC808-A7AC-9FAE-5906-7483FD434D2A}"/>
              </a:ext>
            </a:extLst>
          </p:cNvPr>
          <p:cNvSpPr/>
          <p:nvPr/>
        </p:nvSpPr>
        <p:spPr>
          <a:xfrm>
            <a:off x="685800" y="4665618"/>
            <a:ext cx="3200400" cy="822960"/>
          </a:xfrm>
          <a:prstGeom prst="rect">
            <a:avLst/>
          </a:prstGeom>
          <a:noFill/>
          <a:ln/>
        </p:spPr>
        <p:txBody>
          <a:bodyPr wrap="square" rtlCol="0" anchor="ctr"/>
          <a:lstStyle/>
          <a:p>
            <a:pPr marL="0" indent="0">
              <a:buNone/>
            </a:pPr>
            <a:r>
              <a:rPr lang="en-US" sz="1400">
                <a:solidFill>
                  <a:srgbClr val="2E2E38"/>
                </a:solidFill>
                <a:latin typeface="+mj-lt"/>
                <a:ea typeface="Calibri" pitchFamily="34" charset="-122"/>
                <a:cs typeface="Calibri" pitchFamily="34" charset="-120"/>
              </a:rPr>
              <a:t>Modernization &amp; cloud engineering; capacity &amp; performance engineering.</a:t>
            </a:r>
            <a:endParaRPr lang="en-US" sz="1400">
              <a:latin typeface="+mj-lt"/>
            </a:endParaRPr>
          </a:p>
        </p:txBody>
      </p:sp>
      <p:sp>
        <p:nvSpPr>
          <p:cNvPr id="45" name="Shape 26">
            <a:extLst>
              <a:ext uri="{FF2B5EF4-FFF2-40B4-BE49-F238E27FC236}">
                <a16:creationId xmlns:a16="http://schemas.microsoft.com/office/drawing/2014/main" id="{4F94FE8C-EB7D-063D-A92B-B59CDECA475C}"/>
              </a:ext>
            </a:extLst>
          </p:cNvPr>
          <p:cNvSpPr/>
          <p:nvPr/>
        </p:nvSpPr>
        <p:spPr>
          <a:xfrm>
            <a:off x="4251960" y="3842658"/>
            <a:ext cx="3657600" cy="1737360"/>
          </a:xfrm>
          <a:prstGeom prst="roundRect">
            <a:avLst>
              <a:gd name="adj" fmla="val 3158"/>
            </a:avLst>
          </a:prstGeom>
          <a:solidFill>
            <a:srgbClr val="F2F2F2"/>
          </a:solidFill>
          <a:ln/>
          <a:effectLst>
            <a:outerShdw blurRad="50800" dist="25400" dir="5400000" algn="bl" rotWithShape="0">
              <a:srgbClr val="808080">
                <a:alpha val="20000"/>
              </a:srgbClr>
            </a:outerShdw>
          </a:effectLst>
        </p:spPr>
        <p:txBody>
          <a:bodyPr/>
          <a:lstStyle/>
          <a:p>
            <a:endParaRPr lang="en-US" sz="1600">
              <a:latin typeface="+mj-lt"/>
            </a:endParaRPr>
          </a:p>
        </p:txBody>
      </p:sp>
      <p:sp>
        <p:nvSpPr>
          <p:cNvPr id="47" name="Shape 27">
            <a:extLst>
              <a:ext uri="{FF2B5EF4-FFF2-40B4-BE49-F238E27FC236}">
                <a16:creationId xmlns:a16="http://schemas.microsoft.com/office/drawing/2014/main" id="{FCB4366E-B7CC-24BF-CEAA-20B161614A53}"/>
              </a:ext>
            </a:extLst>
          </p:cNvPr>
          <p:cNvSpPr/>
          <p:nvPr/>
        </p:nvSpPr>
        <p:spPr>
          <a:xfrm>
            <a:off x="4480560" y="4071258"/>
            <a:ext cx="502920" cy="502920"/>
          </a:xfrm>
          <a:prstGeom prst="ellipse">
            <a:avLst/>
          </a:prstGeom>
          <a:solidFill>
            <a:srgbClr val="BA0C2F"/>
          </a:solidFill>
          <a:ln/>
        </p:spPr>
        <p:txBody>
          <a:bodyPr/>
          <a:lstStyle/>
          <a:p>
            <a:endParaRPr lang="en-US" sz="1600">
              <a:latin typeface="+mj-lt"/>
            </a:endParaRPr>
          </a:p>
        </p:txBody>
      </p:sp>
      <p:sp>
        <p:nvSpPr>
          <p:cNvPr id="49" name="Text 28">
            <a:extLst>
              <a:ext uri="{FF2B5EF4-FFF2-40B4-BE49-F238E27FC236}">
                <a16:creationId xmlns:a16="http://schemas.microsoft.com/office/drawing/2014/main" id="{B9DA73E8-6C53-4321-CEB5-0F2BA9184C0D}"/>
              </a:ext>
            </a:extLst>
          </p:cNvPr>
          <p:cNvSpPr/>
          <p:nvPr/>
        </p:nvSpPr>
        <p:spPr>
          <a:xfrm>
            <a:off x="4480560" y="4071258"/>
            <a:ext cx="502920" cy="50292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C</a:t>
            </a:r>
            <a:endParaRPr lang="en-US" sz="1600">
              <a:latin typeface="+mj-lt"/>
            </a:endParaRPr>
          </a:p>
        </p:txBody>
      </p:sp>
      <p:sp>
        <p:nvSpPr>
          <p:cNvPr id="51" name="Text 29">
            <a:extLst>
              <a:ext uri="{FF2B5EF4-FFF2-40B4-BE49-F238E27FC236}">
                <a16:creationId xmlns:a16="http://schemas.microsoft.com/office/drawing/2014/main" id="{4E3EB338-FAE0-C090-4302-EF368ADBE0E1}"/>
              </a:ext>
            </a:extLst>
          </p:cNvPr>
          <p:cNvSpPr/>
          <p:nvPr/>
        </p:nvSpPr>
        <p:spPr>
          <a:xfrm>
            <a:off x="5120640" y="4043826"/>
            <a:ext cx="2651760" cy="365760"/>
          </a:xfrm>
          <a:prstGeom prst="rect">
            <a:avLst/>
          </a:prstGeom>
          <a:noFill/>
          <a:ln/>
        </p:spPr>
        <p:txBody>
          <a:bodyPr wrap="square" rtlCol="0" anchor="ctr"/>
          <a:lstStyle/>
          <a:p>
            <a:pPr marL="0" indent="0">
              <a:buNone/>
            </a:pPr>
            <a:r>
              <a:rPr lang="en-US" sz="1600" b="1">
                <a:solidFill>
                  <a:srgbClr val="BA0C2F"/>
                </a:solidFill>
                <a:latin typeface="+mj-lt"/>
                <a:ea typeface="Calibri" pitchFamily="34" charset="-122"/>
                <a:cs typeface="Calibri" pitchFamily="34" charset="-120"/>
              </a:rPr>
              <a:t>Cost &amp; Optimization</a:t>
            </a:r>
            <a:endParaRPr lang="en-US" sz="1600">
              <a:latin typeface="+mj-lt"/>
            </a:endParaRPr>
          </a:p>
        </p:txBody>
      </p:sp>
      <p:sp>
        <p:nvSpPr>
          <p:cNvPr id="53" name="Text 30">
            <a:extLst>
              <a:ext uri="{FF2B5EF4-FFF2-40B4-BE49-F238E27FC236}">
                <a16:creationId xmlns:a16="http://schemas.microsoft.com/office/drawing/2014/main" id="{AC94FAB9-A1BE-8A02-F23B-5251083A7417}"/>
              </a:ext>
            </a:extLst>
          </p:cNvPr>
          <p:cNvSpPr/>
          <p:nvPr/>
        </p:nvSpPr>
        <p:spPr>
          <a:xfrm>
            <a:off x="4480560" y="4665618"/>
            <a:ext cx="3200400" cy="822960"/>
          </a:xfrm>
          <a:prstGeom prst="rect">
            <a:avLst/>
          </a:prstGeom>
          <a:noFill/>
          <a:ln/>
        </p:spPr>
        <p:txBody>
          <a:bodyPr wrap="square" rtlCol="0" anchor="ctr"/>
          <a:lstStyle/>
          <a:p>
            <a:pPr marL="0" indent="0">
              <a:buNone/>
            </a:pPr>
            <a:r>
              <a:rPr lang="en-US" sz="1400">
                <a:solidFill>
                  <a:srgbClr val="2E2E38"/>
                </a:solidFill>
                <a:latin typeface="+mj-lt"/>
                <a:ea typeface="Calibri" pitchFamily="34" charset="-122"/>
                <a:cs typeface="Calibri" pitchFamily="34" charset="-120"/>
              </a:rPr>
              <a:t>Infrastructure and Operational cost optimization &amp; license governance.</a:t>
            </a:r>
            <a:endParaRPr lang="en-US" sz="1400">
              <a:latin typeface="+mj-lt"/>
            </a:endParaRPr>
          </a:p>
        </p:txBody>
      </p:sp>
      <p:sp>
        <p:nvSpPr>
          <p:cNvPr id="55" name="Shape 31">
            <a:extLst>
              <a:ext uri="{FF2B5EF4-FFF2-40B4-BE49-F238E27FC236}">
                <a16:creationId xmlns:a16="http://schemas.microsoft.com/office/drawing/2014/main" id="{7FBC7C52-A125-667D-188C-93C378451963}"/>
              </a:ext>
            </a:extLst>
          </p:cNvPr>
          <p:cNvSpPr/>
          <p:nvPr/>
        </p:nvSpPr>
        <p:spPr>
          <a:xfrm>
            <a:off x="8046720" y="3842658"/>
            <a:ext cx="3657600" cy="1737360"/>
          </a:xfrm>
          <a:prstGeom prst="roundRect">
            <a:avLst>
              <a:gd name="adj" fmla="val 3158"/>
            </a:avLst>
          </a:prstGeom>
          <a:solidFill>
            <a:srgbClr val="F2F2F2"/>
          </a:solidFill>
          <a:ln/>
          <a:effectLst>
            <a:outerShdw blurRad="50800" dist="25400" dir="5400000" algn="bl" rotWithShape="0">
              <a:srgbClr val="808080">
                <a:alpha val="20000"/>
              </a:srgbClr>
            </a:outerShdw>
          </a:effectLst>
        </p:spPr>
        <p:txBody>
          <a:bodyPr/>
          <a:lstStyle/>
          <a:p>
            <a:endParaRPr lang="en-US" sz="1600">
              <a:latin typeface="+mj-lt"/>
            </a:endParaRPr>
          </a:p>
        </p:txBody>
      </p:sp>
      <p:sp>
        <p:nvSpPr>
          <p:cNvPr id="57" name="Shape 32">
            <a:extLst>
              <a:ext uri="{FF2B5EF4-FFF2-40B4-BE49-F238E27FC236}">
                <a16:creationId xmlns:a16="http://schemas.microsoft.com/office/drawing/2014/main" id="{0763EC33-D27D-EFA5-0718-9E52C2FBFAD1}"/>
              </a:ext>
            </a:extLst>
          </p:cNvPr>
          <p:cNvSpPr/>
          <p:nvPr/>
        </p:nvSpPr>
        <p:spPr>
          <a:xfrm>
            <a:off x="8275320" y="4071258"/>
            <a:ext cx="502920" cy="502920"/>
          </a:xfrm>
          <a:prstGeom prst="ellipse">
            <a:avLst/>
          </a:prstGeom>
          <a:solidFill>
            <a:srgbClr val="2E2E38"/>
          </a:solidFill>
          <a:ln/>
        </p:spPr>
        <p:txBody>
          <a:bodyPr/>
          <a:lstStyle/>
          <a:p>
            <a:endParaRPr lang="en-US" sz="1600">
              <a:latin typeface="+mj-lt"/>
            </a:endParaRPr>
          </a:p>
        </p:txBody>
      </p:sp>
      <p:sp>
        <p:nvSpPr>
          <p:cNvPr id="59" name="Text 33">
            <a:extLst>
              <a:ext uri="{FF2B5EF4-FFF2-40B4-BE49-F238E27FC236}">
                <a16:creationId xmlns:a16="http://schemas.microsoft.com/office/drawing/2014/main" id="{765F1FFC-3ED4-8873-03A5-6D61A5F4438A}"/>
              </a:ext>
            </a:extLst>
          </p:cNvPr>
          <p:cNvSpPr/>
          <p:nvPr/>
        </p:nvSpPr>
        <p:spPr>
          <a:xfrm>
            <a:off x="8275320" y="4071258"/>
            <a:ext cx="502920" cy="50292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A</a:t>
            </a:r>
            <a:endParaRPr lang="en-US" sz="1600">
              <a:latin typeface="+mj-lt"/>
            </a:endParaRPr>
          </a:p>
        </p:txBody>
      </p:sp>
      <p:sp>
        <p:nvSpPr>
          <p:cNvPr id="61" name="Text 34">
            <a:extLst>
              <a:ext uri="{FF2B5EF4-FFF2-40B4-BE49-F238E27FC236}">
                <a16:creationId xmlns:a16="http://schemas.microsoft.com/office/drawing/2014/main" id="{7340A34D-3A5F-011A-072A-0C9C63A6BCEA}"/>
              </a:ext>
            </a:extLst>
          </p:cNvPr>
          <p:cNvSpPr/>
          <p:nvPr/>
        </p:nvSpPr>
        <p:spPr>
          <a:xfrm>
            <a:off x="8915400" y="4043826"/>
            <a:ext cx="2651760" cy="365760"/>
          </a:xfrm>
          <a:prstGeom prst="rect">
            <a:avLst/>
          </a:prstGeom>
          <a:noFill/>
          <a:ln/>
        </p:spPr>
        <p:txBody>
          <a:bodyPr wrap="square" rtlCol="0" anchor="ctr"/>
          <a:lstStyle/>
          <a:p>
            <a:pPr marL="0" indent="0">
              <a:buNone/>
            </a:pPr>
            <a:r>
              <a:rPr lang="en-US" sz="1600" b="1">
                <a:solidFill>
                  <a:srgbClr val="BA0C2F"/>
                </a:solidFill>
                <a:latin typeface="+mj-lt"/>
                <a:ea typeface="Calibri" pitchFamily="34" charset="-122"/>
                <a:cs typeface="Calibri" pitchFamily="34" charset="-120"/>
              </a:rPr>
              <a:t>Automation</a:t>
            </a:r>
            <a:endParaRPr lang="en-US" sz="1600">
              <a:latin typeface="+mj-lt"/>
            </a:endParaRPr>
          </a:p>
        </p:txBody>
      </p:sp>
      <p:sp>
        <p:nvSpPr>
          <p:cNvPr id="63" name="Text 35">
            <a:extLst>
              <a:ext uri="{FF2B5EF4-FFF2-40B4-BE49-F238E27FC236}">
                <a16:creationId xmlns:a16="http://schemas.microsoft.com/office/drawing/2014/main" id="{DE0C039B-2A76-C817-02A7-B6EFE6D5CB85}"/>
              </a:ext>
            </a:extLst>
          </p:cNvPr>
          <p:cNvSpPr/>
          <p:nvPr/>
        </p:nvSpPr>
        <p:spPr>
          <a:xfrm>
            <a:off x="8275320" y="4665618"/>
            <a:ext cx="3200400" cy="822960"/>
          </a:xfrm>
          <a:prstGeom prst="rect">
            <a:avLst/>
          </a:prstGeom>
          <a:noFill/>
          <a:ln/>
        </p:spPr>
        <p:txBody>
          <a:bodyPr wrap="square" rtlCol="0" anchor="ctr"/>
          <a:lstStyle/>
          <a:p>
            <a:pPr marL="0" indent="0">
              <a:buNone/>
            </a:pPr>
            <a:r>
              <a:rPr lang="en-US" sz="1400">
                <a:solidFill>
                  <a:srgbClr val="2E2E38"/>
                </a:solidFill>
                <a:latin typeface="+mj-lt"/>
                <a:ea typeface="Calibri" pitchFamily="34" charset="-122"/>
                <a:cs typeface="Calibri" pitchFamily="34" charset="-120"/>
              </a:rPr>
              <a:t>Platform engineering, automation &amp; tooling; self-service.</a:t>
            </a:r>
            <a:endParaRPr lang="en-US" sz="1400">
              <a:latin typeface="+mj-lt"/>
            </a:endParaRPr>
          </a:p>
        </p:txBody>
      </p:sp>
    </p:spTree>
    <p:extLst>
      <p:ext uri="{BB962C8B-B14F-4D97-AF65-F5344CB8AC3E}">
        <p14:creationId xmlns:p14="http://schemas.microsoft.com/office/powerpoint/2010/main" val="907689221"/>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FDF34-60A4-1FE0-FA3B-72C445752FDD}"/>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631F90D6-EE6C-1EC1-64D1-84B4ACA58690}"/>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Strategic Focus Areas &amp; Transformation Opportunities</a:t>
            </a:r>
            <a:endParaRPr lang="en-US" sz="2600">
              <a:latin typeface="+mj-lt"/>
            </a:endParaRPr>
          </a:p>
        </p:txBody>
      </p:sp>
      <p:sp>
        <p:nvSpPr>
          <p:cNvPr id="4" name="TextBox 3">
            <a:extLst>
              <a:ext uri="{FF2B5EF4-FFF2-40B4-BE49-F238E27FC236}">
                <a16:creationId xmlns:a16="http://schemas.microsoft.com/office/drawing/2014/main" id="{9A6AA4E4-2140-9749-610F-CCBC2345A9F7}"/>
              </a:ext>
            </a:extLst>
          </p:cNvPr>
          <p:cNvSpPr txBox="1"/>
          <p:nvPr/>
        </p:nvSpPr>
        <p:spPr>
          <a:xfrm>
            <a:off x="559444" y="1174140"/>
            <a:ext cx="11208151" cy="61555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400" dirty="0">
                <a:ea typeface="Segoe UI"/>
                <a:cs typeface="Arial"/>
              </a:rPr>
              <a:t>These focus areas translate database platform priorities into measurable opportunities that advance standardization, modernization, resilience, and operational efficiency by 2028.</a:t>
            </a:r>
          </a:p>
          <a:p>
            <a:pPr marL="228600" indent="-228600" algn="l">
              <a:spcAft>
                <a:spcPts val="500"/>
              </a:spcAft>
              <a:buFont typeface="Arial" panose="020B0604020202020204" pitchFamily="34" charset="0"/>
              <a:buChar char="•"/>
            </a:pPr>
            <a:endParaRPr lang="en-US" sz="1200" dirty="0"/>
          </a:p>
        </p:txBody>
      </p:sp>
      <p:grpSp>
        <p:nvGrpSpPr>
          <p:cNvPr id="148" name="Group 147">
            <a:extLst>
              <a:ext uri="{FF2B5EF4-FFF2-40B4-BE49-F238E27FC236}">
                <a16:creationId xmlns:a16="http://schemas.microsoft.com/office/drawing/2014/main" id="{A6DBEAE5-C305-F9AC-28F1-7B2DFC35E298}"/>
              </a:ext>
            </a:extLst>
          </p:cNvPr>
          <p:cNvGrpSpPr/>
          <p:nvPr/>
        </p:nvGrpSpPr>
        <p:grpSpPr>
          <a:xfrm>
            <a:off x="457200" y="1691640"/>
            <a:ext cx="11274552" cy="4459656"/>
            <a:chOff x="457200" y="1735184"/>
            <a:chExt cx="11274552" cy="4459656"/>
          </a:xfrm>
        </p:grpSpPr>
        <p:sp>
          <p:nvSpPr>
            <p:cNvPr id="65" name="Shape 6">
              <a:extLst>
                <a:ext uri="{FF2B5EF4-FFF2-40B4-BE49-F238E27FC236}">
                  <a16:creationId xmlns:a16="http://schemas.microsoft.com/office/drawing/2014/main" id="{D62FA4C0-D130-2FBD-99DC-F9AFB12099BB}"/>
                </a:ext>
              </a:extLst>
            </p:cNvPr>
            <p:cNvSpPr/>
            <p:nvPr/>
          </p:nvSpPr>
          <p:spPr>
            <a:xfrm>
              <a:off x="457200" y="1735184"/>
              <a:ext cx="5120640" cy="457200"/>
            </a:xfrm>
            <a:prstGeom prst="roundRect">
              <a:avLst>
                <a:gd name="adj" fmla="val 12000"/>
              </a:avLst>
            </a:prstGeom>
            <a:solidFill>
              <a:srgbClr val="BA0C2F"/>
            </a:solidFill>
            <a:ln/>
            <a:effectLst>
              <a:outerShdw blurRad="50800" dist="25400" dir="5400000" algn="bl" rotWithShape="0">
                <a:srgbClr val="808080">
                  <a:alpha val="20000"/>
                </a:srgbClr>
              </a:outerShdw>
            </a:effectLst>
          </p:spPr>
          <p:txBody>
            <a:bodyPr/>
            <a:lstStyle/>
            <a:p>
              <a:endParaRPr lang="en-US">
                <a:latin typeface="+mj-lt"/>
              </a:endParaRPr>
            </a:p>
          </p:txBody>
        </p:sp>
        <p:sp>
          <p:nvSpPr>
            <p:cNvPr id="67" name="Text 7">
              <a:extLst>
                <a:ext uri="{FF2B5EF4-FFF2-40B4-BE49-F238E27FC236}">
                  <a16:creationId xmlns:a16="http://schemas.microsoft.com/office/drawing/2014/main" id="{FBA0D662-B40D-6F5D-E358-691BBA3AF2F0}"/>
                </a:ext>
              </a:extLst>
            </p:cNvPr>
            <p:cNvSpPr/>
            <p:nvPr/>
          </p:nvSpPr>
          <p:spPr>
            <a:xfrm>
              <a:off x="457200" y="1735184"/>
              <a:ext cx="5120640" cy="45720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Strategic Focus Areas</a:t>
              </a:r>
              <a:endParaRPr lang="en-US" sz="1600">
                <a:latin typeface="+mj-lt"/>
              </a:endParaRPr>
            </a:p>
          </p:txBody>
        </p:sp>
        <p:sp>
          <p:nvSpPr>
            <p:cNvPr id="69" name="Shape 8">
              <a:extLst>
                <a:ext uri="{FF2B5EF4-FFF2-40B4-BE49-F238E27FC236}">
                  <a16:creationId xmlns:a16="http://schemas.microsoft.com/office/drawing/2014/main" id="{43D27F8C-F2F5-70D8-5E4A-23AD393CDCE0}"/>
                </a:ext>
              </a:extLst>
            </p:cNvPr>
            <p:cNvSpPr/>
            <p:nvPr/>
          </p:nvSpPr>
          <p:spPr>
            <a:xfrm>
              <a:off x="6611112" y="1735184"/>
              <a:ext cx="5120640" cy="457200"/>
            </a:xfrm>
            <a:prstGeom prst="roundRect">
              <a:avLst>
                <a:gd name="adj" fmla="val 12000"/>
              </a:avLst>
            </a:prstGeom>
            <a:solidFill>
              <a:srgbClr val="BA0C2F"/>
            </a:solidFill>
            <a:ln/>
            <a:effectLst>
              <a:outerShdw blurRad="50800" dist="25400" dir="5400000" algn="bl" rotWithShape="0">
                <a:srgbClr val="808080">
                  <a:alpha val="20000"/>
                </a:srgbClr>
              </a:outerShdw>
            </a:effectLst>
          </p:spPr>
          <p:txBody>
            <a:bodyPr/>
            <a:lstStyle/>
            <a:p>
              <a:endParaRPr lang="en-US">
                <a:latin typeface="+mj-lt"/>
              </a:endParaRPr>
            </a:p>
          </p:txBody>
        </p:sp>
        <p:sp>
          <p:nvSpPr>
            <p:cNvPr id="71" name="Text 9">
              <a:extLst>
                <a:ext uri="{FF2B5EF4-FFF2-40B4-BE49-F238E27FC236}">
                  <a16:creationId xmlns:a16="http://schemas.microsoft.com/office/drawing/2014/main" id="{243BE0DE-19B8-2DE5-03C5-1BCE64F10F84}"/>
                </a:ext>
              </a:extLst>
            </p:cNvPr>
            <p:cNvSpPr/>
            <p:nvPr/>
          </p:nvSpPr>
          <p:spPr>
            <a:xfrm>
              <a:off x="6611112" y="1735184"/>
              <a:ext cx="5120640" cy="457200"/>
            </a:xfrm>
            <a:prstGeom prst="rect">
              <a:avLst/>
            </a:prstGeom>
            <a:noFill/>
            <a:ln/>
          </p:spPr>
          <p:txBody>
            <a:bodyPr wrap="square" rtlCol="0" anchor="ctr"/>
            <a:lstStyle/>
            <a:p>
              <a:pPr marL="0" indent="0" algn="ctr">
                <a:buNone/>
              </a:pPr>
              <a:r>
                <a:rPr lang="en-US" sz="1600" b="1">
                  <a:solidFill>
                    <a:srgbClr val="FFFFFF"/>
                  </a:solidFill>
                  <a:latin typeface="+mj-lt"/>
                  <a:ea typeface="Calibri" pitchFamily="34" charset="-122"/>
                  <a:cs typeface="Calibri" pitchFamily="34" charset="-120"/>
                </a:rPr>
                <a:t>Transformation Opportunities</a:t>
              </a:r>
              <a:endParaRPr lang="en-US" sz="1600">
                <a:latin typeface="+mj-lt"/>
              </a:endParaRPr>
            </a:p>
          </p:txBody>
        </p:sp>
        <p:sp>
          <p:nvSpPr>
            <p:cNvPr id="73" name="Shape 10">
              <a:extLst>
                <a:ext uri="{FF2B5EF4-FFF2-40B4-BE49-F238E27FC236}">
                  <a16:creationId xmlns:a16="http://schemas.microsoft.com/office/drawing/2014/main" id="{2059CF21-B551-94B2-642A-BB26C703D7FC}"/>
                </a:ext>
              </a:extLst>
            </p:cNvPr>
            <p:cNvSpPr/>
            <p:nvPr/>
          </p:nvSpPr>
          <p:spPr>
            <a:xfrm>
              <a:off x="5838444" y="3915808"/>
              <a:ext cx="512064" cy="512064"/>
            </a:xfrm>
            <a:prstGeom prst="ellipse">
              <a:avLst/>
            </a:prstGeom>
            <a:solidFill>
              <a:srgbClr val="BA0C2F"/>
            </a:solidFill>
            <a:ln/>
          </p:spPr>
          <p:txBody>
            <a:bodyPr/>
            <a:lstStyle/>
            <a:p>
              <a:endParaRPr lang="en-US" sz="1400">
                <a:latin typeface="+mj-lt"/>
              </a:endParaRPr>
            </a:p>
          </p:txBody>
        </p:sp>
        <p:sp>
          <p:nvSpPr>
            <p:cNvPr id="75" name="Text 11">
              <a:extLst>
                <a:ext uri="{FF2B5EF4-FFF2-40B4-BE49-F238E27FC236}">
                  <a16:creationId xmlns:a16="http://schemas.microsoft.com/office/drawing/2014/main" id="{A86A5E47-B145-CB24-2C44-FD8E8E0A5D38}"/>
                </a:ext>
              </a:extLst>
            </p:cNvPr>
            <p:cNvSpPr/>
            <p:nvPr/>
          </p:nvSpPr>
          <p:spPr>
            <a:xfrm>
              <a:off x="5838444" y="3915808"/>
              <a:ext cx="512064" cy="512064"/>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a:t>
              </a:r>
              <a:endParaRPr lang="en-US" sz="1400">
                <a:latin typeface="+mj-lt"/>
              </a:endParaRPr>
            </a:p>
          </p:txBody>
        </p:sp>
        <p:sp>
          <p:nvSpPr>
            <p:cNvPr id="77" name="Shape 12">
              <a:extLst>
                <a:ext uri="{FF2B5EF4-FFF2-40B4-BE49-F238E27FC236}">
                  <a16:creationId xmlns:a16="http://schemas.microsoft.com/office/drawing/2014/main" id="{09F3695E-F121-686E-5189-CA83CF7512BC}"/>
                </a:ext>
              </a:extLst>
            </p:cNvPr>
            <p:cNvSpPr/>
            <p:nvPr/>
          </p:nvSpPr>
          <p:spPr>
            <a:xfrm>
              <a:off x="594360" y="2276856"/>
              <a:ext cx="384048" cy="384048"/>
            </a:xfrm>
            <a:prstGeom prst="ellipse">
              <a:avLst/>
            </a:prstGeom>
            <a:solidFill>
              <a:srgbClr val="BA0C2F"/>
            </a:solidFill>
            <a:ln/>
          </p:spPr>
          <p:txBody>
            <a:bodyPr/>
            <a:lstStyle/>
            <a:p>
              <a:endParaRPr lang="en-US" sz="1400">
                <a:latin typeface="+mj-lt"/>
              </a:endParaRPr>
            </a:p>
          </p:txBody>
        </p:sp>
        <p:sp>
          <p:nvSpPr>
            <p:cNvPr id="79" name="Text 13">
              <a:extLst>
                <a:ext uri="{FF2B5EF4-FFF2-40B4-BE49-F238E27FC236}">
                  <a16:creationId xmlns:a16="http://schemas.microsoft.com/office/drawing/2014/main" id="{57ECDA30-A5F1-73BD-E35B-51FB1B29D720}"/>
                </a:ext>
              </a:extLst>
            </p:cNvPr>
            <p:cNvSpPr/>
            <p:nvPr/>
          </p:nvSpPr>
          <p:spPr>
            <a:xfrm>
              <a:off x="594360" y="2276856"/>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P</a:t>
              </a:r>
              <a:endParaRPr lang="en-US" sz="1400">
                <a:latin typeface="+mj-lt"/>
              </a:endParaRPr>
            </a:p>
          </p:txBody>
        </p:sp>
        <p:sp>
          <p:nvSpPr>
            <p:cNvPr id="81" name="Text 14">
              <a:extLst>
                <a:ext uri="{FF2B5EF4-FFF2-40B4-BE49-F238E27FC236}">
                  <a16:creationId xmlns:a16="http://schemas.microsoft.com/office/drawing/2014/main" id="{0C0F9D39-5F48-5807-5CD1-ADD764AE8EA8}"/>
                </a:ext>
              </a:extLst>
            </p:cNvPr>
            <p:cNvSpPr/>
            <p:nvPr/>
          </p:nvSpPr>
          <p:spPr>
            <a:xfrm>
              <a:off x="1078992" y="2221992"/>
              <a:ext cx="4343400" cy="292608"/>
            </a:xfrm>
            <a:prstGeom prst="rect">
              <a:avLst/>
            </a:prstGeom>
            <a:noFill/>
            <a:ln/>
          </p:spPr>
          <p:txBody>
            <a:bodyPr wrap="square" rtlCol="0" anchor="ctr"/>
            <a:lstStyle/>
            <a:p>
              <a:pPr marL="0" indent="0">
                <a:buNone/>
              </a:pPr>
              <a:r>
                <a:rPr lang="en-US" sz="1400" b="1" dirty="0">
                  <a:solidFill>
                    <a:srgbClr val="2E2E38"/>
                  </a:solidFill>
                  <a:latin typeface="+mj-lt"/>
                  <a:ea typeface="Calibri" pitchFamily="34" charset="-122"/>
                  <a:cs typeface="Calibri" pitchFamily="34" charset="-120"/>
                </a:rPr>
                <a:t>Platform Standardization &amp; Consolidation</a:t>
              </a:r>
              <a:endParaRPr lang="en-US" sz="1400" dirty="0">
                <a:latin typeface="+mj-lt"/>
              </a:endParaRPr>
            </a:p>
          </p:txBody>
        </p:sp>
        <p:sp>
          <p:nvSpPr>
            <p:cNvPr id="83" name="Text 15">
              <a:extLst>
                <a:ext uri="{FF2B5EF4-FFF2-40B4-BE49-F238E27FC236}">
                  <a16:creationId xmlns:a16="http://schemas.microsoft.com/office/drawing/2014/main" id="{1781EA45-2961-CF56-B460-9A0F0FD890CC}"/>
                </a:ext>
              </a:extLst>
            </p:cNvPr>
            <p:cNvSpPr/>
            <p:nvPr/>
          </p:nvSpPr>
          <p:spPr>
            <a:xfrm>
              <a:off x="1078992" y="2532888"/>
              <a:ext cx="4343400" cy="594360"/>
            </a:xfrm>
            <a:prstGeom prst="rect">
              <a:avLst/>
            </a:prstGeom>
            <a:noFill/>
            <a:ln/>
          </p:spPr>
          <p:txBody>
            <a:bodyPr wrap="square" rtlCol="0" anchor="t"/>
            <a:lstStyle/>
            <a:p>
              <a:pPr marL="177800" indent="-177800">
                <a:spcAft>
                  <a:spcPts val="800"/>
                </a:spcAft>
                <a:buSzPct val="100000"/>
                <a:buChar char="•"/>
              </a:pPr>
              <a:r>
                <a:rPr lang="en-US" sz="1200" dirty="0">
                  <a:solidFill>
                    <a:srgbClr val="2E2E38"/>
                  </a:solidFill>
                  <a:ea typeface="Calibri" pitchFamily="34" charset="-122"/>
                  <a:cs typeface="Calibri" pitchFamily="34" charset="-120"/>
                </a:rPr>
                <a:t>Standardize MS SQL on Azure SQL MI / AWS RDS</a:t>
              </a:r>
              <a:endParaRPr lang="en-US" sz="1200" dirty="0"/>
            </a:p>
            <a:p>
              <a:pPr marL="177800" indent="-177800">
                <a:spcAft>
                  <a:spcPts val="800"/>
                </a:spcAft>
                <a:buSzPct val="100000"/>
                <a:buChar char="•"/>
              </a:pPr>
              <a:r>
                <a:rPr lang="en-US" sz="1200" dirty="0">
                  <a:solidFill>
                    <a:srgbClr val="2E2E38"/>
                  </a:solidFill>
                  <a:ea typeface="Calibri" pitchFamily="34" charset="-122"/>
                  <a:cs typeface="Calibri" pitchFamily="34" charset="-120"/>
                </a:rPr>
                <a:t>Retire DB2 to Oracle Exadata or SaaS Applications</a:t>
              </a:r>
              <a:endParaRPr lang="en-US" sz="1200" dirty="0"/>
            </a:p>
          </p:txBody>
        </p:sp>
        <p:sp>
          <p:nvSpPr>
            <p:cNvPr id="85" name="Shape 16">
              <a:extLst>
                <a:ext uri="{FF2B5EF4-FFF2-40B4-BE49-F238E27FC236}">
                  <a16:creationId xmlns:a16="http://schemas.microsoft.com/office/drawing/2014/main" id="{AB751D51-89ED-52AF-3B49-78F75C297239}"/>
                </a:ext>
              </a:extLst>
            </p:cNvPr>
            <p:cNvSpPr/>
            <p:nvPr/>
          </p:nvSpPr>
          <p:spPr>
            <a:xfrm>
              <a:off x="457200" y="3138568"/>
              <a:ext cx="5120640" cy="1033272"/>
            </a:xfrm>
            <a:prstGeom prst="roundRect">
              <a:avLst>
                <a:gd name="adj" fmla="val 5310"/>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87" name="Shape 17">
              <a:extLst>
                <a:ext uri="{FF2B5EF4-FFF2-40B4-BE49-F238E27FC236}">
                  <a16:creationId xmlns:a16="http://schemas.microsoft.com/office/drawing/2014/main" id="{D1D14C1A-BBE0-EBA6-7D0A-9BB787F5F5F9}"/>
                </a:ext>
              </a:extLst>
            </p:cNvPr>
            <p:cNvSpPr/>
            <p:nvPr/>
          </p:nvSpPr>
          <p:spPr>
            <a:xfrm>
              <a:off x="594360" y="3266584"/>
              <a:ext cx="384048" cy="384048"/>
            </a:xfrm>
            <a:prstGeom prst="ellipse">
              <a:avLst/>
            </a:prstGeom>
            <a:solidFill>
              <a:srgbClr val="2E2E38"/>
            </a:solidFill>
            <a:ln/>
          </p:spPr>
          <p:txBody>
            <a:bodyPr/>
            <a:lstStyle/>
            <a:p>
              <a:endParaRPr lang="en-US" sz="1400">
                <a:latin typeface="+mj-lt"/>
              </a:endParaRPr>
            </a:p>
          </p:txBody>
        </p:sp>
        <p:sp>
          <p:nvSpPr>
            <p:cNvPr id="89" name="Text 18">
              <a:extLst>
                <a:ext uri="{FF2B5EF4-FFF2-40B4-BE49-F238E27FC236}">
                  <a16:creationId xmlns:a16="http://schemas.microsoft.com/office/drawing/2014/main" id="{2377CA70-A02C-68B9-2455-C698429E8A45}"/>
                </a:ext>
              </a:extLst>
            </p:cNvPr>
            <p:cNvSpPr/>
            <p:nvPr/>
          </p:nvSpPr>
          <p:spPr>
            <a:xfrm>
              <a:off x="594360" y="3266584"/>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M</a:t>
              </a:r>
              <a:endParaRPr lang="en-US" sz="1400">
                <a:latin typeface="+mj-lt"/>
              </a:endParaRPr>
            </a:p>
          </p:txBody>
        </p:sp>
        <p:sp>
          <p:nvSpPr>
            <p:cNvPr id="91" name="Text 19">
              <a:extLst>
                <a:ext uri="{FF2B5EF4-FFF2-40B4-BE49-F238E27FC236}">
                  <a16:creationId xmlns:a16="http://schemas.microsoft.com/office/drawing/2014/main" id="{05002E0F-097F-8125-D9C5-3AB1B2FF8870}"/>
                </a:ext>
              </a:extLst>
            </p:cNvPr>
            <p:cNvSpPr/>
            <p:nvPr/>
          </p:nvSpPr>
          <p:spPr>
            <a:xfrm>
              <a:off x="1078992" y="3211720"/>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Modernization &amp; AI-Readiness</a:t>
              </a:r>
              <a:endParaRPr lang="en-US" sz="1400">
                <a:latin typeface="+mj-lt"/>
              </a:endParaRPr>
            </a:p>
          </p:txBody>
        </p:sp>
        <p:sp>
          <p:nvSpPr>
            <p:cNvPr id="93" name="Text 20">
              <a:extLst>
                <a:ext uri="{FF2B5EF4-FFF2-40B4-BE49-F238E27FC236}">
                  <a16:creationId xmlns:a16="http://schemas.microsoft.com/office/drawing/2014/main" id="{A9C1428C-8626-EF2A-6265-F6F27A60F72E}"/>
                </a:ext>
              </a:extLst>
            </p:cNvPr>
            <p:cNvSpPr/>
            <p:nvPr/>
          </p:nvSpPr>
          <p:spPr>
            <a:xfrm>
              <a:off x="1078992" y="3522616"/>
              <a:ext cx="4343400" cy="594360"/>
            </a:xfrm>
            <a:prstGeom prst="rect">
              <a:avLst/>
            </a:prstGeom>
            <a:noFill/>
            <a:ln/>
          </p:spPr>
          <p:txBody>
            <a:bodyPr wrap="square" rtlCol="0" anchor="t"/>
            <a:lstStyle/>
            <a:p>
              <a:pPr marL="177800" indent="-177800">
                <a:spcAft>
                  <a:spcPts val="800"/>
                </a:spcAft>
                <a:buSzPct val="100000"/>
                <a:buChar char="•"/>
              </a:pPr>
              <a:r>
                <a:rPr lang="en-US" sz="1200" dirty="0">
                  <a:solidFill>
                    <a:srgbClr val="2E2E38"/>
                  </a:solidFill>
                  <a:ea typeface="Calibri" pitchFamily="34" charset="-122"/>
                  <a:cs typeface="Calibri" pitchFamily="34" charset="-120"/>
                </a:rPr>
                <a:t>Migrate Oracle 19c → 26ai with Autonomous ops</a:t>
              </a:r>
              <a:endParaRPr lang="en-US" sz="1200" dirty="0"/>
            </a:p>
            <a:p>
              <a:pPr marL="177800" indent="-177800">
                <a:spcAft>
                  <a:spcPts val="800"/>
                </a:spcAft>
                <a:buSzPct val="100000"/>
                <a:buChar char="•"/>
              </a:pPr>
              <a:r>
                <a:rPr lang="en-US" sz="1200" dirty="0">
                  <a:solidFill>
                    <a:srgbClr val="2E2E38"/>
                  </a:solidFill>
                  <a:ea typeface="Calibri" pitchFamily="34" charset="-122"/>
                  <a:cs typeface="Calibri" pitchFamily="34" charset="-120"/>
                </a:rPr>
                <a:t>One placement policy for NoSQL / Postgres / graph-vector</a:t>
              </a:r>
              <a:endParaRPr lang="en-US" sz="1200" dirty="0"/>
            </a:p>
          </p:txBody>
        </p:sp>
        <p:sp>
          <p:nvSpPr>
            <p:cNvPr id="95" name="Shape 21">
              <a:extLst>
                <a:ext uri="{FF2B5EF4-FFF2-40B4-BE49-F238E27FC236}">
                  <a16:creationId xmlns:a16="http://schemas.microsoft.com/office/drawing/2014/main" id="{496BA69D-3784-613B-7C94-6B3E754DC737}"/>
                </a:ext>
              </a:extLst>
            </p:cNvPr>
            <p:cNvSpPr/>
            <p:nvPr/>
          </p:nvSpPr>
          <p:spPr>
            <a:xfrm>
              <a:off x="594360" y="4299856"/>
              <a:ext cx="384048" cy="384048"/>
            </a:xfrm>
            <a:prstGeom prst="ellipse">
              <a:avLst/>
            </a:prstGeom>
            <a:solidFill>
              <a:srgbClr val="BA0C2F"/>
            </a:solidFill>
            <a:ln/>
          </p:spPr>
          <p:txBody>
            <a:bodyPr/>
            <a:lstStyle/>
            <a:p>
              <a:endParaRPr lang="en-US" sz="1400">
                <a:latin typeface="+mj-lt"/>
              </a:endParaRPr>
            </a:p>
          </p:txBody>
        </p:sp>
        <p:sp>
          <p:nvSpPr>
            <p:cNvPr id="97" name="Text 22">
              <a:extLst>
                <a:ext uri="{FF2B5EF4-FFF2-40B4-BE49-F238E27FC236}">
                  <a16:creationId xmlns:a16="http://schemas.microsoft.com/office/drawing/2014/main" id="{F675299F-5A86-C3BE-25CF-A8F81A17299A}"/>
                </a:ext>
              </a:extLst>
            </p:cNvPr>
            <p:cNvSpPr/>
            <p:nvPr/>
          </p:nvSpPr>
          <p:spPr>
            <a:xfrm>
              <a:off x="594360" y="4299856"/>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R</a:t>
              </a:r>
              <a:endParaRPr lang="en-US" sz="1400">
                <a:latin typeface="+mj-lt"/>
              </a:endParaRPr>
            </a:p>
          </p:txBody>
        </p:sp>
        <p:sp>
          <p:nvSpPr>
            <p:cNvPr id="99" name="Text 23">
              <a:extLst>
                <a:ext uri="{FF2B5EF4-FFF2-40B4-BE49-F238E27FC236}">
                  <a16:creationId xmlns:a16="http://schemas.microsoft.com/office/drawing/2014/main" id="{78A67A06-99D4-92D2-45B9-34595A565782}"/>
                </a:ext>
              </a:extLst>
            </p:cNvPr>
            <p:cNvSpPr/>
            <p:nvPr/>
          </p:nvSpPr>
          <p:spPr>
            <a:xfrm>
              <a:off x="1078992" y="4244992"/>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Resilience &amp; DR Modernization</a:t>
              </a:r>
              <a:endParaRPr lang="en-US" sz="1400">
                <a:latin typeface="+mj-lt"/>
              </a:endParaRPr>
            </a:p>
          </p:txBody>
        </p:sp>
        <p:sp>
          <p:nvSpPr>
            <p:cNvPr id="101" name="Text 24">
              <a:extLst>
                <a:ext uri="{FF2B5EF4-FFF2-40B4-BE49-F238E27FC236}">
                  <a16:creationId xmlns:a16="http://schemas.microsoft.com/office/drawing/2014/main" id="{CB0E2E6A-7E2C-4B74-8C12-958AE5313C03}"/>
                </a:ext>
              </a:extLst>
            </p:cNvPr>
            <p:cNvSpPr/>
            <p:nvPr/>
          </p:nvSpPr>
          <p:spPr>
            <a:xfrm>
              <a:off x="1078992" y="4555888"/>
              <a:ext cx="4343400" cy="594360"/>
            </a:xfrm>
            <a:prstGeom prst="rect">
              <a:avLst/>
            </a:prstGeom>
            <a:noFill/>
            <a:ln/>
          </p:spPr>
          <p:txBody>
            <a:bodyPr wrap="square" rtlCol="0" anchor="t"/>
            <a:lstStyle/>
            <a:p>
              <a:pPr marL="177800" indent="-177800">
                <a:spcAft>
                  <a:spcPts val="800"/>
                </a:spcAft>
                <a:buSzPct val="100000"/>
                <a:buChar char="•"/>
              </a:pPr>
              <a:r>
                <a:rPr lang="en-US" sz="1200">
                  <a:solidFill>
                    <a:srgbClr val="2E2E38"/>
                  </a:solidFill>
                  <a:ea typeface="Calibri" pitchFamily="34" charset="-122"/>
                  <a:cs typeface="Calibri" pitchFamily="34" charset="-120"/>
                </a:rPr>
                <a:t>Extend Exa@Azure tiered SLA + multi-region model</a:t>
              </a:r>
              <a:endParaRPr lang="en-US" sz="1200"/>
            </a:p>
            <a:p>
              <a:pPr marL="177800" indent="-177800">
                <a:spcAft>
                  <a:spcPts val="800"/>
                </a:spcAft>
                <a:buSzPct val="100000"/>
                <a:buChar char="•"/>
              </a:pPr>
              <a:r>
                <a:rPr lang="en-US" sz="1200">
                  <a:solidFill>
                    <a:srgbClr val="2E2E38"/>
                  </a:solidFill>
                  <a:ea typeface="Calibri" pitchFamily="34" charset="-122"/>
                  <a:cs typeface="Calibri" pitchFamily="34" charset="-120"/>
                </a:rPr>
                <a:t>Bring the wider estate to parity</a:t>
              </a:r>
              <a:endParaRPr lang="en-US" sz="1200"/>
            </a:p>
          </p:txBody>
        </p:sp>
        <p:sp>
          <p:nvSpPr>
            <p:cNvPr id="103" name="Shape 25">
              <a:extLst>
                <a:ext uri="{FF2B5EF4-FFF2-40B4-BE49-F238E27FC236}">
                  <a16:creationId xmlns:a16="http://schemas.microsoft.com/office/drawing/2014/main" id="{92885D05-D992-5E5D-5040-4EB6091DCDEE}"/>
                </a:ext>
              </a:extLst>
            </p:cNvPr>
            <p:cNvSpPr/>
            <p:nvPr/>
          </p:nvSpPr>
          <p:spPr>
            <a:xfrm>
              <a:off x="457200" y="5161568"/>
              <a:ext cx="5120640" cy="1033272"/>
            </a:xfrm>
            <a:prstGeom prst="roundRect">
              <a:avLst>
                <a:gd name="adj" fmla="val 5310"/>
              </a:avLst>
            </a:prstGeom>
            <a:solidFill>
              <a:srgbClr val="F2F2F2"/>
            </a:solidFill>
            <a:ln/>
            <a:effectLst>
              <a:outerShdw blurRad="50800" dist="25400" dir="5400000" algn="bl" rotWithShape="0">
                <a:srgbClr val="808080">
                  <a:alpha val="20000"/>
                </a:srgbClr>
              </a:outerShdw>
            </a:effectLst>
          </p:spPr>
          <p:txBody>
            <a:bodyPr/>
            <a:lstStyle/>
            <a:p>
              <a:endParaRPr lang="en-US">
                <a:latin typeface="+mj-lt"/>
              </a:endParaRPr>
            </a:p>
          </p:txBody>
        </p:sp>
        <p:sp>
          <p:nvSpPr>
            <p:cNvPr id="105" name="Shape 26">
              <a:extLst>
                <a:ext uri="{FF2B5EF4-FFF2-40B4-BE49-F238E27FC236}">
                  <a16:creationId xmlns:a16="http://schemas.microsoft.com/office/drawing/2014/main" id="{50DC7F47-CCDA-FAB5-7189-D58D8C41D9DF}"/>
                </a:ext>
              </a:extLst>
            </p:cNvPr>
            <p:cNvSpPr/>
            <p:nvPr/>
          </p:nvSpPr>
          <p:spPr>
            <a:xfrm>
              <a:off x="594360" y="5289584"/>
              <a:ext cx="384048" cy="384048"/>
            </a:xfrm>
            <a:prstGeom prst="ellipse">
              <a:avLst/>
            </a:prstGeom>
            <a:solidFill>
              <a:srgbClr val="2E2E38"/>
            </a:solidFill>
            <a:ln/>
          </p:spPr>
          <p:txBody>
            <a:bodyPr/>
            <a:lstStyle/>
            <a:p>
              <a:endParaRPr lang="en-US" sz="1400">
                <a:latin typeface="+mj-lt"/>
              </a:endParaRPr>
            </a:p>
          </p:txBody>
        </p:sp>
        <p:sp>
          <p:nvSpPr>
            <p:cNvPr id="107" name="Text 27">
              <a:extLst>
                <a:ext uri="{FF2B5EF4-FFF2-40B4-BE49-F238E27FC236}">
                  <a16:creationId xmlns:a16="http://schemas.microsoft.com/office/drawing/2014/main" id="{B82C494E-8066-05D7-7E92-54EC405113FF}"/>
                </a:ext>
              </a:extLst>
            </p:cNvPr>
            <p:cNvSpPr/>
            <p:nvPr/>
          </p:nvSpPr>
          <p:spPr>
            <a:xfrm>
              <a:off x="594360" y="5289584"/>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O</a:t>
              </a:r>
              <a:endParaRPr lang="en-US" sz="1400">
                <a:latin typeface="+mj-lt"/>
              </a:endParaRPr>
            </a:p>
          </p:txBody>
        </p:sp>
        <p:sp>
          <p:nvSpPr>
            <p:cNvPr id="109" name="Text 28">
              <a:extLst>
                <a:ext uri="{FF2B5EF4-FFF2-40B4-BE49-F238E27FC236}">
                  <a16:creationId xmlns:a16="http://schemas.microsoft.com/office/drawing/2014/main" id="{BF9BC978-A671-9C56-3271-09F7A1108C7C}"/>
                </a:ext>
              </a:extLst>
            </p:cNvPr>
            <p:cNvSpPr/>
            <p:nvPr/>
          </p:nvSpPr>
          <p:spPr>
            <a:xfrm>
              <a:off x="1078992" y="5234720"/>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Operating Model Evolution</a:t>
              </a:r>
              <a:endParaRPr lang="en-US" sz="1400">
                <a:latin typeface="+mj-lt"/>
              </a:endParaRPr>
            </a:p>
          </p:txBody>
        </p:sp>
        <p:sp>
          <p:nvSpPr>
            <p:cNvPr id="111" name="Text 29">
              <a:extLst>
                <a:ext uri="{FF2B5EF4-FFF2-40B4-BE49-F238E27FC236}">
                  <a16:creationId xmlns:a16="http://schemas.microsoft.com/office/drawing/2014/main" id="{5210BCDA-6DF5-7C5D-4345-2C32AA95A983}"/>
                </a:ext>
              </a:extLst>
            </p:cNvPr>
            <p:cNvSpPr/>
            <p:nvPr/>
          </p:nvSpPr>
          <p:spPr>
            <a:xfrm>
              <a:off x="1078992" y="5545616"/>
              <a:ext cx="4343400" cy="594360"/>
            </a:xfrm>
            <a:prstGeom prst="rect">
              <a:avLst/>
            </a:prstGeom>
            <a:noFill/>
            <a:ln/>
          </p:spPr>
          <p:txBody>
            <a:bodyPr wrap="square" rtlCol="0" anchor="t"/>
            <a:lstStyle/>
            <a:p>
              <a:pPr marL="177800" indent="-177800">
                <a:spcAft>
                  <a:spcPts val="800"/>
                </a:spcAft>
                <a:buSzPct val="100000"/>
                <a:buChar char="•"/>
              </a:pPr>
              <a:r>
                <a:rPr lang="en-US" sz="1200">
                  <a:solidFill>
                    <a:srgbClr val="2E2E38"/>
                  </a:solidFill>
                  <a:ea typeface="Calibri" pitchFamily="34" charset="-122"/>
                  <a:cs typeface="Calibri" pitchFamily="34" charset="-120"/>
                </a:rPr>
                <a:t>Shift HCL ticket-driven model toward self-service</a:t>
              </a:r>
              <a:endParaRPr lang="en-US" sz="1200"/>
            </a:p>
            <a:p>
              <a:pPr marL="177800" indent="-177800">
                <a:spcAft>
                  <a:spcPts val="800"/>
                </a:spcAft>
                <a:buSzPct val="100000"/>
                <a:buChar char="•"/>
              </a:pPr>
              <a:r>
                <a:rPr lang="en-US" sz="1200">
                  <a:solidFill>
                    <a:srgbClr val="2E2E38"/>
                  </a:solidFill>
                  <a:ea typeface="Calibri" pitchFamily="34" charset="-122"/>
                  <a:cs typeface="Calibri" pitchFamily="34" charset="-120"/>
                </a:rPr>
                <a:t>Lower priority — low technical debt today</a:t>
              </a:r>
              <a:endParaRPr lang="en-US" sz="1200"/>
            </a:p>
          </p:txBody>
        </p:sp>
        <p:sp>
          <p:nvSpPr>
            <p:cNvPr id="113" name="Shape 30">
              <a:extLst>
                <a:ext uri="{FF2B5EF4-FFF2-40B4-BE49-F238E27FC236}">
                  <a16:creationId xmlns:a16="http://schemas.microsoft.com/office/drawing/2014/main" id="{36B0A2D7-88B0-BC25-E1E4-63415D675B17}"/>
                </a:ext>
              </a:extLst>
            </p:cNvPr>
            <p:cNvSpPr/>
            <p:nvPr/>
          </p:nvSpPr>
          <p:spPr>
            <a:xfrm>
              <a:off x="6748272" y="2276856"/>
              <a:ext cx="384048" cy="384048"/>
            </a:xfrm>
            <a:prstGeom prst="ellipse">
              <a:avLst/>
            </a:prstGeom>
            <a:solidFill>
              <a:srgbClr val="BA0C2F"/>
            </a:solidFill>
            <a:ln/>
          </p:spPr>
          <p:txBody>
            <a:bodyPr/>
            <a:lstStyle/>
            <a:p>
              <a:endParaRPr lang="en-US" sz="1400">
                <a:latin typeface="+mj-lt"/>
              </a:endParaRPr>
            </a:p>
          </p:txBody>
        </p:sp>
        <p:sp>
          <p:nvSpPr>
            <p:cNvPr id="115" name="Text 31">
              <a:extLst>
                <a:ext uri="{FF2B5EF4-FFF2-40B4-BE49-F238E27FC236}">
                  <a16:creationId xmlns:a16="http://schemas.microsoft.com/office/drawing/2014/main" id="{7C86C000-32FE-3145-3B50-99A3C6403521}"/>
                </a:ext>
              </a:extLst>
            </p:cNvPr>
            <p:cNvSpPr/>
            <p:nvPr/>
          </p:nvSpPr>
          <p:spPr>
            <a:xfrm>
              <a:off x="6748272" y="2276856"/>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1</a:t>
              </a:r>
              <a:endParaRPr lang="en-US" sz="1400">
                <a:latin typeface="+mj-lt"/>
              </a:endParaRPr>
            </a:p>
          </p:txBody>
        </p:sp>
        <p:sp>
          <p:nvSpPr>
            <p:cNvPr id="117" name="Text 32">
              <a:extLst>
                <a:ext uri="{FF2B5EF4-FFF2-40B4-BE49-F238E27FC236}">
                  <a16:creationId xmlns:a16="http://schemas.microsoft.com/office/drawing/2014/main" id="{208CAEE1-7B1D-B09A-EDA5-952D0927BDDF}"/>
                </a:ext>
              </a:extLst>
            </p:cNvPr>
            <p:cNvSpPr/>
            <p:nvPr/>
          </p:nvSpPr>
          <p:spPr>
            <a:xfrm>
              <a:off x="7232904" y="2221992"/>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Standardize &amp; Consolidate the Estate</a:t>
              </a:r>
              <a:endParaRPr lang="en-US" sz="1400">
                <a:latin typeface="+mj-lt"/>
              </a:endParaRPr>
            </a:p>
          </p:txBody>
        </p:sp>
        <p:sp>
          <p:nvSpPr>
            <p:cNvPr id="119" name="Text 33">
              <a:extLst>
                <a:ext uri="{FF2B5EF4-FFF2-40B4-BE49-F238E27FC236}">
                  <a16:creationId xmlns:a16="http://schemas.microsoft.com/office/drawing/2014/main" id="{3E559E32-EFB8-F651-5807-134094D101BD}"/>
                </a:ext>
              </a:extLst>
            </p:cNvPr>
            <p:cNvSpPr/>
            <p:nvPr/>
          </p:nvSpPr>
          <p:spPr>
            <a:xfrm>
              <a:off x="7232904" y="2551176"/>
              <a:ext cx="4343400" cy="548640"/>
            </a:xfrm>
            <a:prstGeom prst="rect">
              <a:avLst/>
            </a:prstGeom>
            <a:noFill/>
            <a:ln/>
          </p:spPr>
          <p:txBody>
            <a:bodyPr wrap="square" rtlCol="0" anchor="t"/>
            <a:lstStyle/>
            <a:p>
              <a:pPr marL="0" indent="0">
                <a:buNone/>
              </a:pPr>
              <a:r>
                <a:rPr lang="en-US" sz="1200" b="1">
                  <a:solidFill>
                    <a:srgbClr val="BA0C2F"/>
                  </a:solidFill>
                  <a:ea typeface="Calibri" pitchFamily="34" charset="-122"/>
                  <a:cs typeface="Calibri" pitchFamily="34" charset="-120"/>
                </a:rPr>
                <a:t>✓ </a:t>
              </a:r>
              <a:r>
                <a:rPr lang="en-US" sz="1200">
                  <a:solidFill>
                    <a:srgbClr val="2E2E38"/>
                  </a:solidFill>
                  <a:ea typeface="Calibri" pitchFamily="34" charset="-122"/>
                  <a:cs typeface="Calibri" pitchFamily="34" charset="-120"/>
                </a:rPr>
                <a:t>Fewer patterns to operate; removes the clearest cost outlier (~10x MS SQL rate)</a:t>
              </a:r>
              <a:endParaRPr lang="en-US" sz="1200"/>
            </a:p>
          </p:txBody>
        </p:sp>
        <p:sp>
          <p:nvSpPr>
            <p:cNvPr id="121" name="Shape 34">
              <a:extLst>
                <a:ext uri="{FF2B5EF4-FFF2-40B4-BE49-F238E27FC236}">
                  <a16:creationId xmlns:a16="http://schemas.microsoft.com/office/drawing/2014/main" id="{0FF8F15B-84BA-ED31-C564-0CA4D52C71DE}"/>
                </a:ext>
              </a:extLst>
            </p:cNvPr>
            <p:cNvSpPr/>
            <p:nvPr/>
          </p:nvSpPr>
          <p:spPr>
            <a:xfrm>
              <a:off x="6611112" y="3138568"/>
              <a:ext cx="5120640" cy="1033272"/>
            </a:xfrm>
            <a:prstGeom prst="roundRect">
              <a:avLst>
                <a:gd name="adj" fmla="val 5310"/>
              </a:avLst>
            </a:prstGeom>
            <a:solidFill>
              <a:srgbClr val="F2F2F2"/>
            </a:solidFill>
            <a:ln/>
            <a:effectLst>
              <a:outerShdw blurRad="50800" dist="25400" dir="5400000" algn="bl" rotWithShape="0">
                <a:srgbClr val="808080">
                  <a:alpha val="20000"/>
                </a:srgbClr>
              </a:outerShdw>
            </a:effectLst>
          </p:spPr>
          <p:txBody>
            <a:bodyPr/>
            <a:lstStyle/>
            <a:p>
              <a:endParaRPr lang="en-US" sz="1400">
                <a:latin typeface="+mj-lt"/>
              </a:endParaRPr>
            </a:p>
          </p:txBody>
        </p:sp>
        <p:sp>
          <p:nvSpPr>
            <p:cNvPr id="123" name="Shape 35">
              <a:extLst>
                <a:ext uri="{FF2B5EF4-FFF2-40B4-BE49-F238E27FC236}">
                  <a16:creationId xmlns:a16="http://schemas.microsoft.com/office/drawing/2014/main" id="{939FF818-DB3B-7120-210D-EA7569D6E7D8}"/>
                </a:ext>
              </a:extLst>
            </p:cNvPr>
            <p:cNvSpPr/>
            <p:nvPr/>
          </p:nvSpPr>
          <p:spPr>
            <a:xfrm>
              <a:off x="6748272" y="3266584"/>
              <a:ext cx="384048" cy="384048"/>
            </a:xfrm>
            <a:prstGeom prst="ellipse">
              <a:avLst/>
            </a:prstGeom>
            <a:solidFill>
              <a:srgbClr val="BA0C2F"/>
            </a:solidFill>
            <a:ln/>
          </p:spPr>
          <p:txBody>
            <a:bodyPr/>
            <a:lstStyle/>
            <a:p>
              <a:endParaRPr lang="en-US" sz="1400">
                <a:latin typeface="+mj-lt"/>
              </a:endParaRPr>
            </a:p>
          </p:txBody>
        </p:sp>
        <p:sp>
          <p:nvSpPr>
            <p:cNvPr id="125" name="Text 36">
              <a:extLst>
                <a:ext uri="{FF2B5EF4-FFF2-40B4-BE49-F238E27FC236}">
                  <a16:creationId xmlns:a16="http://schemas.microsoft.com/office/drawing/2014/main" id="{3BBF0DC0-CA84-0AE3-B47F-AC8E109A1718}"/>
                </a:ext>
              </a:extLst>
            </p:cNvPr>
            <p:cNvSpPr/>
            <p:nvPr/>
          </p:nvSpPr>
          <p:spPr>
            <a:xfrm>
              <a:off x="6748272" y="3266584"/>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2</a:t>
              </a:r>
              <a:endParaRPr lang="en-US" sz="1400">
                <a:latin typeface="+mj-lt"/>
              </a:endParaRPr>
            </a:p>
          </p:txBody>
        </p:sp>
        <p:sp>
          <p:nvSpPr>
            <p:cNvPr id="127" name="Text 37">
              <a:extLst>
                <a:ext uri="{FF2B5EF4-FFF2-40B4-BE49-F238E27FC236}">
                  <a16:creationId xmlns:a16="http://schemas.microsoft.com/office/drawing/2014/main" id="{B5A779C9-C987-63C5-77AD-C165F0BCFA6F}"/>
                </a:ext>
              </a:extLst>
            </p:cNvPr>
            <p:cNvSpPr/>
            <p:nvPr/>
          </p:nvSpPr>
          <p:spPr>
            <a:xfrm>
              <a:off x="7232904" y="3211720"/>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Modernize for AI-Readiness</a:t>
              </a:r>
              <a:endParaRPr lang="en-US" sz="1400">
                <a:latin typeface="+mj-lt"/>
              </a:endParaRPr>
            </a:p>
          </p:txBody>
        </p:sp>
        <p:sp>
          <p:nvSpPr>
            <p:cNvPr id="129" name="Text 38">
              <a:extLst>
                <a:ext uri="{FF2B5EF4-FFF2-40B4-BE49-F238E27FC236}">
                  <a16:creationId xmlns:a16="http://schemas.microsoft.com/office/drawing/2014/main" id="{4623A97A-C9F3-AC9C-61EA-131701598B33}"/>
                </a:ext>
              </a:extLst>
            </p:cNvPr>
            <p:cNvSpPr/>
            <p:nvPr/>
          </p:nvSpPr>
          <p:spPr>
            <a:xfrm>
              <a:off x="7232904" y="3540904"/>
              <a:ext cx="4343400" cy="548640"/>
            </a:xfrm>
            <a:prstGeom prst="rect">
              <a:avLst/>
            </a:prstGeom>
            <a:noFill/>
            <a:ln/>
          </p:spPr>
          <p:txBody>
            <a:bodyPr wrap="square" rtlCol="0" anchor="t"/>
            <a:lstStyle/>
            <a:p>
              <a:pPr marL="0" indent="0">
                <a:buNone/>
              </a:pPr>
              <a:r>
                <a:rPr lang="en-US" sz="1200" b="1">
                  <a:solidFill>
                    <a:srgbClr val="BA0C2F"/>
                  </a:solidFill>
                  <a:ea typeface="Calibri" pitchFamily="34" charset="-122"/>
                  <a:cs typeface="Calibri" pitchFamily="34" charset="-120"/>
                </a:rPr>
                <a:t>✓ </a:t>
              </a:r>
              <a:r>
                <a:rPr lang="en-US" sz="1200">
                  <a:solidFill>
                    <a:srgbClr val="2E2E38"/>
                  </a:solidFill>
                  <a:ea typeface="Calibri" pitchFamily="34" charset="-122"/>
                  <a:cs typeface="Calibri" pitchFamily="34" charset="-120"/>
                </a:rPr>
                <a:t>AI-ready platform without a separate NoSQL buildout; lower ops burden</a:t>
              </a:r>
              <a:endParaRPr lang="en-US" sz="1200"/>
            </a:p>
          </p:txBody>
        </p:sp>
        <p:sp>
          <p:nvSpPr>
            <p:cNvPr id="131" name="Shape 39">
              <a:extLst>
                <a:ext uri="{FF2B5EF4-FFF2-40B4-BE49-F238E27FC236}">
                  <a16:creationId xmlns:a16="http://schemas.microsoft.com/office/drawing/2014/main" id="{2B63910D-D467-8AA0-3D61-B4F64D5713F7}"/>
                </a:ext>
              </a:extLst>
            </p:cNvPr>
            <p:cNvSpPr/>
            <p:nvPr/>
          </p:nvSpPr>
          <p:spPr>
            <a:xfrm>
              <a:off x="6748272" y="4299856"/>
              <a:ext cx="384048" cy="384048"/>
            </a:xfrm>
            <a:prstGeom prst="ellipse">
              <a:avLst/>
            </a:prstGeom>
            <a:solidFill>
              <a:srgbClr val="BA0C2F"/>
            </a:solidFill>
            <a:ln/>
          </p:spPr>
          <p:txBody>
            <a:bodyPr/>
            <a:lstStyle/>
            <a:p>
              <a:endParaRPr lang="en-US" sz="1400">
                <a:latin typeface="+mj-lt"/>
              </a:endParaRPr>
            </a:p>
          </p:txBody>
        </p:sp>
        <p:sp>
          <p:nvSpPr>
            <p:cNvPr id="133" name="Text 40">
              <a:extLst>
                <a:ext uri="{FF2B5EF4-FFF2-40B4-BE49-F238E27FC236}">
                  <a16:creationId xmlns:a16="http://schemas.microsoft.com/office/drawing/2014/main" id="{6FBAB745-9CD6-151B-E1EA-AD4E494933F0}"/>
                </a:ext>
              </a:extLst>
            </p:cNvPr>
            <p:cNvSpPr/>
            <p:nvPr/>
          </p:nvSpPr>
          <p:spPr>
            <a:xfrm>
              <a:off x="6748272" y="4299856"/>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3</a:t>
              </a:r>
              <a:endParaRPr lang="en-US" sz="1400">
                <a:latin typeface="+mj-lt"/>
              </a:endParaRPr>
            </a:p>
          </p:txBody>
        </p:sp>
        <p:sp>
          <p:nvSpPr>
            <p:cNvPr id="135" name="Text 41">
              <a:extLst>
                <a:ext uri="{FF2B5EF4-FFF2-40B4-BE49-F238E27FC236}">
                  <a16:creationId xmlns:a16="http://schemas.microsoft.com/office/drawing/2014/main" id="{351B2B1B-08CC-942B-9FD3-F0F8B4327367}"/>
                </a:ext>
              </a:extLst>
            </p:cNvPr>
            <p:cNvSpPr/>
            <p:nvPr/>
          </p:nvSpPr>
          <p:spPr>
            <a:xfrm>
              <a:off x="7232904" y="4244992"/>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Strengthen Resilience &amp; Recovery</a:t>
              </a:r>
              <a:endParaRPr lang="en-US" sz="1400">
                <a:latin typeface="+mj-lt"/>
              </a:endParaRPr>
            </a:p>
          </p:txBody>
        </p:sp>
        <p:sp>
          <p:nvSpPr>
            <p:cNvPr id="137" name="Text 42">
              <a:extLst>
                <a:ext uri="{FF2B5EF4-FFF2-40B4-BE49-F238E27FC236}">
                  <a16:creationId xmlns:a16="http://schemas.microsoft.com/office/drawing/2014/main" id="{C15A4E66-7E52-87E4-FDA8-EDDC927992F1}"/>
                </a:ext>
              </a:extLst>
            </p:cNvPr>
            <p:cNvSpPr/>
            <p:nvPr/>
          </p:nvSpPr>
          <p:spPr>
            <a:xfrm>
              <a:off x="7232904" y="4574176"/>
              <a:ext cx="4343400" cy="548640"/>
            </a:xfrm>
            <a:prstGeom prst="rect">
              <a:avLst/>
            </a:prstGeom>
            <a:noFill/>
            <a:ln/>
          </p:spPr>
          <p:txBody>
            <a:bodyPr wrap="square" rtlCol="0" anchor="t"/>
            <a:lstStyle/>
            <a:p>
              <a:pPr marL="0" indent="0">
                <a:buNone/>
              </a:pPr>
              <a:r>
                <a:rPr lang="en-US" sz="1200" b="1">
                  <a:solidFill>
                    <a:srgbClr val="BA0C2F"/>
                  </a:solidFill>
                  <a:ea typeface="Calibri" pitchFamily="34" charset="-122"/>
                  <a:cs typeface="Calibri" pitchFamily="34" charset="-120"/>
                </a:rPr>
                <a:t>✓ </a:t>
              </a:r>
              <a:r>
                <a:rPr lang="en-US" sz="1200">
                  <a:solidFill>
                    <a:srgbClr val="2E2E38"/>
                  </a:solidFill>
                  <a:ea typeface="Calibri" pitchFamily="34" charset="-122"/>
                  <a:cs typeface="Calibri" pitchFamily="34" charset="-120"/>
                </a:rPr>
                <a:t>Faster recovery; parity with cloud infrastructure maturity targets</a:t>
              </a:r>
              <a:endParaRPr lang="en-US" sz="1200"/>
            </a:p>
          </p:txBody>
        </p:sp>
        <p:sp>
          <p:nvSpPr>
            <p:cNvPr id="139" name="Shape 43">
              <a:extLst>
                <a:ext uri="{FF2B5EF4-FFF2-40B4-BE49-F238E27FC236}">
                  <a16:creationId xmlns:a16="http://schemas.microsoft.com/office/drawing/2014/main" id="{47AFD47E-D3C1-6BF3-5A41-E27F6F965B2F}"/>
                </a:ext>
              </a:extLst>
            </p:cNvPr>
            <p:cNvSpPr/>
            <p:nvPr/>
          </p:nvSpPr>
          <p:spPr>
            <a:xfrm>
              <a:off x="6611112" y="5161568"/>
              <a:ext cx="5120640" cy="1033272"/>
            </a:xfrm>
            <a:prstGeom prst="roundRect">
              <a:avLst>
                <a:gd name="adj" fmla="val 5310"/>
              </a:avLst>
            </a:prstGeom>
            <a:solidFill>
              <a:srgbClr val="F2F2F2"/>
            </a:solidFill>
            <a:ln/>
            <a:effectLst>
              <a:outerShdw blurRad="50800" dist="25400" dir="5400000" algn="bl" rotWithShape="0">
                <a:srgbClr val="808080">
                  <a:alpha val="20000"/>
                </a:srgbClr>
              </a:outerShdw>
            </a:effectLst>
          </p:spPr>
          <p:txBody>
            <a:bodyPr/>
            <a:lstStyle/>
            <a:p>
              <a:endParaRPr lang="en-US">
                <a:latin typeface="+mj-lt"/>
              </a:endParaRPr>
            </a:p>
          </p:txBody>
        </p:sp>
        <p:sp>
          <p:nvSpPr>
            <p:cNvPr id="141" name="Shape 44">
              <a:extLst>
                <a:ext uri="{FF2B5EF4-FFF2-40B4-BE49-F238E27FC236}">
                  <a16:creationId xmlns:a16="http://schemas.microsoft.com/office/drawing/2014/main" id="{3BAE0DB2-6E96-0635-6A37-218D8E4BD9C4}"/>
                </a:ext>
              </a:extLst>
            </p:cNvPr>
            <p:cNvSpPr/>
            <p:nvPr/>
          </p:nvSpPr>
          <p:spPr>
            <a:xfrm>
              <a:off x="6748272" y="5289584"/>
              <a:ext cx="384048" cy="384048"/>
            </a:xfrm>
            <a:prstGeom prst="ellipse">
              <a:avLst/>
            </a:prstGeom>
            <a:solidFill>
              <a:srgbClr val="BA0C2F"/>
            </a:solidFill>
            <a:ln/>
          </p:spPr>
          <p:txBody>
            <a:bodyPr/>
            <a:lstStyle/>
            <a:p>
              <a:endParaRPr lang="en-US" sz="1400">
                <a:latin typeface="+mj-lt"/>
              </a:endParaRPr>
            </a:p>
          </p:txBody>
        </p:sp>
        <p:sp>
          <p:nvSpPr>
            <p:cNvPr id="143" name="Text 45">
              <a:extLst>
                <a:ext uri="{FF2B5EF4-FFF2-40B4-BE49-F238E27FC236}">
                  <a16:creationId xmlns:a16="http://schemas.microsoft.com/office/drawing/2014/main" id="{3CCD3AD4-24E6-54E5-0131-CBF4FEE06E39}"/>
                </a:ext>
              </a:extLst>
            </p:cNvPr>
            <p:cNvSpPr/>
            <p:nvPr/>
          </p:nvSpPr>
          <p:spPr>
            <a:xfrm>
              <a:off x="6748272" y="5289584"/>
              <a:ext cx="384048" cy="384048"/>
            </a:xfrm>
            <a:prstGeom prst="rect">
              <a:avLst/>
            </a:prstGeom>
            <a:noFill/>
            <a:ln/>
          </p:spPr>
          <p:txBody>
            <a:bodyPr wrap="square" rtlCol="0" anchor="ctr"/>
            <a:lstStyle/>
            <a:p>
              <a:pPr marL="0" indent="0" algn="ctr">
                <a:buNone/>
              </a:pPr>
              <a:r>
                <a:rPr lang="en-US" sz="1400" b="1">
                  <a:solidFill>
                    <a:srgbClr val="FFFFFF"/>
                  </a:solidFill>
                  <a:latin typeface="+mj-lt"/>
                  <a:ea typeface="Calibri" pitchFamily="34" charset="-122"/>
                  <a:cs typeface="Calibri" pitchFamily="34" charset="-120"/>
                </a:rPr>
                <a:t>4</a:t>
              </a:r>
              <a:endParaRPr lang="en-US" sz="1400">
                <a:latin typeface="+mj-lt"/>
              </a:endParaRPr>
            </a:p>
          </p:txBody>
        </p:sp>
        <p:sp>
          <p:nvSpPr>
            <p:cNvPr id="145" name="Text 46">
              <a:extLst>
                <a:ext uri="{FF2B5EF4-FFF2-40B4-BE49-F238E27FC236}">
                  <a16:creationId xmlns:a16="http://schemas.microsoft.com/office/drawing/2014/main" id="{56F04D98-7B89-0D00-0AA9-AE30890940A7}"/>
                </a:ext>
              </a:extLst>
            </p:cNvPr>
            <p:cNvSpPr/>
            <p:nvPr/>
          </p:nvSpPr>
          <p:spPr>
            <a:xfrm>
              <a:off x="7232904" y="5234720"/>
              <a:ext cx="4343400" cy="292608"/>
            </a:xfrm>
            <a:prstGeom prst="rect">
              <a:avLst/>
            </a:prstGeom>
            <a:noFill/>
            <a:ln/>
          </p:spPr>
          <p:txBody>
            <a:bodyPr wrap="square" rtlCol="0" anchor="ctr"/>
            <a:lstStyle/>
            <a:p>
              <a:pPr marL="0" indent="0">
                <a:buNone/>
              </a:pPr>
              <a:r>
                <a:rPr lang="en-US" sz="1400" b="1">
                  <a:solidFill>
                    <a:srgbClr val="2E2E38"/>
                  </a:solidFill>
                  <a:latin typeface="+mj-lt"/>
                  <a:ea typeface="Calibri" pitchFamily="34" charset="-122"/>
                  <a:cs typeface="Calibri" pitchFamily="34" charset="-120"/>
                </a:rPr>
                <a:t>Streamline the Operating Model</a:t>
              </a:r>
              <a:endParaRPr lang="en-US" sz="1400">
                <a:latin typeface="+mj-lt"/>
              </a:endParaRPr>
            </a:p>
          </p:txBody>
        </p:sp>
        <p:sp>
          <p:nvSpPr>
            <p:cNvPr id="147" name="Text 47">
              <a:extLst>
                <a:ext uri="{FF2B5EF4-FFF2-40B4-BE49-F238E27FC236}">
                  <a16:creationId xmlns:a16="http://schemas.microsoft.com/office/drawing/2014/main" id="{24FF29CE-C30B-E997-8146-3A757A72A780}"/>
                </a:ext>
              </a:extLst>
            </p:cNvPr>
            <p:cNvSpPr/>
            <p:nvPr/>
          </p:nvSpPr>
          <p:spPr>
            <a:xfrm>
              <a:off x="7232904" y="5563904"/>
              <a:ext cx="4343400" cy="548640"/>
            </a:xfrm>
            <a:prstGeom prst="rect">
              <a:avLst/>
            </a:prstGeom>
            <a:noFill/>
            <a:ln/>
          </p:spPr>
          <p:txBody>
            <a:bodyPr wrap="square" rtlCol="0" anchor="t"/>
            <a:lstStyle/>
            <a:p>
              <a:pPr marL="0" indent="0">
                <a:buNone/>
              </a:pPr>
              <a:r>
                <a:rPr lang="en-US" sz="1200" b="1">
                  <a:solidFill>
                    <a:srgbClr val="BA0C2F"/>
                  </a:solidFill>
                  <a:ea typeface="Calibri" pitchFamily="34" charset="-122"/>
                  <a:cs typeface="Calibri" pitchFamily="34" charset="-120"/>
                </a:rPr>
                <a:t>✓ </a:t>
              </a:r>
              <a:r>
                <a:rPr lang="en-US" sz="1200">
                  <a:solidFill>
                    <a:srgbClr val="2E2E38"/>
                  </a:solidFill>
                  <a:ea typeface="Calibri" pitchFamily="34" charset="-122"/>
                  <a:cs typeface="Calibri" pitchFamily="34" charset="-120"/>
                </a:rPr>
                <a:t>Faster provisioning; reduced operational friction</a:t>
              </a:r>
              <a:endParaRPr lang="en-US" sz="1200"/>
            </a:p>
          </p:txBody>
        </p:sp>
      </p:grpSp>
    </p:spTree>
    <p:extLst>
      <p:ext uri="{BB962C8B-B14F-4D97-AF65-F5344CB8AC3E}">
        <p14:creationId xmlns:p14="http://schemas.microsoft.com/office/powerpoint/2010/main" val="234133351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6FFCC-7877-2392-E268-AB656E4A8E93}"/>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5CCFC663-025C-24D6-B404-03302A2E1511}"/>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Alignment with the NORTH Data Platform / Data Strategy</a:t>
            </a:r>
            <a:endParaRPr lang="en-US" sz="2600">
              <a:latin typeface="+mj-lt"/>
            </a:endParaRPr>
          </a:p>
        </p:txBody>
      </p:sp>
      <p:sp>
        <p:nvSpPr>
          <p:cNvPr id="4" name="Text 5">
            <a:extLst>
              <a:ext uri="{FF2B5EF4-FFF2-40B4-BE49-F238E27FC236}">
                <a16:creationId xmlns:a16="http://schemas.microsoft.com/office/drawing/2014/main" id="{DFEF1129-0C42-89B2-877A-9BBBB35C98F8}"/>
              </a:ext>
            </a:extLst>
          </p:cNvPr>
          <p:cNvSpPr/>
          <p:nvPr/>
        </p:nvSpPr>
        <p:spPr>
          <a:xfrm>
            <a:off x="457200" y="1095104"/>
            <a:ext cx="11247120" cy="50292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NORTH (Next-Gen Organizational Repository for Trusted and High-Value Data) is Canada Life's enterprise data/AI platform — a downstream consumer of our databases, not a competing scope. It sets new demand signals this roadmap should plan for.</a:t>
            </a:r>
            <a:endParaRPr lang="en-US" sz="1400" dirty="0"/>
          </a:p>
        </p:txBody>
      </p:sp>
      <p:sp>
        <p:nvSpPr>
          <p:cNvPr id="6" name="Shape 6">
            <a:extLst>
              <a:ext uri="{FF2B5EF4-FFF2-40B4-BE49-F238E27FC236}">
                <a16:creationId xmlns:a16="http://schemas.microsoft.com/office/drawing/2014/main" id="{7FCA8783-E3EE-A45C-4D83-1B4F788C374A}"/>
              </a:ext>
            </a:extLst>
          </p:cNvPr>
          <p:cNvSpPr/>
          <p:nvPr/>
        </p:nvSpPr>
        <p:spPr>
          <a:xfrm>
            <a:off x="457200" y="1691640"/>
            <a:ext cx="5440680" cy="4343400"/>
          </a:xfrm>
          <a:prstGeom prst="roundRect">
            <a:avLst>
              <a:gd name="adj" fmla="val 1263"/>
            </a:avLst>
          </a:prstGeom>
          <a:solidFill>
            <a:srgbClr val="F2F2F2"/>
          </a:solidFill>
          <a:ln/>
          <a:effectLst>
            <a:outerShdw blurRad="50800" dist="25400" dir="5400000" algn="bl" rotWithShape="0">
              <a:srgbClr val="808080">
                <a:alpha val="20000"/>
              </a:srgbClr>
            </a:outerShdw>
          </a:effectLst>
        </p:spPr>
        <p:txBody>
          <a:bodyPr/>
          <a:lstStyle/>
          <a:p>
            <a:endParaRPr lang="en-US" sz="1400"/>
          </a:p>
        </p:txBody>
      </p:sp>
      <p:sp>
        <p:nvSpPr>
          <p:cNvPr id="8" name="Text 7">
            <a:extLst>
              <a:ext uri="{FF2B5EF4-FFF2-40B4-BE49-F238E27FC236}">
                <a16:creationId xmlns:a16="http://schemas.microsoft.com/office/drawing/2014/main" id="{5EF38246-9CF0-7E41-4FA2-FEF6E3E90310}"/>
              </a:ext>
            </a:extLst>
          </p:cNvPr>
          <p:cNvSpPr/>
          <p:nvPr/>
        </p:nvSpPr>
        <p:spPr>
          <a:xfrm>
            <a:off x="640080" y="1828800"/>
            <a:ext cx="5029200" cy="320040"/>
          </a:xfrm>
          <a:prstGeom prst="rect">
            <a:avLst/>
          </a:prstGeom>
          <a:noFill/>
          <a:ln/>
        </p:spPr>
        <p:txBody>
          <a:bodyPr wrap="square" rtlCol="0" anchor="ctr"/>
          <a:lstStyle/>
          <a:p>
            <a:pPr marL="0" indent="0">
              <a:buNone/>
            </a:pPr>
            <a:r>
              <a:rPr lang="en-US" sz="1400" b="1">
                <a:solidFill>
                  <a:srgbClr val="BA0C2F"/>
                </a:solidFill>
                <a:latin typeface="+mj-lt"/>
                <a:ea typeface="Calibri" pitchFamily="34" charset="-122"/>
                <a:cs typeface="Calibri" pitchFamily="34" charset="-120"/>
              </a:rPr>
              <a:t>How the two fit together</a:t>
            </a:r>
            <a:endParaRPr lang="en-US" sz="1400">
              <a:latin typeface="+mj-lt"/>
            </a:endParaRPr>
          </a:p>
        </p:txBody>
      </p:sp>
      <p:sp>
        <p:nvSpPr>
          <p:cNvPr id="10" name="Text 8">
            <a:extLst>
              <a:ext uri="{FF2B5EF4-FFF2-40B4-BE49-F238E27FC236}">
                <a16:creationId xmlns:a16="http://schemas.microsoft.com/office/drawing/2014/main" id="{45B9DA72-13C9-6ABD-C7DD-CEF642528442}"/>
              </a:ext>
            </a:extLst>
          </p:cNvPr>
          <p:cNvSpPr/>
          <p:nvPr/>
        </p:nvSpPr>
        <p:spPr>
          <a:xfrm>
            <a:off x="640080" y="2194560"/>
            <a:ext cx="5074920" cy="3749040"/>
          </a:xfrm>
          <a:prstGeom prst="rect">
            <a:avLst/>
          </a:prstGeom>
          <a:noFill/>
          <a:ln/>
        </p:spPr>
        <p:txBody>
          <a:bodyPr wrap="square" lIns="91440" tIns="45720" rIns="91440" bIns="45720" rtlCol="0" anchor="t"/>
          <a:lstStyle/>
          <a:p>
            <a:pPr marL="177800" indent="-177800">
              <a:spcAft>
                <a:spcPts val="800"/>
              </a:spcAft>
              <a:buSzPct val="100000"/>
              <a:buChar char="•"/>
            </a:pPr>
            <a:r>
              <a:rPr lang="en-US" sz="1400">
                <a:solidFill>
                  <a:srgbClr val="2E2E38"/>
                </a:solidFill>
                <a:ea typeface="Calibri" pitchFamily="34" charset="-122"/>
                <a:cs typeface="Calibri" pitchFamily="34" charset="-120"/>
              </a:rPr>
              <a:t>This roadmap owns the source-of-record databases (Oracle, MS SQL, DB2, MongoDB, PostgreSQL) — provisioning, resilience, security, licensing.</a:t>
            </a:r>
            <a:endParaRPr lang="en-US" sz="1400"/>
          </a:p>
          <a:p>
            <a:pPr marL="177800" indent="-177800">
              <a:spcAft>
                <a:spcPts val="800"/>
              </a:spcAft>
              <a:buSzPct val="100000"/>
              <a:buChar char="•"/>
            </a:pPr>
            <a:r>
              <a:rPr lang="en-US" sz="1400">
                <a:solidFill>
                  <a:srgbClr val="2E2E38"/>
                </a:solidFill>
                <a:ea typeface="Calibri" pitchFamily="34" charset="-122"/>
                <a:cs typeface="Calibri" pitchFamily="34" charset="-120"/>
              </a:rPr>
              <a:t>NORTH owns ingestion, governance, and consumption of data drawn FROM those databases into its Lakehouse, ODS, MDM, Graph and Vector repositories.</a:t>
            </a:r>
            <a:endParaRPr lang="en-US" sz="1400"/>
          </a:p>
          <a:p>
            <a:pPr marL="177800" indent="-177800">
              <a:spcAft>
                <a:spcPts val="800"/>
              </a:spcAft>
              <a:buSzPct val="100000"/>
              <a:buChar char="•"/>
            </a:pPr>
            <a:r>
              <a:rPr lang="en-US" sz="1400">
                <a:solidFill>
                  <a:srgbClr val="2E2E38"/>
                </a:solidFill>
                <a:ea typeface="Calibri"/>
                <a:cs typeface="Calibri"/>
              </a:rPr>
              <a:t>NORTH is Azure-first by design — consistent with the </a:t>
            </a:r>
            <a:r>
              <a:rPr lang="en-US" sz="1400" err="1">
                <a:solidFill>
                  <a:srgbClr val="2E2E38"/>
                </a:solidFill>
                <a:ea typeface="Calibri"/>
                <a:cs typeface="Calibri"/>
              </a:rPr>
              <a:t>Exa@Azure</a:t>
            </a:r>
            <a:r>
              <a:rPr lang="en-US" sz="1400">
                <a:solidFill>
                  <a:srgbClr val="2E2E38"/>
                </a:solidFill>
                <a:ea typeface="Calibri"/>
                <a:cs typeface="Calibri"/>
              </a:rPr>
              <a:t> direction — with select AWS use for resiliency, latency, or specific functionality.</a:t>
            </a:r>
            <a:endParaRPr lang="en-US" sz="1400">
              <a:ea typeface="Calibri"/>
              <a:cs typeface="Calibri"/>
            </a:endParaRPr>
          </a:p>
          <a:p>
            <a:pPr marL="177800" indent="-177800">
              <a:spcAft>
                <a:spcPts val="800"/>
              </a:spcAft>
              <a:buSzPct val="100000"/>
              <a:buChar char="•"/>
            </a:pPr>
            <a:r>
              <a:rPr lang="en-US" sz="1400">
                <a:solidFill>
                  <a:srgbClr val="2E2E38"/>
                </a:solidFill>
                <a:ea typeface="Calibri" pitchFamily="34" charset="-122"/>
                <a:cs typeface="Calibri" pitchFamily="34" charset="-120"/>
              </a:rPr>
              <a:t>NORTH's Data Integration layer requires Batch, Streaming (Kafka), API, and CDC (Change Data Capture) access to our source systems.</a:t>
            </a:r>
            <a:endParaRPr lang="en-US" sz="1400"/>
          </a:p>
        </p:txBody>
      </p:sp>
      <p:sp>
        <p:nvSpPr>
          <p:cNvPr id="12" name="Shape 9">
            <a:extLst>
              <a:ext uri="{FF2B5EF4-FFF2-40B4-BE49-F238E27FC236}">
                <a16:creationId xmlns:a16="http://schemas.microsoft.com/office/drawing/2014/main" id="{81D2CFA7-234F-5092-0C8E-40D059B8A34C}"/>
              </a:ext>
            </a:extLst>
          </p:cNvPr>
          <p:cNvSpPr/>
          <p:nvPr/>
        </p:nvSpPr>
        <p:spPr>
          <a:xfrm>
            <a:off x="6126480" y="1691640"/>
            <a:ext cx="5577840" cy="4343400"/>
          </a:xfrm>
          <a:prstGeom prst="roundRect">
            <a:avLst>
              <a:gd name="adj" fmla="val 1263"/>
            </a:avLst>
          </a:prstGeom>
          <a:solidFill>
            <a:srgbClr val="F0CCD2"/>
          </a:solidFill>
          <a:ln/>
          <a:effectLst>
            <a:outerShdw blurRad="50800" dist="25400" dir="5400000" algn="bl" rotWithShape="0">
              <a:srgbClr val="808080">
                <a:alpha val="20000"/>
              </a:srgbClr>
            </a:outerShdw>
          </a:effectLst>
        </p:spPr>
        <p:txBody>
          <a:bodyPr/>
          <a:lstStyle/>
          <a:p>
            <a:endParaRPr lang="en-US" sz="1400"/>
          </a:p>
        </p:txBody>
      </p:sp>
      <p:sp>
        <p:nvSpPr>
          <p:cNvPr id="14" name="Text 10">
            <a:extLst>
              <a:ext uri="{FF2B5EF4-FFF2-40B4-BE49-F238E27FC236}">
                <a16:creationId xmlns:a16="http://schemas.microsoft.com/office/drawing/2014/main" id="{F61564F9-66AF-EFB3-73A4-30CA2571B417}"/>
              </a:ext>
            </a:extLst>
          </p:cNvPr>
          <p:cNvSpPr/>
          <p:nvPr/>
        </p:nvSpPr>
        <p:spPr>
          <a:xfrm>
            <a:off x="6309360" y="1828800"/>
            <a:ext cx="5212080" cy="320040"/>
          </a:xfrm>
          <a:prstGeom prst="rect">
            <a:avLst/>
          </a:prstGeom>
          <a:noFill/>
          <a:ln/>
        </p:spPr>
        <p:txBody>
          <a:bodyPr wrap="square" rtlCol="0" anchor="ctr"/>
          <a:lstStyle/>
          <a:p>
            <a:pPr marL="0" indent="0">
              <a:buNone/>
            </a:pPr>
            <a:r>
              <a:rPr lang="en-US" sz="1400" b="1">
                <a:solidFill>
                  <a:srgbClr val="8C0924"/>
                </a:solidFill>
                <a:latin typeface="+mj-lt"/>
                <a:ea typeface="Calibri" pitchFamily="34" charset="-122"/>
                <a:cs typeface="Calibri" pitchFamily="34" charset="-120"/>
              </a:rPr>
              <a:t>New demand signals for this roadmap</a:t>
            </a:r>
            <a:endParaRPr lang="en-US" sz="1400">
              <a:latin typeface="+mj-lt"/>
            </a:endParaRPr>
          </a:p>
        </p:txBody>
      </p:sp>
      <p:sp>
        <p:nvSpPr>
          <p:cNvPr id="16" name="Text 11">
            <a:extLst>
              <a:ext uri="{FF2B5EF4-FFF2-40B4-BE49-F238E27FC236}">
                <a16:creationId xmlns:a16="http://schemas.microsoft.com/office/drawing/2014/main" id="{0220E8FE-6580-D769-FC7E-B9C5371F9EAB}"/>
              </a:ext>
            </a:extLst>
          </p:cNvPr>
          <p:cNvSpPr/>
          <p:nvPr/>
        </p:nvSpPr>
        <p:spPr>
          <a:xfrm>
            <a:off x="6309360" y="2194560"/>
            <a:ext cx="5212080" cy="3749040"/>
          </a:xfrm>
          <a:prstGeom prst="rect">
            <a:avLst/>
          </a:prstGeom>
          <a:noFill/>
          <a:ln/>
        </p:spPr>
        <p:txBody>
          <a:bodyPr wrap="square" rtlCol="0" anchor="t"/>
          <a:lstStyle/>
          <a:p>
            <a:pPr marL="177800" indent="-177800">
              <a:spcAft>
                <a:spcPts val="800"/>
              </a:spcAft>
              <a:buSzPct val="100000"/>
              <a:buChar char="•"/>
            </a:pPr>
            <a:r>
              <a:rPr lang="en-US" sz="1400">
                <a:solidFill>
                  <a:srgbClr val="2E2E38"/>
                </a:solidFill>
                <a:ea typeface="Calibri" pitchFamily="34" charset="-122"/>
                <a:cs typeface="Calibri" pitchFamily="34" charset="-120"/>
              </a:rPr>
              <a:t>Graph database readiness — Neo4j is NORTH's named target for knowledge graphs and relationship data.</a:t>
            </a:r>
            <a:endParaRPr lang="en-US" sz="1400"/>
          </a:p>
          <a:p>
            <a:pPr marL="177800" indent="-177800">
              <a:spcAft>
                <a:spcPts val="800"/>
              </a:spcAft>
              <a:buSzPct val="100000"/>
              <a:buChar char="•"/>
            </a:pPr>
            <a:r>
              <a:rPr lang="en-US" sz="1400">
                <a:solidFill>
                  <a:srgbClr val="2E2E38"/>
                </a:solidFill>
                <a:ea typeface="Calibri" pitchFamily="34" charset="-122"/>
                <a:cs typeface="Calibri" pitchFamily="34" charset="-120"/>
              </a:rPr>
              <a:t>Vector database readiness — an “Extended” NORTH pattern for RAG/semantic search; vendor not yet named.</a:t>
            </a:r>
            <a:endParaRPr lang="en-US" sz="1400"/>
          </a:p>
          <a:p>
            <a:pPr marL="177800" indent="-177800">
              <a:spcAft>
                <a:spcPts val="800"/>
              </a:spcAft>
              <a:buSzPct val="100000"/>
              <a:buChar char="•"/>
            </a:pPr>
            <a:r>
              <a:rPr lang="en-US" sz="1400">
                <a:solidFill>
                  <a:srgbClr val="2E2E38"/>
                </a:solidFill>
                <a:ea typeface="Calibri" pitchFamily="34" charset="-122"/>
                <a:cs typeface="Calibri" pitchFamily="34" charset="-120"/>
              </a:rPr>
              <a:t>CDC support — confirm which source engines (Oracle, MS SQL, DB2) support low-latency CDC today, and where gaps exist.</a:t>
            </a:r>
            <a:endParaRPr lang="en-US" sz="1400"/>
          </a:p>
          <a:p>
            <a:pPr marL="177800" indent="-177800">
              <a:spcAft>
                <a:spcPts val="800"/>
              </a:spcAft>
              <a:buSzPct val="100000"/>
              <a:buChar char="•"/>
            </a:pPr>
            <a:r>
              <a:rPr lang="en-US" sz="1400">
                <a:solidFill>
                  <a:srgbClr val="2E2E38"/>
                </a:solidFill>
                <a:ea typeface="Calibri" pitchFamily="34" charset="-122"/>
                <a:cs typeface="Calibri" pitchFamily="34" charset="-120"/>
              </a:rPr>
              <a:t>MDM hosting — NORTH's Master Data Management hub needs a technology home; confirm whether that's in this roadmap's scope or owned by the NORTH/Data team.</a:t>
            </a:r>
            <a:endParaRPr lang="en-US" sz="1400"/>
          </a:p>
          <a:p>
            <a:pPr marL="177800" indent="-177800">
              <a:spcAft>
                <a:spcPts val="800"/>
              </a:spcAft>
              <a:buSzPct val="100000"/>
              <a:buChar char="•"/>
            </a:pPr>
            <a:r>
              <a:rPr lang="en-US" sz="1400">
                <a:solidFill>
                  <a:srgbClr val="2E2E38"/>
                </a:solidFill>
                <a:ea typeface="Calibri" pitchFamily="34" charset="-122"/>
                <a:cs typeface="Calibri" pitchFamily="34" charset="-120"/>
              </a:rPr>
              <a:t>Governance alignment — NORTH's Authoritative Sources / Book of Record model should map cleanly onto this roadmap's Governance domain rather than creating a second standard.</a:t>
            </a:r>
            <a:endParaRPr lang="en-US" sz="1400"/>
          </a:p>
        </p:txBody>
      </p:sp>
    </p:spTree>
    <p:extLst>
      <p:ext uri="{BB962C8B-B14F-4D97-AF65-F5344CB8AC3E}">
        <p14:creationId xmlns:p14="http://schemas.microsoft.com/office/powerpoint/2010/main" val="3264944111"/>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9381F4-16D8-1E5E-9C77-BCB69BABA122}"/>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766DFD54-3062-FD92-FD28-5DAF4362862B}"/>
              </a:ext>
            </a:extLst>
          </p:cNvPr>
          <p:cNvSpPr txBox="1"/>
          <p:nvPr/>
        </p:nvSpPr>
        <p:spPr>
          <a:xfrm>
            <a:off x="4797136" y="2900795"/>
            <a:ext cx="2831523" cy="800219"/>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2600" b="1" baseline="0">
                <a:solidFill>
                  <a:srgbClr val="BA0C2F"/>
                </a:solidFill>
                <a:latin typeface="+mj-lt"/>
              </a:rPr>
              <a:t>Current State</a:t>
            </a:r>
            <a:r>
              <a:rPr sz="2600" b="1">
                <a:latin typeface="+mj-lt"/>
                <a:ea typeface="Arial"/>
                <a:cs typeface="Arial"/>
              </a:rPr>
              <a:t>​</a:t>
            </a:r>
            <a:endParaRPr lang="en-US" sz="2600" b="1">
              <a:latin typeface="+mj-lt"/>
            </a:endParaRPr>
          </a:p>
          <a:p>
            <a:pPr marL="228600" indent="-228600" algn="l">
              <a:spcAft>
                <a:spcPts val="500"/>
              </a:spcAft>
              <a:buFont typeface="Arial" panose="020B0604020202020204" pitchFamily="34" charset="0"/>
              <a:buChar char="•"/>
            </a:pPr>
            <a:endParaRPr lang="en-US" sz="2600" b="1">
              <a:latin typeface="+mj-lt"/>
            </a:endParaRPr>
          </a:p>
        </p:txBody>
      </p:sp>
    </p:spTree>
    <p:extLst>
      <p:ext uri="{BB962C8B-B14F-4D97-AF65-F5344CB8AC3E}">
        <p14:creationId xmlns:p14="http://schemas.microsoft.com/office/powerpoint/2010/main" val="1574948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45F8F-BB75-9EB5-8563-B412B7600005}"/>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3DFEED94-A0F2-3401-83C6-64FEC1355AD9}"/>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Enterprise Database Landscape</a:t>
            </a:r>
            <a:endParaRPr lang="en-US" sz="2600">
              <a:latin typeface="+mj-lt"/>
            </a:endParaRPr>
          </a:p>
        </p:txBody>
      </p:sp>
      <p:sp>
        <p:nvSpPr>
          <p:cNvPr id="4" name="Shape 7">
            <a:extLst>
              <a:ext uri="{FF2B5EF4-FFF2-40B4-BE49-F238E27FC236}">
                <a16:creationId xmlns:a16="http://schemas.microsoft.com/office/drawing/2014/main" id="{55C37CF0-8B75-729E-347E-16C46442D75B}"/>
              </a:ext>
            </a:extLst>
          </p:cNvPr>
          <p:cNvSpPr/>
          <p:nvPr/>
        </p:nvSpPr>
        <p:spPr>
          <a:xfrm>
            <a:off x="457200" y="1161288"/>
            <a:ext cx="5486400" cy="4160520"/>
          </a:xfrm>
          <a:prstGeom prst="roundRect">
            <a:avLst>
              <a:gd name="adj" fmla="val 1319"/>
            </a:avLst>
          </a:prstGeom>
          <a:solidFill>
            <a:srgbClr val="F2F2F2"/>
          </a:solidFill>
          <a:ln/>
          <a:effectLst>
            <a:outerShdw blurRad="50800" dist="25400" dir="5400000" algn="bl" rotWithShape="0">
              <a:srgbClr val="808080">
                <a:alpha val="20000"/>
              </a:srgbClr>
            </a:outerShdw>
          </a:effectLst>
        </p:spPr>
        <p:txBody>
          <a:bodyPr/>
          <a:lstStyle/>
          <a:p>
            <a:endParaRPr lang="en-US" sz="1000">
              <a:latin typeface="+mj-lt"/>
            </a:endParaRPr>
          </a:p>
        </p:txBody>
      </p:sp>
      <p:sp>
        <p:nvSpPr>
          <p:cNvPr id="6" name="Text 8">
            <a:extLst>
              <a:ext uri="{FF2B5EF4-FFF2-40B4-BE49-F238E27FC236}">
                <a16:creationId xmlns:a16="http://schemas.microsoft.com/office/drawing/2014/main" id="{0484579D-D4D9-2D33-369C-7F7AE4BDE4B8}"/>
              </a:ext>
            </a:extLst>
          </p:cNvPr>
          <p:cNvSpPr/>
          <p:nvPr/>
        </p:nvSpPr>
        <p:spPr>
          <a:xfrm>
            <a:off x="640080" y="1298448"/>
            <a:ext cx="5120640" cy="50292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MS SQL Server — the Estate's Largest Footprint</a:t>
            </a:r>
            <a:endParaRPr lang="en-US" sz="1200" dirty="0">
              <a:latin typeface="+mj-lt"/>
            </a:endParaRPr>
          </a:p>
        </p:txBody>
      </p:sp>
      <p:sp>
        <p:nvSpPr>
          <p:cNvPr id="8" name="Shape 9">
            <a:extLst>
              <a:ext uri="{FF2B5EF4-FFF2-40B4-BE49-F238E27FC236}">
                <a16:creationId xmlns:a16="http://schemas.microsoft.com/office/drawing/2014/main" id="{E3B1BA93-D5C3-F196-8ABC-D4A6D30B91D0}"/>
              </a:ext>
            </a:extLst>
          </p:cNvPr>
          <p:cNvSpPr/>
          <p:nvPr/>
        </p:nvSpPr>
        <p:spPr>
          <a:xfrm>
            <a:off x="640080" y="1892808"/>
            <a:ext cx="2555748" cy="237744"/>
          </a:xfrm>
          <a:prstGeom prst="roundRect">
            <a:avLst>
              <a:gd name="adj" fmla="val 50000"/>
            </a:avLst>
          </a:prstGeom>
          <a:solidFill>
            <a:srgbClr val="8C0924"/>
          </a:solidFill>
          <a:ln/>
        </p:spPr>
        <p:txBody>
          <a:bodyPr/>
          <a:lstStyle/>
          <a:p>
            <a:endParaRPr lang="en-US" sz="1000">
              <a:latin typeface="+mj-lt"/>
            </a:endParaRPr>
          </a:p>
        </p:txBody>
      </p:sp>
      <p:sp>
        <p:nvSpPr>
          <p:cNvPr id="10" name="Text 10">
            <a:extLst>
              <a:ext uri="{FF2B5EF4-FFF2-40B4-BE49-F238E27FC236}">
                <a16:creationId xmlns:a16="http://schemas.microsoft.com/office/drawing/2014/main" id="{F9D2279F-5255-F423-A783-0C6D1F02B5AA}"/>
              </a:ext>
            </a:extLst>
          </p:cNvPr>
          <p:cNvSpPr/>
          <p:nvPr/>
        </p:nvSpPr>
        <p:spPr>
          <a:xfrm>
            <a:off x="640080" y="1892808"/>
            <a:ext cx="2555748" cy="237744"/>
          </a:xfrm>
          <a:prstGeom prst="rect">
            <a:avLst/>
          </a:prstGeom>
          <a:noFill/>
          <a:ln/>
        </p:spPr>
        <p:txBody>
          <a:bodyPr wrap="square" rtlCol="0" anchor="ctr"/>
          <a:lstStyle/>
          <a:p>
            <a:pPr marL="0" indent="0" algn="ctr">
              <a:buNone/>
            </a:pPr>
            <a:r>
              <a:rPr lang="en-US" sz="1000" b="1" dirty="0">
                <a:solidFill>
                  <a:srgbClr val="FFFFFF"/>
                </a:solidFill>
                <a:latin typeface="+mj-lt"/>
                <a:ea typeface="Calibri" pitchFamily="34" charset="-122"/>
                <a:cs typeface="Calibri" pitchFamily="34" charset="-120"/>
              </a:rPr>
              <a:t>On-Prem (dedicated VM clusters)</a:t>
            </a:r>
            <a:endParaRPr lang="en-US" sz="1000" dirty="0">
              <a:latin typeface="+mj-lt"/>
            </a:endParaRPr>
          </a:p>
        </p:txBody>
      </p:sp>
      <p:sp>
        <p:nvSpPr>
          <p:cNvPr id="12" name="Text 11">
            <a:extLst>
              <a:ext uri="{FF2B5EF4-FFF2-40B4-BE49-F238E27FC236}">
                <a16:creationId xmlns:a16="http://schemas.microsoft.com/office/drawing/2014/main" id="{9E475C59-9908-0E16-4776-5C3E2824E62D}"/>
              </a:ext>
            </a:extLst>
          </p:cNvPr>
          <p:cNvSpPr/>
          <p:nvPr/>
        </p:nvSpPr>
        <p:spPr>
          <a:xfrm>
            <a:off x="640080" y="2185416"/>
            <a:ext cx="5120640" cy="685800"/>
          </a:xfrm>
          <a:prstGeom prst="rect">
            <a:avLst/>
          </a:prstGeom>
          <a:noFill/>
          <a:ln/>
        </p:spPr>
        <p:txBody>
          <a:bodyPr wrap="square" rtlCol="0" anchor="t"/>
          <a:lstStyle/>
          <a:p>
            <a:pPr marL="0" indent="0">
              <a:buNone/>
            </a:pPr>
            <a:r>
              <a:rPr lang="en-US" sz="1000" dirty="0">
                <a:solidFill>
                  <a:srgbClr val="2E2E38"/>
                </a:solidFill>
                <a:latin typeface="+mj-lt"/>
                <a:ea typeface="Calibri" pitchFamily="34" charset="-122"/>
                <a:cs typeface="Calibri" pitchFamily="34" charset="-120"/>
              </a:rPr>
              <a:t>Unpreferred but persists beyond this roadmap's horizon — not a retirement target.</a:t>
            </a:r>
            <a:endParaRPr lang="en-US" sz="1000" dirty="0">
              <a:latin typeface="+mj-lt"/>
            </a:endParaRPr>
          </a:p>
        </p:txBody>
      </p:sp>
      <p:sp>
        <p:nvSpPr>
          <p:cNvPr id="14" name="Shape 12">
            <a:extLst>
              <a:ext uri="{FF2B5EF4-FFF2-40B4-BE49-F238E27FC236}">
                <a16:creationId xmlns:a16="http://schemas.microsoft.com/office/drawing/2014/main" id="{F0DF7325-3BC1-A453-8D17-96C94D1E224D}"/>
              </a:ext>
            </a:extLst>
          </p:cNvPr>
          <p:cNvSpPr/>
          <p:nvPr/>
        </p:nvSpPr>
        <p:spPr>
          <a:xfrm>
            <a:off x="640080" y="2944368"/>
            <a:ext cx="548640" cy="237744"/>
          </a:xfrm>
          <a:prstGeom prst="roundRect">
            <a:avLst>
              <a:gd name="adj" fmla="val 50000"/>
            </a:avLst>
          </a:prstGeom>
          <a:solidFill>
            <a:srgbClr val="8C0924"/>
          </a:solidFill>
          <a:ln/>
        </p:spPr>
        <p:txBody>
          <a:bodyPr/>
          <a:lstStyle/>
          <a:p>
            <a:endParaRPr lang="en-US" sz="1000">
              <a:latin typeface="+mj-lt"/>
            </a:endParaRPr>
          </a:p>
        </p:txBody>
      </p:sp>
      <p:sp>
        <p:nvSpPr>
          <p:cNvPr id="16" name="Text 13">
            <a:extLst>
              <a:ext uri="{FF2B5EF4-FFF2-40B4-BE49-F238E27FC236}">
                <a16:creationId xmlns:a16="http://schemas.microsoft.com/office/drawing/2014/main" id="{D0A1C442-EB0A-D8C5-1314-835A47931DB8}"/>
              </a:ext>
            </a:extLst>
          </p:cNvPr>
          <p:cNvSpPr/>
          <p:nvPr/>
        </p:nvSpPr>
        <p:spPr>
          <a:xfrm>
            <a:off x="640080" y="2944368"/>
            <a:ext cx="548640" cy="237744"/>
          </a:xfrm>
          <a:prstGeom prst="rect">
            <a:avLst/>
          </a:prstGeom>
          <a:noFill/>
          <a:ln/>
        </p:spPr>
        <p:txBody>
          <a:bodyPr wrap="square" rtlCol="0" anchor="ctr"/>
          <a:lstStyle/>
          <a:p>
            <a:pPr marL="0" indent="0" algn="ctr">
              <a:buNone/>
            </a:pPr>
            <a:r>
              <a:rPr lang="en-US" sz="1000" b="1" dirty="0">
                <a:solidFill>
                  <a:srgbClr val="FFFFFF"/>
                </a:solidFill>
                <a:latin typeface="+mj-lt"/>
                <a:ea typeface="Calibri" pitchFamily="34" charset="-122"/>
                <a:cs typeface="Calibri" pitchFamily="34" charset="-120"/>
              </a:rPr>
              <a:t>AWS</a:t>
            </a:r>
            <a:endParaRPr lang="en-US" sz="1000" dirty="0">
              <a:latin typeface="+mj-lt"/>
            </a:endParaRPr>
          </a:p>
        </p:txBody>
      </p:sp>
      <p:sp>
        <p:nvSpPr>
          <p:cNvPr id="18" name="Text 14">
            <a:extLst>
              <a:ext uri="{FF2B5EF4-FFF2-40B4-BE49-F238E27FC236}">
                <a16:creationId xmlns:a16="http://schemas.microsoft.com/office/drawing/2014/main" id="{3F355207-3130-1FF3-6899-9E93924207FB}"/>
              </a:ext>
            </a:extLst>
          </p:cNvPr>
          <p:cNvSpPr/>
          <p:nvPr/>
        </p:nvSpPr>
        <p:spPr>
          <a:xfrm>
            <a:off x="640080" y="3236976"/>
            <a:ext cx="5120640" cy="685800"/>
          </a:xfrm>
          <a:prstGeom prst="rect">
            <a:avLst/>
          </a:prstGeom>
          <a:noFill/>
          <a:ln/>
        </p:spPr>
        <p:txBody>
          <a:bodyPr wrap="square" rtlCol="0" anchor="t"/>
          <a:lstStyle/>
          <a:p>
            <a:pPr marL="0" indent="0">
              <a:buNone/>
            </a:pPr>
            <a:r>
              <a:rPr lang="en-US" sz="1000" dirty="0">
                <a:solidFill>
                  <a:srgbClr val="2E2E38"/>
                </a:solidFill>
                <a:latin typeface="+mj-lt"/>
                <a:ea typeface="Calibri" pitchFamily="34" charset="-122"/>
                <a:cs typeface="Calibri" pitchFamily="34" charset="-120"/>
              </a:rPr>
              <a:t>Cloud IaaS (self-installed on EC2) — retiring. Target: AWS RDS (managed).</a:t>
            </a:r>
            <a:endParaRPr lang="en-US" sz="1000" dirty="0">
              <a:latin typeface="+mj-lt"/>
            </a:endParaRPr>
          </a:p>
        </p:txBody>
      </p:sp>
      <p:sp>
        <p:nvSpPr>
          <p:cNvPr id="20" name="Shape 15">
            <a:extLst>
              <a:ext uri="{FF2B5EF4-FFF2-40B4-BE49-F238E27FC236}">
                <a16:creationId xmlns:a16="http://schemas.microsoft.com/office/drawing/2014/main" id="{8B22C1B8-20CD-348F-8135-23837CE93578}"/>
              </a:ext>
            </a:extLst>
          </p:cNvPr>
          <p:cNvSpPr/>
          <p:nvPr/>
        </p:nvSpPr>
        <p:spPr>
          <a:xfrm>
            <a:off x="640080" y="3995928"/>
            <a:ext cx="548640" cy="237744"/>
          </a:xfrm>
          <a:prstGeom prst="roundRect">
            <a:avLst>
              <a:gd name="adj" fmla="val 50000"/>
            </a:avLst>
          </a:prstGeom>
          <a:solidFill>
            <a:srgbClr val="8C0924"/>
          </a:solidFill>
          <a:ln/>
        </p:spPr>
        <p:txBody>
          <a:bodyPr/>
          <a:lstStyle/>
          <a:p>
            <a:endParaRPr lang="en-US" sz="1000">
              <a:latin typeface="+mj-lt"/>
            </a:endParaRPr>
          </a:p>
        </p:txBody>
      </p:sp>
      <p:sp>
        <p:nvSpPr>
          <p:cNvPr id="22" name="Text 16">
            <a:extLst>
              <a:ext uri="{FF2B5EF4-FFF2-40B4-BE49-F238E27FC236}">
                <a16:creationId xmlns:a16="http://schemas.microsoft.com/office/drawing/2014/main" id="{7C44702B-9A13-8069-8168-E0BFFE43E64C}"/>
              </a:ext>
            </a:extLst>
          </p:cNvPr>
          <p:cNvSpPr/>
          <p:nvPr/>
        </p:nvSpPr>
        <p:spPr>
          <a:xfrm>
            <a:off x="640080" y="3995928"/>
            <a:ext cx="548640" cy="237744"/>
          </a:xfrm>
          <a:prstGeom prst="rect">
            <a:avLst/>
          </a:prstGeom>
          <a:noFill/>
          <a:ln/>
        </p:spPr>
        <p:txBody>
          <a:bodyPr wrap="square" rtlCol="0" anchor="ctr"/>
          <a:lstStyle/>
          <a:p>
            <a:pPr marL="0" indent="0" algn="ctr">
              <a:buNone/>
            </a:pPr>
            <a:r>
              <a:rPr lang="en-US" sz="1000" b="1" dirty="0">
                <a:solidFill>
                  <a:srgbClr val="FFFFFF"/>
                </a:solidFill>
                <a:latin typeface="+mj-lt"/>
                <a:ea typeface="Calibri" pitchFamily="34" charset="-122"/>
                <a:cs typeface="Calibri" pitchFamily="34" charset="-120"/>
              </a:rPr>
              <a:t>Azure</a:t>
            </a:r>
            <a:endParaRPr lang="en-US" sz="1000" dirty="0">
              <a:latin typeface="+mj-lt"/>
            </a:endParaRPr>
          </a:p>
        </p:txBody>
      </p:sp>
      <p:sp>
        <p:nvSpPr>
          <p:cNvPr id="24" name="Text 17">
            <a:extLst>
              <a:ext uri="{FF2B5EF4-FFF2-40B4-BE49-F238E27FC236}">
                <a16:creationId xmlns:a16="http://schemas.microsoft.com/office/drawing/2014/main" id="{D558B87D-23AD-8AC4-0059-E82E56A4A172}"/>
              </a:ext>
            </a:extLst>
          </p:cNvPr>
          <p:cNvSpPr/>
          <p:nvPr/>
        </p:nvSpPr>
        <p:spPr>
          <a:xfrm>
            <a:off x="640080" y="4288536"/>
            <a:ext cx="5120640" cy="685800"/>
          </a:xfrm>
          <a:prstGeom prst="rect">
            <a:avLst/>
          </a:prstGeom>
          <a:noFill/>
          <a:ln/>
        </p:spPr>
        <p:txBody>
          <a:bodyPr wrap="square" rtlCol="0" anchor="t"/>
          <a:lstStyle/>
          <a:p>
            <a:pPr marL="0" indent="0">
              <a:buNone/>
            </a:pPr>
            <a:r>
              <a:rPr lang="en-US" sz="1000" dirty="0">
                <a:solidFill>
                  <a:srgbClr val="2E2E38"/>
                </a:solidFill>
                <a:latin typeface="+mj-lt"/>
                <a:ea typeface="Calibri" pitchFamily="34" charset="-122"/>
                <a:cs typeface="Calibri" pitchFamily="34" charset="-120"/>
              </a:rPr>
              <a:t>Cloud IaaS across three flavours (VM, SQL Database, SQL Logical Server) — retiring. Target: Azure SQL Managed Instance (PaaS).</a:t>
            </a:r>
            <a:endParaRPr lang="en-US" sz="1000" dirty="0">
              <a:latin typeface="+mj-lt"/>
            </a:endParaRPr>
          </a:p>
        </p:txBody>
      </p:sp>
      <p:sp>
        <p:nvSpPr>
          <p:cNvPr id="26" name="Text 18">
            <a:extLst>
              <a:ext uri="{FF2B5EF4-FFF2-40B4-BE49-F238E27FC236}">
                <a16:creationId xmlns:a16="http://schemas.microsoft.com/office/drawing/2014/main" id="{82717548-15BD-94B3-6444-4409A1B23E36}"/>
              </a:ext>
            </a:extLst>
          </p:cNvPr>
          <p:cNvSpPr/>
          <p:nvPr/>
        </p:nvSpPr>
        <p:spPr>
          <a:xfrm>
            <a:off x="640080" y="5001768"/>
            <a:ext cx="5120640" cy="457200"/>
          </a:xfrm>
          <a:prstGeom prst="rect">
            <a:avLst/>
          </a:prstGeom>
          <a:noFill/>
          <a:ln/>
        </p:spPr>
        <p:txBody>
          <a:bodyPr wrap="square" rtlCol="0" anchor="ctr"/>
          <a:lstStyle/>
          <a:p>
            <a:pPr marL="0" indent="0">
              <a:buNone/>
            </a:pPr>
            <a:r>
              <a:rPr lang="en-US" sz="1000" i="1" dirty="0">
                <a:solidFill>
                  <a:srgbClr val="8C0924"/>
                </a:solidFill>
                <a:latin typeface="+mj-lt"/>
                <a:ea typeface="Calibri" pitchFamily="34" charset="-122"/>
                <a:cs typeface="Calibri" pitchFamily="34" charset="-120"/>
              </a:rPr>
              <a:t>Target version: SQL Server 2025 (max general support + AI-compatible datatypes).</a:t>
            </a:r>
            <a:endParaRPr lang="en-US" sz="1000" dirty="0">
              <a:latin typeface="+mj-lt"/>
            </a:endParaRPr>
          </a:p>
        </p:txBody>
      </p:sp>
      <p:sp>
        <p:nvSpPr>
          <p:cNvPr id="28" name="Shape 19">
            <a:extLst>
              <a:ext uri="{FF2B5EF4-FFF2-40B4-BE49-F238E27FC236}">
                <a16:creationId xmlns:a16="http://schemas.microsoft.com/office/drawing/2014/main" id="{71FBB1F0-BDD5-9FE2-EA31-930D27C28FE5}"/>
              </a:ext>
            </a:extLst>
          </p:cNvPr>
          <p:cNvSpPr/>
          <p:nvPr/>
        </p:nvSpPr>
        <p:spPr>
          <a:xfrm>
            <a:off x="6172200" y="1161288"/>
            <a:ext cx="5577840" cy="1371600"/>
          </a:xfrm>
          <a:prstGeom prst="roundRect">
            <a:avLst>
              <a:gd name="adj" fmla="val 4000"/>
            </a:avLst>
          </a:prstGeom>
          <a:solidFill>
            <a:srgbClr val="FFFFFF"/>
          </a:solidFill>
          <a:ln/>
          <a:effectLst>
            <a:outerShdw blurRad="50800" dist="25400" dir="5400000" algn="bl" rotWithShape="0">
              <a:srgbClr val="808080">
                <a:alpha val="20000"/>
              </a:srgbClr>
            </a:outerShdw>
          </a:effectLst>
        </p:spPr>
        <p:txBody>
          <a:bodyPr/>
          <a:lstStyle/>
          <a:p>
            <a:endParaRPr lang="en-US" sz="1000">
              <a:latin typeface="+mj-lt"/>
            </a:endParaRPr>
          </a:p>
        </p:txBody>
      </p:sp>
      <p:sp>
        <p:nvSpPr>
          <p:cNvPr id="30" name="Text 20">
            <a:extLst>
              <a:ext uri="{FF2B5EF4-FFF2-40B4-BE49-F238E27FC236}">
                <a16:creationId xmlns:a16="http://schemas.microsoft.com/office/drawing/2014/main" id="{F81BC742-F1A9-CE39-FCF4-4BABCED6BCD7}"/>
              </a:ext>
            </a:extLst>
          </p:cNvPr>
          <p:cNvSpPr/>
          <p:nvPr/>
        </p:nvSpPr>
        <p:spPr>
          <a:xfrm>
            <a:off x="6355080" y="1252728"/>
            <a:ext cx="5212080" cy="27432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Oracle — Medium–Large Critical Workloads</a:t>
            </a:r>
            <a:endParaRPr lang="en-US" sz="1200" dirty="0">
              <a:latin typeface="+mj-lt"/>
            </a:endParaRPr>
          </a:p>
        </p:txBody>
      </p:sp>
      <p:sp>
        <p:nvSpPr>
          <p:cNvPr id="32" name="Text 21">
            <a:extLst>
              <a:ext uri="{FF2B5EF4-FFF2-40B4-BE49-F238E27FC236}">
                <a16:creationId xmlns:a16="http://schemas.microsoft.com/office/drawing/2014/main" id="{F4A1E9BD-53CD-03B0-5845-27A265178F96}"/>
              </a:ext>
            </a:extLst>
          </p:cNvPr>
          <p:cNvSpPr/>
          <p:nvPr/>
        </p:nvSpPr>
        <p:spPr>
          <a:xfrm>
            <a:off x="6355080" y="1554480"/>
            <a:ext cx="5212080" cy="914400"/>
          </a:xfrm>
          <a:prstGeom prst="rect">
            <a:avLst/>
          </a:prstGeom>
          <a:noFill/>
          <a:ln/>
        </p:spPr>
        <p:txBody>
          <a:bodyPr wrap="square" rtlCol="0" anchor="t"/>
          <a:lstStyle/>
          <a:p>
            <a:pPr marL="177800" indent="-177800">
              <a:spcAft>
                <a:spcPts val="800"/>
              </a:spcAft>
              <a:buSzPct val="100000"/>
              <a:buChar char="•"/>
            </a:pPr>
            <a:r>
              <a:rPr lang="en-US" sz="1000" dirty="0">
                <a:solidFill>
                  <a:srgbClr val="2E2E38"/>
                </a:solidFill>
                <a:latin typeface="+mj-lt"/>
                <a:ea typeface="Calibri" pitchFamily="34" charset="-122"/>
                <a:cs typeface="Calibri" pitchFamily="34" charset="-120"/>
              </a:rPr>
              <a:t>On-prem + Exadata Cloud @ Customer, migrating to Exa@Azure — workload wave Q4 2026 (CONFIRMED).</a:t>
            </a:r>
            <a:endParaRPr lang="en-US" sz="1000" dirty="0">
              <a:latin typeface="+mj-lt"/>
            </a:endParaRPr>
          </a:p>
          <a:p>
            <a:pPr marL="177800" indent="-177800">
              <a:spcAft>
                <a:spcPts val="800"/>
              </a:spcAft>
              <a:buSzPct val="100000"/>
              <a:buChar char="•"/>
            </a:pPr>
            <a:r>
              <a:rPr lang="en-US" sz="1000" dirty="0">
                <a:solidFill>
                  <a:srgbClr val="2E2E38"/>
                </a:solidFill>
                <a:latin typeface="+mj-lt"/>
                <a:ea typeface="Calibri" pitchFamily="34" charset="-122"/>
                <a:cs typeface="Calibri" pitchFamily="34" charset="-120"/>
              </a:rPr>
              <a:t>All licensing included in Exa@Azure; 19c supported to 2033 — no forced move.</a:t>
            </a:r>
            <a:endParaRPr lang="en-US" sz="1000" dirty="0">
              <a:latin typeface="+mj-lt"/>
            </a:endParaRPr>
          </a:p>
        </p:txBody>
      </p:sp>
      <p:sp>
        <p:nvSpPr>
          <p:cNvPr id="34" name="Shape 22">
            <a:extLst>
              <a:ext uri="{FF2B5EF4-FFF2-40B4-BE49-F238E27FC236}">
                <a16:creationId xmlns:a16="http://schemas.microsoft.com/office/drawing/2014/main" id="{5B06858F-9533-C221-61EF-EB950F862C73}"/>
              </a:ext>
            </a:extLst>
          </p:cNvPr>
          <p:cNvSpPr/>
          <p:nvPr/>
        </p:nvSpPr>
        <p:spPr>
          <a:xfrm>
            <a:off x="6172200" y="2624328"/>
            <a:ext cx="5577840" cy="1371600"/>
          </a:xfrm>
          <a:prstGeom prst="roundRect">
            <a:avLst>
              <a:gd name="adj" fmla="val 4000"/>
            </a:avLst>
          </a:prstGeom>
          <a:solidFill>
            <a:srgbClr val="FFFFFF"/>
          </a:solidFill>
          <a:ln/>
          <a:effectLst>
            <a:outerShdw blurRad="50800" dist="25400" dir="5400000" algn="bl" rotWithShape="0">
              <a:srgbClr val="808080">
                <a:alpha val="20000"/>
              </a:srgbClr>
            </a:outerShdw>
          </a:effectLst>
        </p:spPr>
        <p:txBody>
          <a:bodyPr/>
          <a:lstStyle/>
          <a:p>
            <a:endParaRPr lang="en-US" sz="1000">
              <a:latin typeface="+mj-lt"/>
            </a:endParaRPr>
          </a:p>
        </p:txBody>
      </p:sp>
      <p:sp>
        <p:nvSpPr>
          <p:cNvPr id="36" name="Text 23">
            <a:extLst>
              <a:ext uri="{FF2B5EF4-FFF2-40B4-BE49-F238E27FC236}">
                <a16:creationId xmlns:a16="http://schemas.microsoft.com/office/drawing/2014/main" id="{106BEC84-671E-0641-A5AF-7BFC1465E410}"/>
              </a:ext>
            </a:extLst>
          </p:cNvPr>
          <p:cNvSpPr/>
          <p:nvPr/>
        </p:nvSpPr>
        <p:spPr>
          <a:xfrm>
            <a:off x="6355080" y="2715768"/>
            <a:ext cx="5212080" cy="27432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IBM DB2 — In Containment</a:t>
            </a:r>
            <a:endParaRPr lang="en-US" sz="1200" dirty="0">
              <a:latin typeface="+mj-lt"/>
            </a:endParaRPr>
          </a:p>
        </p:txBody>
      </p:sp>
      <p:sp>
        <p:nvSpPr>
          <p:cNvPr id="38" name="Text 24">
            <a:extLst>
              <a:ext uri="{FF2B5EF4-FFF2-40B4-BE49-F238E27FC236}">
                <a16:creationId xmlns:a16="http://schemas.microsoft.com/office/drawing/2014/main" id="{8E5B870E-6F99-F4D0-7178-E8DF6B9A3F01}"/>
              </a:ext>
            </a:extLst>
          </p:cNvPr>
          <p:cNvSpPr/>
          <p:nvPr/>
        </p:nvSpPr>
        <p:spPr>
          <a:xfrm>
            <a:off x="6355080" y="3017520"/>
            <a:ext cx="5212080" cy="914400"/>
          </a:xfrm>
          <a:prstGeom prst="rect">
            <a:avLst/>
          </a:prstGeom>
          <a:noFill/>
          <a:ln/>
        </p:spPr>
        <p:txBody>
          <a:bodyPr wrap="square" rtlCol="0" anchor="t"/>
          <a:lstStyle/>
          <a:p>
            <a:pPr marL="177800" indent="-177800">
              <a:spcAft>
                <a:spcPts val="800"/>
              </a:spcAft>
              <a:buSzPct val="100000"/>
              <a:buChar char="•"/>
            </a:pPr>
            <a:r>
              <a:rPr lang="en-US" sz="1000" dirty="0">
                <a:solidFill>
                  <a:srgbClr val="2E2E38"/>
                </a:solidFill>
                <a:latin typeface="+mj-lt"/>
                <a:ea typeface="Calibri" pitchFamily="34" charset="-122"/>
                <a:cs typeface="Calibri" pitchFamily="34" charset="-120"/>
              </a:rPr>
              <a:t>On-prem, AIX/Linux; ~10 years in containment. One non-standard AWS EC2 exception (FileNet replacement) — not an enterprise pattern.</a:t>
            </a:r>
            <a:endParaRPr lang="en-US" sz="1000" dirty="0">
              <a:latin typeface="+mj-lt"/>
            </a:endParaRPr>
          </a:p>
          <a:p>
            <a:pPr marL="177800" indent="-177800">
              <a:spcAft>
                <a:spcPts val="800"/>
              </a:spcAft>
              <a:buSzPct val="100000"/>
              <a:buChar char="•"/>
            </a:pPr>
            <a:r>
              <a:rPr lang="en-US" sz="1000" dirty="0">
                <a:solidFill>
                  <a:srgbClr val="2E2E38"/>
                </a:solidFill>
                <a:latin typeface="+mj-lt"/>
                <a:ea typeface="Calibri" pitchFamily="34" charset="-122"/>
                <a:cs typeface="Calibri" pitchFamily="34" charset="-120"/>
              </a:rPr>
              <a:t>Clearest cost outlier in the estate — roughly 10x the MS SQL rate.</a:t>
            </a:r>
            <a:endParaRPr lang="en-US" sz="1000" dirty="0">
              <a:latin typeface="+mj-lt"/>
            </a:endParaRPr>
          </a:p>
        </p:txBody>
      </p:sp>
      <p:sp>
        <p:nvSpPr>
          <p:cNvPr id="40" name="Shape 25">
            <a:extLst>
              <a:ext uri="{FF2B5EF4-FFF2-40B4-BE49-F238E27FC236}">
                <a16:creationId xmlns:a16="http://schemas.microsoft.com/office/drawing/2014/main" id="{FB1FD31D-D81B-5698-B3DC-A5BC6B88B466}"/>
              </a:ext>
            </a:extLst>
          </p:cNvPr>
          <p:cNvSpPr/>
          <p:nvPr/>
        </p:nvSpPr>
        <p:spPr>
          <a:xfrm>
            <a:off x="6172200" y="4087368"/>
            <a:ext cx="5577840" cy="1234440"/>
          </a:xfrm>
          <a:prstGeom prst="roundRect">
            <a:avLst>
              <a:gd name="adj" fmla="val 4444"/>
            </a:avLst>
          </a:prstGeom>
          <a:solidFill>
            <a:srgbClr val="FFFFFF"/>
          </a:solidFill>
          <a:ln/>
          <a:effectLst>
            <a:outerShdw blurRad="50800" dist="25400" dir="5400000" algn="bl" rotWithShape="0">
              <a:srgbClr val="808080">
                <a:alpha val="20000"/>
              </a:srgbClr>
            </a:outerShdw>
          </a:effectLst>
        </p:spPr>
        <p:txBody>
          <a:bodyPr/>
          <a:lstStyle/>
          <a:p>
            <a:endParaRPr lang="en-US" sz="1000">
              <a:latin typeface="+mj-lt"/>
            </a:endParaRPr>
          </a:p>
        </p:txBody>
      </p:sp>
      <p:sp>
        <p:nvSpPr>
          <p:cNvPr id="42" name="Text 26">
            <a:extLst>
              <a:ext uri="{FF2B5EF4-FFF2-40B4-BE49-F238E27FC236}">
                <a16:creationId xmlns:a16="http://schemas.microsoft.com/office/drawing/2014/main" id="{0D575CD7-5998-869B-9622-34D628E0206E}"/>
              </a:ext>
            </a:extLst>
          </p:cNvPr>
          <p:cNvSpPr/>
          <p:nvPr/>
        </p:nvSpPr>
        <p:spPr>
          <a:xfrm>
            <a:off x="6355080" y="4178808"/>
            <a:ext cx="5212080" cy="27432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MongoDB &amp; PostgreSQL — NoSQL / Open-Source Relational</a:t>
            </a:r>
            <a:endParaRPr lang="en-US" sz="1200" dirty="0">
              <a:latin typeface="+mj-lt"/>
            </a:endParaRPr>
          </a:p>
        </p:txBody>
      </p:sp>
      <p:sp>
        <p:nvSpPr>
          <p:cNvPr id="44" name="Text 27">
            <a:extLst>
              <a:ext uri="{FF2B5EF4-FFF2-40B4-BE49-F238E27FC236}">
                <a16:creationId xmlns:a16="http://schemas.microsoft.com/office/drawing/2014/main" id="{6C15CF8D-FCE6-F305-1120-8062689CA1FB}"/>
              </a:ext>
            </a:extLst>
          </p:cNvPr>
          <p:cNvSpPr/>
          <p:nvPr/>
        </p:nvSpPr>
        <p:spPr>
          <a:xfrm>
            <a:off x="6355080" y="4480560"/>
            <a:ext cx="5212080" cy="640080"/>
          </a:xfrm>
          <a:prstGeom prst="rect">
            <a:avLst/>
          </a:prstGeom>
          <a:noFill/>
          <a:ln/>
        </p:spPr>
        <p:txBody>
          <a:bodyPr wrap="square" rtlCol="0" anchor="t"/>
          <a:lstStyle/>
          <a:p>
            <a:pPr marL="177800" indent="-177800">
              <a:spcAft>
                <a:spcPts val="800"/>
              </a:spcAft>
              <a:buSzPct val="100000"/>
              <a:buChar char="•"/>
            </a:pPr>
            <a:r>
              <a:rPr lang="en-US" sz="1000" dirty="0">
                <a:solidFill>
                  <a:srgbClr val="2E2E38"/>
                </a:solidFill>
                <a:latin typeface="+mj-lt"/>
                <a:ea typeface="Calibri" pitchFamily="34" charset="-122"/>
                <a:cs typeface="Calibri" pitchFamily="34" charset="-120"/>
              </a:rPr>
              <a:t>MongoDB Atlas — active, self-service across AWS, Azure &amp; GCP.</a:t>
            </a:r>
            <a:endParaRPr lang="en-US" sz="1000" dirty="0">
              <a:latin typeface="+mj-lt"/>
            </a:endParaRPr>
          </a:p>
          <a:p>
            <a:pPr marL="177800" indent="-177800">
              <a:spcAft>
                <a:spcPts val="800"/>
              </a:spcAft>
              <a:buSzPct val="100000"/>
              <a:buChar char="•"/>
            </a:pPr>
            <a:r>
              <a:rPr lang="en-US" sz="1000" dirty="0">
                <a:solidFill>
                  <a:srgbClr val="2E2E38"/>
                </a:solidFill>
                <a:latin typeface="+mj-lt"/>
                <a:ea typeface="Calibri" pitchFamily="34" charset="-122"/>
                <a:cs typeface="Calibri" pitchFamily="34" charset="-120"/>
              </a:rPr>
              <a:t>PostgreSQL on AWS RDS — active, self-service (Canada Central only).</a:t>
            </a:r>
            <a:endParaRPr lang="en-US" sz="1000" dirty="0">
              <a:latin typeface="+mj-lt"/>
            </a:endParaRPr>
          </a:p>
        </p:txBody>
      </p:sp>
      <p:sp>
        <p:nvSpPr>
          <p:cNvPr id="46" name="Text 28">
            <a:extLst>
              <a:ext uri="{FF2B5EF4-FFF2-40B4-BE49-F238E27FC236}">
                <a16:creationId xmlns:a16="http://schemas.microsoft.com/office/drawing/2014/main" id="{92CC8F0C-60E8-3646-4FD5-17EE76C38173}"/>
              </a:ext>
            </a:extLst>
          </p:cNvPr>
          <p:cNvSpPr/>
          <p:nvPr/>
        </p:nvSpPr>
        <p:spPr>
          <a:xfrm>
            <a:off x="6355080" y="5093208"/>
            <a:ext cx="5212080" cy="228600"/>
          </a:xfrm>
          <a:prstGeom prst="rect">
            <a:avLst/>
          </a:prstGeom>
          <a:noFill/>
          <a:ln/>
        </p:spPr>
        <p:txBody>
          <a:bodyPr wrap="square" rtlCol="0" anchor="ctr"/>
          <a:lstStyle/>
          <a:p>
            <a:pPr marL="0" indent="0">
              <a:buNone/>
            </a:pPr>
            <a:r>
              <a:rPr lang="en-US" sz="1000" i="1" dirty="0">
                <a:solidFill>
                  <a:srgbClr val="747480"/>
                </a:solidFill>
                <a:latin typeface="+mj-lt"/>
                <a:ea typeface="Calibri" pitchFamily="34" charset="-122"/>
                <a:cs typeface="Calibri" pitchFamily="34" charset="-120"/>
              </a:rPr>
              <a:t>Placement direction still to be unified across Atlas / RDS / 26ai-native / graph-vector.</a:t>
            </a:r>
            <a:endParaRPr lang="en-US" sz="1000" dirty="0">
              <a:latin typeface="+mj-lt"/>
            </a:endParaRPr>
          </a:p>
        </p:txBody>
      </p:sp>
      <p:sp>
        <p:nvSpPr>
          <p:cNvPr id="48" name="Shape 29">
            <a:extLst>
              <a:ext uri="{FF2B5EF4-FFF2-40B4-BE49-F238E27FC236}">
                <a16:creationId xmlns:a16="http://schemas.microsoft.com/office/drawing/2014/main" id="{8DBFB3AB-1D20-1A82-B99C-6C4FC613813F}"/>
              </a:ext>
            </a:extLst>
          </p:cNvPr>
          <p:cNvSpPr/>
          <p:nvPr/>
        </p:nvSpPr>
        <p:spPr>
          <a:xfrm>
            <a:off x="457200" y="5458968"/>
            <a:ext cx="11292840" cy="621792"/>
          </a:xfrm>
          <a:prstGeom prst="roundRect">
            <a:avLst>
              <a:gd name="adj" fmla="val 8824"/>
            </a:avLst>
          </a:prstGeom>
          <a:solidFill>
            <a:srgbClr val="F0CCD2"/>
          </a:solidFill>
          <a:ln/>
          <a:effectLst>
            <a:outerShdw blurRad="50800" dist="25400" dir="5400000" algn="bl" rotWithShape="0">
              <a:srgbClr val="808080">
                <a:alpha val="20000"/>
              </a:srgbClr>
            </a:outerShdw>
          </a:effectLst>
        </p:spPr>
        <p:txBody>
          <a:bodyPr/>
          <a:lstStyle/>
          <a:p>
            <a:endParaRPr lang="en-US" sz="1000">
              <a:latin typeface="+mj-lt"/>
            </a:endParaRPr>
          </a:p>
        </p:txBody>
      </p:sp>
      <p:sp>
        <p:nvSpPr>
          <p:cNvPr id="50" name="Text 30">
            <a:extLst>
              <a:ext uri="{FF2B5EF4-FFF2-40B4-BE49-F238E27FC236}">
                <a16:creationId xmlns:a16="http://schemas.microsoft.com/office/drawing/2014/main" id="{222B148C-BE87-BAE9-87CA-2E6B147414E7}"/>
              </a:ext>
            </a:extLst>
          </p:cNvPr>
          <p:cNvSpPr/>
          <p:nvPr/>
        </p:nvSpPr>
        <p:spPr>
          <a:xfrm>
            <a:off x="640080" y="5458968"/>
            <a:ext cx="10927080" cy="621792"/>
          </a:xfrm>
          <a:prstGeom prst="rect">
            <a:avLst/>
          </a:prstGeom>
          <a:noFill/>
          <a:ln/>
        </p:spPr>
        <p:txBody>
          <a:bodyPr wrap="square" rtlCol="0" anchor="ctr"/>
          <a:lstStyle/>
          <a:p>
            <a:pPr marL="0" indent="0">
              <a:buNone/>
            </a:pPr>
            <a:r>
              <a:rPr lang="en-US" sz="1000" b="1" dirty="0">
                <a:solidFill>
                  <a:srgbClr val="8C0924"/>
                </a:solidFill>
                <a:latin typeface="+mj-lt"/>
                <a:ea typeface="Calibri" pitchFamily="34" charset="-122"/>
                <a:cs typeface="Calibri" pitchFamily="34" charset="-120"/>
              </a:rPr>
              <a:t>Operating Model &amp; Cost Snapshot:  </a:t>
            </a:r>
            <a:r>
              <a:rPr lang="en-US" sz="1000" dirty="0">
                <a:solidFill>
                  <a:srgbClr val="2E2E38"/>
                </a:solidFill>
                <a:latin typeface="+mj-lt"/>
                <a:ea typeface="Calibri" pitchFamily="34" charset="-122"/>
                <a:cs typeface="Calibri" pitchFamily="34" charset="-120"/>
              </a:rPr>
              <a:t>HCL-managed, 24/7 L1–L3  ·  Oracle ≈$150/instance/mo · MS SQL ≈$55/CPU/mo · DB2 ≈$555/CPU/mo (outlier) · Exadata C@C ≈$1/GB/</a:t>
            </a:r>
            <a:r>
              <a:rPr lang="en-US" sz="1000" dirty="0" err="1">
                <a:solidFill>
                  <a:srgbClr val="2E2E38"/>
                </a:solidFill>
                <a:latin typeface="+mj-lt"/>
                <a:ea typeface="Calibri" pitchFamily="34" charset="-122"/>
                <a:cs typeface="Calibri" pitchFamily="34" charset="-120"/>
              </a:rPr>
              <a:t>mo</a:t>
            </a:r>
            <a:r>
              <a:rPr lang="en-US" sz="1000" dirty="0">
                <a:solidFill>
                  <a:srgbClr val="2E2E38"/>
                </a:solidFill>
                <a:latin typeface="+mj-lt"/>
                <a:ea typeface="Calibri" pitchFamily="34" charset="-122"/>
                <a:cs typeface="Calibri" pitchFamily="34" charset="-120"/>
              </a:rPr>
              <a:t> </a:t>
            </a:r>
          </a:p>
          <a:p>
            <a:pPr marL="0" indent="0">
              <a:buNone/>
            </a:pPr>
            <a:r>
              <a:rPr lang="en-US" sz="1000" dirty="0">
                <a:solidFill>
                  <a:srgbClr val="2E2E38"/>
                </a:solidFill>
                <a:latin typeface="+mj-lt"/>
                <a:ea typeface="Calibri" pitchFamily="34" charset="-122"/>
                <a:cs typeface="Calibri" pitchFamily="34" charset="-120"/>
              </a:rPr>
              <a:t> ·  SLA 99.5%, RPO/RTO ≤24h–96h</a:t>
            </a:r>
            <a:endParaRPr lang="en-US" sz="1000" dirty="0">
              <a:latin typeface="+mj-lt"/>
            </a:endParaRPr>
          </a:p>
        </p:txBody>
      </p:sp>
    </p:spTree>
    <p:extLst>
      <p:ext uri="{BB962C8B-B14F-4D97-AF65-F5344CB8AC3E}">
        <p14:creationId xmlns:p14="http://schemas.microsoft.com/office/powerpoint/2010/main" val="238119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EC808-0324-BED6-8E60-85ECFD968784}"/>
            </a:ext>
          </a:extLst>
        </p:cNvPr>
        <p:cNvGrpSpPr/>
        <p:nvPr/>
      </p:nvGrpSpPr>
      <p:grpSpPr>
        <a:xfrm>
          <a:off x="0" y="0"/>
          <a:ext cx="0" cy="0"/>
          <a:chOff x="0" y="0"/>
          <a:chExt cx="0" cy="0"/>
        </a:xfrm>
      </p:grpSpPr>
      <p:sp>
        <p:nvSpPr>
          <p:cNvPr id="4" name="Text 4">
            <a:extLst>
              <a:ext uri="{FF2B5EF4-FFF2-40B4-BE49-F238E27FC236}">
                <a16:creationId xmlns:a16="http://schemas.microsoft.com/office/drawing/2014/main" id="{A8766698-593E-B17B-9908-F21047F38F6E}"/>
              </a:ext>
            </a:extLst>
          </p:cNvPr>
          <p:cNvSpPr/>
          <p:nvPr/>
        </p:nvSpPr>
        <p:spPr>
          <a:xfrm>
            <a:off x="457200" y="384048"/>
            <a:ext cx="11419087" cy="640080"/>
          </a:xfrm>
          <a:prstGeom prst="rect">
            <a:avLst/>
          </a:prstGeom>
          <a:noFill/>
          <a:ln/>
        </p:spPr>
        <p:txBody>
          <a:bodyPr wrap="square" lIns="91440" tIns="45720" rIns="91440" bIns="45720" rtlCol="0" anchor="ctr"/>
          <a:lstStyle/>
          <a:p>
            <a:r>
              <a:rPr lang="en-US" sz="2600" b="1" dirty="0">
                <a:solidFill>
                  <a:srgbClr val="BA0C2F"/>
                </a:solidFill>
                <a:latin typeface="+mj-lt"/>
                <a:ea typeface="Calibri"/>
                <a:cs typeface="Arial"/>
              </a:rPr>
              <a:t>Database Maturity Model – 8 Dimensions</a:t>
            </a:r>
            <a:r>
              <a:rPr lang="en-US" dirty="0">
                <a:latin typeface="+mj-lt"/>
              </a:rPr>
              <a:t> </a:t>
            </a:r>
          </a:p>
          <a:p>
            <a:r>
              <a:rPr lang="en-US" sz="1200" b="1" dirty="0">
                <a:solidFill>
                  <a:srgbClr val="BA0C2F"/>
                </a:solidFill>
                <a:latin typeface="Arial"/>
                <a:ea typeface="Calibri"/>
                <a:cs typeface="Arial"/>
              </a:rPr>
              <a:t>Baselined on the Enterprise Cloud Maturity Model (1-5 Scale, INITIAL </a:t>
            </a:r>
            <a:r>
              <a:rPr lang="en-US" sz="1200" b="1" kern="0" spc="100" dirty="0">
                <a:solidFill>
                  <a:srgbClr val="C00000"/>
                </a:solidFill>
                <a:latin typeface="Calibri" pitchFamily="34" charset="0"/>
                <a:ea typeface="Calibri" pitchFamily="34" charset="-122"/>
                <a:cs typeface="Calibri" pitchFamily="34" charset="-120"/>
              </a:rPr>
              <a:t>→</a:t>
            </a:r>
            <a:r>
              <a:rPr lang="en-US" sz="1200" b="1" dirty="0">
                <a:solidFill>
                  <a:srgbClr val="BA0C2F"/>
                </a:solidFill>
                <a:latin typeface="Arial"/>
                <a:ea typeface="Calibri"/>
                <a:cs typeface="Arial"/>
              </a:rPr>
              <a:t> OPTIMIZED)</a:t>
            </a:r>
          </a:p>
        </p:txBody>
      </p:sp>
      <p:graphicFrame>
        <p:nvGraphicFramePr>
          <p:cNvPr id="3" name="Table 0">
            <a:extLst>
              <a:ext uri="{FF2B5EF4-FFF2-40B4-BE49-F238E27FC236}">
                <a16:creationId xmlns:a16="http://schemas.microsoft.com/office/drawing/2014/main" id="{09F72D1F-66AC-1D87-D1DC-F26725D7A286}"/>
              </a:ext>
            </a:extLst>
          </p:cNvPr>
          <p:cNvGraphicFramePr>
            <a:graphicFrameLocks noGrp="1"/>
          </p:cNvGraphicFramePr>
          <p:nvPr>
            <p:extLst>
              <p:ext uri="{D42A27DB-BD31-4B8C-83A1-F6EECF244321}">
                <p14:modId xmlns:p14="http://schemas.microsoft.com/office/powerpoint/2010/main" val="4122785256"/>
              </p:ext>
            </p:extLst>
          </p:nvPr>
        </p:nvGraphicFramePr>
        <p:xfrm>
          <a:off x="457200" y="1371600"/>
          <a:ext cx="6775704" cy="3950208"/>
        </p:xfrm>
        <a:graphic>
          <a:graphicData uri="http://schemas.openxmlformats.org/drawingml/2006/table">
            <a:tbl>
              <a:tblPr/>
              <a:tblGrid>
                <a:gridCol w="1983133">
                  <a:extLst>
                    <a:ext uri="{9D8B030D-6E8A-4147-A177-3AD203B41FA5}">
                      <a16:colId xmlns:a16="http://schemas.microsoft.com/office/drawing/2014/main" val="20000"/>
                    </a:ext>
                  </a:extLst>
                </a:gridCol>
                <a:gridCol w="4792571">
                  <a:extLst>
                    <a:ext uri="{9D8B030D-6E8A-4147-A177-3AD203B41FA5}">
                      <a16:colId xmlns:a16="http://schemas.microsoft.com/office/drawing/2014/main" val="20001"/>
                    </a:ext>
                  </a:extLst>
                </a:gridCol>
              </a:tblGrid>
              <a:tr h="438912">
                <a:tc>
                  <a:txBody>
                    <a:bodyPr/>
                    <a:lstStyle/>
                    <a:p>
                      <a:pPr marL="0" indent="0">
                        <a:buNone/>
                      </a:pPr>
                      <a:r>
                        <a:rPr lang="en-US" sz="1200" b="1" dirty="0">
                          <a:solidFill>
                            <a:srgbClr val="FFFFFF"/>
                          </a:solidFill>
                          <a:latin typeface="+mj-lt"/>
                          <a:ea typeface="Calibri" pitchFamily="34" charset="-122"/>
                          <a:cs typeface="Calibri" pitchFamily="34" charset="-120"/>
                        </a:rPr>
                        <a:t>Maturity Dimension</a:t>
                      </a:r>
                      <a:endParaRPr lang="en-US" sz="12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r>
                        <a:rPr lang="en-US" sz="1200" b="1">
                          <a:solidFill>
                            <a:srgbClr val="FFFFFF"/>
                          </a:solidFill>
                          <a:latin typeface="+mj-lt"/>
                          <a:ea typeface="Calibri" pitchFamily="34" charset="-122"/>
                          <a:cs typeface="Calibri" pitchFamily="34" charset="-120"/>
                        </a:rPr>
                        <a:t>What It Assesses</a:t>
                      </a:r>
                      <a:endParaRPr lang="en-US" sz="12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extLst>
                  <a:ext uri="{0D108BD9-81ED-4DB2-BD59-A6C34878D82A}">
                    <a16:rowId xmlns:a16="http://schemas.microsoft.com/office/drawing/2014/main" val="10000"/>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Platform Standardization &amp; Rationalization</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a:solidFill>
                            <a:srgbClr val="2E2E38"/>
                          </a:solidFill>
                          <a:latin typeface="+mn-lt"/>
                          <a:ea typeface="Calibri" pitchFamily="34" charset="-122"/>
                          <a:cs typeface="Calibri" pitchFamily="34" charset="-120"/>
                        </a:rPr>
                        <a:t>Consolidation onto confirmed target platforms (MS SQL MI/RDS, Oracle Exadata) vs. fragmented/legacy patterns.</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Lifecycle &amp; Technical Debt</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a:solidFill>
                            <a:srgbClr val="2E2E38"/>
                          </a:solidFill>
                          <a:latin typeface="+mn-lt"/>
                          <a:ea typeface="Calibri" pitchFamily="34" charset="-122"/>
                          <a:cs typeface="Calibri" pitchFamily="34" charset="-120"/>
                        </a:rPr>
                        <a:t>Version currency, end-of-life exposure, containment status of legacy platforms — DB2 is the clearest current gap.</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Cloud &amp; Managed-Service Adoption</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a:solidFill>
                            <a:srgbClr val="2E2E38"/>
                          </a:solidFill>
                          <a:latin typeface="+mn-lt"/>
                          <a:ea typeface="Calibri" pitchFamily="34" charset="-122"/>
                          <a:cs typeface="Calibri" pitchFamily="34" charset="-120"/>
                        </a:rPr>
                        <a:t>Share of estate on managed/DBaaS (Managed Instance, RDS, Exa@Azure, Autonomous DB) vs. self-managed IaaS.</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Automation &amp; Self-Service</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a:solidFill>
                            <a:srgbClr val="2E2E38"/>
                          </a:solidFill>
                          <a:latin typeface="+mn-lt"/>
                          <a:ea typeface="Calibri" pitchFamily="34" charset="-122"/>
                          <a:cs typeface="Calibri" pitchFamily="34" charset="-120"/>
                        </a:rPr>
                        <a:t>Automated provisioning/patching and self-service enablement vs. ticket-driven, manual operations.</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Resilience &amp; DR</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a:solidFill>
                            <a:srgbClr val="2E2E38"/>
                          </a:solidFill>
                          <a:latin typeface="+mn-lt"/>
                          <a:ea typeface="Calibri" pitchFamily="34" charset="-122"/>
                          <a:cs typeface="Calibri" pitchFamily="34" charset="-120"/>
                        </a:rPr>
                        <a:t>RPO/RTO tiering by workload criticality, multi-region posture, DR testing cadence.</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Security &amp; Compliance</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a:solidFill>
                            <a:srgbClr val="2E2E38"/>
                          </a:solidFill>
                          <a:latin typeface="+mn-lt"/>
                          <a:ea typeface="Calibri" pitchFamily="34" charset="-122"/>
                          <a:cs typeface="Calibri" pitchFamily="34" charset="-120"/>
                        </a:rPr>
                        <a:t>RBAC/PAM maturity, encryption, regulatory alignment (OSFI) — excludes masking, which is App Owner-led.</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Observability &amp; Operations</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a:solidFill>
                            <a:srgbClr val="2E2E38"/>
                          </a:solidFill>
                          <a:latin typeface="+mn-lt"/>
                          <a:ea typeface="Calibri" pitchFamily="34" charset="-122"/>
                          <a:cs typeface="Calibri" pitchFamily="34" charset="-120"/>
                        </a:rPr>
                        <a:t>Real-time visibility into performance, health, capacity; incident response maturity.</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buNone/>
                      </a:pPr>
                      <a:r>
                        <a:rPr lang="en-US" sz="1000" b="1">
                          <a:solidFill>
                            <a:srgbClr val="2E2E38"/>
                          </a:solidFill>
                          <a:latin typeface="+mj-lt"/>
                          <a:ea typeface="Calibri" pitchFamily="34" charset="-122"/>
                          <a:cs typeface="Calibri" pitchFamily="34" charset="-120"/>
                        </a:rPr>
                        <a:t>Cost / FinOps</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dirty="0">
                          <a:solidFill>
                            <a:srgbClr val="2E2E38"/>
                          </a:solidFill>
                          <a:latin typeface="+mn-lt"/>
                          <a:ea typeface="Calibri" pitchFamily="34" charset="-122"/>
                          <a:cs typeface="Calibri" pitchFamily="34" charset="-120"/>
                        </a:rPr>
                        <a:t>License governance, consumption transparency, cost optimization discipline across platforms.</a:t>
                      </a:r>
                      <a:endParaRPr lang="en-US" sz="1000" dirty="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
        <p:nvSpPr>
          <p:cNvPr id="6" name="Text 6">
            <a:extLst>
              <a:ext uri="{FF2B5EF4-FFF2-40B4-BE49-F238E27FC236}">
                <a16:creationId xmlns:a16="http://schemas.microsoft.com/office/drawing/2014/main" id="{5CF92A3C-41B0-112F-DB49-9F30C9231849}"/>
              </a:ext>
            </a:extLst>
          </p:cNvPr>
          <p:cNvSpPr/>
          <p:nvPr/>
        </p:nvSpPr>
        <p:spPr>
          <a:xfrm>
            <a:off x="457200" y="5806440"/>
            <a:ext cx="11247120" cy="320040"/>
          </a:xfrm>
          <a:prstGeom prst="rect">
            <a:avLst/>
          </a:prstGeom>
          <a:noFill/>
          <a:ln/>
        </p:spPr>
        <p:txBody>
          <a:bodyPr wrap="square" rtlCol="0" anchor="ctr"/>
          <a:lstStyle/>
          <a:p>
            <a:pPr marL="0" indent="0">
              <a:buNone/>
            </a:pPr>
            <a:r>
              <a:rPr lang="en-US" sz="800" i="1" dirty="0">
                <a:solidFill>
                  <a:srgbClr val="747480"/>
                </a:solidFill>
                <a:latin typeface="+mj-lt"/>
                <a:ea typeface="Calibri" pitchFamily="34" charset="-122"/>
                <a:cs typeface="Calibri" pitchFamily="34" charset="-120"/>
              </a:rPr>
              <a:t>These 8 dimensions are the team-agreed axes for both the maturity table and the current-vs-target radar (next slide).</a:t>
            </a:r>
            <a:endParaRPr lang="en-US" sz="800" dirty="0">
              <a:latin typeface="+mj-lt"/>
            </a:endParaRPr>
          </a:p>
        </p:txBody>
      </p:sp>
      <p:sp>
        <p:nvSpPr>
          <p:cNvPr id="8" name="Text 7">
            <a:extLst>
              <a:ext uri="{FF2B5EF4-FFF2-40B4-BE49-F238E27FC236}">
                <a16:creationId xmlns:a16="http://schemas.microsoft.com/office/drawing/2014/main" id="{B33A7A13-3528-570A-50AB-31FCEC9F702E}"/>
              </a:ext>
            </a:extLst>
          </p:cNvPr>
          <p:cNvSpPr/>
          <p:nvPr/>
        </p:nvSpPr>
        <p:spPr>
          <a:xfrm>
            <a:off x="8503920" y="1371600"/>
            <a:ext cx="3200400" cy="41148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Enterprise Cloud Maturity Model — Scale</a:t>
            </a:r>
            <a:endParaRPr lang="en-US" sz="1200" dirty="0">
              <a:latin typeface="+mj-lt"/>
            </a:endParaRPr>
          </a:p>
        </p:txBody>
      </p:sp>
      <p:graphicFrame>
        <p:nvGraphicFramePr>
          <p:cNvPr id="10" name="Table 1">
            <a:extLst>
              <a:ext uri="{FF2B5EF4-FFF2-40B4-BE49-F238E27FC236}">
                <a16:creationId xmlns:a16="http://schemas.microsoft.com/office/drawing/2014/main" id="{88297F98-47ED-B4D7-F6B1-8A2817638162}"/>
              </a:ext>
            </a:extLst>
          </p:cNvPr>
          <p:cNvGraphicFramePr>
            <a:graphicFrameLocks noGrp="1"/>
          </p:cNvGraphicFramePr>
          <p:nvPr>
            <p:extLst>
              <p:ext uri="{D42A27DB-BD31-4B8C-83A1-F6EECF244321}">
                <p14:modId xmlns:p14="http://schemas.microsoft.com/office/powerpoint/2010/main" val="3658741871"/>
              </p:ext>
            </p:extLst>
          </p:nvPr>
        </p:nvGraphicFramePr>
        <p:xfrm>
          <a:off x="8503920" y="1783080"/>
          <a:ext cx="3200400" cy="2304288"/>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pPr marL="0" indent="0" algn="ctr">
                        <a:buNone/>
                      </a:pPr>
                      <a:r>
                        <a:rPr lang="en-US" sz="1000" b="1" dirty="0">
                          <a:solidFill>
                            <a:srgbClr val="FFFFFF"/>
                          </a:solidFill>
                          <a:latin typeface="+mj-lt"/>
                          <a:ea typeface="Calibri" pitchFamily="34" charset="-122"/>
                          <a:cs typeface="Calibri" pitchFamily="34" charset="-120"/>
                        </a:rPr>
                        <a:t>Level</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E2E38"/>
                    </a:solidFill>
                  </a:tcPr>
                </a:tc>
                <a:tc>
                  <a:txBody>
                    <a:bodyPr/>
                    <a:lstStyle/>
                    <a:p>
                      <a:pPr marL="0" indent="0" algn="ctr">
                        <a:buNone/>
                      </a:pPr>
                      <a:r>
                        <a:rPr lang="en-US" sz="1000" b="1" dirty="0">
                          <a:solidFill>
                            <a:srgbClr val="FFFFFF"/>
                          </a:solidFill>
                          <a:latin typeface="+mj-lt"/>
                          <a:ea typeface="Calibri" pitchFamily="34" charset="-122"/>
                          <a:cs typeface="Calibri" pitchFamily="34" charset="-120"/>
                        </a:rPr>
                        <a:t>Name</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E2E38"/>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2E2E38"/>
                          </a:solidFill>
                          <a:latin typeface="+mj-lt"/>
                          <a:ea typeface="Calibri" pitchFamily="34" charset="-122"/>
                          <a:cs typeface="Calibri" pitchFamily="34" charset="-120"/>
                        </a:rPr>
                        <a:t>1</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E2E38"/>
                          </a:solidFill>
                          <a:latin typeface="+mj-lt"/>
                          <a:ea typeface="Calibri" pitchFamily="34" charset="-122"/>
                          <a:cs typeface="Calibri" pitchFamily="34" charset="-120"/>
                        </a:rPr>
                        <a:t>Initial</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00" b="1" dirty="0">
                          <a:solidFill>
                            <a:srgbClr val="2E2E38"/>
                          </a:solidFill>
                          <a:latin typeface="+mj-lt"/>
                          <a:ea typeface="Calibri" pitchFamily="34" charset="-122"/>
                          <a:cs typeface="Calibri" pitchFamily="34" charset="-120"/>
                        </a:rPr>
                        <a:t>2</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2E2E38"/>
                          </a:solidFill>
                          <a:latin typeface="+mj-lt"/>
                          <a:ea typeface="Calibri" pitchFamily="34" charset="-122"/>
                          <a:cs typeface="Calibri" pitchFamily="34" charset="-120"/>
                        </a:rPr>
                        <a:t>Managed</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FFFFFF"/>
                          </a:solidFill>
                          <a:latin typeface="+mj-lt"/>
                          <a:ea typeface="Calibri" pitchFamily="34" charset="-122"/>
                          <a:cs typeface="Calibri" pitchFamily="34" charset="-120"/>
                        </a:rPr>
                        <a:t>3</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000" b="1" dirty="0">
                          <a:solidFill>
                            <a:srgbClr val="FFFFFF"/>
                          </a:solidFill>
                          <a:latin typeface="+mj-lt"/>
                          <a:ea typeface="Calibri" pitchFamily="34" charset="-122"/>
                          <a:cs typeface="Calibri" pitchFamily="34" charset="-120"/>
                        </a:rPr>
                        <a:t>Defined</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extLst>
                  <a:ext uri="{0D108BD9-81ED-4DB2-BD59-A6C34878D82A}">
                    <a16:rowId xmlns:a16="http://schemas.microsoft.com/office/drawing/2014/main" val="10003"/>
                  </a:ext>
                </a:extLst>
              </a:tr>
              <a:tr h="384048">
                <a:tc>
                  <a:txBody>
                    <a:bodyPr/>
                    <a:lstStyle/>
                    <a:p>
                      <a:pPr marL="0" indent="0" algn="ctr">
                        <a:buNone/>
                      </a:pPr>
                      <a:r>
                        <a:rPr lang="en-US" sz="1000" b="1" dirty="0">
                          <a:solidFill>
                            <a:srgbClr val="2E2E38"/>
                          </a:solidFill>
                          <a:latin typeface="+mj-lt"/>
                          <a:ea typeface="Calibri" pitchFamily="34" charset="-122"/>
                          <a:cs typeface="Calibri" pitchFamily="34" charset="-120"/>
                        </a:rPr>
                        <a:t>4</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2E2E38"/>
                          </a:solidFill>
                          <a:latin typeface="+mj-lt"/>
                          <a:ea typeface="Calibri" pitchFamily="34" charset="-122"/>
                          <a:cs typeface="Calibri" pitchFamily="34" charset="-120"/>
                        </a:rPr>
                        <a:t>Measured</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84048">
                <a:tc>
                  <a:txBody>
                    <a:bodyPr/>
                    <a:lstStyle/>
                    <a:p>
                      <a:pPr marL="0" indent="0" algn="ctr">
                        <a:buNone/>
                      </a:pPr>
                      <a:r>
                        <a:rPr lang="en-US" sz="1000" b="1" dirty="0">
                          <a:solidFill>
                            <a:srgbClr val="2E2E38"/>
                          </a:solidFill>
                          <a:latin typeface="+mj-lt"/>
                          <a:ea typeface="Calibri" pitchFamily="34" charset="-122"/>
                          <a:cs typeface="Calibri" pitchFamily="34" charset="-120"/>
                        </a:rPr>
                        <a:t>5</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E2E38"/>
                          </a:solidFill>
                          <a:latin typeface="+mj-lt"/>
                          <a:ea typeface="Calibri" pitchFamily="34" charset="-122"/>
                          <a:cs typeface="Calibri" pitchFamily="34" charset="-120"/>
                        </a:rPr>
                        <a:t>Optimized</a:t>
                      </a:r>
                      <a:endParaRPr lang="en-US" sz="1000" dirty="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8">
            <a:extLst>
              <a:ext uri="{FF2B5EF4-FFF2-40B4-BE49-F238E27FC236}">
                <a16:creationId xmlns:a16="http://schemas.microsoft.com/office/drawing/2014/main" id="{37FF8B38-6EE3-0486-89E5-C8B035F99C78}"/>
              </a:ext>
            </a:extLst>
          </p:cNvPr>
          <p:cNvSpPr/>
          <p:nvPr/>
        </p:nvSpPr>
        <p:spPr>
          <a:xfrm>
            <a:off x="8503920" y="4526280"/>
            <a:ext cx="3200401" cy="457200"/>
          </a:xfrm>
          <a:prstGeom prst="rect">
            <a:avLst/>
          </a:prstGeom>
          <a:noFill/>
          <a:ln/>
        </p:spPr>
        <p:txBody>
          <a:bodyPr wrap="square" rtlCol="0" anchor="ctr"/>
          <a:lstStyle/>
          <a:p>
            <a:pPr marL="0" indent="0" algn="ctr">
              <a:buNone/>
            </a:pPr>
            <a:r>
              <a:rPr lang="en-US" sz="800" i="1" dirty="0">
                <a:solidFill>
                  <a:srgbClr val="747480"/>
                </a:solidFill>
                <a:latin typeface="+mj-lt"/>
                <a:ea typeface="Calibri" pitchFamily="34" charset="-122"/>
                <a:cs typeface="Calibri" pitchFamily="34" charset="-120"/>
              </a:rPr>
              <a:t>Current estate clusters around Level  3 - Defined) today</a:t>
            </a:r>
            <a:endParaRPr lang="en-US" sz="800" dirty="0">
              <a:latin typeface="+mj-lt"/>
            </a:endParaRPr>
          </a:p>
        </p:txBody>
      </p:sp>
      <p:sp>
        <p:nvSpPr>
          <p:cNvPr id="14" name="Shape 9">
            <a:extLst>
              <a:ext uri="{FF2B5EF4-FFF2-40B4-BE49-F238E27FC236}">
                <a16:creationId xmlns:a16="http://schemas.microsoft.com/office/drawing/2014/main" id="{43B1DF76-1374-A7C4-C3CA-4CA86C39035F}"/>
              </a:ext>
            </a:extLst>
          </p:cNvPr>
          <p:cNvSpPr/>
          <p:nvPr/>
        </p:nvSpPr>
        <p:spPr>
          <a:xfrm>
            <a:off x="8503920" y="4215384"/>
            <a:ext cx="3200400" cy="283464"/>
          </a:xfrm>
          <a:prstGeom prst="roundRect">
            <a:avLst>
              <a:gd name="adj" fmla="val 7059"/>
            </a:avLst>
          </a:prstGeom>
          <a:solidFill>
            <a:srgbClr val="BA0C2F"/>
          </a:solidFill>
          <a:ln/>
          <a:effectLst>
            <a:outerShdw blurRad="50800" dist="25400" dir="5400000" algn="bl" rotWithShape="0">
              <a:srgbClr val="808080">
                <a:alpha val="20000"/>
              </a:srgbClr>
            </a:outerShdw>
          </a:effectLst>
        </p:spPr>
        <p:txBody>
          <a:bodyPr/>
          <a:lstStyle/>
          <a:p>
            <a:endParaRPr lang="en-US">
              <a:latin typeface="+mj-lt"/>
            </a:endParaRPr>
          </a:p>
        </p:txBody>
      </p:sp>
      <p:sp>
        <p:nvSpPr>
          <p:cNvPr id="16" name="Text 10">
            <a:extLst>
              <a:ext uri="{FF2B5EF4-FFF2-40B4-BE49-F238E27FC236}">
                <a16:creationId xmlns:a16="http://schemas.microsoft.com/office/drawing/2014/main" id="{7B88F3E7-3484-150E-74FB-0DED0757186E}"/>
              </a:ext>
            </a:extLst>
          </p:cNvPr>
          <p:cNvSpPr/>
          <p:nvPr/>
        </p:nvSpPr>
        <p:spPr>
          <a:xfrm>
            <a:off x="8503920" y="4123944"/>
            <a:ext cx="3200400" cy="457200"/>
          </a:xfrm>
          <a:prstGeom prst="rect">
            <a:avLst/>
          </a:prstGeom>
          <a:noFill/>
          <a:ln/>
        </p:spPr>
        <p:txBody>
          <a:bodyPr wrap="square" rtlCol="0" anchor="ctr"/>
          <a:lstStyle/>
          <a:p>
            <a:pPr marL="0" indent="0" algn="ctr">
              <a:buNone/>
            </a:pPr>
            <a:r>
              <a:rPr lang="en-US" sz="1000" b="1" dirty="0">
                <a:solidFill>
                  <a:srgbClr val="FFFFFF"/>
                </a:solidFill>
                <a:latin typeface="+mj-lt"/>
                <a:ea typeface="Calibri" pitchFamily="34" charset="-122"/>
                <a:cs typeface="Calibri" pitchFamily="34" charset="-120"/>
              </a:rPr>
              <a:t>People  ·  Process  ·  Technology</a:t>
            </a:r>
            <a:endParaRPr lang="en-US" sz="1000" dirty="0">
              <a:latin typeface="+mj-lt"/>
            </a:endParaRPr>
          </a:p>
        </p:txBody>
      </p:sp>
    </p:spTree>
    <p:extLst>
      <p:ext uri="{BB962C8B-B14F-4D97-AF65-F5344CB8AC3E}">
        <p14:creationId xmlns:p14="http://schemas.microsoft.com/office/powerpoint/2010/main" val="1009152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2A5B7-7BBA-B112-33DB-97DA4B7EE0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096246-674D-A184-6F44-992E6307F8DA}"/>
              </a:ext>
            </a:extLst>
          </p:cNvPr>
          <p:cNvSpPr txBox="1"/>
          <p:nvPr/>
        </p:nvSpPr>
        <p:spPr>
          <a:xfrm>
            <a:off x="549798" y="535329"/>
            <a:ext cx="9963872" cy="584775"/>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marL="0" indent="0" algn="l" rtl="0"/>
            <a:r>
              <a:rPr lang="en-US" sz="2600" b="1" kern="1200">
                <a:solidFill>
                  <a:srgbClr val="BA0C2F"/>
                </a:solidFill>
                <a:latin typeface="Arial"/>
                <a:ea typeface="Calibri"/>
                <a:cs typeface="Arial"/>
              </a:rPr>
              <a:t>Database </a:t>
            </a:r>
            <a:r>
              <a:rPr lang="en-US" sz="2600" b="1" kern="1200">
                <a:solidFill>
                  <a:srgbClr val="BA0C2F"/>
                </a:solidFill>
                <a:latin typeface="+mj-lt"/>
                <a:ea typeface="Calibri"/>
                <a:cs typeface="Arial"/>
              </a:rPr>
              <a:t>Capability</a:t>
            </a:r>
            <a:r>
              <a:rPr lang="en-US" sz="2600" b="1" kern="1200">
                <a:solidFill>
                  <a:srgbClr val="BA0C2F"/>
                </a:solidFill>
                <a:latin typeface="Arial"/>
                <a:ea typeface="Calibri"/>
                <a:cs typeface="Arial"/>
              </a:rPr>
              <a:t> Maturity: Current vs. Target</a:t>
            </a:r>
          </a:p>
          <a:p>
            <a:pPr marL="228600" indent="-228600" algn="l">
              <a:spcAft>
                <a:spcPts val="500"/>
              </a:spcAft>
              <a:buFont typeface="Arial" panose="020B0604020202020204" pitchFamily="34" charset="0"/>
              <a:buChar char="•"/>
            </a:pPr>
            <a:endParaRPr lang="en-US" sz="1200"/>
          </a:p>
        </p:txBody>
      </p:sp>
      <p:graphicFrame>
        <p:nvGraphicFramePr>
          <p:cNvPr id="5" name="Chart 4">
            <a:extLst>
              <a:ext uri="{FF2B5EF4-FFF2-40B4-BE49-F238E27FC236}">
                <a16:creationId xmlns:a16="http://schemas.microsoft.com/office/drawing/2014/main" id="{F31D965B-C7D9-98CF-5806-BBE7CB74790D}"/>
              </a:ext>
            </a:extLst>
          </p:cNvPr>
          <p:cNvGraphicFramePr/>
          <p:nvPr>
            <p:extLst>
              <p:ext uri="{D42A27DB-BD31-4B8C-83A1-F6EECF244321}">
                <p14:modId xmlns:p14="http://schemas.microsoft.com/office/powerpoint/2010/main" val="3359957961"/>
              </p:ext>
            </p:extLst>
          </p:nvPr>
        </p:nvGraphicFramePr>
        <p:xfrm>
          <a:off x="956178" y="1783080"/>
          <a:ext cx="4588256" cy="3934629"/>
        </p:xfrm>
        <a:graphic>
          <a:graphicData uri="http://schemas.openxmlformats.org/drawingml/2006/chart">
            <c:chart xmlns:c="http://schemas.openxmlformats.org/drawingml/2006/chart" xmlns:r="http://schemas.openxmlformats.org/officeDocument/2006/relationships" r:id="rId2"/>
          </a:graphicData>
        </a:graphic>
      </p:graphicFrame>
      <p:sp>
        <p:nvSpPr>
          <p:cNvPr id="7" name="Shape 6">
            <a:extLst>
              <a:ext uri="{FF2B5EF4-FFF2-40B4-BE49-F238E27FC236}">
                <a16:creationId xmlns:a16="http://schemas.microsoft.com/office/drawing/2014/main" id="{864C5E9E-5FF4-A4D1-EF66-478B29DB20CF}"/>
              </a:ext>
            </a:extLst>
          </p:cNvPr>
          <p:cNvSpPr/>
          <p:nvPr/>
        </p:nvSpPr>
        <p:spPr>
          <a:xfrm>
            <a:off x="6858000" y="1463040"/>
            <a:ext cx="4846320" cy="4663440"/>
          </a:xfrm>
          <a:prstGeom prst="roundRect">
            <a:avLst>
              <a:gd name="adj" fmla="val 1176"/>
            </a:avLst>
          </a:prstGeom>
          <a:solidFill>
            <a:srgbClr val="F2F2F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9" name="Text 7">
            <a:extLst>
              <a:ext uri="{FF2B5EF4-FFF2-40B4-BE49-F238E27FC236}">
                <a16:creationId xmlns:a16="http://schemas.microsoft.com/office/drawing/2014/main" id="{B3F07A64-F07F-2DA6-09DF-6A1E29B1B3CD}"/>
              </a:ext>
            </a:extLst>
          </p:cNvPr>
          <p:cNvSpPr/>
          <p:nvPr/>
        </p:nvSpPr>
        <p:spPr>
          <a:xfrm>
            <a:off x="7040880" y="1600200"/>
            <a:ext cx="4480560" cy="36576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Key Insight</a:t>
            </a:r>
            <a:endParaRPr lang="en-US" sz="1200" dirty="0">
              <a:latin typeface="+mj-lt"/>
            </a:endParaRPr>
          </a:p>
        </p:txBody>
      </p:sp>
      <p:sp>
        <p:nvSpPr>
          <p:cNvPr id="11" name="Text 8">
            <a:extLst>
              <a:ext uri="{FF2B5EF4-FFF2-40B4-BE49-F238E27FC236}">
                <a16:creationId xmlns:a16="http://schemas.microsoft.com/office/drawing/2014/main" id="{69394360-58B4-FCB6-AFB2-0444E79CCB22}"/>
              </a:ext>
            </a:extLst>
          </p:cNvPr>
          <p:cNvSpPr/>
          <p:nvPr/>
        </p:nvSpPr>
        <p:spPr>
          <a:xfrm>
            <a:off x="7040880" y="2057400"/>
            <a:ext cx="4480560" cy="3840480"/>
          </a:xfrm>
          <a:prstGeom prst="rect">
            <a:avLst/>
          </a:prstGeom>
          <a:noFill/>
          <a:ln/>
        </p:spPr>
        <p:txBody>
          <a:bodyPr wrap="square" rtlCol="0" anchor="t"/>
          <a:lstStyle/>
          <a:p>
            <a:pPr marL="177800" indent="-177800">
              <a:spcAft>
                <a:spcPts val="800"/>
              </a:spcAft>
              <a:buSzPct val="100000"/>
              <a:buChar char="•"/>
            </a:pPr>
            <a:r>
              <a:rPr lang="en-US" sz="1200" dirty="0">
                <a:solidFill>
                  <a:srgbClr val="2E2E38"/>
                </a:solidFill>
                <a:ea typeface="Calibri" pitchFamily="34" charset="-122"/>
                <a:cs typeface="Calibri" pitchFamily="34" charset="-120"/>
              </a:rPr>
              <a:t>Lifecycle &amp; Technical Debt is scored lowest today, driven almost entirely by DB2 — the one dimension where the estate's broader low-technical-debt position doesn't yet apply.</a:t>
            </a:r>
            <a:endParaRPr lang="en-US" sz="1200" dirty="0"/>
          </a:p>
          <a:p>
            <a:pPr marL="177800" indent="-177800">
              <a:spcAft>
                <a:spcPts val="800"/>
              </a:spcAft>
              <a:buSzPct val="100000"/>
              <a:buChar char="•"/>
            </a:pPr>
            <a:r>
              <a:rPr lang="en-US" sz="1200" dirty="0">
                <a:solidFill>
                  <a:srgbClr val="2E2E38"/>
                </a:solidFill>
                <a:ea typeface="Calibri" pitchFamily="34" charset="-122"/>
                <a:cs typeface="Calibri" pitchFamily="34" charset="-120"/>
              </a:rPr>
              <a:t>Cloud &amp; Managed-Service Adoption has the clearest, fastest-moving path to target given confirmed direction: Exa@Azure, MS SQL MI/RDS, and Oracle Autonomous Database.</a:t>
            </a:r>
            <a:endParaRPr lang="en-US" sz="1200" dirty="0"/>
          </a:p>
          <a:p>
            <a:pPr marL="177800" indent="-177800">
              <a:spcAft>
                <a:spcPts val="800"/>
              </a:spcAft>
              <a:buSzPct val="100000"/>
              <a:buChar char="•"/>
            </a:pPr>
            <a:r>
              <a:rPr lang="en-US" sz="1200" dirty="0">
                <a:solidFill>
                  <a:srgbClr val="2E2E38"/>
                </a:solidFill>
                <a:ea typeface="Calibri" pitchFamily="34" charset="-122"/>
                <a:cs typeface="Calibri" pitchFamily="34" charset="-120"/>
              </a:rPr>
              <a:t>Automation &amp; Self-Service shows the widest gap if the roadmap pursues more self-service, mirroring the cloud roadmap's automation ambitions.</a:t>
            </a:r>
            <a:endParaRPr lang="en-US" sz="1200" dirty="0"/>
          </a:p>
        </p:txBody>
      </p:sp>
    </p:spTree>
    <p:extLst>
      <p:ext uri="{BB962C8B-B14F-4D97-AF65-F5344CB8AC3E}">
        <p14:creationId xmlns:p14="http://schemas.microsoft.com/office/powerpoint/2010/main" val="820085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83B0F-BFFF-E3D0-D213-B302345B7FA6}"/>
            </a:ext>
          </a:extLst>
        </p:cNvPr>
        <p:cNvGrpSpPr/>
        <p:nvPr/>
      </p:nvGrpSpPr>
      <p:grpSpPr>
        <a:xfrm>
          <a:off x="0" y="0"/>
          <a:ext cx="0" cy="0"/>
          <a:chOff x="0" y="0"/>
          <a:chExt cx="0" cy="0"/>
        </a:xfrm>
      </p:grpSpPr>
      <p:sp>
        <p:nvSpPr>
          <p:cNvPr id="4" name="Text 4">
            <a:extLst>
              <a:ext uri="{FF2B5EF4-FFF2-40B4-BE49-F238E27FC236}">
                <a16:creationId xmlns:a16="http://schemas.microsoft.com/office/drawing/2014/main" id="{E3B9711A-5C60-6135-A48D-CD90C1F53958}"/>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Evolving From Current-State Insights to Future-Ready Focus Areas</a:t>
            </a:r>
            <a:endParaRPr lang="en-US" sz="2600">
              <a:latin typeface="+mj-lt"/>
            </a:endParaRPr>
          </a:p>
        </p:txBody>
      </p:sp>
      <p:sp>
        <p:nvSpPr>
          <p:cNvPr id="3" name="Shape 5">
            <a:extLst>
              <a:ext uri="{FF2B5EF4-FFF2-40B4-BE49-F238E27FC236}">
                <a16:creationId xmlns:a16="http://schemas.microsoft.com/office/drawing/2014/main" id="{892731CC-410E-4BDD-5B1C-8DA8357E23D8}"/>
              </a:ext>
            </a:extLst>
          </p:cNvPr>
          <p:cNvSpPr/>
          <p:nvPr/>
        </p:nvSpPr>
        <p:spPr>
          <a:xfrm>
            <a:off x="457200" y="1183640"/>
            <a:ext cx="6949440" cy="274320"/>
          </a:xfrm>
          <a:prstGeom prst="rect">
            <a:avLst/>
          </a:prstGeom>
          <a:solidFill>
            <a:srgbClr val="BA0C2F"/>
          </a:solidFill>
          <a:ln/>
        </p:spPr>
        <p:txBody>
          <a:bodyPr/>
          <a:lstStyle/>
          <a:p>
            <a:endParaRPr lang="en-US" sz="1200">
              <a:latin typeface="+mj-lt"/>
            </a:endParaRPr>
          </a:p>
        </p:txBody>
      </p:sp>
      <p:sp>
        <p:nvSpPr>
          <p:cNvPr id="6" name="Text 6">
            <a:extLst>
              <a:ext uri="{FF2B5EF4-FFF2-40B4-BE49-F238E27FC236}">
                <a16:creationId xmlns:a16="http://schemas.microsoft.com/office/drawing/2014/main" id="{0C47C58A-7A28-2FD8-2E7C-B0EF5DD95BB3}"/>
              </a:ext>
            </a:extLst>
          </p:cNvPr>
          <p:cNvSpPr/>
          <p:nvPr/>
        </p:nvSpPr>
        <p:spPr>
          <a:xfrm>
            <a:off x="457200" y="1183640"/>
            <a:ext cx="6949440" cy="274320"/>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CURRENT-STATE INSIGHT</a:t>
            </a:r>
            <a:endParaRPr lang="en-US" sz="1200" dirty="0">
              <a:latin typeface="+mj-lt"/>
            </a:endParaRPr>
          </a:p>
        </p:txBody>
      </p:sp>
      <p:sp>
        <p:nvSpPr>
          <p:cNvPr id="8" name="Shape 7">
            <a:extLst>
              <a:ext uri="{FF2B5EF4-FFF2-40B4-BE49-F238E27FC236}">
                <a16:creationId xmlns:a16="http://schemas.microsoft.com/office/drawing/2014/main" id="{98387175-A442-3661-170F-E69541917A72}"/>
              </a:ext>
            </a:extLst>
          </p:cNvPr>
          <p:cNvSpPr/>
          <p:nvPr/>
        </p:nvSpPr>
        <p:spPr>
          <a:xfrm>
            <a:off x="7543800" y="1183640"/>
            <a:ext cx="4160520" cy="274320"/>
          </a:xfrm>
          <a:prstGeom prst="rect">
            <a:avLst/>
          </a:prstGeom>
          <a:solidFill>
            <a:srgbClr val="2E2E38"/>
          </a:solidFill>
          <a:ln/>
        </p:spPr>
        <p:txBody>
          <a:bodyPr/>
          <a:lstStyle/>
          <a:p>
            <a:endParaRPr lang="en-US" sz="1200">
              <a:latin typeface="+mj-lt"/>
            </a:endParaRPr>
          </a:p>
        </p:txBody>
      </p:sp>
      <p:sp>
        <p:nvSpPr>
          <p:cNvPr id="10" name="Text 8">
            <a:extLst>
              <a:ext uri="{FF2B5EF4-FFF2-40B4-BE49-F238E27FC236}">
                <a16:creationId xmlns:a16="http://schemas.microsoft.com/office/drawing/2014/main" id="{60B3F830-B4C9-430F-A46F-B2CF7A71BDE3}"/>
              </a:ext>
            </a:extLst>
          </p:cNvPr>
          <p:cNvSpPr/>
          <p:nvPr/>
        </p:nvSpPr>
        <p:spPr>
          <a:xfrm>
            <a:off x="7543800" y="1183640"/>
            <a:ext cx="4160520" cy="274320"/>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DRIVES FOCUS AREA</a:t>
            </a:r>
            <a:endParaRPr lang="en-US" sz="1200" dirty="0">
              <a:latin typeface="+mj-lt"/>
            </a:endParaRPr>
          </a:p>
        </p:txBody>
      </p:sp>
      <p:sp>
        <p:nvSpPr>
          <p:cNvPr id="12" name="Shape 9">
            <a:extLst>
              <a:ext uri="{FF2B5EF4-FFF2-40B4-BE49-F238E27FC236}">
                <a16:creationId xmlns:a16="http://schemas.microsoft.com/office/drawing/2014/main" id="{F2FB4534-F58D-8A76-D670-BA6A05C54D9B}"/>
              </a:ext>
            </a:extLst>
          </p:cNvPr>
          <p:cNvSpPr/>
          <p:nvPr/>
        </p:nvSpPr>
        <p:spPr>
          <a:xfrm>
            <a:off x="457200" y="1595120"/>
            <a:ext cx="6949440" cy="822960"/>
          </a:xfrm>
          <a:prstGeom prst="roundRect">
            <a:avLst>
              <a:gd name="adj" fmla="val 6667"/>
            </a:avLst>
          </a:prstGeom>
          <a:solidFill>
            <a:srgbClr val="FFFFFF"/>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14" name="Text 10">
            <a:extLst>
              <a:ext uri="{FF2B5EF4-FFF2-40B4-BE49-F238E27FC236}">
                <a16:creationId xmlns:a16="http://schemas.microsoft.com/office/drawing/2014/main" id="{6663718E-8F67-E9D4-F7E6-EBD790FBEA55}"/>
              </a:ext>
            </a:extLst>
          </p:cNvPr>
          <p:cNvSpPr/>
          <p:nvPr/>
        </p:nvSpPr>
        <p:spPr>
          <a:xfrm>
            <a:off x="594360" y="1649984"/>
            <a:ext cx="1417320" cy="713232"/>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MS SQL</a:t>
            </a:r>
            <a:endParaRPr lang="en-US" sz="1200" dirty="0">
              <a:latin typeface="+mj-lt"/>
            </a:endParaRPr>
          </a:p>
        </p:txBody>
      </p:sp>
      <p:sp>
        <p:nvSpPr>
          <p:cNvPr id="16" name="Text 11">
            <a:extLst>
              <a:ext uri="{FF2B5EF4-FFF2-40B4-BE49-F238E27FC236}">
                <a16:creationId xmlns:a16="http://schemas.microsoft.com/office/drawing/2014/main" id="{CA34C520-C6D6-D90D-B42F-8B6F35D4F281}"/>
              </a:ext>
            </a:extLst>
          </p:cNvPr>
          <p:cNvSpPr/>
          <p:nvPr/>
        </p:nvSpPr>
        <p:spPr>
          <a:xfrm>
            <a:off x="1965960" y="1649984"/>
            <a:ext cx="5349240" cy="713232"/>
          </a:xfrm>
          <a:prstGeom prst="rect">
            <a:avLst/>
          </a:prstGeom>
          <a:noFill/>
          <a:ln/>
        </p:spPr>
        <p:txBody>
          <a:bodyPr wrap="square" rtlCol="0" anchor="ctr"/>
          <a:lstStyle/>
          <a:p>
            <a:pPr marL="0" indent="0">
              <a:buNone/>
            </a:pPr>
            <a:r>
              <a:rPr lang="en-US" sz="1200" dirty="0">
                <a:solidFill>
                  <a:srgbClr val="2E2E38"/>
                </a:solidFill>
                <a:ea typeface="Calibri" pitchFamily="34" charset="-122"/>
                <a:cs typeface="Calibri" pitchFamily="34" charset="-120"/>
              </a:rPr>
              <a:t>Sprawl across on-prem VM clusters, IaaS SQL-on-VM in both clouds, and three Azure flavours — too many patterns to operate and secure.</a:t>
            </a:r>
            <a:endParaRPr lang="en-US" sz="1200" dirty="0"/>
          </a:p>
        </p:txBody>
      </p:sp>
      <p:sp>
        <p:nvSpPr>
          <p:cNvPr id="18" name="Text 12">
            <a:extLst>
              <a:ext uri="{FF2B5EF4-FFF2-40B4-BE49-F238E27FC236}">
                <a16:creationId xmlns:a16="http://schemas.microsoft.com/office/drawing/2014/main" id="{76F3EDAC-6E88-0BA1-2795-8FCD47815E8C}"/>
              </a:ext>
            </a:extLst>
          </p:cNvPr>
          <p:cNvSpPr/>
          <p:nvPr/>
        </p:nvSpPr>
        <p:spPr>
          <a:xfrm>
            <a:off x="7543800" y="1595120"/>
            <a:ext cx="365760" cy="822960"/>
          </a:xfrm>
          <a:prstGeom prst="rect">
            <a:avLst/>
          </a:prstGeom>
          <a:noFill/>
          <a:ln/>
        </p:spPr>
        <p:txBody>
          <a:bodyPr wrap="square" rtlCol="0" anchor="ctr"/>
          <a:lstStyle/>
          <a:p>
            <a:pPr marL="0" indent="0" algn="ctr">
              <a:buNone/>
            </a:pPr>
            <a:r>
              <a:rPr lang="en-US" sz="1200" b="1" dirty="0">
                <a:solidFill>
                  <a:srgbClr val="747480"/>
                </a:solidFill>
                <a:latin typeface="+mj-lt"/>
                <a:ea typeface="Calibri" pitchFamily="34" charset="-122"/>
                <a:cs typeface="Calibri" pitchFamily="34" charset="-120"/>
              </a:rPr>
              <a:t>▸</a:t>
            </a:r>
            <a:endParaRPr lang="en-US" sz="1200" dirty="0">
              <a:latin typeface="+mj-lt"/>
            </a:endParaRPr>
          </a:p>
        </p:txBody>
      </p:sp>
      <p:sp>
        <p:nvSpPr>
          <p:cNvPr id="20" name="Shape 13">
            <a:extLst>
              <a:ext uri="{FF2B5EF4-FFF2-40B4-BE49-F238E27FC236}">
                <a16:creationId xmlns:a16="http://schemas.microsoft.com/office/drawing/2014/main" id="{0BE84A45-35A2-1286-1828-90387671038A}"/>
              </a:ext>
            </a:extLst>
          </p:cNvPr>
          <p:cNvSpPr/>
          <p:nvPr/>
        </p:nvSpPr>
        <p:spPr>
          <a:xfrm>
            <a:off x="7955280" y="1787144"/>
            <a:ext cx="438912" cy="438912"/>
          </a:xfrm>
          <a:prstGeom prst="ellipse">
            <a:avLst/>
          </a:prstGeom>
          <a:solidFill>
            <a:srgbClr val="BA0C2F"/>
          </a:solidFill>
          <a:ln/>
        </p:spPr>
        <p:txBody>
          <a:bodyPr/>
          <a:lstStyle/>
          <a:p>
            <a:endParaRPr lang="en-US" sz="1200">
              <a:latin typeface="+mj-lt"/>
            </a:endParaRPr>
          </a:p>
        </p:txBody>
      </p:sp>
      <p:sp>
        <p:nvSpPr>
          <p:cNvPr id="22" name="Text 14">
            <a:extLst>
              <a:ext uri="{FF2B5EF4-FFF2-40B4-BE49-F238E27FC236}">
                <a16:creationId xmlns:a16="http://schemas.microsoft.com/office/drawing/2014/main" id="{546B5A68-0F2A-3B19-EBA3-E4EEF0729389}"/>
              </a:ext>
            </a:extLst>
          </p:cNvPr>
          <p:cNvSpPr/>
          <p:nvPr/>
        </p:nvSpPr>
        <p:spPr>
          <a:xfrm>
            <a:off x="7955280" y="1787144"/>
            <a:ext cx="438912" cy="438912"/>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1</a:t>
            </a:r>
            <a:endParaRPr lang="en-US" sz="1200" dirty="0">
              <a:latin typeface="+mj-lt"/>
            </a:endParaRPr>
          </a:p>
        </p:txBody>
      </p:sp>
      <p:sp>
        <p:nvSpPr>
          <p:cNvPr id="24" name="Text 15">
            <a:extLst>
              <a:ext uri="{FF2B5EF4-FFF2-40B4-BE49-F238E27FC236}">
                <a16:creationId xmlns:a16="http://schemas.microsoft.com/office/drawing/2014/main" id="{5A7F2351-AC18-59BB-2196-3375B1B4EFA6}"/>
              </a:ext>
            </a:extLst>
          </p:cNvPr>
          <p:cNvSpPr/>
          <p:nvPr/>
        </p:nvSpPr>
        <p:spPr>
          <a:xfrm>
            <a:off x="8503920" y="1732280"/>
            <a:ext cx="3017520" cy="576072"/>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Standardize &amp; Consolidate</a:t>
            </a:r>
            <a:endParaRPr lang="en-US" sz="1200" dirty="0">
              <a:latin typeface="+mj-lt"/>
            </a:endParaRPr>
          </a:p>
        </p:txBody>
      </p:sp>
      <p:sp>
        <p:nvSpPr>
          <p:cNvPr id="26" name="Shape 16">
            <a:extLst>
              <a:ext uri="{FF2B5EF4-FFF2-40B4-BE49-F238E27FC236}">
                <a16:creationId xmlns:a16="http://schemas.microsoft.com/office/drawing/2014/main" id="{105BFD42-2C5A-C2A5-7222-BE2B541110D0}"/>
              </a:ext>
            </a:extLst>
          </p:cNvPr>
          <p:cNvSpPr/>
          <p:nvPr/>
        </p:nvSpPr>
        <p:spPr>
          <a:xfrm>
            <a:off x="457200" y="2527808"/>
            <a:ext cx="6949440" cy="822960"/>
          </a:xfrm>
          <a:prstGeom prst="roundRect">
            <a:avLst>
              <a:gd name="adj" fmla="val 6667"/>
            </a:avLst>
          </a:prstGeom>
          <a:solidFill>
            <a:srgbClr val="F2F2F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28" name="Text 17">
            <a:extLst>
              <a:ext uri="{FF2B5EF4-FFF2-40B4-BE49-F238E27FC236}">
                <a16:creationId xmlns:a16="http://schemas.microsoft.com/office/drawing/2014/main" id="{AE805C04-B74A-03FD-24B5-59D532B92AC5}"/>
              </a:ext>
            </a:extLst>
          </p:cNvPr>
          <p:cNvSpPr/>
          <p:nvPr/>
        </p:nvSpPr>
        <p:spPr>
          <a:xfrm>
            <a:off x="594360" y="2582672"/>
            <a:ext cx="1417320" cy="713232"/>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IBM DB2</a:t>
            </a:r>
            <a:endParaRPr lang="en-US" sz="1200" dirty="0">
              <a:latin typeface="+mj-lt"/>
            </a:endParaRPr>
          </a:p>
        </p:txBody>
      </p:sp>
      <p:sp>
        <p:nvSpPr>
          <p:cNvPr id="30" name="Text 18">
            <a:extLst>
              <a:ext uri="{FF2B5EF4-FFF2-40B4-BE49-F238E27FC236}">
                <a16:creationId xmlns:a16="http://schemas.microsoft.com/office/drawing/2014/main" id="{17687907-57FA-47AA-67BF-21602FCC699A}"/>
              </a:ext>
            </a:extLst>
          </p:cNvPr>
          <p:cNvSpPr/>
          <p:nvPr/>
        </p:nvSpPr>
        <p:spPr>
          <a:xfrm>
            <a:off x="1965960" y="2582672"/>
            <a:ext cx="5349240" cy="713232"/>
          </a:xfrm>
          <a:prstGeom prst="rect">
            <a:avLst/>
          </a:prstGeom>
          <a:noFill/>
          <a:ln/>
        </p:spPr>
        <p:txBody>
          <a:bodyPr wrap="square" rtlCol="0" anchor="ctr"/>
          <a:lstStyle/>
          <a:p>
            <a:pPr marL="0" indent="0">
              <a:buNone/>
            </a:pPr>
            <a:r>
              <a:rPr lang="en-US" sz="1200" dirty="0">
                <a:solidFill>
                  <a:srgbClr val="2E2E38"/>
                </a:solidFill>
                <a:ea typeface="Calibri" pitchFamily="34" charset="-122"/>
                <a:cs typeface="Calibri" pitchFamily="34" charset="-120"/>
              </a:rPr>
              <a:t>Legacy AIX/Linux estate plus a non-endorsed EC2 FileNet one-off; the clearest cost outlier at ~10x the MS SQL rate.</a:t>
            </a:r>
            <a:endParaRPr lang="en-US" sz="1200" dirty="0"/>
          </a:p>
        </p:txBody>
      </p:sp>
      <p:sp>
        <p:nvSpPr>
          <p:cNvPr id="32" name="Text 19">
            <a:extLst>
              <a:ext uri="{FF2B5EF4-FFF2-40B4-BE49-F238E27FC236}">
                <a16:creationId xmlns:a16="http://schemas.microsoft.com/office/drawing/2014/main" id="{EF536CDD-9106-77DA-1574-10A399F5A291}"/>
              </a:ext>
            </a:extLst>
          </p:cNvPr>
          <p:cNvSpPr/>
          <p:nvPr/>
        </p:nvSpPr>
        <p:spPr>
          <a:xfrm>
            <a:off x="7543800" y="2527808"/>
            <a:ext cx="365760" cy="822960"/>
          </a:xfrm>
          <a:prstGeom prst="rect">
            <a:avLst/>
          </a:prstGeom>
          <a:noFill/>
          <a:ln/>
        </p:spPr>
        <p:txBody>
          <a:bodyPr wrap="square" rtlCol="0" anchor="ctr"/>
          <a:lstStyle/>
          <a:p>
            <a:pPr marL="0" indent="0" algn="ctr">
              <a:buNone/>
            </a:pPr>
            <a:r>
              <a:rPr lang="en-US" sz="1200" b="1" dirty="0">
                <a:solidFill>
                  <a:srgbClr val="747480"/>
                </a:solidFill>
                <a:latin typeface="+mj-lt"/>
                <a:ea typeface="Calibri" pitchFamily="34" charset="-122"/>
                <a:cs typeface="Calibri" pitchFamily="34" charset="-120"/>
              </a:rPr>
              <a:t>▸</a:t>
            </a:r>
            <a:endParaRPr lang="en-US" sz="1200" dirty="0">
              <a:latin typeface="+mj-lt"/>
            </a:endParaRPr>
          </a:p>
        </p:txBody>
      </p:sp>
      <p:sp>
        <p:nvSpPr>
          <p:cNvPr id="34" name="Shape 20">
            <a:extLst>
              <a:ext uri="{FF2B5EF4-FFF2-40B4-BE49-F238E27FC236}">
                <a16:creationId xmlns:a16="http://schemas.microsoft.com/office/drawing/2014/main" id="{BEA3DE97-174F-E8F1-0EF3-F9777E437B70}"/>
              </a:ext>
            </a:extLst>
          </p:cNvPr>
          <p:cNvSpPr/>
          <p:nvPr/>
        </p:nvSpPr>
        <p:spPr>
          <a:xfrm>
            <a:off x="7955280" y="2719832"/>
            <a:ext cx="438912" cy="438912"/>
          </a:xfrm>
          <a:prstGeom prst="ellipse">
            <a:avLst/>
          </a:prstGeom>
          <a:solidFill>
            <a:srgbClr val="BA0C2F"/>
          </a:solidFill>
          <a:ln/>
        </p:spPr>
        <p:txBody>
          <a:bodyPr/>
          <a:lstStyle/>
          <a:p>
            <a:endParaRPr lang="en-US" sz="1200">
              <a:latin typeface="+mj-lt"/>
            </a:endParaRPr>
          </a:p>
        </p:txBody>
      </p:sp>
      <p:sp>
        <p:nvSpPr>
          <p:cNvPr id="36" name="Text 21">
            <a:extLst>
              <a:ext uri="{FF2B5EF4-FFF2-40B4-BE49-F238E27FC236}">
                <a16:creationId xmlns:a16="http://schemas.microsoft.com/office/drawing/2014/main" id="{6199A8DA-FA07-86FF-FE6F-82F08F9D2302}"/>
              </a:ext>
            </a:extLst>
          </p:cNvPr>
          <p:cNvSpPr/>
          <p:nvPr/>
        </p:nvSpPr>
        <p:spPr>
          <a:xfrm>
            <a:off x="7955280" y="2719832"/>
            <a:ext cx="438912" cy="438912"/>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1</a:t>
            </a:r>
            <a:endParaRPr lang="en-US" sz="1200" dirty="0">
              <a:latin typeface="+mj-lt"/>
            </a:endParaRPr>
          </a:p>
        </p:txBody>
      </p:sp>
      <p:sp>
        <p:nvSpPr>
          <p:cNvPr id="38" name="Text 22">
            <a:extLst>
              <a:ext uri="{FF2B5EF4-FFF2-40B4-BE49-F238E27FC236}">
                <a16:creationId xmlns:a16="http://schemas.microsoft.com/office/drawing/2014/main" id="{127D5698-4AB7-A96A-56CD-43672FE081E5}"/>
              </a:ext>
            </a:extLst>
          </p:cNvPr>
          <p:cNvSpPr/>
          <p:nvPr/>
        </p:nvSpPr>
        <p:spPr>
          <a:xfrm>
            <a:off x="8503920" y="2664968"/>
            <a:ext cx="3017520" cy="576072"/>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Standardize &amp; Consolidate</a:t>
            </a:r>
            <a:endParaRPr lang="en-US" sz="1200" dirty="0">
              <a:latin typeface="+mj-lt"/>
            </a:endParaRPr>
          </a:p>
        </p:txBody>
      </p:sp>
      <p:sp>
        <p:nvSpPr>
          <p:cNvPr id="40" name="Shape 23">
            <a:extLst>
              <a:ext uri="{FF2B5EF4-FFF2-40B4-BE49-F238E27FC236}">
                <a16:creationId xmlns:a16="http://schemas.microsoft.com/office/drawing/2014/main" id="{343FBBAB-CEEB-DE9C-6AB9-294C1647A34B}"/>
              </a:ext>
            </a:extLst>
          </p:cNvPr>
          <p:cNvSpPr/>
          <p:nvPr/>
        </p:nvSpPr>
        <p:spPr>
          <a:xfrm>
            <a:off x="457200" y="3460496"/>
            <a:ext cx="6949440" cy="822960"/>
          </a:xfrm>
          <a:prstGeom prst="roundRect">
            <a:avLst>
              <a:gd name="adj" fmla="val 6667"/>
            </a:avLst>
          </a:prstGeom>
          <a:solidFill>
            <a:srgbClr val="FFFFFF"/>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42" name="Text 24">
            <a:extLst>
              <a:ext uri="{FF2B5EF4-FFF2-40B4-BE49-F238E27FC236}">
                <a16:creationId xmlns:a16="http://schemas.microsoft.com/office/drawing/2014/main" id="{4F60B024-C6A4-9892-66DC-CBDD50824FBE}"/>
              </a:ext>
            </a:extLst>
          </p:cNvPr>
          <p:cNvSpPr/>
          <p:nvPr/>
        </p:nvSpPr>
        <p:spPr>
          <a:xfrm>
            <a:off x="594360" y="3515360"/>
            <a:ext cx="1417320" cy="713232"/>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Oracle</a:t>
            </a:r>
            <a:endParaRPr lang="en-US" sz="1200" dirty="0">
              <a:latin typeface="+mj-lt"/>
            </a:endParaRPr>
          </a:p>
        </p:txBody>
      </p:sp>
      <p:sp>
        <p:nvSpPr>
          <p:cNvPr id="44" name="Text 25">
            <a:extLst>
              <a:ext uri="{FF2B5EF4-FFF2-40B4-BE49-F238E27FC236}">
                <a16:creationId xmlns:a16="http://schemas.microsoft.com/office/drawing/2014/main" id="{65AA63EF-8707-76C0-CC63-7D2B5C430E78}"/>
              </a:ext>
            </a:extLst>
          </p:cNvPr>
          <p:cNvSpPr/>
          <p:nvPr/>
        </p:nvSpPr>
        <p:spPr>
          <a:xfrm>
            <a:off x="1965960" y="3515360"/>
            <a:ext cx="5349240" cy="713232"/>
          </a:xfrm>
          <a:prstGeom prst="rect">
            <a:avLst/>
          </a:prstGeom>
          <a:noFill/>
          <a:ln/>
        </p:spPr>
        <p:txBody>
          <a:bodyPr wrap="square" rtlCol="0" anchor="ctr"/>
          <a:lstStyle/>
          <a:p>
            <a:pPr marL="0" indent="0">
              <a:buNone/>
            </a:pPr>
            <a:r>
              <a:rPr lang="en-US" sz="1200" dirty="0">
                <a:solidFill>
                  <a:srgbClr val="2E2E38"/>
                </a:solidFill>
                <a:ea typeface="Calibri" pitchFamily="34" charset="-122"/>
                <a:cs typeface="Calibri" pitchFamily="34" charset="-120"/>
              </a:rPr>
              <a:t>Exadata Cloud @ Customer exits 2026, and a large 19c estate is ready to unlock AI — without a support-cliff forcing the move.</a:t>
            </a:r>
            <a:endParaRPr lang="en-US" sz="1200" dirty="0"/>
          </a:p>
        </p:txBody>
      </p:sp>
      <p:sp>
        <p:nvSpPr>
          <p:cNvPr id="46" name="Text 26">
            <a:extLst>
              <a:ext uri="{FF2B5EF4-FFF2-40B4-BE49-F238E27FC236}">
                <a16:creationId xmlns:a16="http://schemas.microsoft.com/office/drawing/2014/main" id="{36948AC1-E10F-87DD-4BC0-6AE2E012B392}"/>
              </a:ext>
            </a:extLst>
          </p:cNvPr>
          <p:cNvSpPr/>
          <p:nvPr/>
        </p:nvSpPr>
        <p:spPr>
          <a:xfrm>
            <a:off x="7543800" y="3460496"/>
            <a:ext cx="365760" cy="822960"/>
          </a:xfrm>
          <a:prstGeom prst="rect">
            <a:avLst/>
          </a:prstGeom>
          <a:noFill/>
          <a:ln/>
        </p:spPr>
        <p:txBody>
          <a:bodyPr wrap="square" rtlCol="0" anchor="ctr"/>
          <a:lstStyle/>
          <a:p>
            <a:pPr marL="0" indent="0" algn="ctr">
              <a:buNone/>
            </a:pPr>
            <a:r>
              <a:rPr lang="en-US" sz="1200" b="1" dirty="0">
                <a:solidFill>
                  <a:srgbClr val="747480"/>
                </a:solidFill>
                <a:latin typeface="+mj-lt"/>
                <a:ea typeface="Calibri" pitchFamily="34" charset="-122"/>
                <a:cs typeface="Calibri" pitchFamily="34" charset="-120"/>
              </a:rPr>
              <a:t>▸</a:t>
            </a:r>
            <a:endParaRPr lang="en-US" sz="1200" dirty="0">
              <a:latin typeface="+mj-lt"/>
            </a:endParaRPr>
          </a:p>
        </p:txBody>
      </p:sp>
      <p:sp>
        <p:nvSpPr>
          <p:cNvPr id="48" name="Shape 27">
            <a:extLst>
              <a:ext uri="{FF2B5EF4-FFF2-40B4-BE49-F238E27FC236}">
                <a16:creationId xmlns:a16="http://schemas.microsoft.com/office/drawing/2014/main" id="{AB386E30-F699-42DF-9842-C46922E7CFDA}"/>
              </a:ext>
            </a:extLst>
          </p:cNvPr>
          <p:cNvSpPr/>
          <p:nvPr/>
        </p:nvSpPr>
        <p:spPr>
          <a:xfrm>
            <a:off x="7955280" y="3542792"/>
            <a:ext cx="329184" cy="329184"/>
          </a:xfrm>
          <a:prstGeom prst="ellipse">
            <a:avLst/>
          </a:prstGeom>
          <a:solidFill>
            <a:srgbClr val="2E2E38"/>
          </a:solidFill>
          <a:ln/>
        </p:spPr>
        <p:txBody>
          <a:bodyPr/>
          <a:lstStyle/>
          <a:p>
            <a:endParaRPr lang="en-US" sz="1200">
              <a:latin typeface="+mj-lt"/>
            </a:endParaRPr>
          </a:p>
        </p:txBody>
      </p:sp>
      <p:sp>
        <p:nvSpPr>
          <p:cNvPr id="50" name="Text 28">
            <a:extLst>
              <a:ext uri="{FF2B5EF4-FFF2-40B4-BE49-F238E27FC236}">
                <a16:creationId xmlns:a16="http://schemas.microsoft.com/office/drawing/2014/main" id="{DCD5D589-0FF2-82B5-96EC-1F43BBAF17FE}"/>
              </a:ext>
            </a:extLst>
          </p:cNvPr>
          <p:cNvSpPr/>
          <p:nvPr/>
        </p:nvSpPr>
        <p:spPr>
          <a:xfrm>
            <a:off x="7955280" y="3542792"/>
            <a:ext cx="329184" cy="329184"/>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2</a:t>
            </a:r>
            <a:endParaRPr lang="en-US" sz="1200" dirty="0">
              <a:latin typeface="+mj-lt"/>
            </a:endParaRPr>
          </a:p>
        </p:txBody>
      </p:sp>
      <p:sp>
        <p:nvSpPr>
          <p:cNvPr id="52" name="Text 29">
            <a:extLst>
              <a:ext uri="{FF2B5EF4-FFF2-40B4-BE49-F238E27FC236}">
                <a16:creationId xmlns:a16="http://schemas.microsoft.com/office/drawing/2014/main" id="{E43D637A-8D30-B56A-7FDD-934E37BB9A8D}"/>
              </a:ext>
            </a:extLst>
          </p:cNvPr>
          <p:cNvSpPr/>
          <p:nvPr/>
        </p:nvSpPr>
        <p:spPr>
          <a:xfrm>
            <a:off x="8508492" y="3487928"/>
            <a:ext cx="3017520" cy="466344"/>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Modernize &amp; AI-Ready</a:t>
            </a:r>
            <a:endParaRPr lang="en-US" sz="1200" dirty="0">
              <a:latin typeface="+mj-lt"/>
            </a:endParaRPr>
          </a:p>
        </p:txBody>
      </p:sp>
      <p:sp>
        <p:nvSpPr>
          <p:cNvPr id="54" name="Shape 30">
            <a:extLst>
              <a:ext uri="{FF2B5EF4-FFF2-40B4-BE49-F238E27FC236}">
                <a16:creationId xmlns:a16="http://schemas.microsoft.com/office/drawing/2014/main" id="{1F4104B6-3A0A-EA22-553F-6CFC1D56A590}"/>
              </a:ext>
            </a:extLst>
          </p:cNvPr>
          <p:cNvSpPr/>
          <p:nvPr/>
        </p:nvSpPr>
        <p:spPr>
          <a:xfrm>
            <a:off x="7955280" y="3926840"/>
            <a:ext cx="329184" cy="329184"/>
          </a:xfrm>
          <a:prstGeom prst="ellipse">
            <a:avLst/>
          </a:prstGeom>
          <a:solidFill>
            <a:srgbClr val="8C0924"/>
          </a:solidFill>
          <a:ln/>
        </p:spPr>
        <p:txBody>
          <a:bodyPr/>
          <a:lstStyle/>
          <a:p>
            <a:endParaRPr lang="en-US" sz="1200">
              <a:latin typeface="+mj-lt"/>
            </a:endParaRPr>
          </a:p>
        </p:txBody>
      </p:sp>
      <p:sp>
        <p:nvSpPr>
          <p:cNvPr id="56" name="Text 31">
            <a:extLst>
              <a:ext uri="{FF2B5EF4-FFF2-40B4-BE49-F238E27FC236}">
                <a16:creationId xmlns:a16="http://schemas.microsoft.com/office/drawing/2014/main" id="{EFFB9480-1E2A-7086-95CA-58E20C3B1CD9}"/>
              </a:ext>
            </a:extLst>
          </p:cNvPr>
          <p:cNvSpPr/>
          <p:nvPr/>
        </p:nvSpPr>
        <p:spPr>
          <a:xfrm>
            <a:off x="7955280" y="3926840"/>
            <a:ext cx="329184" cy="329184"/>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3</a:t>
            </a:r>
            <a:endParaRPr lang="en-US" sz="1200" dirty="0">
              <a:latin typeface="+mj-lt"/>
            </a:endParaRPr>
          </a:p>
        </p:txBody>
      </p:sp>
      <p:sp>
        <p:nvSpPr>
          <p:cNvPr id="58" name="Text 32">
            <a:extLst>
              <a:ext uri="{FF2B5EF4-FFF2-40B4-BE49-F238E27FC236}">
                <a16:creationId xmlns:a16="http://schemas.microsoft.com/office/drawing/2014/main" id="{DF42228B-AB18-B783-51E4-E7E61FC578D1}"/>
              </a:ext>
            </a:extLst>
          </p:cNvPr>
          <p:cNvSpPr/>
          <p:nvPr/>
        </p:nvSpPr>
        <p:spPr>
          <a:xfrm>
            <a:off x="8508492" y="3871976"/>
            <a:ext cx="3017520" cy="466344"/>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Strengthen Resilience</a:t>
            </a:r>
            <a:endParaRPr lang="en-US" sz="1200" dirty="0">
              <a:latin typeface="+mj-lt"/>
            </a:endParaRPr>
          </a:p>
        </p:txBody>
      </p:sp>
      <p:sp>
        <p:nvSpPr>
          <p:cNvPr id="60" name="Shape 33">
            <a:extLst>
              <a:ext uri="{FF2B5EF4-FFF2-40B4-BE49-F238E27FC236}">
                <a16:creationId xmlns:a16="http://schemas.microsoft.com/office/drawing/2014/main" id="{641472DC-67E6-B16D-5AFC-E1A812FF5780}"/>
              </a:ext>
            </a:extLst>
          </p:cNvPr>
          <p:cNvSpPr/>
          <p:nvPr/>
        </p:nvSpPr>
        <p:spPr>
          <a:xfrm>
            <a:off x="457200" y="4393184"/>
            <a:ext cx="6949440" cy="822960"/>
          </a:xfrm>
          <a:prstGeom prst="roundRect">
            <a:avLst>
              <a:gd name="adj" fmla="val 6667"/>
            </a:avLst>
          </a:prstGeom>
          <a:solidFill>
            <a:srgbClr val="F2F2F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62" name="Text 34">
            <a:extLst>
              <a:ext uri="{FF2B5EF4-FFF2-40B4-BE49-F238E27FC236}">
                <a16:creationId xmlns:a16="http://schemas.microsoft.com/office/drawing/2014/main" id="{5A9595A2-E444-1E33-F190-EB18F40FBFC3}"/>
              </a:ext>
            </a:extLst>
          </p:cNvPr>
          <p:cNvSpPr/>
          <p:nvPr/>
        </p:nvSpPr>
        <p:spPr>
          <a:xfrm>
            <a:off x="594360" y="4448048"/>
            <a:ext cx="1417320" cy="713232"/>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Mongo / Postgres</a:t>
            </a:r>
            <a:endParaRPr lang="en-US" sz="1200" dirty="0">
              <a:latin typeface="+mj-lt"/>
            </a:endParaRPr>
          </a:p>
        </p:txBody>
      </p:sp>
      <p:sp>
        <p:nvSpPr>
          <p:cNvPr id="64" name="Text 35">
            <a:extLst>
              <a:ext uri="{FF2B5EF4-FFF2-40B4-BE49-F238E27FC236}">
                <a16:creationId xmlns:a16="http://schemas.microsoft.com/office/drawing/2014/main" id="{E21B1CF5-7E90-FD93-D80E-4797C0EC432B}"/>
              </a:ext>
            </a:extLst>
          </p:cNvPr>
          <p:cNvSpPr/>
          <p:nvPr/>
        </p:nvSpPr>
        <p:spPr>
          <a:xfrm>
            <a:off x="1965960" y="4448048"/>
            <a:ext cx="5349240" cy="713232"/>
          </a:xfrm>
          <a:prstGeom prst="rect">
            <a:avLst/>
          </a:prstGeom>
          <a:noFill/>
          <a:ln/>
        </p:spPr>
        <p:txBody>
          <a:bodyPr wrap="square" rtlCol="0" anchor="ctr"/>
          <a:lstStyle/>
          <a:p>
            <a:pPr marL="0" indent="0">
              <a:buNone/>
            </a:pPr>
            <a:r>
              <a:rPr lang="en-US" sz="1200" dirty="0">
                <a:solidFill>
                  <a:srgbClr val="2E2E38"/>
                </a:solidFill>
                <a:ea typeface="Calibri" pitchFamily="34" charset="-122"/>
                <a:cs typeface="Calibri" pitchFamily="34" charset="-120"/>
              </a:rPr>
              <a:t>Both sit on AWS RDS today, with NoSQL/graph/vector direction unresolved — teams lack a single placement rule.</a:t>
            </a:r>
            <a:endParaRPr lang="en-US" sz="1200" dirty="0"/>
          </a:p>
        </p:txBody>
      </p:sp>
      <p:sp>
        <p:nvSpPr>
          <p:cNvPr id="66" name="Text 36">
            <a:extLst>
              <a:ext uri="{FF2B5EF4-FFF2-40B4-BE49-F238E27FC236}">
                <a16:creationId xmlns:a16="http://schemas.microsoft.com/office/drawing/2014/main" id="{8A0892A5-F643-DFE7-26A7-4FA43AE33C5D}"/>
              </a:ext>
            </a:extLst>
          </p:cNvPr>
          <p:cNvSpPr/>
          <p:nvPr/>
        </p:nvSpPr>
        <p:spPr>
          <a:xfrm>
            <a:off x="7543800" y="4393184"/>
            <a:ext cx="365760" cy="822960"/>
          </a:xfrm>
          <a:prstGeom prst="rect">
            <a:avLst/>
          </a:prstGeom>
          <a:noFill/>
          <a:ln/>
        </p:spPr>
        <p:txBody>
          <a:bodyPr wrap="square" rtlCol="0" anchor="ctr"/>
          <a:lstStyle/>
          <a:p>
            <a:pPr marL="0" indent="0" algn="ctr">
              <a:buNone/>
            </a:pPr>
            <a:r>
              <a:rPr lang="en-US" sz="1200" b="1" dirty="0">
                <a:solidFill>
                  <a:srgbClr val="747480"/>
                </a:solidFill>
                <a:latin typeface="+mj-lt"/>
                <a:ea typeface="Calibri" pitchFamily="34" charset="-122"/>
                <a:cs typeface="Calibri" pitchFamily="34" charset="-120"/>
              </a:rPr>
              <a:t>▸</a:t>
            </a:r>
            <a:endParaRPr lang="en-US" sz="1200" dirty="0">
              <a:latin typeface="+mj-lt"/>
            </a:endParaRPr>
          </a:p>
        </p:txBody>
      </p:sp>
      <p:sp>
        <p:nvSpPr>
          <p:cNvPr id="68" name="Shape 37">
            <a:extLst>
              <a:ext uri="{FF2B5EF4-FFF2-40B4-BE49-F238E27FC236}">
                <a16:creationId xmlns:a16="http://schemas.microsoft.com/office/drawing/2014/main" id="{61539F6D-FF6D-4701-85C5-E006A2220288}"/>
              </a:ext>
            </a:extLst>
          </p:cNvPr>
          <p:cNvSpPr/>
          <p:nvPr/>
        </p:nvSpPr>
        <p:spPr>
          <a:xfrm>
            <a:off x="7955280" y="4585208"/>
            <a:ext cx="438912" cy="438912"/>
          </a:xfrm>
          <a:prstGeom prst="ellipse">
            <a:avLst/>
          </a:prstGeom>
          <a:solidFill>
            <a:srgbClr val="2E2E38"/>
          </a:solidFill>
          <a:ln/>
        </p:spPr>
        <p:txBody>
          <a:bodyPr/>
          <a:lstStyle/>
          <a:p>
            <a:endParaRPr lang="en-US" sz="1200">
              <a:latin typeface="+mj-lt"/>
            </a:endParaRPr>
          </a:p>
        </p:txBody>
      </p:sp>
      <p:sp>
        <p:nvSpPr>
          <p:cNvPr id="70" name="Text 38">
            <a:extLst>
              <a:ext uri="{FF2B5EF4-FFF2-40B4-BE49-F238E27FC236}">
                <a16:creationId xmlns:a16="http://schemas.microsoft.com/office/drawing/2014/main" id="{FD8024E4-1B81-B9DA-A4EC-6804EFA04135}"/>
              </a:ext>
            </a:extLst>
          </p:cNvPr>
          <p:cNvSpPr/>
          <p:nvPr/>
        </p:nvSpPr>
        <p:spPr>
          <a:xfrm>
            <a:off x="7955280" y="4585208"/>
            <a:ext cx="438912" cy="438912"/>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2</a:t>
            </a:r>
            <a:endParaRPr lang="en-US" sz="1200" dirty="0">
              <a:latin typeface="+mj-lt"/>
            </a:endParaRPr>
          </a:p>
        </p:txBody>
      </p:sp>
      <p:sp>
        <p:nvSpPr>
          <p:cNvPr id="72" name="Text 39">
            <a:extLst>
              <a:ext uri="{FF2B5EF4-FFF2-40B4-BE49-F238E27FC236}">
                <a16:creationId xmlns:a16="http://schemas.microsoft.com/office/drawing/2014/main" id="{1C8DFFE1-1A55-A41C-56EE-A25E0D05733D}"/>
              </a:ext>
            </a:extLst>
          </p:cNvPr>
          <p:cNvSpPr/>
          <p:nvPr/>
        </p:nvSpPr>
        <p:spPr>
          <a:xfrm>
            <a:off x="8503920" y="4530344"/>
            <a:ext cx="3017520" cy="576072"/>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Modernize &amp; AI-Ready</a:t>
            </a:r>
            <a:endParaRPr lang="en-US" sz="1200" dirty="0">
              <a:latin typeface="+mj-lt"/>
            </a:endParaRPr>
          </a:p>
        </p:txBody>
      </p:sp>
      <p:sp>
        <p:nvSpPr>
          <p:cNvPr id="74" name="Shape 40">
            <a:extLst>
              <a:ext uri="{FF2B5EF4-FFF2-40B4-BE49-F238E27FC236}">
                <a16:creationId xmlns:a16="http://schemas.microsoft.com/office/drawing/2014/main" id="{E26FD6A4-406C-FDAF-3356-17BCCC249183}"/>
              </a:ext>
            </a:extLst>
          </p:cNvPr>
          <p:cNvSpPr/>
          <p:nvPr/>
        </p:nvSpPr>
        <p:spPr>
          <a:xfrm>
            <a:off x="457200" y="5380736"/>
            <a:ext cx="11292840" cy="777240"/>
          </a:xfrm>
          <a:prstGeom prst="roundRect">
            <a:avLst>
              <a:gd name="adj" fmla="val 7059"/>
            </a:avLst>
          </a:prstGeom>
          <a:solidFill>
            <a:srgbClr val="F0CCD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76" name="Text 41">
            <a:extLst>
              <a:ext uri="{FF2B5EF4-FFF2-40B4-BE49-F238E27FC236}">
                <a16:creationId xmlns:a16="http://schemas.microsoft.com/office/drawing/2014/main" id="{97754049-68D8-E99E-45A7-198FC605AE31}"/>
              </a:ext>
            </a:extLst>
          </p:cNvPr>
          <p:cNvSpPr/>
          <p:nvPr/>
        </p:nvSpPr>
        <p:spPr>
          <a:xfrm>
            <a:off x="594360" y="5444744"/>
            <a:ext cx="2926080" cy="640080"/>
          </a:xfrm>
          <a:prstGeom prst="rect">
            <a:avLst/>
          </a:prstGeom>
          <a:noFill/>
          <a:ln/>
        </p:spPr>
        <p:txBody>
          <a:bodyPr wrap="square" rtlCol="0" anchor="ctr"/>
          <a:lstStyle/>
          <a:p>
            <a:pPr marL="0" indent="0">
              <a:buNone/>
            </a:pPr>
            <a:r>
              <a:rPr lang="en-US" sz="1200" b="1" dirty="0">
                <a:solidFill>
                  <a:srgbClr val="8C0924"/>
                </a:solidFill>
                <a:latin typeface="+mj-lt"/>
                <a:ea typeface="Calibri" pitchFamily="34" charset="-122"/>
                <a:cs typeface="Calibri" pitchFamily="34" charset="-120"/>
              </a:rPr>
              <a:t>Operating Model Evolution — cross-cutting</a:t>
            </a:r>
            <a:endParaRPr lang="en-US" sz="1200" dirty="0">
              <a:latin typeface="+mj-lt"/>
            </a:endParaRPr>
          </a:p>
        </p:txBody>
      </p:sp>
      <p:sp>
        <p:nvSpPr>
          <p:cNvPr id="78" name="Text 42">
            <a:extLst>
              <a:ext uri="{FF2B5EF4-FFF2-40B4-BE49-F238E27FC236}">
                <a16:creationId xmlns:a16="http://schemas.microsoft.com/office/drawing/2014/main" id="{EF3F1092-460A-C8B2-41EC-C4FA88DA4653}"/>
              </a:ext>
            </a:extLst>
          </p:cNvPr>
          <p:cNvSpPr/>
          <p:nvPr/>
        </p:nvSpPr>
        <p:spPr>
          <a:xfrm>
            <a:off x="3566160" y="5444744"/>
            <a:ext cx="3794760" cy="640080"/>
          </a:xfrm>
          <a:prstGeom prst="rect">
            <a:avLst/>
          </a:prstGeom>
          <a:noFill/>
          <a:ln/>
        </p:spPr>
        <p:txBody>
          <a:bodyPr wrap="square" rtlCol="0" anchor="ctr"/>
          <a:lstStyle/>
          <a:p>
            <a:pPr marL="0" indent="0">
              <a:buNone/>
            </a:pPr>
            <a:r>
              <a:rPr lang="en-US" sz="1200" dirty="0">
                <a:solidFill>
                  <a:srgbClr val="2E2E38"/>
                </a:solidFill>
                <a:ea typeface="Calibri" pitchFamily="34" charset="-122"/>
                <a:cs typeface="Calibri" pitchFamily="34" charset="-120"/>
              </a:rPr>
              <a:t>HCL-managed, ticket-driven ops shift toward self-service; lower priority given generally low technical debt.</a:t>
            </a:r>
            <a:endParaRPr lang="en-US" sz="1200" dirty="0"/>
          </a:p>
        </p:txBody>
      </p:sp>
      <p:sp>
        <p:nvSpPr>
          <p:cNvPr id="80" name="Text 43">
            <a:extLst>
              <a:ext uri="{FF2B5EF4-FFF2-40B4-BE49-F238E27FC236}">
                <a16:creationId xmlns:a16="http://schemas.microsoft.com/office/drawing/2014/main" id="{7C86F87B-FEA1-D709-E187-BB22737C743C}"/>
              </a:ext>
            </a:extLst>
          </p:cNvPr>
          <p:cNvSpPr/>
          <p:nvPr/>
        </p:nvSpPr>
        <p:spPr>
          <a:xfrm>
            <a:off x="7543800" y="5380736"/>
            <a:ext cx="365760" cy="777240"/>
          </a:xfrm>
          <a:prstGeom prst="rect">
            <a:avLst/>
          </a:prstGeom>
          <a:noFill/>
          <a:ln/>
        </p:spPr>
        <p:txBody>
          <a:bodyPr wrap="square" rtlCol="0" anchor="ctr"/>
          <a:lstStyle/>
          <a:p>
            <a:pPr marL="0" indent="0" algn="ctr">
              <a:buNone/>
            </a:pPr>
            <a:r>
              <a:rPr lang="en-US" sz="1200" b="1" dirty="0">
                <a:solidFill>
                  <a:srgbClr val="747480"/>
                </a:solidFill>
                <a:latin typeface="+mj-lt"/>
                <a:ea typeface="Calibri" pitchFamily="34" charset="-122"/>
                <a:cs typeface="Calibri" pitchFamily="34" charset="-120"/>
              </a:rPr>
              <a:t>▸</a:t>
            </a:r>
            <a:endParaRPr lang="en-US" sz="1200" dirty="0">
              <a:latin typeface="+mj-lt"/>
            </a:endParaRPr>
          </a:p>
        </p:txBody>
      </p:sp>
      <p:sp>
        <p:nvSpPr>
          <p:cNvPr id="82" name="Shape 44">
            <a:extLst>
              <a:ext uri="{FF2B5EF4-FFF2-40B4-BE49-F238E27FC236}">
                <a16:creationId xmlns:a16="http://schemas.microsoft.com/office/drawing/2014/main" id="{E3960A94-783E-E1A6-7B2B-9005E8F0DA67}"/>
              </a:ext>
            </a:extLst>
          </p:cNvPr>
          <p:cNvSpPr/>
          <p:nvPr/>
        </p:nvSpPr>
        <p:spPr>
          <a:xfrm>
            <a:off x="7955280" y="5549900"/>
            <a:ext cx="438912" cy="438912"/>
          </a:xfrm>
          <a:prstGeom prst="ellipse">
            <a:avLst/>
          </a:prstGeom>
          <a:solidFill>
            <a:srgbClr val="747480"/>
          </a:solidFill>
          <a:ln/>
        </p:spPr>
        <p:txBody>
          <a:bodyPr/>
          <a:lstStyle/>
          <a:p>
            <a:endParaRPr lang="en-US" sz="1200">
              <a:latin typeface="+mj-lt"/>
            </a:endParaRPr>
          </a:p>
        </p:txBody>
      </p:sp>
      <p:sp>
        <p:nvSpPr>
          <p:cNvPr id="84" name="Text 45">
            <a:extLst>
              <a:ext uri="{FF2B5EF4-FFF2-40B4-BE49-F238E27FC236}">
                <a16:creationId xmlns:a16="http://schemas.microsoft.com/office/drawing/2014/main" id="{E127C332-DD64-EB79-6455-7783E70940E6}"/>
              </a:ext>
            </a:extLst>
          </p:cNvPr>
          <p:cNvSpPr/>
          <p:nvPr/>
        </p:nvSpPr>
        <p:spPr>
          <a:xfrm>
            <a:off x="7955280" y="5549900"/>
            <a:ext cx="438912" cy="438912"/>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4</a:t>
            </a:r>
            <a:endParaRPr lang="en-US" sz="1200" dirty="0">
              <a:latin typeface="+mj-lt"/>
            </a:endParaRPr>
          </a:p>
        </p:txBody>
      </p:sp>
      <p:sp>
        <p:nvSpPr>
          <p:cNvPr id="86" name="Text 46">
            <a:extLst>
              <a:ext uri="{FF2B5EF4-FFF2-40B4-BE49-F238E27FC236}">
                <a16:creationId xmlns:a16="http://schemas.microsoft.com/office/drawing/2014/main" id="{1B508A64-8E54-C426-6C2E-88D7A13FA522}"/>
              </a:ext>
            </a:extLst>
          </p:cNvPr>
          <p:cNvSpPr/>
          <p:nvPr/>
        </p:nvSpPr>
        <p:spPr>
          <a:xfrm>
            <a:off x="8503920" y="5531612"/>
            <a:ext cx="3017520" cy="45720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Evolve Operating Model</a:t>
            </a:r>
            <a:endParaRPr lang="en-US" sz="1200" dirty="0">
              <a:latin typeface="+mj-lt"/>
            </a:endParaRPr>
          </a:p>
        </p:txBody>
      </p:sp>
    </p:spTree>
    <p:extLst>
      <p:ext uri="{BB962C8B-B14F-4D97-AF65-F5344CB8AC3E}">
        <p14:creationId xmlns:p14="http://schemas.microsoft.com/office/powerpoint/2010/main" val="475517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3425E-3EC7-5584-5285-C24B8634FAA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8C1F7D7-AED1-98B0-61F8-9AD0F02D4B6F}"/>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5431BBC7-E8D4-9DF8-6C9E-42471AD33244}"/>
              </a:ext>
            </a:extLst>
          </p:cNvPr>
          <p:cNvSpPr txBox="1"/>
          <p:nvPr/>
        </p:nvSpPr>
        <p:spPr>
          <a:xfrm>
            <a:off x="4797136" y="2900795"/>
            <a:ext cx="2831523" cy="800219"/>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2600" b="1">
                <a:solidFill>
                  <a:srgbClr val="BA0C2F"/>
                </a:solidFill>
                <a:latin typeface="+mj-lt"/>
              </a:rPr>
              <a:t>Target State</a:t>
            </a:r>
            <a:r>
              <a:rPr sz="2600" b="1">
                <a:latin typeface="+mj-lt"/>
                <a:ea typeface="Arial"/>
                <a:cs typeface="Arial"/>
              </a:rPr>
              <a:t>​</a:t>
            </a:r>
            <a:endParaRPr lang="en-US" sz="2600" b="1">
              <a:latin typeface="+mj-lt"/>
            </a:endParaRPr>
          </a:p>
          <a:p>
            <a:pPr marL="228600" indent="-228600" algn="l">
              <a:spcAft>
                <a:spcPts val="500"/>
              </a:spcAft>
              <a:buFont typeface="Arial" panose="020B0604020202020204" pitchFamily="34" charset="0"/>
              <a:buChar char="•"/>
            </a:pPr>
            <a:endParaRPr lang="en-US" sz="2600" b="1">
              <a:latin typeface="+mj-lt"/>
            </a:endParaRPr>
          </a:p>
        </p:txBody>
      </p:sp>
    </p:spTree>
    <p:extLst>
      <p:ext uri="{BB962C8B-B14F-4D97-AF65-F5344CB8AC3E}">
        <p14:creationId xmlns:p14="http://schemas.microsoft.com/office/powerpoint/2010/main" val="255540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84709-F5E0-C932-15D5-B757AC13F150}"/>
            </a:ext>
          </a:extLst>
        </p:cNvPr>
        <p:cNvGrpSpPr/>
        <p:nvPr/>
      </p:nvGrpSpPr>
      <p:grpSpPr>
        <a:xfrm>
          <a:off x="0" y="0"/>
          <a:ext cx="0" cy="0"/>
          <a:chOff x="0" y="0"/>
          <a:chExt cx="0" cy="0"/>
        </a:xfrm>
      </p:grpSpPr>
      <p:sp>
        <p:nvSpPr>
          <p:cNvPr id="4" name="Text 4">
            <a:extLst>
              <a:ext uri="{FF2B5EF4-FFF2-40B4-BE49-F238E27FC236}">
                <a16:creationId xmlns:a16="http://schemas.microsoft.com/office/drawing/2014/main" id="{2B202553-B992-FE2F-A0DC-13B7D4594B11}"/>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Calibri" pitchFamily="34" charset="0"/>
                <a:ea typeface="Calibri" pitchFamily="34" charset="-122"/>
                <a:cs typeface="Calibri" pitchFamily="34" charset="-120"/>
              </a:rPr>
              <a:t>Design Principles for Target State &amp; Expected Business Outcomes</a:t>
            </a:r>
            <a:endParaRPr lang="en-US" sz="2600"/>
          </a:p>
        </p:txBody>
      </p:sp>
      <p:sp>
        <p:nvSpPr>
          <p:cNvPr id="3" name="Text 5">
            <a:extLst>
              <a:ext uri="{FF2B5EF4-FFF2-40B4-BE49-F238E27FC236}">
                <a16:creationId xmlns:a16="http://schemas.microsoft.com/office/drawing/2014/main" id="{659860A5-880C-F38B-489B-340A8F127DA2}"/>
              </a:ext>
            </a:extLst>
          </p:cNvPr>
          <p:cNvSpPr/>
          <p:nvPr/>
        </p:nvSpPr>
        <p:spPr>
          <a:xfrm>
            <a:off x="457200" y="1280160"/>
            <a:ext cx="5486400" cy="36576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Key Design Principles</a:t>
            </a:r>
            <a:endParaRPr lang="en-US" sz="1200" dirty="0">
              <a:latin typeface="+mj-lt"/>
            </a:endParaRPr>
          </a:p>
        </p:txBody>
      </p:sp>
      <p:sp>
        <p:nvSpPr>
          <p:cNvPr id="6" name="Text 6">
            <a:extLst>
              <a:ext uri="{FF2B5EF4-FFF2-40B4-BE49-F238E27FC236}">
                <a16:creationId xmlns:a16="http://schemas.microsoft.com/office/drawing/2014/main" id="{EF04D791-381D-7CA2-A706-45E127C099CA}"/>
              </a:ext>
            </a:extLst>
          </p:cNvPr>
          <p:cNvSpPr/>
          <p:nvPr/>
        </p:nvSpPr>
        <p:spPr>
          <a:xfrm>
            <a:off x="6217920" y="1280160"/>
            <a:ext cx="5486400" cy="36576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Expected Business Outcomes</a:t>
            </a:r>
            <a:endParaRPr lang="en-US" sz="1200" dirty="0">
              <a:latin typeface="+mj-lt"/>
            </a:endParaRPr>
          </a:p>
        </p:txBody>
      </p:sp>
      <p:sp>
        <p:nvSpPr>
          <p:cNvPr id="8" name="Shape 7">
            <a:extLst>
              <a:ext uri="{FF2B5EF4-FFF2-40B4-BE49-F238E27FC236}">
                <a16:creationId xmlns:a16="http://schemas.microsoft.com/office/drawing/2014/main" id="{3F9626DF-C6CE-351C-D3B9-2E1B869286F0}"/>
              </a:ext>
            </a:extLst>
          </p:cNvPr>
          <p:cNvSpPr/>
          <p:nvPr/>
        </p:nvSpPr>
        <p:spPr>
          <a:xfrm>
            <a:off x="457200" y="1783080"/>
            <a:ext cx="384048" cy="384048"/>
          </a:xfrm>
          <a:prstGeom prst="ellipse">
            <a:avLst/>
          </a:prstGeom>
          <a:solidFill>
            <a:srgbClr val="BA0C2F"/>
          </a:solidFill>
          <a:ln/>
        </p:spPr>
        <p:txBody>
          <a:bodyPr/>
          <a:lstStyle/>
          <a:p>
            <a:endParaRPr lang="en-US" sz="1200">
              <a:latin typeface="+mj-lt"/>
            </a:endParaRPr>
          </a:p>
        </p:txBody>
      </p:sp>
      <p:sp>
        <p:nvSpPr>
          <p:cNvPr id="10" name="Text 8">
            <a:extLst>
              <a:ext uri="{FF2B5EF4-FFF2-40B4-BE49-F238E27FC236}">
                <a16:creationId xmlns:a16="http://schemas.microsoft.com/office/drawing/2014/main" id="{0CC0E363-3315-9E87-6703-786120AADCB4}"/>
              </a:ext>
            </a:extLst>
          </p:cNvPr>
          <p:cNvSpPr/>
          <p:nvPr/>
        </p:nvSpPr>
        <p:spPr>
          <a:xfrm>
            <a:off x="457200" y="17830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1</a:t>
            </a:r>
            <a:endParaRPr lang="en-US" sz="1200" dirty="0">
              <a:latin typeface="+mj-lt"/>
            </a:endParaRPr>
          </a:p>
        </p:txBody>
      </p:sp>
      <p:sp>
        <p:nvSpPr>
          <p:cNvPr id="12" name="Text 9">
            <a:extLst>
              <a:ext uri="{FF2B5EF4-FFF2-40B4-BE49-F238E27FC236}">
                <a16:creationId xmlns:a16="http://schemas.microsoft.com/office/drawing/2014/main" id="{EE592607-ED36-0ECC-1F43-4A7B1219FD3B}"/>
              </a:ext>
            </a:extLst>
          </p:cNvPr>
          <p:cNvSpPr/>
          <p:nvPr/>
        </p:nvSpPr>
        <p:spPr>
          <a:xfrm>
            <a:off x="1005840" y="1559560"/>
            <a:ext cx="5029200" cy="868680"/>
          </a:xfrm>
          <a:prstGeom prst="rect">
            <a:avLst/>
          </a:prstGeom>
          <a:noFill/>
          <a:ln/>
        </p:spPr>
        <p:txBody>
          <a:bodyPr wrap="square" rtlCol="0" anchor="ctr"/>
          <a:lstStyle/>
          <a:p>
            <a:pPr marL="0" indent="0">
              <a:buNone/>
            </a:pPr>
            <a:r>
              <a:rPr lang="en-US" sz="1200" b="1" dirty="0">
                <a:solidFill>
                  <a:srgbClr val="2E2E38"/>
                </a:solidFill>
                <a:ea typeface="Calibri" pitchFamily="34" charset="-122"/>
                <a:cs typeface="Calibri" pitchFamily="34" charset="-120"/>
              </a:rPr>
              <a:t>Right Engine for the Job: </a:t>
            </a:r>
          </a:p>
          <a:p>
            <a:pPr marL="0" indent="0">
              <a:buNone/>
            </a:pPr>
            <a:r>
              <a:rPr lang="en-US" sz="1000" dirty="0">
                <a:solidFill>
                  <a:srgbClr val="2E2E38"/>
                </a:solidFill>
                <a:ea typeface="Calibri" pitchFamily="34" charset="-122"/>
                <a:cs typeface="Calibri" pitchFamily="34" charset="-120"/>
              </a:rPr>
              <a:t>MS SQL (Managed Instance/RDS) for small–medium workloads, Oracle Exadata for medium–large (critical) — a confirmed sizing rule, not case-by-case debate.</a:t>
            </a:r>
            <a:endParaRPr lang="en-US" sz="1000" dirty="0"/>
          </a:p>
        </p:txBody>
      </p:sp>
      <p:sp>
        <p:nvSpPr>
          <p:cNvPr id="14" name="Shape 10">
            <a:extLst>
              <a:ext uri="{FF2B5EF4-FFF2-40B4-BE49-F238E27FC236}">
                <a16:creationId xmlns:a16="http://schemas.microsoft.com/office/drawing/2014/main" id="{78F74155-3E0B-6720-A20B-7CA1C4ED8A25}"/>
              </a:ext>
            </a:extLst>
          </p:cNvPr>
          <p:cNvSpPr/>
          <p:nvPr/>
        </p:nvSpPr>
        <p:spPr>
          <a:xfrm>
            <a:off x="457200" y="2697480"/>
            <a:ext cx="384048" cy="384048"/>
          </a:xfrm>
          <a:prstGeom prst="ellipse">
            <a:avLst/>
          </a:prstGeom>
          <a:solidFill>
            <a:srgbClr val="2E2E38"/>
          </a:solidFill>
          <a:ln/>
        </p:spPr>
        <p:txBody>
          <a:bodyPr/>
          <a:lstStyle/>
          <a:p>
            <a:endParaRPr lang="en-US" sz="1200">
              <a:latin typeface="+mj-lt"/>
            </a:endParaRPr>
          </a:p>
        </p:txBody>
      </p:sp>
      <p:sp>
        <p:nvSpPr>
          <p:cNvPr id="16" name="Text 11">
            <a:extLst>
              <a:ext uri="{FF2B5EF4-FFF2-40B4-BE49-F238E27FC236}">
                <a16:creationId xmlns:a16="http://schemas.microsoft.com/office/drawing/2014/main" id="{7232FA0E-C0F0-4ABE-F58E-0A866751BD22}"/>
              </a:ext>
            </a:extLst>
          </p:cNvPr>
          <p:cNvSpPr/>
          <p:nvPr/>
        </p:nvSpPr>
        <p:spPr>
          <a:xfrm>
            <a:off x="457200" y="26974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2</a:t>
            </a:r>
            <a:endParaRPr lang="en-US" sz="1200" dirty="0">
              <a:latin typeface="+mj-lt"/>
            </a:endParaRPr>
          </a:p>
        </p:txBody>
      </p:sp>
      <p:sp>
        <p:nvSpPr>
          <p:cNvPr id="18" name="Text 12">
            <a:extLst>
              <a:ext uri="{FF2B5EF4-FFF2-40B4-BE49-F238E27FC236}">
                <a16:creationId xmlns:a16="http://schemas.microsoft.com/office/drawing/2014/main" id="{8FDE646F-21CE-57FD-93D9-04C922FC81EB}"/>
              </a:ext>
            </a:extLst>
          </p:cNvPr>
          <p:cNvSpPr/>
          <p:nvPr/>
        </p:nvSpPr>
        <p:spPr>
          <a:xfrm>
            <a:off x="1005840" y="2473960"/>
            <a:ext cx="5029200" cy="868680"/>
          </a:xfrm>
          <a:prstGeom prst="rect">
            <a:avLst/>
          </a:prstGeom>
          <a:noFill/>
          <a:ln/>
        </p:spPr>
        <p:txBody>
          <a:bodyPr wrap="square" rtlCol="0" anchor="ctr"/>
          <a:lstStyle/>
          <a:p>
            <a:pPr marL="0" indent="0">
              <a:buNone/>
            </a:pPr>
            <a:r>
              <a:rPr lang="en-US" sz="1200" b="1" dirty="0">
                <a:solidFill>
                  <a:srgbClr val="2E2E38"/>
                </a:solidFill>
                <a:ea typeface="Calibri" pitchFamily="34" charset="-122"/>
                <a:cs typeface="Calibri" pitchFamily="34" charset="-120"/>
              </a:rPr>
              <a:t>Resilient, Tiered Architecture: </a:t>
            </a:r>
          </a:p>
          <a:p>
            <a:pPr marL="0" indent="0">
              <a:buNone/>
            </a:pPr>
            <a:r>
              <a:rPr lang="en-US" sz="1000" dirty="0">
                <a:solidFill>
                  <a:srgbClr val="2E2E38"/>
                </a:solidFill>
                <a:ea typeface="Calibri" pitchFamily="34" charset="-122"/>
                <a:cs typeface="Calibri" pitchFamily="34" charset="-120"/>
              </a:rPr>
              <a:t>DR and recovery targets matched to workload criticality, not one-size-fits-all.</a:t>
            </a:r>
            <a:endParaRPr lang="en-US" sz="1000" dirty="0"/>
          </a:p>
        </p:txBody>
      </p:sp>
      <p:sp>
        <p:nvSpPr>
          <p:cNvPr id="20" name="Shape 13">
            <a:extLst>
              <a:ext uri="{FF2B5EF4-FFF2-40B4-BE49-F238E27FC236}">
                <a16:creationId xmlns:a16="http://schemas.microsoft.com/office/drawing/2014/main" id="{F99A0B94-B2C5-71C4-F1A5-C5B0F6F8A80F}"/>
              </a:ext>
            </a:extLst>
          </p:cNvPr>
          <p:cNvSpPr/>
          <p:nvPr/>
        </p:nvSpPr>
        <p:spPr>
          <a:xfrm>
            <a:off x="457200" y="3611880"/>
            <a:ext cx="384048" cy="384048"/>
          </a:xfrm>
          <a:prstGeom prst="ellipse">
            <a:avLst/>
          </a:prstGeom>
          <a:solidFill>
            <a:srgbClr val="BA0C2F"/>
          </a:solidFill>
          <a:ln/>
        </p:spPr>
        <p:txBody>
          <a:bodyPr/>
          <a:lstStyle/>
          <a:p>
            <a:endParaRPr lang="en-US" sz="1200">
              <a:latin typeface="+mj-lt"/>
            </a:endParaRPr>
          </a:p>
        </p:txBody>
      </p:sp>
      <p:sp>
        <p:nvSpPr>
          <p:cNvPr id="22" name="Text 14">
            <a:extLst>
              <a:ext uri="{FF2B5EF4-FFF2-40B4-BE49-F238E27FC236}">
                <a16:creationId xmlns:a16="http://schemas.microsoft.com/office/drawing/2014/main" id="{B192A3F8-502E-854E-5FAC-DEE7AC712E1F}"/>
              </a:ext>
            </a:extLst>
          </p:cNvPr>
          <p:cNvSpPr/>
          <p:nvPr/>
        </p:nvSpPr>
        <p:spPr>
          <a:xfrm>
            <a:off x="457200" y="36118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3</a:t>
            </a:r>
            <a:endParaRPr lang="en-US" sz="1200" dirty="0">
              <a:latin typeface="+mj-lt"/>
            </a:endParaRPr>
          </a:p>
        </p:txBody>
      </p:sp>
      <p:sp>
        <p:nvSpPr>
          <p:cNvPr id="24" name="Text 15">
            <a:extLst>
              <a:ext uri="{FF2B5EF4-FFF2-40B4-BE49-F238E27FC236}">
                <a16:creationId xmlns:a16="http://schemas.microsoft.com/office/drawing/2014/main" id="{6E6B41F4-E923-A008-1D27-0163E6FC5C34}"/>
              </a:ext>
            </a:extLst>
          </p:cNvPr>
          <p:cNvSpPr/>
          <p:nvPr/>
        </p:nvSpPr>
        <p:spPr>
          <a:xfrm>
            <a:off x="1005840" y="3388360"/>
            <a:ext cx="5029200" cy="868680"/>
          </a:xfrm>
          <a:prstGeom prst="rect">
            <a:avLst/>
          </a:prstGeom>
          <a:noFill/>
          <a:ln/>
        </p:spPr>
        <p:txBody>
          <a:bodyPr wrap="square" rtlCol="0" anchor="ctr"/>
          <a:lstStyle/>
          <a:p>
            <a:pPr marL="0" indent="0">
              <a:buNone/>
            </a:pPr>
            <a:r>
              <a:rPr lang="en-US" sz="1200" b="1" dirty="0">
                <a:solidFill>
                  <a:srgbClr val="2E2E38"/>
                </a:solidFill>
                <a:ea typeface="Calibri" pitchFamily="34" charset="-122"/>
                <a:cs typeface="Calibri" pitchFamily="34" charset="-120"/>
              </a:rPr>
              <a:t>Security &amp; Governance by Design: </a:t>
            </a:r>
          </a:p>
          <a:p>
            <a:pPr marL="0" indent="0">
              <a:buNone/>
            </a:pPr>
            <a:r>
              <a:rPr lang="en-US" sz="1000" dirty="0">
                <a:solidFill>
                  <a:srgbClr val="2E2E38"/>
                </a:solidFill>
                <a:ea typeface="Calibri" pitchFamily="34" charset="-122"/>
                <a:cs typeface="Calibri" pitchFamily="34" charset="-120"/>
              </a:rPr>
              <a:t>Policy-driven guardrails, automated compliance — masking stays an Application Owner responsibility.</a:t>
            </a:r>
            <a:endParaRPr lang="en-US" sz="1000" dirty="0"/>
          </a:p>
        </p:txBody>
      </p:sp>
      <p:sp>
        <p:nvSpPr>
          <p:cNvPr id="26" name="Shape 16">
            <a:extLst>
              <a:ext uri="{FF2B5EF4-FFF2-40B4-BE49-F238E27FC236}">
                <a16:creationId xmlns:a16="http://schemas.microsoft.com/office/drawing/2014/main" id="{B4D047EF-4E22-7836-8281-5AC6E79356DC}"/>
              </a:ext>
            </a:extLst>
          </p:cNvPr>
          <p:cNvSpPr/>
          <p:nvPr/>
        </p:nvSpPr>
        <p:spPr>
          <a:xfrm>
            <a:off x="457200" y="4526280"/>
            <a:ext cx="384048" cy="384048"/>
          </a:xfrm>
          <a:prstGeom prst="ellipse">
            <a:avLst/>
          </a:prstGeom>
          <a:solidFill>
            <a:srgbClr val="2E2E38"/>
          </a:solidFill>
          <a:ln/>
        </p:spPr>
        <p:txBody>
          <a:bodyPr/>
          <a:lstStyle/>
          <a:p>
            <a:endParaRPr lang="en-US" sz="1200">
              <a:latin typeface="+mj-lt"/>
            </a:endParaRPr>
          </a:p>
        </p:txBody>
      </p:sp>
      <p:sp>
        <p:nvSpPr>
          <p:cNvPr id="28" name="Text 17">
            <a:extLst>
              <a:ext uri="{FF2B5EF4-FFF2-40B4-BE49-F238E27FC236}">
                <a16:creationId xmlns:a16="http://schemas.microsoft.com/office/drawing/2014/main" id="{5A73039F-5921-E552-74DB-FAF072CED784}"/>
              </a:ext>
            </a:extLst>
          </p:cNvPr>
          <p:cNvSpPr/>
          <p:nvPr/>
        </p:nvSpPr>
        <p:spPr>
          <a:xfrm>
            <a:off x="457200" y="45262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4</a:t>
            </a:r>
            <a:endParaRPr lang="en-US" sz="1200" dirty="0">
              <a:latin typeface="+mj-lt"/>
            </a:endParaRPr>
          </a:p>
        </p:txBody>
      </p:sp>
      <p:sp>
        <p:nvSpPr>
          <p:cNvPr id="30" name="Text 18">
            <a:extLst>
              <a:ext uri="{FF2B5EF4-FFF2-40B4-BE49-F238E27FC236}">
                <a16:creationId xmlns:a16="http://schemas.microsoft.com/office/drawing/2014/main" id="{4F83060E-2C98-FB2F-852B-53A0674DBE57}"/>
              </a:ext>
            </a:extLst>
          </p:cNvPr>
          <p:cNvSpPr/>
          <p:nvPr/>
        </p:nvSpPr>
        <p:spPr>
          <a:xfrm>
            <a:off x="1005840" y="4302760"/>
            <a:ext cx="5029200" cy="868680"/>
          </a:xfrm>
          <a:prstGeom prst="rect">
            <a:avLst/>
          </a:prstGeom>
          <a:noFill/>
          <a:ln/>
        </p:spPr>
        <p:txBody>
          <a:bodyPr wrap="square" rtlCol="0" anchor="ctr"/>
          <a:lstStyle/>
          <a:p>
            <a:pPr marL="0" indent="0">
              <a:buNone/>
            </a:pPr>
            <a:r>
              <a:rPr lang="en-US" sz="1200" b="1" dirty="0">
                <a:solidFill>
                  <a:srgbClr val="2E2E38"/>
                </a:solidFill>
                <a:ea typeface="Calibri" pitchFamily="34" charset="-122"/>
                <a:cs typeface="Calibri" pitchFamily="34" charset="-120"/>
              </a:rPr>
              <a:t>Cost-Transparent Operations: </a:t>
            </a:r>
          </a:p>
          <a:p>
            <a:pPr marL="0" indent="0">
              <a:buNone/>
            </a:pPr>
            <a:r>
              <a:rPr lang="en-US" sz="1000" dirty="0">
                <a:solidFill>
                  <a:srgbClr val="2E2E38"/>
                </a:solidFill>
                <a:ea typeface="Calibri" pitchFamily="34" charset="-122"/>
                <a:cs typeface="Calibri" pitchFamily="34" charset="-120"/>
              </a:rPr>
              <a:t>unified licensing and consumption visibility for FinOps-style traceability</a:t>
            </a:r>
            <a:r>
              <a:rPr lang="en-US" sz="1200" dirty="0">
                <a:solidFill>
                  <a:srgbClr val="2E2E38"/>
                </a:solidFill>
                <a:ea typeface="Calibri" pitchFamily="34" charset="-122"/>
                <a:cs typeface="Calibri" pitchFamily="34" charset="-120"/>
              </a:rPr>
              <a:t>.</a:t>
            </a:r>
            <a:endParaRPr lang="en-US" sz="1200" dirty="0"/>
          </a:p>
        </p:txBody>
      </p:sp>
      <p:sp>
        <p:nvSpPr>
          <p:cNvPr id="32" name="Shape 19">
            <a:extLst>
              <a:ext uri="{FF2B5EF4-FFF2-40B4-BE49-F238E27FC236}">
                <a16:creationId xmlns:a16="http://schemas.microsoft.com/office/drawing/2014/main" id="{AA6ACA73-A6BF-6C37-8766-0977B8A7DF3C}"/>
              </a:ext>
            </a:extLst>
          </p:cNvPr>
          <p:cNvSpPr/>
          <p:nvPr/>
        </p:nvSpPr>
        <p:spPr>
          <a:xfrm>
            <a:off x="457200" y="5440680"/>
            <a:ext cx="384048" cy="384048"/>
          </a:xfrm>
          <a:prstGeom prst="ellipse">
            <a:avLst/>
          </a:prstGeom>
          <a:solidFill>
            <a:srgbClr val="BA0C2F"/>
          </a:solidFill>
          <a:ln/>
        </p:spPr>
        <p:txBody>
          <a:bodyPr/>
          <a:lstStyle/>
          <a:p>
            <a:endParaRPr lang="en-US" sz="1200">
              <a:latin typeface="+mj-lt"/>
            </a:endParaRPr>
          </a:p>
        </p:txBody>
      </p:sp>
      <p:sp>
        <p:nvSpPr>
          <p:cNvPr id="34" name="Text 20">
            <a:extLst>
              <a:ext uri="{FF2B5EF4-FFF2-40B4-BE49-F238E27FC236}">
                <a16:creationId xmlns:a16="http://schemas.microsoft.com/office/drawing/2014/main" id="{EAF35BFF-61E4-CE05-65A7-37811123A4DB}"/>
              </a:ext>
            </a:extLst>
          </p:cNvPr>
          <p:cNvSpPr/>
          <p:nvPr/>
        </p:nvSpPr>
        <p:spPr>
          <a:xfrm>
            <a:off x="457200" y="54406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5</a:t>
            </a:r>
            <a:endParaRPr lang="en-US" sz="1200" dirty="0">
              <a:latin typeface="+mj-lt"/>
            </a:endParaRPr>
          </a:p>
        </p:txBody>
      </p:sp>
      <p:sp>
        <p:nvSpPr>
          <p:cNvPr id="36" name="Text 21">
            <a:extLst>
              <a:ext uri="{FF2B5EF4-FFF2-40B4-BE49-F238E27FC236}">
                <a16:creationId xmlns:a16="http://schemas.microsoft.com/office/drawing/2014/main" id="{0545B2BC-86BC-2912-3A68-F21859C88DA5}"/>
              </a:ext>
            </a:extLst>
          </p:cNvPr>
          <p:cNvSpPr/>
          <p:nvPr/>
        </p:nvSpPr>
        <p:spPr>
          <a:xfrm>
            <a:off x="1005840" y="5217160"/>
            <a:ext cx="5029200" cy="868680"/>
          </a:xfrm>
          <a:prstGeom prst="rect">
            <a:avLst/>
          </a:prstGeom>
          <a:noFill/>
          <a:ln/>
        </p:spPr>
        <p:txBody>
          <a:bodyPr wrap="square" rtlCol="0" anchor="ctr"/>
          <a:lstStyle/>
          <a:p>
            <a:pPr marL="0" indent="0">
              <a:buNone/>
            </a:pPr>
            <a:r>
              <a:rPr lang="en-US" sz="1200" b="1" dirty="0">
                <a:solidFill>
                  <a:srgbClr val="2E2E38"/>
                </a:solidFill>
                <a:ea typeface="Calibri" pitchFamily="34" charset="-122"/>
                <a:cs typeface="Calibri" pitchFamily="34" charset="-120"/>
              </a:rPr>
              <a:t>Progressive Retirement of Legacy Platforms:</a:t>
            </a:r>
          </a:p>
          <a:p>
            <a:pPr marL="0" indent="0">
              <a:buNone/>
            </a:pPr>
            <a:r>
              <a:rPr lang="en-US" sz="1000" dirty="0">
                <a:solidFill>
                  <a:srgbClr val="2E2E38"/>
                </a:solidFill>
                <a:ea typeface="Calibri" pitchFamily="34" charset="-122"/>
                <a:cs typeface="Calibri" pitchFamily="34" charset="-120"/>
              </a:rPr>
              <a:t>DB2 exit to Oracle Exadata completed on a committed timeline</a:t>
            </a:r>
            <a:r>
              <a:rPr lang="en-US" sz="1200" dirty="0">
                <a:solidFill>
                  <a:srgbClr val="2E2E38"/>
                </a:solidFill>
                <a:ea typeface="Calibri" pitchFamily="34" charset="-122"/>
                <a:cs typeface="Calibri" pitchFamily="34" charset="-120"/>
              </a:rPr>
              <a:t>.</a:t>
            </a:r>
            <a:endParaRPr lang="en-US" sz="1200" dirty="0"/>
          </a:p>
        </p:txBody>
      </p:sp>
      <p:sp>
        <p:nvSpPr>
          <p:cNvPr id="38" name="Shape 22">
            <a:extLst>
              <a:ext uri="{FF2B5EF4-FFF2-40B4-BE49-F238E27FC236}">
                <a16:creationId xmlns:a16="http://schemas.microsoft.com/office/drawing/2014/main" id="{EF7E70B0-B5F2-E915-315B-E97244DD96B7}"/>
              </a:ext>
            </a:extLst>
          </p:cNvPr>
          <p:cNvSpPr/>
          <p:nvPr/>
        </p:nvSpPr>
        <p:spPr>
          <a:xfrm>
            <a:off x="6217920" y="1783080"/>
            <a:ext cx="384048" cy="384048"/>
          </a:xfrm>
          <a:prstGeom prst="ellipse">
            <a:avLst/>
          </a:prstGeom>
          <a:solidFill>
            <a:srgbClr val="2E2E38"/>
          </a:solidFill>
          <a:ln/>
        </p:spPr>
        <p:txBody>
          <a:bodyPr/>
          <a:lstStyle/>
          <a:p>
            <a:endParaRPr lang="en-US" sz="1200">
              <a:latin typeface="+mj-lt"/>
            </a:endParaRPr>
          </a:p>
        </p:txBody>
      </p:sp>
      <p:sp>
        <p:nvSpPr>
          <p:cNvPr id="40" name="Text 23">
            <a:extLst>
              <a:ext uri="{FF2B5EF4-FFF2-40B4-BE49-F238E27FC236}">
                <a16:creationId xmlns:a16="http://schemas.microsoft.com/office/drawing/2014/main" id="{3E01A172-ACC8-FA8F-8BC5-F7081CF643E7}"/>
              </a:ext>
            </a:extLst>
          </p:cNvPr>
          <p:cNvSpPr/>
          <p:nvPr/>
        </p:nvSpPr>
        <p:spPr>
          <a:xfrm>
            <a:off x="6217920" y="17830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1</a:t>
            </a:r>
            <a:endParaRPr lang="en-US" sz="1200" dirty="0">
              <a:latin typeface="+mj-lt"/>
            </a:endParaRPr>
          </a:p>
        </p:txBody>
      </p:sp>
      <p:sp>
        <p:nvSpPr>
          <p:cNvPr id="42" name="Text 24">
            <a:extLst>
              <a:ext uri="{FF2B5EF4-FFF2-40B4-BE49-F238E27FC236}">
                <a16:creationId xmlns:a16="http://schemas.microsoft.com/office/drawing/2014/main" id="{A57138CD-402F-6110-A2BA-F8E4164E6AB6}"/>
              </a:ext>
            </a:extLst>
          </p:cNvPr>
          <p:cNvSpPr/>
          <p:nvPr/>
        </p:nvSpPr>
        <p:spPr>
          <a:xfrm>
            <a:off x="6766560" y="1572260"/>
            <a:ext cx="4937760" cy="86868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Cost Efficiency: </a:t>
            </a:r>
            <a:r>
              <a:rPr lang="en-US" sz="1200" dirty="0">
                <a:solidFill>
                  <a:srgbClr val="2E2E38"/>
                </a:solidFill>
                <a:latin typeface="+mj-lt"/>
                <a:ea typeface="Calibri" pitchFamily="34" charset="-122"/>
                <a:cs typeface="Calibri" pitchFamily="34" charset="-120"/>
              </a:rPr>
              <a:t>contain licensing and infrastructure spend while supporting business growth.</a:t>
            </a:r>
            <a:endParaRPr lang="en-US" sz="1200" dirty="0">
              <a:latin typeface="+mj-lt"/>
            </a:endParaRPr>
          </a:p>
        </p:txBody>
      </p:sp>
      <p:sp>
        <p:nvSpPr>
          <p:cNvPr id="44" name="Shape 25">
            <a:extLst>
              <a:ext uri="{FF2B5EF4-FFF2-40B4-BE49-F238E27FC236}">
                <a16:creationId xmlns:a16="http://schemas.microsoft.com/office/drawing/2014/main" id="{B0AD8662-35B6-4014-29CE-25B41DB6A6F4}"/>
              </a:ext>
            </a:extLst>
          </p:cNvPr>
          <p:cNvSpPr/>
          <p:nvPr/>
        </p:nvSpPr>
        <p:spPr>
          <a:xfrm>
            <a:off x="6217920" y="2697480"/>
            <a:ext cx="384048" cy="384048"/>
          </a:xfrm>
          <a:prstGeom prst="ellipse">
            <a:avLst/>
          </a:prstGeom>
          <a:solidFill>
            <a:srgbClr val="BA0C2F"/>
          </a:solidFill>
          <a:ln/>
        </p:spPr>
        <p:txBody>
          <a:bodyPr/>
          <a:lstStyle/>
          <a:p>
            <a:endParaRPr lang="en-US" sz="1200">
              <a:latin typeface="+mj-lt"/>
            </a:endParaRPr>
          </a:p>
        </p:txBody>
      </p:sp>
      <p:sp>
        <p:nvSpPr>
          <p:cNvPr id="46" name="Text 26">
            <a:extLst>
              <a:ext uri="{FF2B5EF4-FFF2-40B4-BE49-F238E27FC236}">
                <a16:creationId xmlns:a16="http://schemas.microsoft.com/office/drawing/2014/main" id="{5D58E175-BF2E-B878-C098-7E1B32FDD271}"/>
              </a:ext>
            </a:extLst>
          </p:cNvPr>
          <p:cNvSpPr/>
          <p:nvPr/>
        </p:nvSpPr>
        <p:spPr>
          <a:xfrm>
            <a:off x="6217920" y="26974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2</a:t>
            </a:r>
            <a:endParaRPr lang="en-US" sz="1200" dirty="0">
              <a:latin typeface="+mj-lt"/>
            </a:endParaRPr>
          </a:p>
        </p:txBody>
      </p:sp>
      <p:sp>
        <p:nvSpPr>
          <p:cNvPr id="48" name="Text 27">
            <a:extLst>
              <a:ext uri="{FF2B5EF4-FFF2-40B4-BE49-F238E27FC236}">
                <a16:creationId xmlns:a16="http://schemas.microsoft.com/office/drawing/2014/main" id="{EE323DE3-8546-1498-29BE-F13FF57F2947}"/>
              </a:ext>
            </a:extLst>
          </p:cNvPr>
          <p:cNvSpPr/>
          <p:nvPr/>
        </p:nvSpPr>
        <p:spPr>
          <a:xfrm>
            <a:off x="6766560" y="2486660"/>
            <a:ext cx="4937760" cy="86868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Speed to Value: </a:t>
            </a:r>
            <a:r>
              <a:rPr lang="en-US" sz="1200" dirty="0">
                <a:solidFill>
                  <a:srgbClr val="2E2E38"/>
                </a:solidFill>
                <a:latin typeface="+mj-lt"/>
                <a:ea typeface="Calibri" pitchFamily="34" charset="-122"/>
                <a:cs typeface="Calibri" pitchFamily="34" charset="-120"/>
              </a:rPr>
              <a:t>faster provisioning for application teams via self-service.</a:t>
            </a:r>
            <a:endParaRPr lang="en-US" sz="1200" dirty="0">
              <a:latin typeface="+mj-lt"/>
            </a:endParaRPr>
          </a:p>
        </p:txBody>
      </p:sp>
      <p:sp>
        <p:nvSpPr>
          <p:cNvPr id="50" name="Shape 28">
            <a:extLst>
              <a:ext uri="{FF2B5EF4-FFF2-40B4-BE49-F238E27FC236}">
                <a16:creationId xmlns:a16="http://schemas.microsoft.com/office/drawing/2014/main" id="{D8CC7B95-E539-75E5-9992-070EC362BAB8}"/>
              </a:ext>
            </a:extLst>
          </p:cNvPr>
          <p:cNvSpPr/>
          <p:nvPr/>
        </p:nvSpPr>
        <p:spPr>
          <a:xfrm>
            <a:off x="6217920" y="3611880"/>
            <a:ext cx="384048" cy="384048"/>
          </a:xfrm>
          <a:prstGeom prst="ellipse">
            <a:avLst/>
          </a:prstGeom>
          <a:solidFill>
            <a:srgbClr val="2E2E38"/>
          </a:solidFill>
          <a:ln/>
        </p:spPr>
        <p:txBody>
          <a:bodyPr/>
          <a:lstStyle/>
          <a:p>
            <a:endParaRPr lang="en-US" sz="1200">
              <a:latin typeface="+mj-lt"/>
            </a:endParaRPr>
          </a:p>
        </p:txBody>
      </p:sp>
      <p:sp>
        <p:nvSpPr>
          <p:cNvPr id="52" name="Text 29">
            <a:extLst>
              <a:ext uri="{FF2B5EF4-FFF2-40B4-BE49-F238E27FC236}">
                <a16:creationId xmlns:a16="http://schemas.microsoft.com/office/drawing/2014/main" id="{F63C4EE0-10B5-DDCD-D629-0BE65BDF016F}"/>
              </a:ext>
            </a:extLst>
          </p:cNvPr>
          <p:cNvSpPr/>
          <p:nvPr/>
        </p:nvSpPr>
        <p:spPr>
          <a:xfrm>
            <a:off x="6217920" y="36118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3</a:t>
            </a:r>
            <a:endParaRPr lang="en-US" sz="1200" dirty="0">
              <a:latin typeface="+mj-lt"/>
            </a:endParaRPr>
          </a:p>
        </p:txBody>
      </p:sp>
      <p:sp>
        <p:nvSpPr>
          <p:cNvPr id="54" name="Text 30">
            <a:extLst>
              <a:ext uri="{FF2B5EF4-FFF2-40B4-BE49-F238E27FC236}">
                <a16:creationId xmlns:a16="http://schemas.microsoft.com/office/drawing/2014/main" id="{705A807D-D32B-3D69-71C5-69B3BF4AEB93}"/>
              </a:ext>
            </a:extLst>
          </p:cNvPr>
          <p:cNvSpPr/>
          <p:nvPr/>
        </p:nvSpPr>
        <p:spPr>
          <a:xfrm>
            <a:off x="6766560" y="3401060"/>
            <a:ext cx="4937760" cy="86868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Risk &amp; Compliance: </a:t>
            </a:r>
            <a:r>
              <a:rPr lang="en-US" sz="1200" dirty="0">
                <a:solidFill>
                  <a:srgbClr val="2E2E38"/>
                </a:solidFill>
                <a:latin typeface="+mj-lt"/>
                <a:ea typeface="Calibri" pitchFamily="34" charset="-122"/>
                <a:cs typeface="Calibri" pitchFamily="34" charset="-120"/>
              </a:rPr>
              <a:t>reduced operational risk via unified database governance.</a:t>
            </a:r>
            <a:endParaRPr lang="en-US" sz="1200" dirty="0">
              <a:latin typeface="+mj-lt"/>
            </a:endParaRPr>
          </a:p>
        </p:txBody>
      </p:sp>
      <p:sp>
        <p:nvSpPr>
          <p:cNvPr id="56" name="Shape 31">
            <a:extLst>
              <a:ext uri="{FF2B5EF4-FFF2-40B4-BE49-F238E27FC236}">
                <a16:creationId xmlns:a16="http://schemas.microsoft.com/office/drawing/2014/main" id="{52237CC2-0AB8-F29B-4395-7406F814184A}"/>
              </a:ext>
            </a:extLst>
          </p:cNvPr>
          <p:cNvSpPr/>
          <p:nvPr/>
        </p:nvSpPr>
        <p:spPr>
          <a:xfrm>
            <a:off x="6217920" y="4526280"/>
            <a:ext cx="384048" cy="384048"/>
          </a:xfrm>
          <a:prstGeom prst="ellipse">
            <a:avLst/>
          </a:prstGeom>
          <a:solidFill>
            <a:srgbClr val="BA0C2F"/>
          </a:solidFill>
          <a:ln/>
        </p:spPr>
        <p:txBody>
          <a:bodyPr/>
          <a:lstStyle/>
          <a:p>
            <a:endParaRPr lang="en-US" sz="1200">
              <a:latin typeface="+mj-lt"/>
            </a:endParaRPr>
          </a:p>
        </p:txBody>
      </p:sp>
      <p:sp>
        <p:nvSpPr>
          <p:cNvPr id="58" name="Text 32">
            <a:extLst>
              <a:ext uri="{FF2B5EF4-FFF2-40B4-BE49-F238E27FC236}">
                <a16:creationId xmlns:a16="http://schemas.microsoft.com/office/drawing/2014/main" id="{BE91E08E-F1C9-AB08-C9A5-DD9CF345CCF8}"/>
              </a:ext>
            </a:extLst>
          </p:cNvPr>
          <p:cNvSpPr/>
          <p:nvPr/>
        </p:nvSpPr>
        <p:spPr>
          <a:xfrm>
            <a:off x="6217920" y="45262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4</a:t>
            </a:r>
            <a:endParaRPr lang="en-US" sz="1200" dirty="0">
              <a:latin typeface="+mj-lt"/>
            </a:endParaRPr>
          </a:p>
        </p:txBody>
      </p:sp>
      <p:sp>
        <p:nvSpPr>
          <p:cNvPr id="60" name="Text 33">
            <a:extLst>
              <a:ext uri="{FF2B5EF4-FFF2-40B4-BE49-F238E27FC236}">
                <a16:creationId xmlns:a16="http://schemas.microsoft.com/office/drawing/2014/main" id="{73A21AC2-AA17-E7F3-C4A3-74C1AC2B2BF2}"/>
              </a:ext>
            </a:extLst>
          </p:cNvPr>
          <p:cNvSpPr/>
          <p:nvPr/>
        </p:nvSpPr>
        <p:spPr>
          <a:xfrm>
            <a:off x="6766560" y="4315460"/>
            <a:ext cx="4937760" cy="86868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Strategic Focus: </a:t>
            </a:r>
            <a:r>
              <a:rPr lang="en-US" sz="1200" dirty="0">
                <a:solidFill>
                  <a:srgbClr val="2E2E38"/>
                </a:solidFill>
                <a:latin typeface="+mj-lt"/>
                <a:ea typeface="Calibri" pitchFamily="34" charset="-122"/>
                <a:cs typeface="Calibri" pitchFamily="34" charset="-120"/>
              </a:rPr>
              <a:t>simplify the estate by exiting deprecated, high-cost platforms.</a:t>
            </a:r>
            <a:endParaRPr lang="en-US" sz="1200" dirty="0">
              <a:latin typeface="+mj-lt"/>
            </a:endParaRPr>
          </a:p>
        </p:txBody>
      </p:sp>
      <p:sp>
        <p:nvSpPr>
          <p:cNvPr id="62" name="Shape 34">
            <a:extLst>
              <a:ext uri="{FF2B5EF4-FFF2-40B4-BE49-F238E27FC236}">
                <a16:creationId xmlns:a16="http://schemas.microsoft.com/office/drawing/2014/main" id="{10BA9204-F1C0-0F21-14C1-BD1CBC6B3622}"/>
              </a:ext>
            </a:extLst>
          </p:cNvPr>
          <p:cNvSpPr/>
          <p:nvPr/>
        </p:nvSpPr>
        <p:spPr>
          <a:xfrm>
            <a:off x="6217920" y="5440680"/>
            <a:ext cx="384048" cy="384048"/>
          </a:xfrm>
          <a:prstGeom prst="ellipse">
            <a:avLst/>
          </a:prstGeom>
          <a:solidFill>
            <a:srgbClr val="2E2E38"/>
          </a:solidFill>
          <a:ln/>
        </p:spPr>
        <p:txBody>
          <a:bodyPr/>
          <a:lstStyle/>
          <a:p>
            <a:endParaRPr lang="en-US" sz="1200">
              <a:latin typeface="+mj-lt"/>
            </a:endParaRPr>
          </a:p>
        </p:txBody>
      </p:sp>
      <p:sp>
        <p:nvSpPr>
          <p:cNvPr id="64" name="Text 35">
            <a:extLst>
              <a:ext uri="{FF2B5EF4-FFF2-40B4-BE49-F238E27FC236}">
                <a16:creationId xmlns:a16="http://schemas.microsoft.com/office/drawing/2014/main" id="{6D03D828-EE07-36AB-3B84-D4F7C9EF9495}"/>
              </a:ext>
            </a:extLst>
          </p:cNvPr>
          <p:cNvSpPr/>
          <p:nvPr/>
        </p:nvSpPr>
        <p:spPr>
          <a:xfrm>
            <a:off x="6217920" y="5440680"/>
            <a:ext cx="384048" cy="384048"/>
          </a:xfrm>
          <a:prstGeom prst="rect">
            <a:avLst/>
          </a:prstGeom>
          <a:noFill/>
          <a:ln/>
        </p:spPr>
        <p:txBody>
          <a:bodyPr wrap="square" rtlCol="0" anchor="ctr"/>
          <a:lstStyle/>
          <a:p>
            <a:pPr marL="0" indent="0" algn="ctr">
              <a:buNone/>
            </a:pPr>
            <a:r>
              <a:rPr lang="en-US" sz="1200" b="1" dirty="0">
                <a:solidFill>
                  <a:srgbClr val="FFFFFF"/>
                </a:solidFill>
                <a:latin typeface="+mj-lt"/>
                <a:ea typeface="Calibri" pitchFamily="34" charset="-122"/>
                <a:cs typeface="Calibri" pitchFamily="34" charset="-120"/>
              </a:rPr>
              <a:t>5</a:t>
            </a:r>
            <a:endParaRPr lang="en-US" sz="1200" dirty="0">
              <a:latin typeface="+mj-lt"/>
            </a:endParaRPr>
          </a:p>
        </p:txBody>
      </p:sp>
      <p:sp>
        <p:nvSpPr>
          <p:cNvPr id="66" name="Text 36">
            <a:extLst>
              <a:ext uri="{FF2B5EF4-FFF2-40B4-BE49-F238E27FC236}">
                <a16:creationId xmlns:a16="http://schemas.microsoft.com/office/drawing/2014/main" id="{79933048-2BED-50C8-9BCD-8E62F3CD189B}"/>
              </a:ext>
            </a:extLst>
          </p:cNvPr>
          <p:cNvSpPr/>
          <p:nvPr/>
        </p:nvSpPr>
        <p:spPr>
          <a:xfrm>
            <a:off x="6766560" y="5229860"/>
            <a:ext cx="4937760" cy="86868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Maturity Uplift: </a:t>
            </a:r>
            <a:r>
              <a:rPr lang="en-US" sz="1200" dirty="0">
                <a:solidFill>
                  <a:srgbClr val="2E2E38"/>
                </a:solidFill>
                <a:latin typeface="+mj-lt"/>
                <a:ea typeface="Calibri" pitchFamily="34" charset="-122"/>
                <a:cs typeface="Calibri" pitchFamily="34" charset="-120"/>
              </a:rPr>
              <a:t>target Level 4+ across all assessed database capabilities.</a:t>
            </a:r>
            <a:endParaRPr lang="en-US" sz="1200" dirty="0">
              <a:latin typeface="+mj-lt"/>
            </a:endParaRPr>
          </a:p>
        </p:txBody>
      </p:sp>
    </p:spTree>
    <p:extLst>
      <p:ext uri="{BB962C8B-B14F-4D97-AF65-F5344CB8AC3E}">
        <p14:creationId xmlns:p14="http://schemas.microsoft.com/office/powerpoint/2010/main" val="3330750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3CE5B-77A0-C7B1-DB2D-89CA28C66C82}"/>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D335A6D6-4EF6-B931-090C-E388A4148BE8}"/>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Enterprise Database Landscape – Target State</a:t>
            </a:r>
            <a:endParaRPr lang="en-US" sz="2600">
              <a:latin typeface="+mj-lt"/>
            </a:endParaRPr>
          </a:p>
        </p:txBody>
      </p:sp>
      <p:sp>
        <p:nvSpPr>
          <p:cNvPr id="6" name="Shape 7">
            <a:extLst>
              <a:ext uri="{FF2B5EF4-FFF2-40B4-BE49-F238E27FC236}">
                <a16:creationId xmlns:a16="http://schemas.microsoft.com/office/drawing/2014/main" id="{1775DE91-87A8-CBBA-82B2-EAA94AC145F8}"/>
              </a:ext>
            </a:extLst>
          </p:cNvPr>
          <p:cNvSpPr/>
          <p:nvPr/>
        </p:nvSpPr>
        <p:spPr>
          <a:xfrm>
            <a:off x="457200" y="1417320"/>
            <a:ext cx="5486400" cy="4434840"/>
          </a:xfrm>
          <a:prstGeom prst="roundRect">
            <a:avLst>
              <a:gd name="adj" fmla="val 1237"/>
            </a:avLst>
          </a:prstGeom>
          <a:solidFill>
            <a:srgbClr val="F0CCD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8" name="Text 8">
            <a:extLst>
              <a:ext uri="{FF2B5EF4-FFF2-40B4-BE49-F238E27FC236}">
                <a16:creationId xmlns:a16="http://schemas.microsoft.com/office/drawing/2014/main" id="{8A14BBAF-F1DA-9EDC-84C4-C2DC942E1557}"/>
              </a:ext>
            </a:extLst>
          </p:cNvPr>
          <p:cNvSpPr/>
          <p:nvPr/>
        </p:nvSpPr>
        <p:spPr>
          <a:xfrm>
            <a:off x="640080" y="1554480"/>
            <a:ext cx="5120640" cy="365760"/>
          </a:xfrm>
          <a:prstGeom prst="rect">
            <a:avLst/>
          </a:prstGeom>
          <a:noFill/>
          <a:ln/>
        </p:spPr>
        <p:txBody>
          <a:bodyPr wrap="square" rtlCol="0" anchor="ctr"/>
          <a:lstStyle/>
          <a:p>
            <a:pPr marL="0" indent="0">
              <a:buNone/>
            </a:pPr>
            <a:r>
              <a:rPr lang="en-US" sz="1200" b="1" dirty="0">
                <a:solidFill>
                  <a:srgbClr val="8C0924"/>
                </a:solidFill>
                <a:latin typeface="+mj-lt"/>
                <a:ea typeface="Calibri" pitchFamily="34" charset="-122"/>
                <a:cs typeface="Calibri" pitchFamily="34" charset="-120"/>
              </a:rPr>
              <a:t>MS SQL Server</a:t>
            </a:r>
            <a:endParaRPr lang="en-US" sz="1200" dirty="0">
              <a:latin typeface="+mj-lt"/>
            </a:endParaRPr>
          </a:p>
        </p:txBody>
      </p:sp>
      <p:sp>
        <p:nvSpPr>
          <p:cNvPr id="10" name="Text 9">
            <a:extLst>
              <a:ext uri="{FF2B5EF4-FFF2-40B4-BE49-F238E27FC236}">
                <a16:creationId xmlns:a16="http://schemas.microsoft.com/office/drawing/2014/main" id="{042CD502-48F8-CC1D-3E18-A43FE2098B10}"/>
              </a:ext>
            </a:extLst>
          </p:cNvPr>
          <p:cNvSpPr/>
          <p:nvPr/>
        </p:nvSpPr>
        <p:spPr>
          <a:xfrm>
            <a:off x="640080" y="1965960"/>
            <a:ext cx="5120640" cy="3749040"/>
          </a:xfrm>
          <a:prstGeom prst="rect">
            <a:avLst/>
          </a:prstGeom>
          <a:noFill/>
          <a:ln/>
        </p:spPr>
        <p:txBody>
          <a:bodyPr wrap="square" rtlCol="0" anchor="t"/>
          <a:lstStyle/>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On-Prem: persists beyond this roadmap's horizon — unpreferred pattern, not a retirement target.</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AWS RDS (managed instance): preferred cloud target, replacing self-installed IaaS on EC2.</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Azure SQL Managed Instance (PaaS): preferred cloud target, replacing VM / SQL Database / SQL Logical Server IaaS patterns.</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Version: SQL Server 2025 — maximum general support window, plus enhanced AI-compatible datatypes.</a:t>
            </a:r>
            <a:endParaRPr lang="en-US" sz="1200" dirty="0">
              <a:latin typeface="+mj-lt"/>
            </a:endParaRPr>
          </a:p>
        </p:txBody>
      </p:sp>
      <p:sp>
        <p:nvSpPr>
          <p:cNvPr id="12" name="Shape 10">
            <a:extLst>
              <a:ext uri="{FF2B5EF4-FFF2-40B4-BE49-F238E27FC236}">
                <a16:creationId xmlns:a16="http://schemas.microsoft.com/office/drawing/2014/main" id="{8F40DEBD-1DA5-FA68-CD38-1388B1F3B0B4}"/>
              </a:ext>
            </a:extLst>
          </p:cNvPr>
          <p:cNvSpPr/>
          <p:nvPr/>
        </p:nvSpPr>
        <p:spPr>
          <a:xfrm>
            <a:off x="6172200" y="1417320"/>
            <a:ext cx="5577840" cy="2606040"/>
          </a:xfrm>
          <a:prstGeom prst="roundRect">
            <a:avLst>
              <a:gd name="adj" fmla="val 2105"/>
            </a:avLst>
          </a:prstGeom>
          <a:solidFill>
            <a:schemeClr val="bg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14" name="Text 11">
            <a:extLst>
              <a:ext uri="{FF2B5EF4-FFF2-40B4-BE49-F238E27FC236}">
                <a16:creationId xmlns:a16="http://schemas.microsoft.com/office/drawing/2014/main" id="{D181D2C7-8DAF-FDC0-E26B-027F76F620BD}"/>
              </a:ext>
            </a:extLst>
          </p:cNvPr>
          <p:cNvSpPr/>
          <p:nvPr/>
        </p:nvSpPr>
        <p:spPr>
          <a:xfrm>
            <a:off x="6355080" y="1554480"/>
            <a:ext cx="5212080" cy="365760"/>
          </a:xfrm>
          <a:prstGeom prst="rect">
            <a:avLst/>
          </a:prstGeom>
          <a:noFill/>
          <a:ln/>
        </p:spPr>
        <p:txBody>
          <a:bodyPr wrap="square" rtlCol="0" anchor="ctr"/>
          <a:lstStyle/>
          <a:p>
            <a:pPr marL="0" indent="0">
              <a:buNone/>
            </a:pPr>
            <a:r>
              <a:rPr lang="en-US" sz="1200" b="1" dirty="0">
                <a:solidFill>
                  <a:srgbClr val="8C0924"/>
                </a:solidFill>
                <a:latin typeface="+mj-lt"/>
                <a:ea typeface="Calibri" pitchFamily="34" charset="-122"/>
                <a:cs typeface="Calibri" pitchFamily="34" charset="-120"/>
              </a:rPr>
              <a:t>Oracle</a:t>
            </a:r>
            <a:endParaRPr lang="en-US" sz="1200" dirty="0">
              <a:latin typeface="+mj-lt"/>
            </a:endParaRPr>
          </a:p>
        </p:txBody>
      </p:sp>
      <p:sp>
        <p:nvSpPr>
          <p:cNvPr id="16" name="Text 12">
            <a:extLst>
              <a:ext uri="{FF2B5EF4-FFF2-40B4-BE49-F238E27FC236}">
                <a16:creationId xmlns:a16="http://schemas.microsoft.com/office/drawing/2014/main" id="{34D782BA-E8E8-296D-D49C-D7AFCBC9260F}"/>
              </a:ext>
            </a:extLst>
          </p:cNvPr>
          <p:cNvSpPr/>
          <p:nvPr/>
        </p:nvSpPr>
        <p:spPr>
          <a:xfrm>
            <a:off x="6355080" y="1828800"/>
            <a:ext cx="5212080" cy="2148840"/>
          </a:xfrm>
          <a:prstGeom prst="rect">
            <a:avLst/>
          </a:prstGeom>
          <a:noFill/>
          <a:ln/>
        </p:spPr>
        <p:txBody>
          <a:bodyPr wrap="square" rtlCol="0" anchor="t"/>
          <a:lstStyle/>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Exa@Azure: sole Oracle landing zone; all database licensing included.</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19c stays supported to 2033 — no support-cliff forcing the move.</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26ai unlocks AI out of the box: native AI vector search, native MongoDB-compatible storage, unified JSON-or-SQL access.</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Autonomous Database: self-manage, self-patch, self-heal — targeted operating-model uplift.</a:t>
            </a:r>
            <a:endParaRPr lang="en-US" sz="1200" dirty="0">
              <a:latin typeface="+mj-lt"/>
            </a:endParaRPr>
          </a:p>
        </p:txBody>
      </p:sp>
      <p:sp>
        <p:nvSpPr>
          <p:cNvPr id="18" name="Shape 13">
            <a:extLst>
              <a:ext uri="{FF2B5EF4-FFF2-40B4-BE49-F238E27FC236}">
                <a16:creationId xmlns:a16="http://schemas.microsoft.com/office/drawing/2014/main" id="{AEE98908-66A5-9E21-2BED-1F8B98CEE3D0}"/>
              </a:ext>
            </a:extLst>
          </p:cNvPr>
          <p:cNvSpPr/>
          <p:nvPr/>
        </p:nvSpPr>
        <p:spPr>
          <a:xfrm>
            <a:off x="6172200" y="4160520"/>
            <a:ext cx="5577840" cy="1691640"/>
          </a:xfrm>
          <a:prstGeom prst="roundRect">
            <a:avLst>
              <a:gd name="adj" fmla="val 3243"/>
            </a:avLst>
          </a:prstGeom>
          <a:solidFill>
            <a:srgbClr val="FFFFFF"/>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20" name="Text 14">
            <a:extLst>
              <a:ext uri="{FF2B5EF4-FFF2-40B4-BE49-F238E27FC236}">
                <a16:creationId xmlns:a16="http://schemas.microsoft.com/office/drawing/2014/main" id="{BD4A9E54-930B-2315-C927-A2ABB798BEFC}"/>
              </a:ext>
            </a:extLst>
          </p:cNvPr>
          <p:cNvSpPr/>
          <p:nvPr/>
        </p:nvSpPr>
        <p:spPr>
          <a:xfrm>
            <a:off x="6355080" y="4279392"/>
            <a:ext cx="5212080" cy="32004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DB2 · MongoDB · PostgreSQL — Target Resolution</a:t>
            </a:r>
            <a:endParaRPr lang="en-US" sz="1200" dirty="0">
              <a:latin typeface="+mj-lt"/>
            </a:endParaRPr>
          </a:p>
        </p:txBody>
      </p:sp>
      <p:sp>
        <p:nvSpPr>
          <p:cNvPr id="22" name="Text 15">
            <a:extLst>
              <a:ext uri="{FF2B5EF4-FFF2-40B4-BE49-F238E27FC236}">
                <a16:creationId xmlns:a16="http://schemas.microsoft.com/office/drawing/2014/main" id="{029B6735-4911-4881-7C50-6A334E883998}"/>
              </a:ext>
            </a:extLst>
          </p:cNvPr>
          <p:cNvSpPr/>
          <p:nvPr/>
        </p:nvSpPr>
        <p:spPr>
          <a:xfrm>
            <a:off x="6355080" y="4617720"/>
            <a:ext cx="5212080" cy="1188720"/>
          </a:xfrm>
          <a:prstGeom prst="rect">
            <a:avLst/>
          </a:prstGeom>
          <a:noFill/>
          <a:ln/>
        </p:spPr>
        <p:txBody>
          <a:bodyPr wrap="square" rtlCol="0" anchor="t"/>
          <a:lstStyle/>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IBM DB2: retired — consolidated onto Oracle Exadata.</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MongoDB: Atlas or 26ai-native Mongo, per placement policy.</a:t>
            </a:r>
            <a:endParaRPr lang="en-US" sz="1200" dirty="0">
              <a:latin typeface="+mj-lt"/>
            </a:endParaRPr>
          </a:p>
          <a:p>
            <a:pPr marL="177800" indent="-177800">
              <a:spcAft>
                <a:spcPts val="800"/>
              </a:spcAft>
              <a:buSzPct val="100000"/>
              <a:buChar char="•"/>
            </a:pPr>
            <a:r>
              <a:rPr lang="en-US" sz="1200" dirty="0">
                <a:solidFill>
                  <a:srgbClr val="2E2E38"/>
                </a:solidFill>
                <a:latin typeface="+mj-lt"/>
                <a:ea typeface="Calibri" pitchFamily="34" charset="-122"/>
                <a:cs typeface="Calibri" pitchFamily="34" charset="-120"/>
              </a:rPr>
              <a:t>PostgreSQL: AWS RDS PostgreSQL, per placement policy.</a:t>
            </a:r>
            <a:endParaRPr lang="en-US" sz="1200" dirty="0">
              <a:latin typeface="+mj-lt"/>
            </a:endParaRPr>
          </a:p>
        </p:txBody>
      </p:sp>
    </p:spTree>
    <p:extLst>
      <p:ext uri="{BB962C8B-B14F-4D97-AF65-F5344CB8AC3E}">
        <p14:creationId xmlns:p14="http://schemas.microsoft.com/office/powerpoint/2010/main" val="3674802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CDE2-5BC7-187B-C949-578CDCF3DE3F}"/>
            </a:ext>
          </a:extLst>
        </p:cNvPr>
        <p:cNvGrpSpPr/>
        <p:nvPr/>
      </p:nvGrpSpPr>
      <p:grpSpPr>
        <a:xfrm>
          <a:off x="0" y="0"/>
          <a:ext cx="0" cy="0"/>
          <a:chOff x="0" y="0"/>
          <a:chExt cx="0" cy="0"/>
        </a:xfrm>
      </p:grpSpPr>
      <p:sp>
        <p:nvSpPr>
          <p:cNvPr id="4" name="Text 4">
            <a:extLst>
              <a:ext uri="{FF2B5EF4-FFF2-40B4-BE49-F238E27FC236}">
                <a16:creationId xmlns:a16="http://schemas.microsoft.com/office/drawing/2014/main" id="{EBD6025A-9903-2C5A-7ADF-5EFF20879453}"/>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Calibri" pitchFamily="34" charset="0"/>
                <a:ea typeface="Calibri" pitchFamily="34" charset="-122"/>
                <a:cs typeface="Calibri" pitchFamily="34" charset="-120"/>
              </a:rPr>
              <a:t>High-Level Target Operating Model</a:t>
            </a:r>
            <a:endParaRPr lang="en-US" sz="2600"/>
          </a:p>
        </p:txBody>
      </p:sp>
      <p:sp>
        <p:nvSpPr>
          <p:cNvPr id="3" name="Text 5">
            <a:extLst>
              <a:ext uri="{FF2B5EF4-FFF2-40B4-BE49-F238E27FC236}">
                <a16:creationId xmlns:a16="http://schemas.microsoft.com/office/drawing/2014/main" id="{C68703A0-FD84-B930-9EBF-A87C14EC5102}"/>
              </a:ext>
            </a:extLst>
          </p:cNvPr>
          <p:cNvSpPr/>
          <p:nvPr/>
        </p:nvSpPr>
        <p:spPr>
          <a:xfrm>
            <a:off x="457200" y="1051560"/>
            <a:ext cx="11247120" cy="502920"/>
          </a:xfrm>
          <a:prstGeom prst="rect">
            <a:avLst/>
          </a:prstGeom>
          <a:noFill/>
          <a:ln/>
        </p:spPr>
        <p:txBody>
          <a:bodyPr wrap="square" rtlCol="0" anchor="ctr"/>
          <a:lstStyle/>
          <a:p>
            <a:pPr marL="0" indent="0">
              <a:buNone/>
            </a:pPr>
            <a:r>
              <a:rPr lang="en-US" sz="1200" dirty="0">
                <a:solidFill>
                  <a:srgbClr val="747480"/>
                </a:solidFill>
                <a:latin typeface="+mj-lt"/>
                <a:ea typeface="Calibri" pitchFamily="34" charset="-122"/>
                <a:cs typeface="Calibri" pitchFamily="34" charset="-120"/>
              </a:rPr>
              <a:t>The target model gives every workload a governed path to the right engine, sized by workload demand, with automation and observability wrapped around all of it.</a:t>
            </a:r>
            <a:endParaRPr lang="en-US" sz="1200" dirty="0">
              <a:latin typeface="+mj-lt"/>
            </a:endParaRPr>
          </a:p>
        </p:txBody>
      </p:sp>
      <p:sp>
        <p:nvSpPr>
          <p:cNvPr id="6" name="Shape 6">
            <a:extLst>
              <a:ext uri="{FF2B5EF4-FFF2-40B4-BE49-F238E27FC236}">
                <a16:creationId xmlns:a16="http://schemas.microsoft.com/office/drawing/2014/main" id="{6DAF1D4A-B372-8355-D873-CCB6801E33B1}"/>
              </a:ext>
            </a:extLst>
          </p:cNvPr>
          <p:cNvSpPr/>
          <p:nvPr/>
        </p:nvSpPr>
        <p:spPr>
          <a:xfrm>
            <a:off x="457200" y="1691640"/>
            <a:ext cx="11247120" cy="960120"/>
          </a:xfrm>
          <a:prstGeom prst="roundRect">
            <a:avLst>
              <a:gd name="adj" fmla="val 5714"/>
            </a:avLst>
          </a:prstGeom>
          <a:solidFill>
            <a:srgbClr val="F0CCD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8" name="Text 7">
            <a:extLst>
              <a:ext uri="{FF2B5EF4-FFF2-40B4-BE49-F238E27FC236}">
                <a16:creationId xmlns:a16="http://schemas.microsoft.com/office/drawing/2014/main" id="{BA45442C-F693-A4AD-5266-B8B025E6D73E}"/>
              </a:ext>
            </a:extLst>
          </p:cNvPr>
          <p:cNvSpPr/>
          <p:nvPr/>
        </p:nvSpPr>
        <p:spPr>
          <a:xfrm>
            <a:off x="685800" y="1764792"/>
            <a:ext cx="2926080" cy="45720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Consumers</a:t>
            </a:r>
            <a:endParaRPr lang="en-US" sz="1200" dirty="0">
              <a:latin typeface="+mj-lt"/>
            </a:endParaRPr>
          </a:p>
        </p:txBody>
      </p:sp>
      <p:sp>
        <p:nvSpPr>
          <p:cNvPr id="10" name="Text 8">
            <a:extLst>
              <a:ext uri="{FF2B5EF4-FFF2-40B4-BE49-F238E27FC236}">
                <a16:creationId xmlns:a16="http://schemas.microsoft.com/office/drawing/2014/main" id="{A1FFB9AE-A320-19B0-EE83-AEA9D0E3CBCC}"/>
              </a:ext>
            </a:extLst>
          </p:cNvPr>
          <p:cNvSpPr/>
          <p:nvPr/>
        </p:nvSpPr>
        <p:spPr>
          <a:xfrm>
            <a:off x="685800" y="2194560"/>
            <a:ext cx="10789920" cy="411480"/>
          </a:xfrm>
          <a:prstGeom prst="rect">
            <a:avLst/>
          </a:prstGeom>
          <a:noFill/>
          <a:ln/>
        </p:spPr>
        <p:txBody>
          <a:bodyPr wrap="square" rtlCol="0" anchor="ctr"/>
          <a:lstStyle/>
          <a:p>
            <a:pPr marL="0" indent="0">
              <a:buNone/>
            </a:pPr>
            <a:r>
              <a:rPr lang="en-US" sz="1200" dirty="0">
                <a:solidFill>
                  <a:srgbClr val="2E2E38"/>
                </a:solidFill>
                <a:latin typeface="+mj-lt"/>
                <a:ea typeface="Calibri" pitchFamily="34" charset="-122"/>
                <a:cs typeface="Calibri" pitchFamily="34" charset="-120"/>
              </a:rPr>
              <a:t>Application Teams  •  Analytics &amp; BI  •  AI / ML Workloads</a:t>
            </a:r>
            <a:endParaRPr lang="en-US" sz="1200" dirty="0">
              <a:latin typeface="+mj-lt"/>
            </a:endParaRPr>
          </a:p>
        </p:txBody>
      </p:sp>
      <p:sp>
        <p:nvSpPr>
          <p:cNvPr id="12" name="Shape 9">
            <a:extLst>
              <a:ext uri="{FF2B5EF4-FFF2-40B4-BE49-F238E27FC236}">
                <a16:creationId xmlns:a16="http://schemas.microsoft.com/office/drawing/2014/main" id="{4FA8F2CE-A4D9-D23E-320F-7219F7A8585B}"/>
              </a:ext>
            </a:extLst>
          </p:cNvPr>
          <p:cNvSpPr/>
          <p:nvPr/>
        </p:nvSpPr>
        <p:spPr>
          <a:xfrm>
            <a:off x="457200" y="2788920"/>
            <a:ext cx="11247120" cy="960120"/>
          </a:xfrm>
          <a:prstGeom prst="roundRect">
            <a:avLst>
              <a:gd name="adj" fmla="val 5714"/>
            </a:avLst>
          </a:prstGeom>
          <a:solidFill>
            <a:srgbClr val="F2F2F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14" name="Text 10">
            <a:extLst>
              <a:ext uri="{FF2B5EF4-FFF2-40B4-BE49-F238E27FC236}">
                <a16:creationId xmlns:a16="http://schemas.microsoft.com/office/drawing/2014/main" id="{A36206CF-B405-C0E0-50D6-B1CA39C937A7}"/>
              </a:ext>
            </a:extLst>
          </p:cNvPr>
          <p:cNvSpPr/>
          <p:nvPr/>
        </p:nvSpPr>
        <p:spPr>
          <a:xfrm>
            <a:off x="685800" y="2862072"/>
            <a:ext cx="2926080" cy="45720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Database Service Layer</a:t>
            </a:r>
            <a:endParaRPr lang="en-US" sz="1200" dirty="0">
              <a:latin typeface="+mj-lt"/>
            </a:endParaRPr>
          </a:p>
        </p:txBody>
      </p:sp>
      <p:sp>
        <p:nvSpPr>
          <p:cNvPr id="16" name="Text 11">
            <a:extLst>
              <a:ext uri="{FF2B5EF4-FFF2-40B4-BE49-F238E27FC236}">
                <a16:creationId xmlns:a16="http://schemas.microsoft.com/office/drawing/2014/main" id="{82C66A70-C311-0E28-F42C-E5C909273E76}"/>
              </a:ext>
            </a:extLst>
          </p:cNvPr>
          <p:cNvSpPr/>
          <p:nvPr/>
        </p:nvSpPr>
        <p:spPr>
          <a:xfrm>
            <a:off x="685800" y="3291840"/>
            <a:ext cx="10789920" cy="411480"/>
          </a:xfrm>
          <a:prstGeom prst="rect">
            <a:avLst/>
          </a:prstGeom>
          <a:noFill/>
          <a:ln/>
        </p:spPr>
        <p:txBody>
          <a:bodyPr wrap="square" rtlCol="0" anchor="ctr"/>
          <a:lstStyle/>
          <a:p>
            <a:pPr marL="0" indent="0">
              <a:buNone/>
            </a:pPr>
            <a:r>
              <a:rPr lang="en-US" sz="1200" dirty="0">
                <a:solidFill>
                  <a:srgbClr val="2E2E38"/>
                </a:solidFill>
                <a:latin typeface="+mj-lt"/>
                <a:ea typeface="Calibri" pitchFamily="34" charset="-122"/>
                <a:cs typeface="Calibri" pitchFamily="34" charset="-120"/>
              </a:rPr>
              <a:t>Relational: MS SQL 2025 MI/RDS (small–medium) + Oracle Exadata/26ai/Autonomous DB (medium–large, critical)  •  NoSQL: MongoDB Atlas + Oracle 26ai-native  •  Graph/Vector (NORTH-driven, future)</a:t>
            </a:r>
            <a:endParaRPr lang="en-US" sz="1200" dirty="0">
              <a:latin typeface="+mj-lt"/>
            </a:endParaRPr>
          </a:p>
        </p:txBody>
      </p:sp>
      <p:sp>
        <p:nvSpPr>
          <p:cNvPr id="18" name="Shape 12">
            <a:extLst>
              <a:ext uri="{FF2B5EF4-FFF2-40B4-BE49-F238E27FC236}">
                <a16:creationId xmlns:a16="http://schemas.microsoft.com/office/drawing/2014/main" id="{E433AD79-945B-991C-D3F2-74CC04813470}"/>
              </a:ext>
            </a:extLst>
          </p:cNvPr>
          <p:cNvSpPr/>
          <p:nvPr/>
        </p:nvSpPr>
        <p:spPr>
          <a:xfrm>
            <a:off x="457200" y="3886200"/>
            <a:ext cx="11247120" cy="960120"/>
          </a:xfrm>
          <a:prstGeom prst="roundRect">
            <a:avLst>
              <a:gd name="adj" fmla="val 5714"/>
            </a:avLst>
          </a:prstGeom>
          <a:solidFill>
            <a:srgbClr val="F0CCD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20" name="Text 13">
            <a:extLst>
              <a:ext uri="{FF2B5EF4-FFF2-40B4-BE49-F238E27FC236}">
                <a16:creationId xmlns:a16="http://schemas.microsoft.com/office/drawing/2014/main" id="{3E199D90-2116-C502-5B2A-95474911FFD9}"/>
              </a:ext>
            </a:extLst>
          </p:cNvPr>
          <p:cNvSpPr/>
          <p:nvPr/>
        </p:nvSpPr>
        <p:spPr>
          <a:xfrm>
            <a:off x="685800" y="3959352"/>
            <a:ext cx="2926080" cy="457200"/>
          </a:xfrm>
          <a:prstGeom prst="rect">
            <a:avLst/>
          </a:prstGeom>
          <a:noFill/>
          <a:ln/>
        </p:spPr>
        <p:txBody>
          <a:bodyPr wrap="square" rtlCol="0" anchor="ctr"/>
          <a:lstStyle/>
          <a:p>
            <a:pPr marL="0" indent="0">
              <a:buNone/>
            </a:pPr>
            <a:r>
              <a:rPr lang="en-US" sz="1200" b="1" dirty="0">
                <a:solidFill>
                  <a:srgbClr val="BA0C2F"/>
                </a:solidFill>
                <a:latin typeface="+mj-lt"/>
                <a:ea typeface="Calibri" pitchFamily="34" charset="-122"/>
                <a:cs typeface="Calibri" pitchFamily="34" charset="-120"/>
              </a:rPr>
              <a:t>Automation, Security &amp; Governance</a:t>
            </a:r>
            <a:endParaRPr lang="en-US" sz="1200" dirty="0">
              <a:latin typeface="+mj-lt"/>
            </a:endParaRPr>
          </a:p>
        </p:txBody>
      </p:sp>
      <p:sp>
        <p:nvSpPr>
          <p:cNvPr id="22" name="Text 14">
            <a:extLst>
              <a:ext uri="{FF2B5EF4-FFF2-40B4-BE49-F238E27FC236}">
                <a16:creationId xmlns:a16="http://schemas.microsoft.com/office/drawing/2014/main" id="{7903B74F-2913-1407-DD65-B88FF641124F}"/>
              </a:ext>
            </a:extLst>
          </p:cNvPr>
          <p:cNvSpPr/>
          <p:nvPr/>
        </p:nvSpPr>
        <p:spPr>
          <a:xfrm>
            <a:off x="685800" y="4389120"/>
            <a:ext cx="10789920" cy="411480"/>
          </a:xfrm>
          <a:prstGeom prst="rect">
            <a:avLst/>
          </a:prstGeom>
          <a:noFill/>
          <a:ln/>
        </p:spPr>
        <p:txBody>
          <a:bodyPr wrap="square" rtlCol="0" anchor="ctr"/>
          <a:lstStyle/>
          <a:p>
            <a:pPr marL="0" indent="0">
              <a:buNone/>
            </a:pPr>
            <a:r>
              <a:rPr lang="en-US" sz="1200" dirty="0">
                <a:solidFill>
                  <a:srgbClr val="2E2E38"/>
                </a:solidFill>
                <a:latin typeface="+mj-lt"/>
                <a:ea typeface="Calibri" pitchFamily="34" charset="-122"/>
                <a:cs typeface="Calibri" pitchFamily="34" charset="-120"/>
              </a:rPr>
              <a:t>Policy-as-code  •  RBAC/PAM  •  Automated backup, patch &amp; DR  •  Cost &amp; license governance  •  Masking = App Owner-led, Oracle-enabled</a:t>
            </a:r>
            <a:endParaRPr lang="en-US" sz="1200" dirty="0">
              <a:latin typeface="+mj-lt"/>
            </a:endParaRPr>
          </a:p>
        </p:txBody>
      </p:sp>
      <p:sp>
        <p:nvSpPr>
          <p:cNvPr id="24" name="Shape 15">
            <a:extLst>
              <a:ext uri="{FF2B5EF4-FFF2-40B4-BE49-F238E27FC236}">
                <a16:creationId xmlns:a16="http://schemas.microsoft.com/office/drawing/2014/main" id="{DB00F311-F2EE-EDBC-E646-13E6B4537301}"/>
              </a:ext>
            </a:extLst>
          </p:cNvPr>
          <p:cNvSpPr/>
          <p:nvPr/>
        </p:nvSpPr>
        <p:spPr>
          <a:xfrm>
            <a:off x="457200" y="4983480"/>
            <a:ext cx="11247120" cy="960120"/>
          </a:xfrm>
          <a:prstGeom prst="roundRect">
            <a:avLst>
              <a:gd name="adj" fmla="val 5714"/>
            </a:avLst>
          </a:prstGeom>
          <a:solidFill>
            <a:srgbClr val="F2F2F2"/>
          </a:solidFill>
          <a:ln/>
          <a:effectLst>
            <a:outerShdw blurRad="50800" dist="25400" dir="5400000" algn="bl" rotWithShape="0">
              <a:srgbClr val="808080">
                <a:alpha val="20000"/>
              </a:srgbClr>
            </a:outerShdw>
          </a:effectLst>
        </p:spPr>
        <p:txBody>
          <a:bodyPr/>
          <a:lstStyle/>
          <a:p>
            <a:endParaRPr lang="en-US" sz="1200">
              <a:latin typeface="+mj-lt"/>
            </a:endParaRPr>
          </a:p>
        </p:txBody>
      </p:sp>
      <p:sp>
        <p:nvSpPr>
          <p:cNvPr id="26" name="Text 16">
            <a:extLst>
              <a:ext uri="{FF2B5EF4-FFF2-40B4-BE49-F238E27FC236}">
                <a16:creationId xmlns:a16="http://schemas.microsoft.com/office/drawing/2014/main" id="{92F3E22E-E051-E56A-3DF9-3B16970E3EC3}"/>
              </a:ext>
            </a:extLst>
          </p:cNvPr>
          <p:cNvSpPr/>
          <p:nvPr/>
        </p:nvSpPr>
        <p:spPr>
          <a:xfrm>
            <a:off x="685800" y="5056632"/>
            <a:ext cx="2926080" cy="457200"/>
          </a:xfrm>
          <a:prstGeom prst="rect">
            <a:avLst/>
          </a:prstGeom>
          <a:noFill/>
          <a:ln/>
        </p:spPr>
        <p:txBody>
          <a:bodyPr wrap="square" rtlCol="0" anchor="ctr"/>
          <a:lstStyle/>
          <a:p>
            <a:pPr marL="0" indent="0">
              <a:buNone/>
            </a:pPr>
            <a:r>
              <a:rPr lang="en-US" sz="1200" b="1" dirty="0">
                <a:solidFill>
                  <a:srgbClr val="2E2E38"/>
                </a:solidFill>
                <a:latin typeface="+mj-lt"/>
                <a:ea typeface="Calibri" pitchFamily="34" charset="-122"/>
                <a:cs typeface="Calibri" pitchFamily="34" charset="-120"/>
              </a:rPr>
              <a:t>Foundation</a:t>
            </a:r>
            <a:endParaRPr lang="en-US" sz="1200" dirty="0">
              <a:latin typeface="+mj-lt"/>
            </a:endParaRPr>
          </a:p>
        </p:txBody>
      </p:sp>
      <p:sp>
        <p:nvSpPr>
          <p:cNvPr id="28" name="Text 17">
            <a:extLst>
              <a:ext uri="{FF2B5EF4-FFF2-40B4-BE49-F238E27FC236}">
                <a16:creationId xmlns:a16="http://schemas.microsoft.com/office/drawing/2014/main" id="{76FF101C-A755-C2E6-8BEC-D446F7B5138C}"/>
              </a:ext>
            </a:extLst>
          </p:cNvPr>
          <p:cNvSpPr/>
          <p:nvPr/>
        </p:nvSpPr>
        <p:spPr>
          <a:xfrm>
            <a:off x="685800" y="5486400"/>
            <a:ext cx="10789920" cy="411480"/>
          </a:xfrm>
          <a:prstGeom prst="rect">
            <a:avLst/>
          </a:prstGeom>
          <a:noFill/>
          <a:ln/>
        </p:spPr>
        <p:txBody>
          <a:bodyPr wrap="square" rtlCol="0" anchor="ctr"/>
          <a:lstStyle/>
          <a:p>
            <a:pPr marL="0" indent="0">
              <a:buNone/>
            </a:pPr>
            <a:r>
              <a:rPr lang="en-US" sz="1200" dirty="0">
                <a:solidFill>
                  <a:srgbClr val="2E2E38"/>
                </a:solidFill>
                <a:latin typeface="+mj-lt"/>
                <a:ea typeface="Calibri" pitchFamily="34" charset="-122"/>
                <a:cs typeface="Calibri" pitchFamily="34" charset="-120"/>
              </a:rPr>
              <a:t>Oracle Exadata @ Azure (sole Oracle landing zone)  •  Azure SQL MI  •  AWS RDS  •  On-Prem MS SQL (persists beyond roadmap horizon, unpreferred)  •  On-Prem DB2 (retiring to Exadata)</a:t>
            </a:r>
            <a:endParaRPr lang="en-US" sz="1200" dirty="0">
              <a:latin typeface="+mj-lt"/>
            </a:endParaRPr>
          </a:p>
        </p:txBody>
      </p:sp>
    </p:spTree>
    <p:extLst>
      <p:ext uri="{BB962C8B-B14F-4D97-AF65-F5344CB8AC3E}">
        <p14:creationId xmlns:p14="http://schemas.microsoft.com/office/powerpoint/2010/main" val="2418228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46217-E9D5-4197-8249-6CD27CE9B38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B9436B6-F1AA-6B00-36E1-C05159B0B0BE}"/>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8880BBEB-08CB-9369-E6B6-4FAE81460FE7}"/>
              </a:ext>
            </a:extLst>
          </p:cNvPr>
          <p:cNvSpPr txBox="1"/>
          <p:nvPr/>
        </p:nvSpPr>
        <p:spPr>
          <a:xfrm>
            <a:off x="3969822" y="3028890"/>
            <a:ext cx="5272150" cy="40011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2600" b="1">
                <a:solidFill>
                  <a:srgbClr val="BA0C2F"/>
                </a:solidFill>
                <a:latin typeface="+mj-lt"/>
              </a:rPr>
              <a:t>Work Packages / Sequencing</a:t>
            </a:r>
            <a:endParaRPr lang="en-US"/>
          </a:p>
        </p:txBody>
      </p:sp>
    </p:spTree>
    <p:extLst>
      <p:ext uri="{BB962C8B-B14F-4D97-AF65-F5344CB8AC3E}">
        <p14:creationId xmlns:p14="http://schemas.microsoft.com/office/powerpoint/2010/main" val="1801902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7DAD-9425-FA02-B417-BCFF90B7063F}"/>
            </a:ext>
          </a:extLst>
        </p:cNvPr>
        <p:cNvGrpSpPr/>
        <p:nvPr/>
      </p:nvGrpSpPr>
      <p:grpSpPr>
        <a:xfrm>
          <a:off x="0" y="0"/>
          <a:ext cx="0" cy="0"/>
          <a:chOff x="0" y="0"/>
          <a:chExt cx="0" cy="0"/>
        </a:xfrm>
      </p:grpSpPr>
      <p:sp>
        <p:nvSpPr>
          <p:cNvPr id="4" name="Text 5">
            <a:extLst>
              <a:ext uri="{FF2B5EF4-FFF2-40B4-BE49-F238E27FC236}">
                <a16:creationId xmlns:a16="http://schemas.microsoft.com/office/drawing/2014/main" id="{43BFD388-6AC3-6166-C077-B65A7A1E57B7}"/>
              </a:ext>
            </a:extLst>
          </p:cNvPr>
          <p:cNvSpPr/>
          <p:nvPr/>
        </p:nvSpPr>
        <p:spPr>
          <a:xfrm>
            <a:off x="457200" y="447182"/>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Roadmap Priorities Summary</a:t>
            </a:r>
            <a:endParaRPr lang="en-US" sz="2600">
              <a:latin typeface="+mj-lt"/>
            </a:endParaRPr>
          </a:p>
        </p:txBody>
      </p:sp>
      <p:graphicFrame>
        <p:nvGraphicFramePr>
          <p:cNvPr id="6" name="Table 0">
            <a:extLst>
              <a:ext uri="{FF2B5EF4-FFF2-40B4-BE49-F238E27FC236}">
                <a16:creationId xmlns:a16="http://schemas.microsoft.com/office/drawing/2014/main" id="{380EE2A1-EEC8-4375-520C-A638BD463CE2}"/>
              </a:ext>
            </a:extLst>
          </p:cNvPr>
          <p:cNvGraphicFramePr>
            <a:graphicFrameLocks noGrp="1"/>
          </p:cNvGraphicFramePr>
          <p:nvPr>
            <p:extLst>
              <p:ext uri="{D42A27DB-BD31-4B8C-83A1-F6EECF244321}">
                <p14:modId xmlns:p14="http://schemas.microsoft.com/office/powerpoint/2010/main" val="1275617383"/>
              </p:ext>
            </p:extLst>
          </p:nvPr>
        </p:nvGraphicFramePr>
        <p:xfrm>
          <a:off x="457200" y="1371600"/>
          <a:ext cx="11247120" cy="4526280"/>
        </p:xfrm>
        <a:graphic>
          <a:graphicData uri="http://schemas.openxmlformats.org/drawingml/2006/table">
            <a:tbl>
              <a:tblPr/>
              <a:tblGrid>
                <a:gridCol w="26517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02920">
                <a:tc>
                  <a:txBody>
                    <a:bodyPr/>
                    <a:lstStyle/>
                    <a:p>
                      <a:pPr marL="0" indent="0">
                        <a:buNone/>
                      </a:pPr>
                      <a:r>
                        <a:rPr lang="en-US" sz="1400" b="1">
                          <a:solidFill>
                            <a:srgbClr val="FFFFFF"/>
                          </a:solidFill>
                          <a:latin typeface="+mn-lt"/>
                          <a:ea typeface="Calibri" pitchFamily="34" charset="-122"/>
                          <a:cs typeface="Calibri" pitchFamily="34" charset="-120"/>
                        </a:rPr>
                        <a:t>Priority Name</a:t>
                      </a:r>
                      <a:endParaRPr lang="en-US" sz="14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r>
                        <a:rPr lang="en-US" sz="1400" b="1">
                          <a:solidFill>
                            <a:srgbClr val="FFFFFF"/>
                          </a:solidFill>
                          <a:latin typeface="+mn-lt"/>
                          <a:ea typeface="Calibri" pitchFamily="34" charset="-122"/>
                          <a:cs typeface="Calibri" pitchFamily="34" charset="-120"/>
                        </a:rPr>
                        <a:t>Rank</a:t>
                      </a:r>
                      <a:endParaRPr lang="en-US" sz="14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r>
                        <a:rPr lang="en-US" sz="1400" b="1">
                          <a:solidFill>
                            <a:srgbClr val="FFFFFF"/>
                          </a:solidFill>
                          <a:latin typeface="+mn-lt"/>
                          <a:ea typeface="Calibri" pitchFamily="34" charset="-122"/>
                          <a:cs typeface="Calibri" pitchFamily="34" charset="-120"/>
                        </a:rPr>
                        <a:t>Opportunity / Pain Point</a:t>
                      </a:r>
                      <a:endParaRPr lang="en-US" sz="14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r>
                        <a:rPr lang="en-US" sz="1400" b="1">
                          <a:solidFill>
                            <a:srgbClr val="FFFFFF"/>
                          </a:solidFill>
                          <a:latin typeface="+mn-lt"/>
                          <a:ea typeface="Calibri" pitchFamily="34" charset="-122"/>
                          <a:cs typeface="Calibri" pitchFamily="34" charset="-120"/>
                        </a:rPr>
                        <a:t>Business Impact</a:t>
                      </a:r>
                      <a:endParaRPr lang="en-US" sz="14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r>
                        <a:rPr lang="en-US" sz="1400" b="1">
                          <a:solidFill>
                            <a:srgbClr val="FFFFFF"/>
                          </a:solidFill>
                          <a:latin typeface="+mn-lt"/>
                          <a:ea typeface="Calibri" pitchFamily="34" charset="-122"/>
                          <a:cs typeface="Calibri" pitchFamily="34" charset="-120"/>
                        </a:rPr>
                        <a:t>Domain</a:t>
                      </a:r>
                      <a:endParaRPr lang="en-US" sz="14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extLst>
                  <a:ext uri="{0D108BD9-81ED-4DB2-BD59-A6C34878D82A}">
                    <a16:rowId xmlns:a16="http://schemas.microsoft.com/office/drawing/2014/main" val="10000"/>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r>
                        <a:rPr lang="en-US" sz="1200" b="1">
                          <a:solidFill>
                            <a:srgbClr val="FFFFFF"/>
                          </a:solidFill>
                          <a:latin typeface="+mn-lt"/>
                          <a:ea typeface="Calibri" pitchFamily="34" charset="-122"/>
                          <a:cs typeface="Calibri" pitchFamily="34" charset="-120"/>
                        </a:rPr>
                        <a:t>High</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0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r>
                        <a:rPr lang="en-US" sz="1200">
                          <a:solidFill>
                            <a:srgbClr val="2E2E38"/>
                          </a:solidFill>
                          <a:latin typeface="+mn-lt"/>
                          <a:ea typeface="Calibri" pitchFamily="34" charset="-122"/>
                          <a:cs typeface="Calibri" pitchFamily="34" charset="-120"/>
                        </a:rPr>
                        <a:t>Platform &amp; Services</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extLst>
                  <a:ext uri="{0D108BD9-81ED-4DB2-BD59-A6C34878D82A}">
                    <a16:rowId xmlns:a16="http://schemas.microsoft.com/office/drawing/2014/main" val="10001"/>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r>
                        <a:rPr lang="en-US" sz="1200" b="1">
                          <a:solidFill>
                            <a:srgbClr val="FFFFFF"/>
                          </a:solidFill>
                          <a:latin typeface="+mn-lt"/>
                          <a:ea typeface="Calibri" pitchFamily="34" charset="-122"/>
                          <a:cs typeface="Calibri" pitchFamily="34" charset="-120"/>
                        </a:rPr>
                        <a:t>High</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0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r>
                        <a:rPr lang="en-US" sz="1200">
                          <a:solidFill>
                            <a:srgbClr val="2E2E38"/>
                          </a:solidFill>
                          <a:latin typeface="+mn-lt"/>
                          <a:ea typeface="Calibri" pitchFamily="34" charset="-122"/>
                          <a:cs typeface="Calibri" pitchFamily="34" charset="-120"/>
                        </a:rPr>
                        <a:t>Platform &amp; Services</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extLst>
                  <a:ext uri="{0D108BD9-81ED-4DB2-BD59-A6C34878D82A}">
                    <a16:rowId xmlns:a16="http://schemas.microsoft.com/office/drawing/2014/main" val="10002"/>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b="1">
                          <a:solidFill>
                            <a:srgbClr val="FFFFFF"/>
                          </a:solidFill>
                          <a:latin typeface="+mn-lt"/>
                          <a:ea typeface="Calibri" pitchFamily="34" charset="-122"/>
                          <a:cs typeface="Calibri" pitchFamily="34" charset="-120"/>
                        </a:rPr>
                        <a:t>High</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0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a:solidFill>
                            <a:srgbClr val="2E2E38"/>
                          </a:solidFill>
                          <a:latin typeface="+mn-lt"/>
                          <a:ea typeface="Calibri" pitchFamily="34" charset="-122"/>
                          <a:cs typeface="Calibri" pitchFamily="34" charset="-120"/>
                        </a:rPr>
                        <a:t>Cost &amp; Optimization</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200" b="1">
                          <a:solidFill>
                            <a:srgbClr val="FFFFFF"/>
                          </a:solidFill>
                          <a:latin typeface="+mn-lt"/>
                          <a:ea typeface="Calibri" pitchFamily="34" charset="-122"/>
                          <a:cs typeface="Calibri" pitchFamily="34" charset="-120"/>
                        </a:rPr>
                        <a:t>Medium</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C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200">
                          <a:solidFill>
                            <a:srgbClr val="2E2E38"/>
                          </a:solidFill>
                          <a:latin typeface="+mn-lt"/>
                          <a:ea typeface="Calibri" pitchFamily="34" charset="-122"/>
                          <a:cs typeface="Calibri" pitchFamily="34" charset="-120"/>
                        </a:rPr>
                        <a:t>Platform &amp; Services</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b="1">
                          <a:solidFill>
                            <a:srgbClr val="FFFFFF"/>
                          </a:solidFill>
                          <a:latin typeface="+mn-lt"/>
                          <a:ea typeface="Calibri" pitchFamily="34" charset="-122"/>
                          <a:cs typeface="Calibri" pitchFamily="34" charset="-120"/>
                        </a:rPr>
                        <a:t>Medium</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C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a:solidFill>
                            <a:srgbClr val="2E2E38"/>
                          </a:solidFill>
                          <a:latin typeface="+mn-lt"/>
                          <a:ea typeface="Calibri" pitchFamily="34" charset="-122"/>
                          <a:cs typeface="Calibri" pitchFamily="34" charset="-120"/>
                        </a:rPr>
                        <a:t>Automation</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200" b="1">
                          <a:solidFill>
                            <a:srgbClr val="FFFFFF"/>
                          </a:solidFill>
                          <a:latin typeface="+mn-lt"/>
                          <a:ea typeface="Calibri" pitchFamily="34" charset="-122"/>
                          <a:cs typeface="Calibri" pitchFamily="34" charset="-120"/>
                        </a:rPr>
                        <a:t>Medium</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C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200">
                          <a:solidFill>
                            <a:srgbClr val="2E2E38"/>
                          </a:solidFill>
                          <a:latin typeface="+mn-lt"/>
                          <a:ea typeface="Calibri" pitchFamily="34" charset="-122"/>
                          <a:cs typeface="Calibri" pitchFamily="34" charset="-120"/>
                        </a:rPr>
                        <a:t>Governance</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b="1">
                          <a:solidFill>
                            <a:srgbClr val="FFFFFF"/>
                          </a:solidFill>
                          <a:latin typeface="+mn-lt"/>
                          <a:ea typeface="Calibri" pitchFamily="34" charset="-122"/>
                          <a:cs typeface="Calibri" pitchFamily="34" charset="-120"/>
                        </a:rPr>
                        <a:t>Medium</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C00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a:solidFill>
                            <a:srgbClr val="2E2E38"/>
                          </a:solidFill>
                          <a:latin typeface="+mn-lt"/>
                          <a:ea typeface="Calibri" pitchFamily="34" charset="-122"/>
                          <a:cs typeface="Calibri" pitchFamily="34" charset="-120"/>
                        </a:rPr>
                        <a:t>Platform &amp; Services</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200" b="1">
                          <a:solidFill>
                            <a:srgbClr val="FFFFFF"/>
                          </a:solidFill>
                          <a:latin typeface="+mn-lt"/>
                          <a:ea typeface="Calibri" pitchFamily="34" charset="-122"/>
                          <a:cs typeface="Calibri" pitchFamily="34" charset="-120"/>
                        </a:rPr>
                        <a:t>Low</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B050"/>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200">
                          <a:solidFill>
                            <a:srgbClr val="2E2E38"/>
                          </a:solidFill>
                          <a:latin typeface="+mn-lt"/>
                          <a:ea typeface="Calibri" pitchFamily="34" charset="-122"/>
                          <a:cs typeface="Calibri" pitchFamily="34" charset="-120"/>
                        </a:rPr>
                        <a:t>Automation</a:t>
                      </a:r>
                      <a:endParaRPr lang="en-US" sz="1200">
                        <a:latin typeface="+mn-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79843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751C-2886-46E0-9C16-1BE660C5B40E}"/>
            </a:ext>
          </a:extLst>
        </p:cNvPr>
        <p:cNvGrpSpPr/>
        <p:nvPr/>
      </p:nvGrpSpPr>
      <p:grpSpPr>
        <a:xfrm>
          <a:off x="0" y="0"/>
          <a:ext cx="0" cy="0"/>
          <a:chOff x="0" y="0"/>
          <a:chExt cx="0" cy="0"/>
        </a:xfrm>
      </p:grpSpPr>
      <p:sp>
        <p:nvSpPr>
          <p:cNvPr id="4" name="Text 4">
            <a:extLst>
              <a:ext uri="{FF2B5EF4-FFF2-40B4-BE49-F238E27FC236}">
                <a16:creationId xmlns:a16="http://schemas.microsoft.com/office/drawing/2014/main" id="{7B8CE244-B51D-3587-6CB3-0CF131AE72E7}"/>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Strategic Work Packages / Initiatives &amp; Objectives</a:t>
            </a:r>
            <a:endParaRPr lang="en-US" sz="2600">
              <a:latin typeface="+mj-lt"/>
            </a:endParaRPr>
          </a:p>
        </p:txBody>
      </p:sp>
    </p:spTree>
    <p:extLst>
      <p:ext uri="{BB962C8B-B14F-4D97-AF65-F5344CB8AC3E}">
        <p14:creationId xmlns:p14="http://schemas.microsoft.com/office/powerpoint/2010/main" val="814351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7C8F6-FC1B-35CC-5CEA-A53DEA66AF62}"/>
            </a:ext>
          </a:extLst>
        </p:cNvPr>
        <p:cNvGrpSpPr/>
        <p:nvPr/>
      </p:nvGrpSpPr>
      <p:grpSpPr>
        <a:xfrm>
          <a:off x="0" y="0"/>
          <a:ext cx="0" cy="0"/>
          <a:chOff x="0" y="0"/>
          <a:chExt cx="0" cy="0"/>
        </a:xfrm>
      </p:grpSpPr>
      <p:sp>
        <p:nvSpPr>
          <p:cNvPr id="4" name="Text 4">
            <a:extLst>
              <a:ext uri="{FF2B5EF4-FFF2-40B4-BE49-F238E27FC236}">
                <a16:creationId xmlns:a16="http://schemas.microsoft.com/office/drawing/2014/main" id="{987E7F0A-119D-9BFB-41F0-577EB3DA76D8}"/>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Work Packages / Initiatives Sequencing (2027–2028)</a:t>
            </a:r>
            <a:endParaRPr lang="en-US" sz="2600">
              <a:latin typeface="+mj-lt"/>
            </a:endParaRPr>
          </a:p>
        </p:txBody>
      </p:sp>
      <p:graphicFrame>
        <p:nvGraphicFramePr>
          <p:cNvPr id="10" name="Table 0">
            <a:extLst>
              <a:ext uri="{FF2B5EF4-FFF2-40B4-BE49-F238E27FC236}">
                <a16:creationId xmlns:a16="http://schemas.microsoft.com/office/drawing/2014/main" id="{69559F48-7B4E-8262-A689-D0198345861B}"/>
              </a:ext>
            </a:extLst>
          </p:cNvPr>
          <p:cNvGraphicFramePr>
            <a:graphicFrameLocks noGrp="1"/>
          </p:cNvGraphicFramePr>
          <p:nvPr>
            <p:extLst>
              <p:ext uri="{D42A27DB-BD31-4B8C-83A1-F6EECF244321}">
                <p14:modId xmlns:p14="http://schemas.microsoft.com/office/powerpoint/2010/main" val="3460152079"/>
              </p:ext>
            </p:extLst>
          </p:nvPr>
        </p:nvGraphicFramePr>
        <p:xfrm>
          <a:off x="457200" y="1280160"/>
          <a:ext cx="11247120" cy="3785616"/>
        </p:xfrm>
        <a:graphic>
          <a:graphicData uri="http://schemas.openxmlformats.org/drawingml/2006/table">
            <a:tbl>
              <a:tblPr/>
              <a:tblGrid>
                <a:gridCol w="39319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420624">
                <a:tc>
                  <a:txBody>
                    <a:bodyPr/>
                    <a:lstStyle/>
                    <a:p>
                      <a:pPr marL="0" indent="0" algn="l">
                        <a:buNone/>
                      </a:pPr>
                      <a:r>
                        <a:rPr lang="en-US" sz="1400" b="1">
                          <a:solidFill>
                            <a:srgbClr val="FFFFFF"/>
                          </a:solidFill>
                          <a:latin typeface="+mj-lt"/>
                          <a:ea typeface="Calibri" pitchFamily="34" charset="-122"/>
                          <a:cs typeface="Calibri" pitchFamily="34" charset="-120"/>
                        </a:rPr>
                        <a:t>Initiative</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Q1</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Q2</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Q3</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Q4</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Q1</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Q2</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Q3</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lgn="ctr">
                        <a:buNone/>
                      </a:pPr>
                      <a:r>
                        <a:rPr lang="en-US" sz="1400" b="1">
                          <a:solidFill>
                            <a:srgbClr val="FFFFFF"/>
                          </a:solidFill>
                          <a:latin typeface="+mj-lt"/>
                          <a:ea typeface="Calibri" pitchFamily="34" charset="-122"/>
                          <a:cs typeface="Calibri" pitchFamily="34" charset="-120"/>
                        </a:rPr>
                        <a:t>Q4</a:t>
                      </a:r>
                      <a:endParaRPr lang="en-US" sz="1400">
                        <a:latin typeface="+mj-lt"/>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extLst>
                  <a:ext uri="{0D108BD9-81ED-4DB2-BD59-A6C34878D82A}">
                    <a16:rowId xmlns:a16="http://schemas.microsoft.com/office/drawing/2014/main" val="10000"/>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DDAC"/>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endParaRPr lang="en-US" sz="85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0000"/>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tc>
                  <a:txBody>
                    <a:bodyPr/>
                    <a:lstStyle/>
                    <a:p>
                      <a:pPr marL="0" indent="0">
                        <a:buNone/>
                      </a:pPr>
                      <a:endParaRPr lang="en-US" sz="120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BA0C2F"/>
                    </a:solidFill>
                  </a:tcPr>
                </a:tc>
                <a:extLst>
                  <a:ext uri="{0D108BD9-81ED-4DB2-BD59-A6C34878D82A}">
                    <a16:rowId xmlns:a16="http://schemas.microsoft.com/office/drawing/2014/main" val="10008"/>
                  </a:ext>
                </a:extLst>
              </a:tr>
            </a:tbl>
          </a:graphicData>
        </a:graphic>
      </p:graphicFrame>
      <p:sp>
        <p:nvSpPr>
          <p:cNvPr id="12" name="Text 5">
            <a:extLst>
              <a:ext uri="{FF2B5EF4-FFF2-40B4-BE49-F238E27FC236}">
                <a16:creationId xmlns:a16="http://schemas.microsoft.com/office/drawing/2014/main" id="{C9720B52-B933-5B43-97E8-A9428FE7512D}"/>
              </a:ext>
            </a:extLst>
          </p:cNvPr>
          <p:cNvSpPr/>
          <p:nvPr/>
        </p:nvSpPr>
        <p:spPr>
          <a:xfrm>
            <a:off x="4389120" y="960120"/>
            <a:ext cx="3657600" cy="274320"/>
          </a:xfrm>
          <a:prstGeom prst="rect">
            <a:avLst/>
          </a:prstGeom>
          <a:noFill/>
          <a:ln/>
        </p:spPr>
        <p:txBody>
          <a:bodyPr wrap="square" rtlCol="0" anchor="ctr"/>
          <a:lstStyle/>
          <a:p>
            <a:pPr marL="0" indent="0" algn="ctr">
              <a:buNone/>
            </a:pPr>
            <a:r>
              <a:rPr lang="en-US" sz="1400" b="1">
                <a:solidFill>
                  <a:srgbClr val="2E2E38"/>
                </a:solidFill>
                <a:latin typeface="+mj-lt"/>
                <a:ea typeface="Calibri" pitchFamily="34" charset="-122"/>
                <a:cs typeface="Calibri" pitchFamily="34" charset="-120"/>
              </a:rPr>
              <a:t>2027</a:t>
            </a:r>
            <a:endParaRPr lang="en-US" sz="1400">
              <a:latin typeface="+mj-lt"/>
            </a:endParaRPr>
          </a:p>
        </p:txBody>
      </p:sp>
      <p:sp>
        <p:nvSpPr>
          <p:cNvPr id="14" name="Text 6">
            <a:extLst>
              <a:ext uri="{FF2B5EF4-FFF2-40B4-BE49-F238E27FC236}">
                <a16:creationId xmlns:a16="http://schemas.microsoft.com/office/drawing/2014/main" id="{F6A0F738-DA93-A914-446C-AE0AD83C9240}"/>
              </a:ext>
            </a:extLst>
          </p:cNvPr>
          <p:cNvSpPr/>
          <p:nvPr/>
        </p:nvSpPr>
        <p:spPr>
          <a:xfrm>
            <a:off x="8046720" y="960120"/>
            <a:ext cx="3657600" cy="274320"/>
          </a:xfrm>
          <a:prstGeom prst="rect">
            <a:avLst/>
          </a:prstGeom>
          <a:noFill/>
          <a:ln/>
        </p:spPr>
        <p:txBody>
          <a:bodyPr wrap="square" rtlCol="0" anchor="ctr"/>
          <a:lstStyle/>
          <a:p>
            <a:pPr marL="0" indent="0" algn="ctr">
              <a:buNone/>
            </a:pPr>
            <a:r>
              <a:rPr lang="en-US" sz="1400" b="1">
                <a:solidFill>
                  <a:srgbClr val="2E2E38"/>
                </a:solidFill>
                <a:latin typeface="+mj-lt"/>
                <a:ea typeface="Calibri" pitchFamily="34" charset="-122"/>
                <a:cs typeface="Calibri" pitchFamily="34" charset="-120"/>
              </a:rPr>
              <a:t>2028</a:t>
            </a:r>
            <a:endParaRPr lang="en-US" sz="1400">
              <a:latin typeface="+mj-lt"/>
            </a:endParaRPr>
          </a:p>
        </p:txBody>
      </p:sp>
    </p:spTree>
    <p:extLst>
      <p:ext uri="{BB962C8B-B14F-4D97-AF65-F5344CB8AC3E}">
        <p14:creationId xmlns:p14="http://schemas.microsoft.com/office/powerpoint/2010/main" val="1125878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FA3EB-B4DF-C983-2AE4-BD0744ED890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3F30784-33E4-089A-5557-C8038EE8A819}"/>
              </a:ext>
            </a:extLst>
          </p:cNvPr>
          <p:cNvPicPr>
            <a:picLocks noChangeAspect="1"/>
          </p:cNvPicPr>
          <p:nvPr/>
        </p:nvPicPr>
        <p:blipFill>
          <a:blip r:embed="rId2"/>
          <a:stretch>
            <a:fillRect/>
          </a:stretch>
        </p:blipFill>
        <p:spPr>
          <a:xfrm>
            <a:off x="385823" y="435449"/>
            <a:ext cx="12192000" cy="778494"/>
          </a:xfrm>
          <a:prstGeom prst="rect">
            <a:avLst/>
          </a:prstGeom>
        </p:spPr>
      </p:pic>
    </p:spTree>
    <p:extLst>
      <p:ext uri="{BB962C8B-B14F-4D97-AF65-F5344CB8AC3E}">
        <p14:creationId xmlns:p14="http://schemas.microsoft.com/office/powerpoint/2010/main" val="2931955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0965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47EDA-CBE2-DBF3-E106-42F567830CD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8D07D6-7D09-68E8-822C-0A7B10B814C5}"/>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36184136-5E74-EBAF-BF9A-158C99CE1CAD}"/>
              </a:ext>
            </a:extLst>
          </p:cNvPr>
          <p:cNvSpPr txBox="1"/>
          <p:nvPr/>
        </p:nvSpPr>
        <p:spPr>
          <a:xfrm>
            <a:off x="3969822" y="3028890"/>
            <a:ext cx="5272150" cy="40011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2600" b="1">
                <a:solidFill>
                  <a:srgbClr val="BA0C2F"/>
                </a:solidFill>
                <a:latin typeface="+mj-lt"/>
              </a:rPr>
              <a:t>Appendix</a:t>
            </a:r>
            <a:endParaRPr lang="en-US"/>
          </a:p>
        </p:txBody>
      </p:sp>
    </p:spTree>
    <p:extLst>
      <p:ext uri="{BB962C8B-B14F-4D97-AF65-F5344CB8AC3E}">
        <p14:creationId xmlns:p14="http://schemas.microsoft.com/office/powerpoint/2010/main" val="3064161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36CF-4764-950B-36BC-6CEB865D2874}"/>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5AE0198-3D9A-8AC5-F536-842DBC531415}"/>
              </a:ext>
            </a:extLst>
          </p:cNvPr>
          <p:cNvSpPr txBox="1">
            <a:spLocks/>
          </p:cNvSpPr>
          <p:nvPr/>
        </p:nvSpPr>
        <p:spPr>
          <a:xfrm>
            <a:off x="384048" y="1146290"/>
            <a:ext cx="11430263" cy="809001"/>
          </a:xfrm>
          <a:prstGeom prst="rect">
            <a:avLst/>
          </a:prstGeom>
        </p:spPr>
        <p:txBody>
          <a:bodyPr vert="horz" lIns="0" tIns="0" rIns="0" bIns="0" rtlCol="0" anchor="t">
            <a:noAutofit/>
          </a:bodyPr>
          <a:lst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Arial" panose="020B0604020202020204" pitchFamily="34" charset="0"/>
              <a:buNone/>
            </a:pPr>
            <a:r>
              <a:rPr lang="en-US" sz="1400">
                <a:solidFill>
                  <a:srgbClr val="000000"/>
                </a:solidFill>
                <a:ea typeface="+mn-lt"/>
                <a:cs typeface="+mn-lt"/>
              </a:rPr>
              <a:t>For Capability Mapping, I&amp;O roadmaps are mapped to the Canada Life Technology Capability model.  </a:t>
            </a:r>
            <a:endParaRPr lang="en-US" sz="1400">
              <a:solidFill>
                <a:srgbClr val="000000"/>
              </a:solidFill>
              <a:cs typeface="Arial"/>
            </a:endParaRPr>
          </a:p>
          <a:p>
            <a:pPr>
              <a:buFont typeface="Arial"/>
              <a:buChar char="•"/>
            </a:pPr>
            <a:r>
              <a:rPr lang="en-US" sz="1400">
                <a:solidFill>
                  <a:srgbClr val="000000"/>
                </a:solidFill>
                <a:ea typeface="+mn-lt"/>
                <a:cs typeface="+mn-lt"/>
              </a:rPr>
              <a:t>The Canada Life Technology Capability model is based on the Technology Business Management (TBM) taxonomy.</a:t>
            </a:r>
          </a:p>
          <a:p>
            <a:pPr>
              <a:buFont typeface="Arial"/>
              <a:buChar char="•"/>
            </a:pPr>
            <a:r>
              <a:rPr lang="en-US" sz="1400">
                <a:solidFill>
                  <a:srgbClr val="000000"/>
                </a:solidFill>
                <a:ea typeface="+mn-lt"/>
                <a:cs typeface="+mn-lt"/>
              </a:rPr>
              <a:t>Level 1 - 3 are standardized TBM taxonomy names, Level 4 are Canada Life specific modifications.</a:t>
            </a:r>
            <a:endParaRPr lang="en-US" sz="1400">
              <a:solidFill>
                <a:srgbClr val="000000"/>
              </a:solidFill>
              <a:cs typeface="Arial"/>
            </a:endParaRPr>
          </a:p>
        </p:txBody>
      </p:sp>
      <p:sp>
        <p:nvSpPr>
          <p:cNvPr id="3" name="TextBox 2">
            <a:extLst>
              <a:ext uri="{FF2B5EF4-FFF2-40B4-BE49-F238E27FC236}">
                <a16:creationId xmlns:a16="http://schemas.microsoft.com/office/drawing/2014/main" id="{F29AA31C-1ACC-95CE-3B44-E7B7A6096DAB}"/>
              </a:ext>
            </a:extLst>
          </p:cNvPr>
          <p:cNvSpPr txBox="1"/>
          <p:nvPr/>
        </p:nvSpPr>
        <p:spPr>
          <a:xfrm>
            <a:off x="373944" y="2336867"/>
            <a:ext cx="11437055" cy="184666"/>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latin typeface="+mj-lt"/>
                <a:cs typeface="Arial"/>
              </a:rPr>
              <a:t>   L1 Capability        L2 Capability                  L3 Capability              L4 Service Category                                                      Description</a:t>
            </a:r>
            <a:endParaRPr lang="en-US" sz="1200">
              <a:solidFill>
                <a:srgbClr val="000000"/>
              </a:solidFill>
              <a:latin typeface="+mj-lt"/>
              <a:cs typeface="Arial"/>
            </a:endParaRPr>
          </a:p>
        </p:txBody>
      </p:sp>
      <p:sp>
        <p:nvSpPr>
          <p:cNvPr id="4" name="TextBox 3">
            <a:extLst>
              <a:ext uri="{FF2B5EF4-FFF2-40B4-BE49-F238E27FC236}">
                <a16:creationId xmlns:a16="http://schemas.microsoft.com/office/drawing/2014/main" id="{DAC5F740-AA7B-5347-50A9-4C4111536767}"/>
              </a:ext>
            </a:extLst>
          </p:cNvPr>
          <p:cNvSpPr txBox="1"/>
          <p:nvPr/>
        </p:nvSpPr>
        <p:spPr>
          <a:xfrm>
            <a:off x="376296" y="2083205"/>
            <a:ext cx="6096000" cy="184666"/>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00" b="1" i="0" u="none" strike="noStrike" baseline="0">
                <a:solidFill>
                  <a:srgbClr val="000000"/>
                </a:solidFill>
                <a:latin typeface="+mj-lt"/>
                <a:ea typeface="Arial"/>
                <a:cs typeface="Arial"/>
              </a:rPr>
              <a:t>Technology categorization with descriptions:</a:t>
            </a:r>
            <a:r>
              <a:rPr sz="1200" b="0" i="0">
                <a:solidFill>
                  <a:srgbClr val="000000"/>
                </a:solidFill>
                <a:latin typeface="+mj-lt"/>
                <a:ea typeface="Arial"/>
                <a:cs typeface="Arial"/>
              </a:rPr>
              <a:t>​</a:t>
            </a:r>
            <a:endParaRPr lang="en-US" sz="1200">
              <a:solidFill>
                <a:srgbClr val="000000"/>
              </a:solidFill>
              <a:latin typeface="+mj-lt"/>
              <a:cs typeface="Arial"/>
            </a:endParaRPr>
          </a:p>
        </p:txBody>
      </p:sp>
      <p:sp>
        <p:nvSpPr>
          <p:cNvPr id="6" name="Text 4">
            <a:extLst>
              <a:ext uri="{FF2B5EF4-FFF2-40B4-BE49-F238E27FC236}">
                <a16:creationId xmlns:a16="http://schemas.microsoft.com/office/drawing/2014/main" id="{DD3DCAED-B096-B21A-8225-D87CFD18C0A5}"/>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Capability Mapping</a:t>
            </a:r>
            <a:endParaRPr lang="en-US" sz="2600">
              <a:latin typeface="+mj-lt"/>
            </a:endParaRPr>
          </a:p>
        </p:txBody>
      </p:sp>
      <p:sp>
        <p:nvSpPr>
          <p:cNvPr id="5" name="Rectangle 4">
            <a:extLst>
              <a:ext uri="{FF2B5EF4-FFF2-40B4-BE49-F238E27FC236}">
                <a16:creationId xmlns:a16="http://schemas.microsoft.com/office/drawing/2014/main" id="{297AA1B1-9228-1CD5-F4FE-B7DB4F087A52}"/>
              </a:ext>
            </a:extLst>
          </p:cNvPr>
          <p:cNvSpPr/>
          <p:nvPr/>
        </p:nvSpPr>
        <p:spPr>
          <a:xfrm>
            <a:off x="380999" y="2630314"/>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a:solidFill>
                  <a:schemeClr val="bg1"/>
                </a:solidFill>
                <a:cs typeface="Arial"/>
              </a:rPr>
              <a:t>Technology Infrastructure</a:t>
            </a:r>
            <a:endParaRPr lang="en-US">
              <a:solidFill>
                <a:schemeClr val="bg1"/>
              </a:solidFill>
            </a:endParaRPr>
          </a:p>
        </p:txBody>
      </p:sp>
      <p:sp>
        <p:nvSpPr>
          <p:cNvPr id="7" name="Rectangle 6">
            <a:extLst>
              <a:ext uri="{FF2B5EF4-FFF2-40B4-BE49-F238E27FC236}">
                <a16:creationId xmlns:a16="http://schemas.microsoft.com/office/drawing/2014/main" id="{12F8580E-12FD-6154-DC64-6CC77591D75C}"/>
              </a:ext>
            </a:extLst>
          </p:cNvPr>
          <p:cNvSpPr/>
          <p:nvPr/>
        </p:nvSpPr>
        <p:spPr>
          <a:xfrm>
            <a:off x="1447799" y="2630314"/>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b="1">
                <a:solidFill>
                  <a:srgbClr val="000000"/>
                </a:solidFill>
              </a:rPr>
              <a:t>Data Platform Services</a:t>
            </a:r>
            <a:endParaRPr lang="en-US"/>
          </a:p>
        </p:txBody>
      </p:sp>
      <p:sp>
        <p:nvSpPr>
          <p:cNvPr id="8" name="Rectangle 7">
            <a:extLst>
              <a:ext uri="{FF2B5EF4-FFF2-40B4-BE49-F238E27FC236}">
                <a16:creationId xmlns:a16="http://schemas.microsoft.com/office/drawing/2014/main" id="{4446A94E-F7EB-02F1-F391-6D41BE48F4B9}"/>
              </a:ext>
            </a:extLst>
          </p:cNvPr>
          <p:cNvSpPr/>
          <p:nvPr/>
        </p:nvSpPr>
        <p:spPr>
          <a:xfrm>
            <a:off x="3167959" y="2630314"/>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b="1">
                <a:solidFill>
                  <a:srgbClr val="000000"/>
                </a:solidFill>
                <a:ea typeface="+mn-lt"/>
                <a:cs typeface="+mn-lt"/>
              </a:rPr>
              <a:t>Database Services</a:t>
            </a:r>
            <a:endParaRPr lang="en-US"/>
          </a:p>
          <a:p>
            <a:pPr algn="ctr"/>
            <a:endParaRPr lang="en-US">
              <a:cs typeface="Arial"/>
            </a:endParaRPr>
          </a:p>
        </p:txBody>
      </p:sp>
      <p:sp>
        <p:nvSpPr>
          <p:cNvPr id="9" name="Rectangle 8">
            <a:extLst>
              <a:ext uri="{FF2B5EF4-FFF2-40B4-BE49-F238E27FC236}">
                <a16:creationId xmlns:a16="http://schemas.microsoft.com/office/drawing/2014/main" id="{1359EE9D-3E03-6739-A71D-59270FF83E36}"/>
              </a:ext>
            </a:extLst>
          </p:cNvPr>
          <p:cNvSpPr/>
          <p:nvPr/>
        </p:nvSpPr>
        <p:spPr>
          <a:xfrm>
            <a:off x="4944140" y="2614102"/>
            <a:ext cx="1563296" cy="4372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ptos"/>
                <a:cs typeface="Arial"/>
              </a:rPr>
              <a:t>Relational Database Services</a:t>
            </a:r>
            <a:endParaRPr lang="en-US"/>
          </a:p>
        </p:txBody>
      </p:sp>
      <p:sp>
        <p:nvSpPr>
          <p:cNvPr id="10" name="Rectangle 9">
            <a:extLst>
              <a:ext uri="{FF2B5EF4-FFF2-40B4-BE49-F238E27FC236}">
                <a16:creationId xmlns:a16="http://schemas.microsoft.com/office/drawing/2014/main" id="{6CA77445-A088-9315-3C07-B942A5FB37AD}"/>
              </a:ext>
            </a:extLst>
          </p:cNvPr>
          <p:cNvSpPr/>
          <p:nvPr/>
        </p:nvSpPr>
        <p:spPr>
          <a:xfrm>
            <a:off x="4944140" y="3084907"/>
            <a:ext cx="1555190" cy="46161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100">
              <a:solidFill>
                <a:srgbClr val="000000"/>
              </a:solidFill>
              <a:cs typeface="Arial"/>
            </a:endParaRPr>
          </a:p>
        </p:txBody>
      </p:sp>
      <p:sp>
        <p:nvSpPr>
          <p:cNvPr id="11" name="Rectangle 10">
            <a:extLst>
              <a:ext uri="{FF2B5EF4-FFF2-40B4-BE49-F238E27FC236}">
                <a16:creationId xmlns:a16="http://schemas.microsoft.com/office/drawing/2014/main" id="{18265764-502B-DE2E-26C0-D5B8E82602EF}"/>
              </a:ext>
            </a:extLst>
          </p:cNvPr>
          <p:cNvSpPr/>
          <p:nvPr/>
        </p:nvSpPr>
        <p:spPr>
          <a:xfrm>
            <a:off x="4927926" y="3695218"/>
            <a:ext cx="1571402" cy="46161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ptos"/>
                <a:cs typeface="Arial"/>
              </a:rPr>
              <a:t>Database Resilience &amp; Recovery</a:t>
            </a:r>
            <a:endParaRPr lang="en-US"/>
          </a:p>
        </p:txBody>
      </p:sp>
      <p:sp>
        <p:nvSpPr>
          <p:cNvPr id="12" name="Rectangle 11">
            <a:extLst>
              <a:ext uri="{FF2B5EF4-FFF2-40B4-BE49-F238E27FC236}">
                <a16:creationId xmlns:a16="http://schemas.microsoft.com/office/drawing/2014/main" id="{89149DAB-7B83-E264-04F4-E2B8D379F028}"/>
              </a:ext>
            </a:extLst>
          </p:cNvPr>
          <p:cNvSpPr/>
          <p:nvPr/>
        </p:nvSpPr>
        <p:spPr>
          <a:xfrm>
            <a:off x="4952246" y="5263760"/>
            <a:ext cx="1579509" cy="66427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ptos"/>
                <a:cs typeface="Arial"/>
              </a:rPr>
              <a:t>Database Observability &amp; Performance</a:t>
            </a:r>
            <a:endParaRPr lang="en-US"/>
          </a:p>
        </p:txBody>
      </p:sp>
      <p:sp>
        <p:nvSpPr>
          <p:cNvPr id="13" name="Rectangle 12">
            <a:extLst>
              <a:ext uri="{FF2B5EF4-FFF2-40B4-BE49-F238E27FC236}">
                <a16:creationId xmlns:a16="http://schemas.microsoft.com/office/drawing/2014/main" id="{86195725-D466-FDC0-D520-5ACE98E34CCB}"/>
              </a:ext>
            </a:extLst>
          </p:cNvPr>
          <p:cNvSpPr/>
          <p:nvPr/>
        </p:nvSpPr>
        <p:spPr>
          <a:xfrm>
            <a:off x="6876454" y="2630314"/>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chemeClr val="tx1">
                  <a:lumMod val="50000"/>
                </a:schemeClr>
              </a:solidFill>
            </a:endParaRPr>
          </a:p>
        </p:txBody>
      </p:sp>
      <p:sp>
        <p:nvSpPr>
          <p:cNvPr id="14" name="Rectangle 13">
            <a:extLst>
              <a:ext uri="{FF2B5EF4-FFF2-40B4-BE49-F238E27FC236}">
                <a16:creationId xmlns:a16="http://schemas.microsoft.com/office/drawing/2014/main" id="{0FE22148-B3BD-6545-AD84-9F3941AD3B0F}"/>
              </a:ext>
            </a:extLst>
          </p:cNvPr>
          <p:cNvSpPr/>
          <p:nvPr/>
        </p:nvSpPr>
        <p:spPr>
          <a:xfrm>
            <a:off x="6876454" y="3538864"/>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chemeClr val="tx1">
                  <a:lumMod val="50000"/>
                </a:schemeClr>
              </a:solidFill>
            </a:endParaRPr>
          </a:p>
        </p:txBody>
      </p:sp>
      <p:sp>
        <p:nvSpPr>
          <p:cNvPr id="15" name="Rectangle 14">
            <a:extLst>
              <a:ext uri="{FF2B5EF4-FFF2-40B4-BE49-F238E27FC236}">
                <a16:creationId xmlns:a16="http://schemas.microsoft.com/office/drawing/2014/main" id="{4D32A959-32BC-D4B9-1867-E1EF734CC492}"/>
              </a:ext>
            </a:extLst>
          </p:cNvPr>
          <p:cNvSpPr/>
          <p:nvPr/>
        </p:nvSpPr>
        <p:spPr>
          <a:xfrm>
            <a:off x="6535986" y="4230241"/>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solidFill>
                  <a:srgbClr val="000000"/>
                </a:solidFill>
                <a:latin typeface="Aptos"/>
              </a:rPr>
              <a:t>Automated provisioning, configuration, patching, upgrades, decommissioning and infrastructure-as-code patterns across database platforms.</a:t>
            </a:r>
          </a:p>
        </p:txBody>
      </p:sp>
      <p:sp>
        <p:nvSpPr>
          <p:cNvPr id="16" name="Rectangle 15">
            <a:extLst>
              <a:ext uri="{FF2B5EF4-FFF2-40B4-BE49-F238E27FC236}">
                <a16:creationId xmlns:a16="http://schemas.microsoft.com/office/drawing/2014/main" id="{A407E423-EE35-6367-D957-3320EEC379E7}"/>
              </a:ext>
            </a:extLst>
          </p:cNvPr>
          <p:cNvSpPr/>
          <p:nvPr/>
        </p:nvSpPr>
        <p:spPr>
          <a:xfrm>
            <a:off x="6876454" y="5312398"/>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1100">
              <a:solidFill>
                <a:schemeClr val="tx1">
                  <a:lumMod val="50000"/>
                </a:schemeClr>
              </a:solidFill>
              <a:cs typeface="Arial"/>
            </a:endParaRPr>
          </a:p>
        </p:txBody>
      </p:sp>
      <p:cxnSp>
        <p:nvCxnSpPr>
          <p:cNvPr id="17" name="Straight Connector 16">
            <a:extLst>
              <a:ext uri="{FF2B5EF4-FFF2-40B4-BE49-F238E27FC236}">
                <a16:creationId xmlns:a16="http://schemas.microsoft.com/office/drawing/2014/main" id="{A53C7995-5F8A-E70B-001E-A0C5DEF4E2F3}"/>
              </a:ext>
            </a:extLst>
          </p:cNvPr>
          <p:cNvCxnSpPr>
            <a:cxnSpLocks/>
          </p:cNvCxnSpPr>
          <p:nvPr/>
        </p:nvCxnSpPr>
        <p:spPr>
          <a:xfrm>
            <a:off x="380999" y="2563048"/>
            <a:ext cx="114239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537297-DAF7-F983-F029-BE3787F2D505}"/>
              </a:ext>
            </a:extLst>
          </p:cNvPr>
          <p:cNvCxnSpPr>
            <a:cxnSpLocks/>
          </p:cNvCxnSpPr>
          <p:nvPr/>
        </p:nvCxnSpPr>
        <p:spPr>
          <a:xfrm>
            <a:off x="4938384" y="4321902"/>
            <a:ext cx="6880698" cy="10297"/>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A272156-C9B8-8632-CDB7-DB2A03308EF3}"/>
              </a:ext>
            </a:extLst>
          </p:cNvPr>
          <p:cNvCxnSpPr>
            <a:cxnSpLocks/>
          </p:cNvCxnSpPr>
          <p:nvPr/>
        </p:nvCxnSpPr>
        <p:spPr>
          <a:xfrm>
            <a:off x="4932154" y="5165517"/>
            <a:ext cx="6880698" cy="41189"/>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C2E96BC-2795-03DC-9722-3897AACA6B9F}"/>
              </a:ext>
            </a:extLst>
          </p:cNvPr>
          <p:cNvCxnSpPr>
            <a:cxnSpLocks/>
          </p:cNvCxnSpPr>
          <p:nvPr/>
        </p:nvCxnSpPr>
        <p:spPr>
          <a:xfrm>
            <a:off x="4950215" y="3094729"/>
            <a:ext cx="6880698" cy="10297"/>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F01700D-33CD-1F1B-9302-1FF1D62B0BD2}"/>
              </a:ext>
            </a:extLst>
          </p:cNvPr>
          <p:cNvSpPr txBox="1"/>
          <p:nvPr/>
        </p:nvSpPr>
        <p:spPr>
          <a:xfrm>
            <a:off x="6493214" y="2626468"/>
            <a:ext cx="5471808" cy="461665"/>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000">
                <a:solidFill>
                  <a:srgbClr val="000000"/>
                </a:solidFill>
                <a:latin typeface="Aptos"/>
                <a:ea typeface="Aptos"/>
                <a:cs typeface="Aptos"/>
              </a:rPr>
              <a:t>Managed relational database platforms supporting transactional and analytical workloads, including availability, backup/recovery, patching, upgrades and lifecycle management.</a:t>
            </a:r>
            <a:r>
              <a:rPr lang="en-US" sz="1000"/>
              <a:t> </a:t>
            </a:r>
            <a:endParaRPr lang="en-US" sz="1000">
              <a:cs typeface="Arial"/>
            </a:endParaRPr>
          </a:p>
          <a:p>
            <a:pPr marL="228600" indent="-228600" algn="l">
              <a:spcAft>
                <a:spcPts val="500"/>
              </a:spcAft>
              <a:buFont typeface="Arial" panose="020B0604020202020204" pitchFamily="34" charset="0"/>
              <a:buChar char="•"/>
            </a:pPr>
            <a:endParaRPr lang="en-US" sz="1000">
              <a:cs typeface="Arial"/>
            </a:endParaRPr>
          </a:p>
        </p:txBody>
      </p:sp>
      <p:sp>
        <p:nvSpPr>
          <p:cNvPr id="23" name="TextBox 22">
            <a:extLst>
              <a:ext uri="{FF2B5EF4-FFF2-40B4-BE49-F238E27FC236}">
                <a16:creationId xmlns:a16="http://schemas.microsoft.com/office/drawing/2014/main" id="{BDBA26D3-6ABF-E3CD-16BF-B4AD28499342}"/>
              </a:ext>
            </a:extLst>
          </p:cNvPr>
          <p:cNvSpPr txBox="1"/>
          <p:nvPr/>
        </p:nvSpPr>
        <p:spPr>
          <a:xfrm>
            <a:off x="4944894" y="3104745"/>
            <a:ext cx="1678021" cy="646331"/>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200" b="1">
                <a:solidFill>
                  <a:srgbClr val="000000"/>
                </a:solidFill>
                <a:latin typeface="Aptos"/>
                <a:ea typeface="Aptos"/>
                <a:cs typeface="Aptos"/>
              </a:rPr>
              <a:t>Non-Relational Database Services</a:t>
            </a:r>
            <a:r>
              <a:rPr lang="en-US"/>
              <a:t> </a:t>
            </a:r>
          </a:p>
          <a:p>
            <a:pPr marL="228600" indent="-228600" algn="l">
              <a:spcAft>
                <a:spcPts val="500"/>
              </a:spcAft>
              <a:buFont typeface="Arial" panose="020B0604020202020204" pitchFamily="34" charset="0"/>
              <a:buChar char="•"/>
            </a:pPr>
            <a:endParaRPr lang="en-US" sz="1200"/>
          </a:p>
        </p:txBody>
      </p:sp>
      <p:sp>
        <p:nvSpPr>
          <p:cNvPr id="24" name="TextBox 23">
            <a:extLst>
              <a:ext uri="{FF2B5EF4-FFF2-40B4-BE49-F238E27FC236}">
                <a16:creationId xmlns:a16="http://schemas.microsoft.com/office/drawing/2014/main" id="{8A2693EB-9ADD-1A35-5D9E-7DE9AF8EAE5E}"/>
              </a:ext>
            </a:extLst>
          </p:cNvPr>
          <p:cNvSpPr txBox="1"/>
          <p:nvPr/>
        </p:nvSpPr>
        <p:spPr>
          <a:xfrm>
            <a:off x="6533745" y="3120957"/>
            <a:ext cx="5479915" cy="61555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000">
                <a:solidFill>
                  <a:srgbClr val="000000"/>
                </a:solidFill>
                <a:latin typeface="Aptos"/>
              </a:rPr>
              <a:t>Managed document, key-value, NoSQL and caching platforms for workloads requiring flexible schemas, low latency and scale</a:t>
            </a:r>
            <a:r>
              <a:rPr lang="en-US" sz="1200">
                <a:solidFill>
                  <a:srgbClr val="000000"/>
                </a:solidFill>
                <a:latin typeface="Aptos"/>
                <a:ea typeface="Aptos"/>
                <a:cs typeface="Aptos"/>
              </a:rPr>
              <a:t>.</a:t>
            </a:r>
            <a:r>
              <a:rPr lang="en-US"/>
              <a:t> </a:t>
            </a:r>
          </a:p>
          <a:p>
            <a:pPr marL="228600" indent="-228600" algn="l">
              <a:spcAft>
                <a:spcPts val="500"/>
              </a:spcAft>
              <a:buFont typeface="Arial" panose="020B0604020202020204" pitchFamily="34" charset="0"/>
              <a:buChar char="•"/>
            </a:pPr>
            <a:endParaRPr lang="en-US" sz="1200"/>
          </a:p>
        </p:txBody>
      </p:sp>
      <p:sp>
        <p:nvSpPr>
          <p:cNvPr id="25" name="TextBox 24">
            <a:extLst>
              <a:ext uri="{FF2B5EF4-FFF2-40B4-BE49-F238E27FC236}">
                <a16:creationId xmlns:a16="http://schemas.microsoft.com/office/drawing/2014/main" id="{DFFDF457-1A49-A039-F8D7-B0CC17B632F3}"/>
              </a:ext>
            </a:extLst>
          </p:cNvPr>
          <p:cNvSpPr txBox="1"/>
          <p:nvPr/>
        </p:nvSpPr>
        <p:spPr>
          <a:xfrm>
            <a:off x="6598595" y="3737041"/>
            <a:ext cx="5479915" cy="49244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000">
                <a:solidFill>
                  <a:srgbClr val="000000"/>
                </a:solidFill>
                <a:latin typeface="Aptos"/>
              </a:rPr>
              <a:t>Standardized high availability, backup, restore, replication, disaster recovery, RPO/RTO and recovery-testing capabilities. </a:t>
            </a:r>
          </a:p>
          <a:p>
            <a:pPr marL="228600" indent="-228600" algn="l">
              <a:spcAft>
                <a:spcPts val="500"/>
              </a:spcAft>
              <a:buFont typeface="Arial" panose="020B0604020202020204" pitchFamily="34" charset="0"/>
              <a:buChar char="•"/>
            </a:pPr>
            <a:endParaRPr lang="en-US" sz="1200"/>
          </a:p>
        </p:txBody>
      </p:sp>
      <p:sp>
        <p:nvSpPr>
          <p:cNvPr id="27" name="Rectangle 26">
            <a:extLst>
              <a:ext uri="{FF2B5EF4-FFF2-40B4-BE49-F238E27FC236}">
                <a16:creationId xmlns:a16="http://schemas.microsoft.com/office/drawing/2014/main" id="{C7CE2EF6-6F89-6FEB-DCD1-42E3A6F0DEF1}"/>
              </a:ext>
            </a:extLst>
          </p:cNvPr>
          <p:cNvSpPr/>
          <p:nvPr/>
        </p:nvSpPr>
        <p:spPr>
          <a:xfrm>
            <a:off x="4952245" y="4761163"/>
            <a:ext cx="1555190" cy="445403"/>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ptos"/>
                <a:cs typeface="Arial"/>
              </a:rPr>
              <a:t>Database Security &amp; Protection</a:t>
            </a:r>
            <a:endParaRPr lang="en-US"/>
          </a:p>
          <a:p>
            <a:pPr algn="ctr"/>
            <a:endParaRPr lang="en-US" sz="1100">
              <a:solidFill>
                <a:srgbClr val="000000"/>
              </a:solidFill>
              <a:cs typeface="Arial"/>
            </a:endParaRPr>
          </a:p>
        </p:txBody>
      </p:sp>
      <p:sp>
        <p:nvSpPr>
          <p:cNvPr id="28" name="Rectangle 27">
            <a:extLst>
              <a:ext uri="{FF2B5EF4-FFF2-40B4-BE49-F238E27FC236}">
                <a16:creationId xmlns:a16="http://schemas.microsoft.com/office/drawing/2014/main" id="{98E693DA-82F3-756B-B90A-529E997FD8DC}"/>
              </a:ext>
            </a:extLst>
          </p:cNvPr>
          <p:cNvSpPr/>
          <p:nvPr/>
        </p:nvSpPr>
        <p:spPr>
          <a:xfrm>
            <a:off x="4927926" y="4258566"/>
            <a:ext cx="1587615" cy="46161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ptos"/>
                <a:cs typeface="Arial"/>
              </a:rPr>
              <a:t>Database Automation &amp; Lifecycle</a:t>
            </a:r>
            <a:endParaRPr lang="en-US"/>
          </a:p>
        </p:txBody>
      </p:sp>
      <p:sp>
        <p:nvSpPr>
          <p:cNvPr id="29" name="TextBox 28">
            <a:extLst>
              <a:ext uri="{FF2B5EF4-FFF2-40B4-BE49-F238E27FC236}">
                <a16:creationId xmlns:a16="http://schemas.microsoft.com/office/drawing/2014/main" id="{D9A7F163-AF17-E09D-A2B4-D3F1AFA53965}"/>
              </a:ext>
            </a:extLst>
          </p:cNvPr>
          <p:cNvSpPr txBox="1"/>
          <p:nvPr/>
        </p:nvSpPr>
        <p:spPr>
          <a:xfrm>
            <a:off x="6614809" y="4815191"/>
            <a:ext cx="5228617" cy="49244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000">
                <a:solidFill>
                  <a:srgbClr val="000000"/>
                </a:solidFill>
                <a:latin typeface="Aptos"/>
              </a:rPr>
              <a:t>Platform capabilities supporting encryption, access control, auditing, secrets management and approved masking/security controls. </a:t>
            </a:r>
          </a:p>
          <a:p>
            <a:pPr marL="228600" indent="-228600" algn="l">
              <a:spcAft>
                <a:spcPts val="500"/>
              </a:spcAft>
              <a:buFont typeface="Arial" panose="020B0604020202020204" pitchFamily="34" charset="0"/>
              <a:buChar char="•"/>
            </a:pPr>
            <a:endParaRPr lang="en-US" sz="1200"/>
          </a:p>
        </p:txBody>
      </p:sp>
      <p:sp>
        <p:nvSpPr>
          <p:cNvPr id="30" name="TextBox 29">
            <a:extLst>
              <a:ext uri="{FF2B5EF4-FFF2-40B4-BE49-F238E27FC236}">
                <a16:creationId xmlns:a16="http://schemas.microsoft.com/office/drawing/2014/main" id="{D6DFBC9A-042D-CA3C-AB3E-ACEE924CD9F4}"/>
              </a:ext>
            </a:extLst>
          </p:cNvPr>
          <p:cNvSpPr txBox="1"/>
          <p:nvPr/>
        </p:nvSpPr>
        <p:spPr>
          <a:xfrm>
            <a:off x="6598596" y="5431277"/>
            <a:ext cx="6096000" cy="276999"/>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900">
                <a:solidFill>
                  <a:srgbClr val="000000"/>
                </a:solidFill>
                <a:latin typeface="Aptos"/>
                <a:ea typeface="Aptos"/>
                <a:cs typeface="Aptos"/>
              </a:rPr>
              <a:t>Monitoring, capacity management, performance optimization, health checks and operational telemetry.</a:t>
            </a:r>
            <a:r>
              <a:rPr lang="en-US" sz="900"/>
              <a:t> </a:t>
            </a:r>
          </a:p>
          <a:p>
            <a:pPr marL="228600" indent="-228600" algn="l">
              <a:spcAft>
                <a:spcPts val="500"/>
              </a:spcAft>
              <a:buFont typeface="Arial" panose="020B0604020202020204" pitchFamily="34" charset="0"/>
              <a:buChar char="•"/>
            </a:pPr>
            <a:endParaRPr lang="en-US" sz="900"/>
          </a:p>
        </p:txBody>
      </p:sp>
    </p:spTree>
    <p:extLst>
      <p:ext uri="{BB962C8B-B14F-4D97-AF65-F5344CB8AC3E}">
        <p14:creationId xmlns:p14="http://schemas.microsoft.com/office/powerpoint/2010/main" val="205628213"/>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45F8F-BB75-9EB5-8563-B412B7600005}"/>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3DFEED94-A0F2-3401-83C6-64FEC1355AD9}"/>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Enterprise Database Landscape – Current State</a:t>
            </a:r>
            <a:endParaRPr lang="en-US" sz="2600">
              <a:latin typeface="+mj-lt"/>
            </a:endParaRPr>
          </a:p>
        </p:txBody>
      </p:sp>
      <p:sp>
        <p:nvSpPr>
          <p:cNvPr id="2" name="TextBox 1">
            <a:extLst>
              <a:ext uri="{FF2B5EF4-FFF2-40B4-BE49-F238E27FC236}">
                <a16:creationId xmlns:a16="http://schemas.microsoft.com/office/drawing/2014/main" id="{481F6A0F-D9EA-E775-91EA-54AFD8E60811}"/>
              </a:ext>
            </a:extLst>
          </p:cNvPr>
          <p:cNvSpPr txBox="1"/>
          <p:nvPr/>
        </p:nvSpPr>
        <p:spPr>
          <a:xfrm>
            <a:off x="457200" y="1245326"/>
            <a:ext cx="11360331" cy="4885508"/>
          </a:xfrm>
          <a:prstGeom prst="rect">
            <a:avLst/>
          </a:prstGeom>
          <a:noFill/>
        </p:spPr>
        <p:txBody>
          <a:bodyPr wrap="none" lIns="0" tIns="0" rIns="0" bIns="0" numCol="1" spcCol="228600" rtlCol="0">
            <a:noAutofit/>
          </a:bodyPr>
          <a:lstStyle/>
          <a:p>
            <a:pPr marL="228600" indent="-228600" algn="l">
              <a:spcAft>
                <a:spcPts val="500"/>
              </a:spcAft>
              <a:buFont typeface="Arial" panose="020B0604020202020204" pitchFamily="34" charset="0"/>
              <a:buChar char="•"/>
            </a:pPr>
            <a:r>
              <a:rPr lang="en-CA" sz="1200"/>
              <a:t>MS SQL Server</a:t>
            </a:r>
          </a:p>
          <a:p>
            <a:pPr marL="685800" lvl="1" indent="-228600">
              <a:spcAft>
                <a:spcPts val="500"/>
              </a:spcAft>
              <a:buFont typeface="Arial" panose="020B0604020202020204" pitchFamily="34" charset="0"/>
              <a:buChar char="•"/>
            </a:pPr>
            <a:r>
              <a:rPr lang="en-CA" sz="1200"/>
              <a:t>On-Prem (unpreferred target): </a:t>
            </a:r>
          </a:p>
          <a:p>
            <a:pPr marL="1143000" lvl="2" indent="-228600">
              <a:spcAft>
                <a:spcPts val="500"/>
              </a:spcAft>
              <a:buFont typeface="Arial" panose="020B0604020202020204" pitchFamily="34" charset="0"/>
              <a:buChar char="•"/>
            </a:pPr>
            <a:r>
              <a:rPr lang="en-CA" sz="1200"/>
              <a:t>Dedicated VM clusters to optimize licensing at the dedicated physical core level</a:t>
            </a:r>
          </a:p>
          <a:p>
            <a:pPr marL="1143000" lvl="2" indent="-228600">
              <a:spcAft>
                <a:spcPts val="500"/>
              </a:spcAft>
              <a:buFont typeface="Arial" panose="020B0604020202020204" pitchFamily="34" charset="0"/>
              <a:buChar char="•"/>
            </a:pPr>
            <a:r>
              <a:rPr lang="en-CA" sz="1200"/>
              <a:t>All physical stand-alone instances have been converted to VMs for cost optimization</a:t>
            </a:r>
          </a:p>
          <a:p>
            <a:pPr marL="1143000" lvl="2" indent="-228600">
              <a:spcAft>
                <a:spcPts val="500"/>
              </a:spcAft>
              <a:buFont typeface="Arial" panose="020B0604020202020204" pitchFamily="34" charset="0"/>
              <a:buChar char="•"/>
            </a:pPr>
            <a:r>
              <a:rPr lang="en-CA" sz="1200"/>
              <a:t>Both Single Instances and Always-On HA Instances available depending on Application Owner’s needs</a:t>
            </a:r>
          </a:p>
          <a:p>
            <a:pPr marL="1600200" lvl="3" indent="-228600">
              <a:spcAft>
                <a:spcPts val="500"/>
              </a:spcAft>
              <a:buFont typeface="Arial" panose="020B0604020202020204" pitchFamily="34" charset="0"/>
              <a:buChar char="•"/>
            </a:pPr>
            <a:r>
              <a:rPr lang="en-CA" sz="1200"/>
              <a:t>All environments lower than UAT are hosted on Single Instances for cost optimization  </a:t>
            </a:r>
          </a:p>
          <a:p>
            <a:pPr marL="685800" lvl="1" indent="-228600">
              <a:spcAft>
                <a:spcPts val="500"/>
              </a:spcAft>
              <a:buFont typeface="Arial" panose="020B0604020202020204" pitchFamily="34" charset="0"/>
              <a:buChar char="•"/>
            </a:pPr>
            <a:r>
              <a:rPr lang="en-CA" sz="1200"/>
              <a:t>AWS: </a:t>
            </a:r>
          </a:p>
          <a:p>
            <a:pPr marL="1143000" lvl="2" indent="-228600">
              <a:spcAft>
                <a:spcPts val="500"/>
              </a:spcAft>
              <a:buFont typeface="Arial" panose="020B0604020202020204" pitchFamily="34" charset="0"/>
              <a:buChar char="•"/>
            </a:pPr>
            <a:r>
              <a:rPr lang="en-CA" sz="1200"/>
              <a:t>IaaS builds with MS SQL installed on top of provided VMs </a:t>
            </a:r>
          </a:p>
          <a:p>
            <a:pPr marL="1143000" lvl="2" indent="-228600">
              <a:spcAft>
                <a:spcPts val="500"/>
              </a:spcAft>
              <a:buFont typeface="Arial" panose="020B0604020202020204" pitchFamily="34" charset="0"/>
              <a:buChar char="•"/>
            </a:pPr>
            <a:r>
              <a:rPr lang="en-CA" sz="1200"/>
              <a:t>RDS managed instances (target state)</a:t>
            </a:r>
          </a:p>
          <a:p>
            <a:pPr marL="685800" lvl="1" indent="-228600">
              <a:spcAft>
                <a:spcPts val="500"/>
              </a:spcAft>
              <a:buFont typeface="Arial" panose="020B0604020202020204" pitchFamily="34" charset="0"/>
              <a:buChar char="•"/>
            </a:pPr>
            <a:r>
              <a:rPr lang="en-CA" sz="1200"/>
              <a:t>Azure: </a:t>
            </a:r>
          </a:p>
          <a:p>
            <a:pPr marL="1143000" lvl="2" indent="-228600">
              <a:spcAft>
                <a:spcPts val="500"/>
              </a:spcAft>
              <a:buFont typeface="Arial" panose="020B0604020202020204" pitchFamily="34" charset="0"/>
              <a:buChar char="•"/>
            </a:pPr>
            <a:r>
              <a:rPr lang="en-CA" sz="1200"/>
              <a:t>IaaS builds with MS SQL installed on top of provided VMs</a:t>
            </a:r>
          </a:p>
          <a:p>
            <a:pPr marL="1143000" lvl="2" indent="-228600">
              <a:spcAft>
                <a:spcPts val="500"/>
              </a:spcAft>
              <a:buFont typeface="Arial" panose="020B0604020202020204" pitchFamily="34" charset="0"/>
              <a:buChar char="•"/>
            </a:pPr>
            <a:r>
              <a:rPr lang="en-CA" sz="1200"/>
              <a:t>Azure SQL Database </a:t>
            </a:r>
          </a:p>
          <a:p>
            <a:pPr marL="1143000" lvl="2" indent="-228600">
              <a:spcAft>
                <a:spcPts val="500"/>
              </a:spcAft>
              <a:buFont typeface="Arial" panose="020B0604020202020204" pitchFamily="34" charset="0"/>
              <a:buChar char="•"/>
            </a:pPr>
            <a:r>
              <a:rPr lang="en-CA" sz="1200"/>
              <a:t>SQL Logical Server</a:t>
            </a:r>
          </a:p>
          <a:p>
            <a:pPr marL="1143000" lvl="2" indent="-228600">
              <a:spcAft>
                <a:spcPts val="500"/>
              </a:spcAft>
              <a:buFont typeface="Arial" panose="020B0604020202020204" pitchFamily="34" charset="0"/>
              <a:buChar char="•"/>
            </a:pPr>
            <a:r>
              <a:rPr lang="en-CA" sz="1200"/>
              <a:t>Azure SQL Managed Instance - PaaS (preferred target state) </a:t>
            </a:r>
          </a:p>
          <a:p>
            <a:pPr marL="228600" indent="-228600">
              <a:spcAft>
                <a:spcPts val="500"/>
              </a:spcAft>
              <a:buFont typeface="Arial" panose="020B0604020202020204" pitchFamily="34" charset="0"/>
              <a:buChar char="•"/>
            </a:pPr>
            <a:endParaRPr lang="en-CA" sz="1200"/>
          </a:p>
          <a:p>
            <a:pPr marL="1143000" lvl="2" indent="-228600">
              <a:spcAft>
                <a:spcPts val="500"/>
              </a:spcAft>
              <a:buFont typeface="Arial" panose="020B0604020202020204" pitchFamily="34" charset="0"/>
              <a:buChar char="•"/>
            </a:pPr>
            <a:endParaRPr lang="en-CA" sz="1200"/>
          </a:p>
          <a:p>
            <a:pPr marL="685800" lvl="1" indent="-228600">
              <a:spcAft>
                <a:spcPts val="500"/>
              </a:spcAft>
              <a:buFont typeface="Arial" panose="020B0604020202020204" pitchFamily="34" charset="0"/>
              <a:buChar char="•"/>
            </a:pPr>
            <a:endParaRPr lang="en-CA" sz="1200"/>
          </a:p>
        </p:txBody>
      </p:sp>
    </p:spTree>
    <p:extLst>
      <p:ext uri="{BB962C8B-B14F-4D97-AF65-F5344CB8AC3E}">
        <p14:creationId xmlns:p14="http://schemas.microsoft.com/office/powerpoint/2010/main" val="2252317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0705F-32EE-D4BD-6597-A8B6069A9889}"/>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DC0DA232-531F-FA6E-FACC-9DF4738B4978}"/>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Enterprise Database Landscape – Current State</a:t>
            </a:r>
            <a:endParaRPr lang="en-US" sz="2600">
              <a:latin typeface="+mj-lt"/>
            </a:endParaRPr>
          </a:p>
        </p:txBody>
      </p:sp>
      <p:sp>
        <p:nvSpPr>
          <p:cNvPr id="2" name="TextBox 1">
            <a:extLst>
              <a:ext uri="{FF2B5EF4-FFF2-40B4-BE49-F238E27FC236}">
                <a16:creationId xmlns:a16="http://schemas.microsoft.com/office/drawing/2014/main" id="{FE961BB6-1BC2-8101-C95E-36E50DDB9D05}"/>
              </a:ext>
            </a:extLst>
          </p:cNvPr>
          <p:cNvSpPr txBox="1"/>
          <p:nvPr/>
        </p:nvSpPr>
        <p:spPr>
          <a:xfrm>
            <a:off x="457200" y="1245326"/>
            <a:ext cx="11360331" cy="4885508"/>
          </a:xfrm>
          <a:prstGeom prst="rect">
            <a:avLst/>
          </a:prstGeom>
          <a:noFill/>
        </p:spPr>
        <p:txBody>
          <a:bodyPr wrap="none" lIns="0" tIns="0" rIns="0" bIns="0" numCol="1" spcCol="228600" rtlCol="0">
            <a:noAutofit/>
          </a:bodyPr>
          <a:lstStyle/>
          <a:p>
            <a:pPr marL="228600" indent="-228600">
              <a:spcAft>
                <a:spcPts val="500"/>
              </a:spcAft>
              <a:buFont typeface="Arial" panose="020B0604020202020204" pitchFamily="34" charset="0"/>
              <a:buChar char="•"/>
            </a:pPr>
            <a:r>
              <a:rPr lang="en-CA" sz="1200"/>
              <a:t>IBM DB2 </a:t>
            </a:r>
          </a:p>
          <a:p>
            <a:pPr marL="685800" lvl="1" indent="-228600">
              <a:spcAft>
                <a:spcPts val="500"/>
              </a:spcAft>
              <a:buFont typeface="Arial" panose="020B0604020202020204" pitchFamily="34" charset="0"/>
              <a:buChar char="•"/>
            </a:pPr>
            <a:r>
              <a:rPr lang="en-CA" sz="1200"/>
              <a:t>On-Prem</a:t>
            </a:r>
          </a:p>
          <a:p>
            <a:pPr marL="1143000" lvl="2" indent="-228600">
              <a:spcAft>
                <a:spcPts val="500"/>
              </a:spcAft>
              <a:buFont typeface="Arial" panose="020B0604020202020204" pitchFamily="34" charset="0"/>
              <a:buChar char="•"/>
            </a:pPr>
            <a:r>
              <a:rPr lang="en-CA" sz="1200"/>
              <a:t>Hosted on either AIX or Linux</a:t>
            </a:r>
          </a:p>
          <a:p>
            <a:pPr marL="685800" lvl="1" indent="-228600">
              <a:spcAft>
                <a:spcPts val="500"/>
              </a:spcAft>
              <a:buFont typeface="Arial" panose="020B0604020202020204" pitchFamily="34" charset="0"/>
              <a:buChar char="•"/>
            </a:pPr>
            <a:r>
              <a:rPr lang="en-CA" sz="1200"/>
              <a:t>AWS</a:t>
            </a:r>
          </a:p>
          <a:p>
            <a:pPr marL="1143000" lvl="2" indent="-228600">
              <a:spcAft>
                <a:spcPts val="500"/>
              </a:spcAft>
              <a:buFont typeface="Arial" panose="020B0604020202020204" pitchFamily="34" charset="0"/>
              <a:buChar char="•"/>
            </a:pPr>
            <a:r>
              <a:rPr lang="en-CA" sz="1200"/>
              <a:t>Hosted on EC2 VM (this is a one-off FileNet stack replacement and *not* intended to be an Enterprise endorsed pattern for Database) </a:t>
            </a:r>
          </a:p>
          <a:p>
            <a:pPr marL="228600" indent="-228600">
              <a:spcAft>
                <a:spcPts val="500"/>
              </a:spcAft>
              <a:buFont typeface="Arial" panose="020B0604020202020204" pitchFamily="34" charset="0"/>
              <a:buChar char="•"/>
            </a:pPr>
            <a:endParaRPr lang="en-CA" sz="1200"/>
          </a:p>
          <a:p>
            <a:pPr marL="228600" indent="-228600">
              <a:spcAft>
                <a:spcPts val="500"/>
              </a:spcAft>
              <a:buFont typeface="Arial" panose="020B0604020202020204" pitchFamily="34" charset="0"/>
              <a:buChar char="•"/>
            </a:pPr>
            <a:r>
              <a:rPr lang="en-CA" sz="1200"/>
              <a:t>Oracle</a:t>
            </a:r>
          </a:p>
          <a:p>
            <a:pPr marL="685800" lvl="1" indent="-228600">
              <a:spcAft>
                <a:spcPts val="500"/>
              </a:spcAft>
              <a:buFont typeface="Arial" panose="020B0604020202020204" pitchFamily="34" charset="0"/>
              <a:buChar char="•"/>
            </a:pPr>
            <a:r>
              <a:rPr lang="en-CA" sz="1200"/>
              <a:t>On-Prem</a:t>
            </a:r>
          </a:p>
          <a:p>
            <a:pPr marL="1143000" lvl="2" indent="-228600">
              <a:spcAft>
                <a:spcPts val="500"/>
              </a:spcAft>
              <a:buFont typeface="Arial" panose="020B0604020202020204" pitchFamily="34" charset="0"/>
              <a:buChar char="•"/>
            </a:pPr>
            <a:r>
              <a:rPr lang="en-CA" sz="1200"/>
              <a:t>Exadata Cloud at Customer (expected departure in 2026 as migrations to Azure complete)</a:t>
            </a:r>
          </a:p>
          <a:p>
            <a:pPr marL="685800" lvl="1" indent="-228600">
              <a:spcAft>
                <a:spcPts val="500"/>
              </a:spcAft>
              <a:buFont typeface="Arial" panose="020B0604020202020204" pitchFamily="34" charset="0"/>
              <a:buChar char="•"/>
            </a:pPr>
            <a:r>
              <a:rPr lang="en-CA" sz="1200"/>
              <a:t>Azure</a:t>
            </a:r>
          </a:p>
          <a:p>
            <a:pPr marL="1143000" lvl="2" indent="-228600">
              <a:spcAft>
                <a:spcPts val="500"/>
              </a:spcAft>
              <a:buFont typeface="Arial" panose="020B0604020202020204" pitchFamily="34" charset="0"/>
              <a:buChar char="•"/>
            </a:pPr>
            <a:r>
              <a:rPr lang="en-CA" sz="1200" err="1"/>
              <a:t>Exadata@Azure</a:t>
            </a:r>
            <a:r>
              <a:rPr lang="en-CA" sz="1200"/>
              <a:t> (target state) </a:t>
            </a:r>
          </a:p>
          <a:p>
            <a:pPr marL="1143000" lvl="2" indent="-228600">
              <a:spcAft>
                <a:spcPts val="500"/>
              </a:spcAft>
              <a:buFont typeface="Arial" panose="020B0604020202020204" pitchFamily="34" charset="0"/>
              <a:buChar char="•"/>
            </a:pPr>
            <a:endParaRPr lang="en-CA" sz="1200"/>
          </a:p>
          <a:p>
            <a:pPr marL="228600" indent="-228600">
              <a:spcAft>
                <a:spcPts val="500"/>
              </a:spcAft>
              <a:buFont typeface="Arial" panose="020B0604020202020204" pitchFamily="34" charset="0"/>
              <a:buChar char="•"/>
            </a:pPr>
            <a:r>
              <a:rPr lang="en-CA" sz="1200"/>
              <a:t>MongoDB</a:t>
            </a:r>
          </a:p>
          <a:p>
            <a:pPr marL="685800" lvl="1" indent="-228600">
              <a:spcAft>
                <a:spcPts val="500"/>
              </a:spcAft>
              <a:buFont typeface="Arial" panose="020B0604020202020204" pitchFamily="34" charset="0"/>
              <a:buChar char="•"/>
            </a:pPr>
            <a:r>
              <a:rPr lang="en-CA" sz="1200"/>
              <a:t>AWS RDS</a:t>
            </a:r>
          </a:p>
          <a:p>
            <a:pPr marL="685800" lvl="1" indent="-228600">
              <a:spcAft>
                <a:spcPts val="500"/>
              </a:spcAft>
              <a:buFont typeface="Arial" panose="020B0604020202020204" pitchFamily="34" charset="0"/>
              <a:buChar char="•"/>
            </a:pPr>
            <a:endParaRPr lang="en-CA" sz="1200"/>
          </a:p>
          <a:p>
            <a:pPr marL="228600" indent="-228600">
              <a:spcAft>
                <a:spcPts val="500"/>
              </a:spcAft>
              <a:buFont typeface="Arial" panose="020B0604020202020204" pitchFamily="34" charset="0"/>
              <a:buChar char="•"/>
            </a:pPr>
            <a:r>
              <a:rPr lang="en-CA" sz="1200"/>
              <a:t>PostgreSQL</a:t>
            </a:r>
          </a:p>
          <a:p>
            <a:pPr marL="685800" lvl="1" indent="-228600">
              <a:spcAft>
                <a:spcPts val="500"/>
              </a:spcAft>
              <a:buFont typeface="Arial" panose="020B0604020202020204" pitchFamily="34" charset="0"/>
              <a:buChar char="•"/>
            </a:pPr>
            <a:r>
              <a:rPr lang="en-CA" sz="1200"/>
              <a:t>AWS RDS</a:t>
            </a:r>
          </a:p>
          <a:p>
            <a:pPr>
              <a:spcAft>
                <a:spcPts val="500"/>
              </a:spcAft>
            </a:pPr>
            <a:endParaRPr lang="en-CA" sz="1200"/>
          </a:p>
          <a:p>
            <a:pPr>
              <a:spcAft>
                <a:spcPts val="500"/>
              </a:spcAft>
            </a:pPr>
            <a:endParaRPr lang="en-CA" sz="1200"/>
          </a:p>
          <a:p>
            <a:pPr marL="1143000" lvl="2" indent="-228600">
              <a:spcAft>
                <a:spcPts val="500"/>
              </a:spcAft>
              <a:buFont typeface="Arial" panose="020B0604020202020204" pitchFamily="34" charset="0"/>
              <a:buChar char="•"/>
            </a:pPr>
            <a:endParaRPr lang="en-CA" sz="1200"/>
          </a:p>
          <a:p>
            <a:pPr marL="685800" lvl="1" indent="-228600">
              <a:spcAft>
                <a:spcPts val="500"/>
              </a:spcAft>
              <a:buFont typeface="Arial" panose="020B0604020202020204" pitchFamily="34" charset="0"/>
              <a:buChar char="•"/>
            </a:pPr>
            <a:endParaRPr lang="en-CA" sz="1200"/>
          </a:p>
        </p:txBody>
      </p:sp>
    </p:spTree>
    <p:extLst>
      <p:ext uri="{BB962C8B-B14F-4D97-AF65-F5344CB8AC3E}">
        <p14:creationId xmlns:p14="http://schemas.microsoft.com/office/powerpoint/2010/main" val="3660293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CE1CB-EB74-E7D6-1502-67502327A12B}"/>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5C7BAB8C-14A0-1ADB-24FF-124161C8C5CE}"/>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Enterprise Database Landscape – Target State</a:t>
            </a:r>
            <a:endParaRPr lang="en-US" sz="2600">
              <a:latin typeface="+mj-lt"/>
            </a:endParaRPr>
          </a:p>
        </p:txBody>
      </p:sp>
      <p:sp>
        <p:nvSpPr>
          <p:cNvPr id="2" name="TextBox 1">
            <a:extLst>
              <a:ext uri="{FF2B5EF4-FFF2-40B4-BE49-F238E27FC236}">
                <a16:creationId xmlns:a16="http://schemas.microsoft.com/office/drawing/2014/main" id="{105DDF26-3AB5-DDE7-F615-5858D48B7E5E}"/>
              </a:ext>
            </a:extLst>
          </p:cNvPr>
          <p:cNvSpPr txBox="1"/>
          <p:nvPr/>
        </p:nvSpPr>
        <p:spPr>
          <a:xfrm>
            <a:off x="457200" y="1245326"/>
            <a:ext cx="11360331" cy="4885508"/>
          </a:xfrm>
          <a:prstGeom prst="rect">
            <a:avLst/>
          </a:prstGeom>
          <a:noFill/>
        </p:spPr>
        <p:txBody>
          <a:bodyPr wrap="none" lIns="0" tIns="0" rIns="0" bIns="0" numCol="1" spcCol="228600" rtlCol="0">
            <a:noAutofit/>
          </a:bodyPr>
          <a:lstStyle/>
          <a:p>
            <a:pPr marL="228600" indent="-228600" algn="l">
              <a:spcAft>
                <a:spcPts val="500"/>
              </a:spcAft>
              <a:buFont typeface="Arial" panose="020B0604020202020204" pitchFamily="34" charset="0"/>
              <a:buChar char="•"/>
            </a:pPr>
            <a:r>
              <a:rPr lang="en-CA" sz="1200"/>
              <a:t>MS SQL Server</a:t>
            </a:r>
          </a:p>
          <a:p>
            <a:pPr marL="228600" indent="-228600" algn="l">
              <a:spcAft>
                <a:spcPts val="500"/>
              </a:spcAft>
              <a:buFont typeface="Arial" panose="020B0604020202020204" pitchFamily="34" charset="0"/>
              <a:buChar char="•"/>
            </a:pPr>
            <a:r>
              <a:rPr lang="en-CA" sz="1200"/>
              <a:t>Targeting small to medium database sizes and corresponding workloads </a:t>
            </a:r>
          </a:p>
          <a:p>
            <a:pPr marL="685800" lvl="1" indent="-228600">
              <a:spcAft>
                <a:spcPts val="500"/>
              </a:spcAft>
              <a:buFont typeface="Arial" panose="020B0604020202020204" pitchFamily="34" charset="0"/>
              <a:buChar char="•"/>
            </a:pPr>
            <a:r>
              <a:rPr lang="en-CA" sz="1200"/>
              <a:t>On-Prem (will still exist beyond the timeframe of this Roadmap): </a:t>
            </a:r>
          </a:p>
          <a:p>
            <a:pPr marL="1143000" lvl="2" indent="-228600">
              <a:spcAft>
                <a:spcPts val="500"/>
              </a:spcAft>
              <a:buFont typeface="Arial" panose="020B0604020202020204" pitchFamily="34" charset="0"/>
              <a:buChar char="•"/>
            </a:pPr>
            <a:r>
              <a:rPr lang="en-CA" sz="1200"/>
              <a:t>Dedicated VM clusters to optimize licensing at the dedicated physical core level</a:t>
            </a:r>
          </a:p>
          <a:p>
            <a:pPr marL="1143000" lvl="2" indent="-228600">
              <a:spcAft>
                <a:spcPts val="500"/>
              </a:spcAft>
              <a:buFont typeface="Arial" panose="020B0604020202020204" pitchFamily="34" charset="0"/>
              <a:buChar char="•"/>
            </a:pPr>
            <a:r>
              <a:rPr lang="en-CA" sz="1200"/>
              <a:t>Both Single Instances and Always-On HA Instances available depending on Application Owner’s needs</a:t>
            </a:r>
          </a:p>
          <a:p>
            <a:pPr marL="1600200" lvl="3" indent="-228600">
              <a:spcAft>
                <a:spcPts val="500"/>
              </a:spcAft>
              <a:buFont typeface="Arial" panose="020B0604020202020204" pitchFamily="34" charset="0"/>
              <a:buChar char="•"/>
            </a:pPr>
            <a:r>
              <a:rPr lang="en-CA" sz="1200"/>
              <a:t>All environments lower than UAT are hosted on Single Instances for cost optimization  </a:t>
            </a:r>
          </a:p>
          <a:p>
            <a:pPr marL="685800" lvl="1" indent="-228600">
              <a:spcAft>
                <a:spcPts val="500"/>
              </a:spcAft>
              <a:buFont typeface="Arial" panose="020B0604020202020204" pitchFamily="34" charset="0"/>
              <a:buChar char="•"/>
            </a:pPr>
            <a:r>
              <a:rPr lang="en-CA" sz="1200"/>
              <a:t>AWS: </a:t>
            </a:r>
          </a:p>
          <a:p>
            <a:pPr marL="1143000" lvl="2" indent="-228600">
              <a:spcAft>
                <a:spcPts val="500"/>
              </a:spcAft>
              <a:buFont typeface="Arial" panose="020B0604020202020204" pitchFamily="34" charset="0"/>
              <a:buChar char="•"/>
            </a:pPr>
            <a:r>
              <a:rPr lang="en-CA" sz="1200"/>
              <a:t>RDS managed instances </a:t>
            </a:r>
          </a:p>
          <a:p>
            <a:pPr marL="685800" lvl="1" indent="-228600">
              <a:spcAft>
                <a:spcPts val="500"/>
              </a:spcAft>
              <a:buFont typeface="Arial" panose="020B0604020202020204" pitchFamily="34" charset="0"/>
              <a:buChar char="•"/>
            </a:pPr>
            <a:r>
              <a:rPr lang="en-CA" sz="1200"/>
              <a:t>Azure: </a:t>
            </a:r>
          </a:p>
          <a:p>
            <a:pPr marL="1143000" lvl="2" indent="-228600">
              <a:spcAft>
                <a:spcPts val="500"/>
              </a:spcAft>
              <a:buFont typeface="Arial" panose="020B0604020202020204" pitchFamily="34" charset="0"/>
              <a:buChar char="•"/>
            </a:pPr>
            <a:r>
              <a:rPr lang="en-CA" sz="1200"/>
              <a:t>Azure SQL Managed Instance - PaaS (Preferred Target) </a:t>
            </a:r>
          </a:p>
          <a:p>
            <a:pPr marL="1600200" lvl="3" indent="-228600">
              <a:spcAft>
                <a:spcPts val="500"/>
              </a:spcAft>
              <a:buFont typeface="Arial" panose="020B0604020202020204" pitchFamily="34" charset="0"/>
              <a:buChar char="•"/>
            </a:pPr>
            <a:r>
              <a:rPr lang="en-CA" sz="1200"/>
              <a:t>Reduction of Operational Costs with vendor managed environments </a:t>
            </a:r>
          </a:p>
          <a:p>
            <a:pPr marL="685800" lvl="1" indent="-228600">
              <a:spcAft>
                <a:spcPts val="500"/>
              </a:spcAft>
              <a:buFont typeface="Arial" panose="020B0604020202020204" pitchFamily="34" charset="0"/>
              <a:buChar char="•"/>
            </a:pPr>
            <a:r>
              <a:rPr lang="en-CA" sz="1200"/>
              <a:t>Target moving our versions to MS SQL Server 2025 for maximum general support and enhanced AI compatibilities/datatypes </a:t>
            </a:r>
          </a:p>
          <a:p>
            <a:pPr marL="228600" indent="-228600">
              <a:spcAft>
                <a:spcPts val="500"/>
              </a:spcAft>
              <a:buFont typeface="Arial" panose="020B0604020202020204" pitchFamily="34" charset="0"/>
              <a:buChar char="•"/>
            </a:pPr>
            <a:endParaRPr lang="en-CA" sz="1200"/>
          </a:p>
          <a:p>
            <a:pPr marL="228600" indent="-228600">
              <a:spcAft>
                <a:spcPts val="500"/>
              </a:spcAft>
              <a:buFont typeface="Arial" panose="020B0604020202020204" pitchFamily="34" charset="0"/>
              <a:buChar char="•"/>
            </a:pPr>
            <a:endParaRPr lang="en-CA" sz="1200"/>
          </a:p>
          <a:p>
            <a:pPr marL="228600" indent="-228600">
              <a:spcAft>
                <a:spcPts val="500"/>
              </a:spcAft>
              <a:buFont typeface="Arial" panose="020B0604020202020204" pitchFamily="34" charset="0"/>
              <a:buChar char="•"/>
            </a:pPr>
            <a:endParaRPr lang="en-CA" sz="1200"/>
          </a:p>
          <a:p>
            <a:pPr marL="1143000" lvl="2" indent="-228600">
              <a:spcAft>
                <a:spcPts val="500"/>
              </a:spcAft>
              <a:buFont typeface="Arial" panose="020B0604020202020204" pitchFamily="34" charset="0"/>
              <a:buChar char="•"/>
            </a:pPr>
            <a:endParaRPr lang="en-CA" sz="1200"/>
          </a:p>
          <a:p>
            <a:pPr marL="685800" lvl="1" indent="-228600">
              <a:spcAft>
                <a:spcPts val="500"/>
              </a:spcAft>
              <a:buFont typeface="Arial" panose="020B0604020202020204" pitchFamily="34" charset="0"/>
              <a:buChar char="•"/>
            </a:pPr>
            <a:endParaRPr lang="en-CA" sz="1200"/>
          </a:p>
        </p:txBody>
      </p:sp>
      <p:pic>
        <p:nvPicPr>
          <p:cNvPr id="9" name="Picture 8">
            <a:extLst>
              <a:ext uri="{FF2B5EF4-FFF2-40B4-BE49-F238E27FC236}">
                <a16:creationId xmlns:a16="http://schemas.microsoft.com/office/drawing/2014/main" id="{E69F49C0-9EE0-020E-572F-23D1E2A0E392}"/>
              </a:ext>
            </a:extLst>
          </p:cNvPr>
          <p:cNvPicPr>
            <a:picLocks noChangeAspect="1"/>
          </p:cNvPicPr>
          <p:nvPr/>
        </p:nvPicPr>
        <p:blipFill>
          <a:blip r:embed="rId2"/>
          <a:stretch>
            <a:fillRect/>
          </a:stretch>
        </p:blipFill>
        <p:spPr>
          <a:xfrm>
            <a:off x="457200" y="4703149"/>
            <a:ext cx="2053433" cy="1296536"/>
          </a:xfrm>
          <a:prstGeom prst="rect">
            <a:avLst/>
          </a:prstGeom>
        </p:spPr>
      </p:pic>
    </p:spTree>
    <p:extLst>
      <p:ext uri="{BB962C8B-B14F-4D97-AF65-F5344CB8AC3E}">
        <p14:creationId xmlns:p14="http://schemas.microsoft.com/office/powerpoint/2010/main" val="511933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8ECA9-ABDB-B491-E8B4-D494F3F279D6}"/>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67447891-513D-163C-99D7-F7EE3A80B3EC}"/>
              </a:ext>
            </a:extLst>
          </p:cNvPr>
          <p:cNvSpPr/>
          <p:nvPr/>
        </p:nvSpPr>
        <p:spPr>
          <a:xfrm>
            <a:off x="457200" y="384048"/>
            <a:ext cx="11155680" cy="640080"/>
          </a:xfrm>
          <a:prstGeom prst="rect">
            <a:avLst/>
          </a:prstGeom>
          <a:noFill/>
          <a:ln/>
        </p:spPr>
        <p:txBody>
          <a:bodyPr wrap="square" rtlCol="0" anchor="ctr"/>
          <a:lstStyle/>
          <a:p>
            <a:pPr marL="0" indent="0">
              <a:buNone/>
            </a:pPr>
            <a:r>
              <a:rPr lang="en-US" sz="2600" b="1">
                <a:solidFill>
                  <a:srgbClr val="BA0C2F"/>
                </a:solidFill>
                <a:latin typeface="+mj-lt"/>
                <a:ea typeface="Calibri" pitchFamily="34" charset="-122"/>
                <a:cs typeface="Calibri" pitchFamily="34" charset="-120"/>
              </a:rPr>
              <a:t>Enterprise Database Landscape – Target State</a:t>
            </a:r>
            <a:endParaRPr lang="en-US" sz="2600">
              <a:latin typeface="+mj-lt"/>
            </a:endParaRPr>
          </a:p>
        </p:txBody>
      </p:sp>
      <p:sp>
        <p:nvSpPr>
          <p:cNvPr id="2" name="TextBox 1">
            <a:extLst>
              <a:ext uri="{FF2B5EF4-FFF2-40B4-BE49-F238E27FC236}">
                <a16:creationId xmlns:a16="http://schemas.microsoft.com/office/drawing/2014/main" id="{238DD878-59E0-D23F-5D36-8DFEE163D9BD}"/>
              </a:ext>
            </a:extLst>
          </p:cNvPr>
          <p:cNvSpPr txBox="1"/>
          <p:nvPr/>
        </p:nvSpPr>
        <p:spPr>
          <a:xfrm>
            <a:off x="457200" y="1245326"/>
            <a:ext cx="11360331" cy="4885508"/>
          </a:xfrm>
          <a:prstGeom prst="rect">
            <a:avLst/>
          </a:prstGeom>
          <a:noFill/>
        </p:spPr>
        <p:txBody>
          <a:bodyPr wrap="square" lIns="0" tIns="0" rIns="0" bIns="0" numCol="1" spcCol="228600" rtlCol="0">
            <a:noAutofit/>
          </a:bodyPr>
          <a:lstStyle/>
          <a:p>
            <a:pPr marL="228600" indent="-228600">
              <a:spcAft>
                <a:spcPts val="500"/>
              </a:spcAft>
              <a:buFont typeface="Arial" panose="020B0604020202020204" pitchFamily="34" charset="0"/>
              <a:buChar char="•"/>
            </a:pPr>
            <a:r>
              <a:rPr lang="en-CA" sz="1200"/>
              <a:t>Oracle</a:t>
            </a:r>
          </a:p>
          <a:p>
            <a:pPr marL="228600" indent="-228600">
              <a:spcAft>
                <a:spcPts val="500"/>
              </a:spcAft>
              <a:buFont typeface="Arial" panose="020B0604020202020204" pitchFamily="34" charset="0"/>
              <a:buChar char="•"/>
            </a:pPr>
            <a:r>
              <a:rPr lang="en-CA" sz="1200"/>
              <a:t>Targeting medium to large (critical) database sizes and corresponding workloads </a:t>
            </a:r>
          </a:p>
          <a:p>
            <a:pPr marL="685800" lvl="1" indent="-228600">
              <a:spcAft>
                <a:spcPts val="500"/>
              </a:spcAft>
              <a:buFont typeface="Arial" panose="020B0604020202020204" pitchFamily="34" charset="0"/>
              <a:buChar char="•"/>
            </a:pPr>
            <a:r>
              <a:rPr lang="en-CA" sz="1200"/>
              <a:t>Azure</a:t>
            </a:r>
          </a:p>
          <a:p>
            <a:pPr marL="1143000" lvl="2" indent="-228600">
              <a:spcAft>
                <a:spcPts val="500"/>
              </a:spcAft>
              <a:buFont typeface="Arial" panose="020B0604020202020204" pitchFamily="34" charset="0"/>
              <a:buChar char="•"/>
            </a:pPr>
            <a:r>
              <a:rPr lang="en-CA" sz="1200" err="1"/>
              <a:t>Exadata@Azure</a:t>
            </a:r>
            <a:r>
              <a:rPr lang="en-CA" sz="1200"/>
              <a:t> </a:t>
            </a:r>
          </a:p>
          <a:p>
            <a:pPr marL="1600200" lvl="3" indent="-228600">
              <a:spcAft>
                <a:spcPts val="500"/>
              </a:spcAft>
              <a:buFont typeface="Arial" panose="020B0604020202020204" pitchFamily="34" charset="0"/>
              <a:buChar char="•"/>
            </a:pPr>
            <a:r>
              <a:rPr lang="en-CA" sz="1200"/>
              <a:t>Licensing of all DB versions/features are included in this service </a:t>
            </a:r>
          </a:p>
          <a:p>
            <a:pPr marL="1600200" lvl="3" indent="-228600">
              <a:spcAft>
                <a:spcPts val="500"/>
              </a:spcAft>
              <a:buFont typeface="Arial" panose="020B0604020202020204" pitchFamily="34" charset="0"/>
              <a:buChar char="•"/>
            </a:pPr>
            <a:r>
              <a:rPr lang="en-CA" sz="1200"/>
              <a:t>Oracle 19c is on support until 2033 </a:t>
            </a:r>
          </a:p>
          <a:p>
            <a:pPr marL="1600200" lvl="3" indent="-228600">
              <a:spcAft>
                <a:spcPts val="500"/>
              </a:spcAft>
              <a:buFont typeface="Arial" panose="020B0604020202020204" pitchFamily="34" charset="0"/>
              <a:buChar char="•"/>
            </a:pPr>
            <a:r>
              <a:rPr lang="en-CA" sz="1200"/>
              <a:t>Oracle 26ai can unlock AI capabilities and datatypes out of the box by upgrading from 19c </a:t>
            </a:r>
          </a:p>
          <a:p>
            <a:pPr marL="2057400" lvl="4" indent="-228600">
              <a:spcAft>
                <a:spcPts val="500"/>
              </a:spcAft>
              <a:buFont typeface="Arial" panose="020B0604020202020204" pitchFamily="34" charset="0"/>
              <a:buChar char="•"/>
            </a:pPr>
            <a:r>
              <a:rPr lang="en-CA" sz="1200"/>
              <a:t>Able to natively consume MongoDB </a:t>
            </a:r>
          </a:p>
          <a:p>
            <a:pPr marL="2057400" lvl="4" indent="-228600">
              <a:spcAft>
                <a:spcPts val="500"/>
              </a:spcAft>
              <a:buFont typeface="Arial" panose="020B0604020202020204" pitchFamily="34" charset="0"/>
              <a:buChar char="•"/>
            </a:pPr>
            <a:r>
              <a:rPr lang="en-CA" sz="1200"/>
              <a:t>It is the latest major database release that deeply integrates AI and machine learning into every layer of the Oracle Database stack</a:t>
            </a:r>
          </a:p>
          <a:p>
            <a:pPr marL="2057400" lvl="4" indent="-228600">
              <a:spcAft>
                <a:spcPts val="500"/>
              </a:spcAft>
              <a:buFont typeface="Arial" panose="020B0604020202020204" pitchFamily="34" charset="0"/>
              <a:buChar char="•"/>
            </a:pPr>
            <a:r>
              <a:rPr lang="en-CA" sz="1200"/>
              <a:t>It brings AI to your data with the addition of AI Vector search to Oracle's relational database</a:t>
            </a:r>
          </a:p>
          <a:p>
            <a:pPr marL="2057400" lvl="4" indent="-228600">
              <a:spcAft>
                <a:spcPts val="500"/>
              </a:spcAft>
              <a:buFont typeface="Arial" panose="020B0604020202020204" pitchFamily="34" charset="0"/>
              <a:buChar char="•"/>
            </a:pPr>
            <a:r>
              <a:rPr lang="en-CA" sz="1200"/>
              <a:t>Instead of using two separated databases (relational and non-relational databases), developers can operate on the same underlying data as either JSON documents, using standard document APIs, or as relational, using standard SQL</a:t>
            </a:r>
          </a:p>
          <a:p>
            <a:pPr marL="1600200" lvl="3" indent="-228600">
              <a:spcAft>
                <a:spcPts val="500"/>
              </a:spcAft>
              <a:buFont typeface="Arial" panose="020B0604020202020204" pitchFamily="34" charset="0"/>
              <a:buChar char="•"/>
            </a:pPr>
            <a:r>
              <a:rPr lang="en-CA" sz="1200"/>
              <a:t>Autonomous environments available for self management, patching, and healing for Operational reductions </a:t>
            </a:r>
          </a:p>
          <a:p>
            <a:pPr marL="228600" indent="-228600">
              <a:spcAft>
                <a:spcPts val="500"/>
              </a:spcAft>
              <a:buFont typeface="Arial" panose="020B0604020202020204" pitchFamily="34" charset="0"/>
              <a:buChar char="•"/>
            </a:pPr>
            <a:endParaRPr lang="en-CA" sz="1200"/>
          </a:p>
          <a:p>
            <a:pPr marL="228600" indent="-228600">
              <a:spcAft>
                <a:spcPts val="500"/>
              </a:spcAft>
              <a:buFont typeface="Arial" panose="020B0604020202020204" pitchFamily="34" charset="0"/>
              <a:buChar char="•"/>
            </a:pPr>
            <a:endParaRPr lang="en-CA" sz="1200"/>
          </a:p>
          <a:p>
            <a:pPr marL="1143000" lvl="2" indent="-228600">
              <a:spcAft>
                <a:spcPts val="500"/>
              </a:spcAft>
              <a:buFont typeface="Arial" panose="020B0604020202020204" pitchFamily="34" charset="0"/>
              <a:buChar char="•"/>
            </a:pPr>
            <a:endParaRPr lang="en-CA" sz="1200"/>
          </a:p>
          <a:p>
            <a:pPr marL="685800" lvl="1" indent="-228600">
              <a:spcAft>
                <a:spcPts val="500"/>
              </a:spcAft>
              <a:buFont typeface="Arial" panose="020B0604020202020204" pitchFamily="34" charset="0"/>
              <a:buChar char="•"/>
            </a:pPr>
            <a:endParaRPr lang="en-CA" sz="1200"/>
          </a:p>
        </p:txBody>
      </p:sp>
      <p:pic>
        <p:nvPicPr>
          <p:cNvPr id="5" name="Picture 4">
            <a:extLst>
              <a:ext uri="{FF2B5EF4-FFF2-40B4-BE49-F238E27FC236}">
                <a16:creationId xmlns:a16="http://schemas.microsoft.com/office/drawing/2014/main" id="{52AB6942-DFBC-F7FB-0CBE-75A8EDCA3A01}"/>
              </a:ext>
            </a:extLst>
          </p:cNvPr>
          <p:cNvPicPr>
            <a:picLocks noChangeAspect="1"/>
          </p:cNvPicPr>
          <p:nvPr/>
        </p:nvPicPr>
        <p:blipFill>
          <a:blip r:embed="rId2"/>
          <a:stretch>
            <a:fillRect/>
          </a:stretch>
        </p:blipFill>
        <p:spPr>
          <a:xfrm>
            <a:off x="457200" y="4731932"/>
            <a:ext cx="2434046" cy="1267038"/>
          </a:xfrm>
          <a:prstGeom prst="rect">
            <a:avLst/>
          </a:prstGeom>
        </p:spPr>
      </p:pic>
    </p:spTree>
    <p:extLst>
      <p:ext uri="{BB962C8B-B14F-4D97-AF65-F5344CB8AC3E}">
        <p14:creationId xmlns:p14="http://schemas.microsoft.com/office/powerpoint/2010/main" val="10372914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FWWUVlBBH2l3k9hxXzMmW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ik9g.6aq00WkbNTDofa0y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9.xml><?xml version="1.0" encoding="utf-8"?>
<p:tagLst xmlns:a="http://schemas.openxmlformats.org/drawingml/2006/main" xmlns:r="http://schemas.openxmlformats.org/officeDocument/2006/relationships" xmlns:p="http://schemas.openxmlformats.org/presentationml/2006/main">
  <p:tag name="SHAPENAME" val="5. Sourc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xml><?xml version="1.0" encoding="utf-8"?>
<p:tagLst xmlns:a="http://schemas.openxmlformats.org/drawingml/2006/main" xmlns:r="http://schemas.openxmlformats.org/officeDocument/2006/relationships" xmlns:p="http://schemas.openxmlformats.org/presentationml/2006/main">
  <p:tag name="NAME" val="ACET"/>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NAME" val="Moon"/>
</p:tagLst>
</file>

<file path=ppt/tags/tag20.xml><?xml version="1.0" encoding="utf-8"?>
<p:tagLst xmlns:a="http://schemas.openxmlformats.org/drawingml/2006/main" xmlns:r="http://schemas.openxmlformats.org/officeDocument/2006/relationships" xmlns:p="http://schemas.openxmlformats.org/presentationml/2006/main">
  <p:tag name="ANGLE" val="5"/>
</p:tagLst>
</file>

<file path=ppt/tags/tag21.xml><?xml version="1.0" encoding="utf-8"?>
<p:tagLst xmlns:a="http://schemas.openxmlformats.org/drawingml/2006/main" xmlns:r="http://schemas.openxmlformats.org/officeDocument/2006/relationships" xmlns:p="http://schemas.openxmlformats.org/presentationml/2006/main">
  <p:tag name="ANGLE" val="5"/>
</p:tagLst>
</file>

<file path=ppt/tags/tag22.xml><?xml version="1.0" encoding="utf-8"?>
<p:tagLst xmlns:a="http://schemas.openxmlformats.org/drawingml/2006/main" xmlns:r="http://schemas.openxmlformats.org/officeDocument/2006/relationships" xmlns:p="http://schemas.openxmlformats.org/presentationml/2006/main">
  <p:tag name="ANGLE" val="4"/>
</p:tagLst>
</file>

<file path=ppt/tags/tag23.xml><?xml version="1.0" encoding="utf-8"?>
<p:tagLst xmlns:a="http://schemas.openxmlformats.org/drawingml/2006/main" xmlns:r="http://schemas.openxmlformats.org/officeDocument/2006/relationships" xmlns:p="http://schemas.openxmlformats.org/presentationml/2006/main">
  <p:tag name="ANGLE" val="4"/>
</p:tagLst>
</file>

<file path=ppt/tags/tag24.xml><?xml version="1.0" encoding="utf-8"?>
<p:tagLst xmlns:a="http://schemas.openxmlformats.org/drawingml/2006/main" xmlns:r="http://schemas.openxmlformats.org/officeDocument/2006/relationships" xmlns:p="http://schemas.openxmlformats.org/presentationml/2006/main">
  <p:tag name="ANGLE" val="3"/>
</p:tagLst>
</file>

<file path=ppt/tags/tag25.xml><?xml version="1.0" encoding="utf-8"?>
<p:tagLst xmlns:a="http://schemas.openxmlformats.org/drawingml/2006/main" xmlns:r="http://schemas.openxmlformats.org/officeDocument/2006/relationships" xmlns:p="http://schemas.openxmlformats.org/presentationml/2006/main">
  <p:tag name="ANGLE" val="3"/>
</p:tagLst>
</file>

<file path=ppt/tags/tag26.xml><?xml version="1.0" encoding="utf-8"?>
<p:tagLst xmlns:a="http://schemas.openxmlformats.org/drawingml/2006/main" xmlns:r="http://schemas.openxmlformats.org/officeDocument/2006/relationships" xmlns:p="http://schemas.openxmlformats.org/presentationml/2006/main">
  <p:tag name="ANGLE" val="2"/>
</p:tagLst>
</file>

<file path=ppt/tags/tag27.xml><?xml version="1.0" encoding="utf-8"?>
<p:tagLst xmlns:a="http://schemas.openxmlformats.org/drawingml/2006/main" xmlns:r="http://schemas.openxmlformats.org/officeDocument/2006/relationships" xmlns:p="http://schemas.openxmlformats.org/presentationml/2006/main">
  <p:tag name="ANGLE" val="2"/>
</p:tagLst>
</file>

<file path=ppt/tags/tag28.xml><?xml version="1.0" encoding="utf-8"?>
<p:tagLst xmlns:a="http://schemas.openxmlformats.org/drawingml/2006/main" xmlns:r="http://schemas.openxmlformats.org/officeDocument/2006/relationships" xmlns:p="http://schemas.openxmlformats.org/presentationml/2006/main">
  <p:tag name="ANGLE" val="1"/>
</p:tagLst>
</file>

<file path=ppt/tags/tag29.xml><?xml version="1.0" encoding="utf-8"?>
<p:tagLst xmlns:a="http://schemas.openxmlformats.org/drawingml/2006/main" xmlns:r="http://schemas.openxmlformats.org/officeDocument/2006/relationships" xmlns:p="http://schemas.openxmlformats.org/presentationml/2006/main">
  <p:tag name="ANGLE" val="1"/>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2.xml><?xml version="1.0" encoding="utf-8"?>
<p:tagLst xmlns:a="http://schemas.openxmlformats.org/drawingml/2006/main" xmlns:r="http://schemas.openxmlformats.org/officeDocument/2006/relationships" xmlns:p="http://schemas.openxmlformats.org/presentationml/2006/main">
  <p:tag name="SHAPENAME" val="Subtitle"/>
</p:tagLst>
</file>

<file path=ppt/tags/tag33.xml><?xml version="1.0" encoding="utf-8"?>
<p:tagLst xmlns:a="http://schemas.openxmlformats.org/drawingml/2006/main" xmlns:r="http://schemas.openxmlformats.org/officeDocument/2006/relationships" xmlns:p="http://schemas.openxmlformats.org/presentationml/2006/main">
  <p:tag name="SHAPENAME" val="Title"/>
</p:tagLst>
</file>

<file path=ppt/tags/tag3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xml><?xml version="1.0" encoding="utf-8"?>
<p:tagLst xmlns:a="http://schemas.openxmlformats.org/drawingml/2006/main" xmlns:r="http://schemas.openxmlformats.org/officeDocument/2006/relationships" xmlns:p="http://schemas.openxmlformats.org/presentationml/2006/main">
  <p:tag name="SHAPENAME" val="5. Source"/>
</p:tagLst>
</file>

<file path=ppt/tags/tag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5. Source"/>
</p:tagLst>
</file>

<file path=ppt/tags/tag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5. Source"/>
</p:tagLst>
</file>

<file path=ppt/tags/tag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5. Source"/>
</p:tagLst>
</file>

<file path=ppt/tags/tag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3. Subtitle"/>
</p:tagLst>
</file>

<file path=ppt/tags/tag72.xml><?xml version="1.0" encoding="utf-8"?>
<p:tagLst xmlns:a="http://schemas.openxmlformats.org/drawingml/2006/main" xmlns:r="http://schemas.openxmlformats.org/officeDocument/2006/relationships" xmlns:p="http://schemas.openxmlformats.org/presentationml/2006/main">
  <p:tag name="SHAPENAME" val="5. Source"/>
</p:tagLst>
</file>

<file path=ppt/tags/tag7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7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79.xml><?xml version="1.0" encoding="utf-8"?>
<p:tagLst xmlns:a="http://schemas.openxmlformats.org/drawingml/2006/main" xmlns:r="http://schemas.openxmlformats.org/officeDocument/2006/relationships" xmlns:p="http://schemas.openxmlformats.org/presentationml/2006/main">
  <p:tag name="SHAPENAME" val="5. Source"/>
</p:tagLst>
</file>

<file path=ppt/tags/tag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SHAPENAME" val="5. Source"/>
</p:tagLst>
</file>

<file path=ppt/tags/tag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94.xml><?xml version="1.0" encoding="utf-8"?>
<p:tagLst xmlns:a="http://schemas.openxmlformats.org/drawingml/2006/main" xmlns:r="http://schemas.openxmlformats.org/officeDocument/2006/relationships" xmlns:p="http://schemas.openxmlformats.org/presentationml/2006/main">
  <p:tag name="SHAPENAME" val="5. Sourc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5.xml><?xml version="1.0" encoding="utf-8"?>
<p:tagLst xmlns:a="http://schemas.openxmlformats.org/drawingml/2006/main" xmlns:r="http://schemas.openxmlformats.org/officeDocument/2006/relationships" xmlns:p="http://schemas.openxmlformats.org/presentationml/2006/main">
  <p:tag name="SHAPENAME" val="5. Source"/>
</p:tagLst>
</file>

<file path=ppt/tags/tag11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1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12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8.xml><?xml version="1.0" encoding="utf-8"?>
<p:tagLst xmlns:a="http://schemas.openxmlformats.org/drawingml/2006/main" xmlns:r="http://schemas.openxmlformats.org/officeDocument/2006/relationships" xmlns:p="http://schemas.openxmlformats.org/presentationml/2006/main">
  <p:tag name="SHAPENAME" val="5. Source"/>
</p:tagLst>
</file>

<file path=ppt/tags/tag12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1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5.xml><?xml version="1.0" encoding="utf-8"?>
<p:tagLst xmlns:a="http://schemas.openxmlformats.org/drawingml/2006/main" xmlns:r="http://schemas.openxmlformats.org/officeDocument/2006/relationships" xmlns:p="http://schemas.openxmlformats.org/presentationml/2006/main">
  <p:tag name="SHAPENAME" val="5. Source"/>
</p:tagLst>
</file>

<file path=ppt/tags/tag1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1.xml><?xml version="1.0" encoding="utf-8"?>
<p:tagLst xmlns:a="http://schemas.openxmlformats.org/drawingml/2006/main" xmlns:r="http://schemas.openxmlformats.org/officeDocument/2006/relationships" xmlns:p="http://schemas.openxmlformats.org/presentationml/2006/main">
  <p:tag name="SHAPENAME" val="5. Source"/>
</p:tagLst>
</file>

<file path=ppt/tags/tag1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SHAPENAME" val="5. Source"/>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SHAPENAME" val="5. Sourc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g3H8FluR_n9Smw5TXsjfNQ"/>
</p:tagLst>
</file>

<file path=ppt/theme/theme1.xml><?xml version="1.0" encoding="utf-8"?>
<a:theme xmlns:a="http://schemas.openxmlformats.org/drawingml/2006/main" name="EY-P Widescreen Template 2022">
  <a:themeElements>
    <a:clrScheme name="EYP2020_PPT">
      <a:dk1>
        <a:srgbClr val="FFFFFF"/>
      </a:dk1>
      <a:lt1>
        <a:srgbClr val="2E2E38"/>
      </a:lt1>
      <a:dk2>
        <a:srgbClr val="FFE600"/>
      </a:dk2>
      <a:lt2>
        <a:srgbClr val="000000"/>
      </a:lt2>
      <a:accent1>
        <a:srgbClr val="1A9AFA"/>
      </a:accent1>
      <a:accent2>
        <a:srgbClr val="2E2E38"/>
      </a:accent2>
      <a:accent3>
        <a:srgbClr val="747480"/>
      </a:accent3>
      <a:accent4>
        <a:srgbClr val="C4C4CD"/>
      </a:accent4>
      <a:accent5>
        <a:srgbClr val="FF4136"/>
      </a:accent5>
      <a:accent6>
        <a:srgbClr val="2DB757"/>
      </a:accent6>
      <a:hlink>
        <a:srgbClr val="1A9AFA"/>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solidFill>
        <a:ln w="9525">
          <a:noFill/>
        </a:ln>
      </a:spPr>
      <a:bodyPr lIns="72000" tIns="72000" rIns="72000" bIns="72000" rtlCol="0" anchor="ctr" anchorCtr="0"/>
      <a:lstStyle>
        <a:defPPr algn="l">
          <a:defRPr sz="12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3"/>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171450" indent="-171450" algn="l">
          <a:lnSpc>
            <a:spcPct val="85000"/>
          </a:lnSpc>
          <a:spcAft>
            <a:spcPts val="600"/>
          </a:spcAft>
          <a:buSzPct val="110000"/>
          <a:buFont typeface="EYInterstate Light" panose="02000506000000020004" pitchFamily="2" charset="0"/>
          <a:buChar char="•"/>
          <a:defRPr sz="1100" dirty="0">
            <a:solidFill>
              <a:schemeClr val="bg1"/>
            </a:solidFill>
          </a:defRPr>
        </a:defPPr>
      </a:lstStyle>
    </a:txDef>
  </a:objectDefaults>
  <a:extraClrSchemeLst/>
  <a:custClrLst>
    <a:custClr name="Teal">
      <a:srgbClr val="27ACAA"/>
    </a:custClr>
    <a:custClr name="Green">
      <a:srgbClr val="2DB757"/>
    </a:custClr>
    <a:custClr name="Orange">
      <a:srgbClr val="FF6D00"/>
    </a:custClr>
    <a:custClr name="Purple">
      <a:srgbClr val="3D108A"/>
    </a:custClr>
    <a:custClr name="Maroon">
      <a:srgbClr val="750E5C"/>
    </a:custClr>
    <a:custClr name="Red">
      <a:srgbClr val="FF4136"/>
    </a:custClr>
    <a:custClr name="blank">
      <a:srgbClr val="FFFFFF"/>
    </a:custClr>
    <a:custClr name="blank">
      <a:srgbClr val="FFFFFF"/>
    </a:custClr>
    <a:custClr name="blank">
      <a:srgbClr val="FFFFFF"/>
    </a:custClr>
    <a:custClr name="blank">
      <a:srgbClr val="FFFFFF"/>
    </a:custClr>
    <a:custClr name="Teal">
      <a:srgbClr val="42C9C2"/>
    </a:custClr>
    <a:custClr name="Green">
      <a:srgbClr val="34C768"/>
    </a:custClr>
    <a:custClr name="Orange">
      <a:srgbClr val="FF810A"/>
    </a:custClr>
    <a:custClr name="Purple">
      <a:srgbClr val="542EA5"/>
    </a:custClr>
    <a:custClr name="Maroon">
      <a:srgbClr val="922B73"/>
    </a:custClr>
    <a:custClr name="Red">
      <a:srgbClr val="F95D54"/>
    </a:custClr>
    <a:custClr name="blank">
      <a:srgbClr val="FFFFFF"/>
    </a:custClr>
    <a:custClr name="blank">
      <a:srgbClr val="FFFFFF"/>
    </a:custClr>
    <a:custClr name="blank">
      <a:srgbClr val="FFFFFF"/>
    </a:custClr>
    <a:custClr name="blank">
      <a:srgbClr val="FFFFFF"/>
    </a:custClr>
    <a:custClr name="Teal">
      <a:srgbClr val="60E6E1"/>
    </a:custClr>
    <a:custClr name="Green">
      <a:srgbClr val="57E188"/>
    </a:custClr>
    <a:custClr name="Orange">
      <a:srgbClr val="FF9831"/>
    </a:custClr>
    <a:custClr name="Purple">
      <a:srgbClr val="724BC3"/>
    </a:custClr>
    <a:custClr name="Maroon">
      <a:srgbClr val="B14891"/>
    </a:custClr>
    <a:custClr name="Red">
      <a:srgbClr val="FF736A"/>
    </a:custClr>
    <a:custClr name="blank">
      <a:srgbClr val="FFFFFF"/>
    </a:custClr>
    <a:custClr name="blank">
      <a:srgbClr val="FFFFFF"/>
    </a:custClr>
    <a:custClr name="blank">
      <a:srgbClr val="FFFFFF"/>
    </a:custClr>
    <a:custClr name="blank">
      <a:srgbClr val="FFFFFF"/>
    </a:custClr>
    <a:custClr name="Teal">
      <a:srgbClr val="93F0E6"/>
    </a:custClr>
    <a:custClr name="Green">
      <a:srgbClr val="8CE8AD"/>
    </a:custClr>
    <a:custClr name="Orange">
      <a:srgbClr val="FFB46A"/>
    </a:custClr>
    <a:custClr name="Purple">
      <a:srgbClr val="9C82D4"/>
    </a:custClr>
    <a:custClr name="Maroon">
      <a:srgbClr val="C981B2"/>
    </a:custClr>
    <a:custClr name="Red">
      <a:srgbClr val="FF9A91"/>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EY-Parthenon Template 2022.potx" id="{F61FB716-DF41-43AC-96D7-4F936D1FCDB7}" vid="{3715C607-16CB-460C-A685-A77F3281436D}"/>
    </a:ext>
  </a:extLst>
</a:theme>
</file>

<file path=ppt/theme/theme2.xml><?xml version="1.0" encoding="utf-8"?>
<a:theme xmlns:a="http://schemas.openxmlformats.org/drawingml/2006/main" name="Office Theme">
  <a:themeElements>
    <a:clrScheme name="Custom 9">
      <a:dk1>
        <a:srgbClr val="515349"/>
      </a:dk1>
      <a:lt1>
        <a:srgbClr val="FFFFFF"/>
      </a:lt1>
      <a:dk2>
        <a:srgbClr val="BA0C2F"/>
      </a:dk2>
      <a:lt2>
        <a:srgbClr val="E2E2DF"/>
      </a:lt2>
      <a:accent1>
        <a:srgbClr val="838271"/>
      </a:accent1>
      <a:accent2>
        <a:srgbClr val="007DC1"/>
      </a:accent2>
      <a:accent3>
        <a:srgbClr val="862633"/>
      </a:accent3>
      <a:accent4>
        <a:srgbClr val="5F59A2"/>
      </a:accent4>
      <a:accent5>
        <a:srgbClr val="00BDF1"/>
      </a:accent5>
      <a:accent6>
        <a:srgbClr val="497D3B"/>
      </a:accent6>
      <a:hlink>
        <a:srgbClr val="0563C1"/>
      </a:hlink>
      <a:folHlink>
        <a:srgbClr val="954F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numCol="1" spcCol="228600" rtlCol="0">
        <a:noAutofit/>
      </a:bodyPr>
      <a:lstStyle>
        <a:defPPr marL="228600" indent="-228600" algn="l">
          <a:spcAft>
            <a:spcPts val="500"/>
          </a:spcAft>
          <a:buFont typeface="Arial" panose="020B0604020202020204" pitchFamily="34" charset="0"/>
          <a:buChar char="•"/>
          <a:defRPr sz="1200"/>
        </a:defPPr>
      </a:lstStyle>
    </a:txDef>
  </a:objectDefaults>
  <a:extraClrSchemeLst/>
  <a:extLst>
    <a:ext uri="{05A4C25C-085E-4340-85A3-A5531E510DB2}">
      <thm15:themeFamily xmlns:thm15="http://schemas.microsoft.com/office/thememl/2012/main" name="CanadaLife_PPT_Widescreen_v4" id="{6F2DBD4F-3169-9046-8051-6C880174377F}" vid="{C6DAB6E1-BB97-0945-B1CA-D2BD6B60DABC}"/>
    </a:ext>
  </a:extLst>
</a:theme>
</file>

<file path=ppt/theme/theme3.xml><?xml version="1.0" encoding="utf-8"?>
<a:theme xmlns:a="http://schemas.openxmlformats.org/drawingml/2006/main" name="White">
  <a:themeElements>
    <a:clrScheme name="Scheme1">
      <a:dk1>
        <a:srgbClr val="515349"/>
      </a:dk1>
      <a:lt1>
        <a:srgbClr val="FFFFFF"/>
      </a:lt1>
      <a:dk2>
        <a:srgbClr val="FFFFFF"/>
      </a:dk2>
      <a:lt2>
        <a:srgbClr val="FFFFFF"/>
      </a:lt2>
      <a:accent1>
        <a:srgbClr val="BA0C2F"/>
      </a:accent1>
      <a:accent2>
        <a:srgbClr val="838271"/>
      </a:accent2>
      <a:accent3>
        <a:srgbClr val="0078BD"/>
      </a:accent3>
      <a:accent4>
        <a:srgbClr val="00BDF1"/>
      </a:accent4>
      <a:accent5>
        <a:srgbClr val="862633"/>
      </a:accent5>
      <a:accent6>
        <a:srgbClr val="5F59A2"/>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515349"/>
        </a:dk1>
        <a:lt1>
          <a:srgbClr val="FFFFFF"/>
        </a:lt1>
        <a:dk2>
          <a:srgbClr val="FFFFFF"/>
        </a:dk2>
        <a:lt2>
          <a:srgbClr val="FFFFFF"/>
        </a:lt2>
        <a:accent1>
          <a:srgbClr val="BA0C2F"/>
        </a:accent1>
        <a:accent2>
          <a:srgbClr val="838271"/>
        </a:accent2>
        <a:accent3>
          <a:srgbClr val="0078BD"/>
        </a:accent3>
        <a:accent4>
          <a:srgbClr val="00BDF1"/>
        </a:accent4>
        <a:accent5>
          <a:srgbClr val="862633"/>
        </a:accent5>
        <a:accent6>
          <a:srgbClr val="5F59A2"/>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497D3B"/>
    </a:custClr>
    <a:custClr name="Custom Color7">
      <a:srgbClr val="E2E2DF"/>
    </a:custClr>
  </a:custClrLst>
  <a:extLst>
    <a:ext uri="{05A4C25C-085E-4340-85A3-A5531E510DB2}">
      <thm15:themeFamily xmlns:thm15="http://schemas.microsoft.com/office/thememl/2012/main" name="20240827_Termination Future State_Workshop_vF" id="{A06D6D69-020E-49A6-A12E-644DE06562A2}" vid="{3E032959-9D99-4C85-A2CB-842CCC176EC2}"/>
    </a:ext>
  </a:extLst>
</a:theme>
</file>

<file path=ppt/theme/theme4.xml><?xml version="1.0" encoding="utf-8"?>
<a:theme xmlns:a="http://schemas.openxmlformats.org/drawingml/2006/main" name="2_Office Theme">
  <a:themeElements>
    <a:clrScheme name="Custom 9">
      <a:dk1>
        <a:srgbClr val="515349"/>
      </a:dk1>
      <a:lt1>
        <a:srgbClr val="FFFFFF"/>
      </a:lt1>
      <a:dk2>
        <a:srgbClr val="BA0C2F"/>
      </a:dk2>
      <a:lt2>
        <a:srgbClr val="E2E2DF"/>
      </a:lt2>
      <a:accent1>
        <a:srgbClr val="838271"/>
      </a:accent1>
      <a:accent2>
        <a:srgbClr val="007DC1"/>
      </a:accent2>
      <a:accent3>
        <a:srgbClr val="862633"/>
      </a:accent3>
      <a:accent4>
        <a:srgbClr val="5F59A2"/>
      </a:accent4>
      <a:accent5>
        <a:srgbClr val="00BDF1"/>
      </a:accent5>
      <a:accent6>
        <a:srgbClr val="497D3B"/>
      </a:accent6>
      <a:hlink>
        <a:srgbClr val="0563C1"/>
      </a:hlink>
      <a:folHlink>
        <a:srgbClr val="954F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numCol="1" spcCol="228600" rtlCol="0">
        <a:noAutofit/>
      </a:bodyPr>
      <a:lstStyle>
        <a:defPPr marL="228600" indent="-228600" algn="l">
          <a:spcAft>
            <a:spcPts val="500"/>
          </a:spcAft>
          <a:buFont typeface="Arial" panose="020B0604020202020204" pitchFamily="34" charset="0"/>
          <a:buChar char="•"/>
          <a:defRPr sz="1200"/>
        </a:defPPr>
      </a:lstStyle>
    </a:txDef>
  </a:objectDefaults>
  <a:extraClrSchemeLst/>
  <a:extLst>
    <a:ext uri="{05A4C25C-085E-4340-85A3-A5531E510DB2}">
      <thm15:themeFamily xmlns:thm15="http://schemas.microsoft.com/office/thememl/2012/main" name="Canada Life" id="{83FECA6D-FBFC-42FC-AC3F-8C5F6EA4A3BD}" vid="{0E4B6146-B41C-4AD3-BCED-DF2BCCD9B058}"/>
    </a:ext>
  </a:extLst>
</a:theme>
</file>

<file path=ppt/theme/theme5.xml><?xml version="1.0" encoding="utf-8"?>
<a:theme xmlns:a="http://schemas.openxmlformats.org/drawingml/2006/main" name="1_Office Theme">
  <a:themeElements>
    <a:clrScheme name="Custom 9">
      <a:dk1>
        <a:srgbClr val="515349"/>
      </a:dk1>
      <a:lt1>
        <a:srgbClr val="FFFFFF"/>
      </a:lt1>
      <a:dk2>
        <a:srgbClr val="BA0C2F"/>
      </a:dk2>
      <a:lt2>
        <a:srgbClr val="E2E2DF"/>
      </a:lt2>
      <a:accent1>
        <a:srgbClr val="838271"/>
      </a:accent1>
      <a:accent2>
        <a:srgbClr val="007DC1"/>
      </a:accent2>
      <a:accent3>
        <a:srgbClr val="862633"/>
      </a:accent3>
      <a:accent4>
        <a:srgbClr val="5F59A2"/>
      </a:accent4>
      <a:accent5>
        <a:srgbClr val="00BDF1"/>
      </a:accent5>
      <a:accent6>
        <a:srgbClr val="497D3B"/>
      </a:accent6>
      <a:hlink>
        <a:srgbClr val="0563C1"/>
      </a:hlink>
      <a:folHlink>
        <a:srgbClr val="954F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numCol="1" spcCol="228600" rtlCol="0">
        <a:noAutofit/>
      </a:bodyPr>
      <a:lstStyle>
        <a:defPPr marL="228600" indent="-228600" algn="l">
          <a:spcAft>
            <a:spcPts val="500"/>
          </a:spcAft>
          <a:buFont typeface="Arial" panose="020B0604020202020204" pitchFamily="34" charset="0"/>
          <a:buChar char="•"/>
          <a:defRPr sz="1200"/>
        </a:defPPr>
      </a:lstStyle>
    </a:txDef>
  </a:objectDefaults>
  <a:extraClrSchemeLst/>
  <a:extLst>
    <a:ext uri="{05A4C25C-085E-4340-85A3-A5531E510DB2}">
      <thm15:themeFamily xmlns:thm15="http://schemas.microsoft.com/office/thememl/2012/main" name="CanadaLife_PPT_Widescreen_v4" id="{6F2DBD4F-3169-9046-8051-6C880174377F}" vid="{C6DAB6E1-BB97-0945-B1CA-D2BD6B60DAB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66B9DB8-D533-4468-B211-F7FF947954F4}">
  <we:reference id="c3b3159f-c9fe-4860-a4cb-a5d5f254c545" version="9.5.6.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F5BF3D4589ED4EB85F1FC304733CE9" ma:contentTypeVersion="11" ma:contentTypeDescription="Create a new document." ma:contentTypeScope="" ma:versionID="9a01957f481432195f1f28f331ce03ee">
  <xsd:schema xmlns:xsd="http://www.w3.org/2001/XMLSchema" xmlns:xs="http://www.w3.org/2001/XMLSchema" xmlns:p="http://schemas.microsoft.com/office/2006/metadata/properties" xmlns:ns3="7feefdba-c6d7-42a0-b52c-223d7c6e34c3" targetNamespace="http://schemas.microsoft.com/office/2006/metadata/properties" ma:root="true" ma:fieldsID="7d04f62c4ddb97e101a3674ac00de363" ns3:_="">
    <xsd:import namespace="7feefdba-c6d7-42a0-b52c-223d7c6e34c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eefdba-c6d7-42a0-b52c-223d7c6e34c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7feefdba-c6d7-42a0-b52c-223d7c6e34c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2F2251-C8F5-4E4A-9085-C1EF4402F54C}">
  <ds:schemaRefs>
    <ds:schemaRef ds:uri="7feefdba-c6d7-42a0-b52c-223d7c6e34c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9F122C61-147F-4056-A5E1-37F4DBB0052A}">
  <ds:schemaRefs>
    <ds:schemaRef ds:uri="7feefdba-c6d7-42a0-b52c-223d7c6e34c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1858EEC-0583-4ECA-90A4-3B690D9E91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X. CL Template</Template>
  <TotalTime>0</TotalTime>
  <Words>3245</Words>
  <Application>Microsoft Office PowerPoint</Application>
  <PresentationFormat>Widescreen</PresentationFormat>
  <Paragraphs>449</Paragraphs>
  <Slides>30</Slides>
  <Notes>0</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30</vt:i4>
      </vt:variant>
    </vt:vector>
  </HeadingPairs>
  <TitlesOfParts>
    <vt:vector size="42" baseType="lpstr">
      <vt:lpstr>Aptos</vt:lpstr>
      <vt:lpstr>Arial</vt:lpstr>
      <vt:lpstr>Calibri</vt:lpstr>
      <vt:lpstr>Segoe UI</vt:lpstr>
      <vt:lpstr>Wingdings</vt:lpstr>
      <vt:lpstr>Wingdings 3</vt:lpstr>
      <vt:lpstr>EY-P Widescreen Template 2022</vt:lpstr>
      <vt:lpstr>Office Theme</vt:lpstr>
      <vt:lpstr>White</vt:lpstr>
      <vt:lpstr>2_Office Theme</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I3. DR Design</dc:title>
  <dc:creator>Sachin Sagar</dc:creator>
  <cp:lastModifiedBy>Chandrashekar, Santhosh Kumar</cp:lastModifiedBy>
  <cp:revision>2</cp:revision>
  <cp:lastPrinted>2024-12-05T16:58:02Z</cp:lastPrinted>
  <dcterms:created xsi:type="dcterms:W3CDTF">2024-08-09T13:49:42Z</dcterms:created>
  <dcterms:modified xsi:type="dcterms:W3CDTF">2026-09-02T07:35:00Z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0x01010090F5BF3D4589ED4EB85F1FC304733CE9</vt:lpwstr>
  </property>
  <property fmtid="{D5CDD505-2E9C-101B-9397-08002B2CF9AE}" pid="3" name="MediaServiceImageTags">
    <vt:lpwstr/>
  </property>
  <property fmtid="{D5CDD505-2E9C-101B-9397-08002B2CF9AE}" pid="4" name="MSIP_Label_b07bbe84-2447-47ed-9f95-d9c34bc076ba_Name">
    <vt:lpwstr>Confidential</vt:lpwstr>
  </property>
  <property fmtid="{D5CDD505-2E9C-101B-9397-08002B2CF9AE}" pid="5" name="MSIP_Label_b07bbe84-2447-47ed-9f95-d9c34bc076ba_Enabled">
    <vt:lpwstr>true</vt:lpwstr>
  </property>
  <property fmtid="{D5CDD505-2E9C-101B-9397-08002B2CF9AE}" pid="6" name="MSIP_Label_b07bbe84-2447-47ed-9f95-d9c34bc076ba_SetDate">
    <vt:lpwstr>2024-09-27T10:55:17Z</vt:lpwstr>
  </property>
  <property fmtid="{D5CDD505-2E9C-101B-9397-08002B2CF9AE}" pid="7" name="MSIP_Label_b07bbe84-2447-47ed-9f95-d9c34bc076ba_SiteId">
    <vt:lpwstr>633f3069-d670-4419-9fee-2ab4251c88ee</vt:lpwstr>
  </property>
  <property fmtid="{D5CDD505-2E9C-101B-9397-08002B2CF9AE}" pid="8" name="MSIP_Label_b07bbe84-2447-47ed-9f95-d9c34bc076ba_Method">
    <vt:lpwstr>Standard</vt:lpwstr>
  </property>
  <property fmtid="{D5CDD505-2E9C-101B-9397-08002B2CF9AE}" pid="9" name="MSIP_Label_b07bbe84-2447-47ed-9f95-d9c34bc076ba_ContentBits">
    <vt:lpwstr>0</vt:lpwstr>
  </property>
  <property fmtid="{D5CDD505-2E9C-101B-9397-08002B2CF9AE}" pid="10" name="MSIP_Label_b07bbe84-2447-47ed-9f95-d9c34bc076ba_ActionId">
    <vt:lpwstr>82008502-0ea2-48a0-bd7b-cac11b1135da</vt:lpwstr>
  </property>
</Properties>
</file>