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tags/tag8.xml" ContentType="application/vnd.openxmlformats-officedocument.presentationml.tags+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147481412" r:id="rId2"/>
    <p:sldId id="2147481449" r:id="rId3"/>
    <p:sldId id="2147481441" r:id="rId4"/>
    <p:sldId id="2147481451" r:id="rId5"/>
    <p:sldId id="2147481438" r:id="rId6"/>
    <p:sldId id="2147481440" r:id="rId7"/>
    <p:sldId id="2147481442" r:id="rId8"/>
    <p:sldId id="2147481443" r:id="rId9"/>
    <p:sldId id="2147481444" r:id="rId10"/>
    <p:sldId id="2147481447" r:id="rId11"/>
    <p:sldId id="2147481450" r:id="rId12"/>
    <p:sldId id="2147481448" r:id="rId13"/>
    <p:sldId id="2147481445" r:id="rId14"/>
    <p:sldId id="2147481428" r:id="rId15"/>
    <p:sldId id="2147481429" r:id="rId16"/>
    <p:sldId id="2147481423" r:id="rId17"/>
    <p:sldId id="2147481422" r:id="rId18"/>
    <p:sldId id="2147481424" r:id="rId19"/>
    <p:sldId id="214748142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9350"/>
    <a:srgbClr val="07AE53"/>
    <a:srgbClr val="515349"/>
    <a:srgbClr val="7A41A6"/>
    <a:srgbClr val="E8E85C"/>
    <a:srgbClr val="868C87"/>
    <a:srgbClr val="A0AAA6"/>
    <a:srgbClr val="862633"/>
    <a:srgbClr val="EAC6CC"/>
    <a:srgbClr val="9E9B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8E2810-4C98-4F6A-984A-DAF613E49FF2}" v="1" dt="2025-06-05T19:36:56.1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1" autoAdjust="0"/>
    <p:restoredTop sz="85077" autoAdjust="0"/>
  </p:normalViewPr>
  <p:slideViewPr>
    <p:cSldViewPr snapToGrid="0">
      <p:cViewPr varScale="1">
        <p:scale>
          <a:sx n="127" d="100"/>
          <a:sy n="127" d="100"/>
        </p:scale>
        <p:origin x="318" y="33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50" baseline="0">
                <a:solidFill>
                  <a:schemeClr val="tx1">
                    <a:lumMod val="65000"/>
                    <a:lumOff val="35000"/>
                  </a:schemeClr>
                </a:solidFill>
                <a:latin typeface="+mn-lt"/>
                <a:ea typeface="+mn-ea"/>
                <a:cs typeface="+mn-cs"/>
              </a:defRPr>
            </a:pPr>
            <a:r>
              <a:rPr lang="en-CA" dirty="0"/>
              <a:t>Apps &amp; Flows</a:t>
            </a:r>
            <a:br>
              <a:rPr lang="en-CA" baseline="0" dirty="0"/>
            </a:br>
            <a:r>
              <a:rPr lang="en-CA" dirty="0"/>
              <a:t>Created Annually</a:t>
            </a:r>
          </a:p>
        </c:rich>
      </c:tx>
      <c:overlay val="0"/>
      <c:spPr>
        <a:noFill/>
        <a:ln>
          <a:noFill/>
        </a:ln>
        <a:effectLst/>
      </c:spPr>
      <c:txPr>
        <a:bodyPr rot="0" spcFirstLastPara="1" vertOverflow="ellipsis" vert="horz" wrap="square" anchor="ctr" anchorCtr="1"/>
        <a:lstStyle/>
        <a:p>
          <a:pPr>
            <a:defRPr sz="2200"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8854395249774102E-2"/>
          <c:y val="0.22161104010211394"/>
          <c:w val="0.71991111254535811"/>
          <c:h val="0.61731275200505609"/>
        </c:manualLayout>
      </c:layout>
      <c:barChart>
        <c:barDir val="bar"/>
        <c:grouping val="stacked"/>
        <c:varyColors val="0"/>
        <c:ser>
          <c:idx val="0"/>
          <c:order val="0"/>
          <c:tx>
            <c:strRef>
              <c:f>Sheet1!$B$1</c:f>
              <c:strCache>
                <c:ptCount val="1"/>
                <c:pt idx="0">
                  <c:v>Apps</c:v>
                </c:pt>
              </c:strCache>
            </c:strRef>
          </c:tx>
          <c:spPr>
            <a:gradFill flip="none" rotWithShape="1">
              <a:gsLst>
                <a:gs pos="0">
                  <a:schemeClr val="accent6"/>
                </a:gs>
                <a:gs pos="75000">
                  <a:schemeClr val="accent6">
                    <a:lumMod val="60000"/>
                    <a:lumOff val="40000"/>
                  </a:schemeClr>
                </a:gs>
                <a:gs pos="51000">
                  <a:schemeClr val="accent6">
                    <a:alpha val="75000"/>
                  </a:schemeClr>
                </a:gs>
                <a:gs pos="100000">
                  <a:schemeClr val="accent6">
                    <a:lumMod val="20000"/>
                    <a:lumOff val="80000"/>
                    <a:alpha val="15000"/>
                  </a:schemeClr>
                </a:gs>
              </a:gsLst>
              <a:lin ang="10800000" scaled="1"/>
              <a:tileRect/>
            </a:gradFill>
            <a:ln>
              <a:noFill/>
            </a:ln>
            <a:effectLst/>
          </c:spPr>
          <c:invertIfNegative val="0"/>
          <c:cat>
            <c:numRef>
              <c:f>Sheet1!$A$2:$A$10</c:f>
              <c:numCache>
                <c:formatCode>General</c:formatCode>
                <c:ptCount val="9"/>
                <c:pt idx="0">
                  <c:v>2018</c:v>
                </c:pt>
                <c:pt idx="1">
                  <c:v>2019</c:v>
                </c:pt>
                <c:pt idx="2">
                  <c:v>2020</c:v>
                </c:pt>
                <c:pt idx="3">
                  <c:v>2021</c:v>
                </c:pt>
                <c:pt idx="4">
                  <c:v>2022</c:v>
                </c:pt>
                <c:pt idx="5">
                  <c:v>2023</c:v>
                </c:pt>
                <c:pt idx="6">
                  <c:v>2024</c:v>
                </c:pt>
                <c:pt idx="7">
                  <c:v>2025</c:v>
                </c:pt>
              </c:numCache>
            </c:numRef>
          </c:cat>
          <c:val>
            <c:numRef>
              <c:f>Sheet1!$B$2:$B$10</c:f>
              <c:numCache>
                <c:formatCode>General</c:formatCode>
                <c:ptCount val="9"/>
                <c:pt idx="0">
                  <c:v>76</c:v>
                </c:pt>
                <c:pt idx="1">
                  <c:v>319</c:v>
                </c:pt>
                <c:pt idx="2">
                  <c:v>289</c:v>
                </c:pt>
                <c:pt idx="3">
                  <c:v>282</c:v>
                </c:pt>
                <c:pt idx="4">
                  <c:v>227</c:v>
                </c:pt>
                <c:pt idx="5">
                  <c:v>686</c:v>
                </c:pt>
                <c:pt idx="6">
                  <c:v>1004</c:v>
                </c:pt>
                <c:pt idx="7">
                  <c:v>1020</c:v>
                </c:pt>
              </c:numCache>
            </c:numRef>
          </c:val>
          <c:extLst>
            <c:ext xmlns:c16="http://schemas.microsoft.com/office/drawing/2014/chart" uri="{C3380CC4-5D6E-409C-BE32-E72D297353CC}">
              <c16:uniqueId val="{00000000-B6C3-4168-95BF-F069725162B2}"/>
            </c:ext>
          </c:extLst>
        </c:ser>
        <c:ser>
          <c:idx val="1"/>
          <c:order val="1"/>
          <c:tx>
            <c:strRef>
              <c:f>Sheet1!$C$1</c:f>
              <c:strCache>
                <c:ptCount val="1"/>
                <c:pt idx="0">
                  <c:v>Flows</c:v>
                </c:pt>
              </c:strCache>
            </c:strRef>
          </c:tx>
          <c:spPr>
            <a:gradFill flip="none" rotWithShape="1">
              <a:gsLst>
                <a:gs pos="0">
                  <a:schemeClr val="accent5"/>
                </a:gs>
                <a:gs pos="75000">
                  <a:schemeClr val="accent5">
                    <a:lumMod val="60000"/>
                    <a:lumOff val="40000"/>
                  </a:schemeClr>
                </a:gs>
                <a:gs pos="51000">
                  <a:schemeClr val="accent5">
                    <a:alpha val="75000"/>
                  </a:schemeClr>
                </a:gs>
                <a:gs pos="100000">
                  <a:schemeClr val="accent5">
                    <a:lumMod val="20000"/>
                    <a:lumOff val="80000"/>
                    <a:alpha val="15000"/>
                  </a:schemeClr>
                </a:gs>
              </a:gsLst>
              <a:lin ang="10800000" scaled="1"/>
              <a:tileRect/>
            </a:gradFill>
            <a:ln>
              <a:noFill/>
            </a:ln>
            <a:effectLst/>
          </c:spPr>
          <c:invertIfNegative val="0"/>
          <c:cat>
            <c:numRef>
              <c:f>Sheet1!$A$2:$A$10</c:f>
              <c:numCache>
                <c:formatCode>General</c:formatCode>
                <c:ptCount val="9"/>
                <c:pt idx="0">
                  <c:v>2018</c:v>
                </c:pt>
                <c:pt idx="1">
                  <c:v>2019</c:v>
                </c:pt>
                <c:pt idx="2">
                  <c:v>2020</c:v>
                </c:pt>
                <c:pt idx="3">
                  <c:v>2021</c:v>
                </c:pt>
                <c:pt idx="4">
                  <c:v>2022</c:v>
                </c:pt>
                <c:pt idx="5">
                  <c:v>2023</c:v>
                </c:pt>
                <c:pt idx="6">
                  <c:v>2024</c:v>
                </c:pt>
                <c:pt idx="7">
                  <c:v>2025</c:v>
                </c:pt>
              </c:numCache>
            </c:numRef>
          </c:cat>
          <c:val>
            <c:numRef>
              <c:f>Sheet1!$C$2:$C$10</c:f>
              <c:numCache>
                <c:formatCode>General</c:formatCode>
                <c:ptCount val="9"/>
                <c:pt idx="0">
                  <c:v>196</c:v>
                </c:pt>
                <c:pt idx="1">
                  <c:v>513</c:v>
                </c:pt>
                <c:pt idx="2">
                  <c:v>622</c:v>
                </c:pt>
                <c:pt idx="3">
                  <c:v>823</c:v>
                </c:pt>
                <c:pt idx="4">
                  <c:v>1072</c:v>
                </c:pt>
                <c:pt idx="5">
                  <c:v>2028</c:v>
                </c:pt>
                <c:pt idx="6">
                  <c:v>2139</c:v>
                </c:pt>
                <c:pt idx="7">
                  <c:v>2826</c:v>
                </c:pt>
              </c:numCache>
            </c:numRef>
          </c:val>
          <c:extLst>
            <c:ext xmlns:c16="http://schemas.microsoft.com/office/drawing/2014/chart" uri="{C3380CC4-5D6E-409C-BE32-E72D297353CC}">
              <c16:uniqueId val="{00000002-B6C3-4168-95BF-F069725162B2}"/>
            </c:ext>
          </c:extLst>
        </c:ser>
        <c:dLbls>
          <c:showLegendKey val="0"/>
          <c:showVal val="0"/>
          <c:showCatName val="0"/>
          <c:showSerName val="0"/>
          <c:showPercent val="0"/>
          <c:showBubbleSize val="0"/>
        </c:dLbls>
        <c:gapWidth val="150"/>
        <c:overlap val="100"/>
        <c:axId val="2039670047"/>
        <c:axId val="2039670527"/>
      </c:barChart>
      <c:catAx>
        <c:axId val="2039670047"/>
        <c:scaling>
          <c:orientation val="minMax"/>
        </c:scaling>
        <c:delete val="0"/>
        <c:axPos val="l"/>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39670527"/>
        <c:crosses val="autoZero"/>
        <c:auto val="1"/>
        <c:lblAlgn val="ctr"/>
        <c:lblOffset val="100"/>
        <c:noMultiLvlLbl val="0"/>
      </c:catAx>
      <c:valAx>
        <c:axId val="2039670527"/>
        <c:scaling>
          <c:orientation val="minMax"/>
          <c:max val="4000"/>
        </c:scaling>
        <c:delete val="0"/>
        <c:axPos val="b"/>
        <c:majorGridlines>
          <c:spPr>
            <a:ln w="9525" cap="flat" cmpd="sng" algn="ctr">
              <a:gradFill>
                <a:gsLst>
                  <a:gs pos="99000">
                    <a:schemeClr val="tx1">
                      <a:lumMod val="25000"/>
                      <a:lumOff val="75000"/>
                    </a:schemeClr>
                  </a:gs>
                  <a:gs pos="0">
                    <a:schemeClr val="tx1">
                      <a:lumMod val="15000"/>
                      <a:lumOff val="85000"/>
                    </a:schemeClr>
                  </a:gs>
                </a:gsLst>
                <a:lin ang="5400000" scaled="0"/>
              </a:gra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39670047"/>
        <c:crosses val="autoZero"/>
        <c:crossBetween val="between"/>
        <c:majorUnit val="10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2200" b="1" i="0" u="none" strike="noStrike" kern="1200" cap="all" spc="50" baseline="0">
                <a:solidFill>
                  <a:schemeClr val="tx1">
                    <a:lumMod val="65000"/>
                    <a:lumOff val="35000"/>
                  </a:schemeClr>
                </a:solidFill>
                <a:latin typeface="+mn-lt"/>
                <a:ea typeface="+mn-ea"/>
                <a:cs typeface="+mn-cs"/>
              </a:defRPr>
            </a:pPr>
            <a:r>
              <a:rPr lang="en-CA" dirty="0"/>
              <a:t>Employees Using</a:t>
            </a:r>
            <a:br>
              <a:rPr lang="en-CA" dirty="0"/>
            </a:br>
            <a:r>
              <a:rPr lang="en-CA" dirty="0"/>
              <a:t>Power Apps</a:t>
            </a:r>
          </a:p>
        </c:rich>
      </c:tx>
      <c:overlay val="0"/>
      <c:spPr>
        <a:noFill/>
        <a:ln>
          <a:noFill/>
        </a:ln>
        <a:effectLst/>
      </c:spPr>
      <c:txPr>
        <a:bodyPr rot="0" spcFirstLastPara="1" vertOverflow="ellipsis" vert="horz" wrap="square" anchor="ctr" anchorCtr="1"/>
        <a:lstStyle/>
        <a:p>
          <a:pPr>
            <a:defRPr sz="2200"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 of employees</c:v>
                </c:pt>
              </c:strCache>
            </c:strRef>
          </c:tx>
          <c:spPr>
            <a:gradFill flip="none" rotWithShape="1">
              <a:gsLst>
                <a:gs pos="0">
                  <a:schemeClr val="accent3"/>
                </a:gs>
                <a:gs pos="75000">
                  <a:schemeClr val="accent3">
                    <a:lumMod val="60000"/>
                    <a:lumOff val="40000"/>
                  </a:schemeClr>
                </a:gs>
                <a:gs pos="51000">
                  <a:schemeClr val="accent3">
                    <a:alpha val="75000"/>
                  </a:schemeClr>
                </a:gs>
                <a:gs pos="100000">
                  <a:schemeClr val="accent3">
                    <a:lumMod val="20000"/>
                    <a:lumOff val="80000"/>
                    <a:alpha val="15000"/>
                  </a:schemeClr>
                </a:gs>
              </a:gsLst>
              <a:lin ang="10800000" scaled="1"/>
              <a:tileRect/>
            </a:gradFill>
            <a:ln>
              <a:noFill/>
            </a:ln>
            <a:effectLst/>
          </c:spPr>
          <c:invertIfNegative val="0"/>
          <c:dLbls>
            <c:delete val="1"/>
          </c:dLbls>
          <c:cat>
            <c:numRef>
              <c:f>Sheet1!$A$2:$A$4</c:f>
              <c:numCache>
                <c:formatCode>General</c:formatCode>
                <c:ptCount val="3"/>
                <c:pt idx="0">
                  <c:v>2022</c:v>
                </c:pt>
                <c:pt idx="1">
                  <c:v>2023</c:v>
                </c:pt>
                <c:pt idx="2">
                  <c:v>2024</c:v>
                </c:pt>
              </c:numCache>
            </c:numRef>
          </c:cat>
          <c:val>
            <c:numRef>
              <c:f>Sheet1!$B$2:$B$4</c:f>
              <c:numCache>
                <c:formatCode>General</c:formatCode>
                <c:ptCount val="3"/>
                <c:pt idx="0">
                  <c:v>3900</c:v>
                </c:pt>
                <c:pt idx="1">
                  <c:v>4400</c:v>
                </c:pt>
                <c:pt idx="2">
                  <c:v>7700</c:v>
                </c:pt>
              </c:numCache>
            </c:numRef>
          </c:val>
          <c:extLst>
            <c:ext xmlns:c16="http://schemas.microsoft.com/office/drawing/2014/chart" uri="{C3380CC4-5D6E-409C-BE32-E72D297353CC}">
              <c16:uniqueId val="{00000000-C50F-4C9F-8503-8209D42A5ACD}"/>
            </c:ext>
          </c:extLst>
        </c:ser>
        <c:dLbls>
          <c:dLblPos val="outEnd"/>
          <c:showLegendKey val="0"/>
          <c:showVal val="1"/>
          <c:showCatName val="0"/>
          <c:showSerName val="0"/>
          <c:showPercent val="0"/>
          <c:showBubbleSize val="0"/>
        </c:dLbls>
        <c:gapWidth val="326"/>
        <c:overlap val="-58"/>
        <c:axId val="2039670047"/>
        <c:axId val="2039670527"/>
      </c:barChart>
      <c:catAx>
        <c:axId val="2039670047"/>
        <c:scaling>
          <c:orientation val="minMax"/>
        </c:scaling>
        <c:delete val="0"/>
        <c:axPos val="l"/>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39670527"/>
        <c:crosses val="autoZero"/>
        <c:auto val="1"/>
        <c:lblAlgn val="ctr"/>
        <c:lblOffset val="100"/>
        <c:noMultiLvlLbl val="0"/>
      </c:catAx>
      <c:valAx>
        <c:axId val="2039670527"/>
        <c:scaling>
          <c:orientation val="minMax"/>
          <c:max val="8000"/>
          <c:min val="0"/>
        </c:scaling>
        <c:delete val="0"/>
        <c:axPos val="b"/>
        <c:majorGridlines>
          <c:spPr>
            <a:ln w="9525" cap="flat" cmpd="sng" algn="ctr">
              <a:gradFill>
                <a:gsLst>
                  <a:gs pos="99000">
                    <a:schemeClr val="tx1">
                      <a:lumMod val="25000"/>
                      <a:lumOff val="75000"/>
                    </a:schemeClr>
                  </a:gs>
                  <a:gs pos="0">
                    <a:schemeClr val="tx1">
                      <a:lumMod val="15000"/>
                      <a:lumOff val="85000"/>
                    </a:schemeClr>
                  </a:gs>
                </a:gsLst>
                <a:lin ang="5400000" scaled="0"/>
              </a:gra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39670047"/>
        <c:crosses val="autoZero"/>
        <c:crossBetween val="between"/>
        <c:majorUnit val="25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A34B0B-E78E-4A8D-80A3-9B3947C901C3}"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CA"/>
        </a:p>
      </dgm:t>
    </dgm:pt>
    <dgm:pt modelId="{837E3896-1B4F-4A77-BED7-036647BC0860}">
      <dgm:prSet phldrT="[Text]" custT="1"/>
      <dgm:spPr/>
      <dgm:t>
        <a:bodyPr anchor="b"/>
        <a:lstStyle/>
        <a:p>
          <a:r>
            <a:rPr lang="en-CA" sz="2400" b="1" dirty="0"/>
            <a:t>2018</a:t>
          </a:r>
        </a:p>
      </dgm:t>
    </dgm:pt>
    <dgm:pt modelId="{EDCFB6C6-8A20-4EB2-A649-2D47F05F0339}" type="parTrans" cxnId="{54313CB5-1FBB-4155-8CCE-E67D23E9D8B6}">
      <dgm:prSet/>
      <dgm:spPr/>
      <dgm:t>
        <a:bodyPr/>
        <a:lstStyle/>
        <a:p>
          <a:endParaRPr lang="en-CA"/>
        </a:p>
      </dgm:t>
    </dgm:pt>
    <dgm:pt modelId="{6E9381F8-B0FB-44FE-BB28-04C3BD0F1426}" type="sibTrans" cxnId="{54313CB5-1FBB-4155-8CCE-E67D23E9D8B6}">
      <dgm:prSet/>
      <dgm:spPr/>
      <dgm:t>
        <a:bodyPr/>
        <a:lstStyle/>
        <a:p>
          <a:endParaRPr lang="en-CA"/>
        </a:p>
      </dgm:t>
    </dgm:pt>
    <dgm:pt modelId="{8815D93F-E777-4F37-8440-3F54E66D2416}">
      <dgm:prSet phldrT="[Text]"/>
      <dgm:spPr/>
      <dgm:t>
        <a:bodyPr anchor="b"/>
        <a:lstStyle/>
        <a:p>
          <a:r>
            <a:rPr lang="en-CA" sz="1600" dirty="0"/>
            <a:t>Power Apps &amp; Power Automate services enabled</a:t>
          </a:r>
        </a:p>
      </dgm:t>
    </dgm:pt>
    <dgm:pt modelId="{FF492619-9488-4387-B474-39AE17714418}" type="parTrans" cxnId="{486B548B-9C14-4DF7-B066-4D214ABB1AD2}">
      <dgm:prSet/>
      <dgm:spPr/>
      <dgm:t>
        <a:bodyPr/>
        <a:lstStyle/>
        <a:p>
          <a:endParaRPr lang="en-CA"/>
        </a:p>
      </dgm:t>
    </dgm:pt>
    <dgm:pt modelId="{B4987F73-AA9B-40D9-99B9-877E94B58D1C}" type="sibTrans" cxnId="{486B548B-9C14-4DF7-B066-4D214ABB1AD2}">
      <dgm:prSet/>
      <dgm:spPr/>
      <dgm:t>
        <a:bodyPr/>
        <a:lstStyle/>
        <a:p>
          <a:endParaRPr lang="en-CA"/>
        </a:p>
      </dgm:t>
    </dgm:pt>
    <dgm:pt modelId="{D82E3078-DDA0-4E76-B0E7-066E2B88BBC3}">
      <dgm:prSet phldrT="[Text]" custT="1"/>
      <dgm:spPr/>
      <dgm:t>
        <a:bodyPr/>
        <a:lstStyle/>
        <a:p>
          <a:r>
            <a:rPr lang="en-CA" sz="2400" b="1" dirty="0"/>
            <a:t>Today</a:t>
          </a:r>
        </a:p>
      </dgm:t>
    </dgm:pt>
    <dgm:pt modelId="{E2E8B43E-4E31-42D6-9116-4FFFE4CF5D24}" type="parTrans" cxnId="{4F5BAEC0-3F19-4C46-A9FB-43FF5EF70D98}">
      <dgm:prSet/>
      <dgm:spPr/>
      <dgm:t>
        <a:bodyPr/>
        <a:lstStyle/>
        <a:p>
          <a:endParaRPr lang="en-CA"/>
        </a:p>
      </dgm:t>
    </dgm:pt>
    <dgm:pt modelId="{E7018416-3F5C-418A-BDED-44F406FA8A87}" type="sibTrans" cxnId="{4F5BAEC0-3F19-4C46-A9FB-43FF5EF70D98}">
      <dgm:prSet/>
      <dgm:spPr/>
      <dgm:t>
        <a:bodyPr/>
        <a:lstStyle/>
        <a:p>
          <a:endParaRPr lang="en-CA"/>
        </a:p>
      </dgm:t>
    </dgm:pt>
    <dgm:pt modelId="{9CA9E7D0-9162-4D9E-B4F3-8D56C69EC235}">
      <dgm:prSet phldrT="[Text]" custT="1"/>
      <dgm:spPr/>
      <dgm:t>
        <a:bodyPr/>
        <a:lstStyle/>
        <a:p>
          <a:r>
            <a:rPr lang="en-CA" sz="1600" dirty="0"/>
            <a:t>3,247 apps</a:t>
          </a:r>
          <a:br>
            <a:rPr lang="en-CA" sz="1600" dirty="0"/>
          </a:br>
          <a:r>
            <a:rPr lang="en-CA" sz="1600" dirty="0"/>
            <a:t>8,523 flows</a:t>
          </a:r>
          <a:br>
            <a:rPr lang="en-CA" sz="1600" dirty="0"/>
          </a:br>
          <a:br>
            <a:rPr lang="en-CA" sz="1600" dirty="0"/>
          </a:br>
          <a:br>
            <a:rPr lang="en-CA" sz="1600" dirty="0"/>
          </a:br>
          <a:endParaRPr lang="en-CA" sz="1600" dirty="0"/>
        </a:p>
      </dgm:t>
    </dgm:pt>
    <dgm:pt modelId="{F74E53CF-228D-4664-A370-2E6DB065D77A}" type="parTrans" cxnId="{93EFF41D-B4BB-403A-B2ED-9BE81ECA5368}">
      <dgm:prSet/>
      <dgm:spPr/>
      <dgm:t>
        <a:bodyPr/>
        <a:lstStyle/>
        <a:p>
          <a:endParaRPr lang="en-CA"/>
        </a:p>
      </dgm:t>
    </dgm:pt>
    <dgm:pt modelId="{49BCDFA1-FADB-4262-85AD-F7AB59700E58}" type="sibTrans" cxnId="{93EFF41D-B4BB-403A-B2ED-9BE81ECA5368}">
      <dgm:prSet/>
      <dgm:spPr/>
      <dgm:t>
        <a:bodyPr/>
        <a:lstStyle/>
        <a:p>
          <a:endParaRPr lang="en-CA"/>
        </a:p>
      </dgm:t>
    </dgm:pt>
    <dgm:pt modelId="{128917D7-6806-4DF9-9468-DA5A29F47B82}">
      <dgm:prSet phldrT="[Text]" custT="1"/>
      <dgm:spPr/>
      <dgm:t>
        <a:bodyPr/>
        <a:lstStyle/>
        <a:p>
          <a:r>
            <a:rPr lang="en-CA" sz="2400" b="1" dirty="0"/>
            <a:t>2023</a:t>
          </a:r>
        </a:p>
      </dgm:t>
    </dgm:pt>
    <dgm:pt modelId="{FBCF131D-2703-48DA-8067-A5876FD97CA8}" type="parTrans" cxnId="{39EF7D19-81F4-47FD-90AC-E5D410E947BC}">
      <dgm:prSet/>
      <dgm:spPr/>
      <dgm:t>
        <a:bodyPr/>
        <a:lstStyle/>
        <a:p>
          <a:endParaRPr lang="en-CA"/>
        </a:p>
      </dgm:t>
    </dgm:pt>
    <dgm:pt modelId="{BB204FD8-88F1-4765-BFBC-5F99ADD54236}" type="sibTrans" cxnId="{39EF7D19-81F4-47FD-90AC-E5D410E947BC}">
      <dgm:prSet/>
      <dgm:spPr/>
      <dgm:t>
        <a:bodyPr/>
        <a:lstStyle/>
        <a:p>
          <a:endParaRPr lang="en-CA"/>
        </a:p>
      </dgm:t>
    </dgm:pt>
    <dgm:pt modelId="{CFB66DB8-DA3D-4B93-BA5E-30311FCD61FD}">
      <dgm:prSet phldrT="[Text]"/>
      <dgm:spPr/>
      <dgm:t>
        <a:bodyPr/>
        <a:lstStyle/>
        <a:p>
          <a:r>
            <a:rPr lang="en-CA" sz="1600" dirty="0"/>
            <a:t>Prod rollout of Canada Ops PSHCP premium solutions</a:t>
          </a:r>
        </a:p>
      </dgm:t>
    </dgm:pt>
    <dgm:pt modelId="{CFFAC5F1-A29A-4327-9A50-081CC663B77D}" type="parTrans" cxnId="{F446E212-E7C9-464C-BD5B-E859030BF302}">
      <dgm:prSet/>
      <dgm:spPr/>
      <dgm:t>
        <a:bodyPr/>
        <a:lstStyle/>
        <a:p>
          <a:endParaRPr lang="en-CA"/>
        </a:p>
      </dgm:t>
    </dgm:pt>
    <dgm:pt modelId="{2B1650FE-F5E3-45F6-83C1-8AD3DAB58E52}" type="sibTrans" cxnId="{F446E212-E7C9-464C-BD5B-E859030BF302}">
      <dgm:prSet/>
      <dgm:spPr/>
      <dgm:t>
        <a:bodyPr/>
        <a:lstStyle/>
        <a:p>
          <a:endParaRPr lang="en-CA"/>
        </a:p>
      </dgm:t>
    </dgm:pt>
    <dgm:pt modelId="{199112F3-8A89-400F-A669-C61A7B80FF19}">
      <dgm:prSet phldrT="[Text]" custT="1"/>
      <dgm:spPr/>
      <dgm:t>
        <a:bodyPr/>
        <a:lstStyle/>
        <a:p>
          <a:r>
            <a:rPr lang="en-CA" sz="2400" b="1" dirty="0"/>
            <a:t>2022</a:t>
          </a:r>
        </a:p>
      </dgm:t>
    </dgm:pt>
    <dgm:pt modelId="{34822958-06A7-4D35-9894-370E03ED8BAB}" type="parTrans" cxnId="{9D81EA66-2E80-4BB6-81F4-12C8A9B369FB}">
      <dgm:prSet/>
      <dgm:spPr/>
      <dgm:t>
        <a:bodyPr/>
        <a:lstStyle/>
        <a:p>
          <a:endParaRPr lang="en-CA"/>
        </a:p>
      </dgm:t>
    </dgm:pt>
    <dgm:pt modelId="{F45C9C11-34EE-4B2F-BE7A-6E1E4C3FED8B}" type="sibTrans" cxnId="{9D81EA66-2E80-4BB6-81F4-12C8A9B369FB}">
      <dgm:prSet/>
      <dgm:spPr/>
      <dgm:t>
        <a:bodyPr/>
        <a:lstStyle/>
        <a:p>
          <a:endParaRPr lang="en-CA"/>
        </a:p>
      </dgm:t>
    </dgm:pt>
    <dgm:pt modelId="{7826DFEB-4F2D-40D2-8634-D59D25E9E97D}">
      <dgm:prSet phldrT="[Text]"/>
      <dgm:spPr/>
      <dgm:t>
        <a:bodyPr/>
        <a:lstStyle/>
        <a:p>
          <a:r>
            <a:rPr lang="en-CA" sz="1600" dirty="0"/>
            <a:t>Passed</a:t>
          </a:r>
          <a:br>
            <a:rPr lang="en-CA" sz="1600" dirty="0"/>
          </a:br>
          <a:r>
            <a:rPr lang="en-CA" sz="1600" dirty="0"/>
            <a:t>1,000 apps &amp;</a:t>
          </a:r>
          <a:br>
            <a:rPr lang="en-CA" sz="1600" dirty="0"/>
          </a:br>
          <a:r>
            <a:rPr lang="en-CA" sz="1600" dirty="0"/>
            <a:t>3,000 flows</a:t>
          </a:r>
        </a:p>
      </dgm:t>
    </dgm:pt>
    <dgm:pt modelId="{21F7B32C-E7AD-4393-9744-1424369A11EF}" type="parTrans" cxnId="{E6214CC9-B8A5-4EB8-97C9-8C4731D029A6}">
      <dgm:prSet/>
      <dgm:spPr/>
      <dgm:t>
        <a:bodyPr/>
        <a:lstStyle/>
        <a:p>
          <a:endParaRPr lang="en-CA"/>
        </a:p>
      </dgm:t>
    </dgm:pt>
    <dgm:pt modelId="{F9E4E0E6-4100-422A-AAC3-213C1B9F17B3}" type="sibTrans" cxnId="{E6214CC9-B8A5-4EB8-97C9-8C4731D029A6}">
      <dgm:prSet/>
      <dgm:spPr/>
      <dgm:t>
        <a:bodyPr/>
        <a:lstStyle/>
        <a:p>
          <a:endParaRPr lang="en-CA"/>
        </a:p>
      </dgm:t>
    </dgm:pt>
    <dgm:pt modelId="{96834EC7-CB94-4718-81F0-0A879962F292}">
      <dgm:prSet phldrT="[Text]"/>
      <dgm:spPr/>
      <dgm:t>
        <a:bodyPr anchor="b"/>
        <a:lstStyle/>
        <a:p>
          <a:r>
            <a:rPr lang="en-CA" sz="1600" dirty="0"/>
            <a:t>1</a:t>
          </a:r>
          <a:r>
            <a:rPr lang="en-CA" sz="1600" baseline="30000" dirty="0"/>
            <a:t>st</a:t>
          </a:r>
          <a:r>
            <a:rPr lang="en-CA" sz="1600" dirty="0"/>
            <a:t> apps &amp; flows created</a:t>
          </a:r>
        </a:p>
      </dgm:t>
    </dgm:pt>
    <dgm:pt modelId="{FEB8B2E5-D6B7-4746-84F9-113113F00B36}" type="parTrans" cxnId="{AA2D63F1-FB1F-4A21-BC86-BE63456C47BD}">
      <dgm:prSet/>
      <dgm:spPr/>
      <dgm:t>
        <a:bodyPr/>
        <a:lstStyle/>
        <a:p>
          <a:endParaRPr lang="en-CA"/>
        </a:p>
      </dgm:t>
    </dgm:pt>
    <dgm:pt modelId="{7AA3E653-5781-4BB8-A26A-0B4B6886E4A0}" type="sibTrans" cxnId="{AA2D63F1-FB1F-4A21-BC86-BE63456C47BD}">
      <dgm:prSet/>
      <dgm:spPr/>
      <dgm:t>
        <a:bodyPr/>
        <a:lstStyle/>
        <a:p>
          <a:endParaRPr lang="en-CA"/>
        </a:p>
      </dgm:t>
    </dgm:pt>
    <dgm:pt modelId="{865FE8B2-D4E8-4E73-953E-B4C94B38BC38}">
      <dgm:prSet phldrT="[Text]" custT="1"/>
      <dgm:spPr/>
      <dgm:t>
        <a:bodyPr/>
        <a:lstStyle/>
        <a:p>
          <a:r>
            <a:rPr lang="en-CA" sz="2400" b="1" dirty="0"/>
            <a:t>2024-2025</a:t>
          </a:r>
        </a:p>
      </dgm:t>
    </dgm:pt>
    <dgm:pt modelId="{BBC90437-A0CD-42DD-B386-F2822782FC5A}" type="parTrans" cxnId="{8D69B0EC-350D-4419-A3E7-6365E63BD85D}">
      <dgm:prSet/>
      <dgm:spPr/>
      <dgm:t>
        <a:bodyPr/>
        <a:lstStyle/>
        <a:p>
          <a:endParaRPr lang="en-CA"/>
        </a:p>
      </dgm:t>
    </dgm:pt>
    <dgm:pt modelId="{DBB9A95D-4851-4DBD-8EA1-CFC923BE2946}" type="sibTrans" cxnId="{8D69B0EC-350D-4419-A3E7-6365E63BD85D}">
      <dgm:prSet/>
      <dgm:spPr/>
      <dgm:t>
        <a:bodyPr/>
        <a:lstStyle/>
        <a:p>
          <a:endParaRPr lang="en-CA"/>
        </a:p>
      </dgm:t>
    </dgm:pt>
    <dgm:pt modelId="{0EC75F83-2E10-46E6-BAC2-C6CC3F7C5C9E}">
      <dgm:prSet phldrT="[Text]" custT="1"/>
      <dgm:spPr/>
      <dgm:t>
        <a:bodyPr/>
        <a:lstStyle/>
        <a:p>
          <a:r>
            <a:rPr lang="en-CA" sz="1600" b="0" dirty="0"/>
            <a:t>Engaged w/ </a:t>
          </a:r>
          <a:r>
            <a:rPr lang="en-CA" sz="1600" b="0" dirty="0" err="1"/>
            <a:t>OnX</a:t>
          </a:r>
          <a:r>
            <a:rPr lang="en-CA" sz="1600" b="0" dirty="0"/>
            <a:t> &amp; Microsoft for a Power Platform Assessment</a:t>
          </a:r>
        </a:p>
      </dgm:t>
    </dgm:pt>
    <dgm:pt modelId="{78769E77-A4E4-45C6-894C-E4C06353159B}" type="parTrans" cxnId="{36CE0637-1C62-48B7-9467-91F580353987}">
      <dgm:prSet/>
      <dgm:spPr/>
      <dgm:t>
        <a:bodyPr/>
        <a:lstStyle/>
        <a:p>
          <a:endParaRPr lang="en-CA"/>
        </a:p>
      </dgm:t>
    </dgm:pt>
    <dgm:pt modelId="{0394559C-C029-4BF2-85D1-00F79114BC04}" type="sibTrans" cxnId="{36CE0637-1C62-48B7-9467-91F580353987}">
      <dgm:prSet/>
      <dgm:spPr/>
      <dgm:t>
        <a:bodyPr/>
        <a:lstStyle/>
        <a:p>
          <a:endParaRPr lang="en-CA"/>
        </a:p>
      </dgm:t>
    </dgm:pt>
    <dgm:pt modelId="{5B44273C-D715-463E-B1F9-0394A07A5DAB}">
      <dgm:prSet phldrT="[Text]"/>
      <dgm:spPr/>
      <dgm:t>
        <a:bodyPr/>
        <a:lstStyle/>
        <a:p>
          <a:r>
            <a:rPr lang="en-CA" sz="1600" dirty="0"/>
            <a:t>Estimated cost savings of ~$20M/year</a:t>
          </a:r>
        </a:p>
      </dgm:t>
    </dgm:pt>
    <dgm:pt modelId="{041300F0-7BD1-4700-B583-A7693E0498EF}" type="parTrans" cxnId="{E22903B0-D2D7-47D8-B0FD-D04DDDC41763}">
      <dgm:prSet/>
      <dgm:spPr/>
      <dgm:t>
        <a:bodyPr/>
        <a:lstStyle/>
        <a:p>
          <a:endParaRPr lang="en-CA"/>
        </a:p>
      </dgm:t>
    </dgm:pt>
    <dgm:pt modelId="{BB94E1E2-30D6-49EA-9DCD-9B620064E3B8}" type="sibTrans" cxnId="{E22903B0-D2D7-47D8-B0FD-D04DDDC41763}">
      <dgm:prSet/>
      <dgm:spPr/>
      <dgm:t>
        <a:bodyPr/>
        <a:lstStyle/>
        <a:p>
          <a:endParaRPr lang="en-CA"/>
        </a:p>
      </dgm:t>
    </dgm:pt>
    <dgm:pt modelId="{C84D0764-972B-4FD2-B279-24E6EA84FEBD}" type="pres">
      <dgm:prSet presAssocID="{D2A34B0B-E78E-4A8D-80A3-9B3947C901C3}" presName="Name0" presStyleCnt="0">
        <dgm:presLayoutVars>
          <dgm:dir/>
          <dgm:resizeHandles val="exact"/>
        </dgm:presLayoutVars>
      </dgm:prSet>
      <dgm:spPr/>
    </dgm:pt>
    <dgm:pt modelId="{F90325E6-A7A4-4007-BCAD-DF780CFC167F}" type="pres">
      <dgm:prSet presAssocID="{D2A34B0B-E78E-4A8D-80A3-9B3947C901C3}" presName="arrow" presStyleLbl="bgShp" presStyleIdx="0" presStyleCnt="1"/>
      <dgm:spPr/>
    </dgm:pt>
    <dgm:pt modelId="{B103A2C1-15CC-43A1-816D-6EA12931C357}" type="pres">
      <dgm:prSet presAssocID="{D2A34B0B-E78E-4A8D-80A3-9B3947C901C3}" presName="points" presStyleCnt="0"/>
      <dgm:spPr/>
    </dgm:pt>
    <dgm:pt modelId="{2BF2386F-67F3-4341-9CF8-E1821DEF13E6}" type="pres">
      <dgm:prSet presAssocID="{837E3896-1B4F-4A77-BED7-036647BC0860}" presName="compositeA" presStyleCnt="0"/>
      <dgm:spPr/>
    </dgm:pt>
    <dgm:pt modelId="{C37475B8-7D4A-49E5-805F-DDE6EFBFEDA6}" type="pres">
      <dgm:prSet presAssocID="{837E3896-1B4F-4A77-BED7-036647BC0860}" presName="textA" presStyleLbl="revTx" presStyleIdx="0" presStyleCnt="5" custScaleX="124973">
        <dgm:presLayoutVars>
          <dgm:bulletEnabled val="1"/>
        </dgm:presLayoutVars>
      </dgm:prSet>
      <dgm:spPr/>
    </dgm:pt>
    <dgm:pt modelId="{A8F3288D-641B-411E-B74D-91AE14F8FB75}" type="pres">
      <dgm:prSet presAssocID="{837E3896-1B4F-4A77-BED7-036647BC0860}" presName="circleA" presStyleLbl="node1" presStyleIdx="0" presStyleCnt="5"/>
      <dgm:spPr/>
    </dgm:pt>
    <dgm:pt modelId="{520F3DF0-6593-444C-8BE5-3D96D4ECFCB5}" type="pres">
      <dgm:prSet presAssocID="{837E3896-1B4F-4A77-BED7-036647BC0860}" presName="spaceA" presStyleCnt="0"/>
      <dgm:spPr/>
    </dgm:pt>
    <dgm:pt modelId="{BD0ACC3E-0D6E-45F7-80E8-73F3C70FA63B}" type="pres">
      <dgm:prSet presAssocID="{6E9381F8-B0FB-44FE-BB28-04C3BD0F1426}" presName="space" presStyleCnt="0"/>
      <dgm:spPr/>
    </dgm:pt>
    <dgm:pt modelId="{F7B35C17-F58D-4579-97D4-8869AD613E82}" type="pres">
      <dgm:prSet presAssocID="{199112F3-8A89-400F-A669-C61A7B80FF19}" presName="compositeB" presStyleCnt="0"/>
      <dgm:spPr/>
    </dgm:pt>
    <dgm:pt modelId="{E60C16A8-34C6-436D-B38E-B6554F9B6A25}" type="pres">
      <dgm:prSet presAssocID="{199112F3-8A89-400F-A669-C61A7B80FF19}" presName="textB" presStyleLbl="revTx" presStyleIdx="1" presStyleCnt="5" custScaleX="105028">
        <dgm:presLayoutVars>
          <dgm:bulletEnabled val="1"/>
        </dgm:presLayoutVars>
      </dgm:prSet>
      <dgm:spPr/>
    </dgm:pt>
    <dgm:pt modelId="{0BF1B2A6-756B-4C62-96A3-DFE4A85F79B8}" type="pres">
      <dgm:prSet presAssocID="{199112F3-8A89-400F-A669-C61A7B80FF19}" presName="circleB" presStyleLbl="node1" presStyleIdx="1" presStyleCnt="5"/>
      <dgm:spPr/>
    </dgm:pt>
    <dgm:pt modelId="{333942EC-9209-4A5B-B05E-D6E73BD59C1B}" type="pres">
      <dgm:prSet presAssocID="{199112F3-8A89-400F-A669-C61A7B80FF19}" presName="spaceB" presStyleCnt="0"/>
      <dgm:spPr/>
    </dgm:pt>
    <dgm:pt modelId="{B450CFE2-33C8-46CB-BBCB-171914ECEEC3}" type="pres">
      <dgm:prSet presAssocID="{F45C9C11-34EE-4B2F-BE7A-6E1E4C3FED8B}" presName="space" presStyleCnt="0"/>
      <dgm:spPr/>
    </dgm:pt>
    <dgm:pt modelId="{69155981-F7E5-4493-94B6-EB9EEE40A602}" type="pres">
      <dgm:prSet presAssocID="{128917D7-6806-4DF9-9468-DA5A29F47B82}" presName="compositeA" presStyleCnt="0"/>
      <dgm:spPr/>
    </dgm:pt>
    <dgm:pt modelId="{55137BF7-8325-408A-A3BB-58FFB6E93B22}" type="pres">
      <dgm:prSet presAssocID="{128917D7-6806-4DF9-9468-DA5A29F47B82}" presName="textA" presStyleLbl="revTx" presStyleIdx="2" presStyleCnt="5" custScaleX="153416">
        <dgm:presLayoutVars>
          <dgm:bulletEnabled val="1"/>
        </dgm:presLayoutVars>
      </dgm:prSet>
      <dgm:spPr/>
    </dgm:pt>
    <dgm:pt modelId="{AFF6BCE5-A231-48FE-9841-E4E8F6BB2D68}" type="pres">
      <dgm:prSet presAssocID="{128917D7-6806-4DF9-9468-DA5A29F47B82}" presName="circleA" presStyleLbl="node1" presStyleIdx="2" presStyleCnt="5"/>
      <dgm:spPr/>
    </dgm:pt>
    <dgm:pt modelId="{4193D2E3-041F-4B3A-ACFC-36A6E4A0BD1B}" type="pres">
      <dgm:prSet presAssocID="{128917D7-6806-4DF9-9468-DA5A29F47B82}" presName="spaceA" presStyleCnt="0"/>
      <dgm:spPr/>
    </dgm:pt>
    <dgm:pt modelId="{FB022F40-B3C2-4D70-9C34-72EA59A567FD}" type="pres">
      <dgm:prSet presAssocID="{BB204FD8-88F1-4765-BFBC-5F99ADD54236}" presName="space" presStyleCnt="0"/>
      <dgm:spPr/>
    </dgm:pt>
    <dgm:pt modelId="{9D29829F-F4E0-4315-9C76-354F9533F6B3}" type="pres">
      <dgm:prSet presAssocID="{865FE8B2-D4E8-4E73-953E-B4C94B38BC38}" presName="compositeB" presStyleCnt="0"/>
      <dgm:spPr/>
    </dgm:pt>
    <dgm:pt modelId="{10237138-A77D-4482-B5FA-732CC6A37C02}" type="pres">
      <dgm:prSet presAssocID="{865FE8B2-D4E8-4E73-953E-B4C94B38BC38}" presName="textB" presStyleLbl="revTx" presStyleIdx="3" presStyleCnt="5" custScaleX="132962">
        <dgm:presLayoutVars>
          <dgm:bulletEnabled val="1"/>
        </dgm:presLayoutVars>
      </dgm:prSet>
      <dgm:spPr/>
    </dgm:pt>
    <dgm:pt modelId="{83E40A33-BE1D-42A1-9960-7C9D7BD7148B}" type="pres">
      <dgm:prSet presAssocID="{865FE8B2-D4E8-4E73-953E-B4C94B38BC38}" presName="circleB" presStyleLbl="node1" presStyleIdx="3" presStyleCnt="5"/>
      <dgm:spPr/>
    </dgm:pt>
    <dgm:pt modelId="{BFE72F46-00D9-41FD-8E72-5DECFE73C5D8}" type="pres">
      <dgm:prSet presAssocID="{865FE8B2-D4E8-4E73-953E-B4C94B38BC38}" presName="spaceB" presStyleCnt="0"/>
      <dgm:spPr/>
    </dgm:pt>
    <dgm:pt modelId="{B02638A2-1879-40C2-ADCD-F928ABAC5EBD}" type="pres">
      <dgm:prSet presAssocID="{DBB9A95D-4851-4DBD-8EA1-CFC923BE2946}" presName="space" presStyleCnt="0"/>
      <dgm:spPr/>
    </dgm:pt>
    <dgm:pt modelId="{2CB909F0-EB25-4792-8CCC-CFC04983EDC6}" type="pres">
      <dgm:prSet presAssocID="{D82E3078-DDA0-4E76-B0E7-066E2B88BBC3}" presName="compositeA" presStyleCnt="0"/>
      <dgm:spPr/>
    </dgm:pt>
    <dgm:pt modelId="{7183A9CC-CBED-4D4E-ACD3-0F68CA14C178}" type="pres">
      <dgm:prSet presAssocID="{D82E3078-DDA0-4E76-B0E7-066E2B88BBC3}" presName="textA" presStyleLbl="revTx" presStyleIdx="4" presStyleCnt="5">
        <dgm:presLayoutVars>
          <dgm:bulletEnabled val="1"/>
        </dgm:presLayoutVars>
      </dgm:prSet>
      <dgm:spPr/>
    </dgm:pt>
    <dgm:pt modelId="{48D721FF-2B7C-4D87-BB46-77668A505C50}" type="pres">
      <dgm:prSet presAssocID="{D82E3078-DDA0-4E76-B0E7-066E2B88BBC3}" presName="circleA" presStyleLbl="node1" presStyleIdx="4" presStyleCnt="5"/>
      <dgm:spPr/>
    </dgm:pt>
    <dgm:pt modelId="{BC426CB8-FB0B-4C27-8955-C8AEB36E2ABD}" type="pres">
      <dgm:prSet presAssocID="{D82E3078-DDA0-4E76-B0E7-066E2B88BBC3}" presName="spaceA" presStyleCnt="0"/>
      <dgm:spPr/>
    </dgm:pt>
  </dgm:ptLst>
  <dgm:cxnLst>
    <dgm:cxn modelId="{78A61E0B-627E-43C4-9756-F8A06E72C644}" type="presOf" srcId="{128917D7-6806-4DF9-9468-DA5A29F47B82}" destId="{55137BF7-8325-408A-A3BB-58FFB6E93B22}" srcOrd="0" destOrd="0" presId="urn:microsoft.com/office/officeart/2005/8/layout/hProcess11"/>
    <dgm:cxn modelId="{F446E212-E7C9-464C-BD5B-E859030BF302}" srcId="{128917D7-6806-4DF9-9468-DA5A29F47B82}" destId="{CFB66DB8-DA3D-4B93-BA5E-30311FCD61FD}" srcOrd="0" destOrd="0" parTransId="{CFFAC5F1-A29A-4327-9A50-081CC663B77D}" sibTransId="{2B1650FE-F5E3-45F6-83C1-8AD3DAB58E52}"/>
    <dgm:cxn modelId="{39EF7D19-81F4-47FD-90AC-E5D410E947BC}" srcId="{D2A34B0B-E78E-4A8D-80A3-9B3947C901C3}" destId="{128917D7-6806-4DF9-9468-DA5A29F47B82}" srcOrd="2" destOrd="0" parTransId="{FBCF131D-2703-48DA-8067-A5876FD97CA8}" sibTransId="{BB204FD8-88F1-4765-BFBC-5F99ADD54236}"/>
    <dgm:cxn modelId="{93EFF41D-B4BB-403A-B2ED-9BE81ECA5368}" srcId="{D82E3078-DDA0-4E76-B0E7-066E2B88BBC3}" destId="{9CA9E7D0-9162-4D9E-B4F3-8D56C69EC235}" srcOrd="0" destOrd="0" parTransId="{F74E53CF-228D-4664-A370-2E6DB065D77A}" sibTransId="{49BCDFA1-FADB-4262-85AD-F7AB59700E58}"/>
    <dgm:cxn modelId="{DB7C4D33-DA31-4F5D-B6A3-F7E35E8196D6}" type="presOf" srcId="{8815D93F-E777-4F37-8440-3F54E66D2416}" destId="{C37475B8-7D4A-49E5-805F-DDE6EFBFEDA6}" srcOrd="0" destOrd="1" presId="urn:microsoft.com/office/officeart/2005/8/layout/hProcess11"/>
    <dgm:cxn modelId="{36CE0637-1C62-48B7-9467-91F580353987}" srcId="{865FE8B2-D4E8-4E73-953E-B4C94B38BC38}" destId="{0EC75F83-2E10-46E6-BAC2-C6CC3F7C5C9E}" srcOrd="0" destOrd="0" parTransId="{78769E77-A4E4-45C6-894C-E4C06353159B}" sibTransId="{0394559C-C029-4BF2-85D1-00F79114BC04}"/>
    <dgm:cxn modelId="{C936E239-DA2E-43EB-8275-DDA1EAB02BF3}" type="presOf" srcId="{CFB66DB8-DA3D-4B93-BA5E-30311FCD61FD}" destId="{55137BF7-8325-408A-A3BB-58FFB6E93B22}" srcOrd="0" destOrd="1" presId="urn:microsoft.com/office/officeart/2005/8/layout/hProcess11"/>
    <dgm:cxn modelId="{2B57983C-F1E5-486D-9C21-EB7A188570E6}" type="presOf" srcId="{9CA9E7D0-9162-4D9E-B4F3-8D56C69EC235}" destId="{7183A9CC-CBED-4D4E-ACD3-0F68CA14C178}" srcOrd="0" destOrd="1" presId="urn:microsoft.com/office/officeart/2005/8/layout/hProcess11"/>
    <dgm:cxn modelId="{55030661-465C-47F9-8CC1-508A5F202A7D}" type="presOf" srcId="{0EC75F83-2E10-46E6-BAC2-C6CC3F7C5C9E}" destId="{10237138-A77D-4482-B5FA-732CC6A37C02}" srcOrd="0" destOrd="1" presId="urn:microsoft.com/office/officeart/2005/8/layout/hProcess11"/>
    <dgm:cxn modelId="{E8399261-FB02-424C-8294-A86BA6676E20}" type="presOf" srcId="{7826DFEB-4F2D-40D2-8634-D59D25E9E97D}" destId="{E60C16A8-34C6-436D-B38E-B6554F9B6A25}" srcOrd="0" destOrd="1" presId="urn:microsoft.com/office/officeart/2005/8/layout/hProcess11"/>
    <dgm:cxn modelId="{6A72D263-EA84-4C83-83F9-DB4DD2840F27}" type="presOf" srcId="{199112F3-8A89-400F-A669-C61A7B80FF19}" destId="{E60C16A8-34C6-436D-B38E-B6554F9B6A25}" srcOrd="0" destOrd="0" presId="urn:microsoft.com/office/officeart/2005/8/layout/hProcess11"/>
    <dgm:cxn modelId="{9D81EA66-2E80-4BB6-81F4-12C8A9B369FB}" srcId="{D2A34B0B-E78E-4A8D-80A3-9B3947C901C3}" destId="{199112F3-8A89-400F-A669-C61A7B80FF19}" srcOrd="1" destOrd="0" parTransId="{34822958-06A7-4D35-9894-370E03ED8BAB}" sibTransId="{F45C9C11-34EE-4B2F-BE7A-6E1E4C3FED8B}"/>
    <dgm:cxn modelId="{BBD83067-C6C7-411F-8293-52CF05B937EE}" type="presOf" srcId="{837E3896-1B4F-4A77-BED7-036647BC0860}" destId="{C37475B8-7D4A-49E5-805F-DDE6EFBFEDA6}" srcOrd="0" destOrd="0" presId="urn:microsoft.com/office/officeart/2005/8/layout/hProcess11"/>
    <dgm:cxn modelId="{8097ED82-68A0-4D2F-99B9-5AA1BC3D6233}" type="presOf" srcId="{5B44273C-D715-463E-B1F9-0394A07A5DAB}" destId="{55137BF7-8325-408A-A3BB-58FFB6E93B22}" srcOrd="0" destOrd="2" presId="urn:microsoft.com/office/officeart/2005/8/layout/hProcess11"/>
    <dgm:cxn modelId="{21876783-5FD6-40A0-905D-D7C8103F2BF7}" type="presOf" srcId="{865FE8B2-D4E8-4E73-953E-B4C94B38BC38}" destId="{10237138-A77D-4482-B5FA-732CC6A37C02}" srcOrd="0" destOrd="0" presId="urn:microsoft.com/office/officeart/2005/8/layout/hProcess11"/>
    <dgm:cxn modelId="{486B548B-9C14-4DF7-B066-4D214ABB1AD2}" srcId="{837E3896-1B4F-4A77-BED7-036647BC0860}" destId="{8815D93F-E777-4F37-8440-3F54E66D2416}" srcOrd="0" destOrd="0" parTransId="{FF492619-9488-4387-B474-39AE17714418}" sibTransId="{B4987F73-AA9B-40D9-99B9-877E94B58D1C}"/>
    <dgm:cxn modelId="{AE9DE094-4120-4F09-B2AD-0BF05775AFDD}" type="presOf" srcId="{D2A34B0B-E78E-4A8D-80A3-9B3947C901C3}" destId="{C84D0764-972B-4FD2-B279-24E6EA84FEBD}" srcOrd="0" destOrd="0" presId="urn:microsoft.com/office/officeart/2005/8/layout/hProcess11"/>
    <dgm:cxn modelId="{E22903B0-D2D7-47D8-B0FD-D04DDDC41763}" srcId="{128917D7-6806-4DF9-9468-DA5A29F47B82}" destId="{5B44273C-D715-463E-B1F9-0394A07A5DAB}" srcOrd="1" destOrd="0" parTransId="{041300F0-7BD1-4700-B583-A7693E0498EF}" sibTransId="{BB94E1E2-30D6-49EA-9DCD-9B620064E3B8}"/>
    <dgm:cxn modelId="{54313CB5-1FBB-4155-8CCE-E67D23E9D8B6}" srcId="{D2A34B0B-E78E-4A8D-80A3-9B3947C901C3}" destId="{837E3896-1B4F-4A77-BED7-036647BC0860}" srcOrd="0" destOrd="0" parTransId="{EDCFB6C6-8A20-4EB2-A649-2D47F05F0339}" sibTransId="{6E9381F8-B0FB-44FE-BB28-04C3BD0F1426}"/>
    <dgm:cxn modelId="{4F5BAEC0-3F19-4C46-A9FB-43FF5EF70D98}" srcId="{D2A34B0B-E78E-4A8D-80A3-9B3947C901C3}" destId="{D82E3078-DDA0-4E76-B0E7-066E2B88BBC3}" srcOrd="4" destOrd="0" parTransId="{E2E8B43E-4E31-42D6-9116-4FFFE4CF5D24}" sibTransId="{E7018416-3F5C-418A-BDED-44F406FA8A87}"/>
    <dgm:cxn modelId="{E6214CC9-B8A5-4EB8-97C9-8C4731D029A6}" srcId="{199112F3-8A89-400F-A669-C61A7B80FF19}" destId="{7826DFEB-4F2D-40D2-8634-D59D25E9E97D}" srcOrd="0" destOrd="0" parTransId="{21F7B32C-E7AD-4393-9744-1424369A11EF}" sibTransId="{F9E4E0E6-4100-422A-AAC3-213C1B9F17B3}"/>
    <dgm:cxn modelId="{F8E79FCB-1721-4AF0-9C60-EAEC1BE093E5}" type="presOf" srcId="{D82E3078-DDA0-4E76-B0E7-066E2B88BBC3}" destId="{7183A9CC-CBED-4D4E-ACD3-0F68CA14C178}" srcOrd="0" destOrd="0" presId="urn:microsoft.com/office/officeart/2005/8/layout/hProcess11"/>
    <dgm:cxn modelId="{8D69B0EC-350D-4419-A3E7-6365E63BD85D}" srcId="{D2A34B0B-E78E-4A8D-80A3-9B3947C901C3}" destId="{865FE8B2-D4E8-4E73-953E-B4C94B38BC38}" srcOrd="3" destOrd="0" parTransId="{BBC90437-A0CD-42DD-B386-F2822782FC5A}" sibTransId="{DBB9A95D-4851-4DBD-8EA1-CFC923BE2946}"/>
    <dgm:cxn modelId="{AA2D63F1-FB1F-4A21-BC86-BE63456C47BD}" srcId="{837E3896-1B4F-4A77-BED7-036647BC0860}" destId="{96834EC7-CB94-4718-81F0-0A879962F292}" srcOrd="1" destOrd="0" parTransId="{FEB8B2E5-D6B7-4746-84F9-113113F00B36}" sibTransId="{7AA3E653-5781-4BB8-A26A-0B4B6886E4A0}"/>
    <dgm:cxn modelId="{EC8870F6-DFF4-431B-B8DF-59E917F61D53}" type="presOf" srcId="{96834EC7-CB94-4718-81F0-0A879962F292}" destId="{C37475B8-7D4A-49E5-805F-DDE6EFBFEDA6}" srcOrd="0" destOrd="2" presId="urn:microsoft.com/office/officeart/2005/8/layout/hProcess11"/>
    <dgm:cxn modelId="{316C1F49-3525-46FC-8B8A-5D28C503F737}" type="presParOf" srcId="{C84D0764-972B-4FD2-B279-24E6EA84FEBD}" destId="{F90325E6-A7A4-4007-BCAD-DF780CFC167F}" srcOrd="0" destOrd="0" presId="urn:microsoft.com/office/officeart/2005/8/layout/hProcess11"/>
    <dgm:cxn modelId="{6D6A188B-7F8D-42AB-8A16-5E39CA14141E}" type="presParOf" srcId="{C84D0764-972B-4FD2-B279-24E6EA84FEBD}" destId="{B103A2C1-15CC-43A1-816D-6EA12931C357}" srcOrd="1" destOrd="0" presId="urn:microsoft.com/office/officeart/2005/8/layout/hProcess11"/>
    <dgm:cxn modelId="{3C939F79-B0BF-4E23-9237-5C84777C23E7}" type="presParOf" srcId="{B103A2C1-15CC-43A1-816D-6EA12931C357}" destId="{2BF2386F-67F3-4341-9CF8-E1821DEF13E6}" srcOrd="0" destOrd="0" presId="urn:microsoft.com/office/officeart/2005/8/layout/hProcess11"/>
    <dgm:cxn modelId="{4FD9B2C9-5734-4408-8EE3-704D65C95CB7}" type="presParOf" srcId="{2BF2386F-67F3-4341-9CF8-E1821DEF13E6}" destId="{C37475B8-7D4A-49E5-805F-DDE6EFBFEDA6}" srcOrd="0" destOrd="0" presId="urn:microsoft.com/office/officeart/2005/8/layout/hProcess11"/>
    <dgm:cxn modelId="{9A481181-F97F-472F-A132-FDEB55F03AA0}" type="presParOf" srcId="{2BF2386F-67F3-4341-9CF8-E1821DEF13E6}" destId="{A8F3288D-641B-411E-B74D-91AE14F8FB75}" srcOrd="1" destOrd="0" presId="urn:microsoft.com/office/officeart/2005/8/layout/hProcess11"/>
    <dgm:cxn modelId="{43E3D5C0-6701-4084-B1FD-98DF9C913BBD}" type="presParOf" srcId="{2BF2386F-67F3-4341-9CF8-E1821DEF13E6}" destId="{520F3DF0-6593-444C-8BE5-3D96D4ECFCB5}" srcOrd="2" destOrd="0" presId="urn:microsoft.com/office/officeart/2005/8/layout/hProcess11"/>
    <dgm:cxn modelId="{4E484DFD-9ACE-420D-8457-633B0B613388}" type="presParOf" srcId="{B103A2C1-15CC-43A1-816D-6EA12931C357}" destId="{BD0ACC3E-0D6E-45F7-80E8-73F3C70FA63B}" srcOrd="1" destOrd="0" presId="urn:microsoft.com/office/officeart/2005/8/layout/hProcess11"/>
    <dgm:cxn modelId="{1FC0035C-DDD7-4CFE-81A8-40D466835FAD}" type="presParOf" srcId="{B103A2C1-15CC-43A1-816D-6EA12931C357}" destId="{F7B35C17-F58D-4579-97D4-8869AD613E82}" srcOrd="2" destOrd="0" presId="urn:microsoft.com/office/officeart/2005/8/layout/hProcess11"/>
    <dgm:cxn modelId="{DA758A95-4E20-427F-9A9C-E4BA5677E647}" type="presParOf" srcId="{F7B35C17-F58D-4579-97D4-8869AD613E82}" destId="{E60C16A8-34C6-436D-B38E-B6554F9B6A25}" srcOrd="0" destOrd="0" presId="urn:microsoft.com/office/officeart/2005/8/layout/hProcess11"/>
    <dgm:cxn modelId="{3D179045-2873-4A47-AF3F-EDFC9FCDE95D}" type="presParOf" srcId="{F7B35C17-F58D-4579-97D4-8869AD613E82}" destId="{0BF1B2A6-756B-4C62-96A3-DFE4A85F79B8}" srcOrd="1" destOrd="0" presId="urn:microsoft.com/office/officeart/2005/8/layout/hProcess11"/>
    <dgm:cxn modelId="{A5654618-8B60-4469-A74C-C78F9FE12586}" type="presParOf" srcId="{F7B35C17-F58D-4579-97D4-8869AD613E82}" destId="{333942EC-9209-4A5B-B05E-D6E73BD59C1B}" srcOrd="2" destOrd="0" presId="urn:microsoft.com/office/officeart/2005/8/layout/hProcess11"/>
    <dgm:cxn modelId="{853DDE3E-BA3A-4182-8DED-F8C49F135844}" type="presParOf" srcId="{B103A2C1-15CC-43A1-816D-6EA12931C357}" destId="{B450CFE2-33C8-46CB-BBCB-171914ECEEC3}" srcOrd="3" destOrd="0" presId="urn:microsoft.com/office/officeart/2005/8/layout/hProcess11"/>
    <dgm:cxn modelId="{65A9F413-0921-42F0-8595-31E5774A8DE7}" type="presParOf" srcId="{B103A2C1-15CC-43A1-816D-6EA12931C357}" destId="{69155981-F7E5-4493-94B6-EB9EEE40A602}" srcOrd="4" destOrd="0" presId="urn:microsoft.com/office/officeart/2005/8/layout/hProcess11"/>
    <dgm:cxn modelId="{E06A729D-E783-4FF1-9A41-78306E4FE0BB}" type="presParOf" srcId="{69155981-F7E5-4493-94B6-EB9EEE40A602}" destId="{55137BF7-8325-408A-A3BB-58FFB6E93B22}" srcOrd="0" destOrd="0" presId="urn:microsoft.com/office/officeart/2005/8/layout/hProcess11"/>
    <dgm:cxn modelId="{68869248-6D39-4277-B3CF-18A7F0E7D659}" type="presParOf" srcId="{69155981-F7E5-4493-94B6-EB9EEE40A602}" destId="{AFF6BCE5-A231-48FE-9841-E4E8F6BB2D68}" srcOrd="1" destOrd="0" presId="urn:microsoft.com/office/officeart/2005/8/layout/hProcess11"/>
    <dgm:cxn modelId="{69887728-E4E4-4F98-A854-22CC2047F5CE}" type="presParOf" srcId="{69155981-F7E5-4493-94B6-EB9EEE40A602}" destId="{4193D2E3-041F-4B3A-ACFC-36A6E4A0BD1B}" srcOrd="2" destOrd="0" presId="urn:microsoft.com/office/officeart/2005/8/layout/hProcess11"/>
    <dgm:cxn modelId="{0E210E55-7157-44E2-BE3C-6F3D43E6AA64}" type="presParOf" srcId="{B103A2C1-15CC-43A1-816D-6EA12931C357}" destId="{FB022F40-B3C2-4D70-9C34-72EA59A567FD}" srcOrd="5" destOrd="0" presId="urn:microsoft.com/office/officeart/2005/8/layout/hProcess11"/>
    <dgm:cxn modelId="{7178CA95-28F9-42F6-8CEF-62774C7E383B}" type="presParOf" srcId="{B103A2C1-15CC-43A1-816D-6EA12931C357}" destId="{9D29829F-F4E0-4315-9C76-354F9533F6B3}" srcOrd="6" destOrd="0" presId="urn:microsoft.com/office/officeart/2005/8/layout/hProcess11"/>
    <dgm:cxn modelId="{643E215D-E9AF-4DE2-B229-0577239AAFC8}" type="presParOf" srcId="{9D29829F-F4E0-4315-9C76-354F9533F6B3}" destId="{10237138-A77D-4482-B5FA-732CC6A37C02}" srcOrd="0" destOrd="0" presId="urn:microsoft.com/office/officeart/2005/8/layout/hProcess11"/>
    <dgm:cxn modelId="{E32F715B-8B81-40E7-BDF1-05A360DBFB4C}" type="presParOf" srcId="{9D29829F-F4E0-4315-9C76-354F9533F6B3}" destId="{83E40A33-BE1D-42A1-9960-7C9D7BD7148B}" srcOrd="1" destOrd="0" presId="urn:microsoft.com/office/officeart/2005/8/layout/hProcess11"/>
    <dgm:cxn modelId="{93F9C632-CC3C-48C4-82CC-56E723B1E709}" type="presParOf" srcId="{9D29829F-F4E0-4315-9C76-354F9533F6B3}" destId="{BFE72F46-00D9-41FD-8E72-5DECFE73C5D8}" srcOrd="2" destOrd="0" presId="urn:microsoft.com/office/officeart/2005/8/layout/hProcess11"/>
    <dgm:cxn modelId="{A6E6A24A-EF40-44C0-AA46-86B35C2FF64A}" type="presParOf" srcId="{B103A2C1-15CC-43A1-816D-6EA12931C357}" destId="{B02638A2-1879-40C2-ADCD-F928ABAC5EBD}" srcOrd="7" destOrd="0" presId="urn:microsoft.com/office/officeart/2005/8/layout/hProcess11"/>
    <dgm:cxn modelId="{37C23343-3645-4977-AECB-3DC97C2D987B}" type="presParOf" srcId="{B103A2C1-15CC-43A1-816D-6EA12931C357}" destId="{2CB909F0-EB25-4792-8CCC-CFC04983EDC6}" srcOrd="8" destOrd="0" presId="urn:microsoft.com/office/officeart/2005/8/layout/hProcess11"/>
    <dgm:cxn modelId="{543A177C-B0BB-492B-9653-9CBB65B9D514}" type="presParOf" srcId="{2CB909F0-EB25-4792-8CCC-CFC04983EDC6}" destId="{7183A9CC-CBED-4D4E-ACD3-0F68CA14C178}" srcOrd="0" destOrd="0" presId="urn:microsoft.com/office/officeart/2005/8/layout/hProcess11"/>
    <dgm:cxn modelId="{B4C84B50-C087-4EA8-A2F7-A726E7BAF3CE}" type="presParOf" srcId="{2CB909F0-EB25-4792-8CCC-CFC04983EDC6}" destId="{48D721FF-2B7C-4D87-BB46-77668A505C50}" srcOrd="1" destOrd="0" presId="urn:microsoft.com/office/officeart/2005/8/layout/hProcess11"/>
    <dgm:cxn modelId="{3E27AF0C-813E-4804-8A49-D076A0E828DB}" type="presParOf" srcId="{2CB909F0-EB25-4792-8CCC-CFC04983EDC6}" destId="{BC426CB8-FB0B-4C27-8955-C8AEB36E2ABD}"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23A5A6F-5653-48DA-8ADE-3962F428563B}"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CA"/>
        </a:p>
      </dgm:t>
    </dgm:pt>
    <dgm:pt modelId="{3013B55C-3E3A-4E73-BE22-28B6ABEB5828}">
      <dgm:prSet phldrT="[Text]"/>
      <dgm:spPr/>
      <dgm:t>
        <a:bodyPr/>
        <a:lstStyle/>
        <a:p>
          <a:r>
            <a:rPr lang="en-CA" b="0" dirty="0"/>
            <a:t>↑</a:t>
          </a:r>
          <a:r>
            <a:rPr lang="en-CA" dirty="0"/>
            <a:t> use cases</a:t>
          </a:r>
        </a:p>
      </dgm:t>
    </dgm:pt>
    <dgm:pt modelId="{AE8F758D-C7EF-4AD4-9B87-EA2406EB3C21}" type="parTrans" cxnId="{4EA4DDCD-5CE8-4A84-AAB4-9A7DB18D3F98}">
      <dgm:prSet/>
      <dgm:spPr/>
      <dgm:t>
        <a:bodyPr/>
        <a:lstStyle/>
        <a:p>
          <a:endParaRPr lang="en-CA"/>
        </a:p>
      </dgm:t>
    </dgm:pt>
    <dgm:pt modelId="{15304107-C759-45A1-A72D-55316D719860}" type="sibTrans" cxnId="{4EA4DDCD-5CE8-4A84-AAB4-9A7DB18D3F98}">
      <dgm:prSet/>
      <dgm:spPr/>
      <dgm:t>
        <a:bodyPr/>
        <a:lstStyle/>
        <a:p>
          <a:endParaRPr lang="en-CA"/>
        </a:p>
      </dgm:t>
    </dgm:pt>
    <dgm:pt modelId="{47878E55-E57B-47DD-B125-B09BA56442F0}">
      <dgm:prSet phldrT="[Text]"/>
      <dgm:spPr/>
      <dgm:t>
        <a:bodyPr/>
        <a:lstStyle/>
        <a:p>
          <a:r>
            <a:rPr lang="en-CA" b="0" dirty="0"/>
            <a:t>↑</a:t>
          </a:r>
          <a:r>
            <a:rPr lang="en-CA" dirty="0"/>
            <a:t> user adoption</a:t>
          </a:r>
        </a:p>
      </dgm:t>
    </dgm:pt>
    <dgm:pt modelId="{5C032BE0-1F1A-4620-9B0E-12D335B319BF}" type="parTrans" cxnId="{8FCFBA0D-509C-4F30-8EBD-A6DA2216A13A}">
      <dgm:prSet/>
      <dgm:spPr/>
      <dgm:t>
        <a:bodyPr/>
        <a:lstStyle/>
        <a:p>
          <a:endParaRPr lang="en-CA"/>
        </a:p>
      </dgm:t>
    </dgm:pt>
    <dgm:pt modelId="{61A1AFCA-9132-4BC5-88F2-175A44A32D21}" type="sibTrans" cxnId="{8FCFBA0D-509C-4F30-8EBD-A6DA2216A13A}">
      <dgm:prSet/>
      <dgm:spPr/>
      <dgm:t>
        <a:bodyPr/>
        <a:lstStyle/>
        <a:p>
          <a:endParaRPr lang="en-CA"/>
        </a:p>
      </dgm:t>
    </dgm:pt>
    <dgm:pt modelId="{8C8BC854-8245-4F27-ABE2-049611D58BC9}">
      <dgm:prSet phldrT="[Text]"/>
      <dgm:spPr/>
      <dgm:t>
        <a:bodyPr/>
        <a:lstStyle/>
        <a:p>
          <a:r>
            <a:rPr lang="en-CA" b="0" dirty="0"/>
            <a:t>↑</a:t>
          </a:r>
          <a:r>
            <a:rPr lang="en-CA" dirty="0"/>
            <a:t> ROI</a:t>
          </a:r>
        </a:p>
      </dgm:t>
    </dgm:pt>
    <dgm:pt modelId="{A06658C8-B507-4889-B2D0-F01A2FE74F56}" type="parTrans" cxnId="{8322B53B-5CCD-47A0-B2F6-9BE64EAC349B}">
      <dgm:prSet/>
      <dgm:spPr/>
      <dgm:t>
        <a:bodyPr/>
        <a:lstStyle/>
        <a:p>
          <a:endParaRPr lang="en-CA"/>
        </a:p>
      </dgm:t>
    </dgm:pt>
    <dgm:pt modelId="{AC787830-1879-4F9A-A89B-B2328EDE96E9}" type="sibTrans" cxnId="{8322B53B-5CCD-47A0-B2F6-9BE64EAC349B}">
      <dgm:prSet/>
      <dgm:spPr/>
      <dgm:t>
        <a:bodyPr/>
        <a:lstStyle/>
        <a:p>
          <a:endParaRPr lang="en-CA"/>
        </a:p>
      </dgm:t>
    </dgm:pt>
    <dgm:pt modelId="{0B2724EF-BCC8-4E0B-B838-894BE526F332}" type="pres">
      <dgm:prSet presAssocID="{A23A5A6F-5653-48DA-8ADE-3962F428563B}" presName="theList" presStyleCnt="0">
        <dgm:presLayoutVars>
          <dgm:dir/>
          <dgm:animLvl val="lvl"/>
          <dgm:resizeHandles val="exact"/>
        </dgm:presLayoutVars>
      </dgm:prSet>
      <dgm:spPr/>
    </dgm:pt>
    <dgm:pt modelId="{F241F1FE-95A4-40F6-9AC6-B498DAF2C0E6}" type="pres">
      <dgm:prSet presAssocID="{3013B55C-3E3A-4E73-BE22-28B6ABEB5828}" presName="compNode" presStyleCnt="0"/>
      <dgm:spPr/>
    </dgm:pt>
    <dgm:pt modelId="{9444DCF9-1526-4A4C-9F84-A29DB60DB600}" type="pres">
      <dgm:prSet presAssocID="{3013B55C-3E3A-4E73-BE22-28B6ABEB5828}" presName="noGeometry" presStyleCnt="0"/>
      <dgm:spPr/>
    </dgm:pt>
    <dgm:pt modelId="{22A1B5D8-119E-43EF-84A0-E6D59E15DFE0}" type="pres">
      <dgm:prSet presAssocID="{3013B55C-3E3A-4E73-BE22-28B6ABEB5828}" presName="childTextVisible" presStyleLbl="bgAccFollowNode1" presStyleIdx="0" presStyleCnt="3" custScaleX="66457" custScaleY="68599" custLinFactNeighborX="-35692">
        <dgm:presLayoutVars>
          <dgm:bulletEnabled val="1"/>
        </dgm:presLayoutVars>
      </dgm:prSet>
      <dgm:spPr/>
    </dgm:pt>
    <dgm:pt modelId="{773CBE9F-9166-47DF-8CBE-AF324066F64F}" type="pres">
      <dgm:prSet presAssocID="{3013B55C-3E3A-4E73-BE22-28B6ABEB5828}" presName="childTextHidden" presStyleLbl="bgAccFollowNode1" presStyleIdx="0" presStyleCnt="3"/>
      <dgm:spPr/>
    </dgm:pt>
    <dgm:pt modelId="{35C13762-D28A-46FE-97CA-242A716F4DE9}" type="pres">
      <dgm:prSet presAssocID="{3013B55C-3E3A-4E73-BE22-28B6ABEB5828}" presName="parentText" presStyleLbl="node1" presStyleIdx="0" presStyleCnt="3" custLinFactX="49041" custLinFactNeighborX="100000">
        <dgm:presLayoutVars>
          <dgm:chMax val="1"/>
          <dgm:bulletEnabled val="1"/>
        </dgm:presLayoutVars>
      </dgm:prSet>
      <dgm:spPr/>
    </dgm:pt>
    <dgm:pt modelId="{12D96EE7-8693-4D0D-9EC5-42EF8C8A0896}" type="pres">
      <dgm:prSet presAssocID="{3013B55C-3E3A-4E73-BE22-28B6ABEB5828}" presName="aSpace" presStyleCnt="0"/>
      <dgm:spPr/>
    </dgm:pt>
    <dgm:pt modelId="{4A01B77D-08DF-4A7A-B704-54A98E0BC6F2}" type="pres">
      <dgm:prSet presAssocID="{47878E55-E57B-47DD-B125-B09BA56442F0}" presName="compNode" presStyleCnt="0"/>
      <dgm:spPr/>
    </dgm:pt>
    <dgm:pt modelId="{0BAF1434-6925-438E-9A62-D8BD0780C1A7}" type="pres">
      <dgm:prSet presAssocID="{47878E55-E57B-47DD-B125-B09BA56442F0}" presName="noGeometry" presStyleCnt="0"/>
      <dgm:spPr/>
    </dgm:pt>
    <dgm:pt modelId="{6174F916-93F4-4FD6-9A99-ED21C2B71823}" type="pres">
      <dgm:prSet presAssocID="{47878E55-E57B-47DD-B125-B09BA56442F0}" presName="childTextVisible" presStyleLbl="bgAccFollowNode1" presStyleIdx="1" presStyleCnt="3" custScaleX="66457" custScaleY="68599" custLinFactNeighborX="-35632">
        <dgm:presLayoutVars>
          <dgm:bulletEnabled val="1"/>
        </dgm:presLayoutVars>
      </dgm:prSet>
      <dgm:spPr/>
    </dgm:pt>
    <dgm:pt modelId="{8E607B31-826D-4530-A7EF-8F72446B6013}" type="pres">
      <dgm:prSet presAssocID="{47878E55-E57B-47DD-B125-B09BA56442F0}" presName="childTextHidden" presStyleLbl="bgAccFollowNode1" presStyleIdx="1" presStyleCnt="3"/>
      <dgm:spPr/>
    </dgm:pt>
    <dgm:pt modelId="{00477568-36E8-4D24-B89D-69B5AC4DA6DB}" type="pres">
      <dgm:prSet presAssocID="{47878E55-E57B-47DD-B125-B09BA56442F0}" presName="parentText" presStyleLbl="node1" presStyleIdx="1" presStyleCnt="3" custLinFactX="49041" custLinFactNeighborX="100000">
        <dgm:presLayoutVars>
          <dgm:chMax val="1"/>
          <dgm:bulletEnabled val="1"/>
        </dgm:presLayoutVars>
      </dgm:prSet>
      <dgm:spPr/>
    </dgm:pt>
    <dgm:pt modelId="{0BA57F2B-5EA7-4055-8545-4D181932BBFB}" type="pres">
      <dgm:prSet presAssocID="{47878E55-E57B-47DD-B125-B09BA56442F0}" presName="aSpace" presStyleCnt="0"/>
      <dgm:spPr/>
    </dgm:pt>
    <dgm:pt modelId="{581F850A-55E1-48EF-B38C-B326AE192794}" type="pres">
      <dgm:prSet presAssocID="{8C8BC854-8245-4F27-ABE2-049611D58BC9}" presName="compNode" presStyleCnt="0"/>
      <dgm:spPr/>
    </dgm:pt>
    <dgm:pt modelId="{FA262A16-AD36-4B8C-B693-C5732D906BEE}" type="pres">
      <dgm:prSet presAssocID="{8C8BC854-8245-4F27-ABE2-049611D58BC9}" presName="noGeometry" presStyleCnt="0"/>
      <dgm:spPr/>
    </dgm:pt>
    <dgm:pt modelId="{ACC6B267-CBD0-4FBF-BEC3-5E5ADE72AAB2}" type="pres">
      <dgm:prSet presAssocID="{8C8BC854-8245-4F27-ABE2-049611D58BC9}" presName="childTextVisible" presStyleLbl="bgAccFollowNode1" presStyleIdx="2" presStyleCnt="3" custScaleX="66457" custScaleY="68599" custLinFactNeighborX="-36595">
        <dgm:presLayoutVars>
          <dgm:bulletEnabled val="1"/>
        </dgm:presLayoutVars>
      </dgm:prSet>
      <dgm:spPr/>
    </dgm:pt>
    <dgm:pt modelId="{F73408C8-636B-462A-8E01-D401C82BEA25}" type="pres">
      <dgm:prSet presAssocID="{8C8BC854-8245-4F27-ABE2-049611D58BC9}" presName="childTextHidden" presStyleLbl="bgAccFollowNode1" presStyleIdx="2" presStyleCnt="3"/>
      <dgm:spPr/>
    </dgm:pt>
    <dgm:pt modelId="{7EC69AA2-2165-4615-94E7-ABF657D7FDC1}" type="pres">
      <dgm:prSet presAssocID="{8C8BC854-8245-4F27-ABE2-049611D58BC9}" presName="parentText" presStyleLbl="node1" presStyleIdx="2" presStyleCnt="3" custLinFactX="47008" custLinFactNeighborX="100000">
        <dgm:presLayoutVars>
          <dgm:chMax val="1"/>
          <dgm:bulletEnabled val="1"/>
        </dgm:presLayoutVars>
      </dgm:prSet>
      <dgm:spPr/>
    </dgm:pt>
  </dgm:ptLst>
  <dgm:cxnLst>
    <dgm:cxn modelId="{8FCFBA0D-509C-4F30-8EBD-A6DA2216A13A}" srcId="{A23A5A6F-5653-48DA-8ADE-3962F428563B}" destId="{47878E55-E57B-47DD-B125-B09BA56442F0}" srcOrd="1" destOrd="0" parTransId="{5C032BE0-1F1A-4620-9B0E-12D335B319BF}" sibTransId="{61A1AFCA-9132-4BC5-88F2-175A44A32D21}"/>
    <dgm:cxn modelId="{B00E4110-C205-46AD-9E98-FD0837655908}" type="presOf" srcId="{8C8BC854-8245-4F27-ABE2-049611D58BC9}" destId="{7EC69AA2-2165-4615-94E7-ABF657D7FDC1}" srcOrd="0" destOrd="0" presId="urn:microsoft.com/office/officeart/2005/8/layout/hProcess6"/>
    <dgm:cxn modelId="{8322B53B-5CCD-47A0-B2F6-9BE64EAC349B}" srcId="{A23A5A6F-5653-48DA-8ADE-3962F428563B}" destId="{8C8BC854-8245-4F27-ABE2-049611D58BC9}" srcOrd="2" destOrd="0" parTransId="{A06658C8-B507-4889-B2D0-F01A2FE74F56}" sibTransId="{AC787830-1879-4F9A-A89B-B2328EDE96E9}"/>
    <dgm:cxn modelId="{D9D158A0-8EDB-4EC5-A43B-DF720D27C040}" type="presOf" srcId="{47878E55-E57B-47DD-B125-B09BA56442F0}" destId="{00477568-36E8-4D24-B89D-69B5AC4DA6DB}" srcOrd="0" destOrd="0" presId="urn:microsoft.com/office/officeart/2005/8/layout/hProcess6"/>
    <dgm:cxn modelId="{4EA4DDCD-5CE8-4A84-AAB4-9A7DB18D3F98}" srcId="{A23A5A6F-5653-48DA-8ADE-3962F428563B}" destId="{3013B55C-3E3A-4E73-BE22-28B6ABEB5828}" srcOrd="0" destOrd="0" parTransId="{AE8F758D-C7EF-4AD4-9B87-EA2406EB3C21}" sibTransId="{15304107-C759-45A1-A72D-55316D719860}"/>
    <dgm:cxn modelId="{963A3FDC-F3C6-4EFD-9B1D-52D07865204E}" type="presOf" srcId="{3013B55C-3E3A-4E73-BE22-28B6ABEB5828}" destId="{35C13762-D28A-46FE-97CA-242A716F4DE9}" srcOrd="0" destOrd="0" presId="urn:microsoft.com/office/officeart/2005/8/layout/hProcess6"/>
    <dgm:cxn modelId="{D970D0F8-37AF-4BCE-8458-A06B7FA38E2D}" type="presOf" srcId="{A23A5A6F-5653-48DA-8ADE-3962F428563B}" destId="{0B2724EF-BCC8-4E0B-B838-894BE526F332}" srcOrd="0" destOrd="0" presId="urn:microsoft.com/office/officeart/2005/8/layout/hProcess6"/>
    <dgm:cxn modelId="{A7FFA619-65BB-46F7-BEBC-989663484B8D}" type="presParOf" srcId="{0B2724EF-BCC8-4E0B-B838-894BE526F332}" destId="{F241F1FE-95A4-40F6-9AC6-B498DAF2C0E6}" srcOrd="0" destOrd="0" presId="urn:microsoft.com/office/officeart/2005/8/layout/hProcess6"/>
    <dgm:cxn modelId="{034BB30F-201F-40CA-91BE-3BD7D02093C5}" type="presParOf" srcId="{F241F1FE-95A4-40F6-9AC6-B498DAF2C0E6}" destId="{9444DCF9-1526-4A4C-9F84-A29DB60DB600}" srcOrd="0" destOrd="0" presId="urn:microsoft.com/office/officeart/2005/8/layout/hProcess6"/>
    <dgm:cxn modelId="{398ED0D1-EA0E-4022-9BB4-99DD4B8DE7FC}" type="presParOf" srcId="{F241F1FE-95A4-40F6-9AC6-B498DAF2C0E6}" destId="{22A1B5D8-119E-43EF-84A0-E6D59E15DFE0}" srcOrd="1" destOrd="0" presId="urn:microsoft.com/office/officeart/2005/8/layout/hProcess6"/>
    <dgm:cxn modelId="{48DBD8C2-5232-4B16-BD1C-914899B2B341}" type="presParOf" srcId="{F241F1FE-95A4-40F6-9AC6-B498DAF2C0E6}" destId="{773CBE9F-9166-47DF-8CBE-AF324066F64F}" srcOrd="2" destOrd="0" presId="urn:microsoft.com/office/officeart/2005/8/layout/hProcess6"/>
    <dgm:cxn modelId="{9B2E0360-5F3D-4430-92EE-D45D8507514B}" type="presParOf" srcId="{F241F1FE-95A4-40F6-9AC6-B498DAF2C0E6}" destId="{35C13762-D28A-46FE-97CA-242A716F4DE9}" srcOrd="3" destOrd="0" presId="urn:microsoft.com/office/officeart/2005/8/layout/hProcess6"/>
    <dgm:cxn modelId="{939260CD-DE7C-4DB6-98F6-7C910081B23E}" type="presParOf" srcId="{0B2724EF-BCC8-4E0B-B838-894BE526F332}" destId="{12D96EE7-8693-4D0D-9EC5-42EF8C8A0896}" srcOrd="1" destOrd="0" presId="urn:microsoft.com/office/officeart/2005/8/layout/hProcess6"/>
    <dgm:cxn modelId="{38CA8B51-19D4-4CA8-AA12-FEAE77742BA3}" type="presParOf" srcId="{0B2724EF-BCC8-4E0B-B838-894BE526F332}" destId="{4A01B77D-08DF-4A7A-B704-54A98E0BC6F2}" srcOrd="2" destOrd="0" presId="urn:microsoft.com/office/officeart/2005/8/layout/hProcess6"/>
    <dgm:cxn modelId="{E983443A-1CB0-43E8-AF8F-2F67EB07B24A}" type="presParOf" srcId="{4A01B77D-08DF-4A7A-B704-54A98E0BC6F2}" destId="{0BAF1434-6925-438E-9A62-D8BD0780C1A7}" srcOrd="0" destOrd="0" presId="urn:microsoft.com/office/officeart/2005/8/layout/hProcess6"/>
    <dgm:cxn modelId="{B343025A-BB78-409D-9B08-4B6B901C2007}" type="presParOf" srcId="{4A01B77D-08DF-4A7A-B704-54A98E0BC6F2}" destId="{6174F916-93F4-4FD6-9A99-ED21C2B71823}" srcOrd="1" destOrd="0" presId="urn:microsoft.com/office/officeart/2005/8/layout/hProcess6"/>
    <dgm:cxn modelId="{CCFF1034-F376-4BA9-AA3B-C3AD08B662AA}" type="presParOf" srcId="{4A01B77D-08DF-4A7A-B704-54A98E0BC6F2}" destId="{8E607B31-826D-4530-A7EF-8F72446B6013}" srcOrd="2" destOrd="0" presId="urn:microsoft.com/office/officeart/2005/8/layout/hProcess6"/>
    <dgm:cxn modelId="{D819FF0C-973A-46CE-BB16-CB67D0AF5F41}" type="presParOf" srcId="{4A01B77D-08DF-4A7A-B704-54A98E0BC6F2}" destId="{00477568-36E8-4D24-B89D-69B5AC4DA6DB}" srcOrd="3" destOrd="0" presId="urn:microsoft.com/office/officeart/2005/8/layout/hProcess6"/>
    <dgm:cxn modelId="{878718BB-991F-446C-80D6-8989B8D84017}" type="presParOf" srcId="{0B2724EF-BCC8-4E0B-B838-894BE526F332}" destId="{0BA57F2B-5EA7-4055-8545-4D181932BBFB}" srcOrd="3" destOrd="0" presId="urn:microsoft.com/office/officeart/2005/8/layout/hProcess6"/>
    <dgm:cxn modelId="{FFB44F08-70CE-4876-BF3E-A32370CA5805}" type="presParOf" srcId="{0B2724EF-BCC8-4E0B-B838-894BE526F332}" destId="{581F850A-55E1-48EF-B38C-B326AE192794}" srcOrd="4" destOrd="0" presId="urn:microsoft.com/office/officeart/2005/8/layout/hProcess6"/>
    <dgm:cxn modelId="{EF148D17-2F74-4576-AB66-A3B7B78BE599}" type="presParOf" srcId="{581F850A-55E1-48EF-B38C-B326AE192794}" destId="{FA262A16-AD36-4B8C-B693-C5732D906BEE}" srcOrd="0" destOrd="0" presId="urn:microsoft.com/office/officeart/2005/8/layout/hProcess6"/>
    <dgm:cxn modelId="{5D0B77E3-5131-4412-A075-1164DAA730D8}" type="presParOf" srcId="{581F850A-55E1-48EF-B38C-B326AE192794}" destId="{ACC6B267-CBD0-4FBF-BEC3-5E5ADE72AAB2}" srcOrd="1" destOrd="0" presId="urn:microsoft.com/office/officeart/2005/8/layout/hProcess6"/>
    <dgm:cxn modelId="{E84640B9-04CE-403A-B93D-91BB7E21ADC2}" type="presParOf" srcId="{581F850A-55E1-48EF-B38C-B326AE192794}" destId="{F73408C8-636B-462A-8E01-D401C82BEA25}" srcOrd="2" destOrd="0" presId="urn:microsoft.com/office/officeart/2005/8/layout/hProcess6"/>
    <dgm:cxn modelId="{947853EE-686E-41A5-BA0E-D68558E1CCDE}" type="presParOf" srcId="{581F850A-55E1-48EF-B38C-B326AE192794}" destId="{7EC69AA2-2165-4615-94E7-ABF657D7FDC1}" srcOrd="3" destOrd="0" presId="urn:microsoft.com/office/officeart/2005/8/layout/hProcess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0325E6-A7A4-4007-BCAD-DF780CFC167F}">
      <dsp:nvSpPr>
        <dsp:cNvPr id="0" name=""/>
        <dsp:cNvSpPr/>
      </dsp:nvSpPr>
      <dsp:spPr>
        <a:xfrm>
          <a:off x="0" y="1532564"/>
          <a:ext cx="11856720" cy="2043419"/>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7475B8-7D4A-49E5-805F-DDE6EFBFEDA6}">
      <dsp:nvSpPr>
        <dsp:cNvPr id="0" name=""/>
        <dsp:cNvSpPr/>
      </dsp:nvSpPr>
      <dsp:spPr>
        <a:xfrm>
          <a:off x="5318" y="0"/>
          <a:ext cx="2093506" cy="2043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1">
          <a:noAutofit/>
        </a:bodyPr>
        <a:lstStyle/>
        <a:p>
          <a:pPr marL="0" lvl="0" indent="0" algn="l" defTabSz="1066800">
            <a:lnSpc>
              <a:spcPct val="90000"/>
            </a:lnSpc>
            <a:spcBef>
              <a:spcPct val="0"/>
            </a:spcBef>
            <a:spcAft>
              <a:spcPct val="35000"/>
            </a:spcAft>
            <a:buNone/>
          </a:pPr>
          <a:r>
            <a:rPr lang="en-CA" sz="2400" b="1" kern="1200" dirty="0"/>
            <a:t>2018</a:t>
          </a:r>
        </a:p>
        <a:p>
          <a:pPr marL="171450" lvl="1" indent="-171450" algn="l" defTabSz="711200">
            <a:lnSpc>
              <a:spcPct val="90000"/>
            </a:lnSpc>
            <a:spcBef>
              <a:spcPct val="0"/>
            </a:spcBef>
            <a:spcAft>
              <a:spcPct val="15000"/>
            </a:spcAft>
            <a:buChar char="•"/>
          </a:pPr>
          <a:r>
            <a:rPr lang="en-CA" sz="1600" kern="1200" dirty="0"/>
            <a:t>Power Apps &amp; Power Automate services enabled</a:t>
          </a:r>
        </a:p>
        <a:p>
          <a:pPr marL="171450" lvl="1" indent="-171450" algn="l" defTabSz="711200">
            <a:lnSpc>
              <a:spcPct val="90000"/>
            </a:lnSpc>
            <a:spcBef>
              <a:spcPct val="0"/>
            </a:spcBef>
            <a:spcAft>
              <a:spcPct val="15000"/>
            </a:spcAft>
            <a:buChar char="•"/>
          </a:pPr>
          <a:r>
            <a:rPr lang="en-CA" sz="1600" kern="1200" dirty="0"/>
            <a:t>1</a:t>
          </a:r>
          <a:r>
            <a:rPr lang="en-CA" sz="1600" kern="1200" baseline="30000" dirty="0"/>
            <a:t>st</a:t>
          </a:r>
          <a:r>
            <a:rPr lang="en-CA" sz="1600" kern="1200" dirty="0"/>
            <a:t> apps &amp; flows created</a:t>
          </a:r>
        </a:p>
      </dsp:txBody>
      <dsp:txXfrm>
        <a:off x="5318" y="0"/>
        <a:ext cx="2093506" cy="2043419"/>
      </dsp:txXfrm>
    </dsp:sp>
    <dsp:sp modelId="{A8F3288D-641B-411E-B74D-91AE14F8FB75}">
      <dsp:nvSpPr>
        <dsp:cNvPr id="0" name=""/>
        <dsp:cNvSpPr/>
      </dsp:nvSpPr>
      <dsp:spPr>
        <a:xfrm>
          <a:off x="796644" y="2298846"/>
          <a:ext cx="510854" cy="51085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0C16A8-34C6-436D-B38E-B6554F9B6A25}">
      <dsp:nvSpPr>
        <dsp:cNvPr id="0" name=""/>
        <dsp:cNvSpPr/>
      </dsp:nvSpPr>
      <dsp:spPr>
        <a:xfrm>
          <a:off x="2182583" y="3065128"/>
          <a:ext cx="1759394" cy="2043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1">
          <a:noAutofit/>
        </a:bodyPr>
        <a:lstStyle/>
        <a:p>
          <a:pPr marL="0" lvl="0" indent="0" algn="l" defTabSz="1066800">
            <a:lnSpc>
              <a:spcPct val="90000"/>
            </a:lnSpc>
            <a:spcBef>
              <a:spcPct val="0"/>
            </a:spcBef>
            <a:spcAft>
              <a:spcPct val="35000"/>
            </a:spcAft>
            <a:buNone/>
          </a:pPr>
          <a:r>
            <a:rPr lang="en-CA" sz="2400" b="1" kern="1200" dirty="0"/>
            <a:t>2022</a:t>
          </a:r>
        </a:p>
        <a:p>
          <a:pPr marL="171450" lvl="1" indent="-171450" algn="l" defTabSz="711200">
            <a:lnSpc>
              <a:spcPct val="90000"/>
            </a:lnSpc>
            <a:spcBef>
              <a:spcPct val="0"/>
            </a:spcBef>
            <a:spcAft>
              <a:spcPct val="15000"/>
            </a:spcAft>
            <a:buChar char="•"/>
          </a:pPr>
          <a:r>
            <a:rPr lang="en-CA" sz="1600" kern="1200" dirty="0"/>
            <a:t>Passed</a:t>
          </a:r>
          <a:br>
            <a:rPr lang="en-CA" sz="1600" kern="1200" dirty="0"/>
          </a:br>
          <a:r>
            <a:rPr lang="en-CA" sz="1600" kern="1200" dirty="0"/>
            <a:t>1,000 apps &amp;</a:t>
          </a:r>
          <a:br>
            <a:rPr lang="en-CA" sz="1600" kern="1200" dirty="0"/>
          </a:br>
          <a:r>
            <a:rPr lang="en-CA" sz="1600" kern="1200" dirty="0"/>
            <a:t>3,000 flows</a:t>
          </a:r>
        </a:p>
      </dsp:txBody>
      <dsp:txXfrm>
        <a:off x="2182583" y="3065128"/>
        <a:ext cx="1759394" cy="2043419"/>
      </dsp:txXfrm>
    </dsp:sp>
    <dsp:sp modelId="{0BF1B2A6-756B-4C62-96A3-DFE4A85F79B8}">
      <dsp:nvSpPr>
        <dsp:cNvPr id="0" name=""/>
        <dsp:cNvSpPr/>
      </dsp:nvSpPr>
      <dsp:spPr>
        <a:xfrm>
          <a:off x="2806853" y="2298846"/>
          <a:ext cx="510854" cy="51085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137BF7-8325-408A-A3BB-58FFB6E93B22}">
      <dsp:nvSpPr>
        <dsp:cNvPr id="0" name=""/>
        <dsp:cNvSpPr/>
      </dsp:nvSpPr>
      <dsp:spPr>
        <a:xfrm>
          <a:off x="4025736" y="0"/>
          <a:ext cx="2569974" cy="2043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1">
          <a:noAutofit/>
        </a:bodyPr>
        <a:lstStyle/>
        <a:p>
          <a:pPr marL="0" lvl="0" indent="0" algn="l" defTabSz="1066800">
            <a:lnSpc>
              <a:spcPct val="90000"/>
            </a:lnSpc>
            <a:spcBef>
              <a:spcPct val="0"/>
            </a:spcBef>
            <a:spcAft>
              <a:spcPct val="35000"/>
            </a:spcAft>
            <a:buNone/>
          </a:pPr>
          <a:r>
            <a:rPr lang="en-CA" sz="2400" b="1" kern="1200" dirty="0"/>
            <a:t>2023</a:t>
          </a:r>
        </a:p>
        <a:p>
          <a:pPr marL="171450" lvl="1" indent="-171450" algn="l" defTabSz="711200">
            <a:lnSpc>
              <a:spcPct val="90000"/>
            </a:lnSpc>
            <a:spcBef>
              <a:spcPct val="0"/>
            </a:spcBef>
            <a:spcAft>
              <a:spcPct val="15000"/>
            </a:spcAft>
            <a:buChar char="•"/>
          </a:pPr>
          <a:r>
            <a:rPr lang="en-CA" sz="1600" kern="1200" dirty="0"/>
            <a:t>Prod rollout of Canada Ops PSHCP premium solutions</a:t>
          </a:r>
        </a:p>
        <a:p>
          <a:pPr marL="171450" lvl="1" indent="-171450" algn="l" defTabSz="711200">
            <a:lnSpc>
              <a:spcPct val="90000"/>
            </a:lnSpc>
            <a:spcBef>
              <a:spcPct val="0"/>
            </a:spcBef>
            <a:spcAft>
              <a:spcPct val="15000"/>
            </a:spcAft>
            <a:buChar char="•"/>
          </a:pPr>
          <a:r>
            <a:rPr lang="en-CA" sz="1600" kern="1200" dirty="0"/>
            <a:t>Estimated cost savings of ~$20M/year</a:t>
          </a:r>
        </a:p>
      </dsp:txBody>
      <dsp:txXfrm>
        <a:off x="4025736" y="0"/>
        <a:ext cx="2569974" cy="2043419"/>
      </dsp:txXfrm>
    </dsp:sp>
    <dsp:sp modelId="{AFF6BCE5-A231-48FE-9841-E4E8F6BB2D68}">
      <dsp:nvSpPr>
        <dsp:cNvPr id="0" name=""/>
        <dsp:cNvSpPr/>
      </dsp:nvSpPr>
      <dsp:spPr>
        <a:xfrm>
          <a:off x="5055295" y="2298846"/>
          <a:ext cx="510854" cy="51085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237138-A77D-4482-B5FA-732CC6A37C02}">
      <dsp:nvSpPr>
        <dsp:cNvPr id="0" name=""/>
        <dsp:cNvSpPr/>
      </dsp:nvSpPr>
      <dsp:spPr>
        <a:xfrm>
          <a:off x="6679468" y="3065128"/>
          <a:ext cx="2227335" cy="2043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1">
          <a:noAutofit/>
        </a:bodyPr>
        <a:lstStyle/>
        <a:p>
          <a:pPr marL="0" lvl="0" indent="0" algn="l" defTabSz="1066800">
            <a:lnSpc>
              <a:spcPct val="90000"/>
            </a:lnSpc>
            <a:spcBef>
              <a:spcPct val="0"/>
            </a:spcBef>
            <a:spcAft>
              <a:spcPct val="35000"/>
            </a:spcAft>
            <a:buNone/>
          </a:pPr>
          <a:r>
            <a:rPr lang="en-CA" sz="2400" b="1" kern="1200" dirty="0"/>
            <a:t>2024-2025</a:t>
          </a:r>
        </a:p>
        <a:p>
          <a:pPr marL="171450" lvl="1" indent="-171450" algn="l" defTabSz="711200">
            <a:lnSpc>
              <a:spcPct val="90000"/>
            </a:lnSpc>
            <a:spcBef>
              <a:spcPct val="0"/>
            </a:spcBef>
            <a:spcAft>
              <a:spcPct val="15000"/>
            </a:spcAft>
            <a:buChar char="•"/>
          </a:pPr>
          <a:r>
            <a:rPr lang="en-CA" sz="1600" b="0" kern="1200" dirty="0"/>
            <a:t>Engaged w/ </a:t>
          </a:r>
          <a:r>
            <a:rPr lang="en-CA" sz="1600" b="0" kern="1200" dirty="0" err="1"/>
            <a:t>OnX</a:t>
          </a:r>
          <a:r>
            <a:rPr lang="en-CA" sz="1600" b="0" kern="1200" dirty="0"/>
            <a:t> &amp; Microsoft for a Power Platform Assessment</a:t>
          </a:r>
        </a:p>
      </dsp:txBody>
      <dsp:txXfrm>
        <a:off x="6679468" y="3065128"/>
        <a:ext cx="2227335" cy="2043419"/>
      </dsp:txXfrm>
    </dsp:sp>
    <dsp:sp modelId="{83E40A33-BE1D-42A1-9960-7C9D7BD7148B}">
      <dsp:nvSpPr>
        <dsp:cNvPr id="0" name=""/>
        <dsp:cNvSpPr/>
      </dsp:nvSpPr>
      <dsp:spPr>
        <a:xfrm>
          <a:off x="7537708" y="2298846"/>
          <a:ext cx="510854" cy="51085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83A9CC-CBED-4D4E-ACD3-0F68CA14C178}">
      <dsp:nvSpPr>
        <dsp:cNvPr id="0" name=""/>
        <dsp:cNvSpPr/>
      </dsp:nvSpPr>
      <dsp:spPr>
        <a:xfrm>
          <a:off x="8990562" y="0"/>
          <a:ext cx="1675166" cy="2043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1">
          <a:noAutofit/>
        </a:bodyPr>
        <a:lstStyle/>
        <a:p>
          <a:pPr marL="0" lvl="0" indent="0" algn="l" defTabSz="1066800">
            <a:lnSpc>
              <a:spcPct val="90000"/>
            </a:lnSpc>
            <a:spcBef>
              <a:spcPct val="0"/>
            </a:spcBef>
            <a:spcAft>
              <a:spcPct val="35000"/>
            </a:spcAft>
            <a:buNone/>
          </a:pPr>
          <a:r>
            <a:rPr lang="en-CA" sz="2400" b="1" kern="1200" dirty="0"/>
            <a:t>Today</a:t>
          </a:r>
        </a:p>
        <a:p>
          <a:pPr marL="171450" lvl="1" indent="-171450" algn="l" defTabSz="711200">
            <a:lnSpc>
              <a:spcPct val="90000"/>
            </a:lnSpc>
            <a:spcBef>
              <a:spcPct val="0"/>
            </a:spcBef>
            <a:spcAft>
              <a:spcPct val="15000"/>
            </a:spcAft>
            <a:buChar char="•"/>
          </a:pPr>
          <a:r>
            <a:rPr lang="en-CA" sz="1600" kern="1200" dirty="0"/>
            <a:t>3,247 apps</a:t>
          </a:r>
          <a:br>
            <a:rPr lang="en-CA" sz="1600" kern="1200" dirty="0"/>
          </a:br>
          <a:r>
            <a:rPr lang="en-CA" sz="1600" kern="1200" dirty="0"/>
            <a:t>8,523 flows</a:t>
          </a:r>
          <a:br>
            <a:rPr lang="en-CA" sz="1600" kern="1200" dirty="0"/>
          </a:br>
          <a:br>
            <a:rPr lang="en-CA" sz="1600" kern="1200" dirty="0"/>
          </a:br>
          <a:br>
            <a:rPr lang="en-CA" sz="1600" kern="1200" dirty="0"/>
          </a:br>
          <a:endParaRPr lang="en-CA" sz="1600" kern="1200" dirty="0"/>
        </a:p>
      </dsp:txBody>
      <dsp:txXfrm>
        <a:off x="8990562" y="0"/>
        <a:ext cx="1675166" cy="2043419"/>
      </dsp:txXfrm>
    </dsp:sp>
    <dsp:sp modelId="{48D721FF-2B7C-4D87-BB46-77668A505C50}">
      <dsp:nvSpPr>
        <dsp:cNvPr id="0" name=""/>
        <dsp:cNvSpPr/>
      </dsp:nvSpPr>
      <dsp:spPr>
        <a:xfrm>
          <a:off x="9572718" y="2298846"/>
          <a:ext cx="510854" cy="51085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A1B5D8-119E-43EF-84A0-E6D59E15DFE0}">
      <dsp:nvSpPr>
        <dsp:cNvPr id="0" name=""/>
        <dsp:cNvSpPr/>
      </dsp:nvSpPr>
      <dsp:spPr>
        <a:xfrm>
          <a:off x="136313" y="1013923"/>
          <a:ext cx="1445069" cy="1303886"/>
        </a:xfrm>
        <a:prstGeom prst="rightArrow">
          <a:avLst>
            <a:gd name="adj1" fmla="val 70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C13762-D28A-46FE-97CA-242A716F4DE9}">
      <dsp:nvSpPr>
        <dsp:cNvPr id="0" name=""/>
        <dsp:cNvSpPr/>
      </dsp:nvSpPr>
      <dsp:spPr>
        <a:xfrm>
          <a:off x="1624523" y="1122255"/>
          <a:ext cx="1087221" cy="108722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CA" sz="1500" b="0" kern="1200" dirty="0"/>
            <a:t>↑</a:t>
          </a:r>
          <a:r>
            <a:rPr lang="en-CA" sz="1500" kern="1200" dirty="0"/>
            <a:t> use cases</a:t>
          </a:r>
        </a:p>
      </dsp:txBody>
      <dsp:txXfrm>
        <a:off x="1783743" y="1281475"/>
        <a:ext cx="768781" cy="768781"/>
      </dsp:txXfrm>
    </dsp:sp>
    <dsp:sp modelId="{6174F916-93F4-4FD6-9A99-ED21C2B71823}">
      <dsp:nvSpPr>
        <dsp:cNvPr id="0" name=""/>
        <dsp:cNvSpPr/>
      </dsp:nvSpPr>
      <dsp:spPr>
        <a:xfrm>
          <a:off x="2991573" y="1013923"/>
          <a:ext cx="1445069" cy="1303886"/>
        </a:xfrm>
        <a:prstGeom prst="rightArrow">
          <a:avLst>
            <a:gd name="adj1" fmla="val 70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0477568-36E8-4D24-B89D-69B5AC4DA6DB}">
      <dsp:nvSpPr>
        <dsp:cNvPr id="0" name=""/>
        <dsp:cNvSpPr/>
      </dsp:nvSpPr>
      <dsp:spPr>
        <a:xfrm>
          <a:off x="4478478" y="1122255"/>
          <a:ext cx="1087221" cy="108722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CA" sz="1500" b="0" kern="1200" dirty="0"/>
            <a:t>↑</a:t>
          </a:r>
          <a:r>
            <a:rPr lang="en-CA" sz="1500" kern="1200" dirty="0"/>
            <a:t> user adoption</a:t>
          </a:r>
        </a:p>
      </dsp:txBody>
      <dsp:txXfrm>
        <a:off x="4637698" y="1281475"/>
        <a:ext cx="768781" cy="768781"/>
      </dsp:txXfrm>
    </dsp:sp>
    <dsp:sp modelId="{ACC6B267-CBD0-4FBF-BEC3-5E5ADE72AAB2}">
      <dsp:nvSpPr>
        <dsp:cNvPr id="0" name=""/>
        <dsp:cNvSpPr/>
      </dsp:nvSpPr>
      <dsp:spPr>
        <a:xfrm>
          <a:off x="5824589" y="1013923"/>
          <a:ext cx="1445069" cy="1303886"/>
        </a:xfrm>
        <a:prstGeom prst="rightArrow">
          <a:avLst>
            <a:gd name="adj1" fmla="val 70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EC69AA2-2165-4615-94E7-ABF657D7FDC1}">
      <dsp:nvSpPr>
        <dsp:cNvPr id="0" name=""/>
        <dsp:cNvSpPr/>
      </dsp:nvSpPr>
      <dsp:spPr>
        <a:xfrm>
          <a:off x="7310330" y="1122255"/>
          <a:ext cx="1087221" cy="108722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CA" sz="1500" b="0" kern="1200" dirty="0"/>
            <a:t>↑</a:t>
          </a:r>
          <a:r>
            <a:rPr lang="en-CA" sz="1500" kern="1200" dirty="0"/>
            <a:t> ROI</a:t>
          </a:r>
        </a:p>
      </dsp:txBody>
      <dsp:txXfrm>
        <a:off x="7469550" y="1281475"/>
        <a:ext cx="768781" cy="768781"/>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B6DEAF-1215-4465-9227-DA26219CE03A}" type="datetimeFigureOut">
              <a:rPr lang="en-CA" smtClean="0"/>
              <a:t>2026-07-29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FF92F8-F41D-4B1F-8630-58A3D1386D65}" type="slidenum">
              <a:rPr lang="en-CA" smtClean="0"/>
              <a:t>‹#›</a:t>
            </a:fld>
            <a:endParaRPr lang="en-CA"/>
          </a:p>
        </p:txBody>
      </p:sp>
    </p:spTree>
    <p:extLst>
      <p:ext uri="{BB962C8B-B14F-4D97-AF65-F5344CB8AC3E}">
        <p14:creationId xmlns:p14="http://schemas.microsoft.com/office/powerpoint/2010/main" val="4196922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CA" dirty="0"/>
              <a:t>Review agenda</a:t>
            </a:r>
          </a:p>
          <a:p>
            <a:pPr marL="228600" indent="-228600">
              <a:buFont typeface="+mj-lt"/>
              <a:buAutoNum type="arabicPeriod"/>
            </a:pPr>
            <a:r>
              <a:rPr lang="en-CA" b="0" dirty="0"/>
              <a:t>Appendix contains supplemental information to be reviewed at leisure, deck will be shared</a:t>
            </a:r>
          </a:p>
        </p:txBody>
      </p:sp>
      <p:sp>
        <p:nvSpPr>
          <p:cNvPr id="4" name="Slide Number Placeholder 3"/>
          <p:cNvSpPr>
            <a:spLocks noGrp="1"/>
          </p:cNvSpPr>
          <p:nvPr>
            <p:ph type="sldNum" sz="quarter" idx="5"/>
          </p:nvPr>
        </p:nvSpPr>
        <p:spPr/>
        <p:txBody>
          <a:bodyPr/>
          <a:lstStyle/>
          <a:p>
            <a:fld id="{F4FF92F8-F41D-4B1F-8630-58A3D1386D65}" type="slidenum">
              <a:rPr lang="en-CA" smtClean="0"/>
              <a:t>2</a:t>
            </a:fld>
            <a:endParaRPr lang="en-CA"/>
          </a:p>
        </p:txBody>
      </p:sp>
    </p:spTree>
    <p:extLst>
      <p:ext uri="{BB962C8B-B14F-4D97-AF65-F5344CB8AC3E}">
        <p14:creationId xmlns:p14="http://schemas.microsoft.com/office/powerpoint/2010/main" val="2232682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dirty="0"/>
              <a:t>Power Platform consists of 5 services. </a:t>
            </a:r>
            <a:r>
              <a:rPr lang="en-CA" b="0" i="0" dirty="0">
                <a:solidFill>
                  <a:srgbClr val="E6E6E6"/>
                </a:solidFill>
                <a:effectLst/>
                <a:latin typeface="Segoe UI" panose="020B0502040204020203" pitchFamily="34" charset="0"/>
              </a:rPr>
              <a:t>Since Power BI is owned by another area (Data Tech Services) and Power Pages is not currently used, we will be focusing on:</a:t>
            </a:r>
          </a:p>
          <a:p>
            <a:pPr marL="685800" lvl="1" indent="-228600">
              <a:buFont typeface="+mj-lt"/>
              <a:buAutoNum type="alphaLcParenR"/>
            </a:pPr>
            <a:r>
              <a:rPr lang="en-CA" b="0" i="0" dirty="0">
                <a:solidFill>
                  <a:srgbClr val="E6E6E6"/>
                </a:solidFill>
                <a:effectLst/>
                <a:latin typeface="Segoe UI" panose="020B0502040204020203" pitchFamily="34" charset="0"/>
              </a:rPr>
              <a:t>Copilot Studio</a:t>
            </a:r>
          </a:p>
          <a:p>
            <a:pPr marL="685800" lvl="1" indent="-228600">
              <a:buFont typeface="+mj-lt"/>
              <a:buAutoNum type="alphaLcParenR"/>
            </a:pPr>
            <a:r>
              <a:rPr lang="en-CA" b="0" i="0" dirty="0">
                <a:solidFill>
                  <a:srgbClr val="E6E6E6"/>
                </a:solidFill>
                <a:effectLst/>
                <a:latin typeface="Segoe UI" panose="020B0502040204020203" pitchFamily="34" charset="0"/>
              </a:rPr>
              <a:t>Power Automate</a:t>
            </a:r>
          </a:p>
          <a:p>
            <a:pPr marL="685800" lvl="1" indent="-228600">
              <a:buFont typeface="+mj-lt"/>
              <a:buAutoNum type="alphaLcParenR"/>
            </a:pPr>
            <a:r>
              <a:rPr lang="en-CA" b="0" i="0" dirty="0">
                <a:solidFill>
                  <a:srgbClr val="E6E6E6"/>
                </a:solidFill>
                <a:effectLst/>
                <a:latin typeface="Segoe UI" panose="020B0502040204020203" pitchFamily="34" charset="0"/>
              </a:rPr>
              <a:t>Power Apps</a:t>
            </a:r>
            <a:endParaRPr lang="en-CA" dirty="0"/>
          </a:p>
        </p:txBody>
      </p:sp>
      <p:sp>
        <p:nvSpPr>
          <p:cNvPr id="4" name="Slide Number Placeholder 3"/>
          <p:cNvSpPr>
            <a:spLocks noGrp="1"/>
          </p:cNvSpPr>
          <p:nvPr>
            <p:ph type="sldNum" sz="quarter" idx="5"/>
          </p:nvPr>
        </p:nvSpPr>
        <p:spPr/>
        <p:txBody>
          <a:bodyPr/>
          <a:lstStyle/>
          <a:p>
            <a:fld id="{F4FF92F8-F41D-4B1F-8630-58A3D1386D65}" type="slidenum">
              <a:rPr lang="en-CA" smtClean="0"/>
              <a:t>3</a:t>
            </a:fld>
            <a:endParaRPr lang="en-CA"/>
          </a:p>
        </p:txBody>
      </p:sp>
    </p:spTree>
    <p:extLst>
      <p:ext uri="{BB962C8B-B14F-4D97-AF65-F5344CB8AC3E}">
        <p14:creationId xmlns:p14="http://schemas.microsoft.com/office/powerpoint/2010/main" val="2299709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5A4EE-EB4F-C24B-936E-E94BA356F2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4F33A-64D0-1B4B-5107-694D30706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90C632-8407-A927-D46B-2B396C5F1ED4}"/>
              </a:ext>
            </a:extLst>
          </p:cNvPr>
          <p:cNvSpPr>
            <a:spLocks noGrp="1"/>
          </p:cNvSpPr>
          <p:nvPr>
            <p:ph type="body" idx="1"/>
          </p:nvPr>
        </p:nvSpPr>
        <p:spPr/>
        <p:txBody>
          <a:bodyPr/>
          <a:lstStyle/>
          <a:p>
            <a:pPr marL="228600" indent="-228600">
              <a:buFont typeface="+mj-lt"/>
              <a:buAutoNum type="arabicPeriod"/>
            </a:pPr>
            <a:r>
              <a:rPr lang="en-CA"/>
              <a:t>Services we’re focusing on</a:t>
            </a:r>
          </a:p>
          <a:p>
            <a:pPr marL="685800" lvl="1" indent="-228600">
              <a:buFont typeface="+mj-lt"/>
              <a:buAutoNum type="alphaLcParenR"/>
            </a:pPr>
            <a:r>
              <a:rPr lang="en-CA"/>
              <a:t>Copilot Studio</a:t>
            </a:r>
          </a:p>
          <a:p>
            <a:pPr marL="1143000" lvl="2" indent="-228600">
              <a:buFont typeface="Arial" panose="020B0604020202020204" pitchFamily="34" charset="0"/>
              <a:buChar char="•"/>
            </a:pPr>
            <a:r>
              <a:rPr lang="en-CA" b="0" i="0">
                <a:solidFill>
                  <a:srgbClr val="E6E6E6"/>
                </a:solidFill>
                <a:effectLst/>
                <a:latin typeface="Segoe UI" panose="020B0502040204020203" pitchFamily="34" charset="0"/>
              </a:rPr>
              <a:t>Copilot Studio is a graphical, low-code tool for building agents and agent flows.</a:t>
            </a:r>
            <a:endParaRPr lang="en-CA"/>
          </a:p>
          <a:p>
            <a:pPr marL="1143000" lvl="2" indent="-228600">
              <a:buFont typeface="Arial" panose="020B0604020202020204" pitchFamily="34" charset="0"/>
              <a:buChar char="•"/>
            </a:pPr>
            <a:r>
              <a:rPr lang="en-CA" b="0" i="0">
                <a:solidFill>
                  <a:srgbClr val="E6E6E6"/>
                </a:solidFill>
                <a:effectLst/>
                <a:latin typeface="Segoe UI" panose="020B0502040204020203" pitchFamily="34" charset="0"/>
              </a:rPr>
              <a:t>An agent is a powerful AI companion that can handle a range of interactions and tasks, from resolving issues requiring complex conversations to autonomously determining the best action to take based on its instructions and context.</a:t>
            </a:r>
            <a:endParaRPr lang="en-CA"/>
          </a:p>
          <a:p>
            <a:pPr marL="685800" lvl="1" indent="-228600">
              <a:buFont typeface="+mj-lt"/>
              <a:buAutoNum type="alphaLcParenR"/>
            </a:pPr>
            <a:r>
              <a:rPr lang="en-CA"/>
              <a:t>Power Automate</a:t>
            </a:r>
          </a:p>
          <a:p>
            <a:pPr marL="1143000" lvl="2" indent="-228600">
              <a:buFont typeface="Arial" panose="020B0604020202020204" pitchFamily="34" charset="0"/>
              <a:buChar char="•"/>
            </a:pPr>
            <a:r>
              <a:rPr lang="en-CA" b="0" i="0">
                <a:solidFill>
                  <a:srgbClr val="E6E6E6"/>
                </a:solidFill>
                <a:effectLst/>
                <a:latin typeface="Segoe UI" panose="020B0502040204020203" pitchFamily="34" charset="0"/>
              </a:rPr>
              <a:t>With its automation capabilities, Power Automate helps you streamline your business processes and automate repetitive tasks. Its intuitive interface and many connectors allow you to create workflows with little to no knowledge of coding.</a:t>
            </a:r>
            <a:endParaRPr lang="en-CA"/>
          </a:p>
          <a:p>
            <a:pPr marL="685800" lvl="1" indent="-228600">
              <a:buFont typeface="+mj-lt"/>
              <a:buAutoNum type="alphaLcParenR"/>
            </a:pPr>
            <a:r>
              <a:rPr lang="en-CA"/>
              <a:t>Power Apps</a:t>
            </a:r>
          </a:p>
          <a:p>
            <a:pPr marL="1143000" lvl="2" indent="-228600">
              <a:buFont typeface="Arial" panose="020B0604020202020204" pitchFamily="34" charset="0"/>
              <a:buChar char="•"/>
            </a:pPr>
            <a:r>
              <a:rPr lang="en-CA" b="0" i="0">
                <a:solidFill>
                  <a:srgbClr val="E6E6E6"/>
                </a:solidFill>
                <a:effectLst/>
                <a:latin typeface="Segoe UI" panose="020B0502040204020203" pitchFamily="34" charset="0"/>
              </a:rPr>
              <a:t>Power Apps is a suite of apps, services, and connectors, as well as a data platform, that provides a rapid development environment to build custom apps for your business needs.</a:t>
            </a:r>
            <a:endParaRPr lang="en-CA"/>
          </a:p>
          <a:p>
            <a:pPr marL="228600" lvl="0" indent="-228600">
              <a:buFont typeface="+mj-lt"/>
              <a:buAutoNum type="arabicPeriod"/>
            </a:pPr>
            <a:endParaRPr lang="en-CA"/>
          </a:p>
          <a:p>
            <a:pPr marL="228600" lvl="0" indent="-228600">
              <a:buFont typeface="+mj-lt"/>
              <a:buAutoNum type="arabicPeriod"/>
            </a:pPr>
            <a:r>
              <a:rPr lang="en-CA"/>
              <a:t>Other services that are part of Power Platform</a:t>
            </a:r>
          </a:p>
          <a:p>
            <a:pPr marL="685800" lvl="1" indent="-228600">
              <a:buFont typeface="+mj-lt"/>
              <a:buAutoNum type="alphaLcParenR"/>
            </a:pPr>
            <a:r>
              <a:rPr lang="en-CA"/>
              <a:t>Power Pages</a:t>
            </a:r>
          </a:p>
          <a:p>
            <a:pPr marL="1143000" lvl="2" indent="-228600">
              <a:buFont typeface="Arial" panose="020B0604020202020204" pitchFamily="34" charset="0"/>
              <a:buChar char="•"/>
            </a:pPr>
            <a:r>
              <a:rPr lang="en-CA" b="0" i="0">
                <a:solidFill>
                  <a:srgbClr val="E6E6E6"/>
                </a:solidFill>
                <a:effectLst/>
                <a:latin typeface="Segoe UI" panose="020B0502040204020203" pitchFamily="34" charset="0"/>
              </a:rPr>
              <a:t>Microsoft Power Pages is a secure, enterprise-grade, low-code software as a service (SaaS) platform for creating, hosting, and administering modern external-facing business websites.</a:t>
            </a:r>
            <a:endParaRPr lang="en-CA"/>
          </a:p>
          <a:p>
            <a:pPr marL="685800" lvl="1" indent="-228600">
              <a:buFont typeface="+mj-lt"/>
              <a:buAutoNum type="alphaLcParenR"/>
            </a:pPr>
            <a:r>
              <a:rPr lang="en-CA"/>
              <a:t>Power BI</a:t>
            </a:r>
          </a:p>
          <a:p>
            <a:pPr marL="1143000" lvl="2" indent="-228600">
              <a:buFont typeface="Arial" panose="020B0604020202020204" pitchFamily="34" charset="0"/>
              <a:buChar char="•"/>
            </a:pPr>
            <a:r>
              <a:rPr lang="en-CA" b="0" i="0">
                <a:solidFill>
                  <a:srgbClr val="E6E6E6"/>
                </a:solidFill>
                <a:effectLst/>
                <a:latin typeface="Segoe UI" panose="020B0502040204020203" pitchFamily="34" charset="0"/>
              </a:rPr>
              <a:t>Power BI is a collection of software services, apps, and connectors that work together to turn your unrelated sources of data into coherent, visually immersive, and interactive insights.</a:t>
            </a:r>
          </a:p>
        </p:txBody>
      </p:sp>
      <p:sp>
        <p:nvSpPr>
          <p:cNvPr id="4" name="Slide Number Placeholder 3">
            <a:extLst>
              <a:ext uri="{FF2B5EF4-FFF2-40B4-BE49-F238E27FC236}">
                <a16:creationId xmlns:a16="http://schemas.microsoft.com/office/drawing/2014/main" id="{F0837700-DA04-56E3-2BA0-5CA781F92C94}"/>
              </a:ext>
            </a:extLst>
          </p:cNvPr>
          <p:cNvSpPr>
            <a:spLocks noGrp="1"/>
          </p:cNvSpPr>
          <p:nvPr>
            <p:ph type="sldNum" sz="quarter" idx="5"/>
          </p:nvPr>
        </p:nvSpPr>
        <p:spPr/>
        <p:txBody>
          <a:bodyPr/>
          <a:lstStyle/>
          <a:p>
            <a:fld id="{F4FF92F8-F41D-4B1F-8630-58A3D1386D65}" type="slidenum">
              <a:rPr lang="en-CA" smtClean="0"/>
              <a:t>4</a:t>
            </a:fld>
            <a:endParaRPr lang="en-CA"/>
          </a:p>
        </p:txBody>
      </p:sp>
    </p:spTree>
    <p:extLst>
      <p:ext uri="{BB962C8B-B14F-4D97-AF65-F5344CB8AC3E}">
        <p14:creationId xmlns:p14="http://schemas.microsoft.com/office/powerpoint/2010/main" val="2738024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CA" dirty="0"/>
              <a:t>2018</a:t>
            </a:r>
          </a:p>
          <a:p>
            <a:pPr marL="685800" lvl="1" indent="-228600">
              <a:buFont typeface="Arial" panose="020B0604020202020204" pitchFamily="34" charset="0"/>
              <a:buChar char="•"/>
            </a:pPr>
            <a:r>
              <a:rPr lang="en-CA" dirty="0"/>
              <a:t>Journey started, first apps and flows were created</a:t>
            </a:r>
          </a:p>
          <a:p>
            <a:pPr marL="228600" indent="-228600">
              <a:buFont typeface="+mj-lt"/>
              <a:buAutoNum type="arabicPeriod"/>
            </a:pPr>
            <a:r>
              <a:rPr lang="en-CA" dirty="0"/>
              <a:t>2022</a:t>
            </a:r>
          </a:p>
          <a:p>
            <a:pPr marL="685800" lvl="1" indent="-228600">
              <a:buFont typeface="Arial" panose="020B0604020202020204" pitchFamily="34" charset="0"/>
              <a:buChar char="•"/>
            </a:pPr>
            <a:r>
              <a:rPr lang="en-CA" dirty="0"/>
              <a:t>We passed 1,000 apps and 3,000 flows in our tenant, showing adoption</a:t>
            </a:r>
          </a:p>
          <a:p>
            <a:pPr marL="228600" indent="-228600">
              <a:buFont typeface="+mj-lt"/>
              <a:buAutoNum type="arabicPeriod"/>
            </a:pPr>
            <a:r>
              <a:rPr lang="en-CA" dirty="0"/>
              <a:t>2023</a:t>
            </a:r>
          </a:p>
          <a:p>
            <a:pPr marL="685800" lvl="1" indent="-228600">
              <a:buFont typeface="Arial" panose="020B0604020202020204" pitchFamily="34" charset="0"/>
              <a:buChar char="•"/>
            </a:pPr>
            <a:r>
              <a:rPr lang="en-CA" dirty="0"/>
              <a:t>Worked with the Canada Operations team (formerly GC Business Ops) in building out their Power Apps/Automate solutions in response to the PSHCP rollout. These solutions drastically reduced wait times for callers, improved responsiveness to critical inquiries, and save the company ~$20M annually (according to former leader Errol Funk).</a:t>
            </a:r>
          </a:p>
          <a:p>
            <a:pPr marL="228600" lvl="0" indent="-228600">
              <a:buFont typeface="+mj-lt"/>
              <a:buAutoNum type="arabicPeriod"/>
            </a:pPr>
            <a:r>
              <a:rPr lang="en-CA" dirty="0"/>
              <a:t>2024-2025</a:t>
            </a:r>
          </a:p>
          <a:p>
            <a:pPr marL="685800" lvl="1" indent="-228600">
              <a:buFont typeface="Arial" panose="020B0604020202020204" pitchFamily="34" charset="0"/>
              <a:buChar char="•"/>
            </a:pPr>
            <a:r>
              <a:rPr lang="en-CA" dirty="0"/>
              <a:t>Worked with </a:t>
            </a:r>
            <a:r>
              <a:rPr lang="en-CA" dirty="0" err="1"/>
              <a:t>OnX</a:t>
            </a:r>
            <a:r>
              <a:rPr lang="en-CA" dirty="0"/>
              <a:t> (external consultant) and Microsoft on a formal assessment of our Power Platform current state to determine risks, usage, and the best path forward.</a:t>
            </a:r>
          </a:p>
          <a:p>
            <a:pPr marL="228600" lvl="0" indent="-228600">
              <a:buFont typeface="+mj-lt"/>
              <a:buAutoNum type="arabicPeriod"/>
            </a:pPr>
            <a:r>
              <a:rPr lang="en-CA" dirty="0"/>
              <a:t>Today</a:t>
            </a:r>
          </a:p>
          <a:p>
            <a:pPr marL="685800" lvl="1" indent="-228600">
              <a:buFont typeface="Arial" panose="020B0604020202020204" pitchFamily="34" charset="0"/>
              <a:buChar char="•"/>
            </a:pPr>
            <a:r>
              <a:rPr lang="en-CA" dirty="0"/>
              <a:t>We arrive at today, with over 11000 apps/flows and a defined roadmap of where we need to go from here, to address risks and mature our Power Platform offering at Canada Life.</a:t>
            </a:r>
          </a:p>
        </p:txBody>
      </p:sp>
      <p:sp>
        <p:nvSpPr>
          <p:cNvPr id="4" name="Slide Number Placeholder 3"/>
          <p:cNvSpPr>
            <a:spLocks noGrp="1"/>
          </p:cNvSpPr>
          <p:nvPr>
            <p:ph type="sldNum" sz="quarter" idx="5"/>
          </p:nvPr>
        </p:nvSpPr>
        <p:spPr/>
        <p:txBody>
          <a:bodyPr/>
          <a:lstStyle/>
          <a:p>
            <a:fld id="{F4FF92F8-F41D-4B1F-8630-58A3D1386D65}" type="slidenum">
              <a:rPr lang="en-CA" smtClean="0"/>
              <a:t>5</a:t>
            </a:fld>
            <a:endParaRPr lang="en-CA"/>
          </a:p>
        </p:txBody>
      </p:sp>
    </p:spTree>
    <p:extLst>
      <p:ext uri="{BB962C8B-B14F-4D97-AF65-F5344CB8AC3E}">
        <p14:creationId xmlns:p14="http://schemas.microsoft.com/office/powerpoint/2010/main" val="3175411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CA" dirty="0"/>
              <a:t>Good amount of adoption since 2018, with development really ballooning recently. Over 60% of all flows and apps were created in the last 2 years.</a:t>
            </a:r>
          </a:p>
          <a:p>
            <a:pPr marL="228600" indent="-228600">
              <a:buAutoNum type="arabicPeriod"/>
            </a:pPr>
            <a:r>
              <a:rPr lang="en-CA" dirty="0"/>
              <a:t>Based on apps and flows already created this year, we are projecting nearly 4000 new apps/flows will be created in 2025.</a:t>
            </a:r>
          </a:p>
          <a:p>
            <a:pPr marL="228600" indent="-228600">
              <a:buAutoNum type="arabicPeriod"/>
            </a:pPr>
            <a:r>
              <a:rPr lang="en-CA" dirty="0"/>
              <a:t>In addition to development, we are also seeing a significant increase in employee usage of Power Apps. In 2024, &gt;50% of all employees were using Power Apps at Canada Life.</a:t>
            </a:r>
          </a:p>
        </p:txBody>
      </p:sp>
      <p:sp>
        <p:nvSpPr>
          <p:cNvPr id="4" name="Slide Number Placeholder 3"/>
          <p:cNvSpPr>
            <a:spLocks noGrp="1"/>
          </p:cNvSpPr>
          <p:nvPr>
            <p:ph type="sldNum" sz="quarter" idx="5"/>
          </p:nvPr>
        </p:nvSpPr>
        <p:spPr/>
        <p:txBody>
          <a:bodyPr/>
          <a:lstStyle/>
          <a:p>
            <a:fld id="{F4FF92F8-F41D-4B1F-8630-58A3D1386D65}" type="slidenum">
              <a:rPr lang="en-CA" smtClean="0"/>
              <a:t>6</a:t>
            </a:fld>
            <a:endParaRPr lang="en-CA"/>
          </a:p>
        </p:txBody>
      </p:sp>
    </p:spTree>
    <p:extLst>
      <p:ext uri="{BB962C8B-B14F-4D97-AF65-F5344CB8AC3E}">
        <p14:creationId xmlns:p14="http://schemas.microsoft.com/office/powerpoint/2010/main" val="786540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CA" dirty="0"/>
              <a:t>We’ll go through some of the more significant risks, as well as the features or steps required to address them.</a:t>
            </a:r>
            <a:endParaRPr lang="en-CA" b="0" dirty="0"/>
          </a:p>
          <a:p>
            <a:pPr marL="228600" indent="-228600">
              <a:buFont typeface="+mj-lt"/>
              <a:buAutoNum type="arabicPeriod"/>
            </a:pPr>
            <a:r>
              <a:rPr lang="en-CA" b="1" dirty="0"/>
              <a:t>Access Security</a:t>
            </a:r>
            <a:r>
              <a:rPr lang="en-CA" b="0" dirty="0"/>
              <a:t> includes network and access vulnerabilities</a:t>
            </a:r>
          </a:p>
          <a:p>
            <a:pPr marL="685800" lvl="1" indent="-228600">
              <a:buFont typeface="+mj-lt"/>
              <a:buAutoNum type="alphaLcParenR"/>
            </a:pPr>
            <a:r>
              <a:rPr lang="en-CA" b="0" dirty="0"/>
              <a:t>Token replay attacks</a:t>
            </a:r>
          </a:p>
          <a:p>
            <a:pPr marL="1143000" lvl="2" indent="-228600">
              <a:buFont typeface="Arial" panose="020B0604020202020204" pitchFamily="34" charset="0"/>
              <a:buChar char="•"/>
            </a:pPr>
            <a:r>
              <a:rPr lang="en-CA" b="0" i="0" dirty="0">
                <a:solidFill>
                  <a:srgbClr val="E6E6E6"/>
                </a:solidFill>
                <a:effectLst/>
                <a:latin typeface="Segoe UI" panose="020B0502040204020203" pitchFamily="34" charset="0"/>
              </a:rPr>
              <a:t> A malicious user who tries to download data from Dataverse using a client tool like Excel or Power BI from a disallowed IP location.</a:t>
            </a:r>
            <a:endParaRPr lang="en-CA" b="0" dirty="0"/>
          </a:p>
          <a:p>
            <a:pPr marL="685800" lvl="1" indent="-228600">
              <a:buFont typeface="+mj-lt"/>
              <a:buAutoNum type="alphaLcParenR"/>
            </a:pPr>
            <a:r>
              <a:rPr lang="en-CA" b="0" dirty="0"/>
              <a:t>Dataverse session hijacking</a:t>
            </a:r>
          </a:p>
          <a:p>
            <a:pPr marL="1143000" lvl="2" indent="-228600">
              <a:buFont typeface="Arial" panose="020B0604020202020204" pitchFamily="34" charset="0"/>
              <a:buChar char="•"/>
            </a:pPr>
            <a:r>
              <a:rPr lang="en-CA" b="0" i="0" dirty="0">
                <a:solidFill>
                  <a:srgbClr val="E6E6E6"/>
                </a:solidFill>
                <a:effectLst/>
                <a:latin typeface="Segoe UI" panose="020B0502040204020203" pitchFamily="34" charset="0"/>
              </a:rPr>
              <a:t>Malicious user copies a valid session cookie from an authorized computer.</a:t>
            </a:r>
            <a:endParaRPr lang="en-CA" b="0" dirty="0"/>
          </a:p>
          <a:p>
            <a:pPr marL="685800" lvl="1" indent="-228600">
              <a:buFont typeface="+mj-lt"/>
              <a:buAutoNum type="alphaLcParenR"/>
            </a:pPr>
            <a:r>
              <a:rPr lang="en-CA" b="0" dirty="0"/>
              <a:t>Access from unsecure locations</a:t>
            </a:r>
          </a:p>
          <a:p>
            <a:pPr marL="1143000" lvl="2" indent="-228600">
              <a:buFont typeface="Arial" panose="020B0604020202020204" pitchFamily="34" charset="0"/>
              <a:buChar char="•"/>
            </a:pPr>
            <a:r>
              <a:rPr lang="en-CA" b="0" dirty="0"/>
              <a:t>Only allow trusted IP ranges or locations.</a:t>
            </a:r>
          </a:p>
          <a:p>
            <a:pPr marL="228600" indent="-228600">
              <a:buFont typeface="+mj-lt"/>
              <a:buAutoNum type="arabicPeriod"/>
            </a:pPr>
            <a:r>
              <a:rPr lang="en-CA" b="1" dirty="0"/>
              <a:t>Data Security</a:t>
            </a:r>
            <a:endParaRPr lang="en-CA" b="0" dirty="0"/>
          </a:p>
          <a:p>
            <a:pPr marL="685800" lvl="1" indent="-228600">
              <a:buFont typeface="+mj-lt"/>
              <a:buAutoNum type="alphaLcParenR"/>
            </a:pPr>
            <a:r>
              <a:rPr lang="en-CA" b="0" dirty="0"/>
              <a:t>Data leakage</a:t>
            </a:r>
          </a:p>
          <a:p>
            <a:pPr marL="1143000" lvl="2" indent="-228600">
              <a:buFont typeface="Arial" panose="020B0604020202020204" pitchFamily="34" charset="0"/>
              <a:buChar char="•"/>
            </a:pPr>
            <a:r>
              <a:rPr lang="en-CA" b="0" i="0" dirty="0">
                <a:solidFill>
                  <a:srgbClr val="E6E6E6"/>
                </a:solidFill>
                <a:effectLst/>
                <a:latin typeface="Segoe UI" panose="020B0502040204020203" pitchFamily="34" charset="0"/>
              </a:rPr>
              <a:t> A malicious user who tries to download data from Dataverse using a client tool like Excel or Power BI from a disallowed IP location</a:t>
            </a:r>
            <a:endParaRPr lang="en-CA" b="0" dirty="0"/>
          </a:p>
          <a:p>
            <a:pPr marL="685800" lvl="1" indent="-228600">
              <a:buFont typeface="+mj-lt"/>
              <a:buAutoNum type="alphaLcParenR"/>
            </a:pPr>
            <a:r>
              <a:rPr lang="en-CA" b="0" dirty="0"/>
              <a:t>Data exfiltration</a:t>
            </a:r>
          </a:p>
          <a:p>
            <a:pPr marL="1143000" lvl="2" indent="-228600">
              <a:buFont typeface="Arial" panose="020B0604020202020204" pitchFamily="34" charset="0"/>
              <a:buChar char="•"/>
            </a:pPr>
            <a:r>
              <a:rPr lang="en-CA" b="0" i="0" dirty="0">
                <a:solidFill>
                  <a:srgbClr val="E6E6E6"/>
                </a:solidFill>
                <a:effectLst/>
                <a:latin typeface="Segoe UI" panose="020B0502040204020203" pitchFamily="34" charset="0"/>
              </a:rPr>
              <a:t>Malicious user copies a valid session cookie from an authorized computer</a:t>
            </a:r>
          </a:p>
          <a:p>
            <a:pPr marL="228600" lvl="0" indent="-228600">
              <a:buFont typeface="Arial" panose="020B0604020202020204" pitchFamily="34" charset="0"/>
              <a:buChar char="•"/>
            </a:pPr>
            <a:endParaRPr lang="en-CA" b="0" dirty="0"/>
          </a:p>
        </p:txBody>
      </p:sp>
      <p:sp>
        <p:nvSpPr>
          <p:cNvPr id="4" name="Slide Number Placeholder 3"/>
          <p:cNvSpPr>
            <a:spLocks noGrp="1"/>
          </p:cNvSpPr>
          <p:nvPr>
            <p:ph type="sldNum" sz="quarter" idx="5"/>
          </p:nvPr>
        </p:nvSpPr>
        <p:spPr/>
        <p:txBody>
          <a:bodyPr/>
          <a:lstStyle/>
          <a:p>
            <a:fld id="{F4FF92F8-F41D-4B1F-8630-58A3D1386D65}" type="slidenum">
              <a:rPr lang="en-CA" smtClean="0"/>
              <a:t>7</a:t>
            </a:fld>
            <a:endParaRPr lang="en-CA"/>
          </a:p>
        </p:txBody>
      </p:sp>
    </p:spTree>
    <p:extLst>
      <p:ext uri="{BB962C8B-B14F-4D97-AF65-F5344CB8AC3E}">
        <p14:creationId xmlns:p14="http://schemas.microsoft.com/office/powerpoint/2010/main" val="1293836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4FF92F8-F41D-4B1F-8630-58A3D1386D65}" type="slidenum">
              <a:rPr lang="en-CA" smtClean="0"/>
              <a:t>13</a:t>
            </a:fld>
            <a:endParaRPr lang="en-CA"/>
          </a:p>
        </p:txBody>
      </p:sp>
    </p:spTree>
    <p:extLst>
      <p:ext uri="{BB962C8B-B14F-4D97-AF65-F5344CB8AC3E}">
        <p14:creationId xmlns:p14="http://schemas.microsoft.com/office/powerpoint/2010/main" val="1114519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88F30-B265-B4EA-A35F-69F9C8A5C5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F5872-4238-B01D-AC35-2F9D4FC6CD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107B8B-DA46-E2FF-0666-F688066F24D9}"/>
              </a:ext>
            </a:extLst>
          </p:cNvPr>
          <p:cNvSpPr>
            <a:spLocks noGrp="1"/>
          </p:cNvSpPr>
          <p:nvPr>
            <p:ph type="body" idx="1"/>
          </p:nvPr>
        </p:nvSpPr>
        <p:spPr/>
        <p:txBody>
          <a:bodyPr/>
          <a:lstStyle/>
          <a:p>
            <a:pPr marL="171450" indent="-171450">
              <a:buFontTx/>
              <a:buChar char="-"/>
            </a:pPr>
            <a:r>
              <a:rPr lang="en-CA" dirty="0"/>
              <a:t>Roadmap of main items by priority</a:t>
            </a:r>
          </a:p>
          <a:p>
            <a:pPr marL="171450" indent="-171450">
              <a:buFontTx/>
              <a:buChar char="-"/>
            </a:pPr>
            <a:r>
              <a:rPr lang="en-CA" dirty="0"/>
              <a:t>Organized by quarter</a:t>
            </a:r>
          </a:p>
          <a:p>
            <a:pPr marL="171450" indent="-171450">
              <a:buFontTx/>
              <a:buChar char="-"/>
            </a:pPr>
            <a:r>
              <a:rPr lang="en-CA" dirty="0"/>
              <a:t>Managed req &amp; PSHCP req</a:t>
            </a:r>
          </a:p>
          <a:p>
            <a:pPr marL="171450" indent="-171450">
              <a:buFontTx/>
              <a:buChar char="-"/>
            </a:pPr>
            <a:r>
              <a:rPr lang="en-CA" dirty="0"/>
              <a:t>Review Highest &amp; High next</a:t>
            </a:r>
          </a:p>
        </p:txBody>
      </p:sp>
      <p:sp>
        <p:nvSpPr>
          <p:cNvPr id="4" name="Slide Number Placeholder 3">
            <a:extLst>
              <a:ext uri="{FF2B5EF4-FFF2-40B4-BE49-F238E27FC236}">
                <a16:creationId xmlns:a16="http://schemas.microsoft.com/office/drawing/2014/main" id="{C59C95A4-D621-FB03-D1F9-9A01F668ECF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D366C-F7C0-4561-8F9E-52FC5EED8A90}"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60387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78F88-C886-3031-CBE9-72D3F08E9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819E7-89B9-986D-1D64-6E7B92FC1F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451E04-6E06-6D2F-EADD-A54B8FA221D9}"/>
              </a:ext>
            </a:extLst>
          </p:cNvPr>
          <p:cNvSpPr>
            <a:spLocks noGrp="1"/>
          </p:cNvSpPr>
          <p:nvPr>
            <p:ph type="body" idx="1"/>
          </p:nvPr>
        </p:nvSpPr>
        <p:spPr/>
        <p:txBody>
          <a:bodyPr/>
          <a:lstStyle/>
          <a:p>
            <a:pPr marL="171450" indent="-171450">
              <a:buFontTx/>
              <a:buChar char="-"/>
            </a:pPr>
            <a:endParaRPr lang="en-CA"/>
          </a:p>
        </p:txBody>
      </p:sp>
      <p:sp>
        <p:nvSpPr>
          <p:cNvPr id="4" name="Slide Number Placeholder 3">
            <a:extLst>
              <a:ext uri="{FF2B5EF4-FFF2-40B4-BE49-F238E27FC236}">
                <a16:creationId xmlns:a16="http://schemas.microsoft.com/office/drawing/2014/main" id="{EFE67698-9373-1CAF-9DF1-CF6DD07B89A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D366C-F7C0-4561-8F9E-52FC5EED8A90}"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30711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8AB4E-E3D1-8AD0-568A-1454957B2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0BD1A2-8037-C6AE-7CC9-54CAD201E6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969530-AA73-1A24-21FB-0940BACCDDF4}"/>
              </a:ext>
            </a:extLst>
          </p:cNvPr>
          <p:cNvSpPr>
            <a:spLocks noGrp="1"/>
          </p:cNvSpPr>
          <p:nvPr>
            <p:ph type="body" idx="1"/>
          </p:nvPr>
        </p:nvSpPr>
        <p:spPr/>
        <p:txBody>
          <a:bodyPr/>
          <a:lstStyle/>
          <a:p>
            <a:pPr marL="171450" indent="-171450">
              <a:buFontTx/>
              <a:buChar char="-"/>
            </a:pPr>
            <a:endParaRPr lang="en-CA"/>
          </a:p>
        </p:txBody>
      </p:sp>
      <p:sp>
        <p:nvSpPr>
          <p:cNvPr id="4" name="Slide Number Placeholder 3">
            <a:extLst>
              <a:ext uri="{FF2B5EF4-FFF2-40B4-BE49-F238E27FC236}">
                <a16:creationId xmlns:a16="http://schemas.microsoft.com/office/drawing/2014/main" id="{A0C96EAC-7D76-5A22-BEFB-29964D1E33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D366C-F7C0-4561-8F9E-52FC5EED8A90}"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06819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0CB01-97FE-656A-033D-21B01D2DB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A4D809-3191-2204-5925-4E9FDD472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AB294B-DCA9-48B3-A444-36F86B933EAE}"/>
              </a:ext>
            </a:extLst>
          </p:cNvPr>
          <p:cNvSpPr>
            <a:spLocks noGrp="1"/>
          </p:cNvSpPr>
          <p:nvPr>
            <p:ph type="body" idx="1"/>
          </p:nvPr>
        </p:nvSpPr>
        <p:spPr/>
        <p:txBody>
          <a:bodyPr/>
          <a:lstStyle/>
          <a:p>
            <a:pPr marL="171450" indent="-171450">
              <a:buFontTx/>
              <a:buChar char="-"/>
            </a:pPr>
            <a:endParaRPr lang="en-CA"/>
          </a:p>
        </p:txBody>
      </p:sp>
      <p:sp>
        <p:nvSpPr>
          <p:cNvPr id="4" name="Slide Number Placeholder 3">
            <a:extLst>
              <a:ext uri="{FF2B5EF4-FFF2-40B4-BE49-F238E27FC236}">
                <a16:creationId xmlns:a16="http://schemas.microsoft.com/office/drawing/2014/main" id="{E16B30E9-C7C2-5114-5BD7-C2BE2B4B7C2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D366C-F7C0-4561-8F9E-52FC5EED8A90}"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8320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59FF2-E303-1F6F-A0CA-E9782BA6AC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0ABC5-EA39-E4CF-3230-8A8EF19E6D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1C69E5-B30C-163E-2222-1AE7E166CE6A}"/>
              </a:ext>
            </a:extLst>
          </p:cNvPr>
          <p:cNvSpPr>
            <a:spLocks noGrp="1"/>
          </p:cNvSpPr>
          <p:nvPr>
            <p:ph type="body" idx="1"/>
          </p:nvPr>
        </p:nvSpPr>
        <p:spPr/>
        <p:txBody>
          <a:bodyPr/>
          <a:lstStyle/>
          <a:p>
            <a:pPr marL="171450" indent="-171450">
              <a:buFontTx/>
              <a:buChar char="-"/>
            </a:pPr>
            <a:endParaRPr lang="en-CA"/>
          </a:p>
        </p:txBody>
      </p:sp>
      <p:sp>
        <p:nvSpPr>
          <p:cNvPr id="4" name="Slide Number Placeholder 3">
            <a:extLst>
              <a:ext uri="{FF2B5EF4-FFF2-40B4-BE49-F238E27FC236}">
                <a16:creationId xmlns:a16="http://schemas.microsoft.com/office/drawing/2014/main" id="{EB9A0673-9B5A-B7B7-5411-B5B5C82766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D366C-F7C0-4561-8F9E-52FC5EED8A90}"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52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E6A04-EC58-F944-1435-739FC2383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F7F282-108C-A677-6056-8DC5ED0F84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FB5EE1-F3AC-C973-7443-F994841A073B}"/>
              </a:ext>
            </a:extLst>
          </p:cNvPr>
          <p:cNvSpPr>
            <a:spLocks noGrp="1"/>
          </p:cNvSpPr>
          <p:nvPr>
            <p:ph type="body" idx="1"/>
          </p:nvPr>
        </p:nvSpPr>
        <p:spPr/>
        <p:txBody>
          <a:bodyPr/>
          <a:lstStyle/>
          <a:p>
            <a:pPr marL="171450" indent="-171450">
              <a:buFontTx/>
              <a:buChar char="-"/>
            </a:pPr>
            <a:endParaRPr lang="en-CA"/>
          </a:p>
        </p:txBody>
      </p:sp>
      <p:sp>
        <p:nvSpPr>
          <p:cNvPr id="4" name="Slide Number Placeholder 3">
            <a:extLst>
              <a:ext uri="{FF2B5EF4-FFF2-40B4-BE49-F238E27FC236}">
                <a16:creationId xmlns:a16="http://schemas.microsoft.com/office/drawing/2014/main" id="{CDD3ADC5-A295-8B28-E308-D1124FED39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D366C-F7C0-4561-8F9E-52FC5EED8A90}"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35717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E36B6-FFE3-4DE7-A79B-C7DF77E061C8}"/>
              </a:ext>
            </a:extLst>
          </p:cNvPr>
          <p:cNvSpPr>
            <a:spLocks noGrp="1"/>
          </p:cNvSpPr>
          <p:nvPr>
            <p:ph type="ctrTitle"/>
          </p:nvPr>
        </p:nvSpPr>
        <p:spPr>
          <a:xfrm>
            <a:off x="384048" y="2715768"/>
            <a:ext cx="11430000" cy="2286000"/>
          </a:xfrm>
        </p:spPr>
        <p:txBody>
          <a:bodyPr anchor="t">
            <a:normAutofit/>
          </a:bodyPr>
          <a:lstStyle>
            <a:lvl1pPr algn="l">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8716669B-BD66-4AFB-9C56-B2FE309E9FE8}"/>
              </a:ext>
            </a:extLst>
          </p:cNvPr>
          <p:cNvSpPr>
            <a:spLocks noGrp="1"/>
          </p:cNvSpPr>
          <p:nvPr>
            <p:ph type="subTitle" idx="1"/>
          </p:nvPr>
        </p:nvSpPr>
        <p:spPr>
          <a:xfrm>
            <a:off x="384048" y="4983480"/>
            <a:ext cx="11430000" cy="70014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a:extLst>
              <a:ext uri="{FF2B5EF4-FFF2-40B4-BE49-F238E27FC236}">
                <a16:creationId xmlns:a16="http://schemas.microsoft.com/office/drawing/2014/main" id="{FAC0F52C-81EE-426E-A6DD-0C8B7B101834}"/>
              </a:ext>
            </a:extLst>
          </p:cNvPr>
          <p:cNvSpPr>
            <a:spLocks noGrp="1" noChangeAspect="1"/>
          </p:cNvSpPr>
          <p:nvPr>
            <p:ph type="dt" sz="half" idx="10"/>
          </p:nvPr>
        </p:nvSpPr>
        <p:spPr>
          <a:xfrm>
            <a:off x="384048" y="0"/>
            <a:ext cx="1371600" cy="1371600"/>
          </a:xfrm>
          <a:solidFill>
            <a:schemeClr val="tx2"/>
          </a:solidFill>
        </p:spPr>
        <p:txBody>
          <a:bodyPr lIns="91440" tIns="91440" rIns="91440" bIns="91440"/>
          <a:lstStyle>
            <a:lvl1pPr algn="ctr">
              <a:defRPr>
                <a:solidFill>
                  <a:schemeClr val="bg1"/>
                </a:solidFill>
              </a:defRPr>
            </a:lvl1pPr>
          </a:lstStyle>
          <a:p>
            <a:fld id="{B03DC8D7-AC00-4073-B57F-D303D46BE1CD}" type="datetime4">
              <a:rPr lang="en-US" smtClean="0"/>
              <a:t>July 29, 2026</a:t>
            </a:fld>
            <a:endParaRPr lang="en-US"/>
          </a:p>
        </p:txBody>
      </p:sp>
    </p:spTree>
    <p:extLst>
      <p:ext uri="{BB962C8B-B14F-4D97-AF65-F5344CB8AC3E}">
        <p14:creationId xmlns:p14="http://schemas.microsoft.com/office/powerpoint/2010/main" val="129736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E36B6-FFE3-4DE7-A79B-C7DF77E061C8}"/>
              </a:ext>
            </a:extLst>
          </p:cNvPr>
          <p:cNvSpPr>
            <a:spLocks noGrp="1"/>
          </p:cNvSpPr>
          <p:nvPr>
            <p:ph type="ctrTitle"/>
          </p:nvPr>
        </p:nvSpPr>
        <p:spPr>
          <a:xfrm>
            <a:off x="1967753" y="2501439"/>
            <a:ext cx="4128248" cy="2286000"/>
          </a:xfrm>
        </p:spPr>
        <p:txBody>
          <a:bodyPr anchor="b">
            <a:normAutofit/>
          </a:bodyPr>
          <a:lstStyle>
            <a:lvl1pPr algn="l">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8716669B-BD66-4AFB-9C56-B2FE309E9FE8}"/>
              </a:ext>
            </a:extLst>
          </p:cNvPr>
          <p:cNvSpPr>
            <a:spLocks noGrp="1"/>
          </p:cNvSpPr>
          <p:nvPr>
            <p:ph type="subTitle" idx="1"/>
          </p:nvPr>
        </p:nvSpPr>
        <p:spPr>
          <a:xfrm>
            <a:off x="1967753" y="4983480"/>
            <a:ext cx="4128248" cy="70014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a:extLst>
              <a:ext uri="{FF2B5EF4-FFF2-40B4-BE49-F238E27FC236}">
                <a16:creationId xmlns:a16="http://schemas.microsoft.com/office/drawing/2014/main" id="{FAC0F52C-81EE-426E-A6DD-0C8B7B101834}"/>
              </a:ext>
            </a:extLst>
          </p:cNvPr>
          <p:cNvSpPr>
            <a:spLocks noGrp="1" noChangeAspect="1"/>
          </p:cNvSpPr>
          <p:nvPr>
            <p:ph type="dt" sz="half" idx="10"/>
          </p:nvPr>
        </p:nvSpPr>
        <p:spPr>
          <a:xfrm>
            <a:off x="384048" y="0"/>
            <a:ext cx="1371600" cy="1371600"/>
          </a:xfrm>
          <a:solidFill>
            <a:schemeClr val="tx2"/>
          </a:solidFill>
        </p:spPr>
        <p:txBody>
          <a:bodyPr lIns="91440" tIns="91440" rIns="91440" bIns="91440"/>
          <a:lstStyle>
            <a:lvl1pPr algn="ctr">
              <a:defRPr>
                <a:solidFill>
                  <a:schemeClr val="bg1"/>
                </a:solidFill>
              </a:defRPr>
            </a:lvl1pPr>
          </a:lstStyle>
          <a:p>
            <a:fld id="{169AEAC8-9CEB-40FF-85B5-D6BD95EA7CC2}" type="datetime4">
              <a:rPr lang="en-US" smtClean="0"/>
              <a:t>July 29, 2026</a:t>
            </a:fld>
            <a:endParaRPr lang="en-US"/>
          </a:p>
        </p:txBody>
      </p:sp>
    </p:spTree>
    <p:extLst>
      <p:ext uri="{BB962C8B-B14F-4D97-AF65-F5344CB8AC3E}">
        <p14:creationId xmlns:p14="http://schemas.microsoft.com/office/powerpoint/2010/main" val="1503820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with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D008935-A73A-4449-92D6-12BCF20AEC9B}"/>
              </a:ext>
            </a:extLst>
          </p:cNvPr>
          <p:cNvSpPr>
            <a:spLocks noGrp="1" noChangeAspect="1"/>
          </p:cNvSpPr>
          <p:nvPr>
            <p:ph type="pic" sz="quarter" idx="10"/>
          </p:nvPr>
        </p:nvSpPr>
        <p:spPr>
          <a:xfrm>
            <a:off x="1755648" y="1371600"/>
            <a:ext cx="4538790" cy="4537424"/>
          </a:xfrm>
          <a:solidFill>
            <a:schemeClr val="bg2"/>
          </a:solidFill>
        </p:spPr>
        <p:txBody>
          <a:bodyPr anchor="ctr"/>
          <a:lstStyle>
            <a:lvl1pPr algn="ctr">
              <a:defRPr/>
            </a:lvl1pPr>
          </a:lstStyle>
          <a:p>
            <a:r>
              <a:rPr lang="en-US"/>
              <a:t>Click icon to add picture</a:t>
            </a:r>
          </a:p>
        </p:txBody>
      </p:sp>
      <p:sp>
        <p:nvSpPr>
          <p:cNvPr id="2" name="Title 1">
            <a:extLst>
              <a:ext uri="{FF2B5EF4-FFF2-40B4-BE49-F238E27FC236}">
                <a16:creationId xmlns:a16="http://schemas.microsoft.com/office/drawing/2014/main" id="{6F9E36B6-FFE3-4DE7-A79B-C7DF77E061C8}"/>
              </a:ext>
            </a:extLst>
          </p:cNvPr>
          <p:cNvSpPr>
            <a:spLocks noGrp="1"/>
          </p:cNvSpPr>
          <p:nvPr>
            <p:ph type="ctrTitle"/>
          </p:nvPr>
        </p:nvSpPr>
        <p:spPr>
          <a:xfrm>
            <a:off x="6928374" y="2114401"/>
            <a:ext cx="5000713" cy="1813418"/>
          </a:xfrm>
        </p:spPr>
        <p:txBody>
          <a:bodyPr anchor="b">
            <a:noAutofit/>
          </a:bodyPr>
          <a:lstStyle>
            <a:lvl1pPr algn="l">
              <a:defRPr sz="4000">
                <a:solidFill>
                  <a:schemeClr val="tx2"/>
                </a:solidFill>
              </a:defRPr>
            </a:lvl1pPr>
          </a:lstStyle>
          <a:p>
            <a:r>
              <a:rPr lang="en-US"/>
              <a:t>Click to edit Master title style</a:t>
            </a:r>
          </a:p>
        </p:txBody>
      </p:sp>
      <p:sp>
        <p:nvSpPr>
          <p:cNvPr id="12" name="Subtitle 2">
            <a:extLst>
              <a:ext uri="{FF2B5EF4-FFF2-40B4-BE49-F238E27FC236}">
                <a16:creationId xmlns:a16="http://schemas.microsoft.com/office/drawing/2014/main" id="{558AE939-8E03-4C31-9D66-970A23FF82A3}"/>
              </a:ext>
            </a:extLst>
          </p:cNvPr>
          <p:cNvSpPr>
            <a:spLocks noGrp="1"/>
          </p:cNvSpPr>
          <p:nvPr>
            <p:ph type="subTitle" idx="1"/>
          </p:nvPr>
        </p:nvSpPr>
        <p:spPr>
          <a:xfrm>
            <a:off x="6928375" y="4154873"/>
            <a:ext cx="5009626" cy="70014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Date Placeholder 6">
            <a:extLst>
              <a:ext uri="{FF2B5EF4-FFF2-40B4-BE49-F238E27FC236}">
                <a16:creationId xmlns:a16="http://schemas.microsoft.com/office/drawing/2014/main" id="{FD0DC7B5-8BAB-4E77-9FE9-D37D81327091}"/>
              </a:ext>
            </a:extLst>
          </p:cNvPr>
          <p:cNvSpPr>
            <a:spLocks noGrp="1" noChangeAspect="1"/>
          </p:cNvSpPr>
          <p:nvPr>
            <p:ph type="dt" sz="half" idx="11"/>
          </p:nvPr>
        </p:nvSpPr>
        <p:spPr>
          <a:xfrm>
            <a:off x="384048" y="0"/>
            <a:ext cx="1371600" cy="1371600"/>
          </a:xfrm>
          <a:solidFill>
            <a:schemeClr val="tx2"/>
          </a:solidFill>
        </p:spPr>
        <p:txBody>
          <a:bodyPr lIns="91440" tIns="91440" rIns="91440" bIns="91440"/>
          <a:lstStyle>
            <a:lvl1pPr algn="ctr">
              <a:defRPr>
                <a:solidFill>
                  <a:schemeClr val="bg1"/>
                </a:solidFill>
              </a:defRPr>
            </a:lvl1pPr>
          </a:lstStyle>
          <a:p>
            <a:fld id="{7D16034C-1BE4-481D-93E3-DB8DD45D623A}" type="datetime4">
              <a:rPr lang="en-US" smtClean="0"/>
              <a:t>July 29, 2026</a:t>
            </a:fld>
            <a:endParaRPr lang="en-US"/>
          </a:p>
        </p:txBody>
      </p:sp>
    </p:spTree>
    <p:extLst>
      <p:ext uri="{BB962C8B-B14F-4D97-AF65-F5344CB8AC3E}">
        <p14:creationId xmlns:p14="http://schemas.microsoft.com/office/powerpoint/2010/main" val="4288071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E36B6-FFE3-4DE7-A79B-C7DF77E061C8}"/>
              </a:ext>
            </a:extLst>
          </p:cNvPr>
          <p:cNvSpPr>
            <a:spLocks noGrp="1"/>
          </p:cNvSpPr>
          <p:nvPr>
            <p:ph type="ctrTitle"/>
          </p:nvPr>
        </p:nvSpPr>
        <p:spPr>
          <a:xfrm>
            <a:off x="384048" y="2715768"/>
            <a:ext cx="11430000" cy="2286000"/>
          </a:xfrm>
        </p:spPr>
        <p:txBody>
          <a:bodyPr anchor="t">
            <a:normAutofit/>
          </a:bodyPr>
          <a:lstStyle>
            <a:lvl1pPr algn="l">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8716669B-BD66-4AFB-9C56-B2FE309E9FE8}"/>
              </a:ext>
            </a:extLst>
          </p:cNvPr>
          <p:cNvSpPr>
            <a:spLocks noGrp="1"/>
          </p:cNvSpPr>
          <p:nvPr>
            <p:ph type="subTitle" idx="1"/>
          </p:nvPr>
        </p:nvSpPr>
        <p:spPr>
          <a:xfrm>
            <a:off x="384048" y="4983480"/>
            <a:ext cx="11430000" cy="70014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a:extLst>
              <a:ext uri="{FF2B5EF4-FFF2-40B4-BE49-F238E27FC236}">
                <a16:creationId xmlns:a16="http://schemas.microsoft.com/office/drawing/2014/main" id="{FAC0F52C-81EE-426E-A6DD-0C8B7B101834}"/>
              </a:ext>
            </a:extLst>
          </p:cNvPr>
          <p:cNvSpPr>
            <a:spLocks noGrp="1" noChangeAspect="1"/>
          </p:cNvSpPr>
          <p:nvPr>
            <p:ph type="dt" sz="half" idx="10"/>
          </p:nvPr>
        </p:nvSpPr>
        <p:spPr>
          <a:xfrm>
            <a:off x="384048" y="0"/>
            <a:ext cx="1371600" cy="1371600"/>
          </a:xfrm>
          <a:solidFill>
            <a:schemeClr val="tx2"/>
          </a:solidFill>
        </p:spPr>
        <p:txBody>
          <a:bodyPr lIns="91440" tIns="91440" rIns="91440" bIns="91440"/>
          <a:lstStyle>
            <a:lvl1pPr algn="ctr">
              <a:defRPr>
                <a:solidFill>
                  <a:schemeClr val="bg1"/>
                </a:solidFill>
              </a:defRPr>
            </a:lvl1pPr>
          </a:lstStyle>
          <a:p>
            <a:fld id="{B03DC8D7-AC00-4073-B57F-D303D46BE1CD}" type="datetime4">
              <a:rPr lang="en-US" smtClean="0"/>
              <a:t>July 29, 2026</a:t>
            </a:fld>
            <a:endParaRPr lang="en-US"/>
          </a:p>
        </p:txBody>
      </p:sp>
    </p:spTree>
    <p:extLst>
      <p:ext uri="{BB962C8B-B14F-4D97-AF65-F5344CB8AC3E}">
        <p14:creationId xmlns:p14="http://schemas.microsoft.com/office/powerpoint/2010/main" val="2772579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1_Title Slide -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E36B6-FFE3-4DE7-A79B-C7DF77E061C8}"/>
              </a:ext>
            </a:extLst>
          </p:cNvPr>
          <p:cNvSpPr>
            <a:spLocks noGrp="1"/>
          </p:cNvSpPr>
          <p:nvPr>
            <p:ph type="ctrTitle"/>
          </p:nvPr>
        </p:nvSpPr>
        <p:spPr>
          <a:xfrm>
            <a:off x="1967753" y="2501439"/>
            <a:ext cx="4128248" cy="2286000"/>
          </a:xfrm>
        </p:spPr>
        <p:txBody>
          <a:bodyPr anchor="b">
            <a:normAutofit/>
          </a:bodyPr>
          <a:lstStyle>
            <a:lvl1pPr algn="l">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8716669B-BD66-4AFB-9C56-B2FE309E9FE8}"/>
              </a:ext>
            </a:extLst>
          </p:cNvPr>
          <p:cNvSpPr>
            <a:spLocks noGrp="1"/>
          </p:cNvSpPr>
          <p:nvPr>
            <p:ph type="subTitle" idx="1"/>
          </p:nvPr>
        </p:nvSpPr>
        <p:spPr>
          <a:xfrm>
            <a:off x="1967753" y="4983480"/>
            <a:ext cx="4128248" cy="70014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a:extLst>
              <a:ext uri="{FF2B5EF4-FFF2-40B4-BE49-F238E27FC236}">
                <a16:creationId xmlns:a16="http://schemas.microsoft.com/office/drawing/2014/main" id="{FAC0F52C-81EE-426E-A6DD-0C8B7B101834}"/>
              </a:ext>
            </a:extLst>
          </p:cNvPr>
          <p:cNvSpPr>
            <a:spLocks noGrp="1" noChangeAspect="1"/>
          </p:cNvSpPr>
          <p:nvPr>
            <p:ph type="dt" sz="half" idx="10"/>
          </p:nvPr>
        </p:nvSpPr>
        <p:spPr>
          <a:xfrm>
            <a:off x="384048" y="0"/>
            <a:ext cx="1371600" cy="1371600"/>
          </a:xfrm>
          <a:solidFill>
            <a:schemeClr val="tx2"/>
          </a:solidFill>
        </p:spPr>
        <p:txBody>
          <a:bodyPr lIns="91440" tIns="91440" rIns="91440" bIns="91440"/>
          <a:lstStyle>
            <a:lvl1pPr algn="ctr">
              <a:defRPr>
                <a:solidFill>
                  <a:schemeClr val="bg1"/>
                </a:solidFill>
              </a:defRPr>
            </a:lvl1pPr>
          </a:lstStyle>
          <a:p>
            <a:fld id="{169AEAC8-9CEB-40FF-85B5-D6BD95EA7CC2}" type="datetime4">
              <a:rPr lang="en-US" smtClean="0"/>
              <a:t>July 29, 2026</a:t>
            </a:fld>
            <a:endParaRPr lang="en-US"/>
          </a:p>
        </p:txBody>
      </p:sp>
    </p:spTree>
    <p:extLst>
      <p:ext uri="{BB962C8B-B14F-4D97-AF65-F5344CB8AC3E}">
        <p14:creationId xmlns:p14="http://schemas.microsoft.com/office/powerpoint/2010/main" val="950142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2_Title Slide - Statement with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D008935-A73A-4449-92D6-12BCF20AEC9B}"/>
              </a:ext>
            </a:extLst>
          </p:cNvPr>
          <p:cNvSpPr>
            <a:spLocks noGrp="1" noChangeAspect="1"/>
          </p:cNvSpPr>
          <p:nvPr>
            <p:ph type="pic" sz="quarter" idx="10"/>
          </p:nvPr>
        </p:nvSpPr>
        <p:spPr>
          <a:xfrm>
            <a:off x="1755648" y="1371600"/>
            <a:ext cx="4538790" cy="4537424"/>
          </a:xfrm>
          <a:solidFill>
            <a:schemeClr val="bg2"/>
          </a:solidFill>
        </p:spPr>
        <p:txBody>
          <a:bodyPr anchor="ctr"/>
          <a:lstStyle>
            <a:lvl1pPr algn="ctr">
              <a:defRPr/>
            </a:lvl1pPr>
          </a:lstStyle>
          <a:p>
            <a:r>
              <a:rPr lang="en-US"/>
              <a:t>Click icon to add picture</a:t>
            </a:r>
          </a:p>
        </p:txBody>
      </p:sp>
      <p:sp>
        <p:nvSpPr>
          <p:cNvPr id="2" name="Title 1">
            <a:extLst>
              <a:ext uri="{FF2B5EF4-FFF2-40B4-BE49-F238E27FC236}">
                <a16:creationId xmlns:a16="http://schemas.microsoft.com/office/drawing/2014/main" id="{6F9E36B6-FFE3-4DE7-A79B-C7DF77E061C8}"/>
              </a:ext>
            </a:extLst>
          </p:cNvPr>
          <p:cNvSpPr>
            <a:spLocks noGrp="1"/>
          </p:cNvSpPr>
          <p:nvPr>
            <p:ph type="ctrTitle"/>
          </p:nvPr>
        </p:nvSpPr>
        <p:spPr>
          <a:xfrm>
            <a:off x="6928374" y="2114401"/>
            <a:ext cx="5000713" cy="1813418"/>
          </a:xfrm>
        </p:spPr>
        <p:txBody>
          <a:bodyPr anchor="b">
            <a:noAutofit/>
          </a:bodyPr>
          <a:lstStyle>
            <a:lvl1pPr algn="l">
              <a:defRPr sz="4000">
                <a:solidFill>
                  <a:schemeClr val="tx2"/>
                </a:solidFill>
              </a:defRPr>
            </a:lvl1pPr>
          </a:lstStyle>
          <a:p>
            <a:r>
              <a:rPr lang="en-US"/>
              <a:t>Click to edit Master title style</a:t>
            </a:r>
          </a:p>
        </p:txBody>
      </p:sp>
      <p:sp>
        <p:nvSpPr>
          <p:cNvPr id="12" name="Subtitle 2">
            <a:extLst>
              <a:ext uri="{FF2B5EF4-FFF2-40B4-BE49-F238E27FC236}">
                <a16:creationId xmlns:a16="http://schemas.microsoft.com/office/drawing/2014/main" id="{558AE939-8E03-4C31-9D66-970A23FF82A3}"/>
              </a:ext>
            </a:extLst>
          </p:cNvPr>
          <p:cNvSpPr>
            <a:spLocks noGrp="1"/>
          </p:cNvSpPr>
          <p:nvPr>
            <p:ph type="subTitle" idx="1"/>
          </p:nvPr>
        </p:nvSpPr>
        <p:spPr>
          <a:xfrm>
            <a:off x="6928375" y="4154873"/>
            <a:ext cx="5009626" cy="70014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Date Placeholder 6">
            <a:extLst>
              <a:ext uri="{FF2B5EF4-FFF2-40B4-BE49-F238E27FC236}">
                <a16:creationId xmlns:a16="http://schemas.microsoft.com/office/drawing/2014/main" id="{FD0DC7B5-8BAB-4E77-9FE9-D37D81327091}"/>
              </a:ext>
            </a:extLst>
          </p:cNvPr>
          <p:cNvSpPr>
            <a:spLocks noGrp="1" noChangeAspect="1"/>
          </p:cNvSpPr>
          <p:nvPr>
            <p:ph type="dt" sz="half" idx="11"/>
          </p:nvPr>
        </p:nvSpPr>
        <p:spPr>
          <a:xfrm>
            <a:off x="384048" y="0"/>
            <a:ext cx="1371600" cy="1371600"/>
          </a:xfrm>
          <a:solidFill>
            <a:schemeClr val="tx2"/>
          </a:solidFill>
        </p:spPr>
        <p:txBody>
          <a:bodyPr lIns="91440" tIns="91440" rIns="91440" bIns="91440"/>
          <a:lstStyle>
            <a:lvl1pPr algn="ctr">
              <a:defRPr>
                <a:solidFill>
                  <a:schemeClr val="bg1"/>
                </a:solidFill>
              </a:defRPr>
            </a:lvl1pPr>
          </a:lstStyle>
          <a:p>
            <a:fld id="{7D16034C-1BE4-481D-93E3-DB8DD45D623A}" type="datetime4">
              <a:rPr lang="en-US" smtClean="0"/>
              <a:t>July 29, 2026</a:t>
            </a:fld>
            <a:endParaRPr lang="en-US"/>
          </a:p>
        </p:txBody>
      </p:sp>
    </p:spTree>
    <p:extLst>
      <p:ext uri="{BB962C8B-B14F-4D97-AF65-F5344CB8AC3E}">
        <p14:creationId xmlns:p14="http://schemas.microsoft.com/office/powerpoint/2010/main" val="2347263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D008935-A73A-4449-92D6-12BCF20AEC9B}"/>
              </a:ext>
            </a:extLst>
          </p:cNvPr>
          <p:cNvSpPr>
            <a:spLocks noGrp="1" noChangeAspect="1"/>
          </p:cNvSpPr>
          <p:nvPr>
            <p:ph type="pic" sz="quarter" idx="10"/>
          </p:nvPr>
        </p:nvSpPr>
        <p:spPr>
          <a:xfrm>
            <a:off x="0" y="0"/>
            <a:ext cx="12192000" cy="6254496"/>
          </a:xfrm>
          <a:solidFill>
            <a:schemeClr val="bg2"/>
          </a:solidFill>
        </p:spPr>
        <p:txBody>
          <a:bodyPr wrap="none" anchor="ctr">
            <a:noAutofit/>
          </a:bodyPr>
          <a:lstStyle>
            <a:lvl1pPr algn="ctr">
              <a:defRPr/>
            </a:lvl1pPr>
          </a:lstStyle>
          <a:p>
            <a:r>
              <a:rPr lang="en-US"/>
              <a:t>Click icon to add picture</a:t>
            </a:r>
          </a:p>
        </p:txBody>
      </p:sp>
      <p:sp>
        <p:nvSpPr>
          <p:cNvPr id="14" name="Date Placeholder 13">
            <a:extLst>
              <a:ext uri="{FF2B5EF4-FFF2-40B4-BE49-F238E27FC236}">
                <a16:creationId xmlns:a16="http://schemas.microsoft.com/office/drawing/2014/main" id="{882AFEBB-BCB0-46C2-BCCD-B894557C4711}"/>
              </a:ext>
            </a:extLst>
          </p:cNvPr>
          <p:cNvSpPr>
            <a:spLocks noGrp="1"/>
          </p:cNvSpPr>
          <p:nvPr>
            <p:ph type="dt" sz="half" idx="16"/>
          </p:nvPr>
        </p:nvSpPr>
        <p:spPr/>
        <p:txBody>
          <a:bodyPr/>
          <a:lstStyle/>
          <a:p>
            <a:fld id="{277C4782-5119-4E8F-8C6D-2225EEB94A42}" type="datetime4">
              <a:rPr lang="en-US" smtClean="0"/>
              <a:t>July 29, 2026</a:t>
            </a:fld>
            <a:endParaRPr lang="en-US"/>
          </a:p>
        </p:txBody>
      </p:sp>
      <p:sp>
        <p:nvSpPr>
          <p:cNvPr id="15" name="Footer Placeholder 14">
            <a:extLst>
              <a:ext uri="{FF2B5EF4-FFF2-40B4-BE49-F238E27FC236}">
                <a16:creationId xmlns:a16="http://schemas.microsoft.com/office/drawing/2014/main" id="{314B59BC-6F59-44F6-865C-5D73C67871D0}"/>
              </a:ext>
            </a:extLst>
          </p:cNvPr>
          <p:cNvSpPr>
            <a:spLocks noGrp="1"/>
          </p:cNvSpPr>
          <p:nvPr>
            <p:ph type="ftr" sz="quarter" idx="17"/>
          </p:nvPr>
        </p:nvSpPr>
        <p:spPr/>
        <p:txBody>
          <a:bodyPr/>
          <a:lstStyle/>
          <a:p>
            <a:endParaRPr lang="en-US"/>
          </a:p>
        </p:txBody>
      </p:sp>
      <p:sp>
        <p:nvSpPr>
          <p:cNvPr id="16" name="Slide Number Placeholder 15">
            <a:extLst>
              <a:ext uri="{FF2B5EF4-FFF2-40B4-BE49-F238E27FC236}">
                <a16:creationId xmlns:a16="http://schemas.microsoft.com/office/drawing/2014/main" id="{EA5DA748-59EA-4E36-B955-E105B32320FF}"/>
              </a:ext>
            </a:extLst>
          </p:cNvPr>
          <p:cNvSpPr>
            <a:spLocks noGrp="1"/>
          </p:cNvSpPr>
          <p:nvPr>
            <p:ph type="sldNum" sz="quarter" idx="18"/>
          </p:nvPr>
        </p:nvSpPr>
        <p:spPr/>
        <p:txBody>
          <a:bodyPr/>
          <a:lstStyle/>
          <a:p>
            <a:fld id="{3CBD822F-ED39-4FC2-B5B5-D2EAB6238DC3}" type="slidenum">
              <a:rPr lang="en-US" smtClean="0"/>
              <a:pPr/>
              <a:t>‹#›</a:t>
            </a:fld>
            <a:endParaRPr lang="en-US"/>
          </a:p>
        </p:txBody>
      </p:sp>
      <p:sp>
        <p:nvSpPr>
          <p:cNvPr id="2" name="Title 1">
            <a:extLst>
              <a:ext uri="{FF2B5EF4-FFF2-40B4-BE49-F238E27FC236}">
                <a16:creationId xmlns:a16="http://schemas.microsoft.com/office/drawing/2014/main" id="{6F9E36B6-FFE3-4DE7-A79B-C7DF77E061C8}"/>
              </a:ext>
            </a:extLst>
          </p:cNvPr>
          <p:cNvSpPr>
            <a:spLocks noGrp="1"/>
          </p:cNvSpPr>
          <p:nvPr>
            <p:ph type="ctrTitle"/>
          </p:nvPr>
        </p:nvSpPr>
        <p:spPr>
          <a:xfrm>
            <a:off x="1755647" y="1374775"/>
            <a:ext cx="4064000" cy="4064000"/>
          </a:xfrm>
          <a:solidFill>
            <a:schemeClr val="bg1">
              <a:alpha val="93000"/>
            </a:schemeClr>
          </a:solidFill>
        </p:spPr>
        <p:txBody>
          <a:bodyPr lIns="274320" tIns="274320" rIns="274320" bIns="274320" anchor="b">
            <a:normAutofit/>
          </a:bodyPr>
          <a:lstStyle>
            <a:lvl1pPr algn="l">
              <a:defRPr sz="4000">
                <a:solidFill>
                  <a:schemeClr val="tx2"/>
                </a:solidFill>
              </a:defRPr>
            </a:lvl1pPr>
          </a:lstStyle>
          <a:p>
            <a:r>
              <a:rPr lang="en-US"/>
              <a:t>Click to edit Master title style</a:t>
            </a:r>
          </a:p>
        </p:txBody>
      </p:sp>
      <p:sp>
        <p:nvSpPr>
          <p:cNvPr id="7" name="Text Placeholder 9">
            <a:extLst>
              <a:ext uri="{FF2B5EF4-FFF2-40B4-BE49-F238E27FC236}">
                <a16:creationId xmlns:a16="http://schemas.microsoft.com/office/drawing/2014/main" id="{90E10410-993C-449B-A55D-C84ED3802C3D}"/>
              </a:ext>
            </a:extLst>
          </p:cNvPr>
          <p:cNvSpPr>
            <a:spLocks noGrp="1" noChangeAspect="1"/>
          </p:cNvSpPr>
          <p:nvPr>
            <p:ph type="body" sz="quarter" idx="15"/>
          </p:nvPr>
        </p:nvSpPr>
        <p:spPr>
          <a:xfrm>
            <a:off x="384047" y="-1905"/>
            <a:ext cx="1371600" cy="1371600"/>
          </a:xfrm>
          <a:solidFill>
            <a:schemeClr val="tx2"/>
          </a:solidFill>
        </p:spPr>
        <p:txBody>
          <a:bodyPr lIns="91440" tIns="91440" rIns="91440" bIns="91440" anchor="b">
            <a:normAutofit/>
          </a:bodyPr>
          <a:lstStyle>
            <a:lvl1pPr marL="0" indent="0" algn="ctr">
              <a:buNone/>
              <a:defRPr sz="900" b="0">
                <a:solidFill>
                  <a:schemeClr val="bg1"/>
                </a:solidFill>
              </a:defRPr>
            </a:lvl1pPr>
            <a:lvl2pPr marL="457200" indent="0" algn="ctr">
              <a:buNone/>
              <a:defRPr sz="900">
                <a:solidFill>
                  <a:schemeClr val="bg1"/>
                </a:solidFill>
              </a:defRPr>
            </a:lvl2pPr>
            <a:lvl3pPr marL="914400" indent="0" algn="ctr">
              <a:buNone/>
              <a:defRPr sz="900">
                <a:solidFill>
                  <a:schemeClr val="bg1"/>
                </a:solidFill>
              </a:defRPr>
            </a:lvl3pPr>
            <a:lvl4pPr marL="1371600" indent="0" algn="ctr">
              <a:buNone/>
              <a:defRPr sz="900">
                <a:solidFill>
                  <a:schemeClr val="bg1"/>
                </a:solidFill>
              </a:defRPr>
            </a:lvl4pPr>
            <a:lvl5pPr marL="1828800" indent="0" algn="ct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99637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Pictur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D008935-A73A-4449-92D6-12BCF20AEC9B}"/>
              </a:ext>
            </a:extLst>
          </p:cNvPr>
          <p:cNvSpPr>
            <a:spLocks noGrp="1" noChangeAspect="1"/>
          </p:cNvSpPr>
          <p:nvPr>
            <p:ph type="pic" sz="quarter" idx="10"/>
          </p:nvPr>
        </p:nvSpPr>
        <p:spPr>
          <a:xfrm>
            <a:off x="1755648" y="1371600"/>
            <a:ext cx="4544568" cy="4544568"/>
          </a:xfrm>
          <a:solidFill>
            <a:schemeClr val="bg2"/>
          </a:solidFill>
        </p:spPr>
        <p:txBody>
          <a:bodyPr anchor="ctr"/>
          <a:lstStyle>
            <a:lvl1pPr algn="ctr">
              <a:defRPr/>
            </a:lvl1pPr>
          </a:lstStyle>
          <a:p>
            <a:r>
              <a:rPr lang="en-US"/>
              <a:t>Click icon to add picture</a:t>
            </a:r>
          </a:p>
        </p:txBody>
      </p:sp>
      <p:sp>
        <p:nvSpPr>
          <p:cNvPr id="2" name="Title 1">
            <a:extLst>
              <a:ext uri="{FF2B5EF4-FFF2-40B4-BE49-F238E27FC236}">
                <a16:creationId xmlns:a16="http://schemas.microsoft.com/office/drawing/2014/main" id="{6F9E36B6-FFE3-4DE7-A79B-C7DF77E061C8}"/>
              </a:ext>
            </a:extLst>
          </p:cNvPr>
          <p:cNvSpPr>
            <a:spLocks noGrp="1"/>
          </p:cNvSpPr>
          <p:nvPr>
            <p:ph type="ctrTitle"/>
          </p:nvPr>
        </p:nvSpPr>
        <p:spPr>
          <a:xfrm>
            <a:off x="6675120" y="1435545"/>
            <a:ext cx="5129784" cy="857250"/>
          </a:xfrm>
        </p:spPr>
        <p:txBody>
          <a:bodyPr anchor="b">
            <a:normAutofit/>
          </a:bodyPr>
          <a:lstStyle>
            <a:lvl1pPr algn="l">
              <a:defRPr sz="2800">
                <a:solidFill>
                  <a:schemeClr val="tx2"/>
                </a:solidFill>
              </a:defRPr>
            </a:lvl1pPr>
          </a:lstStyle>
          <a:p>
            <a:r>
              <a:rPr lang="en-US"/>
              <a:t>Click to edit Master title style</a:t>
            </a:r>
          </a:p>
        </p:txBody>
      </p:sp>
      <p:sp>
        <p:nvSpPr>
          <p:cNvPr id="10" name="Text Placeholder 9">
            <a:extLst>
              <a:ext uri="{FF2B5EF4-FFF2-40B4-BE49-F238E27FC236}">
                <a16:creationId xmlns:a16="http://schemas.microsoft.com/office/drawing/2014/main" id="{884694F1-51CC-436E-BC18-35F2B5ACF5D6}"/>
              </a:ext>
            </a:extLst>
          </p:cNvPr>
          <p:cNvSpPr>
            <a:spLocks noGrp="1"/>
          </p:cNvSpPr>
          <p:nvPr>
            <p:ph type="body" sz="quarter" idx="14"/>
          </p:nvPr>
        </p:nvSpPr>
        <p:spPr>
          <a:xfrm>
            <a:off x="6675120" y="2423159"/>
            <a:ext cx="5129784" cy="3497877"/>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a:extLst>
              <a:ext uri="{FF2B5EF4-FFF2-40B4-BE49-F238E27FC236}">
                <a16:creationId xmlns:a16="http://schemas.microsoft.com/office/drawing/2014/main" id="{4E7FE4F7-337B-42FA-8ADE-F89909039F87}"/>
              </a:ext>
            </a:extLst>
          </p:cNvPr>
          <p:cNvSpPr>
            <a:spLocks noGrp="1" noChangeAspect="1"/>
          </p:cNvSpPr>
          <p:nvPr>
            <p:ph type="body" sz="quarter" idx="15"/>
          </p:nvPr>
        </p:nvSpPr>
        <p:spPr>
          <a:xfrm>
            <a:off x="384047" y="-1905"/>
            <a:ext cx="1371600" cy="1371600"/>
          </a:xfrm>
          <a:solidFill>
            <a:schemeClr val="tx2"/>
          </a:solidFill>
        </p:spPr>
        <p:txBody>
          <a:bodyPr lIns="91440" tIns="91440" rIns="91440" bIns="91440" anchor="b">
            <a:normAutofit/>
          </a:bodyPr>
          <a:lstStyle>
            <a:lvl1pPr marL="0" indent="0" algn="ctr">
              <a:buNone/>
              <a:defRPr sz="900" b="0">
                <a:solidFill>
                  <a:schemeClr val="bg1"/>
                </a:solidFill>
              </a:defRPr>
            </a:lvl1pPr>
            <a:lvl2pPr marL="457200" indent="0" algn="ctr">
              <a:buNone/>
              <a:defRPr sz="900">
                <a:solidFill>
                  <a:schemeClr val="bg1"/>
                </a:solidFill>
              </a:defRPr>
            </a:lvl2pPr>
            <a:lvl3pPr marL="914400" indent="0" algn="ctr">
              <a:buNone/>
              <a:defRPr sz="900">
                <a:solidFill>
                  <a:schemeClr val="bg1"/>
                </a:solidFill>
              </a:defRPr>
            </a:lvl3pPr>
            <a:lvl4pPr marL="1371600" indent="0" algn="ctr">
              <a:buNone/>
              <a:defRPr sz="900">
                <a:solidFill>
                  <a:schemeClr val="bg1"/>
                </a:solidFill>
              </a:defRPr>
            </a:lvl4pPr>
            <a:lvl5pPr marL="1828800" indent="0" algn="ctr">
              <a:buNone/>
              <a:defRPr sz="900">
                <a:solidFill>
                  <a:schemeClr val="bg1"/>
                </a:solidFill>
              </a:defRPr>
            </a:lvl5pPr>
          </a:lstStyle>
          <a:p>
            <a:pPr lvl="0"/>
            <a:r>
              <a:rPr lang="en-US"/>
              <a:t>Click to edit Master text styles</a:t>
            </a:r>
          </a:p>
        </p:txBody>
      </p:sp>
      <p:sp>
        <p:nvSpPr>
          <p:cNvPr id="12" name="Date Placeholder 11">
            <a:extLst>
              <a:ext uri="{FF2B5EF4-FFF2-40B4-BE49-F238E27FC236}">
                <a16:creationId xmlns:a16="http://schemas.microsoft.com/office/drawing/2014/main" id="{6BFDD46C-A566-49B2-A318-226843D04D52}"/>
              </a:ext>
            </a:extLst>
          </p:cNvPr>
          <p:cNvSpPr>
            <a:spLocks noGrp="1"/>
          </p:cNvSpPr>
          <p:nvPr>
            <p:ph type="dt" sz="half" idx="16"/>
          </p:nvPr>
        </p:nvSpPr>
        <p:spPr/>
        <p:txBody>
          <a:bodyPr/>
          <a:lstStyle/>
          <a:p>
            <a:fld id="{06F15B73-330A-47E3-AD58-53CA2B8F5465}" type="datetime4">
              <a:rPr lang="en-US" smtClean="0"/>
              <a:t>July 29, 2026</a:t>
            </a:fld>
            <a:endParaRPr lang="en-US"/>
          </a:p>
        </p:txBody>
      </p:sp>
      <p:sp>
        <p:nvSpPr>
          <p:cNvPr id="16" name="Footer Placeholder 15">
            <a:extLst>
              <a:ext uri="{FF2B5EF4-FFF2-40B4-BE49-F238E27FC236}">
                <a16:creationId xmlns:a16="http://schemas.microsoft.com/office/drawing/2014/main" id="{5B7C9032-4AEB-485D-919C-03DC0C7F4948}"/>
              </a:ext>
            </a:extLst>
          </p:cNvPr>
          <p:cNvSpPr>
            <a:spLocks noGrp="1"/>
          </p:cNvSpPr>
          <p:nvPr>
            <p:ph type="ftr" sz="quarter" idx="17"/>
          </p:nvPr>
        </p:nvSpPr>
        <p:spPr/>
        <p:txBody>
          <a:bodyPr/>
          <a:lstStyle/>
          <a:p>
            <a:endParaRPr lang="en-US"/>
          </a:p>
        </p:txBody>
      </p:sp>
      <p:sp>
        <p:nvSpPr>
          <p:cNvPr id="17" name="Slide Number Placeholder 16">
            <a:extLst>
              <a:ext uri="{FF2B5EF4-FFF2-40B4-BE49-F238E27FC236}">
                <a16:creationId xmlns:a16="http://schemas.microsoft.com/office/drawing/2014/main" id="{C4BA98A5-9D78-40E5-BB3F-05201E69D878}"/>
              </a:ext>
            </a:extLst>
          </p:cNvPr>
          <p:cNvSpPr>
            <a:spLocks noGrp="1"/>
          </p:cNvSpPr>
          <p:nvPr>
            <p:ph type="sldNum" sz="quarter" idx="18"/>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2277866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xecutive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1E07F-ADCB-4879-ADBB-94F04C86A8CD}"/>
              </a:ext>
            </a:extLst>
          </p:cNvPr>
          <p:cNvSpPr>
            <a:spLocks noGrp="1"/>
          </p:cNvSpPr>
          <p:nvPr>
            <p:ph type="title"/>
          </p:nvPr>
        </p:nvSpPr>
        <p:spPr/>
        <p:txBody>
          <a:bodyPr/>
          <a:lstStyle/>
          <a:p>
            <a:r>
              <a:rPr lang="en-US"/>
              <a:t>Click to edit Master title style</a:t>
            </a:r>
          </a:p>
        </p:txBody>
      </p:sp>
      <p:sp>
        <p:nvSpPr>
          <p:cNvPr id="5" name="Table Placeholder 4">
            <a:extLst>
              <a:ext uri="{FF2B5EF4-FFF2-40B4-BE49-F238E27FC236}">
                <a16:creationId xmlns:a16="http://schemas.microsoft.com/office/drawing/2014/main" id="{183FDF11-03E0-40A5-BFCA-F6B60D099601}"/>
              </a:ext>
            </a:extLst>
          </p:cNvPr>
          <p:cNvSpPr>
            <a:spLocks noGrp="1"/>
          </p:cNvSpPr>
          <p:nvPr>
            <p:ph type="tbl" sz="quarter" idx="13"/>
          </p:nvPr>
        </p:nvSpPr>
        <p:spPr>
          <a:xfrm>
            <a:off x="384048" y="1298448"/>
            <a:ext cx="11430000" cy="4727448"/>
          </a:xfrm>
        </p:spPr>
        <p:txBody>
          <a:bodyPr/>
          <a:lstStyle/>
          <a:p>
            <a:r>
              <a:rPr lang="en-US"/>
              <a:t>Click icon to add table</a:t>
            </a:r>
          </a:p>
        </p:txBody>
      </p:sp>
      <p:sp>
        <p:nvSpPr>
          <p:cNvPr id="10" name="Date Placeholder 9">
            <a:extLst>
              <a:ext uri="{FF2B5EF4-FFF2-40B4-BE49-F238E27FC236}">
                <a16:creationId xmlns:a16="http://schemas.microsoft.com/office/drawing/2014/main" id="{9F00D4C4-5920-4E4C-B44B-E524B2BA6983}"/>
              </a:ext>
            </a:extLst>
          </p:cNvPr>
          <p:cNvSpPr>
            <a:spLocks noGrp="1"/>
          </p:cNvSpPr>
          <p:nvPr>
            <p:ph type="dt" sz="half" idx="14"/>
          </p:nvPr>
        </p:nvSpPr>
        <p:spPr/>
        <p:txBody>
          <a:bodyPr/>
          <a:lstStyle/>
          <a:p>
            <a:fld id="{E6E11EAE-16B7-464E-91D8-413C5CE9C268}" type="datetime4">
              <a:rPr lang="en-US" smtClean="0"/>
              <a:t>July 29, 2026</a:t>
            </a:fld>
            <a:endParaRPr lang="en-US"/>
          </a:p>
        </p:txBody>
      </p:sp>
      <p:sp>
        <p:nvSpPr>
          <p:cNvPr id="11" name="Footer Placeholder 10">
            <a:extLst>
              <a:ext uri="{FF2B5EF4-FFF2-40B4-BE49-F238E27FC236}">
                <a16:creationId xmlns:a16="http://schemas.microsoft.com/office/drawing/2014/main" id="{C0FAB686-89E6-43A6-9874-8E3BA3735B1E}"/>
              </a:ext>
            </a:extLst>
          </p:cNvPr>
          <p:cNvSpPr>
            <a:spLocks noGrp="1"/>
          </p:cNvSpPr>
          <p:nvPr>
            <p:ph type="ftr" sz="quarter" idx="15"/>
          </p:nvPr>
        </p:nvSpPr>
        <p:spPr/>
        <p:txBody>
          <a:bodyPr/>
          <a:lstStyle/>
          <a:p>
            <a:endParaRPr lang="en-US"/>
          </a:p>
        </p:txBody>
      </p:sp>
      <p:sp>
        <p:nvSpPr>
          <p:cNvPr id="12" name="Slide Number Placeholder 11">
            <a:extLst>
              <a:ext uri="{FF2B5EF4-FFF2-40B4-BE49-F238E27FC236}">
                <a16:creationId xmlns:a16="http://schemas.microsoft.com/office/drawing/2014/main" id="{A483A1A4-F005-47B5-B97D-30454D5A20EC}"/>
              </a:ext>
            </a:extLst>
          </p:cNvPr>
          <p:cNvSpPr>
            <a:spLocks noGrp="1"/>
          </p:cNvSpPr>
          <p:nvPr>
            <p:ph type="sldNum" sz="quarter" idx="16"/>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579729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1E07F-ADCB-4879-ADBB-94F04C86A8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C6A5A7-3710-4177-9FD0-325381615362}"/>
              </a:ext>
            </a:extLst>
          </p:cNvPr>
          <p:cNvSpPr>
            <a:spLocks noGrp="1"/>
          </p:cNvSpPr>
          <p:nvPr>
            <p:ph idx="1"/>
          </p:nvPr>
        </p:nvSpPr>
        <p:spPr>
          <a:xfrm>
            <a:off x="384047" y="1298448"/>
            <a:ext cx="11420858"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C8F6833B-8495-484F-968E-3B2854108418}"/>
              </a:ext>
            </a:extLst>
          </p:cNvPr>
          <p:cNvSpPr>
            <a:spLocks noGrp="1"/>
          </p:cNvSpPr>
          <p:nvPr>
            <p:ph type="dt" sz="half" idx="10"/>
          </p:nvPr>
        </p:nvSpPr>
        <p:spPr/>
        <p:txBody>
          <a:bodyPr/>
          <a:lstStyle/>
          <a:p>
            <a:fld id="{7E15AF70-ADAD-49F6-BD67-CA881F71B9B7}" type="datetime4">
              <a:rPr lang="en-US" smtClean="0"/>
              <a:t>July 29, 2026</a:t>
            </a:fld>
            <a:endParaRPr lang="en-US"/>
          </a:p>
        </p:txBody>
      </p:sp>
      <p:sp>
        <p:nvSpPr>
          <p:cNvPr id="11" name="Footer Placeholder 10">
            <a:extLst>
              <a:ext uri="{FF2B5EF4-FFF2-40B4-BE49-F238E27FC236}">
                <a16:creationId xmlns:a16="http://schemas.microsoft.com/office/drawing/2014/main" id="{EFFF37B0-AC29-4042-AC96-7599D2120687}"/>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F31F9BA5-9E19-486A-A62B-135326498FC6}"/>
              </a:ext>
            </a:extLst>
          </p:cNvPr>
          <p:cNvSpPr>
            <a:spLocks noGrp="1"/>
          </p:cNvSpPr>
          <p:nvPr>
            <p:ph type="sldNum" sz="quarter" idx="12"/>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3092391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1E07F-ADCB-4879-ADBB-94F04C86A8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C6A5A7-3710-4177-9FD0-3253816153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C33430D5-A340-4E15-B946-0AD7AFBF0A7E}"/>
              </a:ext>
            </a:extLst>
          </p:cNvPr>
          <p:cNvSpPr>
            <a:spLocks noGrp="1"/>
          </p:cNvSpPr>
          <p:nvPr>
            <p:ph type="dt" sz="half" idx="10"/>
          </p:nvPr>
        </p:nvSpPr>
        <p:spPr/>
        <p:txBody>
          <a:bodyPr/>
          <a:lstStyle/>
          <a:p>
            <a:fld id="{1871100B-AD5A-4147-BA75-36218ACA1D4F}" type="datetime4">
              <a:rPr lang="en-US" smtClean="0"/>
              <a:t>July 29, 2026</a:t>
            </a:fld>
            <a:endParaRPr lang="en-US"/>
          </a:p>
        </p:txBody>
      </p:sp>
      <p:sp>
        <p:nvSpPr>
          <p:cNvPr id="11" name="Footer Placeholder 10">
            <a:extLst>
              <a:ext uri="{FF2B5EF4-FFF2-40B4-BE49-F238E27FC236}">
                <a16:creationId xmlns:a16="http://schemas.microsoft.com/office/drawing/2014/main" id="{02ACA458-9E60-44C4-93CE-B2EB998CEE9B}"/>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917D0231-8B96-49A0-ABCC-87EA1B0AFB36}"/>
              </a:ext>
            </a:extLst>
          </p:cNvPr>
          <p:cNvSpPr>
            <a:spLocks noGrp="1"/>
          </p:cNvSpPr>
          <p:nvPr>
            <p:ph type="sldNum" sz="quarter" idx="12"/>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2730582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1E07F-ADCB-4879-ADBB-94F04C86A8CD}"/>
              </a:ext>
            </a:extLst>
          </p:cNvPr>
          <p:cNvSpPr>
            <a:spLocks noGrp="1"/>
          </p:cNvSpPr>
          <p:nvPr>
            <p:ph type="title"/>
          </p:nvPr>
        </p:nvSpPr>
        <p:spPr>
          <a:xfrm>
            <a:off x="384049" y="309282"/>
            <a:ext cx="10234646" cy="60511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4C6A5A7-3710-4177-9FD0-3253816153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57D4FC8D-CFB1-4961-A0E5-B477488ECC3B}"/>
              </a:ext>
            </a:extLst>
          </p:cNvPr>
          <p:cNvSpPr>
            <a:spLocks noGrp="1"/>
          </p:cNvSpPr>
          <p:nvPr>
            <p:ph type="body" sz="quarter" idx="13"/>
          </p:nvPr>
        </p:nvSpPr>
        <p:spPr>
          <a:xfrm>
            <a:off x="10871856" y="3175"/>
            <a:ext cx="914400" cy="911225"/>
          </a:xfrm>
          <a:noFill/>
        </p:spPr>
        <p:txBody>
          <a:bodyPr lIns="91440" tIns="91440" rIns="91440" bIns="91440" anchor="b">
            <a:normAutofit/>
          </a:bodyPr>
          <a:lstStyle>
            <a:lvl1pPr marL="0" indent="0" algn="ctr">
              <a:buNone/>
              <a:defRPr sz="900" b="0">
                <a:solidFill>
                  <a:schemeClr val="bg1"/>
                </a:solidFill>
              </a:defRPr>
            </a:lvl1pPr>
            <a:lvl2pPr marL="457200" indent="0" algn="ctr">
              <a:buNone/>
              <a:defRPr sz="900">
                <a:solidFill>
                  <a:schemeClr val="bg1"/>
                </a:solidFill>
              </a:defRPr>
            </a:lvl2pPr>
            <a:lvl3pPr marL="914400" indent="0" algn="ctr">
              <a:buNone/>
              <a:defRPr sz="900">
                <a:solidFill>
                  <a:schemeClr val="bg1"/>
                </a:solidFill>
              </a:defRPr>
            </a:lvl3pPr>
            <a:lvl4pPr marL="1371600" indent="0" algn="ctr">
              <a:buNone/>
              <a:defRPr sz="900">
                <a:solidFill>
                  <a:schemeClr val="bg1"/>
                </a:solidFill>
              </a:defRPr>
            </a:lvl4pPr>
            <a:lvl5pPr marL="1828800" indent="0" algn="ctr">
              <a:buNone/>
              <a:defRPr sz="900">
                <a:solidFill>
                  <a:schemeClr val="bg1"/>
                </a:solidFill>
              </a:defRPr>
            </a:lvl5pPr>
          </a:lstStyle>
          <a:p>
            <a:pPr lvl="0"/>
            <a:r>
              <a:rPr lang="en-US"/>
              <a:t>Click to edit Master text styles</a:t>
            </a:r>
          </a:p>
        </p:txBody>
      </p:sp>
      <p:sp>
        <p:nvSpPr>
          <p:cNvPr id="11" name="Date Placeholder 10">
            <a:extLst>
              <a:ext uri="{FF2B5EF4-FFF2-40B4-BE49-F238E27FC236}">
                <a16:creationId xmlns:a16="http://schemas.microsoft.com/office/drawing/2014/main" id="{CB797EA4-89E9-4F1F-AB27-565A02A0812A}"/>
              </a:ext>
            </a:extLst>
          </p:cNvPr>
          <p:cNvSpPr>
            <a:spLocks noGrp="1"/>
          </p:cNvSpPr>
          <p:nvPr>
            <p:ph type="dt" sz="half" idx="14"/>
          </p:nvPr>
        </p:nvSpPr>
        <p:spPr/>
        <p:txBody>
          <a:bodyPr/>
          <a:lstStyle/>
          <a:p>
            <a:fld id="{FE125F1D-6F14-408B-953E-220E96BED9B0}" type="datetime4">
              <a:rPr lang="en-US" smtClean="0"/>
              <a:t>July 29, 2026</a:t>
            </a:fld>
            <a:endParaRPr lang="en-US"/>
          </a:p>
        </p:txBody>
      </p:sp>
      <p:sp>
        <p:nvSpPr>
          <p:cNvPr id="12" name="Footer Placeholder 11">
            <a:extLst>
              <a:ext uri="{FF2B5EF4-FFF2-40B4-BE49-F238E27FC236}">
                <a16:creationId xmlns:a16="http://schemas.microsoft.com/office/drawing/2014/main" id="{606BA3A7-47F3-45F6-8375-623FFEADE676}"/>
              </a:ext>
            </a:extLst>
          </p:cNvPr>
          <p:cNvSpPr>
            <a:spLocks noGrp="1"/>
          </p:cNvSpPr>
          <p:nvPr>
            <p:ph type="ftr" sz="quarter" idx="15"/>
          </p:nvPr>
        </p:nvSpPr>
        <p:spPr/>
        <p:txBody>
          <a:bodyPr/>
          <a:lstStyle/>
          <a:p>
            <a:endParaRPr lang="en-US"/>
          </a:p>
        </p:txBody>
      </p:sp>
      <p:sp>
        <p:nvSpPr>
          <p:cNvPr id="13" name="Slide Number Placeholder 12">
            <a:extLst>
              <a:ext uri="{FF2B5EF4-FFF2-40B4-BE49-F238E27FC236}">
                <a16:creationId xmlns:a16="http://schemas.microsoft.com/office/drawing/2014/main" id="{CFFAC0CB-321F-4A61-AB01-296BAEA35F19}"/>
              </a:ext>
            </a:extLst>
          </p:cNvPr>
          <p:cNvSpPr>
            <a:spLocks noGrp="1"/>
          </p:cNvSpPr>
          <p:nvPr>
            <p:ph type="sldNum" sz="quarter" idx="16"/>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19552440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ED4B9-844B-481A-901D-4FD67391BA29}"/>
              </a:ext>
            </a:extLst>
          </p:cNvPr>
          <p:cNvSpPr>
            <a:spLocks noGrp="1"/>
          </p:cNvSpPr>
          <p:nvPr>
            <p:ph type="title"/>
          </p:nvPr>
        </p:nvSpPr>
        <p:spPr>
          <a:xfrm>
            <a:off x="384174" y="1086929"/>
            <a:ext cx="11420729" cy="2342072"/>
          </a:xfrm>
        </p:spPr>
        <p:txBody>
          <a:bodyPr anchor="b">
            <a:normAutofit/>
          </a:bodyPr>
          <a:lstStyle>
            <a:lvl1pPr>
              <a:defRPr sz="48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49A1DCEF-4DE5-40BD-9FE1-433E30AAA615}"/>
              </a:ext>
            </a:extLst>
          </p:cNvPr>
          <p:cNvSpPr>
            <a:spLocks noGrp="1"/>
          </p:cNvSpPr>
          <p:nvPr>
            <p:ph type="body" idx="1"/>
          </p:nvPr>
        </p:nvSpPr>
        <p:spPr>
          <a:xfrm>
            <a:off x="384174" y="4724569"/>
            <a:ext cx="11420729" cy="1365081"/>
          </a:xfrm>
        </p:spPr>
        <p:txBody>
          <a:bodyP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4E5A25-1EB5-41AC-993B-DA0B711D5A73}"/>
              </a:ext>
            </a:extLst>
          </p:cNvPr>
          <p:cNvSpPr>
            <a:spLocks noGrp="1"/>
          </p:cNvSpPr>
          <p:nvPr>
            <p:ph type="dt" sz="half" idx="10"/>
          </p:nvPr>
        </p:nvSpPr>
        <p:spPr/>
        <p:txBody>
          <a:bodyPr/>
          <a:lstStyle/>
          <a:p>
            <a:fld id="{E152C4D6-D0BD-449D-8C84-CBB8AB784B90}" type="datetime4">
              <a:rPr lang="en-US" smtClean="0"/>
              <a:t>July 29, 2026</a:t>
            </a:fld>
            <a:endParaRPr lang="en-US"/>
          </a:p>
        </p:txBody>
      </p:sp>
      <p:sp>
        <p:nvSpPr>
          <p:cNvPr id="5" name="Footer Placeholder 4">
            <a:extLst>
              <a:ext uri="{FF2B5EF4-FFF2-40B4-BE49-F238E27FC236}">
                <a16:creationId xmlns:a16="http://schemas.microsoft.com/office/drawing/2014/main" id="{CB6CAD86-ED3E-47C7-BA0D-6BF957312B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66FC48-EC1A-434A-B52C-A94DA2CCC86A}"/>
              </a:ext>
            </a:extLst>
          </p:cNvPr>
          <p:cNvSpPr>
            <a:spLocks noGrp="1"/>
          </p:cNvSpPr>
          <p:nvPr>
            <p:ph type="sldNum" sz="quarter" idx="12"/>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2425688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ED4B9-844B-481A-901D-4FD67391BA29}"/>
              </a:ext>
            </a:extLst>
          </p:cNvPr>
          <p:cNvSpPr>
            <a:spLocks noGrp="1"/>
          </p:cNvSpPr>
          <p:nvPr>
            <p:ph type="title"/>
          </p:nvPr>
        </p:nvSpPr>
        <p:spPr>
          <a:xfrm>
            <a:off x="384174" y="1086929"/>
            <a:ext cx="11420729" cy="2342072"/>
          </a:xfrm>
        </p:spPr>
        <p:txBody>
          <a:bodyPr anchor="b">
            <a:normAutofit/>
          </a:bodyPr>
          <a:lstStyle>
            <a:lvl1pPr>
              <a:defRPr sz="48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49A1DCEF-4DE5-40BD-9FE1-433E30AAA615}"/>
              </a:ext>
            </a:extLst>
          </p:cNvPr>
          <p:cNvSpPr>
            <a:spLocks noGrp="1"/>
          </p:cNvSpPr>
          <p:nvPr>
            <p:ph type="body" idx="1"/>
          </p:nvPr>
        </p:nvSpPr>
        <p:spPr>
          <a:xfrm>
            <a:off x="384174" y="4724569"/>
            <a:ext cx="11420729" cy="1365081"/>
          </a:xfrm>
        </p:spPr>
        <p:txBody>
          <a:bodyP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E0A562-A9EC-4275-8D40-0940A46048F1}"/>
              </a:ext>
            </a:extLst>
          </p:cNvPr>
          <p:cNvSpPr>
            <a:spLocks noGrp="1"/>
          </p:cNvSpPr>
          <p:nvPr>
            <p:ph type="dt" sz="half" idx="10"/>
          </p:nvPr>
        </p:nvSpPr>
        <p:spPr/>
        <p:txBody>
          <a:bodyPr/>
          <a:lstStyle/>
          <a:p>
            <a:fld id="{E152C4D6-D0BD-449D-8C84-CBB8AB784B90}" type="datetime4">
              <a:rPr lang="en-US" smtClean="0"/>
              <a:t>July 29, 2026</a:t>
            </a:fld>
            <a:endParaRPr lang="en-US"/>
          </a:p>
        </p:txBody>
      </p:sp>
      <p:sp>
        <p:nvSpPr>
          <p:cNvPr id="5" name="Footer Placeholder 4">
            <a:extLst>
              <a:ext uri="{FF2B5EF4-FFF2-40B4-BE49-F238E27FC236}">
                <a16:creationId xmlns:a16="http://schemas.microsoft.com/office/drawing/2014/main" id="{F0915255-D2A3-46A3-9AD7-B19094DFF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087673-9CF7-426A-85BE-919F529EDF1B}"/>
              </a:ext>
            </a:extLst>
          </p:cNvPr>
          <p:cNvSpPr>
            <a:spLocks noGrp="1"/>
          </p:cNvSpPr>
          <p:nvPr>
            <p:ph type="sldNum" sz="quarter" idx="12"/>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31688282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13282-AD49-4621-B10F-F1C1C20EAE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027F03-B746-4206-AC6E-604245BD809E}"/>
              </a:ext>
            </a:extLst>
          </p:cNvPr>
          <p:cNvSpPr>
            <a:spLocks noGrp="1"/>
          </p:cNvSpPr>
          <p:nvPr>
            <p:ph sz="half" idx="1"/>
          </p:nvPr>
        </p:nvSpPr>
        <p:spPr>
          <a:xfrm>
            <a:off x="384047" y="1298448"/>
            <a:ext cx="5577840" cy="48051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A0138A-CD2E-4629-9FCE-75FB154293B0}"/>
              </a:ext>
            </a:extLst>
          </p:cNvPr>
          <p:cNvSpPr>
            <a:spLocks noGrp="1"/>
          </p:cNvSpPr>
          <p:nvPr>
            <p:ph sz="half" idx="2"/>
          </p:nvPr>
        </p:nvSpPr>
        <p:spPr>
          <a:xfrm>
            <a:off x="6172200" y="1298448"/>
            <a:ext cx="5577840" cy="48051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a:extLst>
              <a:ext uri="{FF2B5EF4-FFF2-40B4-BE49-F238E27FC236}">
                <a16:creationId xmlns:a16="http://schemas.microsoft.com/office/drawing/2014/main" id="{AEE04010-43D9-4C1A-A916-97B780F4745F}"/>
              </a:ext>
            </a:extLst>
          </p:cNvPr>
          <p:cNvSpPr>
            <a:spLocks noGrp="1"/>
          </p:cNvSpPr>
          <p:nvPr>
            <p:ph type="dt" sz="half" idx="10"/>
          </p:nvPr>
        </p:nvSpPr>
        <p:spPr/>
        <p:txBody>
          <a:bodyPr/>
          <a:lstStyle/>
          <a:p>
            <a:fld id="{E5DFB869-E380-426F-8789-4272408A01CC}" type="datetime4">
              <a:rPr lang="en-US" smtClean="0"/>
              <a:t>July 29, 2026</a:t>
            </a:fld>
            <a:endParaRPr lang="en-US"/>
          </a:p>
        </p:txBody>
      </p:sp>
      <p:sp>
        <p:nvSpPr>
          <p:cNvPr id="15" name="Footer Placeholder 14">
            <a:extLst>
              <a:ext uri="{FF2B5EF4-FFF2-40B4-BE49-F238E27FC236}">
                <a16:creationId xmlns:a16="http://schemas.microsoft.com/office/drawing/2014/main" id="{86121DD1-65DF-450D-8899-B9CCCFF456FF}"/>
              </a:ext>
            </a:extLst>
          </p:cNvPr>
          <p:cNvSpPr>
            <a:spLocks noGrp="1"/>
          </p:cNvSpPr>
          <p:nvPr>
            <p:ph type="ftr" sz="quarter" idx="11"/>
          </p:nvPr>
        </p:nvSpPr>
        <p:spPr/>
        <p:txBody>
          <a:bodyPr/>
          <a:lstStyle/>
          <a:p>
            <a:endParaRPr lang="en-US"/>
          </a:p>
        </p:txBody>
      </p:sp>
      <p:sp>
        <p:nvSpPr>
          <p:cNvPr id="16" name="Slide Number Placeholder 15">
            <a:extLst>
              <a:ext uri="{FF2B5EF4-FFF2-40B4-BE49-F238E27FC236}">
                <a16:creationId xmlns:a16="http://schemas.microsoft.com/office/drawing/2014/main" id="{02E6D15C-BA30-4176-AEF5-FEFB81BD6093}"/>
              </a:ext>
            </a:extLst>
          </p:cNvPr>
          <p:cNvSpPr>
            <a:spLocks noGrp="1"/>
          </p:cNvSpPr>
          <p:nvPr>
            <p:ph type="sldNum" sz="quarter" idx="12"/>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38056578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13282-AD49-4621-B10F-F1C1C20EAEBF}"/>
              </a:ext>
            </a:extLst>
          </p:cNvPr>
          <p:cNvSpPr>
            <a:spLocks noGrp="1"/>
          </p:cNvSpPr>
          <p:nvPr>
            <p:ph type="title"/>
          </p:nvPr>
        </p:nvSpPr>
        <p:spPr>
          <a:xfrm>
            <a:off x="384048" y="309282"/>
            <a:ext cx="10234646" cy="60511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C9027F03-B746-4206-AC6E-604245BD809E}"/>
              </a:ext>
            </a:extLst>
          </p:cNvPr>
          <p:cNvSpPr>
            <a:spLocks noGrp="1"/>
          </p:cNvSpPr>
          <p:nvPr>
            <p:ph sz="half" idx="1"/>
          </p:nvPr>
        </p:nvSpPr>
        <p:spPr>
          <a:xfrm>
            <a:off x="384047" y="1298448"/>
            <a:ext cx="5577840" cy="48051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A0138A-CD2E-4629-9FCE-75FB154293B0}"/>
              </a:ext>
            </a:extLst>
          </p:cNvPr>
          <p:cNvSpPr>
            <a:spLocks noGrp="1"/>
          </p:cNvSpPr>
          <p:nvPr>
            <p:ph sz="half" idx="2"/>
          </p:nvPr>
        </p:nvSpPr>
        <p:spPr>
          <a:xfrm>
            <a:off x="6172200" y="1298448"/>
            <a:ext cx="5577840" cy="48051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a:extLst>
              <a:ext uri="{FF2B5EF4-FFF2-40B4-BE49-F238E27FC236}">
                <a16:creationId xmlns:a16="http://schemas.microsoft.com/office/drawing/2014/main" id="{10A01740-C1E5-478B-8A3D-90FEEC608750}"/>
              </a:ext>
            </a:extLst>
          </p:cNvPr>
          <p:cNvSpPr>
            <a:spLocks noGrp="1"/>
          </p:cNvSpPr>
          <p:nvPr>
            <p:ph type="body" sz="quarter" idx="13"/>
          </p:nvPr>
        </p:nvSpPr>
        <p:spPr>
          <a:xfrm>
            <a:off x="10872216" y="3175"/>
            <a:ext cx="914400" cy="911225"/>
          </a:xfrm>
          <a:noFill/>
        </p:spPr>
        <p:txBody>
          <a:bodyPr lIns="91440" tIns="91440" rIns="91440" bIns="91440" anchor="b">
            <a:normAutofit/>
          </a:bodyPr>
          <a:lstStyle>
            <a:lvl1pPr marL="0" indent="0" algn="ctr">
              <a:buNone/>
              <a:defRPr sz="900" b="0">
                <a:solidFill>
                  <a:schemeClr val="bg1"/>
                </a:solidFill>
              </a:defRPr>
            </a:lvl1pPr>
            <a:lvl2pPr marL="457200" indent="0" algn="ctr">
              <a:buNone/>
              <a:defRPr sz="900">
                <a:solidFill>
                  <a:schemeClr val="bg1"/>
                </a:solidFill>
              </a:defRPr>
            </a:lvl2pPr>
            <a:lvl3pPr marL="914400" indent="0" algn="ctr">
              <a:buNone/>
              <a:defRPr sz="900">
                <a:solidFill>
                  <a:schemeClr val="bg1"/>
                </a:solidFill>
              </a:defRPr>
            </a:lvl3pPr>
            <a:lvl4pPr marL="1371600" indent="0" algn="ctr">
              <a:buNone/>
              <a:defRPr sz="900">
                <a:solidFill>
                  <a:schemeClr val="bg1"/>
                </a:solidFill>
              </a:defRPr>
            </a:lvl4pPr>
            <a:lvl5pPr marL="1828800" indent="0" algn="ctr">
              <a:buNone/>
              <a:defRPr sz="900">
                <a:solidFill>
                  <a:schemeClr val="bg1"/>
                </a:solidFill>
              </a:defRPr>
            </a:lvl5pPr>
          </a:lstStyle>
          <a:p>
            <a:pPr lvl="0"/>
            <a:r>
              <a:rPr lang="en-US"/>
              <a:t>Click to edit Master text styles</a:t>
            </a:r>
          </a:p>
        </p:txBody>
      </p:sp>
      <p:sp>
        <p:nvSpPr>
          <p:cNvPr id="15" name="Date Placeholder 14">
            <a:extLst>
              <a:ext uri="{FF2B5EF4-FFF2-40B4-BE49-F238E27FC236}">
                <a16:creationId xmlns:a16="http://schemas.microsoft.com/office/drawing/2014/main" id="{5701010F-E080-42B8-A61A-AEF4A86A49CA}"/>
              </a:ext>
            </a:extLst>
          </p:cNvPr>
          <p:cNvSpPr>
            <a:spLocks noGrp="1"/>
          </p:cNvSpPr>
          <p:nvPr>
            <p:ph type="dt" sz="half" idx="14"/>
          </p:nvPr>
        </p:nvSpPr>
        <p:spPr/>
        <p:txBody>
          <a:bodyPr/>
          <a:lstStyle/>
          <a:p>
            <a:fld id="{EC2A62EF-4675-472E-BFCD-82FE7DAE121F}" type="datetime4">
              <a:rPr lang="en-US" smtClean="0"/>
              <a:t>July 29, 2026</a:t>
            </a:fld>
            <a:endParaRPr lang="en-US"/>
          </a:p>
        </p:txBody>
      </p:sp>
      <p:sp>
        <p:nvSpPr>
          <p:cNvPr id="16" name="Footer Placeholder 15">
            <a:extLst>
              <a:ext uri="{FF2B5EF4-FFF2-40B4-BE49-F238E27FC236}">
                <a16:creationId xmlns:a16="http://schemas.microsoft.com/office/drawing/2014/main" id="{446CA2BF-D1A4-4184-9064-093CA3FB9FC9}"/>
              </a:ext>
            </a:extLst>
          </p:cNvPr>
          <p:cNvSpPr>
            <a:spLocks noGrp="1"/>
          </p:cNvSpPr>
          <p:nvPr>
            <p:ph type="ftr" sz="quarter" idx="15"/>
          </p:nvPr>
        </p:nvSpPr>
        <p:spPr/>
        <p:txBody>
          <a:bodyPr/>
          <a:lstStyle/>
          <a:p>
            <a:endParaRPr lang="en-US"/>
          </a:p>
        </p:txBody>
      </p:sp>
      <p:sp>
        <p:nvSpPr>
          <p:cNvPr id="17" name="Slide Number Placeholder 16">
            <a:extLst>
              <a:ext uri="{FF2B5EF4-FFF2-40B4-BE49-F238E27FC236}">
                <a16:creationId xmlns:a16="http://schemas.microsoft.com/office/drawing/2014/main" id="{E659BA70-203A-4240-A263-A2ECEF9D42F7}"/>
              </a:ext>
            </a:extLst>
          </p:cNvPr>
          <p:cNvSpPr>
            <a:spLocks noGrp="1"/>
          </p:cNvSpPr>
          <p:nvPr>
            <p:ph type="sldNum" sz="quarter" idx="16"/>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3840655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21735CF-D95C-40DA-81C8-78A8EE2BF6E6}"/>
              </a:ext>
            </a:extLst>
          </p:cNvPr>
          <p:cNvSpPr>
            <a:spLocks noGrp="1"/>
          </p:cNvSpPr>
          <p:nvPr>
            <p:ph type="body" idx="1"/>
          </p:nvPr>
        </p:nvSpPr>
        <p:spPr>
          <a:xfrm>
            <a:off x="384046" y="1143953"/>
            <a:ext cx="5577840" cy="823912"/>
          </a:xfrm>
        </p:spPr>
        <p:txBody>
          <a:bodyPr anchor="b">
            <a:normAutofit/>
          </a:bodyPr>
          <a:lstStyle>
            <a:lvl1pPr marL="0" indent="0">
              <a:buNone/>
              <a:defRPr sz="28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DB630D-AB45-4AB4-A735-78668B628A8D}"/>
              </a:ext>
            </a:extLst>
          </p:cNvPr>
          <p:cNvSpPr>
            <a:spLocks noGrp="1"/>
          </p:cNvSpPr>
          <p:nvPr>
            <p:ph sz="half" idx="2"/>
          </p:nvPr>
        </p:nvSpPr>
        <p:spPr>
          <a:xfrm>
            <a:off x="384046" y="2086608"/>
            <a:ext cx="5577840" cy="4028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BB0A25-DE4F-4426-9983-567310E5224D}"/>
              </a:ext>
            </a:extLst>
          </p:cNvPr>
          <p:cNvSpPr>
            <a:spLocks noGrp="1"/>
          </p:cNvSpPr>
          <p:nvPr>
            <p:ph type="body" sz="quarter" idx="3"/>
          </p:nvPr>
        </p:nvSpPr>
        <p:spPr>
          <a:xfrm>
            <a:off x="6172199" y="1143953"/>
            <a:ext cx="5577840" cy="823912"/>
          </a:xfrm>
        </p:spPr>
        <p:txBody>
          <a:bodyPr anchor="b">
            <a:normAutofit/>
          </a:bodyPr>
          <a:lstStyle>
            <a:lvl1pPr marL="0" indent="0">
              <a:buNone/>
              <a:defRPr sz="28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5E150C-F172-4212-848B-D99E37AC7889}"/>
              </a:ext>
            </a:extLst>
          </p:cNvPr>
          <p:cNvSpPr>
            <a:spLocks noGrp="1"/>
          </p:cNvSpPr>
          <p:nvPr>
            <p:ph sz="quarter" idx="4"/>
          </p:nvPr>
        </p:nvSpPr>
        <p:spPr>
          <a:xfrm>
            <a:off x="6172199" y="2086608"/>
            <a:ext cx="5577840" cy="4028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a:extLst>
              <a:ext uri="{FF2B5EF4-FFF2-40B4-BE49-F238E27FC236}">
                <a16:creationId xmlns:a16="http://schemas.microsoft.com/office/drawing/2014/main" id="{BB202358-E0C0-45A3-A206-BE2E6FD21018}"/>
              </a:ext>
            </a:extLst>
          </p:cNvPr>
          <p:cNvSpPr>
            <a:spLocks noGrp="1"/>
          </p:cNvSpPr>
          <p:nvPr>
            <p:ph type="title"/>
          </p:nvPr>
        </p:nvSpPr>
        <p:spPr/>
        <p:txBody>
          <a:bodyPr/>
          <a:lstStyle/>
          <a:p>
            <a:r>
              <a:rPr lang="en-US"/>
              <a:t>Click to edit Master title style</a:t>
            </a:r>
          </a:p>
        </p:txBody>
      </p:sp>
      <p:sp>
        <p:nvSpPr>
          <p:cNvPr id="16" name="Date Placeholder 15">
            <a:extLst>
              <a:ext uri="{FF2B5EF4-FFF2-40B4-BE49-F238E27FC236}">
                <a16:creationId xmlns:a16="http://schemas.microsoft.com/office/drawing/2014/main" id="{8952C853-9EFE-4F60-BAC5-120852F565BA}"/>
              </a:ext>
            </a:extLst>
          </p:cNvPr>
          <p:cNvSpPr>
            <a:spLocks noGrp="1"/>
          </p:cNvSpPr>
          <p:nvPr>
            <p:ph type="dt" sz="half" idx="10"/>
          </p:nvPr>
        </p:nvSpPr>
        <p:spPr/>
        <p:txBody>
          <a:bodyPr/>
          <a:lstStyle/>
          <a:p>
            <a:fld id="{0D5FE891-8DE1-43A7-8DFE-F05C0F650F8C}" type="datetime4">
              <a:rPr lang="en-US" smtClean="0"/>
              <a:t>July 29, 2026</a:t>
            </a:fld>
            <a:endParaRPr lang="en-US"/>
          </a:p>
        </p:txBody>
      </p:sp>
      <p:sp>
        <p:nvSpPr>
          <p:cNvPr id="17" name="Footer Placeholder 16">
            <a:extLst>
              <a:ext uri="{FF2B5EF4-FFF2-40B4-BE49-F238E27FC236}">
                <a16:creationId xmlns:a16="http://schemas.microsoft.com/office/drawing/2014/main" id="{4A708594-B379-44C4-B1CC-64C3F079F5E5}"/>
              </a:ext>
            </a:extLst>
          </p:cNvPr>
          <p:cNvSpPr>
            <a:spLocks noGrp="1"/>
          </p:cNvSpPr>
          <p:nvPr>
            <p:ph type="ftr" sz="quarter" idx="11"/>
          </p:nvPr>
        </p:nvSpPr>
        <p:spPr/>
        <p:txBody>
          <a:bodyPr/>
          <a:lstStyle/>
          <a:p>
            <a:endParaRPr lang="en-US"/>
          </a:p>
        </p:txBody>
      </p:sp>
      <p:sp>
        <p:nvSpPr>
          <p:cNvPr id="18" name="Slide Number Placeholder 17">
            <a:extLst>
              <a:ext uri="{FF2B5EF4-FFF2-40B4-BE49-F238E27FC236}">
                <a16:creationId xmlns:a16="http://schemas.microsoft.com/office/drawing/2014/main" id="{E7E36EAD-166B-44EF-A4CC-11F738D9877E}"/>
              </a:ext>
            </a:extLst>
          </p:cNvPr>
          <p:cNvSpPr>
            <a:spLocks noGrp="1"/>
          </p:cNvSpPr>
          <p:nvPr>
            <p:ph type="sldNum" sz="quarter" idx="12"/>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37036423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21735CF-D95C-40DA-81C8-78A8EE2BF6E6}"/>
              </a:ext>
            </a:extLst>
          </p:cNvPr>
          <p:cNvSpPr>
            <a:spLocks noGrp="1"/>
          </p:cNvSpPr>
          <p:nvPr>
            <p:ph type="body" idx="1"/>
          </p:nvPr>
        </p:nvSpPr>
        <p:spPr>
          <a:xfrm>
            <a:off x="384046" y="1143953"/>
            <a:ext cx="5577840" cy="823912"/>
          </a:xfrm>
        </p:spPr>
        <p:txBody>
          <a:bodyPr anchor="b">
            <a:normAutofit/>
          </a:bodyPr>
          <a:lstStyle>
            <a:lvl1pPr marL="0" indent="0">
              <a:buNone/>
              <a:defRPr sz="28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DB630D-AB45-4AB4-A735-78668B628A8D}"/>
              </a:ext>
            </a:extLst>
          </p:cNvPr>
          <p:cNvSpPr>
            <a:spLocks noGrp="1"/>
          </p:cNvSpPr>
          <p:nvPr>
            <p:ph sz="half" idx="2"/>
          </p:nvPr>
        </p:nvSpPr>
        <p:spPr>
          <a:xfrm>
            <a:off x="384046" y="2086608"/>
            <a:ext cx="5577840" cy="4028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BB0A25-DE4F-4426-9983-567310E5224D}"/>
              </a:ext>
            </a:extLst>
          </p:cNvPr>
          <p:cNvSpPr>
            <a:spLocks noGrp="1"/>
          </p:cNvSpPr>
          <p:nvPr>
            <p:ph type="body" sz="quarter" idx="3"/>
          </p:nvPr>
        </p:nvSpPr>
        <p:spPr>
          <a:xfrm>
            <a:off x="6172199" y="1143953"/>
            <a:ext cx="5577840" cy="823912"/>
          </a:xfrm>
        </p:spPr>
        <p:txBody>
          <a:bodyPr anchor="b">
            <a:normAutofit/>
          </a:bodyPr>
          <a:lstStyle>
            <a:lvl1pPr marL="0" indent="0">
              <a:buNone/>
              <a:defRPr sz="28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5E150C-F172-4212-848B-D99E37AC7889}"/>
              </a:ext>
            </a:extLst>
          </p:cNvPr>
          <p:cNvSpPr>
            <a:spLocks noGrp="1"/>
          </p:cNvSpPr>
          <p:nvPr>
            <p:ph sz="quarter" idx="4"/>
          </p:nvPr>
        </p:nvSpPr>
        <p:spPr>
          <a:xfrm>
            <a:off x="6172199" y="2086608"/>
            <a:ext cx="5577840" cy="4028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a:extLst>
              <a:ext uri="{FF2B5EF4-FFF2-40B4-BE49-F238E27FC236}">
                <a16:creationId xmlns:a16="http://schemas.microsoft.com/office/drawing/2014/main" id="{BB202358-E0C0-45A3-A206-BE2E6FD21018}"/>
              </a:ext>
            </a:extLst>
          </p:cNvPr>
          <p:cNvSpPr>
            <a:spLocks noGrp="1"/>
          </p:cNvSpPr>
          <p:nvPr>
            <p:ph type="title"/>
          </p:nvPr>
        </p:nvSpPr>
        <p:spPr>
          <a:xfrm>
            <a:off x="384048" y="309282"/>
            <a:ext cx="10234646" cy="605118"/>
          </a:xfrm>
        </p:spPr>
        <p:txBody>
          <a:bodyPr/>
          <a:lstStyle/>
          <a:p>
            <a:r>
              <a:rPr lang="en-US"/>
              <a:t>Click to edit Master title style</a:t>
            </a:r>
          </a:p>
        </p:txBody>
      </p:sp>
      <p:sp>
        <p:nvSpPr>
          <p:cNvPr id="11" name="Text Placeholder 9">
            <a:extLst>
              <a:ext uri="{FF2B5EF4-FFF2-40B4-BE49-F238E27FC236}">
                <a16:creationId xmlns:a16="http://schemas.microsoft.com/office/drawing/2014/main" id="{D098C024-FBCD-4933-8C05-6AE2DBEED438}"/>
              </a:ext>
            </a:extLst>
          </p:cNvPr>
          <p:cNvSpPr>
            <a:spLocks noGrp="1"/>
          </p:cNvSpPr>
          <p:nvPr>
            <p:ph type="body" sz="quarter" idx="13"/>
          </p:nvPr>
        </p:nvSpPr>
        <p:spPr>
          <a:xfrm>
            <a:off x="10872216" y="3175"/>
            <a:ext cx="914400" cy="911225"/>
          </a:xfrm>
          <a:noFill/>
        </p:spPr>
        <p:txBody>
          <a:bodyPr lIns="91440" tIns="91440" rIns="91440" bIns="91440" anchor="b">
            <a:normAutofit/>
          </a:bodyPr>
          <a:lstStyle>
            <a:lvl1pPr marL="0" indent="0" algn="ctr">
              <a:buNone/>
              <a:defRPr sz="900" b="0">
                <a:solidFill>
                  <a:schemeClr val="bg1"/>
                </a:solidFill>
              </a:defRPr>
            </a:lvl1pPr>
            <a:lvl2pPr marL="457200" indent="0" algn="ctr">
              <a:buNone/>
              <a:defRPr sz="900">
                <a:solidFill>
                  <a:schemeClr val="bg1"/>
                </a:solidFill>
              </a:defRPr>
            </a:lvl2pPr>
            <a:lvl3pPr marL="914400" indent="0" algn="ctr">
              <a:buNone/>
              <a:defRPr sz="900">
                <a:solidFill>
                  <a:schemeClr val="bg1"/>
                </a:solidFill>
              </a:defRPr>
            </a:lvl3pPr>
            <a:lvl4pPr marL="1371600" indent="0" algn="ctr">
              <a:buNone/>
              <a:defRPr sz="900">
                <a:solidFill>
                  <a:schemeClr val="bg1"/>
                </a:solidFill>
              </a:defRPr>
            </a:lvl4pPr>
            <a:lvl5pPr marL="1828800" indent="0" algn="ctr">
              <a:buNone/>
              <a:defRPr sz="900">
                <a:solidFill>
                  <a:schemeClr val="bg1"/>
                </a:solidFill>
              </a:defRPr>
            </a:lvl5pPr>
          </a:lstStyle>
          <a:p>
            <a:pPr lvl="0"/>
            <a:r>
              <a:rPr lang="en-US"/>
              <a:t>Click to edit Master text styles</a:t>
            </a:r>
          </a:p>
        </p:txBody>
      </p:sp>
      <p:sp>
        <p:nvSpPr>
          <p:cNvPr id="17" name="Date Placeholder 16">
            <a:extLst>
              <a:ext uri="{FF2B5EF4-FFF2-40B4-BE49-F238E27FC236}">
                <a16:creationId xmlns:a16="http://schemas.microsoft.com/office/drawing/2014/main" id="{6CB57719-8279-4B77-92B2-062C11F22549}"/>
              </a:ext>
            </a:extLst>
          </p:cNvPr>
          <p:cNvSpPr>
            <a:spLocks noGrp="1"/>
          </p:cNvSpPr>
          <p:nvPr>
            <p:ph type="dt" sz="half" idx="14"/>
          </p:nvPr>
        </p:nvSpPr>
        <p:spPr/>
        <p:txBody>
          <a:bodyPr/>
          <a:lstStyle/>
          <a:p>
            <a:fld id="{4F31ED60-57BA-425F-BBE8-3DF23D11EEBD}" type="datetime4">
              <a:rPr lang="en-US" smtClean="0"/>
              <a:t>July 29, 2026</a:t>
            </a:fld>
            <a:endParaRPr lang="en-US"/>
          </a:p>
        </p:txBody>
      </p:sp>
      <p:sp>
        <p:nvSpPr>
          <p:cNvPr id="18" name="Footer Placeholder 17">
            <a:extLst>
              <a:ext uri="{FF2B5EF4-FFF2-40B4-BE49-F238E27FC236}">
                <a16:creationId xmlns:a16="http://schemas.microsoft.com/office/drawing/2014/main" id="{304BED31-5321-46B8-8926-895AB4332620}"/>
              </a:ext>
            </a:extLst>
          </p:cNvPr>
          <p:cNvSpPr>
            <a:spLocks noGrp="1"/>
          </p:cNvSpPr>
          <p:nvPr>
            <p:ph type="ftr" sz="quarter" idx="15"/>
          </p:nvPr>
        </p:nvSpPr>
        <p:spPr/>
        <p:txBody>
          <a:bodyPr/>
          <a:lstStyle/>
          <a:p>
            <a:endParaRPr lang="en-US"/>
          </a:p>
        </p:txBody>
      </p:sp>
      <p:sp>
        <p:nvSpPr>
          <p:cNvPr id="19" name="Slide Number Placeholder 18">
            <a:extLst>
              <a:ext uri="{FF2B5EF4-FFF2-40B4-BE49-F238E27FC236}">
                <a16:creationId xmlns:a16="http://schemas.microsoft.com/office/drawing/2014/main" id="{4A5151B0-254B-431D-B9ED-6C852735EBB0}"/>
              </a:ext>
            </a:extLst>
          </p:cNvPr>
          <p:cNvSpPr>
            <a:spLocks noGrp="1"/>
          </p:cNvSpPr>
          <p:nvPr>
            <p:ph type="sldNum" sz="quarter" idx="16"/>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5215995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6DDA1-A969-4C82-9A0D-55A52859A62B}"/>
              </a:ext>
            </a:extLst>
          </p:cNvPr>
          <p:cNvSpPr>
            <a:spLocks noGrp="1"/>
          </p:cNvSpPr>
          <p:nvPr>
            <p:ph type="title"/>
          </p:nvPr>
        </p:nvSpPr>
        <p:spPr>
          <a:xfrm>
            <a:off x="384048" y="309282"/>
            <a:ext cx="11420856" cy="605118"/>
          </a:xfrm>
        </p:spPr>
        <p:txBody>
          <a:bodyPr/>
          <a:lstStyle/>
          <a:p>
            <a:r>
              <a:rPr lang="en-US"/>
              <a:t>Click to edit Master title style</a:t>
            </a:r>
          </a:p>
        </p:txBody>
      </p:sp>
      <p:sp>
        <p:nvSpPr>
          <p:cNvPr id="13" name="Date Placeholder 12">
            <a:extLst>
              <a:ext uri="{FF2B5EF4-FFF2-40B4-BE49-F238E27FC236}">
                <a16:creationId xmlns:a16="http://schemas.microsoft.com/office/drawing/2014/main" id="{892A9FBA-C7CA-4042-9854-01B78CA808BF}"/>
              </a:ext>
            </a:extLst>
          </p:cNvPr>
          <p:cNvSpPr>
            <a:spLocks noGrp="1"/>
          </p:cNvSpPr>
          <p:nvPr>
            <p:ph type="dt" sz="half" idx="10"/>
          </p:nvPr>
        </p:nvSpPr>
        <p:spPr/>
        <p:txBody>
          <a:bodyPr/>
          <a:lstStyle/>
          <a:p>
            <a:fld id="{04810266-D8AF-46AB-905F-BE67043958F5}" type="datetime4">
              <a:rPr lang="en-US" smtClean="0"/>
              <a:t>July 29, 2026</a:t>
            </a:fld>
            <a:endParaRPr lang="en-US"/>
          </a:p>
        </p:txBody>
      </p:sp>
      <p:sp>
        <p:nvSpPr>
          <p:cNvPr id="14" name="Footer Placeholder 13">
            <a:extLst>
              <a:ext uri="{FF2B5EF4-FFF2-40B4-BE49-F238E27FC236}">
                <a16:creationId xmlns:a16="http://schemas.microsoft.com/office/drawing/2014/main" id="{A0311997-B16B-4E35-B71E-3ED769B7C566}"/>
              </a:ext>
            </a:extLst>
          </p:cNvPr>
          <p:cNvSpPr>
            <a:spLocks noGrp="1"/>
          </p:cNvSpPr>
          <p:nvPr>
            <p:ph type="ftr" sz="quarter" idx="11"/>
          </p:nvPr>
        </p:nvSpPr>
        <p:spPr/>
        <p:txBody>
          <a:bodyPr/>
          <a:lstStyle/>
          <a:p>
            <a:endParaRPr lang="en-US"/>
          </a:p>
        </p:txBody>
      </p:sp>
      <p:sp>
        <p:nvSpPr>
          <p:cNvPr id="15" name="Slide Number Placeholder 14">
            <a:extLst>
              <a:ext uri="{FF2B5EF4-FFF2-40B4-BE49-F238E27FC236}">
                <a16:creationId xmlns:a16="http://schemas.microsoft.com/office/drawing/2014/main" id="{7FD3E4CB-9E65-447D-B78E-891C1F97ADDA}"/>
              </a:ext>
            </a:extLst>
          </p:cNvPr>
          <p:cNvSpPr>
            <a:spLocks noGrp="1"/>
          </p:cNvSpPr>
          <p:nvPr>
            <p:ph type="sldNum" sz="quarter" idx="12"/>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24127327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6DDA1-A969-4C82-9A0D-55A52859A62B}"/>
              </a:ext>
            </a:extLst>
          </p:cNvPr>
          <p:cNvSpPr>
            <a:spLocks noGrp="1"/>
          </p:cNvSpPr>
          <p:nvPr>
            <p:ph type="title"/>
          </p:nvPr>
        </p:nvSpPr>
        <p:spPr>
          <a:xfrm>
            <a:off x="384048" y="309282"/>
            <a:ext cx="10234646" cy="605118"/>
          </a:xfrm>
        </p:spPr>
        <p:txBody>
          <a:bodyPr/>
          <a:lstStyle/>
          <a:p>
            <a:r>
              <a:rPr lang="en-US"/>
              <a:t>Click to edit Master title style</a:t>
            </a:r>
          </a:p>
        </p:txBody>
      </p:sp>
      <p:sp>
        <p:nvSpPr>
          <p:cNvPr id="6" name="Text Placeholder 9">
            <a:extLst>
              <a:ext uri="{FF2B5EF4-FFF2-40B4-BE49-F238E27FC236}">
                <a16:creationId xmlns:a16="http://schemas.microsoft.com/office/drawing/2014/main" id="{48E5FB59-C14A-433C-B2C4-D64F8AF82774}"/>
              </a:ext>
            </a:extLst>
          </p:cNvPr>
          <p:cNvSpPr>
            <a:spLocks noGrp="1"/>
          </p:cNvSpPr>
          <p:nvPr>
            <p:ph type="body" sz="quarter" idx="13"/>
          </p:nvPr>
        </p:nvSpPr>
        <p:spPr>
          <a:xfrm>
            <a:off x="10872216" y="3175"/>
            <a:ext cx="914400" cy="911225"/>
          </a:xfrm>
          <a:noFill/>
        </p:spPr>
        <p:txBody>
          <a:bodyPr lIns="91440" tIns="91440" rIns="91440" bIns="91440" anchor="b">
            <a:normAutofit/>
          </a:bodyPr>
          <a:lstStyle>
            <a:lvl1pPr marL="0" indent="0" algn="ctr">
              <a:buNone/>
              <a:defRPr sz="900" b="0">
                <a:solidFill>
                  <a:schemeClr val="bg1"/>
                </a:solidFill>
              </a:defRPr>
            </a:lvl1pPr>
            <a:lvl2pPr marL="457200" indent="0" algn="ctr">
              <a:buNone/>
              <a:defRPr sz="900">
                <a:solidFill>
                  <a:schemeClr val="bg1"/>
                </a:solidFill>
              </a:defRPr>
            </a:lvl2pPr>
            <a:lvl3pPr marL="914400" indent="0" algn="ctr">
              <a:buNone/>
              <a:defRPr sz="900">
                <a:solidFill>
                  <a:schemeClr val="bg1"/>
                </a:solidFill>
              </a:defRPr>
            </a:lvl3pPr>
            <a:lvl4pPr marL="1371600" indent="0" algn="ctr">
              <a:buNone/>
              <a:defRPr sz="900">
                <a:solidFill>
                  <a:schemeClr val="bg1"/>
                </a:solidFill>
              </a:defRPr>
            </a:lvl4pPr>
            <a:lvl5pPr marL="1828800" indent="0" algn="ctr">
              <a:buNone/>
              <a:defRPr sz="900">
                <a:solidFill>
                  <a:schemeClr val="bg1"/>
                </a:solidFill>
              </a:defRPr>
            </a:lvl5pPr>
          </a:lstStyle>
          <a:p>
            <a:pPr lvl="0"/>
            <a:r>
              <a:rPr lang="en-US"/>
              <a:t>Click to edit Master text styles</a:t>
            </a:r>
          </a:p>
        </p:txBody>
      </p:sp>
      <p:sp>
        <p:nvSpPr>
          <p:cNvPr id="13" name="Date Placeholder 12">
            <a:extLst>
              <a:ext uri="{FF2B5EF4-FFF2-40B4-BE49-F238E27FC236}">
                <a16:creationId xmlns:a16="http://schemas.microsoft.com/office/drawing/2014/main" id="{1802C7F8-F46F-423F-9ACB-C7DD5A73AA67}"/>
              </a:ext>
            </a:extLst>
          </p:cNvPr>
          <p:cNvSpPr>
            <a:spLocks noGrp="1"/>
          </p:cNvSpPr>
          <p:nvPr>
            <p:ph type="dt" sz="half" idx="14"/>
          </p:nvPr>
        </p:nvSpPr>
        <p:spPr/>
        <p:txBody>
          <a:bodyPr/>
          <a:lstStyle/>
          <a:p>
            <a:fld id="{92C11029-89B8-4EFC-A646-F30793B61689}" type="datetime4">
              <a:rPr lang="en-US" smtClean="0"/>
              <a:t>July 29, 2026</a:t>
            </a:fld>
            <a:endParaRPr lang="en-US"/>
          </a:p>
        </p:txBody>
      </p:sp>
      <p:sp>
        <p:nvSpPr>
          <p:cNvPr id="14" name="Footer Placeholder 13">
            <a:extLst>
              <a:ext uri="{FF2B5EF4-FFF2-40B4-BE49-F238E27FC236}">
                <a16:creationId xmlns:a16="http://schemas.microsoft.com/office/drawing/2014/main" id="{5765A0D9-57B0-4E6F-A4C8-374C155225E7}"/>
              </a:ext>
            </a:extLst>
          </p:cNvPr>
          <p:cNvSpPr>
            <a:spLocks noGrp="1"/>
          </p:cNvSpPr>
          <p:nvPr>
            <p:ph type="ftr" sz="quarter" idx="15"/>
          </p:nvPr>
        </p:nvSpPr>
        <p:spPr/>
        <p:txBody>
          <a:bodyPr/>
          <a:lstStyle/>
          <a:p>
            <a:endParaRPr lang="en-US"/>
          </a:p>
        </p:txBody>
      </p:sp>
      <p:sp>
        <p:nvSpPr>
          <p:cNvPr id="15" name="Slide Number Placeholder 14">
            <a:extLst>
              <a:ext uri="{FF2B5EF4-FFF2-40B4-BE49-F238E27FC236}">
                <a16:creationId xmlns:a16="http://schemas.microsoft.com/office/drawing/2014/main" id="{9CC9A69E-B9E5-4CF3-8DCA-5D7D8324EA43}"/>
              </a:ext>
            </a:extLst>
          </p:cNvPr>
          <p:cNvSpPr>
            <a:spLocks noGrp="1"/>
          </p:cNvSpPr>
          <p:nvPr>
            <p:ph type="sldNum" sz="quarter" idx="16"/>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22560154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13">
            <a:extLst>
              <a:ext uri="{FF2B5EF4-FFF2-40B4-BE49-F238E27FC236}">
                <a16:creationId xmlns:a16="http://schemas.microsoft.com/office/drawing/2014/main" id="{6E90B317-D5B3-43D3-8914-DF4269D55880}"/>
              </a:ext>
            </a:extLst>
          </p:cNvPr>
          <p:cNvSpPr>
            <a:spLocks noGrp="1"/>
          </p:cNvSpPr>
          <p:nvPr>
            <p:ph type="dt" sz="half" idx="10"/>
          </p:nvPr>
        </p:nvSpPr>
        <p:spPr/>
        <p:txBody>
          <a:bodyPr/>
          <a:lstStyle/>
          <a:p>
            <a:fld id="{BAC83632-FC99-405F-901B-5F42C0538C0C}" type="datetime4">
              <a:rPr lang="en-US" smtClean="0"/>
              <a:t>July 29, 2026</a:t>
            </a:fld>
            <a:endParaRPr lang="en-US"/>
          </a:p>
        </p:txBody>
      </p:sp>
      <p:sp>
        <p:nvSpPr>
          <p:cNvPr id="15" name="Footer Placeholder 14">
            <a:extLst>
              <a:ext uri="{FF2B5EF4-FFF2-40B4-BE49-F238E27FC236}">
                <a16:creationId xmlns:a16="http://schemas.microsoft.com/office/drawing/2014/main" id="{1D5AAA70-8031-4D41-AC24-D112D9CB0E94}"/>
              </a:ext>
            </a:extLst>
          </p:cNvPr>
          <p:cNvSpPr>
            <a:spLocks noGrp="1"/>
          </p:cNvSpPr>
          <p:nvPr>
            <p:ph type="ftr" sz="quarter" idx="11"/>
          </p:nvPr>
        </p:nvSpPr>
        <p:spPr/>
        <p:txBody>
          <a:bodyPr/>
          <a:lstStyle/>
          <a:p>
            <a:endParaRPr lang="en-US"/>
          </a:p>
        </p:txBody>
      </p:sp>
      <p:sp>
        <p:nvSpPr>
          <p:cNvPr id="16" name="Slide Number Placeholder 15">
            <a:extLst>
              <a:ext uri="{FF2B5EF4-FFF2-40B4-BE49-F238E27FC236}">
                <a16:creationId xmlns:a16="http://schemas.microsoft.com/office/drawing/2014/main" id="{0D310E4B-2F0B-4312-8F90-47DC70B618EF}"/>
              </a:ext>
            </a:extLst>
          </p:cNvPr>
          <p:cNvSpPr>
            <a:spLocks noGrp="1"/>
          </p:cNvSpPr>
          <p:nvPr>
            <p:ph type="sldNum" sz="quarter" idx="12"/>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33248746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9">
            <a:extLst>
              <a:ext uri="{FF2B5EF4-FFF2-40B4-BE49-F238E27FC236}">
                <a16:creationId xmlns:a16="http://schemas.microsoft.com/office/drawing/2014/main" id="{B8A5E3F0-F553-4E6F-B3E3-FF4A3E0AD880}"/>
              </a:ext>
            </a:extLst>
          </p:cNvPr>
          <p:cNvSpPr>
            <a:spLocks noGrp="1"/>
          </p:cNvSpPr>
          <p:nvPr>
            <p:ph type="body" sz="quarter" idx="13"/>
          </p:nvPr>
        </p:nvSpPr>
        <p:spPr>
          <a:xfrm>
            <a:off x="10872216" y="3175"/>
            <a:ext cx="914400" cy="911225"/>
          </a:xfrm>
          <a:noFill/>
        </p:spPr>
        <p:txBody>
          <a:bodyPr lIns="91440" tIns="91440" rIns="91440" bIns="91440" anchor="b">
            <a:normAutofit/>
          </a:bodyPr>
          <a:lstStyle>
            <a:lvl1pPr marL="0" indent="0" algn="ctr">
              <a:buNone/>
              <a:defRPr sz="900" b="0">
                <a:solidFill>
                  <a:schemeClr val="bg1"/>
                </a:solidFill>
              </a:defRPr>
            </a:lvl1pPr>
            <a:lvl2pPr marL="457200" indent="0" algn="ctr">
              <a:buNone/>
              <a:defRPr sz="900">
                <a:solidFill>
                  <a:schemeClr val="bg1"/>
                </a:solidFill>
              </a:defRPr>
            </a:lvl2pPr>
            <a:lvl3pPr marL="914400" indent="0" algn="ctr">
              <a:buNone/>
              <a:defRPr sz="900">
                <a:solidFill>
                  <a:schemeClr val="bg1"/>
                </a:solidFill>
              </a:defRPr>
            </a:lvl3pPr>
            <a:lvl4pPr marL="1371600" indent="0" algn="ctr">
              <a:buNone/>
              <a:defRPr sz="900">
                <a:solidFill>
                  <a:schemeClr val="bg1"/>
                </a:solidFill>
              </a:defRPr>
            </a:lvl4pPr>
            <a:lvl5pPr marL="1828800" indent="0" algn="ctr">
              <a:buNone/>
              <a:defRPr sz="900">
                <a:solidFill>
                  <a:schemeClr val="bg1"/>
                </a:solidFill>
              </a:defRPr>
            </a:lvl5pPr>
          </a:lstStyle>
          <a:p>
            <a:pPr lvl="0"/>
            <a:r>
              <a:rPr lang="en-US"/>
              <a:t>Click to edit Master text styles</a:t>
            </a:r>
          </a:p>
        </p:txBody>
      </p:sp>
      <p:sp>
        <p:nvSpPr>
          <p:cNvPr id="15" name="Date Placeholder 14">
            <a:extLst>
              <a:ext uri="{FF2B5EF4-FFF2-40B4-BE49-F238E27FC236}">
                <a16:creationId xmlns:a16="http://schemas.microsoft.com/office/drawing/2014/main" id="{28C3D5D3-581E-4DEB-9E8E-FA2F796CC715}"/>
              </a:ext>
            </a:extLst>
          </p:cNvPr>
          <p:cNvSpPr>
            <a:spLocks noGrp="1"/>
          </p:cNvSpPr>
          <p:nvPr>
            <p:ph type="dt" sz="half" idx="14"/>
          </p:nvPr>
        </p:nvSpPr>
        <p:spPr/>
        <p:txBody>
          <a:bodyPr/>
          <a:lstStyle/>
          <a:p>
            <a:fld id="{F140A337-0016-48C1-9D7F-560359ED6A8B}" type="datetime4">
              <a:rPr lang="en-US" smtClean="0"/>
              <a:t>July 29, 2026</a:t>
            </a:fld>
            <a:endParaRPr lang="en-US"/>
          </a:p>
        </p:txBody>
      </p:sp>
      <p:sp>
        <p:nvSpPr>
          <p:cNvPr id="16" name="Footer Placeholder 15">
            <a:extLst>
              <a:ext uri="{FF2B5EF4-FFF2-40B4-BE49-F238E27FC236}">
                <a16:creationId xmlns:a16="http://schemas.microsoft.com/office/drawing/2014/main" id="{A10F4B48-18D1-4431-BD82-6E2385929B61}"/>
              </a:ext>
            </a:extLst>
          </p:cNvPr>
          <p:cNvSpPr>
            <a:spLocks noGrp="1"/>
          </p:cNvSpPr>
          <p:nvPr>
            <p:ph type="ftr" sz="quarter" idx="15"/>
          </p:nvPr>
        </p:nvSpPr>
        <p:spPr/>
        <p:txBody>
          <a:bodyPr/>
          <a:lstStyle/>
          <a:p>
            <a:endParaRPr lang="en-US"/>
          </a:p>
        </p:txBody>
      </p:sp>
      <p:sp>
        <p:nvSpPr>
          <p:cNvPr id="17" name="Slide Number Placeholder 16">
            <a:extLst>
              <a:ext uri="{FF2B5EF4-FFF2-40B4-BE49-F238E27FC236}">
                <a16:creationId xmlns:a16="http://schemas.microsoft.com/office/drawing/2014/main" id="{A87909A7-C2C9-44F0-A761-61F142DB190C}"/>
              </a:ext>
            </a:extLst>
          </p:cNvPr>
          <p:cNvSpPr>
            <a:spLocks noGrp="1"/>
          </p:cNvSpPr>
          <p:nvPr>
            <p:ph type="sldNum" sz="quarter" idx="16"/>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2083972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5">
            <a:lum/>
          </a:blip>
          <a:srcRect/>
          <a:stretch>
            <a:fillRect/>
          </a:stretch>
        </a:blip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938546A-B3E2-557B-F825-BC21185E3A20}"/>
              </a:ext>
            </a:extLst>
          </p:cNvPr>
          <p:cNvGraphicFramePr>
            <a:graphicFrameLocks noChangeAspect="1"/>
          </p:cNvGraphicFramePr>
          <p:nvPr userDrawn="1">
            <p:custDataLst>
              <p:tags r:id="rId24"/>
            </p:custDataLst>
            <p:extLst>
              <p:ext uri="{D42A27DB-BD31-4B8C-83A1-F6EECF244321}">
                <p14:modId xmlns:p14="http://schemas.microsoft.com/office/powerpoint/2010/main" val="40281794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404" imgH="405" progId="TCLayout.ActiveDocument.1">
                  <p:embed/>
                </p:oleObj>
              </mc:Choice>
              <mc:Fallback>
                <p:oleObj name="think-cell Slide" r:id="rId26" imgW="404" imgH="405" progId="TCLayout.ActiveDocument.1">
                  <p:embed/>
                  <p:pic>
                    <p:nvPicPr>
                      <p:cNvPr id="8" name="think-cell data - do not delete" hidden="1">
                        <a:extLst>
                          <a:ext uri="{FF2B5EF4-FFF2-40B4-BE49-F238E27FC236}">
                            <a16:creationId xmlns:a16="http://schemas.microsoft.com/office/drawing/2014/main" id="{4938546A-B3E2-557B-F825-BC21185E3A20}"/>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42E2495A-387F-4487-99DA-C1B91241206A}"/>
              </a:ext>
            </a:extLst>
          </p:cNvPr>
          <p:cNvSpPr>
            <a:spLocks noGrp="1"/>
          </p:cNvSpPr>
          <p:nvPr>
            <p:ph type="title"/>
          </p:nvPr>
        </p:nvSpPr>
        <p:spPr>
          <a:xfrm>
            <a:off x="384048" y="309282"/>
            <a:ext cx="11420856" cy="605118"/>
          </a:xfrm>
          <a:prstGeom prst="rect">
            <a:avLst/>
          </a:prstGeom>
        </p:spPr>
        <p:txBody>
          <a:bodyPr vert="horz" lIns="0" tIns="0" rIns="0" bIns="0" rtlCol="0" anchor="b" anchorCtr="0">
            <a:normAutofit/>
          </a:bodyPr>
          <a:lstStyle/>
          <a:p>
            <a:r>
              <a:rPr lang="en-US"/>
              <a:t>Click to edit Master title style</a:t>
            </a:r>
          </a:p>
        </p:txBody>
      </p:sp>
      <p:sp>
        <p:nvSpPr>
          <p:cNvPr id="3" name="Text Placeholder 2">
            <a:extLst>
              <a:ext uri="{FF2B5EF4-FFF2-40B4-BE49-F238E27FC236}">
                <a16:creationId xmlns:a16="http://schemas.microsoft.com/office/drawing/2014/main" id="{5B8B1471-C4E9-49B1-8279-03D2FFDE8E39}"/>
              </a:ext>
            </a:extLst>
          </p:cNvPr>
          <p:cNvSpPr>
            <a:spLocks noGrp="1"/>
          </p:cNvSpPr>
          <p:nvPr>
            <p:ph type="body" idx="1"/>
          </p:nvPr>
        </p:nvSpPr>
        <p:spPr>
          <a:xfrm>
            <a:off x="384048" y="1298448"/>
            <a:ext cx="11420856" cy="472744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6D3428-6EC2-434A-9201-A0874C1BE0C6}"/>
              </a:ext>
            </a:extLst>
          </p:cNvPr>
          <p:cNvSpPr>
            <a:spLocks noGrp="1"/>
          </p:cNvSpPr>
          <p:nvPr>
            <p:ph type="dt" sz="half" idx="2"/>
          </p:nvPr>
        </p:nvSpPr>
        <p:spPr>
          <a:xfrm>
            <a:off x="9499714" y="6284637"/>
            <a:ext cx="1118980" cy="365125"/>
          </a:xfrm>
          <a:prstGeom prst="rect">
            <a:avLst/>
          </a:prstGeom>
        </p:spPr>
        <p:txBody>
          <a:bodyPr vert="horz" lIns="0" tIns="0" rIns="0" bIns="0" rtlCol="0" anchor="b"/>
          <a:lstStyle>
            <a:lvl1pPr algn="r">
              <a:defRPr sz="900">
                <a:solidFill>
                  <a:schemeClr val="tx1">
                    <a:tint val="75000"/>
                  </a:schemeClr>
                </a:solidFill>
              </a:defRPr>
            </a:lvl1pPr>
          </a:lstStyle>
          <a:p>
            <a:fld id="{E152C4D6-D0BD-449D-8C84-CBB8AB784B90}" type="datetime4">
              <a:rPr lang="en-US" smtClean="0"/>
              <a:t>July 29, 2026</a:t>
            </a:fld>
            <a:endParaRPr lang="en-US"/>
          </a:p>
        </p:txBody>
      </p:sp>
      <p:sp>
        <p:nvSpPr>
          <p:cNvPr id="5" name="Footer Placeholder 4">
            <a:extLst>
              <a:ext uri="{FF2B5EF4-FFF2-40B4-BE49-F238E27FC236}">
                <a16:creationId xmlns:a16="http://schemas.microsoft.com/office/drawing/2014/main" id="{B0D16131-1E12-4FD2-B3B5-0EBF92856167}"/>
              </a:ext>
            </a:extLst>
          </p:cNvPr>
          <p:cNvSpPr>
            <a:spLocks noGrp="1"/>
          </p:cNvSpPr>
          <p:nvPr>
            <p:ph type="ftr" sz="quarter" idx="3"/>
          </p:nvPr>
        </p:nvSpPr>
        <p:spPr>
          <a:xfrm>
            <a:off x="384047" y="6286624"/>
            <a:ext cx="9048437" cy="365125"/>
          </a:xfrm>
          <a:prstGeom prst="rect">
            <a:avLst/>
          </a:prstGeom>
          <a:ln>
            <a:noFill/>
          </a:ln>
        </p:spPr>
        <p:txBody>
          <a:bodyPr vert="horz" lIns="0" tIns="0" rIns="0" bIns="0" rtlCol="0" anchor="b"/>
          <a:lstStyle>
            <a:lvl1pPr algn="l">
              <a:defRPr sz="900">
                <a:solidFill>
                  <a:schemeClr val="tx1">
                    <a:tint val="75000"/>
                  </a:schemeClr>
                </a:solidFill>
              </a:defRPr>
            </a:lvl1pPr>
          </a:lstStyle>
          <a:p>
            <a:endParaRPr lang="en-US"/>
          </a:p>
        </p:txBody>
      </p:sp>
      <p:sp>
        <p:nvSpPr>
          <p:cNvPr id="7" name="Slide Number Placeholder 6">
            <a:extLst>
              <a:ext uri="{FF2B5EF4-FFF2-40B4-BE49-F238E27FC236}">
                <a16:creationId xmlns:a16="http://schemas.microsoft.com/office/drawing/2014/main" id="{00AF3643-EB4B-4E60-89BC-E0DA304B5E83}"/>
              </a:ext>
            </a:extLst>
          </p:cNvPr>
          <p:cNvSpPr>
            <a:spLocks noGrp="1"/>
          </p:cNvSpPr>
          <p:nvPr>
            <p:ph type="sldNum" sz="quarter" idx="4"/>
          </p:nvPr>
        </p:nvSpPr>
        <p:spPr>
          <a:xfrm>
            <a:off x="87852" y="6286624"/>
            <a:ext cx="201619" cy="365125"/>
          </a:xfrm>
          <a:prstGeom prst="rect">
            <a:avLst/>
          </a:prstGeom>
        </p:spPr>
        <p:txBody>
          <a:bodyPr vert="horz" lIns="0" tIns="0" rIns="0" bIns="0" rtlCol="0" anchor="b" anchorCtr="0"/>
          <a:lstStyle>
            <a:lvl1pPr algn="ctr">
              <a:defRPr sz="900">
                <a:solidFill>
                  <a:schemeClr val="tx1">
                    <a:tint val="75000"/>
                  </a:schemeClr>
                </a:solidFill>
              </a:defRPr>
            </a:lvl1pPr>
          </a:lstStyle>
          <a:p>
            <a:fld id="{3CBD822F-ED39-4FC2-B5B5-D2EAB6238DC3}" type="slidenum">
              <a:rPr lang="en-US" smtClean="0"/>
              <a:pPr/>
              <a:t>‹#›</a:t>
            </a:fld>
            <a:endParaRPr lang="en-US"/>
          </a:p>
        </p:txBody>
      </p:sp>
    </p:spTree>
    <p:extLst>
      <p:ext uri="{BB962C8B-B14F-4D97-AF65-F5344CB8AC3E}">
        <p14:creationId xmlns:p14="http://schemas.microsoft.com/office/powerpoint/2010/main" val="24423372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Lst>
  <p:hf hdr="0"/>
  <p:txStyles>
    <p:titleStyle>
      <a:lvl1pPr algn="l" defTabSz="9144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300"/>
        </a:spcAft>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300"/>
        </a:spcAft>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14.svg"/><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5.svg"/><Relationship Id="rId7" Type="http://schemas.openxmlformats.org/officeDocument/2006/relationships/image" Target="../media/image18.sv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8.xml"/><Relationship Id="rId5" Type="http://schemas.openxmlformats.org/officeDocument/2006/relationships/image" Target="../media/image14.svg"/><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hyperlink" Target="https://learn.microsoft.com/en-us/power-platform/admin/managed-environment-overview" TargetMode="External"/><Relationship Id="rId2" Type="http://schemas.openxmlformats.org/officeDocument/2006/relationships/image" Target="../media/image14.sv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image" Target="../media/image14.svg"/><Relationship Id="rId7" Type="http://schemas.openxmlformats.org/officeDocument/2006/relationships/image" Target="../media/image23.png"/><Relationship Id="rId12"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22.svg"/><Relationship Id="rId11" Type="http://schemas.openxmlformats.org/officeDocument/2006/relationships/diagramColors" Target="../diagrams/colors2.xml"/><Relationship Id="rId5" Type="http://schemas.openxmlformats.org/officeDocument/2006/relationships/image" Target="../media/image21.png"/><Relationship Id="rId10" Type="http://schemas.openxmlformats.org/officeDocument/2006/relationships/diagramQuickStyle" Target="../diagrams/quickStyle2.xml"/><Relationship Id="rId4" Type="http://schemas.openxmlformats.org/officeDocument/2006/relationships/image" Target="../media/image20.svg"/><Relationship Id="rId9"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notesSlide" Target="../notesSlides/notesSlide8.xml"/><Relationship Id="rId7" Type="http://schemas.openxmlformats.org/officeDocument/2006/relationships/hyperlink" Target="https://769372677-my.sharepoint.com/:w:/g/personal/jon_rubin_canadalife_com/EdCL5Sb5GatLswb8xHvk32ABs-tS_TSIVtnsdzOy5mcVPQ?e=cKTX2h" TargetMode="External"/><Relationship Id="rId2" Type="http://schemas.openxmlformats.org/officeDocument/2006/relationships/slideLayout" Target="../slideLayouts/slideLayout9.xml"/><Relationship Id="rId1" Type="http://schemas.openxmlformats.org/officeDocument/2006/relationships/tags" Target="../tags/tag3.xml"/><Relationship Id="rId6" Type="http://schemas.openxmlformats.org/officeDocument/2006/relationships/image" Target="../media/image14.svg"/><Relationship Id="rId5" Type="http://schemas.openxmlformats.org/officeDocument/2006/relationships/image" Target="../media/image2.emf"/><Relationship Id="rId4"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tags" Target="../tags/tag4.xml"/><Relationship Id="rId6" Type="http://schemas.openxmlformats.org/officeDocument/2006/relationships/image" Target="../media/image14.svg"/><Relationship Id="rId5" Type="http://schemas.openxmlformats.org/officeDocument/2006/relationships/image" Target="../media/image2.emf"/><Relationship Id="rId4"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9.xml"/><Relationship Id="rId1" Type="http://schemas.openxmlformats.org/officeDocument/2006/relationships/tags" Target="../tags/tag5.xml"/><Relationship Id="rId6" Type="http://schemas.openxmlformats.org/officeDocument/2006/relationships/image" Target="../media/image14.svg"/><Relationship Id="rId5" Type="http://schemas.openxmlformats.org/officeDocument/2006/relationships/image" Target="../media/image2.emf"/><Relationship Id="rId4"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9.xml"/><Relationship Id="rId1" Type="http://schemas.openxmlformats.org/officeDocument/2006/relationships/tags" Target="../tags/tag6.xml"/><Relationship Id="rId6" Type="http://schemas.openxmlformats.org/officeDocument/2006/relationships/image" Target="../media/image14.svg"/><Relationship Id="rId5" Type="http://schemas.openxmlformats.org/officeDocument/2006/relationships/image" Target="../media/image2.emf"/><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9.xml"/><Relationship Id="rId1" Type="http://schemas.openxmlformats.org/officeDocument/2006/relationships/tags" Target="../tags/tag7.xml"/><Relationship Id="rId6" Type="http://schemas.openxmlformats.org/officeDocument/2006/relationships/image" Target="../media/image14.svg"/><Relationship Id="rId5" Type="http://schemas.openxmlformats.org/officeDocument/2006/relationships/image" Target="../media/image2.emf"/><Relationship Id="rId4" Type="http://schemas.openxmlformats.org/officeDocument/2006/relationships/oleObject" Target="../embeddings/oleObject3.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9.xml"/><Relationship Id="rId1" Type="http://schemas.openxmlformats.org/officeDocument/2006/relationships/tags" Target="../tags/tag8.xml"/><Relationship Id="rId6" Type="http://schemas.openxmlformats.org/officeDocument/2006/relationships/image" Target="../media/image14.svg"/><Relationship Id="rId5" Type="http://schemas.openxmlformats.org/officeDocument/2006/relationships/image" Target="../media/image2.emf"/><Relationship Id="rId4" Type="http://schemas.openxmlformats.org/officeDocument/2006/relationships/oleObject" Target="../embeddings/oleObject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D5DAE07-7F12-0024-0E99-FD24EE31926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6" name="think-cell data - do not delete" hidden="1">
                        <a:extLst>
                          <a:ext uri="{FF2B5EF4-FFF2-40B4-BE49-F238E27FC236}">
                            <a16:creationId xmlns:a16="http://schemas.microsoft.com/office/drawing/2014/main" id="{8D5DAE07-7F12-0024-0E99-FD24EE3192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C59D040-BF69-4BFA-BD3E-D53CDBA6F2F5}"/>
              </a:ext>
            </a:extLst>
          </p:cNvPr>
          <p:cNvSpPr>
            <a:spLocks noGrp="1"/>
          </p:cNvSpPr>
          <p:nvPr>
            <p:ph type="ctrTitle"/>
          </p:nvPr>
        </p:nvSpPr>
        <p:spPr>
          <a:xfrm>
            <a:off x="4028692" y="2720308"/>
            <a:ext cx="6108956" cy="1222311"/>
          </a:xfrm>
        </p:spPr>
        <p:txBody>
          <a:bodyPr vert="horz">
            <a:normAutofit/>
          </a:bodyPr>
          <a:lstStyle/>
          <a:p>
            <a:pPr algn="ctr"/>
            <a:r>
              <a:rPr lang="en-CA" dirty="0"/>
              <a:t>Power</a:t>
            </a:r>
            <a:br>
              <a:rPr lang="en-CA" dirty="0"/>
            </a:br>
            <a:r>
              <a:rPr lang="en-CA" dirty="0"/>
              <a:t>Platform</a:t>
            </a:r>
            <a:endParaRPr lang="en-US" dirty="0"/>
          </a:p>
        </p:txBody>
      </p:sp>
      <p:sp>
        <p:nvSpPr>
          <p:cNvPr id="4" name="Date Placeholder 3">
            <a:extLst>
              <a:ext uri="{FF2B5EF4-FFF2-40B4-BE49-F238E27FC236}">
                <a16:creationId xmlns:a16="http://schemas.microsoft.com/office/drawing/2014/main" id="{5383FB2E-AA34-4F8A-B6E4-CC13FBD71F26}"/>
              </a:ext>
            </a:extLst>
          </p:cNvPr>
          <p:cNvSpPr>
            <a:spLocks noGrp="1"/>
          </p:cNvSpPr>
          <p:nvPr>
            <p:ph type="dt" sz="half" idx="10"/>
          </p:nvPr>
        </p:nvSpPr>
        <p:spPr>
          <a:xfrm>
            <a:off x="384048" y="0"/>
            <a:ext cx="1371600" cy="1371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753F368-365D-4C56-8513-2F162A632054}" type="datetime4">
              <a:rPr kumimoji="0" lang="en-US" sz="9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July 29, 2026</a:t>
            </a:fld>
            <a:endParaRPr kumimoji="0" lang="en-US" sz="9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6" name="Graphic 15">
            <a:extLst>
              <a:ext uri="{FF2B5EF4-FFF2-40B4-BE49-F238E27FC236}">
                <a16:creationId xmlns:a16="http://schemas.microsoft.com/office/drawing/2014/main" id="{B4F5BDAD-C8E8-84F8-E773-06007011BAC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28692" y="2290986"/>
            <a:ext cx="2080800" cy="2087608"/>
          </a:xfrm>
          <a:prstGeom prst="rect">
            <a:avLst/>
          </a:prstGeom>
        </p:spPr>
      </p:pic>
      <p:sp>
        <p:nvSpPr>
          <p:cNvPr id="3" name="Title 1">
            <a:extLst>
              <a:ext uri="{FF2B5EF4-FFF2-40B4-BE49-F238E27FC236}">
                <a16:creationId xmlns:a16="http://schemas.microsoft.com/office/drawing/2014/main" id="{9289FAB9-3051-808C-0120-E74013F351B6}"/>
              </a:ext>
            </a:extLst>
          </p:cNvPr>
          <p:cNvSpPr txBox="1">
            <a:spLocks/>
          </p:cNvSpPr>
          <p:nvPr/>
        </p:nvSpPr>
        <p:spPr>
          <a:xfrm>
            <a:off x="3041522" y="4673600"/>
            <a:ext cx="6108956" cy="1135919"/>
          </a:xfrm>
          <a:prstGeom prst="rect">
            <a:avLst/>
          </a:prstGeom>
        </p:spPr>
        <p:txBody>
          <a:bodyPr vert="horz" lIns="0" tIns="0" rIns="0" bIns="0" rtlCol="0" anchor="t"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3600" i="1" dirty="0"/>
              <a:t>Proposed Roadmap</a:t>
            </a:r>
            <a:endParaRPr lang="en-US" sz="3600" i="1" dirty="0"/>
          </a:p>
        </p:txBody>
      </p:sp>
    </p:spTree>
    <p:extLst>
      <p:ext uri="{BB962C8B-B14F-4D97-AF65-F5344CB8AC3E}">
        <p14:creationId xmlns:p14="http://schemas.microsoft.com/office/powerpoint/2010/main" val="2889427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F8F87-3C7F-58AE-AEAF-756C584E37A9}"/>
              </a:ext>
            </a:extLst>
          </p:cNvPr>
          <p:cNvSpPr>
            <a:spLocks noGrp="1"/>
          </p:cNvSpPr>
          <p:nvPr>
            <p:ph type="title"/>
          </p:nvPr>
        </p:nvSpPr>
        <p:spPr/>
        <p:txBody>
          <a:bodyPr/>
          <a:lstStyle/>
          <a:p>
            <a:r>
              <a:rPr lang="en-CA" dirty="0"/>
              <a:t>Agenda</a:t>
            </a:r>
          </a:p>
        </p:txBody>
      </p:sp>
      <p:sp>
        <p:nvSpPr>
          <p:cNvPr id="3" name="Content Placeholder 2">
            <a:extLst>
              <a:ext uri="{FF2B5EF4-FFF2-40B4-BE49-F238E27FC236}">
                <a16:creationId xmlns:a16="http://schemas.microsoft.com/office/drawing/2014/main" id="{A1F62D70-54BA-1CF3-118E-B055E2307FF0}"/>
              </a:ext>
            </a:extLst>
          </p:cNvPr>
          <p:cNvSpPr>
            <a:spLocks noGrp="1"/>
          </p:cNvSpPr>
          <p:nvPr>
            <p:ph idx="1"/>
          </p:nvPr>
        </p:nvSpPr>
        <p:spPr/>
        <p:txBody>
          <a:bodyPr/>
          <a:lstStyle/>
          <a:p>
            <a:r>
              <a:rPr lang="en-CA" dirty="0"/>
              <a:t>Power Platform Overview</a:t>
            </a:r>
          </a:p>
          <a:p>
            <a:r>
              <a:rPr lang="en-CA" dirty="0"/>
              <a:t>Current Risks</a:t>
            </a:r>
          </a:p>
          <a:p>
            <a:r>
              <a:rPr lang="en-CA" dirty="0"/>
              <a:t>Risk Mitigation Steps</a:t>
            </a:r>
          </a:p>
          <a:p>
            <a:r>
              <a:rPr lang="en-CA" dirty="0"/>
              <a:t>Licencing &amp; Resourcing Needs</a:t>
            </a:r>
          </a:p>
          <a:p>
            <a:endParaRPr lang="en-CA" dirty="0"/>
          </a:p>
          <a:p>
            <a:r>
              <a:rPr lang="en-CA" dirty="0"/>
              <a:t>Appendix</a:t>
            </a:r>
          </a:p>
          <a:p>
            <a:pPr lvl="1"/>
            <a:r>
              <a:rPr lang="en-CA" dirty="0"/>
              <a:t>Premium Licencing Benefits</a:t>
            </a:r>
          </a:p>
          <a:p>
            <a:pPr lvl="1"/>
            <a:r>
              <a:rPr lang="en-CA" dirty="0"/>
              <a:t>Roadmap</a:t>
            </a:r>
          </a:p>
          <a:p>
            <a:pPr lvl="1"/>
            <a:r>
              <a:rPr lang="en-CA" dirty="0"/>
              <a:t>Priority Items</a:t>
            </a:r>
          </a:p>
          <a:p>
            <a:pPr lvl="1"/>
            <a:endParaRPr lang="en-CA" dirty="0"/>
          </a:p>
        </p:txBody>
      </p:sp>
      <p:sp>
        <p:nvSpPr>
          <p:cNvPr id="4" name="Date Placeholder 3">
            <a:extLst>
              <a:ext uri="{FF2B5EF4-FFF2-40B4-BE49-F238E27FC236}">
                <a16:creationId xmlns:a16="http://schemas.microsoft.com/office/drawing/2014/main" id="{3163015B-C6D3-7B46-5751-C8E39B838B6B}"/>
              </a:ext>
            </a:extLst>
          </p:cNvPr>
          <p:cNvSpPr>
            <a:spLocks noGrp="1"/>
          </p:cNvSpPr>
          <p:nvPr>
            <p:ph type="dt" sz="half" idx="10"/>
          </p:nvPr>
        </p:nvSpPr>
        <p:spPr/>
        <p:txBody>
          <a:bodyPr/>
          <a:lstStyle/>
          <a:p>
            <a:fld id="{7E15AF70-ADAD-49F6-BD67-CA881F71B9B7}" type="datetime4">
              <a:rPr lang="en-US" smtClean="0"/>
              <a:t>July 29, 2026</a:t>
            </a:fld>
            <a:endParaRPr lang="en-US"/>
          </a:p>
        </p:txBody>
      </p:sp>
      <p:sp>
        <p:nvSpPr>
          <p:cNvPr id="5" name="Footer Placeholder 4">
            <a:extLst>
              <a:ext uri="{FF2B5EF4-FFF2-40B4-BE49-F238E27FC236}">
                <a16:creationId xmlns:a16="http://schemas.microsoft.com/office/drawing/2014/main" id="{722F46EC-3A95-72EA-DEAD-BAF1542B3F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967D42-0A5F-56FA-5DB1-B31AD93E8B83}"/>
              </a:ext>
            </a:extLst>
          </p:cNvPr>
          <p:cNvSpPr>
            <a:spLocks noGrp="1"/>
          </p:cNvSpPr>
          <p:nvPr>
            <p:ph type="sldNum" sz="quarter" idx="12"/>
          </p:nvPr>
        </p:nvSpPr>
        <p:spPr/>
        <p:txBody>
          <a:bodyPr/>
          <a:lstStyle/>
          <a:p>
            <a:fld id="{3CBD822F-ED39-4FC2-B5B5-D2EAB6238DC3}" type="slidenum">
              <a:rPr lang="en-US" smtClean="0"/>
              <a:pPr/>
              <a:t>2</a:t>
            </a:fld>
            <a:endParaRPr lang="en-US"/>
          </a:p>
        </p:txBody>
      </p:sp>
    </p:spTree>
    <p:extLst>
      <p:ext uri="{BB962C8B-B14F-4D97-AF65-F5344CB8AC3E}">
        <p14:creationId xmlns:p14="http://schemas.microsoft.com/office/powerpoint/2010/main" val="1552154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fade">
                                      <p:cBhvr>
                                        <p:cTn id="1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120CA-8344-8F92-5F68-7E2C06F56304}"/>
            </a:ext>
          </a:extLst>
        </p:cNvPr>
        <p:cNvGrpSpPr/>
        <p:nvPr/>
      </p:nvGrpSpPr>
      <p:grpSpPr>
        <a:xfrm>
          <a:off x="0" y="0"/>
          <a:ext cx="0" cy="0"/>
          <a:chOff x="0" y="0"/>
          <a:chExt cx="0" cy="0"/>
        </a:xfrm>
      </p:grpSpPr>
      <p:pic>
        <p:nvPicPr>
          <p:cNvPr id="7" name="Graphic 6">
            <a:extLst>
              <a:ext uri="{FF2B5EF4-FFF2-40B4-BE49-F238E27FC236}">
                <a16:creationId xmlns:a16="http://schemas.microsoft.com/office/drawing/2014/main" id="{6D5EBF91-55F9-B419-0FD0-0919651207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15927" y="4390000"/>
            <a:ext cx="914400" cy="914400"/>
          </a:xfrm>
          <a:prstGeom prst="rect">
            <a:avLst/>
          </a:prstGeom>
        </p:spPr>
      </p:pic>
      <p:sp>
        <p:nvSpPr>
          <p:cNvPr id="6" name="Title 5">
            <a:extLst>
              <a:ext uri="{FF2B5EF4-FFF2-40B4-BE49-F238E27FC236}">
                <a16:creationId xmlns:a16="http://schemas.microsoft.com/office/drawing/2014/main" id="{CF93AB05-B80A-B04E-244B-5EA1D5A1AA01}"/>
              </a:ext>
            </a:extLst>
          </p:cNvPr>
          <p:cNvSpPr>
            <a:spLocks noGrp="1"/>
          </p:cNvSpPr>
          <p:nvPr>
            <p:ph type="title"/>
          </p:nvPr>
        </p:nvSpPr>
        <p:spPr/>
        <p:txBody>
          <a:bodyPr/>
          <a:lstStyle/>
          <a:p>
            <a:r>
              <a:rPr lang="en-CA" dirty="0"/>
              <a:t>What is Power Platform?</a:t>
            </a:r>
          </a:p>
        </p:txBody>
      </p:sp>
      <p:sp>
        <p:nvSpPr>
          <p:cNvPr id="8" name="Date Placeholder 7">
            <a:extLst>
              <a:ext uri="{FF2B5EF4-FFF2-40B4-BE49-F238E27FC236}">
                <a16:creationId xmlns:a16="http://schemas.microsoft.com/office/drawing/2014/main" id="{A657C352-1A45-A1CD-EFF3-DAE363639938}"/>
              </a:ext>
            </a:extLst>
          </p:cNvPr>
          <p:cNvSpPr>
            <a:spLocks noGrp="1"/>
          </p:cNvSpPr>
          <p:nvPr>
            <p:ph type="dt" sz="half" idx="14"/>
          </p:nvPr>
        </p:nvSpPr>
        <p:spPr/>
        <p:txBody>
          <a:bodyPr/>
          <a:lstStyle/>
          <a:p>
            <a:fld id="{4F31ED60-57BA-425F-BBE8-3DF23D11EEBD}" type="datetime4">
              <a:rPr lang="en-US" smtClean="0"/>
              <a:t>July 29, 2026</a:t>
            </a:fld>
            <a:endParaRPr lang="en-US"/>
          </a:p>
        </p:txBody>
      </p:sp>
      <p:sp>
        <p:nvSpPr>
          <p:cNvPr id="9" name="Footer Placeholder 8">
            <a:extLst>
              <a:ext uri="{FF2B5EF4-FFF2-40B4-BE49-F238E27FC236}">
                <a16:creationId xmlns:a16="http://schemas.microsoft.com/office/drawing/2014/main" id="{0D290595-29E2-B9B3-BF63-AA592D38C780}"/>
              </a:ext>
            </a:extLst>
          </p:cNvPr>
          <p:cNvSpPr>
            <a:spLocks noGrp="1"/>
          </p:cNvSpPr>
          <p:nvPr>
            <p:ph type="ftr" sz="quarter" idx="15"/>
          </p:nvPr>
        </p:nvSpPr>
        <p:spPr/>
        <p:txBody>
          <a:bodyPr/>
          <a:lstStyle/>
          <a:p>
            <a:endParaRPr lang="en-US" dirty="0"/>
          </a:p>
        </p:txBody>
      </p:sp>
      <p:sp>
        <p:nvSpPr>
          <p:cNvPr id="10" name="Slide Number Placeholder 9">
            <a:extLst>
              <a:ext uri="{FF2B5EF4-FFF2-40B4-BE49-F238E27FC236}">
                <a16:creationId xmlns:a16="http://schemas.microsoft.com/office/drawing/2014/main" id="{464AE251-1DFC-7AA6-42AA-B9A94283D7F5}"/>
              </a:ext>
            </a:extLst>
          </p:cNvPr>
          <p:cNvSpPr>
            <a:spLocks noGrp="1"/>
          </p:cNvSpPr>
          <p:nvPr>
            <p:ph type="sldNum" sz="quarter" idx="16"/>
          </p:nvPr>
        </p:nvSpPr>
        <p:spPr/>
        <p:txBody>
          <a:bodyPr/>
          <a:lstStyle/>
          <a:p>
            <a:fld id="{3CBD822F-ED39-4FC2-B5B5-D2EAB6238DC3}" type="slidenum">
              <a:rPr lang="en-US" smtClean="0"/>
              <a:pPr/>
              <a:t>3</a:t>
            </a:fld>
            <a:endParaRPr lang="en-US"/>
          </a:p>
        </p:txBody>
      </p:sp>
      <p:sp>
        <p:nvSpPr>
          <p:cNvPr id="25" name="Title 1">
            <a:extLst>
              <a:ext uri="{FF2B5EF4-FFF2-40B4-BE49-F238E27FC236}">
                <a16:creationId xmlns:a16="http://schemas.microsoft.com/office/drawing/2014/main" id="{5B109A69-77A8-A970-F842-04F84DE9EBC4}"/>
              </a:ext>
            </a:extLst>
          </p:cNvPr>
          <p:cNvSpPr txBox="1">
            <a:spLocks/>
          </p:cNvSpPr>
          <p:nvPr/>
        </p:nvSpPr>
        <p:spPr>
          <a:xfrm>
            <a:off x="7416419" y="309282"/>
            <a:ext cx="3400104"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gn="r"/>
            <a:r>
              <a:rPr lang="en-CA" sz="2400" i="1" dirty="0"/>
              <a:t>Power Platform</a:t>
            </a:r>
            <a:endParaRPr lang="en-CA" sz="2400" i="1" dirty="0">
              <a:cs typeface="Arial" panose="020B0604020202020204"/>
            </a:endParaRPr>
          </a:p>
        </p:txBody>
      </p:sp>
      <p:pic>
        <p:nvPicPr>
          <p:cNvPr id="26" name="Graphic 25">
            <a:extLst>
              <a:ext uri="{FF2B5EF4-FFF2-40B4-BE49-F238E27FC236}">
                <a16:creationId xmlns:a16="http://schemas.microsoft.com/office/drawing/2014/main" id="{FBF1D526-A746-E561-4B19-7AB7CC726C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26425" y="280267"/>
            <a:ext cx="657409" cy="659560"/>
          </a:xfrm>
          <a:prstGeom prst="rect">
            <a:avLst/>
          </a:prstGeom>
        </p:spPr>
      </p:pic>
      <p:sp>
        <p:nvSpPr>
          <p:cNvPr id="2" name="Rectangle 1">
            <a:extLst>
              <a:ext uri="{FF2B5EF4-FFF2-40B4-BE49-F238E27FC236}">
                <a16:creationId xmlns:a16="http://schemas.microsoft.com/office/drawing/2014/main" id="{ED0D5E95-7E0C-DC8C-4692-1F2A3B120258}"/>
              </a:ext>
            </a:extLst>
          </p:cNvPr>
          <p:cNvSpPr/>
          <p:nvPr/>
        </p:nvSpPr>
        <p:spPr>
          <a:xfrm>
            <a:off x="2015378" y="1437298"/>
            <a:ext cx="8161243" cy="233240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Autofit/>
          </a:bodyPr>
          <a:lstStyle/>
          <a:p>
            <a:pPr algn="ctr"/>
            <a:r>
              <a:rPr lang="en-CA" sz="2400" b="1" dirty="0">
                <a:solidFill>
                  <a:schemeClr val="tx1">
                    <a:lumMod val="50000"/>
                  </a:schemeClr>
                </a:solidFill>
                <a:latin typeface="+mj-lt"/>
              </a:rPr>
              <a:t>Microsoft’s low-code platform designed for rapidly building customized end-to-end business solutions.</a:t>
            </a:r>
          </a:p>
        </p:txBody>
      </p:sp>
      <p:pic>
        <p:nvPicPr>
          <p:cNvPr id="4" name="Graphic 3">
            <a:extLst>
              <a:ext uri="{FF2B5EF4-FFF2-40B4-BE49-F238E27FC236}">
                <a16:creationId xmlns:a16="http://schemas.microsoft.com/office/drawing/2014/main" id="{EA33C527-D42A-859C-FFBC-8924198E55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34609" y="4392200"/>
            <a:ext cx="914400" cy="914400"/>
          </a:xfrm>
          <a:prstGeom prst="rect">
            <a:avLst/>
          </a:prstGeom>
        </p:spPr>
      </p:pic>
      <p:pic>
        <p:nvPicPr>
          <p:cNvPr id="5" name="Graphic 4">
            <a:extLst>
              <a:ext uri="{FF2B5EF4-FFF2-40B4-BE49-F238E27FC236}">
                <a16:creationId xmlns:a16="http://schemas.microsoft.com/office/drawing/2014/main" id="{9887DBFE-98C1-43EC-3B5F-2B571763311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53288" y="4392200"/>
            <a:ext cx="914400" cy="914400"/>
          </a:xfrm>
          <a:prstGeom prst="rect">
            <a:avLst/>
          </a:prstGeom>
        </p:spPr>
      </p:pic>
      <p:sp>
        <p:nvSpPr>
          <p:cNvPr id="11" name="Rectangle 10">
            <a:extLst>
              <a:ext uri="{FF2B5EF4-FFF2-40B4-BE49-F238E27FC236}">
                <a16:creationId xmlns:a16="http://schemas.microsoft.com/office/drawing/2014/main" id="{42A6FD06-286C-A6DD-5FF3-4FDA0CE52954}"/>
              </a:ext>
            </a:extLst>
          </p:cNvPr>
          <p:cNvSpPr/>
          <p:nvPr/>
        </p:nvSpPr>
        <p:spPr>
          <a:xfrm>
            <a:off x="5436435" y="5306599"/>
            <a:ext cx="1310745" cy="9144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72000" rIns="137160" bIns="137160" rtlCol="0" anchor="t">
            <a:noAutofit/>
          </a:bodyPr>
          <a:lstStyle/>
          <a:p>
            <a:pPr algn="ctr"/>
            <a:r>
              <a:rPr lang="en-CA" dirty="0">
                <a:solidFill>
                  <a:schemeClr val="tx1">
                    <a:lumMod val="50000"/>
                  </a:schemeClr>
                </a:solidFill>
                <a:latin typeface="+mj-lt"/>
              </a:rPr>
              <a:t>Power Apps</a:t>
            </a:r>
          </a:p>
        </p:txBody>
      </p:sp>
      <p:sp>
        <p:nvSpPr>
          <p:cNvPr id="12" name="Rectangle 11">
            <a:extLst>
              <a:ext uri="{FF2B5EF4-FFF2-40B4-BE49-F238E27FC236}">
                <a16:creationId xmlns:a16="http://schemas.microsoft.com/office/drawing/2014/main" id="{3E25F0E5-B258-131A-16FE-01BC50B0AE93}"/>
              </a:ext>
            </a:extLst>
          </p:cNvPr>
          <p:cNvSpPr/>
          <p:nvPr/>
        </p:nvSpPr>
        <p:spPr>
          <a:xfrm>
            <a:off x="3655115" y="5306599"/>
            <a:ext cx="1310745" cy="9144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72000" rIns="137160" bIns="137160" rtlCol="0" anchor="t">
            <a:noAutofit/>
          </a:bodyPr>
          <a:lstStyle/>
          <a:p>
            <a:pPr algn="ctr"/>
            <a:r>
              <a:rPr lang="en-CA" dirty="0">
                <a:solidFill>
                  <a:schemeClr val="tx1">
                    <a:lumMod val="50000"/>
                  </a:schemeClr>
                </a:solidFill>
                <a:latin typeface="+mj-lt"/>
              </a:rPr>
              <a:t>Power Automate</a:t>
            </a:r>
          </a:p>
        </p:txBody>
      </p:sp>
      <p:sp>
        <p:nvSpPr>
          <p:cNvPr id="13" name="Rectangle 12">
            <a:extLst>
              <a:ext uri="{FF2B5EF4-FFF2-40B4-BE49-F238E27FC236}">
                <a16:creationId xmlns:a16="http://schemas.microsoft.com/office/drawing/2014/main" id="{53E35433-0EDE-E5AE-104F-A84B0362D0A7}"/>
              </a:ext>
            </a:extLst>
          </p:cNvPr>
          <p:cNvSpPr/>
          <p:nvPr/>
        </p:nvSpPr>
        <p:spPr>
          <a:xfrm>
            <a:off x="1868456" y="4497950"/>
            <a:ext cx="1310745" cy="9144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72000" rIns="137160" bIns="137160" rtlCol="0" anchor="t">
            <a:noAutofit/>
          </a:bodyPr>
          <a:lstStyle/>
          <a:p>
            <a:pPr algn="ctr"/>
            <a:r>
              <a:rPr lang="en-CA" dirty="0">
                <a:solidFill>
                  <a:schemeClr val="tx1">
                    <a:lumMod val="50000"/>
                  </a:schemeClr>
                </a:solidFill>
                <a:latin typeface="+mj-lt"/>
              </a:rPr>
              <a:t>Copilot Studio</a:t>
            </a:r>
          </a:p>
        </p:txBody>
      </p:sp>
      <p:sp>
        <p:nvSpPr>
          <p:cNvPr id="14" name="Rectangle 13">
            <a:extLst>
              <a:ext uri="{FF2B5EF4-FFF2-40B4-BE49-F238E27FC236}">
                <a16:creationId xmlns:a16="http://schemas.microsoft.com/office/drawing/2014/main" id="{720F2112-FE6D-844A-61B0-CC06D72D866F}"/>
              </a:ext>
            </a:extLst>
          </p:cNvPr>
          <p:cNvSpPr/>
          <p:nvPr/>
        </p:nvSpPr>
        <p:spPr>
          <a:xfrm>
            <a:off x="7223094" y="5306599"/>
            <a:ext cx="1310745" cy="9144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72000" rIns="137160" bIns="137160" rtlCol="0" anchor="t">
            <a:noAutofit/>
          </a:bodyPr>
          <a:lstStyle/>
          <a:p>
            <a:pPr algn="ctr"/>
            <a:r>
              <a:rPr lang="en-CA" dirty="0">
                <a:solidFill>
                  <a:schemeClr val="tx1">
                    <a:lumMod val="50000"/>
                  </a:schemeClr>
                </a:solidFill>
                <a:latin typeface="+mj-lt"/>
              </a:rPr>
              <a:t>Power Pages</a:t>
            </a:r>
          </a:p>
        </p:txBody>
      </p:sp>
      <p:pic>
        <p:nvPicPr>
          <p:cNvPr id="21" name="Graphic 20">
            <a:extLst>
              <a:ext uri="{FF2B5EF4-FFF2-40B4-BE49-F238E27FC236}">
                <a16:creationId xmlns:a16="http://schemas.microsoft.com/office/drawing/2014/main" id="{02D5FD36-1147-8A80-B52E-4FB57397CE9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66630" y="3583550"/>
            <a:ext cx="914400" cy="914400"/>
          </a:xfrm>
          <a:prstGeom prst="rect">
            <a:avLst/>
          </a:prstGeom>
        </p:spPr>
      </p:pic>
      <p:pic>
        <p:nvPicPr>
          <p:cNvPr id="15" name="Graphic 14">
            <a:extLst>
              <a:ext uri="{FF2B5EF4-FFF2-40B4-BE49-F238E27FC236}">
                <a16:creationId xmlns:a16="http://schemas.microsoft.com/office/drawing/2014/main" id="{C2C62F42-F8A4-6768-44EA-3D50C0B32C9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97245" y="3583549"/>
            <a:ext cx="914401" cy="914401"/>
          </a:xfrm>
          <a:prstGeom prst="rect">
            <a:avLst/>
          </a:prstGeom>
        </p:spPr>
      </p:pic>
      <p:sp>
        <p:nvSpPr>
          <p:cNvPr id="22" name="Rectangle 21">
            <a:extLst>
              <a:ext uri="{FF2B5EF4-FFF2-40B4-BE49-F238E27FC236}">
                <a16:creationId xmlns:a16="http://schemas.microsoft.com/office/drawing/2014/main" id="{9E9C6BE2-AB9A-6C8A-12C1-2E030FAECBD5}"/>
              </a:ext>
            </a:extLst>
          </p:cNvPr>
          <p:cNvSpPr/>
          <p:nvPr/>
        </p:nvSpPr>
        <p:spPr>
          <a:xfrm>
            <a:off x="8999072" y="4497950"/>
            <a:ext cx="1310745" cy="9144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72000" rIns="137160" bIns="137160" rtlCol="0" anchor="t">
            <a:noAutofit/>
          </a:bodyPr>
          <a:lstStyle/>
          <a:p>
            <a:pPr algn="ctr"/>
            <a:r>
              <a:rPr lang="en-CA" dirty="0">
                <a:solidFill>
                  <a:schemeClr val="tx1">
                    <a:lumMod val="50000"/>
                  </a:schemeClr>
                </a:solidFill>
                <a:latin typeface="+mj-lt"/>
              </a:rPr>
              <a:t>Power</a:t>
            </a:r>
          </a:p>
          <a:p>
            <a:pPr algn="ctr"/>
            <a:r>
              <a:rPr lang="en-CA" dirty="0">
                <a:solidFill>
                  <a:schemeClr val="tx1">
                    <a:lumMod val="50000"/>
                  </a:schemeClr>
                </a:solidFill>
                <a:latin typeface="+mj-lt"/>
              </a:rPr>
              <a:t>BI</a:t>
            </a:r>
          </a:p>
        </p:txBody>
      </p:sp>
    </p:spTree>
    <p:extLst>
      <p:ext uri="{BB962C8B-B14F-4D97-AF65-F5344CB8AC3E}">
        <p14:creationId xmlns:p14="http://schemas.microsoft.com/office/powerpoint/2010/main" val="1771076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BC163-8F7B-F727-E7DF-0E5DA3D6F2A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6ECA84-B10C-A822-4DCB-FADAFD60F7AE}"/>
              </a:ext>
            </a:extLst>
          </p:cNvPr>
          <p:cNvSpPr>
            <a:spLocks noGrp="1"/>
          </p:cNvSpPr>
          <p:nvPr>
            <p:ph type="title"/>
          </p:nvPr>
        </p:nvSpPr>
        <p:spPr/>
        <p:txBody>
          <a:bodyPr/>
          <a:lstStyle/>
          <a:p>
            <a:r>
              <a:rPr lang="en-CA"/>
              <a:t>What is Power Platform?</a:t>
            </a:r>
          </a:p>
        </p:txBody>
      </p:sp>
      <p:sp>
        <p:nvSpPr>
          <p:cNvPr id="8" name="Date Placeholder 7">
            <a:extLst>
              <a:ext uri="{FF2B5EF4-FFF2-40B4-BE49-F238E27FC236}">
                <a16:creationId xmlns:a16="http://schemas.microsoft.com/office/drawing/2014/main" id="{B78F124A-D036-8D41-C855-C1882CFF5307}"/>
              </a:ext>
            </a:extLst>
          </p:cNvPr>
          <p:cNvSpPr>
            <a:spLocks noGrp="1"/>
          </p:cNvSpPr>
          <p:nvPr>
            <p:ph type="dt" sz="half" idx="14"/>
          </p:nvPr>
        </p:nvSpPr>
        <p:spPr/>
        <p:txBody>
          <a:bodyPr/>
          <a:lstStyle/>
          <a:p>
            <a:fld id="{4F31ED60-57BA-425F-BBE8-3DF23D11EEBD}" type="datetime4">
              <a:rPr lang="en-US" smtClean="0"/>
              <a:t>July 29, 2026</a:t>
            </a:fld>
            <a:endParaRPr lang="en-US"/>
          </a:p>
        </p:txBody>
      </p:sp>
      <p:sp>
        <p:nvSpPr>
          <p:cNvPr id="9" name="Footer Placeholder 8">
            <a:extLst>
              <a:ext uri="{FF2B5EF4-FFF2-40B4-BE49-F238E27FC236}">
                <a16:creationId xmlns:a16="http://schemas.microsoft.com/office/drawing/2014/main" id="{8CA037C7-BF6D-FC42-21AC-E0CE83C06DC1}"/>
              </a:ext>
            </a:extLst>
          </p:cNvPr>
          <p:cNvSpPr>
            <a:spLocks noGrp="1"/>
          </p:cNvSpPr>
          <p:nvPr>
            <p:ph type="ftr" sz="quarter" idx="15"/>
          </p:nvPr>
        </p:nvSpPr>
        <p:spPr/>
        <p:txBody>
          <a:bodyPr/>
          <a:lstStyle/>
          <a:p>
            <a:endParaRPr lang="en-US"/>
          </a:p>
        </p:txBody>
      </p:sp>
      <p:sp>
        <p:nvSpPr>
          <p:cNvPr id="10" name="Slide Number Placeholder 9">
            <a:extLst>
              <a:ext uri="{FF2B5EF4-FFF2-40B4-BE49-F238E27FC236}">
                <a16:creationId xmlns:a16="http://schemas.microsoft.com/office/drawing/2014/main" id="{DBEA61DF-FF98-1A67-48C2-AD69104CD281}"/>
              </a:ext>
            </a:extLst>
          </p:cNvPr>
          <p:cNvSpPr>
            <a:spLocks noGrp="1"/>
          </p:cNvSpPr>
          <p:nvPr>
            <p:ph type="sldNum" sz="quarter" idx="16"/>
          </p:nvPr>
        </p:nvSpPr>
        <p:spPr/>
        <p:txBody>
          <a:bodyPr/>
          <a:lstStyle/>
          <a:p>
            <a:fld id="{3CBD822F-ED39-4FC2-B5B5-D2EAB6238DC3}" type="slidenum">
              <a:rPr lang="en-US" smtClean="0"/>
              <a:pPr/>
              <a:t>4</a:t>
            </a:fld>
            <a:endParaRPr lang="en-US"/>
          </a:p>
        </p:txBody>
      </p:sp>
      <p:sp>
        <p:nvSpPr>
          <p:cNvPr id="25" name="Title 1">
            <a:extLst>
              <a:ext uri="{FF2B5EF4-FFF2-40B4-BE49-F238E27FC236}">
                <a16:creationId xmlns:a16="http://schemas.microsoft.com/office/drawing/2014/main" id="{CDBAF26F-6B5C-1A9F-95CF-0E8ABBF6D4DD}"/>
              </a:ext>
            </a:extLst>
          </p:cNvPr>
          <p:cNvSpPr txBox="1">
            <a:spLocks/>
          </p:cNvSpPr>
          <p:nvPr/>
        </p:nvSpPr>
        <p:spPr>
          <a:xfrm>
            <a:off x="7416419" y="309282"/>
            <a:ext cx="3400104"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gn="r"/>
            <a:r>
              <a:rPr lang="en-CA" sz="2400" i="1"/>
              <a:t>Power Platform</a:t>
            </a:r>
            <a:endParaRPr lang="en-CA" sz="2400" i="1">
              <a:cs typeface="Arial" panose="020B0604020202020204"/>
            </a:endParaRPr>
          </a:p>
        </p:txBody>
      </p:sp>
      <p:pic>
        <p:nvPicPr>
          <p:cNvPr id="26" name="Graphic 25">
            <a:extLst>
              <a:ext uri="{FF2B5EF4-FFF2-40B4-BE49-F238E27FC236}">
                <a16:creationId xmlns:a16="http://schemas.microsoft.com/office/drawing/2014/main" id="{0630CF25-E1B9-0475-91EF-C93586F6FE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26425" y="280267"/>
            <a:ext cx="657409" cy="659560"/>
          </a:xfrm>
          <a:prstGeom prst="rect">
            <a:avLst/>
          </a:prstGeom>
        </p:spPr>
      </p:pic>
      <p:sp>
        <p:nvSpPr>
          <p:cNvPr id="2" name="Rectangle 1">
            <a:extLst>
              <a:ext uri="{FF2B5EF4-FFF2-40B4-BE49-F238E27FC236}">
                <a16:creationId xmlns:a16="http://schemas.microsoft.com/office/drawing/2014/main" id="{A92A971D-536B-4729-908E-A0E4AE580F04}"/>
              </a:ext>
            </a:extLst>
          </p:cNvPr>
          <p:cNvSpPr/>
          <p:nvPr/>
        </p:nvSpPr>
        <p:spPr>
          <a:xfrm>
            <a:off x="2015378" y="1437298"/>
            <a:ext cx="8161243" cy="233240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Autofit/>
          </a:bodyPr>
          <a:lstStyle/>
          <a:p>
            <a:pPr algn="ctr"/>
            <a:r>
              <a:rPr lang="en-CA" sz="2400" b="1">
                <a:solidFill>
                  <a:schemeClr val="tx1">
                    <a:lumMod val="50000"/>
                  </a:schemeClr>
                </a:solidFill>
                <a:latin typeface="+mj-lt"/>
              </a:rPr>
              <a:t>Microsoft’s low-code platform designed for rapidly building customized end-to-end business solutions.</a:t>
            </a:r>
          </a:p>
        </p:txBody>
      </p:sp>
      <p:grpSp>
        <p:nvGrpSpPr>
          <p:cNvPr id="23" name="Group 22">
            <a:extLst>
              <a:ext uri="{FF2B5EF4-FFF2-40B4-BE49-F238E27FC236}">
                <a16:creationId xmlns:a16="http://schemas.microsoft.com/office/drawing/2014/main" id="{C00B30EC-6926-BEA4-5643-F8EEED31AF6E}"/>
              </a:ext>
            </a:extLst>
          </p:cNvPr>
          <p:cNvGrpSpPr/>
          <p:nvPr/>
        </p:nvGrpSpPr>
        <p:grpSpPr>
          <a:xfrm>
            <a:off x="5436435" y="4392200"/>
            <a:ext cx="1310745" cy="1828800"/>
            <a:chOff x="5436435" y="4392200"/>
            <a:chExt cx="1310745" cy="1828800"/>
          </a:xfrm>
        </p:grpSpPr>
        <p:pic>
          <p:nvPicPr>
            <p:cNvPr id="4" name="Graphic 3">
              <a:extLst>
                <a:ext uri="{FF2B5EF4-FFF2-40B4-BE49-F238E27FC236}">
                  <a16:creationId xmlns:a16="http://schemas.microsoft.com/office/drawing/2014/main" id="{6A1CF729-9365-7191-9D44-762A3D955E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4609" y="4392200"/>
              <a:ext cx="914400" cy="914400"/>
            </a:xfrm>
            <a:prstGeom prst="rect">
              <a:avLst/>
            </a:prstGeom>
          </p:spPr>
        </p:pic>
        <p:sp>
          <p:nvSpPr>
            <p:cNvPr id="11" name="Rectangle 10">
              <a:extLst>
                <a:ext uri="{FF2B5EF4-FFF2-40B4-BE49-F238E27FC236}">
                  <a16:creationId xmlns:a16="http://schemas.microsoft.com/office/drawing/2014/main" id="{E052D72D-F0DA-F745-41D9-35D75FC70E18}"/>
                </a:ext>
              </a:extLst>
            </p:cNvPr>
            <p:cNvSpPr/>
            <p:nvPr/>
          </p:nvSpPr>
          <p:spPr>
            <a:xfrm>
              <a:off x="5436435" y="5306599"/>
              <a:ext cx="1310745" cy="9144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72000" rIns="137160" bIns="137160" rtlCol="0" anchor="t">
              <a:noAutofit/>
            </a:bodyPr>
            <a:lstStyle/>
            <a:p>
              <a:pPr algn="ctr"/>
              <a:r>
                <a:rPr lang="en-CA">
                  <a:solidFill>
                    <a:schemeClr val="tx1">
                      <a:lumMod val="50000"/>
                    </a:schemeClr>
                  </a:solidFill>
                  <a:latin typeface="+mj-lt"/>
                </a:rPr>
                <a:t>Power Apps</a:t>
              </a:r>
            </a:p>
          </p:txBody>
        </p:sp>
      </p:grpSp>
      <p:grpSp>
        <p:nvGrpSpPr>
          <p:cNvPr id="20" name="Group 19">
            <a:extLst>
              <a:ext uri="{FF2B5EF4-FFF2-40B4-BE49-F238E27FC236}">
                <a16:creationId xmlns:a16="http://schemas.microsoft.com/office/drawing/2014/main" id="{4048AB92-5E08-DD03-59E1-35C4E4B97BC0}"/>
              </a:ext>
            </a:extLst>
          </p:cNvPr>
          <p:cNvGrpSpPr/>
          <p:nvPr/>
        </p:nvGrpSpPr>
        <p:grpSpPr>
          <a:xfrm>
            <a:off x="3655115" y="4392200"/>
            <a:ext cx="1310745" cy="1828800"/>
            <a:chOff x="3655115" y="4392200"/>
            <a:chExt cx="1310745" cy="1828800"/>
          </a:xfrm>
        </p:grpSpPr>
        <p:pic>
          <p:nvPicPr>
            <p:cNvPr id="5" name="Graphic 4">
              <a:extLst>
                <a:ext uri="{FF2B5EF4-FFF2-40B4-BE49-F238E27FC236}">
                  <a16:creationId xmlns:a16="http://schemas.microsoft.com/office/drawing/2014/main" id="{A7FD95AA-1755-91BC-BD6D-4D4BBF62B7C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53288" y="4392200"/>
              <a:ext cx="914400" cy="914400"/>
            </a:xfrm>
            <a:prstGeom prst="rect">
              <a:avLst/>
            </a:prstGeom>
          </p:spPr>
        </p:pic>
        <p:sp>
          <p:nvSpPr>
            <p:cNvPr id="12" name="Rectangle 11">
              <a:extLst>
                <a:ext uri="{FF2B5EF4-FFF2-40B4-BE49-F238E27FC236}">
                  <a16:creationId xmlns:a16="http://schemas.microsoft.com/office/drawing/2014/main" id="{236FDFF0-E003-6329-EC4A-4FE600C4843B}"/>
                </a:ext>
              </a:extLst>
            </p:cNvPr>
            <p:cNvSpPr/>
            <p:nvPr/>
          </p:nvSpPr>
          <p:spPr>
            <a:xfrm>
              <a:off x="3655115" y="5306599"/>
              <a:ext cx="1310745" cy="9144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72000" rIns="137160" bIns="137160" rtlCol="0" anchor="t">
              <a:noAutofit/>
            </a:bodyPr>
            <a:lstStyle/>
            <a:p>
              <a:pPr algn="ctr"/>
              <a:r>
                <a:rPr lang="en-CA">
                  <a:solidFill>
                    <a:schemeClr val="tx1">
                      <a:lumMod val="50000"/>
                    </a:schemeClr>
                  </a:solidFill>
                  <a:latin typeface="+mj-lt"/>
                </a:rPr>
                <a:t>Power Automate</a:t>
              </a:r>
            </a:p>
          </p:txBody>
        </p:sp>
      </p:grpSp>
      <p:sp>
        <p:nvSpPr>
          <p:cNvPr id="17" name="Thought Bubble: Cloud 16">
            <a:extLst>
              <a:ext uri="{FF2B5EF4-FFF2-40B4-BE49-F238E27FC236}">
                <a16:creationId xmlns:a16="http://schemas.microsoft.com/office/drawing/2014/main" id="{A50C479C-7F64-9D22-01D3-603C841F8712}"/>
              </a:ext>
            </a:extLst>
          </p:cNvPr>
          <p:cNvSpPr/>
          <p:nvPr/>
        </p:nvSpPr>
        <p:spPr>
          <a:xfrm>
            <a:off x="4419114" y="2603499"/>
            <a:ext cx="1310745" cy="669060"/>
          </a:xfrm>
          <a:prstGeom prst="cloudCallout">
            <a:avLst>
              <a:gd name="adj1" fmla="val -51345"/>
              <a:gd name="adj2" fmla="val 83244"/>
            </a:avLst>
          </a:prstGeom>
          <a:solidFill>
            <a:schemeClr val="accent3">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180000" tIns="36000" rIns="0" bIns="0" rtlCol="0" anchor="ctr">
            <a:noAutofit/>
          </a:bodyPr>
          <a:lstStyle/>
          <a:p>
            <a:pPr algn="ctr"/>
            <a:r>
              <a:rPr lang="en-CA" sz="1400" b="1">
                <a:solidFill>
                  <a:schemeClr val="tx1">
                    <a:lumMod val="50000"/>
                  </a:schemeClr>
                </a:solidFill>
                <a:latin typeface="+mj-lt"/>
              </a:rPr>
              <a:t>Agents</a:t>
            </a:r>
            <a:endParaRPr lang="en-CA" sz="1200">
              <a:solidFill>
                <a:schemeClr val="tx1">
                  <a:lumMod val="50000"/>
                </a:schemeClr>
              </a:solidFill>
              <a:latin typeface="+mj-lt"/>
            </a:endParaRPr>
          </a:p>
        </p:txBody>
      </p:sp>
      <p:sp>
        <p:nvSpPr>
          <p:cNvPr id="18" name="Thought Bubble: Cloud 17">
            <a:extLst>
              <a:ext uri="{FF2B5EF4-FFF2-40B4-BE49-F238E27FC236}">
                <a16:creationId xmlns:a16="http://schemas.microsoft.com/office/drawing/2014/main" id="{7F3030DD-69F1-5886-D89B-9F681694B86A}"/>
              </a:ext>
            </a:extLst>
          </p:cNvPr>
          <p:cNvSpPr/>
          <p:nvPr/>
        </p:nvSpPr>
        <p:spPr>
          <a:xfrm>
            <a:off x="7981756" y="2603499"/>
            <a:ext cx="1310745" cy="669060"/>
          </a:xfrm>
          <a:prstGeom prst="cloudCallout">
            <a:avLst>
              <a:gd name="adj1" fmla="val -37508"/>
              <a:gd name="adj2" fmla="val 97927"/>
            </a:avLst>
          </a:prstGeom>
          <a:solidFill>
            <a:schemeClr val="accent3">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180000" tIns="36000" rIns="0" bIns="0" rtlCol="0" anchor="ctr">
            <a:noAutofit/>
          </a:bodyPr>
          <a:lstStyle/>
          <a:p>
            <a:pPr algn="ctr"/>
            <a:r>
              <a:rPr lang="en-CA" sz="1400" b="1">
                <a:solidFill>
                  <a:schemeClr val="tx1">
                    <a:lumMod val="50000"/>
                  </a:schemeClr>
                </a:solidFill>
                <a:latin typeface="+mj-lt"/>
              </a:rPr>
              <a:t>Apps</a:t>
            </a:r>
            <a:endParaRPr lang="en-CA" sz="1200">
              <a:solidFill>
                <a:schemeClr val="tx1">
                  <a:lumMod val="50000"/>
                </a:schemeClr>
              </a:solidFill>
              <a:latin typeface="+mj-lt"/>
            </a:endParaRPr>
          </a:p>
        </p:txBody>
      </p:sp>
      <p:sp>
        <p:nvSpPr>
          <p:cNvPr id="19" name="Thought Bubble: Cloud 18">
            <a:extLst>
              <a:ext uri="{FF2B5EF4-FFF2-40B4-BE49-F238E27FC236}">
                <a16:creationId xmlns:a16="http://schemas.microsoft.com/office/drawing/2014/main" id="{B619BF39-E0F9-A38C-39E5-03D4DB143C3E}"/>
              </a:ext>
            </a:extLst>
          </p:cNvPr>
          <p:cNvSpPr/>
          <p:nvPr/>
        </p:nvSpPr>
        <p:spPr>
          <a:xfrm>
            <a:off x="6200435" y="2603499"/>
            <a:ext cx="1310745" cy="669060"/>
          </a:xfrm>
          <a:prstGeom prst="cloudCallout">
            <a:avLst>
              <a:gd name="adj1" fmla="val -37508"/>
              <a:gd name="adj2" fmla="val 97927"/>
            </a:avLst>
          </a:prstGeom>
          <a:solidFill>
            <a:schemeClr val="accent3">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180000" tIns="36000" rIns="0" bIns="0" rtlCol="0" anchor="ctr">
            <a:noAutofit/>
          </a:bodyPr>
          <a:lstStyle/>
          <a:p>
            <a:pPr algn="ctr"/>
            <a:r>
              <a:rPr lang="en-CA" sz="1400" b="1">
                <a:solidFill>
                  <a:schemeClr val="tx1">
                    <a:lumMod val="50000"/>
                  </a:schemeClr>
                </a:solidFill>
                <a:latin typeface="+mj-lt"/>
              </a:rPr>
              <a:t>Flows</a:t>
            </a:r>
            <a:endParaRPr lang="en-CA" sz="1200">
              <a:solidFill>
                <a:schemeClr val="tx1">
                  <a:lumMod val="50000"/>
                </a:schemeClr>
              </a:solidFill>
              <a:latin typeface="+mj-lt"/>
            </a:endParaRPr>
          </a:p>
        </p:txBody>
      </p:sp>
      <p:grpSp>
        <p:nvGrpSpPr>
          <p:cNvPr id="24" name="Group 23">
            <a:extLst>
              <a:ext uri="{FF2B5EF4-FFF2-40B4-BE49-F238E27FC236}">
                <a16:creationId xmlns:a16="http://schemas.microsoft.com/office/drawing/2014/main" id="{1306FD1A-7F4D-B917-FFAF-9DF8B125A3A4}"/>
              </a:ext>
            </a:extLst>
          </p:cNvPr>
          <p:cNvGrpSpPr/>
          <p:nvPr/>
        </p:nvGrpSpPr>
        <p:grpSpPr>
          <a:xfrm>
            <a:off x="1868456" y="3583550"/>
            <a:ext cx="1310745" cy="1828801"/>
            <a:chOff x="1868456" y="3583550"/>
            <a:chExt cx="1310745" cy="1828801"/>
          </a:xfrm>
        </p:grpSpPr>
        <p:sp>
          <p:nvSpPr>
            <p:cNvPr id="13" name="Rectangle 12">
              <a:extLst>
                <a:ext uri="{FF2B5EF4-FFF2-40B4-BE49-F238E27FC236}">
                  <a16:creationId xmlns:a16="http://schemas.microsoft.com/office/drawing/2014/main" id="{24B2C1CC-D133-22DF-5401-EA49CDD48AB4}"/>
                </a:ext>
              </a:extLst>
            </p:cNvPr>
            <p:cNvSpPr/>
            <p:nvPr/>
          </p:nvSpPr>
          <p:spPr>
            <a:xfrm>
              <a:off x="1868456" y="4497950"/>
              <a:ext cx="1310745" cy="9144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72000" rIns="137160" bIns="137160" rtlCol="0" anchor="t">
              <a:noAutofit/>
            </a:bodyPr>
            <a:lstStyle/>
            <a:p>
              <a:pPr algn="ctr"/>
              <a:r>
                <a:rPr lang="en-CA">
                  <a:solidFill>
                    <a:schemeClr val="tx1">
                      <a:lumMod val="50000"/>
                    </a:schemeClr>
                  </a:solidFill>
                  <a:latin typeface="+mj-lt"/>
                </a:rPr>
                <a:t>Copilot Studio</a:t>
              </a:r>
            </a:p>
          </p:txBody>
        </p:sp>
        <p:pic>
          <p:nvPicPr>
            <p:cNvPr id="21" name="Graphic 20">
              <a:extLst>
                <a:ext uri="{FF2B5EF4-FFF2-40B4-BE49-F238E27FC236}">
                  <a16:creationId xmlns:a16="http://schemas.microsoft.com/office/drawing/2014/main" id="{F3889CBF-DA15-EEFD-B5A5-43898818621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066630" y="3583550"/>
              <a:ext cx="914400" cy="914400"/>
            </a:xfrm>
            <a:prstGeom prst="rect">
              <a:avLst/>
            </a:prstGeom>
          </p:spPr>
        </p:pic>
      </p:grpSp>
      <p:pic>
        <p:nvPicPr>
          <p:cNvPr id="27" name="Graphic 26">
            <a:extLst>
              <a:ext uri="{FF2B5EF4-FFF2-40B4-BE49-F238E27FC236}">
                <a16:creationId xmlns:a16="http://schemas.microsoft.com/office/drawing/2014/main" id="{FB27393F-BB26-BDE0-2F4E-32CE42BAEBA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15927" y="4390000"/>
            <a:ext cx="914400" cy="914400"/>
          </a:xfrm>
          <a:prstGeom prst="rect">
            <a:avLst/>
          </a:prstGeom>
        </p:spPr>
      </p:pic>
      <p:sp>
        <p:nvSpPr>
          <p:cNvPr id="28" name="Rectangle 27">
            <a:extLst>
              <a:ext uri="{FF2B5EF4-FFF2-40B4-BE49-F238E27FC236}">
                <a16:creationId xmlns:a16="http://schemas.microsoft.com/office/drawing/2014/main" id="{91E98B46-8F20-2BB1-D7AF-395ED7BB6207}"/>
              </a:ext>
            </a:extLst>
          </p:cNvPr>
          <p:cNvSpPr/>
          <p:nvPr/>
        </p:nvSpPr>
        <p:spPr>
          <a:xfrm>
            <a:off x="7223094" y="5306599"/>
            <a:ext cx="1310745" cy="9144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72000" rIns="137160" bIns="137160" rtlCol="0" anchor="t">
            <a:noAutofit/>
          </a:bodyPr>
          <a:lstStyle/>
          <a:p>
            <a:pPr algn="ctr"/>
            <a:r>
              <a:rPr lang="en-CA">
                <a:solidFill>
                  <a:schemeClr val="tx1">
                    <a:lumMod val="50000"/>
                  </a:schemeClr>
                </a:solidFill>
                <a:latin typeface="+mj-lt"/>
              </a:rPr>
              <a:t>Power Pages</a:t>
            </a:r>
          </a:p>
        </p:txBody>
      </p:sp>
      <p:pic>
        <p:nvPicPr>
          <p:cNvPr id="29" name="Graphic 28">
            <a:extLst>
              <a:ext uri="{FF2B5EF4-FFF2-40B4-BE49-F238E27FC236}">
                <a16:creationId xmlns:a16="http://schemas.microsoft.com/office/drawing/2014/main" id="{F42CC50F-F0AA-5BED-2393-8BD0CF769B5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97245" y="3583549"/>
            <a:ext cx="914401" cy="914401"/>
          </a:xfrm>
          <a:prstGeom prst="rect">
            <a:avLst/>
          </a:prstGeom>
        </p:spPr>
      </p:pic>
      <p:sp>
        <p:nvSpPr>
          <p:cNvPr id="30" name="Rectangle 29">
            <a:extLst>
              <a:ext uri="{FF2B5EF4-FFF2-40B4-BE49-F238E27FC236}">
                <a16:creationId xmlns:a16="http://schemas.microsoft.com/office/drawing/2014/main" id="{FD64DB1A-92CF-B65E-1E00-B21D66B6F9E6}"/>
              </a:ext>
            </a:extLst>
          </p:cNvPr>
          <p:cNvSpPr/>
          <p:nvPr/>
        </p:nvSpPr>
        <p:spPr>
          <a:xfrm>
            <a:off x="8999072" y="4497950"/>
            <a:ext cx="1310745" cy="9144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72000" rIns="137160" bIns="137160" rtlCol="0" anchor="t">
            <a:noAutofit/>
          </a:bodyPr>
          <a:lstStyle/>
          <a:p>
            <a:pPr algn="ctr"/>
            <a:r>
              <a:rPr lang="en-CA">
                <a:solidFill>
                  <a:schemeClr val="tx1">
                    <a:lumMod val="50000"/>
                  </a:schemeClr>
                </a:solidFill>
                <a:latin typeface="+mj-lt"/>
              </a:rPr>
              <a:t>Power</a:t>
            </a:r>
          </a:p>
          <a:p>
            <a:pPr algn="ctr"/>
            <a:r>
              <a:rPr lang="en-CA">
                <a:solidFill>
                  <a:schemeClr val="tx1">
                    <a:lumMod val="50000"/>
                  </a:schemeClr>
                </a:solidFill>
                <a:latin typeface="+mj-lt"/>
              </a:rPr>
              <a:t>BI</a:t>
            </a:r>
          </a:p>
        </p:txBody>
      </p:sp>
    </p:spTree>
    <p:extLst>
      <p:ext uri="{BB962C8B-B14F-4D97-AF65-F5344CB8AC3E}">
        <p14:creationId xmlns:p14="http://schemas.microsoft.com/office/powerpoint/2010/main" val="1501160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0"/>
                                  </p:stCondLst>
                                  <p:childTnLst>
                                    <p:animEffect transition="out" filter="fade">
                                      <p:cBhvr>
                                        <p:cTn id="6" dur="500"/>
                                        <p:tgtEl>
                                          <p:spTgt spid="27"/>
                                        </p:tgtEl>
                                      </p:cBhvr>
                                    </p:animEffect>
                                    <p:set>
                                      <p:cBhvr>
                                        <p:cTn id="7" dur="1" fill="hold">
                                          <p:stCondLst>
                                            <p:cond delay="499"/>
                                          </p:stCondLst>
                                        </p:cTn>
                                        <p:tgtEl>
                                          <p:spTgt spid="27"/>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28"/>
                                        </p:tgtEl>
                                      </p:cBhvr>
                                    </p:animEffect>
                                    <p:set>
                                      <p:cBhvr>
                                        <p:cTn id="10" dur="1" fill="hold">
                                          <p:stCondLst>
                                            <p:cond delay="499"/>
                                          </p:stCondLst>
                                        </p:cTn>
                                        <p:tgtEl>
                                          <p:spTgt spid="28"/>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0"/>
                                        </p:tgtEl>
                                      </p:cBhvr>
                                    </p:animEffect>
                                    <p:set>
                                      <p:cBhvr>
                                        <p:cTn id="13" dur="1" fill="hold">
                                          <p:stCondLst>
                                            <p:cond delay="499"/>
                                          </p:stCondLst>
                                        </p:cTn>
                                        <p:tgtEl>
                                          <p:spTgt spid="30"/>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29"/>
                                        </p:tgtEl>
                                      </p:cBhvr>
                                    </p:animEffect>
                                    <p:set>
                                      <p:cBhvr>
                                        <p:cTn id="16" dur="1" fill="hold">
                                          <p:stCondLst>
                                            <p:cond delay="499"/>
                                          </p:stCondLst>
                                        </p:cTn>
                                        <p:tgtEl>
                                          <p:spTgt spid="29"/>
                                        </p:tgtEl>
                                        <p:attrNameLst>
                                          <p:attrName>style.visibility</p:attrName>
                                        </p:attrNameLst>
                                      </p:cBhvr>
                                      <p:to>
                                        <p:strVal val="hidden"/>
                                      </p:to>
                                    </p:set>
                                  </p:childTnLst>
                                </p:cTn>
                              </p:par>
                              <p:par>
                                <p:cTn id="17" presetID="42" presetClass="path" presetSubtype="0" accel="50000" decel="50000" fill="hold" nodeType="withEffect">
                                  <p:stCondLst>
                                    <p:cond delay="0"/>
                                  </p:stCondLst>
                                  <p:childTnLst>
                                    <p:animMotion origin="layout" path="M 4.375E-6 -2.59259E-6 L 0.14648 -0.11805 " pathEditMode="relative" rAng="0" ptsTypes="AA">
                                      <p:cBhvr>
                                        <p:cTn id="18" dur="2000" fill="hold"/>
                                        <p:tgtEl>
                                          <p:spTgt spid="20"/>
                                        </p:tgtEl>
                                        <p:attrNameLst>
                                          <p:attrName>ppt_x</p:attrName>
                                          <p:attrName>ppt_y</p:attrName>
                                        </p:attrNameLst>
                                      </p:cBhvr>
                                      <p:rCtr x="7318" y="-5903"/>
                                    </p:animMotion>
                                  </p:childTnLst>
                                </p:cTn>
                              </p:par>
                              <p:par>
                                <p:cTn id="19" presetID="42" presetClass="path" presetSubtype="0" accel="50000" decel="50000" fill="hold" nodeType="withEffect">
                                  <p:stCondLst>
                                    <p:cond delay="0"/>
                                  </p:stCondLst>
                                  <p:childTnLst>
                                    <p:animMotion origin="layout" path="M 6.25E-7 -2.59259E-6 L 0.14609 -0.11805 " pathEditMode="relative" rAng="0" ptsTypes="AA">
                                      <p:cBhvr>
                                        <p:cTn id="20" dur="2000" fill="hold"/>
                                        <p:tgtEl>
                                          <p:spTgt spid="23"/>
                                        </p:tgtEl>
                                        <p:attrNameLst>
                                          <p:attrName>ppt_x</p:attrName>
                                          <p:attrName>ppt_y</p:attrName>
                                        </p:attrNameLst>
                                      </p:cBhvr>
                                      <p:rCtr x="7305" y="-5903"/>
                                    </p:animMotion>
                                  </p:childTnLst>
                                </p:cTn>
                              </p:par>
                              <p:par>
                                <p:cTn id="21" presetID="42" presetClass="path" presetSubtype="0" accel="50000" decel="50000" fill="hold" nodeType="withEffect">
                                  <p:stCondLst>
                                    <p:cond delay="0"/>
                                  </p:stCondLst>
                                  <p:childTnLst>
                                    <p:animMotion origin="layout" path="M -1.25E-6 2.96296E-6 L 0.14649 -0.00023 " pathEditMode="relative" rAng="0" ptsTypes="AA">
                                      <p:cBhvr>
                                        <p:cTn id="22" dur="2000" fill="hold"/>
                                        <p:tgtEl>
                                          <p:spTgt spid="24"/>
                                        </p:tgtEl>
                                        <p:attrNameLst>
                                          <p:attrName>ppt_x</p:attrName>
                                          <p:attrName>ppt_y</p:attrName>
                                        </p:attrNameLst>
                                      </p:cBhvr>
                                      <p:rCtr x="7318" y="-23"/>
                                    </p:animMotion>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8" grpId="0"/>
      <p:bldP spid="3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DB6A1B7-C8DB-E0CA-41D1-05D5CBEF9E04}"/>
              </a:ext>
            </a:extLst>
          </p:cNvPr>
          <p:cNvSpPr>
            <a:spLocks noGrp="1"/>
          </p:cNvSpPr>
          <p:nvPr>
            <p:ph type="title"/>
          </p:nvPr>
        </p:nvSpPr>
        <p:spPr/>
        <p:txBody>
          <a:bodyPr/>
          <a:lstStyle/>
          <a:p>
            <a:r>
              <a:rPr lang="en-CA" dirty="0"/>
              <a:t>How did we get here?</a:t>
            </a:r>
          </a:p>
        </p:txBody>
      </p:sp>
      <p:sp>
        <p:nvSpPr>
          <p:cNvPr id="8" name="Date Placeholder 7">
            <a:extLst>
              <a:ext uri="{FF2B5EF4-FFF2-40B4-BE49-F238E27FC236}">
                <a16:creationId xmlns:a16="http://schemas.microsoft.com/office/drawing/2014/main" id="{CD38D22C-08D8-FC14-799F-6DD757A6DF37}"/>
              </a:ext>
            </a:extLst>
          </p:cNvPr>
          <p:cNvSpPr>
            <a:spLocks noGrp="1"/>
          </p:cNvSpPr>
          <p:nvPr>
            <p:ph type="dt" sz="half" idx="14"/>
          </p:nvPr>
        </p:nvSpPr>
        <p:spPr/>
        <p:txBody>
          <a:bodyPr/>
          <a:lstStyle/>
          <a:p>
            <a:fld id="{4F31ED60-57BA-425F-BBE8-3DF23D11EEBD}" type="datetime4">
              <a:rPr lang="en-US" smtClean="0"/>
              <a:t>July 29, 2026</a:t>
            </a:fld>
            <a:endParaRPr lang="en-US"/>
          </a:p>
        </p:txBody>
      </p:sp>
      <p:sp>
        <p:nvSpPr>
          <p:cNvPr id="9" name="Footer Placeholder 8">
            <a:extLst>
              <a:ext uri="{FF2B5EF4-FFF2-40B4-BE49-F238E27FC236}">
                <a16:creationId xmlns:a16="http://schemas.microsoft.com/office/drawing/2014/main" id="{9BA901E3-BF4E-2164-49A9-84616C05ADEA}"/>
              </a:ext>
            </a:extLst>
          </p:cNvPr>
          <p:cNvSpPr>
            <a:spLocks noGrp="1"/>
          </p:cNvSpPr>
          <p:nvPr>
            <p:ph type="ftr" sz="quarter" idx="15"/>
          </p:nvPr>
        </p:nvSpPr>
        <p:spPr/>
        <p:txBody>
          <a:bodyPr/>
          <a:lstStyle/>
          <a:p>
            <a:endParaRPr lang="en-US" dirty="0"/>
          </a:p>
        </p:txBody>
      </p:sp>
      <p:sp>
        <p:nvSpPr>
          <p:cNvPr id="10" name="Slide Number Placeholder 9">
            <a:extLst>
              <a:ext uri="{FF2B5EF4-FFF2-40B4-BE49-F238E27FC236}">
                <a16:creationId xmlns:a16="http://schemas.microsoft.com/office/drawing/2014/main" id="{784742A2-EDDA-E17C-D213-467BECDD0503}"/>
              </a:ext>
            </a:extLst>
          </p:cNvPr>
          <p:cNvSpPr>
            <a:spLocks noGrp="1"/>
          </p:cNvSpPr>
          <p:nvPr>
            <p:ph type="sldNum" sz="quarter" idx="16"/>
          </p:nvPr>
        </p:nvSpPr>
        <p:spPr/>
        <p:txBody>
          <a:bodyPr/>
          <a:lstStyle/>
          <a:p>
            <a:fld id="{3CBD822F-ED39-4FC2-B5B5-D2EAB6238DC3}" type="slidenum">
              <a:rPr lang="en-US" smtClean="0"/>
              <a:pPr/>
              <a:t>5</a:t>
            </a:fld>
            <a:endParaRPr lang="en-US"/>
          </a:p>
        </p:txBody>
      </p:sp>
      <p:graphicFrame>
        <p:nvGraphicFramePr>
          <p:cNvPr id="32" name="Diagram 31">
            <a:extLst>
              <a:ext uri="{FF2B5EF4-FFF2-40B4-BE49-F238E27FC236}">
                <a16:creationId xmlns:a16="http://schemas.microsoft.com/office/drawing/2014/main" id="{ED6D43BE-B891-46D7-0D86-32A0EC380483}"/>
              </a:ext>
            </a:extLst>
          </p:cNvPr>
          <p:cNvGraphicFramePr/>
          <p:nvPr>
            <p:extLst>
              <p:ext uri="{D42A27DB-BD31-4B8C-83A1-F6EECF244321}">
                <p14:modId xmlns:p14="http://schemas.microsoft.com/office/powerpoint/2010/main" val="2179106136"/>
              </p:ext>
            </p:extLst>
          </p:nvPr>
        </p:nvGraphicFramePr>
        <p:xfrm>
          <a:off x="190501" y="1095769"/>
          <a:ext cx="11856720" cy="51085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3" name="Title 1">
            <a:extLst>
              <a:ext uri="{FF2B5EF4-FFF2-40B4-BE49-F238E27FC236}">
                <a16:creationId xmlns:a16="http://schemas.microsoft.com/office/drawing/2014/main" id="{B05C87D2-92DC-F828-D556-1BCD303082A4}"/>
              </a:ext>
            </a:extLst>
          </p:cNvPr>
          <p:cNvSpPr txBox="1">
            <a:spLocks/>
          </p:cNvSpPr>
          <p:nvPr/>
        </p:nvSpPr>
        <p:spPr>
          <a:xfrm>
            <a:off x="7416419" y="309282"/>
            <a:ext cx="3400104"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gn="r"/>
            <a:r>
              <a:rPr lang="en-CA" sz="2400" i="1" dirty="0"/>
              <a:t>Power Platform</a:t>
            </a:r>
            <a:endParaRPr lang="en-CA" sz="2400" i="1" dirty="0">
              <a:cs typeface="Arial" panose="020B0604020202020204"/>
            </a:endParaRPr>
          </a:p>
        </p:txBody>
      </p:sp>
      <p:pic>
        <p:nvPicPr>
          <p:cNvPr id="34" name="Graphic 33">
            <a:extLst>
              <a:ext uri="{FF2B5EF4-FFF2-40B4-BE49-F238E27FC236}">
                <a16:creationId xmlns:a16="http://schemas.microsoft.com/office/drawing/2014/main" id="{A8993133-8319-0CA3-4BE5-5743C06F98F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26425" y="280267"/>
            <a:ext cx="657409" cy="659560"/>
          </a:xfrm>
          <a:prstGeom prst="rect">
            <a:avLst/>
          </a:prstGeom>
        </p:spPr>
      </p:pic>
    </p:spTree>
    <p:extLst>
      <p:ext uri="{BB962C8B-B14F-4D97-AF65-F5344CB8AC3E}">
        <p14:creationId xmlns:p14="http://schemas.microsoft.com/office/powerpoint/2010/main" val="3123715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graphicEl>
                                              <a:dgm id="{0BF1B2A6-756B-4C62-96A3-DFE4A85F79B8}"/>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graphicEl>
                                              <a:dgm id="{E60C16A8-34C6-436D-B38E-B6554F9B6A25}"/>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graphicEl>
                                              <a:dgm id="{AFF6BCE5-A231-48FE-9841-E4E8F6BB2D68}"/>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graphicEl>
                                              <a:dgm id="{55137BF7-8325-408A-A3BB-58FFB6E93B22}"/>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graphicEl>
                                              <a:dgm id="{83E40A33-BE1D-42A1-9960-7C9D7BD7148B}"/>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graphicEl>
                                              <a:dgm id="{10237138-A77D-4482-B5FA-732CC6A37C02}"/>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2">
                                            <p:graphicEl>
                                              <a:dgm id="{48D721FF-2B7C-4D87-BB46-77668A505C50}"/>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graphicEl>
                                              <a:dgm id="{7183A9CC-CBED-4D4E-ACD3-0F68CA14C178}"/>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2" grpId="0" uiExpand="1">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B0B1C-BD80-FE99-AB8A-A8262DAFBD2D}"/>
            </a:ext>
          </a:extLst>
        </p:cNvPr>
        <p:cNvGrpSpPr/>
        <p:nvPr/>
      </p:nvGrpSpPr>
      <p:grpSpPr>
        <a:xfrm>
          <a:off x="0" y="0"/>
          <a:ext cx="0" cy="0"/>
          <a:chOff x="0" y="0"/>
          <a:chExt cx="0" cy="0"/>
        </a:xfrm>
      </p:grpSpPr>
      <p:graphicFrame>
        <p:nvGraphicFramePr>
          <p:cNvPr id="12" name="Chart 11">
            <a:extLst>
              <a:ext uri="{FF2B5EF4-FFF2-40B4-BE49-F238E27FC236}">
                <a16:creationId xmlns:a16="http://schemas.microsoft.com/office/drawing/2014/main" id="{8875DCA5-B6C4-789C-29A1-06DF2F0E0416}"/>
              </a:ext>
            </a:extLst>
          </p:cNvPr>
          <p:cNvGraphicFramePr/>
          <p:nvPr/>
        </p:nvGraphicFramePr>
        <p:xfrm>
          <a:off x="384046" y="2086608"/>
          <a:ext cx="5577840" cy="402844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5C86EC58-BAF2-2B40-5560-5D29B0C28EAA}"/>
              </a:ext>
            </a:extLst>
          </p:cNvPr>
          <p:cNvGraphicFramePr/>
          <p:nvPr/>
        </p:nvGraphicFramePr>
        <p:xfrm>
          <a:off x="6172200" y="2086608"/>
          <a:ext cx="5577840" cy="4028441"/>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 Placeholder 1">
            <a:extLst>
              <a:ext uri="{FF2B5EF4-FFF2-40B4-BE49-F238E27FC236}">
                <a16:creationId xmlns:a16="http://schemas.microsoft.com/office/drawing/2014/main" id="{CEFE44DA-3071-34D9-3BBF-652DD6E03865}"/>
              </a:ext>
            </a:extLst>
          </p:cNvPr>
          <p:cNvSpPr>
            <a:spLocks noGrp="1"/>
          </p:cNvSpPr>
          <p:nvPr>
            <p:ph type="body" idx="1"/>
          </p:nvPr>
        </p:nvSpPr>
        <p:spPr/>
        <p:txBody>
          <a:bodyPr/>
          <a:lstStyle/>
          <a:p>
            <a:r>
              <a:rPr lang="en-CA" dirty="0"/>
              <a:t>Development</a:t>
            </a:r>
          </a:p>
        </p:txBody>
      </p:sp>
      <p:sp>
        <p:nvSpPr>
          <p:cNvPr id="4" name="Text Placeholder 3">
            <a:extLst>
              <a:ext uri="{FF2B5EF4-FFF2-40B4-BE49-F238E27FC236}">
                <a16:creationId xmlns:a16="http://schemas.microsoft.com/office/drawing/2014/main" id="{7E017F47-304F-2AA7-189E-A66D69B647CA}"/>
              </a:ext>
            </a:extLst>
          </p:cNvPr>
          <p:cNvSpPr>
            <a:spLocks noGrp="1"/>
          </p:cNvSpPr>
          <p:nvPr>
            <p:ph type="body" sz="quarter" idx="3"/>
          </p:nvPr>
        </p:nvSpPr>
        <p:spPr/>
        <p:txBody>
          <a:bodyPr/>
          <a:lstStyle/>
          <a:p>
            <a:r>
              <a:rPr lang="en-CA" dirty="0"/>
              <a:t>Usage</a:t>
            </a:r>
          </a:p>
        </p:txBody>
      </p:sp>
      <p:sp>
        <p:nvSpPr>
          <p:cNvPr id="6" name="Title 5">
            <a:extLst>
              <a:ext uri="{FF2B5EF4-FFF2-40B4-BE49-F238E27FC236}">
                <a16:creationId xmlns:a16="http://schemas.microsoft.com/office/drawing/2014/main" id="{BC64DBFE-F9A9-C41C-BA7F-D5B21BA58893}"/>
              </a:ext>
            </a:extLst>
          </p:cNvPr>
          <p:cNvSpPr>
            <a:spLocks noGrp="1"/>
          </p:cNvSpPr>
          <p:nvPr>
            <p:ph type="title"/>
          </p:nvPr>
        </p:nvSpPr>
        <p:spPr/>
        <p:txBody>
          <a:bodyPr/>
          <a:lstStyle/>
          <a:p>
            <a:r>
              <a:rPr lang="en-CA" dirty="0"/>
              <a:t>Current State</a:t>
            </a:r>
          </a:p>
        </p:txBody>
      </p:sp>
      <p:sp>
        <p:nvSpPr>
          <p:cNvPr id="8" name="Date Placeholder 7">
            <a:extLst>
              <a:ext uri="{FF2B5EF4-FFF2-40B4-BE49-F238E27FC236}">
                <a16:creationId xmlns:a16="http://schemas.microsoft.com/office/drawing/2014/main" id="{E8EC8609-D7D0-F153-87AD-6060A141248A}"/>
              </a:ext>
            </a:extLst>
          </p:cNvPr>
          <p:cNvSpPr>
            <a:spLocks noGrp="1"/>
          </p:cNvSpPr>
          <p:nvPr>
            <p:ph type="dt" sz="half" idx="14"/>
          </p:nvPr>
        </p:nvSpPr>
        <p:spPr/>
        <p:txBody>
          <a:bodyPr/>
          <a:lstStyle/>
          <a:p>
            <a:fld id="{4F31ED60-57BA-425F-BBE8-3DF23D11EEBD}" type="datetime4">
              <a:rPr lang="en-US" smtClean="0"/>
              <a:t>July 29, 2026</a:t>
            </a:fld>
            <a:endParaRPr lang="en-US"/>
          </a:p>
        </p:txBody>
      </p:sp>
      <p:sp>
        <p:nvSpPr>
          <p:cNvPr id="9" name="Footer Placeholder 8">
            <a:extLst>
              <a:ext uri="{FF2B5EF4-FFF2-40B4-BE49-F238E27FC236}">
                <a16:creationId xmlns:a16="http://schemas.microsoft.com/office/drawing/2014/main" id="{5FD612E4-B6A6-C72B-E179-0CEF1464E848}"/>
              </a:ext>
            </a:extLst>
          </p:cNvPr>
          <p:cNvSpPr>
            <a:spLocks noGrp="1"/>
          </p:cNvSpPr>
          <p:nvPr>
            <p:ph type="ftr" sz="quarter" idx="15"/>
          </p:nvPr>
        </p:nvSpPr>
        <p:spPr/>
        <p:txBody>
          <a:bodyPr/>
          <a:lstStyle/>
          <a:p>
            <a:endParaRPr lang="en-US" dirty="0"/>
          </a:p>
        </p:txBody>
      </p:sp>
      <p:sp>
        <p:nvSpPr>
          <p:cNvPr id="10" name="Slide Number Placeholder 9">
            <a:extLst>
              <a:ext uri="{FF2B5EF4-FFF2-40B4-BE49-F238E27FC236}">
                <a16:creationId xmlns:a16="http://schemas.microsoft.com/office/drawing/2014/main" id="{513E5712-DAA6-392A-551B-F387C25E57F7}"/>
              </a:ext>
            </a:extLst>
          </p:cNvPr>
          <p:cNvSpPr>
            <a:spLocks noGrp="1"/>
          </p:cNvSpPr>
          <p:nvPr>
            <p:ph type="sldNum" sz="quarter" idx="16"/>
          </p:nvPr>
        </p:nvSpPr>
        <p:spPr/>
        <p:txBody>
          <a:bodyPr/>
          <a:lstStyle/>
          <a:p>
            <a:fld id="{3CBD822F-ED39-4FC2-B5B5-D2EAB6238DC3}" type="slidenum">
              <a:rPr lang="en-US" smtClean="0"/>
              <a:pPr/>
              <a:t>6</a:t>
            </a:fld>
            <a:endParaRPr lang="en-US"/>
          </a:p>
        </p:txBody>
      </p:sp>
      <p:sp>
        <p:nvSpPr>
          <p:cNvPr id="13" name="Thought Bubble: Cloud 12">
            <a:extLst>
              <a:ext uri="{FF2B5EF4-FFF2-40B4-BE49-F238E27FC236}">
                <a16:creationId xmlns:a16="http://schemas.microsoft.com/office/drawing/2014/main" id="{14D94DB7-2745-B41B-B645-C17CE1D087F7}"/>
              </a:ext>
            </a:extLst>
          </p:cNvPr>
          <p:cNvSpPr/>
          <p:nvPr/>
        </p:nvSpPr>
        <p:spPr>
          <a:xfrm>
            <a:off x="9297727" y="3937270"/>
            <a:ext cx="2565734" cy="1284204"/>
          </a:xfrm>
          <a:prstGeom prst="cloudCallout">
            <a:avLst>
              <a:gd name="adj1" fmla="val -38652"/>
              <a:gd name="adj2" fmla="val -66260"/>
            </a:avLst>
          </a:prstGeom>
          <a:solidFill>
            <a:schemeClr val="accent3">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180000" tIns="137160" rIns="0" bIns="0" rtlCol="0" anchor="ctr">
            <a:noAutofit/>
          </a:bodyPr>
          <a:lstStyle/>
          <a:p>
            <a:pPr algn="ctr"/>
            <a:r>
              <a:rPr lang="en-CA" sz="1400" b="1" dirty="0">
                <a:solidFill>
                  <a:schemeClr val="tx1">
                    <a:lumMod val="50000"/>
                  </a:schemeClr>
                </a:solidFill>
                <a:latin typeface="+mj-lt"/>
              </a:rPr>
              <a:t>Over half of all employees</a:t>
            </a:r>
          </a:p>
          <a:p>
            <a:pPr algn="ctr"/>
            <a:r>
              <a:rPr lang="en-CA" sz="1200" dirty="0">
                <a:solidFill>
                  <a:schemeClr val="tx1">
                    <a:lumMod val="50000"/>
                  </a:schemeClr>
                </a:solidFill>
                <a:latin typeface="+mj-lt"/>
              </a:rPr>
              <a:t>used Power Apps in 2024</a:t>
            </a:r>
          </a:p>
        </p:txBody>
      </p:sp>
      <p:sp>
        <p:nvSpPr>
          <p:cNvPr id="14" name="Rectangle: Rounded Corners 13">
            <a:extLst>
              <a:ext uri="{FF2B5EF4-FFF2-40B4-BE49-F238E27FC236}">
                <a16:creationId xmlns:a16="http://schemas.microsoft.com/office/drawing/2014/main" id="{19D60629-8D27-468F-AE11-F701E2B026E2}"/>
              </a:ext>
            </a:extLst>
          </p:cNvPr>
          <p:cNvSpPr/>
          <p:nvPr/>
        </p:nvSpPr>
        <p:spPr>
          <a:xfrm>
            <a:off x="6172198" y="3166020"/>
            <a:ext cx="5219701" cy="453625"/>
          </a:xfrm>
          <a:prstGeom prst="roundRect">
            <a:avLst/>
          </a:prstGeom>
          <a:noFill/>
          <a:ln w="25400">
            <a:solidFill>
              <a:srgbClr val="FFC00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algn="ctr"/>
            <a:endParaRPr lang="en-CA" sz="1200" dirty="0">
              <a:solidFill>
                <a:schemeClr val="tx1">
                  <a:lumMod val="50000"/>
                </a:schemeClr>
              </a:solidFill>
              <a:latin typeface="+mj-lt"/>
            </a:endParaRPr>
          </a:p>
        </p:txBody>
      </p:sp>
      <p:sp>
        <p:nvSpPr>
          <p:cNvPr id="17" name="Rectangle: Rounded Corners 16">
            <a:extLst>
              <a:ext uri="{FF2B5EF4-FFF2-40B4-BE49-F238E27FC236}">
                <a16:creationId xmlns:a16="http://schemas.microsoft.com/office/drawing/2014/main" id="{9A1F0BB4-EB24-8A9B-64D4-92A4272008FA}"/>
              </a:ext>
            </a:extLst>
          </p:cNvPr>
          <p:cNvSpPr/>
          <p:nvPr/>
        </p:nvSpPr>
        <p:spPr>
          <a:xfrm>
            <a:off x="384047" y="3527825"/>
            <a:ext cx="3800604" cy="542525"/>
          </a:xfrm>
          <a:prstGeom prst="roundRect">
            <a:avLst/>
          </a:prstGeom>
          <a:noFill/>
          <a:ln w="25400">
            <a:solidFill>
              <a:srgbClr val="FFC00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algn="ctr"/>
            <a:endParaRPr lang="en-CA" sz="1200" dirty="0">
              <a:solidFill>
                <a:schemeClr val="tx1">
                  <a:lumMod val="50000"/>
                </a:schemeClr>
              </a:solidFill>
              <a:latin typeface="+mj-lt"/>
            </a:endParaRPr>
          </a:p>
        </p:txBody>
      </p:sp>
      <p:sp>
        <p:nvSpPr>
          <p:cNvPr id="18" name="Thought Bubble: Cloud 17">
            <a:extLst>
              <a:ext uri="{FF2B5EF4-FFF2-40B4-BE49-F238E27FC236}">
                <a16:creationId xmlns:a16="http://schemas.microsoft.com/office/drawing/2014/main" id="{4FC5084C-152D-7EB6-18CD-87F1F665C0FC}"/>
              </a:ext>
            </a:extLst>
          </p:cNvPr>
          <p:cNvSpPr/>
          <p:nvPr/>
        </p:nvSpPr>
        <p:spPr>
          <a:xfrm>
            <a:off x="2942763" y="4170678"/>
            <a:ext cx="2565734" cy="1284204"/>
          </a:xfrm>
          <a:prstGeom prst="cloudCallout">
            <a:avLst>
              <a:gd name="adj1" fmla="val -51522"/>
              <a:gd name="adj2" fmla="val -50438"/>
            </a:avLst>
          </a:prstGeom>
          <a:solidFill>
            <a:schemeClr val="accent3">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180000" tIns="137160" rIns="0" bIns="0" rtlCol="0" anchor="ctr">
            <a:noAutofit/>
          </a:bodyPr>
          <a:lstStyle/>
          <a:p>
            <a:pPr algn="ctr"/>
            <a:r>
              <a:rPr lang="en-CA" sz="1400" b="1" dirty="0">
                <a:solidFill>
                  <a:schemeClr val="tx1">
                    <a:lumMod val="50000"/>
                  </a:schemeClr>
                </a:solidFill>
                <a:latin typeface="+mj-lt"/>
              </a:rPr>
              <a:t>&gt;60% of all flows/apps</a:t>
            </a:r>
          </a:p>
          <a:p>
            <a:pPr algn="ctr"/>
            <a:r>
              <a:rPr lang="en-CA" sz="1200" dirty="0">
                <a:solidFill>
                  <a:schemeClr val="tx1">
                    <a:lumMod val="50000"/>
                  </a:schemeClr>
                </a:solidFill>
                <a:latin typeface="+mj-lt"/>
              </a:rPr>
              <a:t>were created in the last 2 years</a:t>
            </a:r>
          </a:p>
        </p:txBody>
      </p:sp>
      <p:sp>
        <p:nvSpPr>
          <p:cNvPr id="21" name="Rectangle: Rounded Corners 20">
            <a:extLst>
              <a:ext uri="{FF2B5EF4-FFF2-40B4-BE49-F238E27FC236}">
                <a16:creationId xmlns:a16="http://schemas.microsoft.com/office/drawing/2014/main" id="{07FA7716-773E-8332-D1C3-078EB0B4E3C8}"/>
              </a:ext>
            </a:extLst>
          </p:cNvPr>
          <p:cNvSpPr/>
          <p:nvPr/>
        </p:nvSpPr>
        <p:spPr>
          <a:xfrm>
            <a:off x="384045" y="3239248"/>
            <a:ext cx="4470824" cy="294927"/>
          </a:xfrm>
          <a:prstGeom prst="roundRect">
            <a:avLst/>
          </a:prstGeom>
          <a:noFill/>
          <a:ln w="25400">
            <a:solidFill>
              <a:srgbClr val="FFC00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algn="ctr"/>
            <a:endParaRPr lang="en-CA" sz="1200" dirty="0">
              <a:solidFill>
                <a:schemeClr val="tx1">
                  <a:lumMod val="50000"/>
                </a:schemeClr>
              </a:solidFill>
              <a:latin typeface="+mj-lt"/>
            </a:endParaRPr>
          </a:p>
        </p:txBody>
      </p:sp>
      <p:sp>
        <p:nvSpPr>
          <p:cNvPr id="22" name="Thought Bubble: Cloud 21">
            <a:extLst>
              <a:ext uri="{FF2B5EF4-FFF2-40B4-BE49-F238E27FC236}">
                <a16:creationId xmlns:a16="http://schemas.microsoft.com/office/drawing/2014/main" id="{6FE72928-E061-4150-C694-FCD4AAAF34FF}"/>
              </a:ext>
            </a:extLst>
          </p:cNvPr>
          <p:cNvSpPr/>
          <p:nvPr/>
        </p:nvSpPr>
        <p:spPr>
          <a:xfrm>
            <a:off x="2901785" y="4082413"/>
            <a:ext cx="2565734" cy="1284204"/>
          </a:xfrm>
          <a:prstGeom prst="cloudCallout">
            <a:avLst>
              <a:gd name="adj1" fmla="val 16538"/>
              <a:gd name="adj2" fmla="val -82579"/>
            </a:avLst>
          </a:prstGeom>
          <a:solidFill>
            <a:schemeClr val="accent3">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180000" tIns="137160" rIns="0" bIns="0" rtlCol="0" anchor="ctr">
            <a:noAutofit/>
          </a:bodyPr>
          <a:lstStyle/>
          <a:p>
            <a:pPr algn="ctr"/>
            <a:r>
              <a:rPr lang="en-CA" sz="1400" b="1" dirty="0">
                <a:solidFill>
                  <a:schemeClr val="tx1">
                    <a:lumMod val="50000"/>
                  </a:schemeClr>
                </a:solidFill>
                <a:latin typeface="+mj-lt"/>
              </a:rPr>
              <a:t>2025 projection</a:t>
            </a:r>
          </a:p>
          <a:p>
            <a:pPr algn="ctr"/>
            <a:r>
              <a:rPr lang="en-CA" sz="1200" dirty="0">
                <a:solidFill>
                  <a:schemeClr val="tx1">
                    <a:lumMod val="50000"/>
                  </a:schemeClr>
                </a:solidFill>
                <a:latin typeface="+mj-lt"/>
              </a:rPr>
              <a:t>1020 new apps</a:t>
            </a:r>
          </a:p>
          <a:p>
            <a:pPr algn="ctr"/>
            <a:r>
              <a:rPr lang="en-CA" sz="1200" dirty="0">
                <a:solidFill>
                  <a:schemeClr val="tx1">
                    <a:lumMod val="50000"/>
                  </a:schemeClr>
                </a:solidFill>
                <a:latin typeface="+mj-lt"/>
              </a:rPr>
              <a:t>2826 new flows</a:t>
            </a:r>
          </a:p>
        </p:txBody>
      </p:sp>
      <p:sp>
        <p:nvSpPr>
          <p:cNvPr id="23" name="Rectangle 22">
            <a:extLst>
              <a:ext uri="{FF2B5EF4-FFF2-40B4-BE49-F238E27FC236}">
                <a16:creationId xmlns:a16="http://schemas.microsoft.com/office/drawing/2014/main" id="{80DC02B5-3EB2-06A0-2A5B-3A118645E480}"/>
              </a:ext>
            </a:extLst>
          </p:cNvPr>
          <p:cNvSpPr/>
          <p:nvPr/>
        </p:nvSpPr>
        <p:spPr>
          <a:xfrm>
            <a:off x="441960" y="3300179"/>
            <a:ext cx="389890" cy="166921"/>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fontScale="25000" lnSpcReduction="20000"/>
          </a:bodyPr>
          <a:lstStyle/>
          <a:p>
            <a:pPr algn="l"/>
            <a:endParaRPr lang="en-CA" dirty="0" err="1"/>
          </a:p>
        </p:txBody>
      </p:sp>
      <p:sp>
        <p:nvSpPr>
          <p:cNvPr id="3" name="Title 1">
            <a:extLst>
              <a:ext uri="{FF2B5EF4-FFF2-40B4-BE49-F238E27FC236}">
                <a16:creationId xmlns:a16="http://schemas.microsoft.com/office/drawing/2014/main" id="{E9494386-4516-40D4-D159-191B3A108BBB}"/>
              </a:ext>
            </a:extLst>
          </p:cNvPr>
          <p:cNvSpPr txBox="1">
            <a:spLocks/>
          </p:cNvSpPr>
          <p:nvPr/>
        </p:nvSpPr>
        <p:spPr>
          <a:xfrm>
            <a:off x="7416419" y="309282"/>
            <a:ext cx="3400104"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gn="r"/>
            <a:r>
              <a:rPr lang="en-CA" sz="2400" i="1" dirty="0"/>
              <a:t>Power Platform</a:t>
            </a:r>
            <a:endParaRPr lang="en-CA" sz="2400" i="1" dirty="0">
              <a:cs typeface="Arial" panose="020B0604020202020204"/>
            </a:endParaRPr>
          </a:p>
        </p:txBody>
      </p:sp>
      <p:pic>
        <p:nvPicPr>
          <p:cNvPr id="5" name="Graphic 4">
            <a:extLst>
              <a:ext uri="{FF2B5EF4-FFF2-40B4-BE49-F238E27FC236}">
                <a16:creationId xmlns:a16="http://schemas.microsoft.com/office/drawing/2014/main" id="{FB52BA87-4846-3E5B-2086-17EC98663A1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26425" y="280267"/>
            <a:ext cx="657409" cy="659560"/>
          </a:xfrm>
          <a:prstGeom prst="rect">
            <a:avLst/>
          </a:prstGeom>
        </p:spPr>
      </p:pic>
    </p:spTree>
    <p:extLst>
      <p:ext uri="{BB962C8B-B14F-4D97-AF65-F5344CB8AC3E}">
        <p14:creationId xmlns:p14="http://schemas.microsoft.com/office/powerpoint/2010/main" val="2014126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11"/>
                                        </p:tgtEl>
                                        <p:attrNameLst>
                                          <p:attrName>style.opacity</p:attrName>
                                        </p:attrNameLst>
                                      </p:cBhvr>
                                      <p:to>
                                        <p:strVal val="0.25"/>
                                      </p:to>
                                    </p:set>
                                    <p:animEffect filter="image" prLst="opacity: 0.25">
                                      <p:cBhvr rctx="IE">
                                        <p:cTn id="7" dur="indefinite"/>
                                        <p:tgtEl>
                                          <p:spTgt spid="11"/>
                                        </p:tgtEl>
                                      </p:cBhvr>
                                    </p:animEffect>
                                  </p:childTnLst>
                                </p:cTn>
                              </p:par>
                              <p:par>
                                <p:cTn id="8" presetID="9" presetClass="emph" presetSubtype="0" grpId="0" nodeType="withEffect">
                                  <p:stCondLst>
                                    <p:cond delay="0"/>
                                  </p:stCondLst>
                                  <p:childTnLst>
                                    <p:set>
                                      <p:cBhvr>
                                        <p:cTn id="9" dur="indefinite"/>
                                        <p:tgtEl>
                                          <p:spTgt spid="4">
                                            <p:txEl>
                                              <p:pRg st="0" end="0"/>
                                            </p:txEl>
                                          </p:spTgt>
                                        </p:tgtEl>
                                        <p:attrNameLst>
                                          <p:attrName>style.opacity</p:attrName>
                                        </p:attrNameLst>
                                      </p:cBhvr>
                                      <p:to>
                                        <p:strVal val="0.25"/>
                                      </p:to>
                                    </p:set>
                                    <p:animEffect filter="image" prLst="opacity: 0.25">
                                      <p:cBhvr rctx="IE">
                                        <p:cTn id="10" dur="indefinite"/>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1" nodeType="clickEffect">
                                  <p:stCondLst>
                                    <p:cond delay="0"/>
                                  </p:stCondLst>
                                  <p:childTnLst>
                                    <p:animEffect transition="out" filter="fade">
                                      <p:cBhvr>
                                        <p:cTn id="22" dur="500"/>
                                        <p:tgtEl>
                                          <p:spTgt spid="17"/>
                                        </p:tgtEl>
                                      </p:cBhvr>
                                    </p:animEffect>
                                    <p:set>
                                      <p:cBhvr>
                                        <p:cTn id="23" dur="1" fill="hold">
                                          <p:stCondLst>
                                            <p:cond delay="499"/>
                                          </p:stCondLst>
                                        </p:cTn>
                                        <p:tgtEl>
                                          <p:spTgt spid="17"/>
                                        </p:tgtEl>
                                        <p:attrNameLst>
                                          <p:attrName>style.visibility</p:attrName>
                                        </p:attrNameLst>
                                      </p:cBhvr>
                                      <p:to>
                                        <p:strVal val="hidden"/>
                                      </p:to>
                                    </p:set>
                                  </p:childTnLst>
                                </p:cTn>
                              </p:par>
                              <p:par>
                                <p:cTn id="24" presetID="10" presetClass="exit" presetSubtype="0" fill="hold" grpId="1" nodeType="withEffect">
                                  <p:stCondLst>
                                    <p:cond delay="0"/>
                                  </p:stCondLst>
                                  <p:childTnLst>
                                    <p:animEffect transition="out" filter="fade">
                                      <p:cBhvr>
                                        <p:cTn id="25" dur="500"/>
                                        <p:tgtEl>
                                          <p:spTgt spid="18"/>
                                        </p:tgtEl>
                                      </p:cBhvr>
                                    </p:animEffect>
                                    <p:set>
                                      <p:cBhvr>
                                        <p:cTn id="26" dur="1" fill="hold">
                                          <p:stCondLst>
                                            <p:cond delay="499"/>
                                          </p:stCondLst>
                                        </p:cTn>
                                        <p:tgtEl>
                                          <p:spTgt spid="18"/>
                                        </p:tgtEl>
                                        <p:attrNameLst>
                                          <p:attrName>style.visibility</p:attrName>
                                        </p:attrNameLst>
                                      </p:cBhvr>
                                      <p:to>
                                        <p:strVal val="hidden"/>
                                      </p:to>
                                    </p:set>
                                  </p:childTnLst>
                                </p:cTn>
                              </p:par>
                            </p:childTnLst>
                          </p:cTn>
                        </p:par>
                        <p:par>
                          <p:cTn id="27" fill="hold">
                            <p:stCondLst>
                              <p:cond delay="500"/>
                            </p:stCondLst>
                            <p:childTnLst>
                              <p:par>
                                <p:cTn id="28" presetID="10" presetClass="exit" presetSubtype="0" fill="hold" grpId="0" nodeType="afterEffect">
                                  <p:stCondLst>
                                    <p:cond delay="1000"/>
                                  </p:stCondLst>
                                  <p:childTnLst>
                                    <p:animEffect transition="out" filter="fade">
                                      <p:cBhvr>
                                        <p:cTn id="29" dur="500"/>
                                        <p:tgtEl>
                                          <p:spTgt spid="23"/>
                                        </p:tgtEl>
                                      </p:cBhvr>
                                    </p:animEffect>
                                    <p:set>
                                      <p:cBhvr>
                                        <p:cTn id="30" dur="1" fill="hold">
                                          <p:stCondLst>
                                            <p:cond delay="499"/>
                                          </p:stCondLst>
                                        </p:cTn>
                                        <p:tgtEl>
                                          <p:spTgt spid="23"/>
                                        </p:tgtEl>
                                        <p:attrNameLst>
                                          <p:attrName>style.visibility</p:attrName>
                                        </p:attrNameLst>
                                      </p:cBhvr>
                                      <p:to>
                                        <p:strVal val="hidden"/>
                                      </p:to>
                                    </p:set>
                                  </p:childTnLst>
                                </p:cTn>
                              </p:par>
                              <p:par>
                                <p:cTn id="31" presetID="10" presetClass="entr" presetSubtype="0" fill="hold" grpId="0" nodeType="withEffect">
                                  <p:stCondLst>
                                    <p:cond delay="1000"/>
                                  </p:stCondLst>
                                  <p:childTnLst>
                                    <p:set>
                                      <p:cBhvr>
                                        <p:cTn id="32" dur="1" fill="hold">
                                          <p:stCondLst>
                                            <p:cond delay="0"/>
                                          </p:stCondLst>
                                        </p:cTn>
                                        <p:tgtEl>
                                          <p:spTgt spid="12">
                                            <p:graphicEl>
                                              <a:chart seriesIdx="0" categoryIdx="7" bldStep="ptInSeries"/>
                                            </p:graphicEl>
                                          </p:spTgt>
                                        </p:tgtEl>
                                        <p:attrNameLst>
                                          <p:attrName>style.visibility</p:attrName>
                                        </p:attrNameLst>
                                      </p:cBhvr>
                                      <p:to>
                                        <p:strVal val="visible"/>
                                      </p:to>
                                    </p:set>
                                    <p:animEffect transition="in" filter="fade">
                                      <p:cBhvr>
                                        <p:cTn id="33" dur="500"/>
                                        <p:tgtEl>
                                          <p:spTgt spid="12">
                                            <p:graphicEl>
                                              <a:chart seriesIdx="0" categoryIdx="7" bldStep="ptInSeries"/>
                                            </p:graphicEl>
                                          </p:spTgt>
                                        </p:tgtEl>
                                      </p:cBhvr>
                                    </p:animEffect>
                                  </p:childTnLst>
                                </p:cTn>
                              </p:par>
                              <p:par>
                                <p:cTn id="34" presetID="10" presetClass="entr" presetSubtype="0" fill="hold" grpId="0" nodeType="withEffect">
                                  <p:stCondLst>
                                    <p:cond delay="1000"/>
                                  </p:stCondLst>
                                  <p:childTnLst>
                                    <p:set>
                                      <p:cBhvr>
                                        <p:cTn id="35" dur="1" fill="hold">
                                          <p:stCondLst>
                                            <p:cond delay="0"/>
                                          </p:stCondLst>
                                        </p:cTn>
                                        <p:tgtEl>
                                          <p:spTgt spid="12">
                                            <p:graphicEl>
                                              <a:chart seriesIdx="1" categoryIdx="7" bldStep="ptInSeries"/>
                                            </p:graphicEl>
                                          </p:spTgt>
                                        </p:tgtEl>
                                        <p:attrNameLst>
                                          <p:attrName>style.visibility</p:attrName>
                                        </p:attrNameLst>
                                      </p:cBhvr>
                                      <p:to>
                                        <p:strVal val="visible"/>
                                      </p:to>
                                    </p:set>
                                    <p:animEffect transition="in" filter="fade">
                                      <p:cBhvr>
                                        <p:cTn id="36" dur="500"/>
                                        <p:tgtEl>
                                          <p:spTgt spid="12">
                                            <p:graphicEl>
                                              <a:chart seriesIdx="1" categoryIdx="7" bldStep="ptInSeries"/>
                                            </p:graphicEl>
                                          </p:spTgt>
                                        </p:tgtEl>
                                      </p:cBhvr>
                                    </p:animEffect>
                                  </p:childTnLst>
                                </p:cTn>
                              </p:par>
                              <p:par>
                                <p:cTn id="37" presetID="10" presetClass="entr" presetSubtype="0" fill="hold" grpId="0" nodeType="withEffect">
                                  <p:stCondLst>
                                    <p:cond delay="100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par>
                                <p:cTn id="40" presetID="10" presetClass="entr" presetSubtype="0" fill="hold" grpId="0" nodeType="withEffect">
                                  <p:stCondLst>
                                    <p:cond delay="100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500"/>
                                        <p:tgtEl>
                                          <p:spTgt spid="21"/>
                                        </p:tgtEl>
                                      </p:cBhvr>
                                    </p:animEffect>
                                    <p:set>
                                      <p:cBhvr>
                                        <p:cTn id="47" dur="1" fill="hold">
                                          <p:stCondLst>
                                            <p:cond delay="499"/>
                                          </p:stCondLst>
                                        </p:cTn>
                                        <p:tgtEl>
                                          <p:spTgt spid="21"/>
                                        </p:tgtEl>
                                        <p:attrNameLst>
                                          <p:attrName>style.visibility</p:attrName>
                                        </p:attrNameLst>
                                      </p:cBhvr>
                                      <p:to>
                                        <p:strVal val="hidden"/>
                                      </p:to>
                                    </p:set>
                                  </p:childTnLst>
                                </p:cTn>
                              </p:par>
                              <p:par>
                                <p:cTn id="48" presetID="10" presetClass="exit" presetSubtype="0" fill="hold" grpId="1" nodeType="withEffect">
                                  <p:stCondLst>
                                    <p:cond delay="0"/>
                                  </p:stCondLst>
                                  <p:childTnLst>
                                    <p:animEffect transition="out" filter="fade">
                                      <p:cBhvr>
                                        <p:cTn id="49" dur="500"/>
                                        <p:tgtEl>
                                          <p:spTgt spid="22"/>
                                        </p:tgtEl>
                                      </p:cBhvr>
                                    </p:animEffect>
                                    <p:set>
                                      <p:cBhvr>
                                        <p:cTn id="50" dur="1" fill="hold">
                                          <p:stCondLst>
                                            <p:cond delay="499"/>
                                          </p:stCondLst>
                                        </p:cTn>
                                        <p:tgtEl>
                                          <p:spTgt spid="22"/>
                                        </p:tgtEl>
                                        <p:attrNameLst>
                                          <p:attrName>style.visibility</p:attrName>
                                        </p:attrNameLst>
                                      </p:cBhvr>
                                      <p:to>
                                        <p:strVal val="hidden"/>
                                      </p:to>
                                    </p:set>
                                  </p:childTnLst>
                                </p:cTn>
                              </p:par>
                            </p:childTnLst>
                          </p:cTn>
                        </p:par>
                        <p:par>
                          <p:cTn id="51" fill="hold">
                            <p:stCondLst>
                              <p:cond delay="500"/>
                            </p:stCondLst>
                            <p:childTnLst>
                              <p:par>
                                <p:cTn id="52" presetID="9" presetClass="emph" presetSubtype="0" grpId="2" nodeType="afterEffect">
                                  <p:stCondLst>
                                    <p:cond delay="500"/>
                                  </p:stCondLst>
                                  <p:childTnLst>
                                    <p:set>
                                      <p:cBhvr>
                                        <p:cTn id="53" dur="indefinite"/>
                                        <p:tgtEl>
                                          <p:spTgt spid="17"/>
                                        </p:tgtEl>
                                        <p:attrNameLst>
                                          <p:attrName>style.opacity</p:attrName>
                                        </p:attrNameLst>
                                      </p:cBhvr>
                                      <p:to>
                                        <p:strVal val="0.25"/>
                                      </p:to>
                                    </p:set>
                                    <p:animEffect filter="image" prLst="opacity: 0.25">
                                      <p:cBhvr rctx="IE">
                                        <p:cTn id="54" dur="indefinite"/>
                                        <p:tgtEl>
                                          <p:spTgt spid="17"/>
                                        </p:tgtEl>
                                      </p:cBhvr>
                                    </p:animEffect>
                                  </p:childTnLst>
                                </p:cTn>
                              </p:par>
                              <p:par>
                                <p:cTn id="55" presetID="9" presetClass="emph" presetSubtype="0" grpId="2" nodeType="withEffect">
                                  <p:stCondLst>
                                    <p:cond delay="0"/>
                                  </p:stCondLst>
                                  <p:childTnLst>
                                    <p:set>
                                      <p:cBhvr>
                                        <p:cTn id="56" dur="indefinite"/>
                                        <p:tgtEl>
                                          <p:spTgt spid="18"/>
                                        </p:tgtEl>
                                        <p:attrNameLst>
                                          <p:attrName>style.opacity</p:attrName>
                                        </p:attrNameLst>
                                      </p:cBhvr>
                                      <p:to>
                                        <p:strVal val="0.25"/>
                                      </p:to>
                                    </p:set>
                                    <p:animEffect filter="image" prLst="opacity: 0.25">
                                      <p:cBhvr rctx="IE">
                                        <p:cTn id="57" dur="indefinite"/>
                                        <p:tgtEl>
                                          <p:spTgt spid="18"/>
                                        </p:tgtEl>
                                      </p:cBhvr>
                                    </p:animEffect>
                                  </p:childTnLst>
                                </p:cTn>
                              </p:par>
                              <p:par>
                                <p:cTn id="58" presetID="9" presetClass="emph" presetSubtype="0" grpId="1" nodeType="withEffect">
                                  <p:stCondLst>
                                    <p:cond delay="0"/>
                                  </p:stCondLst>
                                  <p:childTnLst>
                                    <p:set>
                                      <p:cBhvr>
                                        <p:cTn id="59" dur="indefinite"/>
                                        <p:tgtEl>
                                          <p:spTgt spid="23"/>
                                        </p:tgtEl>
                                        <p:attrNameLst>
                                          <p:attrName>style.opacity</p:attrName>
                                        </p:attrNameLst>
                                      </p:cBhvr>
                                      <p:to>
                                        <p:strVal val="0.25"/>
                                      </p:to>
                                    </p:set>
                                    <p:animEffect filter="image" prLst="opacity: 0.25">
                                      <p:cBhvr rctx="IE">
                                        <p:cTn id="60" dur="indefinite"/>
                                        <p:tgtEl>
                                          <p:spTgt spid="23"/>
                                        </p:tgtEl>
                                      </p:cBhvr>
                                    </p:animEffect>
                                  </p:childTnLst>
                                </p:cTn>
                              </p:par>
                              <p:par>
                                <p:cTn id="61" presetID="9" presetClass="emph" presetSubtype="0" grpId="2" nodeType="withEffect">
                                  <p:stCondLst>
                                    <p:cond delay="0"/>
                                  </p:stCondLst>
                                  <p:childTnLst>
                                    <p:set>
                                      <p:cBhvr>
                                        <p:cTn id="62" dur="indefinite"/>
                                        <p:tgtEl>
                                          <p:spTgt spid="21"/>
                                        </p:tgtEl>
                                        <p:attrNameLst>
                                          <p:attrName>style.opacity</p:attrName>
                                        </p:attrNameLst>
                                      </p:cBhvr>
                                      <p:to>
                                        <p:strVal val="0.25"/>
                                      </p:to>
                                    </p:set>
                                    <p:animEffect filter="image" prLst="opacity: 0.25">
                                      <p:cBhvr rctx="IE">
                                        <p:cTn id="63" dur="indefinite"/>
                                        <p:tgtEl>
                                          <p:spTgt spid="21"/>
                                        </p:tgtEl>
                                      </p:cBhvr>
                                    </p:animEffect>
                                  </p:childTnLst>
                                </p:cTn>
                              </p:par>
                              <p:par>
                                <p:cTn id="64" presetID="9" presetClass="emph" presetSubtype="0" grpId="2" nodeType="withEffect">
                                  <p:stCondLst>
                                    <p:cond delay="0"/>
                                  </p:stCondLst>
                                  <p:childTnLst>
                                    <p:set>
                                      <p:cBhvr>
                                        <p:cTn id="65" dur="indefinite"/>
                                        <p:tgtEl>
                                          <p:spTgt spid="22"/>
                                        </p:tgtEl>
                                        <p:attrNameLst>
                                          <p:attrName>style.opacity</p:attrName>
                                        </p:attrNameLst>
                                      </p:cBhvr>
                                      <p:to>
                                        <p:strVal val="0.25"/>
                                      </p:to>
                                    </p:set>
                                    <p:animEffect filter="image" prLst="opacity: 0.25">
                                      <p:cBhvr rctx="IE">
                                        <p:cTn id="66" dur="indefinite"/>
                                        <p:tgtEl>
                                          <p:spTgt spid="22"/>
                                        </p:tgtEl>
                                      </p:cBhvr>
                                    </p:animEffect>
                                  </p:childTnLst>
                                </p:cTn>
                              </p:par>
                              <p:par>
                                <p:cTn id="67" presetID="9" presetClass="emph" presetSubtype="0" grpId="0" nodeType="withEffect">
                                  <p:stCondLst>
                                    <p:cond delay="0"/>
                                  </p:stCondLst>
                                  <p:childTnLst>
                                    <p:set>
                                      <p:cBhvr>
                                        <p:cTn id="68" dur="indefinite"/>
                                        <p:tgtEl>
                                          <p:spTgt spid="2">
                                            <p:txEl>
                                              <p:pRg st="0" end="0"/>
                                            </p:txEl>
                                          </p:spTgt>
                                        </p:tgtEl>
                                        <p:attrNameLst>
                                          <p:attrName>style.opacity</p:attrName>
                                        </p:attrNameLst>
                                      </p:cBhvr>
                                      <p:to>
                                        <p:strVal val="0.25"/>
                                      </p:to>
                                    </p:set>
                                    <p:animEffect filter="image" prLst="opacity: 0.25">
                                      <p:cBhvr rctx="IE">
                                        <p:cTn id="69" dur="indefinite"/>
                                        <p:tgtEl>
                                          <p:spTgt spid="2">
                                            <p:txEl>
                                              <p:pRg st="0" end="0"/>
                                            </p:txEl>
                                          </p:spTgt>
                                        </p:tgtEl>
                                      </p:cBhvr>
                                    </p:animEffect>
                                  </p:childTnLst>
                                </p:cTn>
                              </p:par>
                              <p:par>
                                <p:cTn id="70" presetID="9" presetClass="emph" presetSubtype="0" grpId="1" nodeType="withEffect">
                                  <p:stCondLst>
                                    <p:cond delay="0"/>
                                  </p:stCondLst>
                                  <p:childTnLst>
                                    <p:set>
                                      <p:cBhvr>
                                        <p:cTn id="71" dur="indefinite"/>
                                        <p:tgtEl>
                                          <p:spTgt spid="12">
                                            <p:graphicEl>
                                              <a:chart seriesIdx="-3" categoryIdx="-3" bldStep="gridLegend"/>
                                            </p:graphicEl>
                                          </p:spTgt>
                                        </p:tgtEl>
                                        <p:attrNameLst>
                                          <p:attrName>style.opacity</p:attrName>
                                        </p:attrNameLst>
                                      </p:cBhvr>
                                      <p:to>
                                        <p:strVal val="0.25"/>
                                      </p:to>
                                    </p:set>
                                    <p:animEffect filter="image" prLst="opacity: 0.25">
                                      <p:cBhvr rctx="IE">
                                        <p:cTn id="72" dur="indefinite"/>
                                        <p:tgtEl>
                                          <p:spTgt spid="12">
                                            <p:graphicEl>
                                              <a:chart seriesIdx="-3" categoryIdx="-3" bldStep="gridLegend"/>
                                            </p:graphicEl>
                                          </p:spTgt>
                                        </p:tgtEl>
                                      </p:cBhvr>
                                    </p:animEffect>
                                  </p:childTnLst>
                                </p:cTn>
                              </p:par>
                              <p:par>
                                <p:cTn id="73" presetID="9" presetClass="emph" presetSubtype="0" grpId="1" nodeType="withEffect">
                                  <p:stCondLst>
                                    <p:cond delay="0"/>
                                  </p:stCondLst>
                                  <p:childTnLst>
                                    <p:set>
                                      <p:cBhvr>
                                        <p:cTn id="74" dur="indefinite"/>
                                        <p:tgtEl>
                                          <p:spTgt spid="12">
                                            <p:graphicEl>
                                              <a:chart seriesIdx="0" categoryIdx="0" bldStep="ptInSeries"/>
                                            </p:graphicEl>
                                          </p:spTgt>
                                        </p:tgtEl>
                                        <p:attrNameLst>
                                          <p:attrName>style.opacity</p:attrName>
                                        </p:attrNameLst>
                                      </p:cBhvr>
                                      <p:to>
                                        <p:strVal val="0.25"/>
                                      </p:to>
                                    </p:set>
                                    <p:animEffect filter="image" prLst="opacity: 0.25">
                                      <p:cBhvr rctx="IE">
                                        <p:cTn id="75" dur="indefinite"/>
                                        <p:tgtEl>
                                          <p:spTgt spid="12">
                                            <p:graphicEl>
                                              <a:chart seriesIdx="0" categoryIdx="0" bldStep="ptInSeries"/>
                                            </p:graphicEl>
                                          </p:spTgt>
                                        </p:tgtEl>
                                      </p:cBhvr>
                                    </p:animEffect>
                                  </p:childTnLst>
                                </p:cTn>
                              </p:par>
                              <p:par>
                                <p:cTn id="76" presetID="9" presetClass="emph" presetSubtype="0" grpId="1" nodeType="withEffect">
                                  <p:stCondLst>
                                    <p:cond delay="0"/>
                                  </p:stCondLst>
                                  <p:childTnLst>
                                    <p:set>
                                      <p:cBhvr>
                                        <p:cTn id="77" dur="indefinite"/>
                                        <p:tgtEl>
                                          <p:spTgt spid="12">
                                            <p:graphicEl>
                                              <a:chart seriesIdx="0" categoryIdx="1" bldStep="ptInSeries"/>
                                            </p:graphicEl>
                                          </p:spTgt>
                                        </p:tgtEl>
                                        <p:attrNameLst>
                                          <p:attrName>style.opacity</p:attrName>
                                        </p:attrNameLst>
                                      </p:cBhvr>
                                      <p:to>
                                        <p:strVal val="0.25"/>
                                      </p:to>
                                    </p:set>
                                    <p:animEffect filter="image" prLst="opacity: 0.25">
                                      <p:cBhvr rctx="IE">
                                        <p:cTn id="78" dur="indefinite"/>
                                        <p:tgtEl>
                                          <p:spTgt spid="12">
                                            <p:graphicEl>
                                              <a:chart seriesIdx="0" categoryIdx="1" bldStep="ptInSeries"/>
                                            </p:graphicEl>
                                          </p:spTgt>
                                        </p:tgtEl>
                                      </p:cBhvr>
                                    </p:animEffect>
                                  </p:childTnLst>
                                </p:cTn>
                              </p:par>
                              <p:par>
                                <p:cTn id="79" presetID="9" presetClass="emph" presetSubtype="0" grpId="1" nodeType="withEffect">
                                  <p:stCondLst>
                                    <p:cond delay="0"/>
                                  </p:stCondLst>
                                  <p:childTnLst>
                                    <p:set>
                                      <p:cBhvr>
                                        <p:cTn id="80" dur="indefinite"/>
                                        <p:tgtEl>
                                          <p:spTgt spid="12">
                                            <p:graphicEl>
                                              <a:chart seriesIdx="0" categoryIdx="2" bldStep="ptInSeries"/>
                                            </p:graphicEl>
                                          </p:spTgt>
                                        </p:tgtEl>
                                        <p:attrNameLst>
                                          <p:attrName>style.opacity</p:attrName>
                                        </p:attrNameLst>
                                      </p:cBhvr>
                                      <p:to>
                                        <p:strVal val="0.25"/>
                                      </p:to>
                                    </p:set>
                                    <p:animEffect filter="image" prLst="opacity: 0.25">
                                      <p:cBhvr rctx="IE">
                                        <p:cTn id="81" dur="indefinite"/>
                                        <p:tgtEl>
                                          <p:spTgt spid="12">
                                            <p:graphicEl>
                                              <a:chart seriesIdx="0" categoryIdx="2" bldStep="ptInSeries"/>
                                            </p:graphicEl>
                                          </p:spTgt>
                                        </p:tgtEl>
                                      </p:cBhvr>
                                    </p:animEffect>
                                  </p:childTnLst>
                                </p:cTn>
                              </p:par>
                              <p:par>
                                <p:cTn id="82" presetID="9" presetClass="emph" presetSubtype="0" grpId="1" nodeType="withEffect">
                                  <p:stCondLst>
                                    <p:cond delay="0"/>
                                  </p:stCondLst>
                                  <p:childTnLst>
                                    <p:set>
                                      <p:cBhvr>
                                        <p:cTn id="83" dur="indefinite"/>
                                        <p:tgtEl>
                                          <p:spTgt spid="12">
                                            <p:graphicEl>
                                              <a:chart seriesIdx="0" categoryIdx="3" bldStep="ptInSeries"/>
                                            </p:graphicEl>
                                          </p:spTgt>
                                        </p:tgtEl>
                                        <p:attrNameLst>
                                          <p:attrName>style.opacity</p:attrName>
                                        </p:attrNameLst>
                                      </p:cBhvr>
                                      <p:to>
                                        <p:strVal val="0.25"/>
                                      </p:to>
                                    </p:set>
                                    <p:animEffect filter="image" prLst="opacity: 0.25">
                                      <p:cBhvr rctx="IE">
                                        <p:cTn id="84" dur="indefinite"/>
                                        <p:tgtEl>
                                          <p:spTgt spid="12">
                                            <p:graphicEl>
                                              <a:chart seriesIdx="0" categoryIdx="3" bldStep="ptInSeries"/>
                                            </p:graphicEl>
                                          </p:spTgt>
                                        </p:tgtEl>
                                      </p:cBhvr>
                                    </p:animEffect>
                                  </p:childTnLst>
                                </p:cTn>
                              </p:par>
                              <p:par>
                                <p:cTn id="85" presetID="9" presetClass="emph" presetSubtype="0" grpId="1" nodeType="withEffect">
                                  <p:stCondLst>
                                    <p:cond delay="0"/>
                                  </p:stCondLst>
                                  <p:childTnLst>
                                    <p:set>
                                      <p:cBhvr>
                                        <p:cTn id="86" dur="indefinite"/>
                                        <p:tgtEl>
                                          <p:spTgt spid="12">
                                            <p:graphicEl>
                                              <a:chart seriesIdx="0" categoryIdx="4" bldStep="ptInSeries"/>
                                            </p:graphicEl>
                                          </p:spTgt>
                                        </p:tgtEl>
                                        <p:attrNameLst>
                                          <p:attrName>style.opacity</p:attrName>
                                        </p:attrNameLst>
                                      </p:cBhvr>
                                      <p:to>
                                        <p:strVal val="0.25"/>
                                      </p:to>
                                    </p:set>
                                    <p:animEffect filter="image" prLst="opacity: 0.25">
                                      <p:cBhvr rctx="IE">
                                        <p:cTn id="87" dur="indefinite"/>
                                        <p:tgtEl>
                                          <p:spTgt spid="12">
                                            <p:graphicEl>
                                              <a:chart seriesIdx="0" categoryIdx="4" bldStep="ptInSeries"/>
                                            </p:graphicEl>
                                          </p:spTgt>
                                        </p:tgtEl>
                                      </p:cBhvr>
                                    </p:animEffect>
                                  </p:childTnLst>
                                </p:cTn>
                              </p:par>
                              <p:par>
                                <p:cTn id="88" presetID="9" presetClass="emph" presetSubtype="0" grpId="1" nodeType="withEffect">
                                  <p:stCondLst>
                                    <p:cond delay="0"/>
                                  </p:stCondLst>
                                  <p:childTnLst>
                                    <p:set>
                                      <p:cBhvr>
                                        <p:cTn id="89" dur="indefinite"/>
                                        <p:tgtEl>
                                          <p:spTgt spid="12">
                                            <p:graphicEl>
                                              <a:chart seriesIdx="0" categoryIdx="5" bldStep="ptInSeries"/>
                                            </p:graphicEl>
                                          </p:spTgt>
                                        </p:tgtEl>
                                        <p:attrNameLst>
                                          <p:attrName>style.opacity</p:attrName>
                                        </p:attrNameLst>
                                      </p:cBhvr>
                                      <p:to>
                                        <p:strVal val="0.25"/>
                                      </p:to>
                                    </p:set>
                                    <p:animEffect filter="image" prLst="opacity: 0.25">
                                      <p:cBhvr rctx="IE">
                                        <p:cTn id="90" dur="indefinite"/>
                                        <p:tgtEl>
                                          <p:spTgt spid="12">
                                            <p:graphicEl>
                                              <a:chart seriesIdx="0" categoryIdx="5" bldStep="ptInSeries"/>
                                            </p:graphicEl>
                                          </p:spTgt>
                                        </p:tgtEl>
                                      </p:cBhvr>
                                    </p:animEffect>
                                  </p:childTnLst>
                                </p:cTn>
                              </p:par>
                              <p:par>
                                <p:cTn id="91" presetID="9" presetClass="emph" presetSubtype="0" grpId="1" nodeType="withEffect">
                                  <p:stCondLst>
                                    <p:cond delay="0"/>
                                  </p:stCondLst>
                                  <p:childTnLst>
                                    <p:set>
                                      <p:cBhvr>
                                        <p:cTn id="92" dur="indefinite"/>
                                        <p:tgtEl>
                                          <p:spTgt spid="12">
                                            <p:graphicEl>
                                              <a:chart seriesIdx="0" categoryIdx="6" bldStep="ptInSeries"/>
                                            </p:graphicEl>
                                          </p:spTgt>
                                        </p:tgtEl>
                                        <p:attrNameLst>
                                          <p:attrName>style.opacity</p:attrName>
                                        </p:attrNameLst>
                                      </p:cBhvr>
                                      <p:to>
                                        <p:strVal val="0.25"/>
                                      </p:to>
                                    </p:set>
                                    <p:animEffect filter="image" prLst="opacity: 0.25">
                                      <p:cBhvr rctx="IE">
                                        <p:cTn id="93" dur="indefinite"/>
                                        <p:tgtEl>
                                          <p:spTgt spid="12">
                                            <p:graphicEl>
                                              <a:chart seriesIdx="0" categoryIdx="6" bldStep="ptInSeries"/>
                                            </p:graphicEl>
                                          </p:spTgt>
                                        </p:tgtEl>
                                      </p:cBhvr>
                                    </p:animEffect>
                                  </p:childTnLst>
                                </p:cTn>
                              </p:par>
                              <p:par>
                                <p:cTn id="94" presetID="9" presetClass="emph" presetSubtype="0" grpId="1" nodeType="withEffect">
                                  <p:stCondLst>
                                    <p:cond delay="0"/>
                                  </p:stCondLst>
                                  <p:childTnLst>
                                    <p:set>
                                      <p:cBhvr>
                                        <p:cTn id="95" dur="indefinite"/>
                                        <p:tgtEl>
                                          <p:spTgt spid="12">
                                            <p:graphicEl>
                                              <a:chart seriesIdx="0" categoryIdx="7" bldStep="ptInSeries"/>
                                            </p:graphicEl>
                                          </p:spTgt>
                                        </p:tgtEl>
                                        <p:attrNameLst>
                                          <p:attrName>style.opacity</p:attrName>
                                        </p:attrNameLst>
                                      </p:cBhvr>
                                      <p:to>
                                        <p:strVal val="0.25"/>
                                      </p:to>
                                    </p:set>
                                    <p:animEffect filter="image" prLst="opacity: 0.25">
                                      <p:cBhvr rctx="IE">
                                        <p:cTn id="96" dur="indefinite"/>
                                        <p:tgtEl>
                                          <p:spTgt spid="12">
                                            <p:graphicEl>
                                              <a:chart seriesIdx="0" categoryIdx="7" bldStep="ptInSeries"/>
                                            </p:graphicEl>
                                          </p:spTgt>
                                        </p:tgtEl>
                                      </p:cBhvr>
                                    </p:animEffect>
                                  </p:childTnLst>
                                </p:cTn>
                              </p:par>
                              <p:par>
                                <p:cTn id="97" presetID="9" presetClass="emph" presetSubtype="0" grpId="1" nodeType="withEffect">
                                  <p:stCondLst>
                                    <p:cond delay="0"/>
                                  </p:stCondLst>
                                  <p:childTnLst>
                                    <p:set>
                                      <p:cBhvr>
                                        <p:cTn id="98" dur="indefinite"/>
                                        <p:tgtEl>
                                          <p:spTgt spid="12">
                                            <p:graphicEl>
                                              <a:chart seriesIdx="0" categoryIdx="8" bldStep="ptInSeries"/>
                                            </p:graphicEl>
                                          </p:spTgt>
                                        </p:tgtEl>
                                        <p:attrNameLst>
                                          <p:attrName>style.opacity</p:attrName>
                                        </p:attrNameLst>
                                      </p:cBhvr>
                                      <p:to>
                                        <p:strVal val="0.25"/>
                                      </p:to>
                                    </p:set>
                                    <p:animEffect filter="image" prLst="opacity: 0.25">
                                      <p:cBhvr rctx="IE">
                                        <p:cTn id="99" dur="indefinite"/>
                                        <p:tgtEl>
                                          <p:spTgt spid="12">
                                            <p:graphicEl>
                                              <a:chart seriesIdx="0" categoryIdx="8" bldStep="ptInSeries"/>
                                            </p:graphicEl>
                                          </p:spTgt>
                                        </p:tgtEl>
                                      </p:cBhvr>
                                    </p:animEffect>
                                  </p:childTnLst>
                                </p:cTn>
                              </p:par>
                              <p:par>
                                <p:cTn id="100" presetID="9" presetClass="emph" presetSubtype="0" grpId="1" nodeType="withEffect">
                                  <p:stCondLst>
                                    <p:cond delay="0"/>
                                  </p:stCondLst>
                                  <p:childTnLst>
                                    <p:set>
                                      <p:cBhvr>
                                        <p:cTn id="101" dur="indefinite"/>
                                        <p:tgtEl>
                                          <p:spTgt spid="12">
                                            <p:graphicEl>
                                              <a:chart seriesIdx="1" categoryIdx="0" bldStep="ptInSeries"/>
                                            </p:graphicEl>
                                          </p:spTgt>
                                        </p:tgtEl>
                                        <p:attrNameLst>
                                          <p:attrName>style.opacity</p:attrName>
                                        </p:attrNameLst>
                                      </p:cBhvr>
                                      <p:to>
                                        <p:strVal val="0.25"/>
                                      </p:to>
                                    </p:set>
                                    <p:animEffect filter="image" prLst="opacity: 0.25">
                                      <p:cBhvr rctx="IE">
                                        <p:cTn id="102" dur="indefinite"/>
                                        <p:tgtEl>
                                          <p:spTgt spid="12">
                                            <p:graphicEl>
                                              <a:chart seriesIdx="1" categoryIdx="0" bldStep="ptInSeries"/>
                                            </p:graphicEl>
                                          </p:spTgt>
                                        </p:tgtEl>
                                      </p:cBhvr>
                                    </p:animEffect>
                                  </p:childTnLst>
                                </p:cTn>
                              </p:par>
                              <p:par>
                                <p:cTn id="103" presetID="9" presetClass="emph" presetSubtype="0" grpId="1" nodeType="withEffect">
                                  <p:stCondLst>
                                    <p:cond delay="0"/>
                                  </p:stCondLst>
                                  <p:childTnLst>
                                    <p:set>
                                      <p:cBhvr>
                                        <p:cTn id="104" dur="indefinite"/>
                                        <p:tgtEl>
                                          <p:spTgt spid="12">
                                            <p:graphicEl>
                                              <a:chart seriesIdx="1" categoryIdx="1" bldStep="ptInSeries"/>
                                            </p:graphicEl>
                                          </p:spTgt>
                                        </p:tgtEl>
                                        <p:attrNameLst>
                                          <p:attrName>style.opacity</p:attrName>
                                        </p:attrNameLst>
                                      </p:cBhvr>
                                      <p:to>
                                        <p:strVal val="0.25"/>
                                      </p:to>
                                    </p:set>
                                    <p:animEffect filter="image" prLst="opacity: 0.25">
                                      <p:cBhvr rctx="IE">
                                        <p:cTn id="105" dur="indefinite"/>
                                        <p:tgtEl>
                                          <p:spTgt spid="12">
                                            <p:graphicEl>
                                              <a:chart seriesIdx="1" categoryIdx="1" bldStep="ptInSeries"/>
                                            </p:graphicEl>
                                          </p:spTgt>
                                        </p:tgtEl>
                                      </p:cBhvr>
                                    </p:animEffect>
                                  </p:childTnLst>
                                </p:cTn>
                              </p:par>
                              <p:par>
                                <p:cTn id="106" presetID="9" presetClass="emph" presetSubtype="0" grpId="1" nodeType="withEffect">
                                  <p:stCondLst>
                                    <p:cond delay="0"/>
                                  </p:stCondLst>
                                  <p:childTnLst>
                                    <p:set>
                                      <p:cBhvr>
                                        <p:cTn id="107" dur="indefinite"/>
                                        <p:tgtEl>
                                          <p:spTgt spid="12">
                                            <p:graphicEl>
                                              <a:chart seriesIdx="1" categoryIdx="2" bldStep="ptInSeries"/>
                                            </p:graphicEl>
                                          </p:spTgt>
                                        </p:tgtEl>
                                        <p:attrNameLst>
                                          <p:attrName>style.opacity</p:attrName>
                                        </p:attrNameLst>
                                      </p:cBhvr>
                                      <p:to>
                                        <p:strVal val="0.25"/>
                                      </p:to>
                                    </p:set>
                                    <p:animEffect filter="image" prLst="opacity: 0.25">
                                      <p:cBhvr rctx="IE">
                                        <p:cTn id="108" dur="indefinite"/>
                                        <p:tgtEl>
                                          <p:spTgt spid="12">
                                            <p:graphicEl>
                                              <a:chart seriesIdx="1" categoryIdx="2" bldStep="ptInSeries"/>
                                            </p:graphicEl>
                                          </p:spTgt>
                                        </p:tgtEl>
                                      </p:cBhvr>
                                    </p:animEffect>
                                  </p:childTnLst>
                                </p:cTn>
                              </p:par>
                              <p:par>
                                <p:cTn id="109" presetID="9" presetClass="emph" presetSubtype="0" grpId="1" nodeType="withEffect">
                                  <p:stCondLst>
                                    <p:cond delay="0"/>
                                  </p:stCondLst>
                                  <p:childTnLst>
                                    <p:set>
                                      <p:cBhvr>
                                        <p:cTn id="110" dur="indefinite"/>
                                        <p:tgtEl>
                                          <p:spTgt spid="12">
                                            <p:graphicEl>
                                              <a:chart seriesIdx="1" categoryIdx="3" bldStep="ptInSeries"/>
                                            </p:graphicEl>
                                          </p:spTgt>
                                        </p:tgtEl>
                                        <p:attrNameLst>
                                          <p:attrName>style.opacity</p:attrName>
                                        </p:attrNameLst>
                                      </p:cBhvr>
                                      <p:to>
                                        <p:strVal val="0.25"/>
                                      </p:to>
                                    </p:set>
                                    <p:animEffect filter="image" prLst="opacity: 0.25">
                                      <p:cBhvr rctx="IE">
                                        <p:cTn id="111" dur="indefinite"/>
                                        <p:tgtEl>
                                          <p:spTgt spid="12">
                                            <p:graphicEl>
                                              <a:chart seriesIdx="1" categoryIdx="3" bldStep="ptInSeries"/>
                                            </p:graphicEl>
                                          </p:spTgt>
                                        </p:tgtEl>
                                      </p:cBhvr>
                                    </p:animEffect>
                                  </p:childTnLst>
                                </p:cTn>
                              </p:par>
                              <p:par>
                                <p:cTn id="112" presetID="9" presetClass="emph" presetSubtype="0" grpId="1" nodeType="withEffect">
                                  <p:stCondLst>
                                    <p:cond delay="0"/>
                                  </p:stCondLst>
                                  <p:childTnLst>
                                    <p:set>
                                      <p:cBhvr>
                                        <p:cTn id="113" dur="indefinite"/>
                                        <p:tgtEl>
                                          <p:spTgt spid="12">
                                            <p:graphicEl>
                                              <a:chart seriesIdx="1" categoryIdx="4" bldStep="ptInSeries"/>
                                            </p:graphicEl>
                                          </p:spTgt>
                                        </p:tgtEl>
                                        <p:attrNameLst>
                                          <p:attrName>style.opacity</p:attrName>
                                        </p:attrNameLst>
                                      </p:cBhvr>
                                      <p:to>
                                        <p:strVal val="0.25"/>
                                      </p:to>
                                    </p:set>
                                    <p:animEffect filter="image" prLst="opacity: 0.25">
                                      <p:cBhvr rctx="IE">
                                        <p:cTn id="114" dur="indefinite"/>
                                        <p:tgtEl>
                                          <p:spTgt spid="12">
                                            <p:graphicEl>
                                              <a:chart seriesIdx="1" categoryIdx="4" bldStep="ptInSeries"/>
                                            </p:graphicEl>
                                          </p:spTgt>
                                        </p:tgtEl>
                                      </p:cBhvr>
                                    </p:animEffect>
                                  </p:childTnLst>
                                </p:cTn>
                              </p:par>
                              <p:par>
                                <p:cTn id="115" presetID="9" presetClass="emph" presetSubtype="0" grpId="1" nodeType="withEffect">
                                  <p:stCondLst>
                                    <p:cond delay="0"/>
                                  </p:stCondLst>
                                  <p:childTnLst>
                                    <p:set>
                                      <p:cBhvr>
                                        <p:cTn id="116" dur="indefinite"/>
                                        <p:tgtEl>
                                          <p:spTgt spid="12">
                                            <p:graphicEl>
                                              <a:chart seriesIdx="1" categoryIdx="5" bldStep="ptInSeries"/>
                                            </p:graphicEl>
                                          </p:spTgt>
                                        </p:tgtEl>
                                        <p:attrNameLst>
                                          <p:attrName>style.opacity</p:attrName>
                                        </p:attrNameLst>
                                      </p:cBhvr>
                                      <p:to>
                                        <p:strVal val="0.25"/>
                                      </p:to>
                                    </p:set>
                                    <p:animEffect filter="image" prLst="opacity: 0.25">
                                      <p:cBhvr rctx="IE">
                                        <p:cTn id="117" dur="indefinite"/>
                                        <p:tgtEl>
                                          <p:spTgt spid="12">
                                            <p:graphicEl>
                                              <a:chart seriesIdx="1" categoryIdx="5" bldStep="ptInSeries"/>
                                            </p:graphicEl>
                                          </p:spTgt>
                                        </p:tgtEl>
                                      </p:cBhvr>
                                    </p:animEffect>
                                  </p:childTnLst>
                                </p:cTn>
                              </p:par>
                              <p:par>
                                <p:cTn id="118" presetID="9" presetClass="emph" presetSubtype="0" grpId="1" nodeType="withEffect">
                                  <p:stCondLst>
                                    <p:cond delay="0"/>
                                  </p:stCondLst>
                                  <p:childTnLst>
                                    <p:set>
                                      <p:cBhvr>
                                        <p:cTn id="119" dur="indefinite"/>
                                        <p:tgtEl>
                                          <p:spTgt spid="12">
                                            <p:graphicEl>
                                              <a:chart seriesIdx="1" categoryIdx="6" bldStep="ptInSeries"/>
                                            </p:graphicEl>
                                          </p:spTgt>
                                        </p:tgtEl>
                                        <p:attrNameLst>
                                          <p:attrName>style.opacity</p:attrName>
                                        </p:attrNameLst>
                                      </p:cBhvr>
                                      <p:to>
                                        <p:strVal val="0.25"/>
                                      </p:to>
                                    </p:set>
                                    <p:animEffect filter="image" prLst="opacity: 0.25">
                                      <p:cBhvr rctx="IE">
                                        <p:cTn id="120" dur="indefinite"/>
                                        <p:tgtEl>
                                          <p:spTgt spid="12">
                                            <p:graphicEl>
                                              <a:chart seriesIdx="1" categoryIdx="6" bldStep="ptInSeries"/>
                                            </p:graphicEl>
                                          </p:spTgt>
                                        </p:tgtEl>
                                      </p:cBhvr>
                                    </p:animEffect>
                                  </p:childTnLst>
                                </p:cTn>
                              </p:par>
                              <p:par>
                                <p:cTn id="121" presetID="9" presetClass="emph" presetSubtype="0" grpId="1" nodeType="withEffect">
                                  <p:stCondLst>
                                    <p:cond delay="0"/>
                                  </p:stCondLst>
                                  <p:childTnLst>
                                    <p:set>
                                      <p:cBhvr>
                                        <p:cTn id="122" dur="indefinite"/>
                                        <p:tgtEl>
                                          <p:spTgt spid="12">
                                            <p:graphicEl>
                                              <a:chart seriesIdx="1" categoryIdx="7" bldStep="ptInSeries"/>
                                            </p:graphicEl>
                                          </p:spTgt>
                                        </p:tgtEl>
                                        <p:attrNameLst>
                                          <p:attrName>style.opacity</p:attrName>
                                        </p:attrNameLst>
                                      </p:cBhvr>
                                      <p:to>
                                        <p:strVal val="0.25"/>
                                      </p:to>
                                    </p:set>
                                    <p:animEffect filter="image" prLst="opacity: 0.25">
                                      <p:cBhvr rctx="IE">
                                        <p:cTn id="123" dur="indefinite"/>
                                        <p:tgtEl>
                                          <p:spTgt spid="12">
                                            <p:graphicEl>
                                              <a:chart seriesIdx="1" categoryIdx="7" bldStep="ptInSeries"/>
                                            </p:graphicEl>
                                          </p:spTgt>
                                        </p:tgtEl>
                                      </p:cBhvr>
                                    </p:animEffect>
                                  </p:childTnLst>
                                </p:cTn>
                              </p:par>
                              <p:par>
                                <p:cTn id="124" presetID="9" presetClass="emph" presetSubtype="0" grpId="1" nodeType="withEffect">
                                  <p:stCondLst>
                                    <p:cond delay="0"/>
                                  </p:stCondLst>
                                  <p:childTnLst>
                                    <p:set>
                                      <p:cBhvr>
                                        <p:cTn id="125" dur="indefinite"/>
                                        <p:tgtEl>
                                          <p:spTgt spid="12">
                                            <p:graphicEl>
                                              <a:chart seriesIdx="1" categoryIdx="8" bldStep="ptInSeries"/>
                                            </p:graphicEl>
                                          </p:spTgt>
                                        </p:tgtEl>
                                        <p:attrNameLst>
                                          <p:attrName>style.opacity</p:attrName>
                                        </p:attrNameLst>
                                      </p:cBhvr>
                                      <p:to>
                                        <p:strVal val="0.25"/>
                                      </p:to>
                                    </p:set>
                                    <p:animEffect filter="image" prLst="opacity: 0.25">
                                      <p:cBhvr rctx="IE">
                                        <p:cTn id="126" dur="indefinite"/>
                                        <p:tgtEl>
                                          <p:spTgt spid="12">
                                            <p:graphicEl>
                                              <a:chart seriesIdx="1" categoryIdx="8" bldStep="ptInSeries"/>
                                            </p:graphicEl>
                                          </p:spTgt>
                                        </p:tgtEl>
                                      </p:cBhvr>
                                    </p:animEffect>
                                  </p:childTnLst>
                                </p:cTn>
                              </p:par>
                            </p:childTnLst>
                          </p:cTn>
                        </p:par>
                        <p:par>
                          <p:cTn id="127" fill="hold">
                            <p:stCondLst>
                              <p:cond delay="1000"/>
                            </p:stCondLst>
                            <p:childTnLst>
                              <p:par>
                                <p:cTn id="128" presetID="9" presetClass="emph" presetSubtype="0" grpId="1" nodeType="afterEffect">
                                  <p:stCondLst>
                                    <p:cond delay="0"/>
                                  </p:stCondLst>
                                  <p:childTnLst>
                                    <p:set>
                                      <p:cBhvr>
                                        <p:cTn id="129" dur="indefinite"/>
                                        <p:tgtEl>
                                          <p:spTgt spid="11"/>
                                        </p:tgtEl>
                                        <p:attrNameLst>
                                          <p:attrName>style.opacity</p:attrName>
                                        </p:attrNameLst>
                                      </p:cBhvr>
                                      <p:to>
                                        <p:strVal val="1"/>
                                      </p:to>
                                    </p:set>
                                    <p:animEffect filter="image" prLst="opacity: 1">
                                      <p:cBhvr rctx="IE">
                                        <p:cTn id="130" dur="indefinite"/>
                                        <p:tgtEl>
                                          <p:spTgt spid="11"/>
                                        </p:tgtEl>
                                      </p:cBhvr>
                                    </p:animEffect>
                                  </p:childTnLst>
                                </p:cTn>
                              </p:par>
                              <p:par>
                                <p:cTn id="131" presetID="9" presetClass="emph" presetSubtype="0" grpId="1" nodeType="withEffect">
                                  <p:stCondLst>
                                    <p:cond delay="0"/>
                                  </p:stCondLst>
                                  <p:childTnLst>
                                    <p:set>
                                      <p:cBhvr>
                                        <p:cTn id="132" dur="indefinite"/>
                                        <p:tgtEl>
                                          <p:spTgt spid="4">
                                            <p:txEl>
                                              <p:pRg st="0" end="0"/>
                                            </p:txEl>
                                          </p:spTgt>
                                        </p:tgtEl>
                                        <p:attrNameLst>
                                          <p:attrName>style.opacity</p:attrName>
                                        </p:attrNameLst>
                                      </p:cBhvr>
                                      <p:to>
                                        <p:strVal val="1"/>
                                      </p:to>
                                    </p:set>
                                    <p:animEffect filter="image" prLst="opacity: 1">
                                      <p:cBhvr rctx="IE">
                                        <p:cTn id="133" dur="indefinite"/>
                                        <p:tgtEl>
                                          <p:spTgt spid="4">
                                            <p:txEl>
                                              <p:pRg st="0" end="0"/>
                                            </p:txEl>
                                          </p:spTgt>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13"/>
                                        </p:tgtEl>
                                        <p:attrNameLst>
                                          <p:attrName>style.visibility</p:attrName>
                                        </p:attrNameLst>
                                      </p:cBhvr>
                                      <p:to>
                                        <p:strVal val="visible"/>
                                      </p:to>
                                    </p:set>
                                    <p:animEffect transition="in" filter="fade">
                                      <p:cBhvr>
                                        <p:cTn id="138" dur="500"/>
                                        <p:tgtEl>
                                          <p:spTgt spid="13"/>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14"/>
                                        </p:tgtEl>
                                        <p:attrNameLst>
                                          <p:attrName>style.visibility</p:attrName>
                                        </p:attrNameLst>
                                      </p:cBhvr>
                                      <p:to>
                                        <p:strVal val="visible"/>
                                      </p:to>
                                    </p:set>
                                    <p:animEffect transition="in" filter="fade">
                                      <p:cBhvr>
                                        <p:cTn id="14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uiExpand="1">
        <p:bldSub>
          <a:bldChart bld="seriesEl"/>
        </p:bldSub>
      </p:bldGraphic>
      <p:bldGraphic spid="12" grpId="1" uiExpand="1">
        <p:bldSub>
          <a:bldChart bld="seriesEl"/>
        </p:bldSub>
      </p:bldGraphic>
      <p:bldGraphic spid="11" grpId="0">
        <p:bldAsOne/>
      </p:bldGraphic>
      <p:bldGraphic spid="11" grpId="1">
        <p:bldAsOne/>
      </p:bldGraphic>
      <p:bldP spid="2" grpId="0" build="p"/>
      <p:bldP spid="4" grpId="0" build="p"/>
      <p:bldP spid="4" grpId="1" build="p"/>
      <p:bldP spid="13" grpId="0" animBg="1"/>
      <p:bldP spid="14" grpId="0" animBg="1"/>
      <p:bldP spid="17" grpId="0" animBg="1"/>
      <p:bldP spid="17" grpId="1" animBg="1"/>
      <p:bldP spid="17" grpId="2" animBg="1"/>
      <p:bldP spid="18" grpId="0" animBg="1"/>
      <p:bldP spid="18" grpId="1" animBg="1"/>
      <p:bldP spid="18" grpId="2" animBg="1"/>
      <p:bldP spid="21" grpId="0" animBg="1"/>
      <p:bldP spid="21" grpId="1" animBg="1"/>
      <p:bldP spid="21" grpId="2" animBg="1"/>
      <p:bldP spid="22" grpId="0" animBg="1"/>
      <p:bldP spid="22" grpId="1" animBg="1"/>
      <p:bldP spid="22" grpId="2" animBg="1"/>
      <p:bldP spid="23" grpId="0" animBg="1"/>
      <p:bldP spid="23"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97106-8C27-91DF-6AB7-CCFC4557594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38CDDB9-8A58-C8F7-77E3-30E83B3D596A}"/>
              </a:ext>
            </a:extLst>
          </p:cNvPr>
          <p:cNvSpPr>
            <a:spLocks noGrp="1"/>
          </p:cNvSpPr>
          <p:nvPr>
            <p:ph type="title"/>
          </p:nvPr>
        </p:nvSpPr>
        <p:spPr/>
        <p:txBody>
          <a:bodyPr/>
          <a:lstStyle/>
          <a:p>
            <a:r>
              <a:rPr lang="en-CA" dirty="0"/>
              <a:t>Risks</a:t>
            </a:r>
          </a:p>
        </p:txBody>
      </p:sp>
      <p:sp>
        <p:nvSpPr>
          <p:cNvPr id="8" name="Date Placeholder 7">
            <a:extLst>
              <a:ext uri="{FF2B5EF4-FFF2-40B4-BE49-F238E27FC236}">
                <a16:creationId xmlns:a16="http://schemas.microsoft.com/office/drawing/2014/main" id="{1C6FB523-77AA-795D-AD08-73C6207D8BE3}"/>
              </a:ext>
            </a:extLst>
          </p:cNvPr>
          <p:cNvSpPr>
            <a:spLocks noGrp="1"/>
          </p:cNvSpPr>
          <p:nvPr>
            <p:ph type="dt" sz="half" idx="14"/>
          </p:nvPr>
        </p:nvSpPr>
        <p:spPr/>
        <p:txBody>
          <a:bodyPr/>
          <a:lstStyle/>
          <a:p>
            <a:fld id="{4F31ED60-57BA-425F-BBE8-3DF23D11EEBD}" type="datetime4">
              <a:rPr lang="en-US" smtClean="0"/>
              <a:t>July 29, 2026</a:t>
            </a:fld>
            <a:endParaRPr lang="en-US"/>
          </a:p>
        </p:txBody>
      </p:sp>
      <p:sp>
        <p:nvSpPr>
          <p:cNvPr id="9" name="Footer Placeholder 8">
            <a:extLst>
              <a:ext uri="{FF2B5EF4-FFF2-40B4-BE49-F238E27FC236}">
                <a16:creationId xmlns:a16="http://schemas.microsoft.com/office/drawing/2014/main" id="{83F3D60E-A89B-3EAF-14C6-35937AA1991D}"/>
              </a:ext>
            </a:extLst>
          </p:cNvPr>
          <p:cNvSpPr>
            <a:spLocks noGrp="1"/>
          </p:cNvSpPr>
          <p:nvPr>
            <p:ph type="ftr" sz="quarter" idx="15"/>
          </p:nvPr>
        </p:nvSpPr>
        <p:spPr/>
        <p:txBody>
          <a:bodyPr/>
          <a:lstStyle/>
          <a:p>
            <a:endParaRPr lang="en-US" dirty="0"/>
          </a:p>
        </p:txBody>
      </p:sp>
      <p:sp>
        <p:nvSpPr>
          <p:cNvPr id="10" name="Slide Number Placeholder 9">
            <a:extLst>
              <a:ext uri="{FF2B5EF4-FFF2-40B4-BE49-F238E27FC236}">
                <a16:creationId xmlns:a16="http://schemas.microsoft.com/office/drawing/2014/main" id="{7557F4CE-8236-D8AE-CBF6-2DD0EA74F14E}"/>
              </a:ext>
            </a:extLst>
          </p:cNvPr>
          <p:cNvSpPr>
            <a:spLocks noGrp="1"/>
          </p:cNvSpPr>
          <p:nvPr>
            <p:ph type="sldNum" sz="quarter" idx="16"/>
          </p:nvPr>
        </p:nvSpPr>
        <p:spPr/>
        <p:txBody>
          <a:bodyPr/>
          <a:lstStyle/>
          <a:p>
            <a:fld id="{3CBD822F-ED39-4FC2-B5B5-D2EAB6238DC3}" type="slidenum">
              <a:rPr lang="en-US" smtClean="0"/>
              <a:pPr/>
              <a:t>7</a:t>
            </a:fld>
            <a:endParaRPr lang="en-US"/>
          </a:p>
        </p:txBody>
      </p:sp>
      <p:sp>
        <p:nvSpPr>
          <p:cNvPr id="25" name="Title 1">
            <a:extLst>
              <a:ext uri="{FF2B5EF4-FFF2-40B4-BE49-F238E27FC236}">
                <a16:creationId xmlns:a16="http://schemas.microsoft.com/office/drawing/2014/main" id="{B3F500EE-23D8-0E2A-3495-86413715E55E}"/>
              </a:ext>
            </a:extLst>
          </p:cNvPr>
          <p:cNvSpPr txBox="1">
            <a:spLocks/>
          </p:cNvSpPr>
          <p:nvPr/>
        </p:nvSpPr>
        <p:spPr>
          <a:xfrm>
            <a:off x="7416419" y="309282"/>
            <a:ext cx="3400104"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gn="r"/>
            <a:r>
              <a:rPr lang="en-CA" i="1" dirty="0"/>
              <a:t>Power Platform</a:t>
            </a:r>
            <a:endParaRPr lang="en-CA" i="1" dirty="0">
              <a:cs typeface="Arial" panose="020B0604020202020204"/>
            </a:endParaRPr>
          </a:p>
        </p:txBody>
      </p:sp>
      <p:pic>
        <p:nvPicPr>
          <p:cNvPr id="26" name="Graphic 25">
            <a:extLst>
              <a:ext uri="{FF2B5EF4-FFF2-40B4-BE49-F238E27FC236}">
                <a16:creationId xmlns:a16="http://schemas.microsoft.com/office/drawing/2014/main" id="{ED122CB1-402D-D410-6A1B-44B17F3C66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510" y="280267"/>
            <a:ext cx="657409" cy="659560"/>
          </a:xfrm>
          <a:prstGeom prst="rect">
            <a:avLst/>
          </a:prstGeom>
        </p:spPr>
      </p:pic>
      <p:graphicFrame>
        <p:nvGraphicFramePr>
          <p:cNvPr id="2" name="Table 1">
            <a:extLst>
              <a:ext uri="{FF2B5EF4-FFF2-40B4-BE49-F238E27FC236}">
                <a16:creationId xmlns:a16="http://schemas.microsoft.com/office/drawing/2014/main" id="{948E2F75-B848-41B0-567A-EC3101598EB3}"/>
              </a:ext>
            </a:extLst>
          </p:cNvPr>
          <p:cNvGraphicFramePr>
            <a:graphicFrameLocks noGrp="1"/>
          </p:cNvGraphicFramePr>
          <p:nvPr>
            <p:extLst>
              <p:ext uri="{D42A27DB-BD31-4B8C-83A1-F6EECF244321}">
                <p14:modId xmlns:p14="http://schemas.microsoft.com/office/powerpoint/2010/main" val="1962163506"/>
              </p:ext>
            </p:extLst>
          </p:nvPr>
        </p:nvGraphicFramePr>
        <p:xfrm>
          <a:off x="944779" y="1272425"/>
          <a:ext cx="10302442" cy="4479164"/>
        </p:xfrm>
        <a:graphic>
          <a:graphicData uri="http://schemas.openxmlformats.org/drawingml/2006/table">
            <a:tbl>
              <a:tblPr firstRow="1" firstCol="1" bandRow="1">
                <a:tableStyleId>{5C22544A-7EE6-4342-B048-85BDC9FD1C3A}</a:tableStyleId>
              </a:tblPr>
              <a:tblGrid>
                <a:gridCol w="2368563">
                  <a:extLst>
                    <a:ext uri="{9D8B030D-6E8A-4147-A177-3AD203B41FA5}">
                      <a16:colId xmlns:a16="http://schemas.microsoft.com/office/drawing/2014/main" val="699347023"/>
                    </a:ext>
                  </a:extLst>
                </a:gridCol>
                <a:gridCol w="3800222">
                  <a:extLst>
                    <a:ext uri="{9D8B030D-6E8A-4147-A177-3AD203B41FA5}">
                      <a16:colId xmlns:a16="http://schemas.microsoft.com/office/drawing/2014/main" val="3026545880"/>
                    </a:ext>
                  </a:extLst>
                </a:gridCol>
                <a:gridCol w="411811">
                  <a:extLst>
                    <a:ext uri="{9D8B030D-6E8A-4147-A177-3AD203B41FA5}">
                      <a16:colId xmlns:a16="http://schemas.microsoft.com/office/drawing/2014/main" val="3879578763"/>
                    </a:ext>
                  </a:extLst>
                </a:gridCol>
                <a:gridCol w="3721846">
                  <a:extLst>
                    <a:ext uri="{9D8B030D-6E8A-4147-A177-3AD203B41FA5}">
                      <a16:colId xmlns:a16="http://schemas.microsoft.com/office/drawing/2014/main" val="2688570249"/>
                    </a:ext>
                  </a:extLst>
                </a:gridCol>
              </a:tblGrid>
              <a:tr h="425790">
                <a:tc>
                  <a:txBody>
                    <a:bodyPr/>
                    <a:lstStyle/>
                    <a:p>
                      <a:pPr>
                        <a:lnSpc>
                          <a:spcPct val="107000"/>
                        </a:lnSpc>
                        <a:spcAft>
                          <a:spcPts val="800"/>
                        </a:spcAft>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Category</a:t>
                      </a:r>
                    </a:p>
                  </a:txBody>
                  <a:tcPr marL="137160" marR="137160" marT="137160" marB="137160" anchor="ctr"/>
                </a:tc>
                <a:tc>
                  <a:txBody>
                    <a:bodyPr/>
                    <a:lstStyle/>
                    <a:p>
                      <a:pPr>
                        <a:lnSpc>
                          <a:spcPct val="107000"/>
                        </a:lnSpc>
                        <a:spcAft>
                          <a:spcPts val="800"/>
                        </a:spcAft>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Current Risks/Gaps</a:t>
                      </a:r>
                    </a:p>
                  </a:txBody>
                  <a:tcPr marL="137160" marR="137160" marT="137160" marB="137160" anchor="ctr"/>
                </a:tc>
                <a:tc>
                  <a:txBody>
                    <a:bodyPr/>
                    <a:lstStyle/>
                    <a:p>
                      <a:pPr>
                        <a:lnSpc>
                          <a:spcPct val="107000"/>
                        </a:lnSpc>
                        <a:spcAft>
                          <a:spcPts val="800"/>
                        </a:spcAft>
                      </a:pP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5720" marR="45720" anchor="ctr"/>
                </a:tc>
                <a:tc>
                  <a:txBody>
                    <a:bodyPr/>
                    <a:lstStyle/>
                    <a:p>
                      <a:pPr>
                        <a:lnSpc>
                          <a:spcPct val="107000"/>
                        </a:lnSpc>
                        <a:spcAft>
                          <a:spcPts val="800"/>
                        </a:spcAft>
                      </a:pPr>
                      <a:r>
                        <a:rPr lang="en-CA" sz="1100" kern="100" dirty="0">
                          <a:effectLst/>
                        </a:rPr>
                        <a:t>How to Address</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tc>
                <a:extLst>
                  <a:ext uri="{0D108BD9-81ED-4DB2-BD59-A6C34878D82A}">
                    <a16:rowId xmlns:a16="http://schemas.microsoft.com/office/drawing/2014/main" val="3821721335"/>
                  </a:ext>
                </a:extLst>
              </a:tr>
              <a:tr h="0">
                <a:tc>
                  <a:txBody>
                    <a:bodyPr/>
                    <a:lstStyle/>
                    <a:p>
                      <a:pPr>
                        <a:lnSpc>
                          <a:spcPct val="107000"/>
                        </a:lnSpc>
                        <a:spcAft>
                          <a:spcPts val="800"/>
                        </a:spcAft>
                      </a:pPr>
                      <a:r>
                        <a:rPr lang="en-CA" sz="1100" kern="100" dirty="0">
                          <a:effectLst/>
                        </a:rPr>
                        <a:t>Access Security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tc>
                <a:tc>
                  <a:txBody>
                    <a:bodyPr/>
                    <a:lstStyle/>
                    <a:p>
                      <a:pPr marL="171450" indent="-171450">
                        <a:lnSpc>
                          <a:spcPct val="107000"/>
                        </a:lnSpc>
                        <a:spcAft>
                          <a:spcPts val="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Token replay attacks</a:t>
                      </a:r>
                    </a:p>
                    <a:p>
                      <a:pPr marL="171450" indent="-171450">
                        <a:lnSpc>
                          <a:spcPct val="107000"/>
                        </a:lnSpc>
                        <a:spcAft>
                          <a:spcPts val="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Dataverse session hijacking</a:t>
                      </a:r>
                    </a:p>
                    <a:p>
                      <a:pPr marL="171450" indent="-171450">
                        <a:lnSpc>
                          <a:spcPct val="107000"/>
                        </a:lnSpc>
                        <a:spcAft>
                          <a:spcPts val="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Access from unsecure locations</a:t>
                      </a:r>
                    </a:p>
                  </a:txBody>
                  <a:tcPr marL="137160" marR="137160" marT="137160" marB="137160" anchor="ctr"/>
                </a:tc>
                <a:tc>
                  <a:txBody>
                    <a:bodyPr/>
                    <a:lstStyle/>
                    <a:p>
                      <a:pPr marL="0" lvl="0" indent="0">
                        <a:lnSpc>
                          <a:spcPct val="107000"/>
                        </a:lnSpc>
                        <a:spcAft>
                          <a:spcPts val="0"/>
                        </a:spcAft>
                        <a:buFont typeface="Courier New" panose="02070309020205020404" pitchFamily="49"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p>
                      <a:pPr marL="0" lvl="0" indent="0">
                        <a:lnSpc>
                          <a:spcPct val="107000"/>
                        </a:lnSpc>
                        <a:spcAft>
                          <a:spcPts val="0"/>
                        </a:spcAft>
                        <a:buFont typeface="Courier New" panose="02070309020205020404" pitchFamily="49"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p>
                      <a:pPr marL="0" lvl="0" indent="0">
                        <a:lnSpc>
                          <a:spcPct val="107000"/>
                        </a:lnSpc>
                        <a:spcAft>
                          <a:spcPts val="0"/>
                        </a:spcAft>
                        <a:buFont typeface="Courier New" panose="02070309020205020404" pitchFamily="49"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5720" marR="45720" anchor="ctr"/>
                </a:tc>
                <a:tc>
                  <a:txBody>
                    <a:bodyPr/>
                    <a:lstStyle/>
                    <a:p>
                      <a:pPr marL="0" lvl="0" indent="0">
                        <a:lnSpc>
                          <a:spcPct val="107000"/>
                        </a:lnSpc>
                        <a:spcAft>
                          <a:spcPts val="0"/>
                        </a:spcAft>
                        <a:buFont typeface="Courier New" panose="02070309020205020404" pitchFamily="49" charset="0"/>
                        <a:buNone/>
                      </a:pPr>
                      <a:r>
                        <a:rPr lang="en-CA" sz="1100" b="0" kern="100" dirty="0">
                          <a:solidFill>
                            <a:srgbClr val="515349"/>
                          </a:solidFill>
                          <a:effectLst/>
                          <a:latin typeface="Aptos" panose="020B0004020202020204" pitchFamily="34" charset="0"/>
                          <a:ea typeface="Aptos" panose="020B0004020202020204" pitchFamily="34" charset="0"/>
                          <a:cs typeface="Times New Roman" panose="02020603050405020304" pitchFamily="18" charset="0"/>
                        </a:rPr>
                        <a:t>IP Firewall</a:t>
                      </a:r>
                    </a:p>
                    <a:p>
                      <a:pPr marL="0" lvl="0" indent="0">
                        <a:lnSpc>
                          <a:spcPct val="107000"/>
                        </a:lnSpc>
                        <a:spcAft>
                          <a:spcPts val="0"/>
                        </a:spcAft>
                        <a:buFont typeface="Courier New" panose="02070309020205020404" pitchFamily="49" charset="0"/>
                        <a:buNone/>
                      </a:pPr>
                      <a:r>
                        <a:rPr lang="en-CA" sz="1100" b="0" kern="100" dirty="0">
                          <a:solidFill>
                            <a:srgbClr val="515349"/>
                          </a:solidFill>
                          <a:effectLst/>
                          <a:latin typeface="Aptos" panose="020B0004020202020204" pitchFamily="34" charset="0"/>
                          <a:ea typeface="Aptos" panose="020B0004020202020204" pitchFamily="34" charset="0"/>
                          <a:cs typeface="Times New Roman" panose="02020603050405020304" pitchFamily="18" charset="0"/>
                        </a:rPr>
                        <a:t>IP Cookie Binding</a:t>
                      </a:r>
                    </a:p>
                    <a:p>
                      <a:pPr marL="0" lvl="0" indent="0">
                        <a:lnSpc>
                          <a:spcPct val="107000"/>
                        </a:lnSpc>
                        <a:spcAft>
                          <a:spcPts val="0"/>
                        </a:spcAft>
                        <a:buFont typeface="Courier New" panose="02070309020205020404" pitchFamily="49" charset="0"/>
                        <a:buNone/>
                      </a:pPr>
                      <a:r>
                        <a:rPr lang="en-CA" sz="1100" b="0" kern="100" dirty="0">
                          <a:solidFill>
                            <a:srgbClr val="515349"/>
                          </a:solidFill>
                          <a:effectLst/>
                          <a:latin typeface="Aptos" panose="020B0004020202020204" pitchFamily="34" charset="0"/>
                          <a:ea typeface="Aptos" panose="020B0004020202020204" pitchFamily="34" charset="0"/>
                          <a:cs typeface="Times New Roman" panose="02020603050405020304" pitchFamily="18" charset="0"/>
                        </a:rPr>
                        <a:t>Conditional Access for Individual Apps, IP Firewall</a:t>
                      </a:r>
                    </a:p>
                  </a:txBody>
                  <a:tcPr marL="137160" marR="137160" marT="137160" marB="137160" anchor="ctr"/>
                </a:tc>
                <a:extLst>
                  <a:ext uri="{0D108BD9-81ED-4DB2-BD59-A6C34878D82A}">
                    <a16:rowId xmlns:a16="http://schemas.microsoft.com/office/drawing/2014/main" val="330422029"/>
                  </a:ext>
                </a:extLst>
              </a:tr>
              <a:tr h="0">
                <a:tc>
                  <a:txBody>
                    <a:bodyPr/>
                    <a:lstStyle/>
                    <a:p>
                      <a:pPr>
                        <a:lnSpc>
                          <a:spcPct val="107000"/>
                        </a:lnSpc>
                        <a:spcAft>
                          <a:spcPts val="800"/>
                        </a:spcAft>
                      </a:pPr>
                      <a:r>
                        <a:rPr lang="en-CA" sz="1100" kern="100" dirty="0">
                          <a:effectLst/>
                        </a:rPr>
                        <a:t>Data Security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tc>
                <a:tc>
                  <a:txBody>
                    <a:bodyPr/>
                    <a:lstStyle/>
                    <a:p>
                      <a:pPr marL="171450" indent="-171450">
                        <a:lnSpc>
                          <a:spcPct val="107000"/>
                        </a:lnSpc>
                        <a:spcAft>
                          <a:spcPts val="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Data leakage</a:t>
                      </a:r>
                    </a:p>
                    <a:p>
                      <a:pPr marL="171450" indent="-171450">
                        <a:lnSpc>
                          <a:spcPct val="107000"/>
                        </a:lnSpc>
                        <a:spcAft>
                          <a:spcPts val="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Data exfiltration</a:t>
                      </a:r>
                    </a:p>
                  </a:txBody>
                  <a:tcPr marL="137160" marR="137160" marT="137160" marB="137160" anchor="ctr"/>
                </a:tc>
                <a:tc>
                  <a:txBody>
                    <a:bodyPr/>
                    <a:lstStyle/>
                    <a:p>
                      <a:pPr marL="0" indent="0">
                        <a:lnSpc>
                          <a:spcPct val="107000"/>
                        </a:lnSpc>
                        <a:spcAft>
                          <a:spcPts val="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p>
                      <a:pPr marL="0" indent="0">
                        <a:lnSpc>
                          <a:spcPct val="107000"/>
                        </a:lnSpc>
                        <a:spcAft>
                          <a:spcPts val="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5720" marR="45720" anchor="ctr"/>
                </a:tc>
                <a:tc>
                  <a:txBody>
                    <a:bodyPr/>
                    <a:lstStyle/>
                    <a:p>
                      <a:pPr marL="0" indent="0">
                        <a:lnSpc>
                          <a:spcPct val="107000"/>
                        </a:lnSpc>
                        <a:spcAft>
                          <a:spcPts val="0"/>
                        </a:spcAft>
                        <a:buFont typeface="Arial" panose="020B0604020202020204" pitchFamily="34" charset="0"/>
                        <a:buNone/>
                      </a:pPr>
                      <a:r>
                        <a:rPr lang="en-CA" sz="1100" b="0" kern="100" dirty="0">
                          <a:solidFill>
                            <a:srgbClr val="515349"/>
                          </a:solidFill>
                          <a:effectLst/>
                          <a:latin typeface="Aptos" panose="020B0004020202020204" pitchFamily="34" charset="0"/>
                          <a:ea typeface="Aptos" panose="020B0004020202020204" pitchFamily="34" charset="0"/>
                          <a:cs typeface="Times New Roman" panose="02020603050405020304" pitchFamily="18" charset="0"/>
                        </a:rPr>
                        <a:t>Data Loss Prevention Policies for Desktop Flows</a:t>
                      </a:r>
                    </a:p>
                    <a:p>
                      <a:pPr marL="0" indent="0">
                        <a:lnSpc>
                          <a:spcPct val="107000"/>
                        </a:lnSpc>
                        <a:spcAft>
                          <a:spcPts val="0"/>
                        </a:spcAft>
                        <a:buFont typeface="Arial" panose="020B0604020202020204" pitchFamily="34" charset="0"/>
                        <a:buNone/>
                      </a:pPr>
                      <a:r>
                        <a:rPr lang="en-CA" sz="1100" b="0" kern="100" dirty="0">
                          <a:solidFill>
                            <a:srgbClr val="515349"/>
                          </a:solidFill>
                          <a:effectLst/>
                          <a:latin typeface="Aptos" panose="020B0004020202020204" pitchFamily="34" charset="0"/>
                          <a:ea typeface="Aptos" panose="020B0004020202020204" pitchFamily="34" charset="0"/>
                          <a:cs typeface="Times New Roman" panose="02020603050405020304" pitchFamily="18" charset="0"/>
                        </a:rPr>
                        <a:t>Conditional Access for Individual Apps, IP Firewall</a:t>
                      </a:r>
                    </a:p>
                  </a:txBody>
                  <a:tcPr marL="137160" marR="137160" marT="137160" marB="137160" anchor="ctr"/>
                </a:tc>
                <a:extLst>
                  <a:ext uri="{0D108BD9-81ED-4DB2-BD59-A6C34878D82A}">
                    <a16:rowId xmlns:a16="http://schemas.microsoft.com/office/drawing/2014/main" val="894629087"/>
                  </a:ext>
                </a:extLst>
              </a:tr>
              <a:tr h="0">
                <a:tc>
                  <a:txBody>
                    <a:bodyPr/>
                    <a:lstStyle/>
                    <a:p>
                      <a:pPr>
                        <a:lnSpc>
                          <a:spcPct val="107000"/>
                        </a:lnSpc>
                        <a:spcAft>
                          <a:spcPts val="800"/>
                        </a:spcAft>
                      </a:pPr>
                      <a:r>
                        <a:rPr lang="en-CA" sz="1100" kern="100" dirty="0">
                          <a:effectLst/>
                        </a:rPr>
                        <a:t>Financial Management</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tc>
                <a:tc>
                  <a:txBody>
                    <a:bodyPr/>
                    <a:lstStyle/>
                    <a:p>
                      <a:pPr marL="171450" indent="-171450">
                        <a:lnSpc>
                          <a:spcPct val="107000"/>
                        </a:lnSpc>
                        <a:spcAft>
                          <a:spcPts val="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Unallocated costs</a:t>
                      </a:r>
                    </a:p>
                  </a:txBody>
                  <a:tcPr marL="137160" marR="137160" marT="137160" marB="137160" anchor="ctr"/>
                </a:tc>
                <a:tc>
                  <a:txBody>
                    <a:bodyPr/>
                    <a:lstStyle/>
                    <a:p>
                      <a:pPr marL="0" indent="0">
                        <a:lnSpc>
                          <a:spcPct val="107000"/>
                        </a:lnSpc>
                        <a:spcAft>
                          <a:spcPts val="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5720" marR="45720" anchor="ctr"/>
                </a:tc>
                <a:tc>
                  <a:txBody>
                    <a:bodyPr/>
                    <a:lstStyle/>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defRPr/>
                      </a:pPr>
                      <a:r>
                        <a:rPr lang="en-CA" sz="1100" b="0" kern="100" dirty="0">
                          <a:solidFill>
                            <a:srgbClr val="515349"/>
                          </a:solidFill>
                          <a:effectLst/>
                          <a:latin typeface="Aptos" panose="020B0004020202020204" pitchFamily="34" charset="0"/>
                          <a:ea typeface="Aptos" panose="020B0004020202020204" pitchFamily="34" charset="0"/>
                          <a:cs typeface="Times New Roman" panose="02020603050405020304" pitchFamily="18" charset="0"/>
                        </a:rPr>
                        <a:t>Licencing Chargeback Model</a:t>
                      </a:r>
                    </a:p>
                  </a:txBody>
                  <a:tcPr marL="137160" marR="137160" marT="137160" marB="137160" anchor="ctr"/>
                </a:tc>
                <a:extLst>
                  <a:ext uri="{0D108BD9-81ED-4DB2-BD59-A6C34878D82A}">
                    <a16:rowId xmlns:a16="http://schemas.microsoft.com/office/drawing/2014/main" val="1595883152"/>
                  </a:ext>
                </a:extLst>
              </a:tr>
              <a:tr h="0">
                <a:tc>
                  <a:txBody>
                    <a:bodyPr/>
                    <a:lstStyle/>
                    <a:p>
                      <a:pPr>
                        <a:lnSpc>
                          <a:spcPct val="107000"/>
                        </a:lnSpc>
                        <a:spcAft>
                          <a:spcPts val="800"/>
                        </a:spcAft>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Operations</a:t>
                      </a:r>
                    </a:p>
                  </a:txBody>
                  <a:tcPr marL="137160" marR="137160" marT="137160" marB="137160" anchor="ctr"/>
                </a:tc>
                <a:tc>
                  <a:txBody>
                    <a:bodyPr/>
                    <a:lstStyle/>
                    <a:p>
                      <a:pPr marL="171450" indent="-171450">
                        <a:lnSpc>
                          <a:spcPct val="107000"/>
                        </a:lnSpc>
                        <a:spcAft>
                          <a:spcPts val="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Ungoverned &amp; unsupported solutions</a:t>
                      </a:r>
                    </a:p>
                    <a:p>
                      <a:pPr marL="171450" indent="-171450">
                        <a:lnSpc>
                          <a:spcPct val="107000"/>
                        </a:lnSpc>
                        <a:spcAft>
                          <a:spcPts val="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Limited support</a:t>
                      </a:r>
                    </a:p>
                    <a:p>
                      <a:pPr marL="171450" indent="-171450">
                        <a:lnSpc>
                          <a:spcPct val="107000"/>
                        </a:lnSpc>
                        <a:spcAft>
                          <a:spcPts val="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No on-call support</a:t>
                      </a:r>
                    </a:p>
                    <a:p>
                      <a:pPr marL="171450" indent="-171450">
                        <a:lnSpc>
                          <a:spcPct val="107000"/>
                        </a:lnSpc>
                        <a:spcAft>
                          <a:spcPts val="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Lack of compliance retention process</a:t>
                      </a:r>
                    </a:p>
                    <a:p>
                      <a:pPr marL="171450" indent="-171450">
                        <a:lnSpc>
                          <a:spcPct val="107000"/>
                        </a:lnSpc>
                        <a:spcAft>
                          <a:spcPts val="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Inconsistent end user training &amp; guidance</a:t>
                      </a:r>
                    </a:p>
                    <a:p>
                      <a:pPr marL="171450" indent="-171450">
                        <a:lnSpc>
                          <a:spcPct val="107000"/>
                        </a:lnSpc>
                        <a:spcAft>
                          <a:spcPts val="0"/>
                        </a:spcAft>
                        <a:buFont typeface="Wingdings" panose="05000000000000000000" pitchFamily="2" charset="2"/>
                        <a:buChar char="q"/>
                      </a:pP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tc>
                <a:tc>
                  <a:txBody>
                    <a:bodyPr/>
                    <a:lstStyle/>
                    <a:p>
                      <a:pPr marL="0" indent="0">
                        <a:lnSpc>
                          <a:spcPct val="107000"/>
                        </a:lnSpc>
                        <a:spcAft>
                          <a:spcPts val="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p>
                      <a:pPr marL="0" indent="0">
                        <a:lnSpc>
                          <a:spcPct val="107000"/>
                        </a:lnSpc>
                        <a:spcAft>
                          <a:spcPts val="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p>
                      <a:pPr marL="0" indent="0">
                        <a:lnSpc>
                          <a:spcPct val="107000"/>
                        </a:lnSpc>
                        <a:spcAft>
                          <a:spcPts val="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txBody>
                  <a:tcPr marL="45720" marR="45720" anchor="ctr"/>
                </a:tc>
                <a:tc>
                  <a:txBody>
                    <a:bodyPr/>
                    <a:lstStyle/>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defRPr/>
                      </a:pPr>
                      <a:r>
                        <a:rPr lang="en-CA" sz="1100" b="0" kern="100" dirty="0">
                          <a:solidFill>
                            <a:srgbClr val="515349"/>
                          </a:solidFill>
                          <a:effectLst/>
                          <a:latin typeface="Aptos" panose="020B0004020202020204" pitchFamily="34" charset="0"/>
                          <a:ea typeface="Aptos" panose="020B0004020202020204" pitchFamily="34" charset="0"/>
                          <a:cs typeface="Times New Roman" panose="02020603050405020304" pitchFamily="18" charset="0"/>
                        </a:rPr>
                        <a:t>Additional Operations Resources</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defRPr/>
                      </a:pPr>
                      <a:r>
                        <a:rPr lang="en-CA" sz="1100" b="0" kern="100" dirty="0">
                          <a:solidFill>
                            <a:srgbClr val="515349"/>
                          </a:solidFill>
                          <a:effectLst/>
                          <a:latin typeface="Aptos" panose="020B0004020202020204" pitchFamily="34" charset="0"/>
                          <a:ea typeface="Aptos" panose="020B0004020202020204" pitchFamily="34" charset="0"/>
                          <a:cs typeface="Times New Roman" panose="02020603050405020304" pitchFamily="18" charset="0"/>
                        </a:rPr>
                        <a:t>Extended Backup, COE Starter Kit</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defRPr/>
                      </a:pPr>
                      <a:r>
                        <a:rPr lang="en-CA" sz="1100" b="0" kern="100" dirty="0">
                          <a:solidFill>
                            <a:srgbClr val="515349"/>
                          </a:solidFill>
                          <a:effectLst/>
                          <a:latin typeface="Aptos" panose="020B0004020202020204" pitchFamily="34" charset="0"/>
                          <a:ea typeface="Aptos" panose="020B0004020202020204" pitchFamily="34" charset="0"/>
                          <a:cs typeface="Times New Roman" panose="02020603050405020304" pitchFamily="18" charset="0"/>
                        </a:rPr>
                        <a:t>Maker Welcome Content, Pipelines, Catalog</a:t>
                      </a:r>
                    </a:p>
                  </a:txBody>
                  <a:tcPr marL="137160" marR="137160" marT="137160" marB="137160" anchor="ctr"/>
                </a:tc>
                <a:extLst>
                  <a:ext uri="{0D108BD9-81ED-4DB2-BD59-A6C34878D82A}">
                    <a16:rowId xmlns:a16="http://schemas.microsoft.com/office/drawing/2014/main" val="3656908569"/>
                  </a:ext>
                </a:extLst>
              </a:tr>
              <a:tr h="0">
                <a:tc>
                  <a:txBody>
                    <a:bodyPr/>
                    <a:lstStyle/>
                    <a:p>
                      <a:pPr>
                        <a:lnSpc>
                          <a:spcPct val="107000"/>
                        </a:lnSpc>
                        <a:spcAft>
                          <a:spcPts val="800"/>
                        </a:spcAft>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Solution Management</a:t>
                      </a:r>
                    </a:p>
                  </a:txBody>
                  <a:tcPr marL="137160" marR="137160" marT="137160" marB="137160" anchor="ctr"/>
                </a:tc>
                <a:tc>
                  <a:txBody>
                    <a:bodyPr/>
                    <a:lstStyle/>
                    <a:p>
                      <a:pPr marL="171450" indent="-171450">
                        <a:lnSpc>
                          <a:spcPct val="107000"/>
                        </a:lnSpc>
                        <a:spcAft>
                          <a:spcPts val="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Non-existent Application Lifecycle Management</a:t>
                      </a:r>
                    </a:p>
                    <a:p>
                      <a:pPr marL="171450" indent="-171450">
                        <a:lnSpc>
                          <a:spcPct val="107000"/>
                        </a:lnSpc>
                        <a:spcAft>
                          <a:spcPts val="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Inability to manage solutions at scale (aka EUC 2.0)</a:t>
                      </a:r>
                    </a:p>
                    <a:p>
                      <a:pPr marL="171450" indent="-171450">
                        <a:lnSpc>
                          <a:spcPct val="107000"/>
                        </a:lnSpc>
                        <a:spcAft>
                          <a:spcPts val="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Inefficient development</a:t>
                      </a:r>
                    </a:p>
                  </a:txBody>
                  <a:tcPr marL="137160" marR="137160" marT="137160" marB="137160" anchor="ctr"/>
                </a:tc>
                <a:tc>
                  <a:txBody>
                    <a:bodyPr/>
                    <a:lstStyle/>
                    <a:p>
                      <a:pPr marL="0" indent="0">
                        <a:lnSpc>
                          <a:spcPct val="107000"/>
                        </a:lnSpc>
                        <a:spcAft>
                          <a:spcPts val="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p>
                      <a:pPr marL="0" indent="0">
                        <a:lnSpc>
                          <a:spcPct val="107000"/>
                        </a:lnSpc>
                        <a:spcAft>
                          <a:spcPts val="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p>
                      <a:pPr marL="0" indent="0">
                        <a:lnSpc>
                          <a:spcPct val="107000"/>
                        </a:lnSpc>
                        <a:spcAft>
                          <a:spcPts val="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txBody>
                  <a:tcPr marL="45720" marR="45720" anchor="ctr"/>
                </a:tc>
                <a:tc>
                  <a:txBody>
                    <a:bodyPr/>
                    <a:lstStyle/>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defRPr/>
                      </a:pPr>
                      <a:r>
                        <a:rPr lang="en-CA" sz="1100" b="0" kern="100" dirty="0">
                          <a:solidFill>
                            <a:srgbClr val="515349"/>
                          </a:solidFill>
                          <a:effectLst/>
                          <a:latin typeface="Aptos" panose="020B0004020202020204" pitchFamily="34" charset="0"/>
                          <a:ea typeface="Aptos" panose="020B0004020202020204" pitchFamily="34" charset="0"/>
                          <a:cs typeface="Times New Roman" panose="02020603050405020304" pitchFamily="18" charset="0"/>
                        </a:rPr>
                        <a:t>Pipelines</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defRPr/>
                      </a:pPr>
                      <a:r>
                        <a:rPr lang="en-CA" sz="1100" b="0" kern="100" dirty="0">
                          <a:solidFill>
                            <a:srgbClr val="515349"/>
                          </a:solidFill>
                          <a:effectLst/>
                          <a:latin typeface="Aptos" panose="020B0004020202020204" pitchFamily="34" charset="0"/>
                          <a:ea typeface="Aptos" panose="020B0004020202020204" pitchFamily="34" charset="0"/>
                          <a:cs typeface="Times New Roman" panose="02020603050405020304" pitchFamily="18" charset="0"/>
                        </a:rPr>
                        <a:t>Sharing Controls, Environment Groups, Usage Insights</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defRPr/>
                      </a:pPr>
                      <a:r>
                        <a:rPr lang="en-CA" sz="1100" b="0" kern="100" dirty="0">
                          <a:solidFill>
                            <a:srgbClr val="515349"/>
                          </a:solidFill>
                          <a:effectLst/>
                          <a:latin typeface="Aptos" panose="020B0004020202020204" pitchFamily="34" charset="0"/>
                          <a:ea typeface="Aptos" panose="020B0004020202020204" pitchFamily="34" charset="0"/>
                          <a:cs typeface="Times New Roman" panose="02020603050405020304" pitchFamily="18" charset="0"/>
                        </a:rPr>
                        <a:t>Catalog, Solution Checker</a:t>
                      </a:r>
                    </a:p>
                  </a:txBody>
                  <a:tcPr marL="137160" marR="137160" marT="137160" marB="137160" anchor="ctr"/>
                </a:tc>
                <a:extLst>
                  <a:ext uri="{0D108BD9-81ED-4DB2-BD59-A6C34878D82A}">
                    <a16:rowId xmlns:a16="http://schemas.microsoft.com/office/drawing/2014/main" val="3971878922"/>
                  </a:ext>
                </a:extLst>
              </a:tr>
            </a:tbl>
          </a:graphicData>
        </a:graphic>
      </p:graphicFrame>
      <p:sp>
        <p:nvSpPr>
          <p:cNvPr id="3" name="TextBox 2">
            <a:extLst>
              <a:ext uri="{FF2B5EF4-FFF2-40B4-BE49-F238E27FC236}">
                <a16:creationId xmlns:a16="http://schemas.microsoft.com/office/drawing/2014/main" id="{FE44656C-F754-6680-4238-05D542C09A1C}"/>
              </a:ext>
            </a:extLst>
          </p:cNvPr>
          <p:cNvSpPr txBox="1"/>
          <p:nvPr/>
        </p:nvSpPr>
        <p:spPr>
          <a:xfrm>
            <a:off x="3743506" y="280190"/>
            <a:ext cx="2037618" cy="605118"/>
          </a:xfrm>
          <a:prstGeom prst="rect">
            <a:avLst/>
          </a:prstGeom>
          <a:solidFill>
            <a:schemeClr val="bg1"/>
          </a:solidFill>
        </p:spPr>
        <p:style>
          <a:lnRef idx="3">
            <a:schemeClr val="lt1"/>
          </a:lnRef>
          <a:fillRef idx="1">
            <a:schemeClr val="accent2"/>
          </a:fillRef>
          <a:effectRef idx="1">
            <a:schemeClr val="accent2"/>
          </a:effectRef>
          <a:fontRef idx="minor">
            <a:schemeClr val="lt1"/>
          </a:fontRef>
        </p:style>
        <p:txBody>
          <a:bodyPr wrap="none" lIns="182880" tIns="182880" rIns="182880" bIns="182880" rtlCol="0" anchor="t" anchorCtr="0">
            <a:normAutofit fontScale="32500" lnSpcReduction="20000"/>
          </a:bodyPr>
          <a:lstStyle/>
          <a:p>
            <a:pPr algn="l"/>
            <a:r>
              <a:rPr lang="en-CA" dirty="0">
                <a:solidFill>
                  <a:schemeClr val="tx1"/>
                </a:solidFill>
              </a:rPr>
              <a:t>Other risks:</a:t>
            </a:r>
          </a:p>
          <a:p>
            <a:pPr marL="285750" indent="-285750" algn="l">
              <a:buFontTx/>
              <a:buChar char="-"/>
            </a:pPr>
            <a:r>
              <a:rPr lang="en-CA" dirty="0">
                <a:solidFill>
                  <a:schemeClr val="tx1"/>
                </a:solidFill>
              </a:rPr>
              <a:t>12000 data gathering</a:t>
            </a:r>
          </a:p>
          <a:p>
            <a:pPr marL="285750" indent="-285750" algn="l">
              <a:buFontTx/>
              <a:buChar char="-"/>
            </a:pPr>
            <a:r>
              <a:rPr lang="en-CA" dirty="0">
                <a:solidFill>
                  <a:schemeClr val="tx1"/>
                </a:solidFill>
              </a:rPr>
              <a:t>PII? </a:t>
            </a:r>
            <a:r>
              <a:rPr lang="en-CA">
                <a:solidFill>
                  <a:schemeClr val="tx1"/>
                </a:solidFill>
              </a:rPr>
              <a:t>Criticality?</a:t>
            </a:r>
            <a:endParaRPr lang="en-CA" dirty="0">
              <a:solidFill>
                <a:schemeClr val="tx1"/>
              </a:solidFill>
            </a:endParaRPr>
          </a:p>
        </p:txBody>
      </p:sp>
    </p:spTree>
    <p:extLst>
      <p:ext uri="{BB962C8B-B14F-4D97-AF65-F5344CB8AC3E}">
        <p14:creationId xmlns:p14="http://schemas.microsoft.com/office/powerpoint/2010/main" val="2921889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2EE3C-C8C1-3400-7BF7-9F0BCEE1050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601BD4B-8443-AE8C-C2E2-472D8E301D35}"/>
              </a:ext>
            </a:extLst>
          </p:cNvPr>
          <p:cNvSpPr>
            <a:spLocks noGrp="1"/>
          </p:cNvSpPr>
          <p:nvPr>
            <p:ph type="title"/>
          </p:nvPr>
        </p:nvSpPr>
        <p:spPr/>
        <p:txBody>
          <a:bodyPr/>
          <a:lstStyle/>
          <a:p>
            <a:r>
              <a:rPr lang="en-CA" dirty="0"/>
              <a:t>What are Managed Environments?</a:t>
            </a:r>
          </a:p>
        </p:txBody>
      </p:sp>
      <p:sp>
        <p:nvSpPr>
          <p:cNvPr id="8" name="Date Placeholder 7">
            <a:extLst>
              <a:ext uri="{FF2B5EF4-FFF2-40B4-BE49-F238E27FC236}">
                <a16:creationId xmlns:a16="http://schemas.microsoft.com/office/drawing/2014/main" id="{740F3EAE-359C-F47D-147E-DB52270F4C40}"/>
              </a:ext>
            </a:extLst>
          </p:cNvPr>
          <p:cNvSpPr>
            <a:spLocks noGrp="1"/>
          </p:cNvSpPr>
          <p:nvPr>
            <p:ph type="dt" sz="half" idx="14"/>
          </p:nvPr>
        </p:nvSpPr>
        <p:spPr/>
        <p:txBody>
          <a:bodyPr/>
          <a:lstStyle/>
          <a:p>
            <a:fld id="{4F31ED60-57BA-425F-BBE8-3DF23D11EEBD}" type="datetime4">
              <a:rPr lang="en-US" smtClean="0"/>
              <a:t>July 29, 2026</a:t>
            </a:fld>
            <a:endParaRPr lang="en-US"/>
          </a:p>
        </p:txBody>
      </p:sp>
      <p:sp>
        <p:nvSpPr>
          <p:cNvPr id="9" name="Footer Placeholder 8">
            <a:extLst>
              <a:ext uri="{FF2B5EF4-FFF2-40B4-BE49-F238E27FC236}">
                <a16:creationId xmlns:a16="http://schemas.microsoft.com/office/drawing/2014/main" id="{1DA708F2-3D18-591E-D969-4076A0FA28AF}"/>
              </a:ext>
            </a:extLst>
          </p:cNvPr>
          <p:cNvSpPr>
            <a:spLocks noGrp="1"/>
          </p:cNvSpPr>
          <p:nvPr>
            <p:ph type="ftr" sz="quarter" idx="15"/>
          </p:nvPr>
        </p:nvSpPr>
        <p:spPr/>
        <p:txBody>
          <a:bodyPr/>
          <a:lstStyle/>
          <a:p>
            <a:endParaRPr lang="en-US" dirty="0"/>
          </a:p>
        </p:txBody>
      </p:sp>
      <p:sp>
        <p:nvSpPr>
          <p:cNvPr id="10" name="Slide Number Placeholder 9">
            <a:extLst>
              <a:ext uri="{FF2B5EF4-FFF2-40B4-BE49-F238E27FC236}">
                <a16:creationId xmlns:a16="http://schemas.microsoft.com/office/drawing/2014/main" id="{0D6739D7-A9CA-6435-9968-CBDE96324107}"/>
              </a:ext>
            </a:extLst>
          </p:cNvPr>
          <p:cNvSpPr>
            <a:spLocks noGrp="1"/>
          </p:cNvSpPr>
          <p:nvPr>
            <p:ph type="sldNum" sz="quarter" idx="16"/>
          </p:nvPr>
        </p:nvSpPr>
        <p:spPr/>
        <p:txBody>
          <a:bodyPr/>
          <a:lstStyle/>
          <a:p>
            <a:fld id="{3CBD822F-ED39-4FC2-B5B5-D2EAB6238DC3}" type="slidenum">
              <a:rPr lang="en-US" smtClean="0"/>
              <a:pPr/>
              <a:t>8</a:t>
            </a:fld>
            <a:endParaRPr lang="en-US"/>
          </a:p>
        </p:txBody>
      </p:sp>
      <p:sp>
        <p:nvSpPr>
          <p:cNvPr id="25" name="Title 1">
            <a:extLst>
              <a:ext uri="{FF2B5EF4-FFF2-40B4-BE49-F238E27FC236}">
                <a16:creationId xmlns:a16="http://schemas.microsoft.com/office/drawing/2014/main" id="{099DFE3C-8A95-ADE6-E2EC-06D27F4E47FD}"/>
              </a:ext>
            </a:extLst>
          </p:cNvPr>
          <p:cNvSpPr txBox="1">
            <a:spLocks/>
          </p:cNvSpPr>
          <p:nvPr/>
        </p:nvSpPr>
        <p:spPr>
          <a:xfrm>
            <a:off x="7416419" y="309282"/>
            <a:ext cx="3400104"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gn="r"/>
            <a:r>
              <a:rPr lang="en-CA" i="1" dirty="0"/>
              <a:t>Power Platform</a:t>
            </a:r>
            <a:endParaRPr lang="en-CA" i="1" dirty="0">
              <a:cs typeface="Arial" panose="020B0604020202020204"/>
            </a:endParaRPr>
          </a:p>
        </p:txBody>
      </p:sp>
      <p:pic>
        <p:nvPicPr>
          <p:cNvPr id="26" name="Graphic 25">
            <a:extLst>
              <a:ext uri="{FF2B5EF4-FFF2-40B4-BE49-F238E27FC236}">
                <a16:creationId xmlns:a16="http://schemas.microsoft.com/office/drawing/2014/main" id="{ECEAA3A7-EB9D-8169-F575-1CDF118935B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08510" y="280267"/>
            <a:ext cx="657409" cy="659560"/>
          </a:xfrm>
          <a:prstGeom prst="rect">
            <a:avLst/>
          </a:prstGeom>
        </p:spPr>
      </p:pic>
      <p:sp>
        <p:nvSpPr>
          <p:cNvPr id="2" name="Rectangle 1">
            <a:extLst>
              <a:ext uri="{FF2B5EF4-FFF2-40B4-BE49-F238E27FC236}">
                <a16:creationId xmlns:a16="http://schemas.microsoft.com/office/drawing/2014/main" id="{FC5E65ED-A05D-2FAA-AF8D-CDE52BEDCDC6}"/>
              </a:ext>
            </a:extLst>
          </p:cNvPr>
          <p:cNvSpPr/>
          <p:nvPr/>
        </p:nvSpPr>
        <p:spPr>
          <a:xfrm>
            <a:off x="2015378" y="2262798"/>
            <a:ext cx="8161243" cy="233240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Autofit/>
          </a:bodyPr>
          <a:lstStyle/>
          <a:p>
            <a:r>
              <a:rPr lang="en-CA" sz="2400" b="1" dirty="0">
                <a:solidFill>
                  <a:schemeClr val="tx1">
                    <a:lumMod val="50000"/>
                  </a:schemeClr>
                </a:solidFill>
                <a:latin typeface="+mj-lt"/>
              </a:rPr>
              <a:t>A suite of premium capabilities that allows admins to manage Power Platform at scale with more control, less effort, and more insights.</a:t>
            </a:r>
          </a:p>
        </p:txBody>
      </p:sp>
      <p:sp>
        <p:nvSpPr>
          <p:cNvPr id="7" name="TextBox 6">
            <a:hlinkClick r:id="rId3"/>
            <a:extLst>
              <a:ext uri="{FF2B5EF4-FFF2-40B4-BE49-F238E27FC236}">
                <a16:creationId xmlns:a16="http://schemas.microsoft.com/office/drawing/2014/main" id="{B3B54563-9F19-D1EE-9C3E-DF685E6BDD10}"/>
              </a:ext>
            </a:extLst>
          </p:cNvPr>
          <p:cNvSpPr txBox="1"/>
          <p:nvPr/>
        </p:nvSpPr>
        <p:spPr>
          <a:xfrm>
            <a:off x="384047" y="5636204"/>
            <a:ext cx="3408219" cy="563935"/>
          </a:xfrm>
          <a:prstGeom prst="rect">
            <a:avLst/>
          </a:prstGeom>
          <a:solidFill>
            <a:schemeClr val="bg1"/>
          </a:solidFill>
        </p:spPr>
        <p:style>
          <a:lnRef idx="3">
            <a:schemeClr val="lt1"/>
          </a:lnRef>
          <a:fillRef idx="1">
            <a:schemeClr val="accent2"/>
          </a:fillRef>
          <a:effectRef idx="1">
            <a:schemeClr val="accent2"/>
          </a:effectRef>
          <a:fontRef idx="minor">
            <a:schemeClr val="lt1"/>
          </a:fontRef>
        </p:style>
        <p:txBody>
          <a:bodyPr wrap="none" lIns="182880" tIns="182880" rIns="182880" bIns="182880" rtlCol="0" anchor="t" anchorCtr="0">
            <a:normAutofit lnSpcReduction="10000"/>
          </a:bodyPr>
          <a:lstStyle/>
          <a:p>
            <a:pPr algn="l"/>
            <a:r>
              <a:rPr lang="en-CA" sz="1400" i="1" dirty="0">
                <a:solidFill>
                  <a:schemeClr val="tx1"/>
                </a:solidFill>
              </a:rPr>
              <a:t>Link to Managed Environments overview</a:t>
            </a:r>
          </a:p>
        </p:txBody>
      </p:sp>
    </p:spTree>
    <p:extLst>
      <p:ext uri="{BB962C8B-B14F-4D97-AF65-F5344CB8AC3E}">
        <p14:creationId xmlns:p14="http://schemas.microsoft.com/office/powerpoint/2010/main" val="414343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36C53-1F52-79BA-7B24-066ED4D3971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81F3BAB-2F5E-2C56-F093-493FD2A2D191}"/>
              </a:ext>
            </a:extLst>
          </p:cNvPr>
          <p:cNvSpPr>
            <a:spLocks noGrp="1"/>
          </p:cNvSpPr>
          <p:nvPr>
            <p:ph type="title"/>
          </p:nvPr>
        </p:nvSpPr>
        <p:spPr/>
        <p:txBody>
          <a:bodyPr/>
          <a:lstStyle/>
          <a:p>
            <a:r>
              <a:rPr lang="en-CA" dirty="0"/>
              <a:t>Risks</a:t>
            </a:r>
          </a:p>
        </p:txBody>
      </p:sp>
      <p:sp>
        <p:nvSpPr>
          <p:cNvPr id="8" name="Date Placeholder 7">
            <a:extLst>
              <a:ext uri="{FF2B5EF4-FFF2-40B4-BE49-F238E27FC236}">
                <a16:creationId xmlns:a16="http://schemas.microsoft.com/office/drawing/2014/main" id="{6ADD1F09-583B-E9C3-991D-8198B5A32500}"/>
              </a:ext>
            </a:extLst>
          </p:cNvPr>
          <p:cNvSpPr>
            <a:spLocks noGrp="1"/>
          </p:cNvSpPr>
          <p:nvPr>
            <p:ph type="dt" sz="half" idx="14"/>
          </p:nvPr>
        </p:nvSpPr>
        <p:spPr/>
        <p:txBody>
          <a:bodyPr/>
          <a:lstStyle/>
          <a:p>
            <a:fld id="{4F31ED60-57BA-425F-BBE8-3DF23D11EEBD}" type="datetime4">
              <a:rPr lang="en-US" smtClean="0"/>
              <a:t>July 29, 2026</a:t>
            </a:fld>
            <a:endParaRPr lang="en-US"/>
          </a:p>
        </p:txBody>
      </p:sp>
      <p:sp>
        <p:nvSpPr>
          <p:cNvPr id="9" name="Footer Placeholder 8">
            <a:extLst>
              <a:ext uri="{FF2B5EF4-FFF2-40B4-BE49-F238E27FC236}">
                <a16:creationId xmlns:a16="http://schemas.microsoft.com/office/drawing/2014/main" id="{95F2459A-7360-B421-31E3-57EA89010AEE}"/>
              </a:ext>
            </a:extLst>
          </p:cNvPr>
          <p:cNvSpPr>
            <a:spLocks noGrp="1"/>
          </p:cNvSpPr>
          <p:nvPr>
            <p:ph type="ftr" sz="quarter" idx="15"/>
          </p:nvPr>
        </p:nvSpPr>
        <p:spPr/>
        <p:txBody>
          <a:bodyPr/>
          <a:lstStyle/>
          <a:p>
            <a:endParaRPr lang="en-US" dirty="0"/>
          </a:p>
        </p:txBody>
      </p:sp>
      <p:sp>
        <p:nvSpPr>
          <p:cNvPr id="10" name="Slide Number Placeholder 9">
            <a:extLst>
              <a:ext uri="{FF2B5EF4-FFF2-40B4-BE49-F238E27FC236}">
                <a16:creationId xmlns:a16="http://schemas.microsoft.com/office/drawing/2014/main" id="{CC297984-2AFB-D7CB-B660-4C746D85BFA7}"/>
              </a:ext>
            </a:extLst>
          </p:cNvPr>
          <p:cNvSpPr>
            <a:spLocks noGrp="1"/>
          </p:cNvSpPr>
          <p:nvPr>
            <p:ph type="sldNum" sz="quarter" idx="16"/>
          </p:nvPr>
        </p:nvSpPr>
        <p:spPr/>
        <p:txBody>
          <a:bodyPr/>
          <a:lstStyle/>
          <a:p>
            <a:fld id="{3CBD822F-ED39-4FC2-B5B5-D2EAB6238DC3}" type="slidenum">
              <a:rPr lang="en-US" smtClean="0"/>
              <a:pPr/>
              <a:t>9</a:t>
            </a:fld>
            <a:endParaRPr lang="en-US"/>
          </a:p>
        </p:txBody>
      </p:sp>
      <p:sp>
        <p:nvSpPr>
          <p:cNvPr id="25" name="Title 1">
            <a:extLst>
              <a:ext uri="{FF2B5EF4-FFF2-40B4-BE49-F238E27FC236}">
                <a16:creationId xmlns:a16="http://schemas.microsoft.com/office/drawing/2014/main" id="{27B0C1D0-23B0-BB8B-3E57-1D15624358BB}"/>
              </a:ext>
            </a:extLst>
          </p:cNvPr>
          <p:cNvSpPr txBox="1">
            <a:spLocks/>
          </p:cNvSpPr>
          <p:nvPr/>
        </p:nvSpPr>
        <p:spPr>
          <a:xfrm>
            <a:off x="7416419" y="309282"/>
            <a:ext cx="3400104"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gn="r"/>
            <a:r>
              <a:rPr lang="en-CA" i="1" dirty="0"/>
              <a:t>Power Platform</a:t>
            </a:r>
            <a:endParaRPr lang="en-CA" i="1" dirty="0">
              <a:cs typeface="Arial" panose="020B0604020202020204"/>
            </a:endParaRPr>
          </a:p>
        </p:txBody>
      </p:sp>
      <p:pic>
        <p:nvPicPr>
          <p:cNvPr id="26" name="Graphic 25">
            <a:extLst>
              <a:ext uri="{FF2B5EF4-FFF2-40B4-BE49-F238E27FC236}">
                <a16:creationId xmlns:a16="http://schemas.microsoft.com/office/drawing/2014/main" id="{54CBCADC-F35D-75FE-A939-C3F709CBD32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08510" y="280267"/>
            <a:ext cx="657409" cy="659560"/>
          </a:xfrm>
          <a:prstGeom prst="rect">
            <a:avLst/>
          </a:prstGeom>
        </p:spPr>
      </p:pic>
      <p:graphicFrame>
        <p:nvGraphicFramePr>
          <p:cNvPr id="20" name="Table 19">
            <a:extLst>
              <a:ext uri="{FF2B5EF4-FFF2-40B4-BE49-F238E27FC236}">
                <a16:creationId xmlns:a16="http://schemas.microsoft.com/office/drawing/2014/main" id="{9D91357E-6DB9-B87A-F56B-B89CDF4AC1B8}"/>
              </a:ext>
            </a:extLst>
          </p:cNvPr>
          <p:cNvGraphicFramePr>
            <a:graphicFrameLocks noGrp="1"/>
          </p:cNvGraphicFramePr>
          <p:nvPr>
            <p:extLst>
              <p:ext uri="{D42A27DB-BD31-4B8C-83A1-F6EECF244321}">
                <p14:modId xmlns:p14="http://schemas.microsoft.com/office/powerpoint/2010/main" val="2236170509"/>
              </p:ext>
            </p:extLst>
          </p:nvPr>
        </p:nvGraphicFramePr>
        <p:xfrm>
          <a:off x="944779" y="1272425"/>
          <a:ext cx="10302442" cy="4652201"/>
        </p:xfrm>
        <a:graphic>
          <a:graphicData uri="http://schemas.openxmlformats.org/drawingml/2006/table">
            <a:tbl>
              <a:tblPr firstRow="1" firstCol="1" bandRow="1">
                <a:tableStyleId>{5C22544A-7EE6-4342-B048-85BDC9FD1C3A}</a:tableStyleId>
              </a:tblPr>
              <a:tblGrid>
                <a:gridCol w="2368563">
                  <a:extLst>
                    <a:ext uri="{9D8B030D-6E8A-4147-A177-3AD203B41FA5}">
                      <a16:colId xmlns:a16="http://schemas.microsoft.com/office/drawing/2014/main" val="699347023"/>
                    </a:ext>
                  </a:extLst>
                </a:gridCol>
                <a:gridCol w="3800222">
                  <a:extLst>
                    <a:ext uri="{9D8B030D-6E8A-4147-A177-3AD203B41FA5}">
                      <a16:colId xmlns:a16="http://schemas.microsoft.com/office/drawing/2014/main" val="3026545880"/>
                    </a:ext>
                  </a:extLst>
                </a:gridCol>
                <a:gridCol w="411811">
                  <a:extLst>
                    <a:ext uri="{9D8B030D-6E8A-4147-A177-3AD203B41FA5}">
                      <a16:colId xmlns:a16="http://schemas.microsoft.com/office/drawing/2014/main" val="3879578763"/>
                    </a:ext>
                  </a:extLst>
                </a:gridCol>
                <a:gridCol w="3721846">
                  <a:extLst>
                    <a:ext uri="{9D8B030D-6E8A-4147-A177-3AD203B41FA5}">
                      <a16:colId xmlns:a16="http://schemas.microsoft.com/office/drawing/2014/main" val="2688570249"/>
                    </a:ext>
                  </a:extLst>
                </a:gridCol>
              </a:tblGrid>
              <a:tr h="327216">
                <a:tc>
                  <a:txBody>
                    <a:bodyPr/>
                    <a:lstStyle/>
                    <a:p>
                      <a:pPr>
                        <a:lnSpc>
                          <a:spcPct val="107000"/>
                        </a:lnSpc>
                        <a:spcAft>
                          <a:spcPts val="800"/>
                        </a:spcAft>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Category</a:t>
                      </a:r>
                    </a:p>
                  </a:txBody>
                  <a:tcPr marL="137160" marR="137160" marT="137160" marB="137160" anchor="ctr"/>
                </a:tc>
                <a:tc>
                  <a:txBody>
                    <a:bodyPr/>
                    <a:lstStyle/>
                    <a:p>
                      <a:pPr>
                        <a:lnSpc>
                          <a:spcPct val="107000"/>
                        </a:lnSpc>
                        <a:spcAft>
                          <a:spcPts val="800"/>
                        </a:spcAft>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Current Risks/Gaps</a:t>
                      </a:r>
                    </a:p>
                  </a:txBody>
                  <a:tcPr marL="137160" marR="137160" marT="137160" marB="137160" anchor="ctr"/>
                </a:tc>
                <a:tc>
                  <a:txBody>
                    <a:bodyPr/>
                    <a:lstStyle/>
                    <a:p>
                      <a:pPr>
                        <a:lnSpc>
                          <a:spcPct val="107000"/>
                        </a:lnSpc>
                        <a:spcAft>
                          <a:spcPts val="800"/>
                        </a:spcAft>
                      </a:pP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5720" marR="45720" anchor="ctr"/>
                </a:tc>
                <a:tc>
                  <a:txBody>
                    <a:bodyPr/>
                    <a:lstStyle/>
                    <a:p>
                      <a:pPr>
                        <a:lnSpc>
                          <a:spcPct val="107000"/>
                        </a:lnSpc>
                        <a:spcAft>
                          <a:spcPts val="800"/>
                        </a:spcAft>
                      </a:pPr>
                      <a:r>
                        <a:rPr lang="en-CA" sz="1100" kern="100" dirty="0">
                          <a:effectLst/>
                        </a:rPr>
                        <a:t>How to Address</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tc>
                <a:extLst>
                  <a:ext uri="{0D108BD9-81ED-4DB2-BD59-A6C34878D82A}">
                    <a16:rowId xmlns:a16="http://schemas.microsoft.com/office/drawing/2014/main" val="3821721335"/>
                  </a:ext>
                </a:extLst>
              </a:tr>
              <a:tr h="327216">
                <a:tc>
                  <a:txBody>
                    <a:bodyPr/>
                    <a:lstStyle/>
                    <a:p>
                      <a:pPr>
                        <a:lnSpc>
                          <a:spcPct val="107000"/>
                        </a:lnSpc>
                        <a:spcAft>
                          <a:spcPts val="800"/>
                        </a:spcAft>
                      </a:pPr>
                      <a:r>
                        <a:rPr lang="en-CA" sz="1100" kern="100" dirty="0">
                          <a:effectLst/>
                        </a:rPr>
                        <a:t>Access Security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tc>
                <a:tc>
                  <a:txBody>
                    <a:bodyPr/>
                    <a:lstStyle/>
                    <a:p>
                      <a:pPr marL="171450" indent="-171450">
                        <a:lnSpc>
                          <a:spcPct val="107000"/>
                        </a:lnSpc>
                        <a:spcAft>
                          <a:spcPts val="80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Token replay attacks</a:t>
                      </a:r>
                    </a:p>
                    <a:p>
                      <a:pPr marL="171450" indent="-171450">
                        <a:lnSpc>
                          <a:spcPct val="107000"/>
                        </a:lnSpc>
                        <a:spcAft>
                          <a:spcPts val="80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Dataverse session hijacking</a:t>
                      </a:r>
                    </a:p>
                    <a:p>
                      <a:pPr marL="171450" indent="-171450">
                        <a:lnSpc>
                          <a:spcPct val="107000"/>
                        </a:lnSpc>
                        <a:spcAft>
                          <a:spcPts val="80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Access from unsecure locations</a:t>
                      </a:r>
                    </a:p>
                  </a:txBody>
                  <a:tcPr marL="137160" marR="137160" marT="137160" marB="137160" anchor="ctr"/>
                </a:tc>
                <a:tc>
                  <a:txBody>
                    <a:bodyPr/>
                    <a:lstStyle/>
                    <a:p>
                      <a:pPr marL="0" lvl="0" indent="0">
                        <a:lnSpc>
                          <a:spcPct val="107000"/>
                        </a:lnSpc>
                        <a:spcAft>
                          <a:spcPts val="800"/>
                        </a:spcAft>
                        <a:buFont typeface="Courier New" panose="02070309020205020404" pitchFamily="49"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p>
                      <a:pPr marL="0" lvl="0" indent="0">
                        <a:lnSpc>
                          <a:spcPct val="107000"/>
                        </a:lnSpc>
                        <a:spcAft>
                          <a:spcPts val="800"/>
                        </a:spcAft>
                        <a:buFont typeface="Courier New" panose="02070309020205020404" pitchFamily="49"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p>
                      <a:pPr marL="0" lvl="0" indent="0">
                        <a:lnSpc>
                          <a:spcPct val="107000"/>
                        </a:lnSpc>
                        <a:spcAft>
                          <a:spcPts val="800"/>
                        </a:spcAft>
                        <a:buFont typeface="Courier New" panose="02070309020205020404" pitchFamily="49"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5720" marR="45720" anchor="ctr"/>
                </a:tc>
                <a:tc>
                  <a:txBody>
                    <a:bodyPr/>
                    <a:lstStyle/>
                    <a:p>
                      <a:pPr marL="0" lvl="0" indent="0">
                        <a:lnSpc>
                          <a:spcPct val="107000"/>
                        </a:lnSpc>
                        <a:spcAft>
                          <a:spcPts val="800"/>
                        </a:spcAft>
                        <a:buFont typeface="Courier New" panose="02070309020205020404" pitchFamily="49" charset="0"/>
                        <a:buNone/>
                      </a:pPr>
                      <a:r>
                        <a:rPr lang="en-CA" sz="1100" b="1" kern="100" dirty="0">
                          <a:solidFill>
                            <a:srgbClr val="7A41A6"/>
                          </a:solidFill>
                          <a:effectLst/>
                          <a:latin typeface="Aptos" panose="020B0004020202020204" pitchFamily="34" charset="0"/>
                          <a:ea typeface="Aptos" panose="020B0004020202020204" pitchFamily="34" charset="0"/>
                          <a:cs typeface="Times New Roman" panose="02020603050405020304" pitchFamily="18" charset="0"/>
                        </a:rPr>
                        <a:t>IP Firewall</a:t>
                      </a:r>
                    </a:p>
                    <a:p>
                      <a:pPr marL="0" lvl="0" indent="0">
                        <a:lnSpc>
                          <a:spcPct val="107000"/>
                        </a:lnSpc>
                        <a:spcAft>
                          <a:spcPts val="800"/>
                        </a:spcAft>
                        <a:buFont typeface="Courier New" panose="02070309020205020404" pitchFamily="49" charset="0"/>
                        <a:buNone/>
                      </a:pPr>
                      <a:r>
                        <a:rPr lang="en-CA" sz="1100" b="1" kern="100" dirty="0">
                          <a:solidFill>
                            <a:srgbClr val="7A41A6"/>
                          </a:solidFill>
                          <a:effectLst/>
                          <a:latin typeface="Aptos" panose="020B0004020202020204" pitchFamily="34" charset="0"/>
                          <a:ea typeface="Aptos" panose="020B0004020202020204" pitchFamily="34" charset="0"/>
                          <a:cs typeface="Times New Roman" panose="02020603050405020304" pitchFamily="18" charset="0"/>
                        </a:rPr>
                        <a:t>IP Cookie Binding</a:t>
                      </a:r>
                    </a:p>
                    <a:p>
                      <a:pPr marL="0" lvl="0" indent="0">
                        <a:lnSpc>
                          <a:spcPct val="107000"/>
                        </a:lnSpc>
                        <a:spcAft>
                          <a:spcPts val="800"/>
                        </a:spcAft>
                        <a:buFont typeface="Courier New" panose="02070309020205020404" pitchFamily="49" charset="0"/>
                        <a:buNone/>
                      </a:pPr>
                      <a:r>
                        <a:rPr lang="en-CA" sz="1100" b="1" kern="100" dirty="0">
                          <a:solidFill>
                            <a:srgbClr val="7A41A6"/>
                          </a:solidFill>
                          <a:effectLst/>
                          <a:latin typeface="Aptos" panose="020B0004020202020204" pitchFamily="34" charset="0"/>
                          <a:ea typeface="Aptos" panose="020B0004020202020204" pitchFamily="34" charset="0"/>
                          <a:cs typeface="Times New Roman" panose="02020603050405020304" pitchFamily="18" charset="0"/>
                        </a:rPr>
                        <a:t>Conditional Access for Individual Apps, IP Firewall</a:t>
                      </a:r>
                    </a:p>
                  </a:txBody>
                  <a:tcPr marL="137160" marR="137160" marT="137160" marB="137160" anchor="ctr"/>
                </a:tc>
                <a:extLst>
                  <a:ext uri="{0D108BD9-81ED-4DB2-BD59-A6C34878D82A}">
                    <a16:rowId xmlns:a16="http://schemas.microsoft.com/office/drawing/2014/main" val="330422029"/>
                  </a:ext>
                </a:extLst>
              </a:tr>
              <a:tr h="327216">
                <a:tc>
                  <a:txBody>
                    <a:bodyPr/>
                    <a:lstStyle/>
                    <a:p>
                      <a:pPr>
                        <a:lnSpc>
                          <a:spcPct val="107000"/>
                        </a:lnSpc>
                        <a:spcAft>
                          <a:spcPts val="800"/>
                        </a:spcAft>
                      </a:pPr>
                      <a:r>
                        <a:rPr lang="en-CA" sz="1100" kern="100" dirty="0">
                          <a:effectLst/>
                        </a:rPr>
                        <a:t>Data Security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tc>
                <a:tc>
                  <a:txBody>
                    <a:bodyPr/>
                    <a:lstStyle/>
                    <a:p>
                      <a:pPr marL="171450" indent="-171450">
                        <a:lnSpc>
                          <a:spcPct val="107000"/>
                        </a:lnSpc>
                        <a:spcAft>
                          <a:spcPts val="80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Data leakage</a:t>
                      </a:r>
                    </a:p>
                    <a:p>
                      <a:pPr marL="171450" indent="-171450">
                        <a:lnSpc>
                          <a:spcPct val="107000"/>
                        </a:lnSpc>
                        <a:spcAft>
                          <a:spcPts val="80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Data exfiltration</a:t>
                      </a:r>
                    </a:p>
                  </a:txBody>
                  <a:tcPr marL="137160" marR="137160" marT="137160" marB="137160" anchor="ctr"/>
                </a:tc>
                <a:tc>
                  <a:txBody>
                    <a:bodyPr/>
                    <a:lstStyle/>
                    <a:p>
                      <a:pPr marL="0" indent="0">
                        <a:lnSpc>
                          <a:spcPct val="107000"/>
                        </a:lnSpc>
                        <a:spcAft>
                          <a:spcPts val="80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p>
                      <a:pPr marL="0" indent="0">
                        <a:lnSpc>
                          <a:spcPct val="107000"/>
                        </a:lnSpc>
                        <a:spcAft>
                          <a:spcPts val="80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5720" marR="45720" anchor="ctr"/>
                </a:tc>
                <a:tc>
                  <a:txBody>
                    <a:bodyPr/>
                    <a:lstStyle/>
                    <a:p>
                      <a:pPr marL="0" indent="0">
                        <a:lnSpc>
                          <a:spcPct val="107000"/>
                        </a:lnSpc>
                        <a:spcAft>
                          <a:spcPts val="800"/>
                        </a:spcAft>
                        <a:buFont typeface="Arial" panose="020B0604020202020204" pitchFamily="34" charset="0"/>
                        <a:buNone/>
                      </a:pPr>
                      <a:r>
                        <a:rPr lang="en-CA" sz="1100" b="1" kern="100" dirty="0">
                          <a:solidFill>
                            <a:srgbClr val="7A41A6"/>
                          </a:solidFill>
                          <a:effectLst/>
                          <a:latin typeface="Aptos" panose="020B0004020202020204" pitchFamily="34" charset="0"/>
                          <a:ea typeface="Aptos" panose="020B0004020202020204" pitchFamily="34" charset="0"/>
                          <a:cs typeface="Times New Roman" panose="02020603050405020304" pitchFamily="18" charset="0"/>
                        </a:rPr>
                        <a:t>Data Loss Prevention Policies for Desktop Flows</a:t>
                      </a:r>
                    </a:p>
                    <a:p>
                      <a:pPr marL="0" indent="0">
                        <a:lnSpc>
                          <a:spcPct val="107000"/>
                        </a:lnSpc>
                        <a:spcAft>
                          <a:spcPts val="800"/>
                        </a:spcAft>
                        <a:buFont typeface="Arial" panose="020B0604020202020204" pitchFamily="34" charset="0"/>
                        <a:buNone/>
                      </a:pPr>
                      <a:r>
                        <a:rPr lang="en-CA" sz="1100" b="1" kern="100" dirty="0">
                          <a:solidFill>
                            <a:srgbClr val="7A41A6"/>
                          </a:solidFill>
                          <a:effectLst/>
                          <a:latin typeface="Aptos" panose="020B0004020202020204" pitchFamily="34" charset="0"/>
                          <a:ea typeface="Aptos" panose="020B0004020202020204" pitchFamily="34" charset="0"/>
                          <a:cs typeface="Times New Roman" panose="02020603050405020304" pitchFamily="18" charset="0"/>
                        </a:rPr>
                        <a:t>Conditional Access for Individual Apps, IP Firewall</a:t>
                      </a:r>
                    </a:p>
                  </a:txBody>
                  <a:tcPr marL="137160" marR="137160" marT="137160" marB="137160" anchor="ctr"/>
                </a:tc>
                <a:extLst>
                  <a:ext uri="{0D108BD9-81ED-4DB2-BD59-A6C34878D82A}">
                    <a16:rowId xmlns:a16="http://schemas.microsoft.com/office/drawing/2014/main" val="894629087"/>
                  </a:ext>
                </a:extLst>
              </a:tr>
              <a:tr h="327216">
                <a:tc>
                  <a:txBody>
                    <a:bodyPr/>
                    <a:lstStyle/>
                    <a:p>
                      <a:pPr>
                        <a:lnSpc>
                          <a:spcPct val="107000"/>
                        </a:lnSpc>
                        <a:spcAft>
                          <a:spcPts val="800"/>
                        </a:spcAft>
                      </a:pPr>
                      <a:r>
                        <a:rPr lang="en-CA" sz="1100" kern="100" dirty="0">
                          <a:effectLst/>
                        </a:rPr>
                        <a:t>Financial Management</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tc>
                <a:tc>
                  <a:txBody>
                    <a:bodyPr/>
                    <a:lstStyle/>
                    <a:p>
                      <a:pPr marL="171450" indent="-171450">
                        <a:lnSpc>
                          <a:spcPct val="107000"/>
                        </a:lnSpc>
                        <a:spcAft>
                          <a:spcPts val="80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Unallocated costs</a:t>
                      </a:r>
                    </a:p>
                  </a:txBody>
                  <a:tcPr marL="137160" marR="137160" marT="137160" marB="137160" anchor="ctr"/>
                </a:tc>
                <a:tc>
                  <a:txBody>
                    <a:bodyPr/>
                    <a:lstStyle/>
                    <a:p>
                      <a:pPr marL="0" indent="0">
                        <a:lnSpc>
                          <a:spcPct val="107000"/>
                        </a:lnSpc>
                        <a:spcAft>
                          <a:spcPts val="80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5720" marR="45720" anchor="ctr"/>
                </a:tc>
                <a:tc>
                  <a: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CA" sz="1100" kern="100" dirty="0">
                          <a:solidFill>
                            <a:schemeClr val="tx1">
                              <a:lumMod val="75000"/>
                            </a:schemeClr>
                          </a:solidFill>
                          <a:effectLst/>
                          <a:latin typeface="Aptos" panose="020B0004020202020204" pitchFamily="34" charset="0"/>
                          <a:ea typeface="Aptos" panose="020B0004020202020204" pitchFamily="34" charset="0"/>
                          <a:cs typeface="Times New Roman" panose="02020603050405020304" pitchFamily="18" charset="0"/>
                        </a:rPr>
                        <a:t>Licencing Chargeback Model</a:t>
                      </a:r>
                    </a:p>
                  </a:txBody>
                  <a:tcPr marL="137160" marR="137160" marT="137160" marB="137160" anchor="ctr"/>
                </a:tc>
                <a:extLst>
                  <a:ext uri="{0D108BD9-81ED-4DB2-BD59-A6C34878D82A}">
                    <a16:rowId xmlns:a16="http://schemas.microsoft.com/office/drawing/2014/main" val="1595883152"/>
                  </a:ext>
                </a:extLst>
              </a:tr>
              <a:tr h="327216">
                <a:tc>
                  <a:txBody>
                    <a:bodyPr/>
                    <a:lstStyle/>
                    <a:p>
                      <a:pPr>
                        <a:lnSpc>
                          <a:spcPct val="107000"/>
                        </a:lnSpc>
                        <a:spcAft>
                          <a:spcPts val="800"/>
                        </a:spcAft>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Operations</a:t>
                      </a:r>
                    </a:p>
                  </a:txBody>
                  <a:tcPr marL="137160" marR="137160" marT="137160" marB="137160" anchor="ctr"/>
                </a:tc>
                <a:tc>
                  <a:txBody>
                    <a:bodyPr/>
                    <a:lstStyle/>
                    <a:p>
                      <a:pPr marL="171450" indent="-171450">
                        <a:lnSpc>
                          <a:spcPct val="107000"/>
                        </a:lnSpc>
                        <a:spcAft>
                          <a:spcPts val="80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Lack of support</a:t>
                      </a:r>
                    </a:p>
                    <a:p>
                      <a:pPr marL="171450" indent="-171450">
                        <a:lnSpc>
                          <a:spcPct val="107000"/>
                        </a:lnSpc>
                        <a:spcAft>
                          <a:spcPts val="80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Lack of compliance retention process</a:t>
                      </a:r>
                    </a:p>
                    <a:p>
                      <a:pPr marL="171450" indent="-171450">
                        <a:lnSpc>
                          <a:spcPct val="107000"/>
                        </a:lnSpc>
                        <a:spcAft>
                          <a:spcPts val="80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Inconsistent end user training &amp; guidance</a:t>
                      </a:r>
                    </a:p>
                  </a:txBody>
                  <a:tcPr marL="137160" marR="137160" marT="137160" marB="137160" anchor="ctr"/>
                </a:tc>
                <a:tc>
                  <a:txBody>
                    <a:bodyPr/>
                    <a:lstStyle/>
                    <a:p>
                      <a:pPr marL="0" indent="0">
                        <a:lnSpc>
                          <a:spcPct val="107000"/>
                        </a:lnSpc>
                        <a:spcAft>
                          <a:spcPts val="80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p>
                      <a:pPr marL="0" indent="0">
                        <a:lnSpc>
                          <a:spcPct val="107000"/>
                        </a:lnSpc>
                        <a:spcAft>
                          <a:spcPts val="80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p>
                      <a:pPr marL="0" indent="0">
                        <a:lnSpc>
                          <a:spcPct val="107000"/>
                        </a:lnSpc>
                        <a:spcAft>
                          <a:spcPts val="80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txBody>
                  <a:tcPr marL="45720" marR="45720" anchor="ctr"/>
                </a:tc>
                <a:tc>
                  <a: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CA" sz="1100" kern="100" dirty="0">
                          <a:solidFill>
                            <a:schemeClr val="tx1">
                              <a:lumMod val="75000"/>
                            </a:schemeClr>
                          </a:solidFill>
                          <a:effectLst/>
                          <a:latin typeface="Aptos" panose="020B0004020202020204" pitchFamily="34" charset="0"/>
                          <a:ea typeface="Aptos" panose="020B0004020202020204" pitchFamily="34" charset="0"/>
                          <a:cs typeface="Times New Roman" panose="02020603050405020304" pitchFamily="18" charset="0"/>
                        </a:rPr>
                        <a:t>Additional Operations Resources</a:t>
                      </a: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CA" sz="1100" b="1" kern="100" dirty="0">
                          <a:solidFill>
                            <a:srgbClr val="7A41A6"/>
                          </a:solidFill>
                          <a:effectLst/>
                          <a:latin typeface="Aptos" panose="020B0004020202020204" pitchFamily="34" charset="0"/>
                          <a:ea typeface="Aptos" panose="020B0004020202020204" pitchFamily="34" charset="0"/>
                          <a:cs typeface="Times New Roman" panose="02020603050405020304" pitchFamily="18" charset="0"/>
                        </a:rPr>
                        <a:t>Extended Backup,</a:t>
                      </a:r>
                      <a:r>
                        <a:rPr lang="en-CA" sz="1100" kern="100" dirty="0">
                          <a:solidFill>
                            <a:schemeClr val="tx1">
                              <a:lumMod val="75000"/>
                            </a:schemeClr>
                          </a:solidFill>
                          <a:effectLst/>
                          <a:latin typeface="Aptos" panose="020B0004020202020204" pitchFamily="34" charset="0"/>
                          <a:ea typeface="Aptos" panose="020B0004020202020204" pitchFamily="34" charset="0"/>
                          <a:cs typeface="Times New Roman" panose="02020603050405020304" pitchFamily="18" charset="0"/>
                        </a:rPr>
                        <a:t> COE Starter Kit</a:t>
                      </a: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CA" sz="1100" b="1" kern="100" dirty="0">
                          <a:solidFill>
                            <a:srgbClr val="7A41A6"/>
                          </a:solidFill>
                          <a:effectLst/>
                          <a:latin typeface="Aptos" panose="020B0004020202020204" pitchFamily="34" charset="0"/>
                          <a:ea typeface="Aptos" panose="020B0004020202020204" pitchFamily="34" charset="0"/>
                          <a:cs typeface="Times New Roman" panose="02020603050405020304" pitchFamily="18" charset="0"/>
                        </a:rPr>
                        <a:t>Maker Welcome Content, Pipelines, Catalog</a:t>
                      </a:r>
                    </a:p>
                  </a:txBody>
                  <a:tcPr marL="137160" marR="137160" marT="137160" marB="137160" anchor="ctr"/>
                </a:tc>
                <a:extLst>
                  <a:ext uri="{0D108BD9-81ED-4DB2-BD59-A6C34878D82A}">
                    <a16:rowId xmlns:a16="http://schemas.microsoft.com/office/drawing/2014/main" val="3656908569"/>
                  </a:ext>
                </a:extLst>
              </a:tr>
              <a:tr h="327216">
                <a:tc>
                  <a:txBody>
                    <a:bodyPr/>
                    <a:lstStyle/>
                    <a:p>
                      <a:pPr>
                        <a:lnSpc>
                          <a:spcPct val="107000"/>
                        </a:lnSpc>
                        <a:spcAft>
                          <a:spcPts val="800"/>
                        </a:spcAft>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Solution Management</a:t>
                      </a:r>
                    </a:p>
                  </a:txBody>
                  <a:tcPr marL="137160" marR="137160" marT="137160" marB="137160" anchor="ctr"/>
                </a:tc>
                <a:tc>
                  <a:txBody>
                    <a:bodyPr/>
                    <a:lstStyle/>
                    <a:p>
                      <a:pPr marL="171450" indent="-171450">
                        <a:lnSpc>
                          <a:spcPct val="107000"/>
                        </a:lnSpc>
                        <a:spcAft>
                          <a:spcPts val="80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Non-existent Application Lifecycle Management</a:t>
                      </a:r>
                    </a:p>
                    <a:p>
                      <a:pPr marL="171450" indent="-171450">
                        <a:lnSpc>
                          <a:spcPct val="107000"/>
                        </a:lnSpc>
                        <a:spcAft>
                          <a:spcPts val="80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Inability to manage solutions at scale (aka EUC 2.0)</a:t>
                      </a:r>
                    </a:p>
                    <a:p>
                      <a:pPr marL="171450" indent="-171450">
                        <a:lnSpc>
                          <a:spcPct val="107000"/>
                        </a:lnSpc>
                        <a:spcAft>
                          <a:spcPts val="800"/>
                        </a:spcAft>
                        <a:buFont typeface="Wingdings" panose="05000000000000000000" pitchFamily="2" charset="2"/>
                        <a:buChar char="q"/>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Inefficient development</a:t>
                      </a:r>
                    </a:p>
                  </a:txBody>
                  <a:tcPr marL="137160" marR="137160" marT="137160" marB="137160" anchor="ctr"/>
                </a:tc>
                <a:tc>
                  <a:txBody>
                    <a:bodyPr/>
                    <a:lstStyle/>
                    <a:p>
                      <a:pPr marL="0" indent="0">
                        <a:lnSpc>
                          <a:spcPct val="107000"/>
                        </a:lnSpc>
                        <a:spcAft>
                          <a:spcPts val="80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p>
                      <a:pPr marL="0" indent="0">
                        <a:lnSpc>
                          <a:spcPct val="107000"/>
                        </a:lnSpc>
                        <a:spcAft>
                          <a:spcPts val="80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p>
                      <a:pPr marL="0" indent="0">
                        <a:lnSpc>
                          <a:spcPct val="107000"/>
                        </a:lnSpc>
                        <a:spcAft>
                          <a:spcPts val="800"/>
                        </a:spcAft>
                        <a:buFont typeface="Arial" panose="020B0604020202020204" pitchFamily="34" charset="0"/>
                        <a:buNone/>
                      </a:pPr>
                      <a:r>
                        <a:rPr lang="en-CA" sz="11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p>
                  </a:txBody>
                  <a:tcPr marL="45720" marR="45720" anchor="ctr"/>
                </a:tc>
                <a:tc>
                  <a: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CA" sz="1100" b="1" kern="100" dirty="0">
                          <a:solidFill>
                            <a:srgbClr val="7A41A6"/>
                          </a:solidFill>
                          <a:effectLst/>
                          <a:latin typeface="Aptos" panose="020B0004020202020204" pitchFamily="34" charset="0"/>
                          <a:ea typeface="Aptos" panose="020B0004020202020204" pitchFamily="34" charset="0"/>
                          <a:cs typeface="Times New Roman" panose="02020603050405020304" pitchFamily="18" charset="0"/>
                        </a:rPr>
                        <a:t>Pipelines</a:t>
                      </a: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CA" sz="1100" b="1" kern="100" dirty="0">
                          <a:solidFill>
                            <a:srgbClr val="7A41A6"/>
                          </a:solidFill>
                          <a:effectLst/>
                          <a:latin typeface="Aptos" panose="020B0004020202020204" pitchFamily="34" charset="0"/>
                          <a:ea typeface="Aptos" panose="020B0004020202020204" pitchFamily="34" charset="0"/>
                          <a:cs typeface="Times New Roman" panose="02020603050405020304" pitchFamily="18" charset="0"/>
                        </a:rPr>
                        <a:t>Sharing Controls, Environment Groups, Usage Insights</a:t>
                      </a: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CA" sz="1100" b="1" kern="100" dirty="0">
                          <a:solidFill>
                            <a:srgbClr val="7A41A6"/>
                          </a:solidFill>
                          <a:effectLst/>
                          <a:latin typeface="Aptos" panose="020B0004020202020204" pitchFamily="34" charset="0"/>
                          <a:ea typeface="Aptos" panose="020B0004020202020204" pitchFamily="34" charset="0"/>
                          <a:cs typeface="Times New Roman" panose="02020603050405020304" pitchFamily="18" charset="0"/>
                        </a:rPr>
                        <a:t>Catalog, Solution Checker</a:t>
                      </a:r>
                    </a:p>
                  </a:txBody>
                  <a:tcPr marL="137160" marR="137160" marT="137160" marB="137160" anchor="ctr"/>
                </a:tc>
                <a:extLst>
                  <a:ext uri="{0D108BD9-81ED-4DB2-BD59-A6C34878D82A}">
                    <a16:rowId xmlns:a16="http://schemas.microsoft.com/office/drawing/2014/main" val="3971878922"/>
                  </a:ext>
                </a:extLst>
              </a:tr>
            </a:tbl>
          </a:graphicData>
        </a:graphic>
      </p:graphicFrame>
      <p:sp>
        <p:nvSpPr>
          <p:cNvPr id="2" name="TextBox 1">
            <a:extLst>
              <a:ext uri="{FF2B5EF4-FFF2-40B4-BE49-F238E27FC236}">
                <a16:creationId xmlns:a16="http://schemas.microsoft.com/office/drawing/2014/main" id="{2E54F487-0BAB-8472-81B2-9CDA80A7920B}"/>
              </a:ext>
            </a:extLst>
          </p:cNvPr>
          <p:cNvSpPr txBox="1"/>
          <p:nvPr/>
        </p:nvSpPr>
        <p:spPr>
          <a:xfrm>
            <a:off x="9322854" y="5799098"/>
            <a:ext cx="2483636" cy="54599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none" lIns="182880" tIns="182880" rIns="182880" bIns="182880" rtlCol="0" anchor="t" anchorCtr="0">
            <a:normAutofit/>
          </a:bodyPr>
          <a:lstStyle/>
          <a:p>
            <a:pPr algn="l"/>
            <a:r>
              <a:rPr lang="en-CA" sz="1100" b="1" dirty="0">
                <a:solidFill>
                  <a:srgbClr val="7030A0"/>
                </a:solidFill>
                <a:latin typeface="Aptos" panose="020B0004020202020204" pitchFamily="34" charset="0"/>
                <a:cs typeface="Aparajita" panose="020B0502040204020203" pitchFamily="18" charset="0"/>
              </a:rPr>
              <a:t>* Requires Managed Environments</a:t>
            </a:r>
          </a:p>
        </p:txBody>
      </p:sp>
      <p:grpSp>
        <p:nvGrpSpPr>
          <p:cNvPr id="3" name="Group 2">
            <a:extLst>
              <a:ext uri="{FF2B5EF4-FFF2-40B4-BE49-F238E27FC236}">
                <a16:creationId xmlns:a16="http://schemas.microsoft.com/office/drawing/2014/main" id="{EB8EF56B-F0E4-8B73-D322-41BC72684B48}"/>
              </a:ext>
            </a:extLst>
          </p:cNvPr>
          <p:cNvGrpSpPr/>
          <p:nvPr/>
        </p:nvGrpSpPr>
        <p:grpSpPr>
          <a:xfrm>
            <a:off x="6947770" y="2540338"/>
            <a:ext cx="1770368" cy="1770368"/>
            <a:chOff x="1624523" y="1122255"/>
            <a:chExt cx="1087221" cy="1087221"/>
          </a:xfrm>
          <a:scene3d>
            <a:camera prst="orthographicFront">
              <a:rot lat="0" lon="0" rev="0"/>
            </a:camera>
            <a:lightRig rig="glow" dir="t">
              <a:rot lat="0" lon="0" rev="4800000"/>
            </a:lightRig>
          </a:scene3d>
        </p:grpSpPr>
        <p:sp>
          <p:nvSpPr>
            <p:cNvPr id="4" name="Oval 3">
              <a:extLst>
                <a:ext uri="{FF2B5EF4-FFF2-40B4-BE49-F238E27FC236}">
                  <a16:creationId xmlns:a16="http://schemas.microsoft.com/office/drawing/2014/main" id="{03642385-BFF6-9980-A9F3-6336BD3EB8F2}"/>
                </a:ext>
              </a:extLst>
            </p:cNvPr>
            <p:cNvSpPr/>
            <p:nvPr/>
          </p:nvSpPr>
          <p:spPr>
            <a:xfrm>
              <a:off x="1624523" y="1122255"/>
              <a:ext cx="1087221" cy="1087221"/>
            </a:xfrm>
            <a:prstGeom prst="ellipse">
              <a:avLst/>
            </a:prstGeom>
            <a:ln>
              <a:noFill/>
            </a:ln>
            <a:effectLst>
              <a:outerShdw blurRad="190500" dist="228600" dir="2700000" algn="ctr">
                <a:srgbClr val="000000">
                  <a:alpha val="30000"/>
                </a:srgbClr>
              </a:outerShdw>
            </a:effectLst>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CA"/>
            </a:p>
          </p:txBody>
        </p:sp>
        <p:sp>
          <p:nvSpPr>
            <p:cNvPr id="5" name="Oval 4">
              <a:extLst>
                <a:ext uri="{FF2B5EF4-FFF2-40B4-BE49-F238E27FC236}">
                  <a16:creationId xmlns:a16="http://schemas.microsoft.com/office/drawing/2014/main" id="{BC13234E-562F-F02D-6FC3-16F9E0BDDD08}"/>
                </a:ext>
              </a:extLst>
            </p:cNvPr>
            <p:cNvSpPr txBox="1"/>
            <p:nvPr/>
          </p:nvSpPr>
          <p:spPr>
            <a:xfrm>
              <a:off x="1783743" y="1281475"/>
              <a:ext cx="768781" cy="768781"/>
            </a:xfrm>
            <a:prstGeom prst="rect">
              <a:avLst/>
            </a:prstGeom>
            <a:ln>
              <a:noFill/>
            </a:ln>
            <a:effectLst>
              <a:outerShdw blurRad="190500" dist="228600" dir="2700000" algn="ctr">
                <a:srgbClr val="000000">
                  <a:alpha val="30000"/>
                </a:srgbClr>
              </a:outerShdw>
            </a:effectLst>
            <a:sp3d prstMaterial="matte">
              <a:bevelT w="127000" h="63500"/>
            </a:sp3d>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CA" sz="1500" b="0" kern="1200" dirty="0"/>
                <a:t>Managed Environments</a:t>
              </a:r>
              <a:endParaRPr lang="en-CA" sz="1500" kern="1200" dirty="0"/>
            </a:p>
          </p:txBody>
        </p:sp>
      </p:grpSp>
      <p:grpSp>
        <p:nvGrpSpPr>
          <p:cNvPr id="7" name="Group 6">
            <a:extLst>
              <a:ext uri="{FF2B5EF4-FFF2-40B4-BE49-F238E27FC236}">
                <a16:creationId xmlns:a16="http://schemas.microsoft.com/office/drawing/2014/main" id="{E6C9D6AC-3AD3-0F2C-F4FC-DE98BDECD33E}"/>
              </a:ext>
            </a:extLst>
          </p:cNvPr>
          <p:cNvGrpSpPr/>
          <p:nvPr/>
        </p:nvGrpSpPr>
        <p:grpSpPr>
          <a:xfrm>
            <a:off x="3473864" y="2540338"/>
            <a:ext cx="1770368" cy="1770368"/>
            <a:chOff x="1624523" y="1122255"/>
            <a:chExt cx="1087221" cy="1087221"/>
          </a:xfrm>
          <a:scene3d>
            <a:camera prst="orthographicFront">
              <a:rot lat="0" lon="0" rev="0"/>
            </a:camera>
            <a:lightRig rig="glow" dir="t">
              <a:rot lat="0" lon="0" rev="4800000"/>
            </a:lightRig>
          </a:scene3d>
        </p:grpSpPr>
        <p:sp>
          <p:nvSpPr>
            <p:cNvPr id="11" name="Oval 10">
              <a:extLst>
                <a:ext uri="{FF2B5EF4-FFF2-40B4-BE49-F238E27FC236}">
                  <a16:creationId xmlns:a16="http://schemas.microsoft.com/office/drawing/2014/main" id="{79D5D12C-6255-D604-21E3-13D5EC2294B8}"/>
                </a:ext>
              </a:extLst>
            </p:cNvPr>
            <p:cNvSpPr/>
            <p:nvPr/>
          </p:nvSpPr>
          <p:spPr>
            <a:xfrm>
              <a:off x="1624523" y="1122255"/>
              <a:ext cx="1087221" cy="1087221"/>
            </a:xfrm>
            <a:prstGeom prst="ellipse">
              <a:avLst/>
            </a:prstGeom>
            <a:ln>
              <a:noFill/>
            </a:ln>
            <a:effectLst>
              <a:outerShdw blurRad="190500" dist="228600" dir="2700000" algn="ctr">
                <a:srgbClr val="000000">
                  <a:alpha val="30000"/>
                </a:srgbClr>
              </a:outerShdw>
            </a:effectLst>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CA"/>
            </a:p>
          </p:txBody>
        </p:sp>
        <p:sp>
          <p:nvSpPr>
            <p:cNvPr id="12" name="Oval 4">
              <a:extLst>
                <a:ext uri="{FF2B5EF4-FFF2-40B4-BE49-F238E27FC236}">
                  <a16:creationId xmlns:a16="http://schemas.microsoft.com/office/drawing/2014/main" id="{AB176DE4-C2A3-B464-9AB0-A9B1A91BA670}"/>
                </a:ext>
              </a:extLst>
            </p:cNvPr>
            <p:cNvSpPr txBox="1"/>
            <p:nvPr/>
          </p:nvSpPr>
          <p:spPr>
            <a:xfrm>
              <a:off x="1783743" y="1281475"/>
              <a:ext cx="768781" cy="768781"/>
            </a:xfrm>
            <a:prstGeom prst="rect">
              <a:avLst/>
            </a:prstGeom>
            <a:ln>
              <a:noFill/>
            </a:ln>
            <a:effectLst>
              <a:outerShdw blurRad="190500" dist="228600" dir="2700000" algn="ctr">
                <a:srgbClr val="000000">
                  <a:alpha val="30000"/>
                </a:srgbClr>
              </a:outerShdw>
            </a:effectLst>
            <a:sp3d prstMaterial="matte">
              <a:bevelT w="127000" h="63500"/>
            </a:sp3d>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CA" sz="1500" kern="1200" dirty="0"/>
                <a:t>Premium Licencing ($)</a:t>
              </a:r>
            </a:p>
          </p:txBody>
        </p:sp>
      </p:grpSp>
      <p:grpSp>
        <p:nvGrpSpPr>
          <p:cNvPr id="13" name="Group 12">
            <a:extLst>
              <a:ext uri="{FF2B5EF4-FFF2-40B4-BE49-F238E27FC236}">
                <a16:creationId xmlns:a16="http://schemas.microsoft.com/office/drawing/2014/main" id="{40047062-34EF-5DD1-9C83-3ACED4D873E7}"/>
              </a:ext>
            </a:extLst>
          </p:cNvPr>
          <p:cNvGrpSpPr/>
          <p:nvPr/>
        </p:nvGrpSpPr>
        <p:grpSpPr>
          <a:xfrm>
            <a:off x="5637775" y="3056829"/>
            <a:ext cx="916452" cy="737386"/>
            <a:chOff x="1624523" y="1122255"/>
            <a:chExt cx="1087221" cy="1087221"/>
          </a:xfrm>
          <a:scene3d>
            <a:camera prst="orthographicFront">
              <a:rot lat="0" lon="0" rev="0"/>
            </a:camera>
            <a:lightRig rig="glow" dir="t">
              <a:rot lat="0" lon="0" rev="4800000"/>
            </a:lightRig>
          </a:scene3d>
        </p:grpSpPr>
        <p:sp>
          <p:nvSpPr>
            <p:cNvPr id="14" name="Oval 13">
              <a:extLst>
                <a:ext uri="{FF2B5EF4-FFF2-40B4-BE49-F238E27FC236}">
                  <a16:creationId xmlns:a16="http://schemas.microsoft.com/office/drawing/2014/main" id="{5AF8D5B7-B425-48EF-22C6-63729CADB5AC}"/>
                </a:ext>
              </a:extLst>
            </p:cNvPr>
            <p:cNvSpPr/>
            <p:nvPr/>
          </p:nvSpPr>
          <p:spPr>
            <a:xfrm>
              <a:off x="1624523" y="1122255"/>
              <a:ext cx="1087221" cy="1087221"/>
            </a:xfrm>
            <a:prstGeom prst="stripedRightArrow">
              <a:avLst/>
            </a:prstGeom>
            <a:ln>
              <a:noFill/>
            </a:ln>
            <a:effectLst>
              <a:outerShdw blurRad="190500" dist="228600" dir="2700000" algn="ctr">
                <a:srgbClr val="000000">
                  <a:alpha val="30000"/>
                </a:srgbClr>
              </a:outerShdw>
            </a:effectLst>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CA"/>
            </a:p>
          </p:txBody>
        </p:sp>
        <p:sp>
          <p:nvSpPr>
            <p:cNvPr id="15" name="Oval 4">
              <a:extLst>
                <a:ext uri="{FF2B5EF4-FFF2-40B4-BE49-F238E27FC236}">
                  <a16:creationId xmlns:a16="http://schemas.microsoft.com/office/drawing/2014/main" id="{C9ABFC5C-3AAF-6FEC-B38A-F3CF0C62BB1C}"/>
                </a:ext>
              </a:extLst>
            </p:cNvPr>
            <p:cNvSpPr txBox="1"/>
            <p:nvPr/>
          </p:nvSpPr>
          <p:spPr>
            <a:xfrm>
              <a:off x="1783743" y="1281475"/>
              <a:ext cx="768781" cy="768781"/>
            </a:xfrm>
            <a:prstGeom prst="stripedRightArrow">
              <a:avLst/>
            </a:prstGeom>
            <a:ln>
              <a:noFill/>
            </a:ln>
            <a:effectLst>
              <a:outerShdw blurRad="190500" dist="228600" dir="2700000" algn="ctr">
                <a:srgbClr val="000000">
                  <a:alpha val="30000"/>
                </a:srgbClr>
              </a:outerShdw>
            </a:effectLst>
            <a:sp3d prstMaterial="matte">
              <a:bevelT w="127000" h="63500"/>
            </a:sp3d>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endParaRPr lang="en-CA" sz="1500" kern="1200" dirty="0"/>
            </a:p>
          </p:txBody>
        </p:sp>
      </p:grpSp>
    </p:spTree>
    <p:extLst>
      <p:ext uri="{BB962C8B-B14F-4D97-AF65-F5344CB8AC3E}">
        <p14:creationId xmlns:p14="http://schemas.microsoft.com/office/powerpoint/2010/main" val="2363378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p:cTn id="6" dur="indefinite"/>
                                        <p:tgtEl>
                                          <p:spTgt spid="20"/>
                                        </p:tgtEl>
                                        <p:attrNameLst>
                                          <p:attrName>style.opacity</p:attrName>
                                        </p:attrNameLst>
                                      </p:cBhvr>
                                      <p:to>
                                        <p:strVal val="0.25"/>
                                      </p:to>
                                    </p:set>
                                    <p:animEffect filter="image" prLst="opacity: 0.25">
                                      <p:cBhvr rctx="IE">
                                        <p:cTn id="7" dur="indefinite"/>
                                        <p:tgtEl>
                                          <p:spTgt spid="20"/>
                                        </p:tgtEl>
                                      </p:cBhvr>
                                    </p:animEffect>
                                  </p:childTnLst>
                                </p:cTn>
                              </p:par>
                            </p:childTnLst>
                          </p:cTn>
                        </p:par>
                        <p:par>
                          <p:cTn id="8" fill="hold">
                            <p:stCondLst>
                              <p:cond delay="0"/>
                            </p:stCondLst>
                            <p:childTnLst>
                              <p:par>
                                <p:cTn id="9" presetID="10" presetClass="entr" presetSubtype="0" fill="hold" nodeType="after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nodeType="withEffect">
                                  <p:stCondLst>
                                    <p:cond delay="50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5" presetID="10" presetClass="entr" presetSubtype="0" fill="hold" nodeType="withEffect">
                                  <p:stCondLst>
                                    <p:cond delay="50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3804DC-BB28-6A3E-1A01-1DF12139E689}"/>
              </a:ext>
            </a:extLst>
          </p:cNvPr>
          <p:cNvSpPr>
            <a:spLocks noGrp="1"/>
          </p:cNvSpPr>
          <p:nvPr>
            <p:ph type="body" idx="1"/>
          </p:nvPr>
        </p:nvSpPr>
        <p:spPr>
          <a:xfrm>
            <a:off x="384046" y="1143953"/>
            <a:ext cx="1528574" cy="823912"/>
          </a:xfrm>
        </p:spPr>
        <p:txBody>
          <a:bodyPr/>
          <a:lstStyle/>
          <a:p>
            <a:r>
              <a:rPr lang="en-CA" dirty="0"/>
              <a:t>Licencing</a:t>
            </a:r>
          </a:p>
        </p:txBody>
      </p:sp>
      <p:graphicFrame>
        <p:nvGraphicFramePr>
          <p:cNvPr id="11" name="Content Placeholder 10">
            <a:extLst>
              <a:ext uri="{FF2B5EF4-FFF2-40B4-BE49-F238E27FC236}">
                <a16:creationId xmlns:a16="http://schemas.microsoft.com/office/drawing/2014/main" id="{4D9680D7-50F5-E8EB-006D-E5BA01972D9C}"/>
              </a:ext>
            </a:extLst>
          </p:cNvPr>
          <p:cNvGraphicFramePr>
            <a:graphicFrameLocks noGrp="1"/>
          </p:cNvGraphicFramePr>
          <p:nvPr>
            <p:ph sz="half" idx="2"/>
            <p:extLst>
              <p:ext uri="{D42A27DB-BD31-4B8C-83A1-F6EECF244321}">
                <p14:modId xmlns:p14="http://schemas.microsoft.com/office/powerpoint/2010/main" val="449223540"/>
              </p:ext>
            </p:extLst>
          </p:nvPr>
        </p:nvGraphicFramePr>
        <p:xfrm>
          <a:off x="384175" y="2085975"/>
          <a:ext cx="5268480" cy="2194560"/>
        </p:xfrm>
        <a:graphic>
          <a:graphicData uri="http://schemas.openxmlformats.org/drawingml/2006/table">
            <a:tbl>
              <a:tblPr firstRow="1" bandRow="1">
                <a:tableStyleId>{5C22544A-7EE6-4342-B048-85BDC9FD1C3A}</a:tableStyleId>
              </a:tblPr>
              <a:tblGrid>
                <a:gridCol w="2547951">
                  <a:extLst>
                    <a:ext uri="{9D8B030D-6E8A-4147-A177-3AD203B41FA5}">
                      <a16:colId xmlns:a16="http://schemas.microsoft.com/office/drawing/2014/main" val="1103160853"/>
                    </a:ext>
                  </a:extLst>
                </a:gridCol>
                <a:gridCol w="1171031">
                  <a:extLst>
                    <a:ext uri="{9D8B030D-6E8A-4147-A177-3AD203B41FA5}">
                      <a16:colId xmlns:a16="http://schemas.microsoft.com/office/drawing/2014/main" val="1691026269"/>
                    </a:ext>
                  </a:extLst>
                </a:gridCol>
                <a:gridCol w="1549498">
                  <a:extLst>
                    <a:ext uri="{9D8B030D-6E8A-4147-A177-3AD203B41FA5}">
                      <a16:colId xmlns:a16="http://schemas.microsoft.com/office/drawing/2014/main" val="2325440210"/>
                    </a:ext>
                  </a:extLst>
                </a:gridCol>
              </a:tblGrid>
              <a:tr h="370840">
                <a:tc>
                  <a:txBody>
                    <a:bodyPr/>
                    <a:lstStyle/>
                    <a:p>
                      <a:r>
                        <a:rPr lang="en-CA" dirty="0"/>
                        <a:t>Source</a:t>
                      </a:r>
                    </a:p>
                  </a:txBody>
                  <a:tcPr/>
                </a:tc>
                <a:tc>
                  <a:txBody>
                    <a:bodyPr/>
                    <a:lstStyle/>
                    <a:p>
                      <a:r>
                        <a:rPr lang="en-CA" dirty="0"/>
                        <a:t># of Licences</a:t>
                      </a:r>
                    </a:p>
                  </a:txBody>
                  <a:tcPr/>
                </a:tc>
                <a:tc>
                  <a:txBody>
                    <a:bodyPr/>
                    <a:lstStyle/>
                    <a:p>
                      <a:r>
                        <a:rPr lang="en-CA" dirty="0"/>
                        <a:t>Total Annual Cost (CAD)*</a:t>
                      </a:r>
                    </a:p>
                  </a:txBody>
                  <a:tcPr/>
                </a:tc>
                <a:extLst>
                  <a:ext uri="{0D108BD9-81ED-4DB2-BD59-A6C34878D82A}">
                    <a16:rowId xmlns:a16="http://schemas.microsoft.com/office/drawing/2014/main" val="2546655532"/>
                  </a:ext>
                </a:extLst>
              </a:tr>
              <a:tr h="370840">
                <a:tc>
                  <a:txBody>
                    <a:bodyPr/>
                    <a:lstStyle/>
                    <a:p>
                      <a:r>
                        <a:rPr lang="en-CA" dirty="0"/>
                        <a:t>Existing Purchases &amp; Commitments</a:t>
                      </a:r>
                      <a:br>
                        <a:rPr lang="en-CA" dirty="0"/>
                      </a:br>
                      <a:r>
                        <a:rPr lang="en-CA" dirty="0"/>
                        <a:t>(</a:t>
                      </a:r>
                      <a:r>
                        <a:rPr lang="en-CA" dirty="0" err="1"/>
                        <a:t>CanOps</a:t>
                      </a:r>
                      <a:r>
                        <a:rPr lang="en-CA" dirty="0"/>
                        <a:t>)</a:t>
                      </a:r>
                    </a:p>
                  </a:txBody>
                  <a:tcPr/>
                </a:tc>
                <a:tc>
                  <a:txBody>
                    <a:bodyPr/>
                    <a:lstStyle/>
                    <a:p>
                      <a:r>
                        <a:rPr lang="en-CA" dirty="0"/>
                        <a:t>5,000</a:t>
                      </a:r>
                    </a:p>
                  </a:txBody>
                  <a:tcPr/>
                </a:tc>
                <a:tc>
                  <a:txBody>
                    <a:bodyPr/>
                    <a:lstStyle/>
                    <a:p>
                      <a:r>
                        <a:rPr lang="en-CA" dirty="0"/>
                        <a:t>0.486M</a:t>
                      </a:r>
                    </a:p>
                  </a:txBody>
                  <a:tcPr/>
                </a:tc>
                <a:extLst>
                  <a:ext uri="{0D108BD9-81ED-4DB2-BD59-A6C34878D82A}">
                    <a16:rowId xmlns:a16="http://schemas.microsoft.com/office/drawing/2014/main" val="1386801541"/>
                  </a:ext>
                </a:extLst>
              </a:tr>
              <a:tr h="370840">
                <a:tc>
                  <a:txBody>
                    <a:bodyPr/>
                    <a:lstStyle/>
                    <a:p>
                      <a:r>
                        <a:rPr lang="en-CA" dirty="0"/>
                        <a:t>Additional Required for</a:t>
                      </a:r>
                      <a:br>
                        <a:rPr lang="en-CA" dirty="0"/>
                      </a:br>
                      <a:r>
                        <a:rPr lang="en-CA" dirty="0"/>
                        <a:t>Managed </a:t>
                      </a:r>
                      <a:r>
                        <a:rPr lang="en-CA" dirty="0" err="1"/>
                        <a:t>Envs</a:t>
                      </a:r>
                      <a:endParaRPr lang="en-CA" dirty="0"/>
                    </a:p>
                  </a:txBody>
                  <a:tcPr/>
                </a:tc>
                <a:tc>
                  <a:txBody>
                    <a:bodyPr/>
                    <a:lstStyle/>
                    <a:p>
                      <a:r>
                        <a:rPr lang="en-CA" dirty="0"/>
                        <a:t>8,000</a:t>
                      </a:r>
                    </a:p>
                  </a:txBody>
                  <a:tcPr/>
                </a:tc>
                <a:tc>
                  <a:txBody>
                    <a:bodyPr/>
                    <a:lstStyle/>
                    <a:p>
                      <a:r>
                        <a:rPr lang="en-CA" dirty="0"/>
                        <a:t>0.779M</a:t>
                      </a:r>
                    </a:p>
                  </a:txBody>
                  <a:tcPr/>
                </a:tc>
                <a:extLst>
                  <a:ext uri="{0D108BD9-81ED-4DB2-BD59-A6C34878D82A}">
                    <a16:rowId xmlns:a16="http://schemas.microsoft.com/office/drawing/2014/main" val="3624458142"/>
                  </a:ext>
                </a:extLst>
              </a:tr>
            </a:tbl>
          </a:graphicData>
        </a:graphic>
      </p:graphicFrame>
      <p:sp>
        <p:nvSpPr>
          <p:cNvPr id="4" name="Text Placeholder 3">
            <a:extLst>
              <a:ext uri="{FF2B5EF4-FFF2-40B4-BE49-F238E27FC236}">
                <a16:creationId xmlns:a16="http://schemas.microsoft.com/office/drawing/2014/main" id="{6B3F4E84-ACE6-5782-BDDC-90AEF7CDE2E3}"/>
              </a:ext>
            </a:extLst>
          </p:cNvPr>
          <p:cNvSpPr>
            <a:spLocks noGrp="1"/>
          </p:cNvSpPr>
          <p:nvPr>
            <p:ph type="body" sz="quarter" idx="3"/>
          </p:nvPr>
        </p:nvSpPr>
        <p:spPr/>
        <p:txBody>
          <a:bodyPr/>
          <a:lstStyle/>
          <a:p>
            <a:pPr algn="ctr"/>
            <a:r>
              <a:rPr lang="en-CA" dirty="0"/>
              <a:t>Resources</a:t>
            </a:r>
          </a:p>
        </p:txBody>
      </p:sp>
      <p:sp>
        <p:nvSpPr>
          <p:cNvPr id="6" name="Title 5">
            <a:extLst>
              <a:ext uri="{FF2B5EF4-FFF2-40B4-BE49-F238E27FC236}">
                <a16:creationId xmlns:a16="http://schemas.microsoft.com/office/drawing/2014/main" id="{D3C7EB6B-0B3B-41C6-6798-87765173CA68}"/>
              </a:ext>
            </a:extLst>
          </p:cNvPr>
          <p:cNvSpPr>
            <a:spLocks noGrp="1"/>
          </p:cNvSpPr>
          <p:nvPr>
            <p:ph type="title"/>
          </p:nvPr>
        </p:nvSpPr>
        <p:spPr/>
        <p:txBody>
          <a:bodyPr/>
          <a:lstStyle/>
          <a:p>
            <a:r>
              <a:rPr lang="en-CA" dirty="0"/>
              <a:t>Costs</a:t>
            </a:r>
          </a:p>
        </p:txBody>
      </p:sp>
      <p:sp>
        <p:nvSpPr>
          <p:cNvPr id="8" name="Date Placeholder 7">
            <a:extLst>
              <a:ext uri="{FF2B5EF4-FFF2-40B4-BE49-F238E27FC236}">
                <a16:creationId xmlns:a16="http://schemas.microsoft.com/office/drawing/2014/main" id="{357BE1F2-B952-FBCF-8619-19B2BF860324}"/>
              </a:ext>
            </a:extLst>
          </p:cNvPr>
          <p:cNvSpPr>
            <a:spLocks noGrp="1"/>
          </p:cNvSpPr>
          <p:nvPr>
            <p:ph type="dt" sz="half" idx="14"/>
          </p:nvPr>
        </p:nvSpPr>
        <p:spPr/>
        <p:txBody>
          <a:bodyPr/>
          <a:lstStyle/>
          <a:p>
            <a:fld id="{4F31ED60-57BA-425F-BBE8-3DF23D11EEBD}" type="datetime4">
              <a:rPr lang="en-US" smtClean="0"/>
              <a:t>July 29, 2026</a:t>
            </a:fld>
            <a:endParaRPr lang="en-US"/>
          </a:p>
        </p:txBody>
      </p:sp>
      <p:sp>
        <p:nvSpPr>
          <p:cNvPr id="9" name="Footer Placeholder 8">
            <a:extLst>
              <a:ext uri="{FF2B5EF4-FFF2-40B4-BE49-F238E27FC236}">
                <a16:creationId xmlns:a16="http://schemas.microsoft.com/office/drawing/2014/main" id="{6BEDA115-A58E-EBDB-E0E8-F17CC2C3A691}"/>
              </a:ext>
            </a:extLst>
          </p:cNvPr>
          <p:cNvSpPr>
            <a:spLocks noGrp="1"/>
          </p:cNvSpPr>
          <p:nvPr>
            <p:ph type="ftr" sz="quarter" idx="15"/>
          </p:nvPr>
        </p:nvSpPr>
        <p:spPr/>
        <p:txBody>
          <a:bodyPr/>
          <a:lstStyle/>
          <a:p>
            <a:endParaRPr lang="en-US"/>
          </a:p>
        </p:txBody>
      </p:sp>
      <p:sp>
        <p:nvSpPr>
          <p:cNvPr id="10" name="Slide Number Placeholder 9">
            <a:extLst>
              <a:ext uri="{FF2B5EF4-FFF2-40B4-BE49-F238E27FC236}">
                <a16:creationId xmlns:a16="http://schemas.microsoft.com/office/drawing/2014/main" id="{EFFCE394-9619-0359-ECD8-B5EE62225A24}"/>
              </a:ext>
            </a:extLst>
          </p:cNvPr>
          <p:cNvSpPr>
            <a:spLocks noGrp="1"/>
          </p:cNvSpPr>
          <p:nvPr>
            <p:ph type="sldNum" sz="quarter" idx="16"/>
          </p:nvPr>
        </p:nvSpPr>
        <p:spPr/>
        <p:txBody>
          <a:bodyPr/>
          <a:lstStyle/>
          <a:p>
            <a:fld id="{3CBD822F-ED39-4FC2-B5B5-D2EAB6238DC3}" type="slidenum">
              <a:rPr lang="en-US" smtClean="0"/>
              <a:pPr/>
              <a:t>10</a:t>
            </a:fld>
            <a:endParaRPr lang="en-US"/>
          </a:p>
        </p:txBody>
      </p:sp>
      <p:sp>
        <p:nvSpPr>
          <p:cNvPr id="12" name="Title 1">
            <a:extLst>
              <a:ext uri="{FF2B5EF4-FFF2-40B4-BE49-F238E27FC236}">
                <a16:creationId xmlns:a16="http://schemas.microsoft.com/office/drawing/2014/main" id="{F764319B-D434-A450-4ACC-56B7A65BE597}"/>
              </a:ext>
            </a:extLst>
          </p:cNvPr>
          <p:cNvSpPr txBox="1">
            <a:spLocks/>
          </p:cNvSpPr>
          <p:nvPr/>
        </p:nvSpPr>
        <p:spPr>
          <a:xfrm>
            <a:off x="7416419" y="309282"/>
            <a:ext cx="3400104"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gn="r"/>
            <a:r>
              <a:rPr lang="en-CA" i="1" dirty="0"/>
              <a:t>Power Platform</a:t>
            </a:r>
            <a:endParaRPr lang="en-CA" i="1" dirty="0">
              <a:cs typeface="Arial" panose="020B0604020202020204"/>
            </a:endParaRPr>
          </a:p>
        </p:txBody>
      </p:sp>
      <p:pic>
        <p:nvPicPr>
          <p:cNvPr id="13" name="Graphic 12">
            <a:extLst>
              <a:ext uri="{FF2B5EF4-FFF2-40B4-BE49-F238E27FC236}">
                <a16:creationId xmlns:a16="http://schemas.microsoft.com/office/drawing/2014/main" id="{4E1643A2-EF36-3B6F-F7C4-858C0AE7DF9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08510" y="280267"/>
            <a:ext cx="657409" cy="659560"/>
          </a:xfrm>
          <a:prstGeom prst="rect">
            <a:avLst/>
          </a:prstGeom>
        </p:spPr>
      </p:pic>
      <p:sp>
        <p:nvSpPr>
          <p:cNvPr id="17" name="TextBox 16">
            <a:extLst>
              <a:ext uri="{FF2B5EF4-FFF2-40B4-BE49-F238E27FC236}">
                <a16:creationId xmlns:a16="http://schemas.microsoft.com/office/drawing/2014/main" id="{C1D9DA39-54D0-734A-A5AE-4E9E5FE9EA22}"/>
              </a:ext>
            </a:extLst>
          </p:cNvPr>
          <p:cNvSpPr txBox="1"/>
          <p:nvPr/>
        </p:nvSpPr>
        <p:spPr>
          <a:xfrm>
            <a:off x="0" y="5637539"/>
            <a:ext cx="3408219" cy="563935"/>
          </a:xfrm>
          <a:prstGeom prst="rect">
            <a:avLst/>
          </a:prstGeom>
          <a:solidFill>
            <a:schemeClr val="bg1"/>
          </a:solidFill>
        </p:spPr>
        <p:style>
          <a:lnRef idx="3">
            <a:schemeClr val="lt1"/>
          </a:lnRef>
          <a:fillRef idx="1">
            <a:schemeClr val="accent2"/>
          </a:fillRef>
          <a:effectRef idx="1">
            <a:schemeClr val="accent2"/>
          </a:effectRef>
          <a:fontRef idx="minor">
            <a:schemeClr val="lt1"/>
          </a:fontRef>
        </p:style>
        <p:txBody>
          <a:bodyPr wrap="none" lIns="182880" tIns="182880" rIns="182880" bIns="182880" rtlCol="0" anchor="t" anchorCtr="0">
            <a:normAutofit lnSpcReduction="10000"/>
          </a:bodyPr>
          <a:lstStyle/>
          <a:p>
            <a:pPr algn="l"/>
            <a:r>
              <a:rPr lang="en-CA" sz="1400" i="1" dirty="0">
                <a:solidFill>
                  <a:schemeClr val="tx1"/>
                </a:solidFill>
              </a:rPr>
              <a:t>* Monthly cost/licence is $8.11</a:t>
            </a:r>
          </a:p>
        </p:txBody>
      </p:sp>
      <p:grpSp>
        <p:nvGrpSpPr>
          <p:cNvPr id="20" name="Group 19">
            <a:extLst>
              <a:ext uri="{FF2B5EF4-FFF2-40B4-BE49-F238E27FC236}">
                <a16:creationId xmlns:a16="http://schemas.microsoft.com/office/drawing/2014/main" id="{66A22B64-39B5-032D-5157-BBA6DF0F9B2B}"/>
              </a:ext>
            </a:extLst>
          </p:cNvPr>
          <p:cNvGrpSpPr/>
          <p:nvPr/>
        </p:nvGrpSpPr>
        <p:grpSpPr>
          <a:xfrm>
            <a:off x="3070523" y="4139609"/>
            <a:ext cx="1941959" cy="1941959"/>
            <a:chOff x="1624523" y="1122255"/>
            <a:chExt cx="1087221" cy="1087221"/>
          </a:xfrm>
          <a:solidFill>
            <a:srgbClr val="239350"/>
          </a:solidFill>
          <a:scene3d>
            <a:camera prst="orthographicFront">
              <a:rot lat="0" lon="0" rev="0"/>
            </a:camera>
            <a:lightRig rig="glow" dir="t">
              <a:rot lat="0" lon="0" rev="4800000"/>
            </a:lightRig>
          </a:scene3d>
        </p:grpSpPr>
        <p:sp>
          <p:nvSpPr>
            <p:cNvPr id="21" name="Oval 20">
              <a:extLst>
                <a:ext uri="{FF2B5EF4-FFF2-40B4-BE49-F238E27FC236}">
                  <a16:creationId xmlns:a16="http://schemas.microsoft.com/office/drawing/2014/main" id="{7983DE27-5EB9-31BC-D69C-2824F3F6FB62}"/>
                </a:ext>
              </a:extLst>
            </p:cNvPr>
            <p:cNvSpPr/>
            <p:nvPr/>
          </p:nvSpPr>
          <p:spPr>
            <a:xfrm>
              <a:off x="1624523" y="1122255"/>
              <a:ext cx="1087221" cy="1087221"/>
            </a:xfrm>
            <a:prstGeom prst="ellipse">
              <a:avLst/>
            </a:prstGeom>
            <a:grpFill/>
            <a:ln>
              <a:noFill/>
            </a:ln>
            <a:effectLst>
              <a:outerShdw blurRad="190500" dist="228600" dir="2700000" algn="ctr">
                <a:srgbClr val="000000">
                  <a:alpha val="30000"/>
                </a:srgbClr>
              </a:outerShdw>
            </a:effectLst>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CA"/>
            </a:p>
          </p:txBody>
        </p:sp>
        <p:sp>
          <p:nvSpPr>
            <p:cNvPr id="22" name="Oval 4">
              <a:extLst>
                <a:ext uri="{FF2B5EF4-FFF2-40B4-BE49-F238E27FC236}">
                  <a16:creationId xmlns:a16="http://schemas.microsoft.com/office/drawing/2014/main" id="{BFE74DA3-FB38-BC81-9206-906E6649E6A3}"/>
                </a:ext>
              </a:extLst>
            </p:cNvPr>
            <p:cNvSpPr txBox="1"/>
            <p:nvPr/>
          </p:nvSpPr>
          <p:spPr>
            <a:xfrm>
              <a:off x="1783743" y="1281475"/>
              <a:ext cx="768781" cy="768781"/>
            </a:xfrm>
            <a:prstGeom prst="rect">
              <a:avLst/>
            </a:prstGeom>
            <a:grpFill/>
            <a:ln>
              <a:noFill/>
            </a:ln>
            <a:effectLst>
              <a:outerShdw blurRad="190500" dist="228600" dir="2700000" algn="ctr">
                <a:srgbClr val="000000">
                  <a:alpha val="30000"/>
                </a:srgbClr>
              </a:outerShdw>
            </a:effectLst>
            <a:sp3d prstMaterial="matte">
              <a:bevelT w="127000" h="63500"/>
            </a:sp3d>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CA" sz="1500" b="1" kern="1200" dirty="0"/>
                <a:t>Additional Annual Licencing</a:t>
              </a:r>
            </a:p>
            <a:p>
              <a:pPr marL="0" lvl="0" indent="0" algn="ctr" defTabSz="666750">
                <a:lnSpc>
                  <a:spcPct val="90000"/>
                </a:lnSpc>
                <a:spcBef>
                  <a:spcPct val="0"/>
                </a:spcBef>
                <a:spcAft>
                  <a:spcPct val="35000"/>
                </a:spcAft>
                <a:buNone/>
              </a:pPr>
              <a:endParaRPr lang="en-CA" sz="1500" b="1" kern="1200" dirty="0"/>
            </a:p>
            <a:p>
              <a:pPr marL="0" lvl="0" indent="0" algn="ctr" defTabSz="666750">
                <a:lnSpc>
                  <a:spcPct val="90000"/>
                </a:lnSpc>
                <a:spcBef>
                  <a:spcPct val="0"/>
                </a:spcBef>
                <a:spcAft>
                  <a:spcPct val="35000"/>
                </a:spcAft>
                <a:buNone/>
              </a:pPr>
              <a:r>
                <a:rPr lang="en-CA" sz="1500" kern="1200" dirty="0"/>
                <a:t>~$800K</a:t>
              </a:r>
            </a:p>
          </p:txBody>
        </p:sp>
      </p:grpSp>
      <p:grpSp>
        <p:nvGrpSpPr>
          <p:cNvPr id="23" name="Group 22">
            <a:extLst>
              <a:ext uri="{FF2B5EF4-FFF2-40B4-BE49-F238E27FC236}">
                <a16:creationId xmlns:a16="http://schemas.microsoft.com/office/drawing/2014/main" id="{492A1629-57E4-1743-E1A3-5C65310FAC5A}"/>
              </a:ext>
            </a:extLst>
          </p:cNvPr>
          <p:cNvGrpSpPr/>
          <p:nvPr/>
        </p:nvGrpSpPr>
        <p:grpSpPr>
          <a:xfrm>
            <a:off x="7990919" y="2077049"/>
            <a:ext cx="1940400" cy="1940400"/>
            <a:chOff x="1624523" y="1122255"/>
            <a:chExt cx="1087221" cy="1087221"/>
          </a:xfrm>
          <a:solidFill>
            <a:srgbClr val="239350"/>
          </a:solidFill>
          <a:scene3d>
            <a:camera prst="orthographicFront">
              <a:rot lat="0" lon="0" rev="0"/>
            </a:camera>
            <a:lightRig rig="glow" dir="t">
              <a:rot lat="0" lon="0" rev="4800000"/>
            </a:lightRig>
          </a:scene3d>
        </p:grpSpPr>
        <p:sp>
          <p:nvSpPr>
            <p:cNvPr id="24" name="Oval 23">
              <a:extLst>
                <a:ext uri="{FF2B5EF4-FFF2-40B4-BE49-F238E27FC236}">
                  <a16:creationId xmlns:a16="http://schemas.microsoft.com/office/drawing/2014/main" id="{086D0DA5-979C-CF57-506B-9008E6FE61E1}"/>
                </a:ext>
              </a:extLst>
            </p:cNvPr>
            <p:cNvSpPr/>
            <p:nvPr/>
          </p:nvSpPr>
          <p:spPr>
            <a:xfrm>
              <a:off x="1624523" y="1122255"/>
              <a:ext cx="1087221" cy="1087221"/>
            </a:xfrm>
            <a:prstGeom prst="ellipse">
              <a:avLst/>
            </a:prstGeom>
            <a:grpFill/>
            <a:ln>
              <a:noFill/>
            </a:ln>
            <a:effectLst>
              <a:outerShdw blurRad="190500" dist="228600" dir="2700000" algn="ctr">
                <a:srgbClr val="000000">
                  <a:alpha val="30000"/>
                </a:srgbClr>
              </a:outerShdw>
            </a:effectLst>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CA"/>
            </a:p>
          </p:txBody>
        </p:sp>
        <p:sp>
          <p:nvSpPr>
            <p:cNvPr id="25" name="Oval 4">
              <a:extLst>
                <a:ext uri="{FF2B5EF4-FFF2-40B4-BE49-F238E27FC236}">
                  <a16:creationId xmlns:a16="http://schemas.microsoft.com/office/drawing/2014/main" id="{AE3D529F-7687-D7CF-1864-2139F890A7F5}"/>
                </a:ext>
              </a:extLst>
            </p:cNvPr>
            <p:cNvSpPr txBox="1"/>
            <p:nvPr/>
          </p:nvSpPr>
          <p:spPr>
            <a:xfrm>
              <a:off x="1783743" y="1281475"/>
              <a:ext cx="768781" cy="768781"/>
            </a:xfrm>
            <a:prstGeom prst="rect">
              <a:avLst/>
            </a:prstGeom>
            <a:grpFill/>
            <a:ln>
              <a:noFill/>
            </a:ln>
            <a:effectLst>
              <a:outerShdw blurRad="190500" dist="228600" dir="2700000" algn="ctr">
                <a:srgbClr val="000000">
                  <a:alpha val="30000"/>
                </a:srgbClr>
              </a:outerShdw>
            </a:effectLst>
            <a:sp3d prstMaterial="matte">
              <a:bevelT w="127000" h="63500"/>
            </a:sp3d>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CA" sz="1500" b="1" kern="1200" dirty="0"/>
                <a:t>One-Time Project Cost</a:t>
              </a:r>
            </a:p>
            <a:p>
              <a:pPr marL="0" lvl="0" indent="0" algn="ctr" defTabSz="666750">
                <a:lnSpc>
                  <a:spcPct val="90000"/>
                </a:lnSpc>
                <a:spcBef>
                  <a:spcPct val="0"/>
                </a:spcBef>
                <a:spcAft>
                  <a:spcPct val="35000"/>
                </a:spcAft>
                <a:buNone/>
              </a:pPr>
              <a:endParaRPr lang="en-CA" sz="1500" b="1" kern="1200" dirty="0"/>
            </a:p>
            <a:p>
              <a:pPr marL="0" lvl="0" indent="0" algn="ctr" defTabSz="666750">
                <a:lnSpc>
                  <a:spcPct val="90000"/>
                </a:lnSpc>
                <a:spcBef>
                  <a:spcPct val="0"/>
                </a:spcBef>
                <a:spcAft>
                  <a:spcPct val="35000"/>
                </a:spcAft>
                <a:buNone/>
              </a:pPr>
              <a:r>
                <a:rPr lang="en-CA" sz="1500" kern="1200" dirty="0"/>
                <a:t>~$400K</a:t>
              </a:r>
            </a:p>
          </p:txBody>
        </p:sp>
      </p:grpSp>
      <p:grpSp>
        <p:nvGrpSpPr>
          <p:cNvPr id="26" name="Group 25">
            <a:extLst>
              <a:ext uri="{FF2B5EF4-FFF2-40B4-BE49-F238E27FC236}">
                <a16:creationId xmlns:a16="http://schemas.microsoft.com/office/drawing/2014/main" id="{2F91E6F0-BE9D-804E-A45A-02FA1E54A9F6}"/>
              </a:ext>
            </a:extLst>
          </p:cNvPr>
          <p:cNvGrpSpPr/>
          <p:nvPr/>
        </p:nvGrpSpPr>
        <p:grpSpPr>
          <a:xfrm>
            <a:off x="7990919" y="4141168"/>
            <a:ext cx="1940400" cy="1940400"/>
            <a:chOff x="1624523" y="1122255"/>
            <a:chExt cx="1087221" cy="1087221"/>
          </a:xfrm>
          <a:solidFill>
            <a:srgbClr val="239350"/>
          </a:solidFill>
          <a:scene3d>
            <a:camera prst="orthographicFront">
              <a:rot lat="0" lon="0" rev="0"/>
            </a:camera>
            <a:lightRig rig="glow" dir="t">
              <a:rot lat="0" lon="0" rev="4800000"/>
            </a:lightRig>
          </a:scene3d>
        </p:grpSpPr>
        <p:sp>
          <p:nvSpPr>
            <p:cNvPr id="27" name="Oval 26">
              <a:extLst>
                <a:ext uri="{FF2B5EF4-FFF2-40B4-BE49-F238E27FC236}">
                  <a16:creationId xmlns:a16="http://schemas.microsoft.com/office/drawing/2014/main" id="{7A2DA8F1-0376-CDE6-5811-1D954C49D6D0}"/>
                </a:ext>
              </a:extLst>
            </p:cNvPr>
            <p:cNvSpPr/>
            <p:nvPr/>
          </p:nvSpPr>
          <p:spPr>
            <a:xfrm>
              <a:off x="1624523" y="1122255"/>
              <a:ext cx="1087221" cy="1087221"/>
            </a:xfrm>
            <a:prstGeom prst="ellipse">
              <a:avLst/>
            </a:prstGeom>
            <a:grpFill/>
            <a:ln>
              <a:noFill/>
            </a:ln>
            <a:effectLst>
              <a:outerShdw blurRad="190500" dist="228600" dir="2700000" algn="ctr">
                <a:srgbClr val="000000">
                  <a:alpha val="30000"/>
                </a:srgbClr>
              </a:outerShdw>
            </a:effectLst>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CA"/>
            </a:p>
          </p:txBody>
        </p:sp>
        <p:sp>
          <p:nvSpPr>
            <p:cNvPr id="28" name="Oval 4">
              <a:extLst>
                <a:ext uri="{FF2B5EF4-FFF2-40B4-BE49-F238E27FC236}">
                  <a16:creationId xmlns:a16="http://schemas.microsoft.com/office/drawing/2014/main" id="{2D40DF3D-5EC9-08F1-DD63-E463A115C43C}"/>
                </a:ext>
              </a:extLst>
            </p:cNvPr>
            <p:cNvSpPr txBox="1"/>
            <p:nvPr/>
          </p:nvSpPr>
          <p:spPr>
            <a:xfrm>
              <a:off x="1783743" y="1281475"/>
              <a:ext cx="768781" cy="768781"/>
            </a:xfrm>
            <a:prstGeom prst="rect">
              <a:avLst/>
            </a:prstGeom>
            <a:grpFill/>
            <a:ln>
              <a:noFill/>
            </a:ln>
            <a:effectLst>
              <a:outerShdw blurRad="190500" dist="228600" dir="2700000" algn="ctr">
                <a:srgbClr val="000000">
                  <a:alpha val="30000"/>
                </a:srgbClr>
              </a:outerShdw>
            </a:effectLst>
            <a:sp3d prstMaterial="matte">
              <a:bevelT w="127000" h="63500"/>
            </a:sp3d>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CA" sz="1500" b="1" kern="1200" dirty="0"/>
                <a:t>Additional FTEs</a:t>
              </a:r>
            </a:p>
            <a:p>
              <a:pPr marL="0" lvl="0" indent="0" algn="ctr" defTabSz="666750">
                <a:lnSpc>
                  <a:spcPct val="90000"/>
                </a:lnSpc>
                <a:spcBef>
                  <a:spcPct val="0"/>
                </a:spcBef>
                <a:spcAft>
                  <a:spcPct val="35000"/>
                </a:spcAft>
                <a:buNone/>
              </a:pPr>
              <a:endParaRPr lang="en-CA" sz="1500" b="1" kern="1200" dirty="0"/>
            </a:p>
            <a:p>
              <a:pPr marL="0" lvl="0" indent="0" algn="ctr" defTabSz="666750">
                <a:lnSpc>
                  <a:spcPct val="90000"/>
                </a:lnSpc>
                <a:spcBef>
                  <a:spcPct val="0"/>
                </a:spcBef>
                <a:spcAft>
                  <a:spcPct val="35000"/>
                </a:spcAft>
                <a:buNone/>
              </a:pPr>
              <a:r>
                <a:rPr lang="en-CA" sz="1500" dirty="0"/>
                <a:t>2</a:t>
              </a:r>
              <a:endParaRPr lang="en-CA" sz="1500" kern="1200" dirty="0"/>
            </a:p>
          </p:txBody>
        </p:sp>
      </p:grpSp>
    </p:spTree>
    <p:extLst>
      <p:ext uri="{BB962C8B-B14F-4D97-AF65-F5344CB8AC3E}">
        <p14:creationId xmlns:p14="http://schemas.microsoft.com/office/powerpoint/2010/main" val="1814250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4">
                                            <p:txEl>
                                              <p:pRg st="0" end="0"/>
                                            </p:txEl>
                                          </p:spTgt>
                                        </p:tgtEl>
                                        <p:attrNameLst>
                                          <p:attrName>style.opacity</p:attrName>
                                        </p:attrNameLst>
                                      </p:cBhvr>
                                      <p:to>
                                        <p:strVal val="0.25"/>
                                      </p:to>
                                    </p:set>
                                    <p:animEffect filter="image" prLst="opacity: 0.25">
                                      <p:cBhvr rctx="IE">
                                        <p:cTn id="7" dur="indefinite"/>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mph" presetSubtype="0" grpId="1" nodeType="clickEffect">
                                  <p:stCondLst>
                                    <p:cond delay="0"/>
                                  </p:stCondLst>
                                  <p:childTnLst>
                                    <p:set>
                                      <p:cBhvr>
                                        <p:cTn id="22" dur="indefinite"/>
                                        <p:tgtEl>
                                          <p:spTgt spid="4">
                                            <p:txEl>
                                              <p:pRg st="0" end="0"/>
                                            </p:txEl>
                                          </p:spTgt>
                                        </p:tgtEl>
                                        <p:attrNameLst>
                                          <p:attrName>style.opacity</p:attrName>
                                        </p:attrNameLst>
                                      </p:cBhvr>
                                      <p:to>
                                        <p:strVal val="1"/>
                                      </p:to>
                                    </p:set>
                                    <p:animEffect filter="image" prLst="opacity: 1">
                                      <p:cBhvr rctx="IE">
                                        <p:cTn id="23" dur="indefinite"/>
                                        <p:tgtEl>
                                          <p:spTgt spid="4">
                                            <p:txEl>
                                              <p:pRg st="0" end="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5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4" grpId="1" build="p"/>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8C3E4-6323-6941-9AB4-EAA86B54EB54}"/>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8FD95455-4220-A230-56CC-6BB5E8C6384B}"/>
              </a:ext>
            </a:extLst>
          </p:cNvPr>
          <p:cNvSpPr txBox="1"/>
          <p:nvPr/>
        </p:nvSpPr>
        <p:spPr>
          <a:xfrm>
            <a:off x="0" y="5637600"/>
            <a:ext cx="3408219" cy="563935"/>
          </a:xfrm>
          <a:prstGeom prst="rect">
            <a:avLst/>
          </a:prstGeom>
          <a:solidFill>
            <a:schemeClr val="bg1"/>
          </a:solidFill>
        </p:spPr>
        <p:style>
          <a:lnRef idx="3">
            <a:schemeClr val="lt1"/>
          </a:lnRef>
          <a:fillRef idx="1">
            <a:schemeClr val="accent2"/>
          </a:fillRef>
          <a:effectRef idx="1">
            <a:schemeClr val="accent2"/>
          </a:effectRef>
          <a:fontRef idx="minor">
            <a:schemeClr val="lt1"/>
          </a:fontRef>
        </p:style>
        <p:txBody>
          <a:bodyPr wrap="none" lIns="182880" tIns="182880" rIns="182880" bIns="182880" rtlCol="0" anchor="t" anchorCtr="0">
            <a:normAutofit lnSpcReduction="10000"/>
          </a:bodyPr>
          <a:lstStyle/>
          <a:p>
            <a:pPr algn="l"/>
            <a:r>
              <a:rPr lang="en-CA" sz="1400" i="1" dirty="0">
                <a:solidFill>
                  <a:schemeClr val="tx1"/>
                </a:solidFill>
              </a:rPr>
              <a:t>* Monthly cost/licence is $8.11</a:t>
            </a:r>
          </a:p>
        </p:txBody>
      </p:sp>
      <p:sp>
        <p:nvSpPr>
          <p:cNvPr id="2" name="Text Placeholder 1">
            <a:extLst>
              <a:ext uri="{FF2B5EF4-FFF2-40B4-BE49-F238E27FC236}">
                <a16:creationId xmlns:a16="http://schemas.microsoft.com/office/drawing/2014/main" id="{222A4DE2-F581-9FE7-C8C2-5D33EEF19C65}"/>
              </a:ext>
            </a:extLst>
          </p:cNvPr>
          <p:cNvSpPr>
            <a:spLocks noGrp="1"/>
          </p:cNvSpPr>
          <p:nvPr>
            <p:ph type="body" idx="1"/>
          </p:nvPr>
        </p:nvSpPr>
        <p:spPr>
          <a:xfrm>
            <a:off x="384046" y="1143953"/>
            <a:ext cx="1528574" cy="823912"/>
          </a:xfrm>
        </p:spPr>
        <p:txBody>
          <a:bodyPr/>
          <a:lstStyle/>
          <a:p>
            <a:r>
              <a:rPr lang="en-CA" dirty="0"/>
              <a:t>Licencing</a:t>
            </a:r>
          </a:p>
        </p:txBody>
      </p:sp>
      <p:sp>
        <p:nvSpPr>
          <p:cNvPr id="4" name="Text Placeholder 3">
            <a:extLst>
              <a:ext uri="{FF2B5EF4-FFF2-40B4-BE49-F238E27FC236}">
                <a16:creationId xmlns:a16="http://schemas.microsoft.com/office/drawing/2014/main" id="{A9CF1150-E62A-C1FB-EBE0-C822367F00D9}"/>
              </a:ext>
            </a:extLst>
          </p:cNvPr>
          <p:cNvSpPr>
            <a:spLocks noGrp="1"/>
          </p:cNvSpPr>
          <p:nvPr>
            <p:ph type="body" sz="quarter" idx="3"/>
          </p:nvPr>
        </p:nvSpPr>
        <p:spPr/>
        <p:txBody>
          <a:bodyPr/>
          <a:lstStyle/>
          <a:p>
            <a:pPr algn="ctr"/>
            <a:r>
              <a:rPr lang="en-CA" dirty="0"/>
              <a:t>Resources</a:t>
            </a:r>
          </a:p>
        </p:txBody>
      </p:sp>
      <p:sp>
        <p:nvSpPr>
          <p:cNvPr id="6" name="Title 5">
            <a:extLst>
              <a:ext uri="{FF2B5EF4-FFF2-40B4-BE49-F238E27FC236}">
                <a16:creationId xmlns:a16="http://schemas.microsoft.com/office/drawing/2014/main" id="{AA575A96-BCD2-1C17-11D5-A195CDBE4101}"/>
              </a:ext>
            </a:extLst>
          </p:cNvPr>
          <p:cNvSpPr>
            <a:spLocks noGrp="1"/>
          </p:cNvSpPr>
          <p:nvPr>
            <p:ph type="title"/>
          </p:nvPr>
        </p:nvSpPr>
        <p:spPr/>
        <p:txBody>
          <a:bodyPr/>
          <a:lstStyle/>
          <a:p>
            <a:r>
              <a:rPr lang="en-CA" dirty="0"/>
              <a:t>Costs</a:t>
            </a:r>
          </a:p>
        </p:txBody>
      </p:sp>
      <p:sp>
        <p:nvSpPr>
          <p:cNvPr id="8" name="Date Placeholder 7">
            <a:extLst>
              <a:ext uri="{FF2B5EF4-FFF2-40B4-BE49-F238E27FC236}">
                <a16:creationId xmlns:a16="http://schemas.microsoft.com/office/drawing/2014/main" id="{2E5C714D-89FB-645B-9AB8-E8AA443B3DD3}"/>
              </a:ext>
            </a:extLst>
          </p:cNvPr>
          <p:cNvSpPr>
            <a:spLocks noGrp="1"/>
          </p:cNvSpPr>
          <p:nvPr>
            <p:ph type="dt" sz="half" idx="14"/>
          </p:nvPr>
        </p:nvSpPr>
        <p:spPr/>
        <p:txBody>
          <a:bodyPr/>
          <a:lstStyle/>
          <a:p>
            <a:fld id="{4F31ED60-57BA-425F-BBE8-3DF23D11EEBD}" type="datetime4">
              <a:rPr lang="en-US" smtClean="0"/>
              <a:t>July 29, 2026</a:t>
            </a:fld>
            <a:endParaRPr lang="en-US"/>
          </a:p>
        </p:txBody>
      </p:sp>
      <p:sp>
        <p:nvSpPr>
          <p:cNvPr id="9" name="Footer Placeholder 8">
            <a:extLst>
              <a:ext uri="{FF2B5EF4-FFF2-40B4-BE49-F238E27FC236}">
                <a16:creationId xmlns:a16="http://schemas.microsoft.com/office/drawing/2014/main" id="{382706EA-E780-3DDA-7E49-5D8A4569D854}"/>
              </a:ext>
            </a:extLst>
          </p:cNvPr>
          <p:cNvSpPr>
            <a:spLocks noGrp="1"/>
          </p:cNvSpPr>
          <p:nvPr>
            <p:ph type="ftr" sz="quarter" idx="15"/>
          </p:nvPr>
        </p:nvSpPr>
        <p:spPr/>
        <p:txBody>
          <a:bodyPr/>
          <a:lstStyle/>
          <a:p>
            <a:endParaRPr lang="en-US"/>
          </a:p>
        </p:txBody>
      </p:sp>
      <p:sp>
        <p:nvSpPr>
          <p:cNvPr id="10" name="Slide Number Placeholder 9">
            <a:extLst>
              <a:ext uri="{FF2B5EF4-FFF2-40B4-BE49-F238E27FC236}">
                <a16:creationId xmlns:a16="http://schemas.microsoft.com/office/drawing/2014/main" id="{09E58126-85F1-9FD6-6596-366430C896A8}"/>
              </a:ext>
            </a:extLst>
          </p:cNvPr>
          <p:cNvSpPr>
            <a:spLocks noGrp="1"/>
          </p:cNvSpPr>
          <p:nvPr>
            <p:ph type="sldNum" sz="quarter" idx="16"/>
          </p:nvPr>
        </p:nvSpPr>
        <p:spPr/>
        <p:txBody>
          <a:bodyPr/>
          <a:lstStyle/>
          <a:p>
            <a:fld id="{3CBD822F-ED39-4FC2-B5B5-D2EAB6238DC3}" type="slidenum">
              <a:rPr lang="en-US" smtClean="0"/>
              <a:pPr/>
              <a:t>11</a:t>
            </a:fld>
            <a:endParaRPr lang="en-US"/>
          </a:p>
        </p:txBody>
      </p:sp>
      <p:sp>
        <p:nvSpPr>
          <p:cNvPr id="12" name="Title 1">
            <a:extLst>
              <a:ext uri="{FF2B5EF4-FFF2-40B4-BE49-F238E27FC236}">
                <a16:creationId xmlns:a16="http://schemas.microsoft.com/office/drawing/2014/main" id="{D76D9B13-642F-B7F1-850D-699DDB1CA28F}"/>
              </a:ext>
            </a:extLst>
          </p:cNvPr>
          <p:cNvSpPr txBox="1">
            <a:spLocks/>
          </p:cNvSpPr>
          <p:nvPr/>
        </p:nvSpPr>
        <p:spPr>
          <a:xfrm>
            <a:off x="7416419" y="309282"/>
            <a:ext cx="3400104"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gn="r"/>
            <a:r>
              <a:rPr lang="en-CA" i="1" dirty="0"/>
              <a:t>Power Platform</a:t>
            </a:r>
            <a:endParaRPr lang="en-CA" i="1" dirty="0">
              <a:cs typeface="Arial" panose="020B0604020202020204"/>
            </a:endParaRPr>
          </a:p>
        </p:txBody>
      </p:sp>
      <p:pic>
        <p:nvPicPr>
          <p:cNvPr id="13" name="Graphic 12">
            <a:extLst>
              <a:ext uri="{FF2B5EF4-FFF2-40B4-BE49-F238E27FC236}">
                <a16:creationId xmlns:a16="http://schemas.microsoft.com/office/drawing/2014/main" id="{6B80A019-69B4-191D-5051-157678172B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08510" y="280267"/>
            <a:ext cx="657409" cy="659560"/>
          </a:xfrm>
          <a:prstGeom prst="rect">
            <a:avLst/>
          </a:prstGeom>
        </p:spPr>
      </p:pic>
      <p:grpSp>
        <p:nvGrpSpPr>
          <p:cNvPr id="20" name="Group 19">
            <a:extLst>
              <a:ext uri="{FF2B5EF4-FFF2-40B4-BE49-F238E27FC236}">
                <a16:creationId xmlns:a16="http://schemas.microsoft.com/office/drawing/2014/main" id="{395AF2A4-317A-FF24-4178-5485C7EB250E}"/>
              </a:ext>
            </a:extLst>
          </p:cNvPr>
          <p:cNvGrpSpPr/>
          <p:nvPr/>
        </p:nvGrpSpPr>
        <p:grpSpPr>
          <a:xfrm>
            <a:off x="3070523" y="4139609"/>
            <a:ext cx="1941959" cy="1941959"/>
            <a:chOff x="1624523" y="1122255"/>
            <a:chExt cx="1087221" cy="1087221"/>
          </a:xfrm>
          <a:solidFill>
            <a:srgbClr val="239350"/>
          </a:solidFill>
          <a:scene3d>
            <a:camera prst="orthographicFront">
              <a:rot lat="0" lon="0" rev="0"/>
            </a:camera>
            <a:lightRig rig="glow" dir="t">
              <a:rot lat="0" lon="0" rev="4800000"/>
            </a:lightRig>
          </a:scene3d>
        </p:grpSpPr>
        <p:sp>
          <p:nvSpPr>
            <p:cNvPr id="21" name="Oval 20">
              <a:extLst>
                <a:ext uri="{FF2B5EF4-FFF2-40B4-BE49-F238E27FC236}">
                  <a16:creationId xmlns:a16="http://schemas.microsoft.com/office/drawing/2014/main" id="{A74E6F6F-736B-A28D-B29D-EDB54AF8E614}"/>
                </a:ext>
              </a:extLst>
            </p:cNvPr>
            <p:cNvSpPr/>
            <p:nvPr/>
          </p:nvSpPr>
          <p:spPr>
            <a:xfrm>
              <a:off x="1624523" y="1122255"/>
              <a:ext cx="1087221" cy="1087221"/>
            </a:xfrm>
            <a:prstGeom prst="ellipse">
              <a:avLst/>
            </a:prstGeom>
            <a:grpFill/>
            <a:ln>
              <a:noFill/>
            </a:ln>
            <a:effectLst>
              <a:outerShdw blurRad="190500" dist="228600" dir="2700000" algn="ctr">
                <a:srgbClr val="000000">
                  <a:alpha val="30000"/>
                </a:srgbClr>
              </a:outerShdw>
            </a:effectLst>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CA"/>
            </a:p>
          </p:txBody>
        </p:sp>
        <p:sp>
          <p:nvSpPr>
            <p:cNvPr id="22" name="Oval 4">
              <a:extLst>
                <a:ext uri="{FF2B5EF4-FFF2-40B4-BE49-F238E27FC236}">
                  <a16:creationId xmlns:a16="http://schemas.microsoft.com/office/drawing/2014/main" id="{C80CE4E9-8ABD-1E4A-5E30-37F286E8BA04}"/>
                </a:ext>
              </a:extLst>
            </p:cNvPr>
            <p:cNvSpPr txBox="1"/>
            <p:nvPr/>
          </p:nvSpPr>
          <p:spPr>
            <a:xfrm>
              <a:off x="1783743" y="1281475"/>
              <a:ext cx="768781" cy="768781"/>
            </a:xfrm>
            <a:prstGeom prst="rect">
              <a:avLst/>
            </a:prstGeom>
            <a:grpFill/>
            <a:ln>
              <a:noFill/>
            </a:ln>
            <a:effectLst>
              <a:outerShdw blurRad="190500" dist="228600" dir="2700000" algn="ctr">
                <a:srgbClr val="000000">
                  <a:alpha val="30000"/>
                </a:srgbClr>
              </a:outerShdw>
            </a:effectLst>
            <a:sp3d prstMaterial="matte">
              <a:bevelT w="127000" h="63500"/>
            </a:sp3d>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CA" sz="1500" b="1" kern="1200" dirty="0"/>
                <a:t>Additional Annual Licencing</a:t>
              </a:r>
            </a:p>
            <a:p>
              <a:pPr marL="0" lvl="0" indent="0" algn="ctr" defTabSz="666750">
                <a:lnSpc>
                  <a:spcPct val="90000"/>
                </a:lnSpc>
                <a:spcBef>
                  <a:spcPct val="0"/>
                </a:spcBef>
                <a:spcAft>
                  <a:spcPct val="35000"/>
                </a:spcAft>
                <a:buNone/>
              </a:pPr>
              <a:endParaRPr lang="en-CA" sz="1500" b="1" kern="1200" dirty="0"/>
            </a:p>
            <a:p>
              <a:pPr marL="0" lvl="0" indent="0" algn="ctr" defTabSz="666750">
                <a:lnSpc>
                  <a:spcPct val="90000"/>
                </a:lnSpc>
                <a:spcBef>
                  <a:spcPct val="0"/>
                </a:spcBef>
                <a:spcAft>
                  <a:spcPct val="35000"/>
                </a:spcAft>
                <a:buNone/>
              </a:pPr>
              <a:r>
                <a:rPr lang="en-CA" sz="1500" kern="1200" dirty="0"/>
                <a:t>~$800K</a:t>
              </a:r>
            </a:p>
          </p:txBody>
        </p:sp>
      </p:grpSp>
      <p:grpSp>
        <p:nvGrpSpPr>
          <p:cNvPr id="23" name="Group 22">
            <a:extLst>
              <a:ext uri="{FF2B5EF4-FFF2-40B4-BE49-F238E27FC236}">
                <a16:creationId xmlns:a16="http://schemas.microsoft.com/office/drawing/2014/main" id="{C011E4BC-4D5F-F00A-9DA3-E41F692EAA76}"/>
              </a:ext>
            </a:extLst>
          </p:cNvPr>
          <p:cNvGrpSpPr/>
          <p:nvPr/>
        </p:nvGrpSpPr>
        <p:grpSpPr>
          <a:xfrm>
            <a:off x="7990919" y="2077049"/>
            <a:ext cx="1940400" cy="1940400"/>
            <a:chOff x="1624523" y="1122255"/>
            <a:chExt cx="1087221" cy="1087221"/>
          </a:xfrm>
          <a:solidFill>
            <a:srgbClr val="239350"/>
          </a:solidFill>
          <a:scene3d>
            <a:camera prst="orthographicFront">
              <a:rot lat="0" lon="0" rev="0"/>
            </a:camera>
            <a:lightRig rig="glow" dir="t">
              <a:rot lat="0" lon="0" rev="4800000"/>
            </a:lightRig>
          </a:scene3d>
        </p:grpSpPr>
        <p:sp>
          <p:nvSpPr>
            <p:cNvPr id="24" name="Oval 23">
              <a:extLst>
                <a:ext uri="{FF2B5EF4-FFF2-40B4-BE49-F238E27FC236}">
                  <a16:creationId xmlns:a16="http://schemas.microsoft.com/office/drawing/2014/main" id="{402FA746-9CFF-A6FF-14E2-41E330124F40}"/>
                </a:ext>
              </a:extLst>
            </p:cNvPr>
            <p:cNvSpPr/>
            <p:nvPr/>
          </p:nvSpPr>
          <p:spPr>
            <a:xfrm>
              <a:off x="1624523" y="1122255"/>
              <a:ext cx="1087221" cy="1087221"/>
            </a:xfrm>
            <a:prstGeom prst="ellipse">
              <a:avLst/>
            </a:prstGeom>
            <a:grpFill/>
            <a:ln>
              <a:noFill/>
            </a:ln>
            <a:effectLst>
              <a:outerShdw blurRad="190500" dist="228600" dir="2700000" algn="ctr">
                <a:srgbClr val="000000">
                  <a:alpha val="30000"/>
                </a:srgbClr>
              </a:outerShdw>
            </a:effectLst>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CA"/>
            </a:p>
          </p:txBody>
        </p:sp>
        <p:sp>
          <p:nvSpPr>
            <p:cNvPr id="25" name="Oval 4">
              <a:extLst>
                <a:ext uri="{FF2B5EF4-FFF2-40B4-BE49-F238E27FC236}">
                  <a16:creationId xmlns:a16="http://schemas.microsoft.com/office/drawing/2014/main" id="{37BBBA29-CA9B-40B7-B5F6-CB05D4922203}"/>
                </a:ext>
              </a:extLst>
            </p:cNvPr>
            <p:cNvSpPr txBox="1"/>
            <p:nvPr/>
          </p:nvSpPr>
          <p:spPr>
            <a:xfrm>
              <a:off x="1783743" y="1281475"/>
              <a:ext cx="768781" cy="768781"/>
            </a:xfrm>
            <a:prstGeom prst="rect">
              <a:avLst/>
            </a:prstGeom>
            <a:grpFill/>
            <a:ln>
              <a:noFill/>
            </a:ln>
            <a:effectLst>
              <a:outerShdw blurRad="190500" dist="228600" dir="2700000" algn="ctr">
                <a:srgbClr val="000000">
                  <a:alpha val="30000"/>
                </a:srgbClr>
              </a:outerShdw>
            </a:effectLst>
            <a:sp3d prstMaterial="matte">
              <a:bevelT w="127000" h="63500"/>
            </a:sp3d>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CA" sz="1500" b="1" kern="1200" dirty="0"/>
                <a:t>One-Time Project Cost</a:t>
              </a:r>
            </a:p>
            <a:p>
              <a:pPr marL="0" lvl="0" indent="0" algn="ctr" defTabSz="666750">
                <a:lnSpc>
                  <a:spcPct val="90000"/>
                </a:lnSpc>
                <a:spcBef>
                  <a:spcPct val="0"/>
                </a:spcBef>
                <a:spcAft>
                  <a:spcPct val="35000"/>
                </a:spcAft>
                <a:buNone/>
              </a:pPr>
              <a:endParaRPr lang="en-CA" sz="1500" b="1" kern="1200" dirty="0"/>
            </a:p>
            <a:p>
              <a:pPr marL="0" lvl="0" indent="0" algn="ctr" defTabSz="666750">
                <a:lnSpc>
                  <a:spcPct val="90000"/>
                </a:lnSpc>
                <a:spcBef>
                  <a:spcPct val="0"/>
                </a:spcBef>
                <a:spcAft>
                  <a:spcPct val="35000"/>
                </a:spcAft>
                <a:buNone/>
              </a:pPr>
              <a:r>
                <a:rPr lang="en-CA" sz="1500" kern="1200" dirty="0"/>
                <a:t>~$400K</a:t>
              </a:r>
            </a:p>
          </p:txBody>
        </p:sp>
      </p:grpSp>
      <p:grpSp>
        <p:nvGrpSpPr>
          <p:cNvPr id="26" name="Group 25">
            <a:extLst>
              <a:ext uri="{FF2B5EF4-FFF2-40B4-BE49-F238E27FC236}">
                <a16:creationId xmlns:a16="http://schemas.microsoft.com/office/drawing/2014/main" id="{D4B4E433-A3A1-B837-CBD5-6FDA82279558}"/>
              </a:ext>
            </a:extLst>
          </p:cNvPr>
          <p:cNvGrpSpPr/>
          <p:nvPr/>
        </p:nvGrpSpPr>
        <p:grpSpPr>
          <a:xfrm>
            <a:off x="7990919" y="4141168"/>
            <a:ext cx="1940400" cy="1940400"/>
            <a:chOff x="1624523" y="1122255"/>
            <a:chExt cx="1087221" cy="1087221"/>
          </a:xfrm>
          <a:solidFill>
            <a:srgbClr val="239350"/>
          </a:solidFill>
          <a:scene3d>
            <a:camera prst="orthographicFront">
              <a:rot lat="0" lon="0" rev="0"/>
            </a:camera>
            <a:lightRig rig="glow" dir="t">
              <a:rot lat="0" lon="0" rev="4800000"/>
            </a:lightRig>
          </a:scene3d>
        </p:grpSpPr>
        <p:sp>
          <p:nvSpPr>
            <p:cNvPr id="27" name="Oval 26">
              <a:extLst>
                <a:ext uri="{FF2B5EF4-FFF2-40B4-BE49-F238E27FC236}">
                  <a16:creationId xmlns:a16="http://schemas.microsoft.com/office/drawing/2014/main" id="{AAE25A97-0D41-BA6B-4CAB-4152786229DC}"/>
                </a:ext>
              </a:extLst>
            </p:cNvPr>
            <p:cNvSpPr/>
            <p:nvPr/>
          </p:nvSpPr>
          <p:spPr>
            <a:xfrm>
              <a:off x="1624523" y="1122255"/>
              <a:ext cx="1087221" cy="1087221"/>
            </a:xfrm>
            <a:prstGeom prst="ellipse">
              <a:avLst/>
            </a:prstGeom>
            <a:grpFill/>
            <a:ln>
              <a:noFill/>
            </a:ln>
            <a:effectLst>
              <a:outerShdw blurRad="190500" dist="228600" dir="2700000" algn="ctr">
                <a:srgbClr val="000000">
                  <a:alpha val="30000"/>
                </a:srgbClr>
              </a:outerShdw>
            </a:effectLst>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CA"/>
            </a:p>
          </p:txBody>
        </p:sp>
        <p:sp>
          <p:nvSpPr>
            <p:cNvPr id="28" name="Oval 4">
              <a:extLst>
                <a:ext uri="{FF2B5EF4-FFF2-40B4-BE49-F238E27FC236}">
                  <a16:creationId xmlns:a16="http://schemas.microsoft.com/office/drawing/2014/main" id="{52D831D1-495A-8372-7BDE-C45C10A3F7E3}"/>
                </a:ext>
              </a:extLst>
            </p:cNvPr>
            <p:cNvSpPr txBox="1"/>
            <p:nvPr/>
          </p:nvSpPr>
          <p:spPr>
            <a:xfrm>
              <a:off x="1783743" y="1281475"/>
              <a:ext cx="768781" cy="768781"/>
            </a:xfrm>
            <a:prstGeom prst="rect">
              <a:avLst/>
            </a:prstGeom>
            <a:grpFill/>
            <a:ln>
              <a:noFill/>
            </a:ln>
            <a:effectLst>
              <a:outerShdw blurRad="190500" dist="228600" dir="2700000" algn="ctr">
                <a:srgbClr val="000000">
                  <a:alpha val="30000"/>
                </a:srgbClr>
              </a:outerShdw>
            </a:effectLst>
            <a:sp3d prstMaterial="matte">
              <a:bevelT w="127000" h="63500"/>
            </a:sp3d>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CA" sz="1500" b="1" kern="1200" dirty="0"/>
                <a:t>Additional FTEs</a:t>
              </a:r>
            </a:p>
            <a:p>
              <a:pPr marL="0" lvl="0" indent="0" algn="ctr" defTabSz="666750">
                <a:lnSpc>
                  <a:spcPct val="90000"/>
                </a:lnSpc>
                <a:spcBef>
                  <a:spcPct val="0"/>
                </a:spcBef>
                <a:spcAft>
                  <a:spcPct val="35000"/>
                </a:spcAft>
                <a:buNone/>
              </a:pPr>
              <a:endParaRPr lang="en-CA" sz="1500" b="1" kern="1200" dirty="0"/>
            </a:p>
            <a:p>
              <a:pPr marL="0" lvl="0" indent="0" algn="ctr" defTabSz="666750">
                <a:lnSpc>
                  <a:spcPct val="90000"/>
                </a:lnSpc>
                <a:spcBef>
                  <a:spcPct val="0"/>
                </a:spcBef>
                <a:spcAft>
                  <a:spcPct val="35000"/>
                </a:spcAft>
                <a:buNone/>
              </a:pPr>
              <a:r>
                <a:rPr lang="en-CA" sz="1500" dirty="0"/>
                <a:t>2</a:t>
              </a:r>
              <a:endParaRPr lang="en-CA" sz="1500" kern="1200" dirty="0"/>
            </a:p>
          </p:txBody>
        </p:sp>
      </p:grpSp>
      <p:sp>
        <p:nvSpPr>
          <p:cNvPr id="14" name="Text Placeholder 1">
            <a:extLst>
              <a:ext uri="{FF2B5EF4-FFF2-40B4-BE49-F238E27FC236}">
                <a16:creationId xmlns:a16="http://schemas.microsoft.com/office/drawing/2014/main" id="{D042CD22-52E3-B7AD-AB99-5573AC756A1B}"/>
              </a:ext>
            </a:extLst>
          </p:cNvPr>
          <p:cNvSpPr txBox="1">
            <a:spLocks/>
          </p:cNvSpPr>
          <p:nvPr/>
        </p:nvSpPr>
        <p:spPr>
          <a:xfrm>
            <a:off x="3307080" y="1143953"/>
            <a:ext cx="5577840" cy="823912"/>
          </a:xfrm>
          <a:prstGeom prst="rect">
            <a:avLst/>
          </a:prstGeom>
        </p:spPr>
        <p:txBody>
          <a:bodyPr vert="horz" lIns="0" tIns="0" rIns="0" bIns="0" rtlCol="0" anchor="b">
            <a:normAutofit/>
          </a:bodyPr>
          <a:lstStyle>
            <a:lvl1pPr marL="0" indent="0" algn="l" defTabSz="914400" rtl="0" eaLnBrk="1" latinLnBrk="0" hangingPunct="1">
              <a:lnSpc>
                <a:spcPct val="100000"/>
              </a:lnSpc>
              <a:spcBef>
                <a:spcPts val="1000"/>
              </a:spcBef>
              <a:spcAft>
                <a:spcPts val="300"/>
              </a:spcAft>
              <a:buFont typeface="Arial" panose="020B0604020202020204" pitchFamily="34" charset="0"/>
              <a:buNone/>
              <a:defRPr sz="2800" b="0" kern="1200">
                <a:solidFill>
                  <a:schemeClr val="tx2"/>
                </a:solidFill>
                <a:latin typeface="+mn-lt"/>
                <a:ea typeface="+mn-ea"/>
                <a:cs typeface="+mn-cs"/>
              </a:defRPr>
            </a:lvl1pPr>
            <a:lvl2pPr marL="457200" indent="0" algn="l" defTabSz="914400" rtl="0" eaLnBrk="1" latinLnBrk="0" hangingPunct="1">
              <a:lnSpc>
                <a:spcPct val="100000"/>
              </a:lnSpc>
              <a:spcBef>
                <a:spcPts val="500"/>
              </a:spcBef>
              <a:spcAft>
                <a:spcPts val="300"/>
              </a:spcAft>
              <a:buFont typeface="Wingdings" panose="05000000000000000000" pitchFamily="2" charset="2"/>
              <a:buNone/>
              <a:defRPr sz="2000" b="1" kern="1200">
                <a:solidFill>
                  <a:schemeClr val="tx1"/>
                </a:solidFill>
                <a:latin typeface="+mn-lt"/>
                <a:ea typeface="+mn-ea"/>
                <a:cs typeface="+mn-cs"/>
              </a:defRPr>
            </a:lvl2pPr>
            <a:lvl3pPr marL="914400" indent="0" algn="l" defTabSz="914400" rtl="0" eaLnBrk="1" latinLnBrk="0" hangingPunct="1">
              <a:lnSpc>
                <a:spcPct val="100000"/>
              </a:lnSpc>
              <a:spcBef>
                <a:spcPts val="500"/>
              </a:spcBef>
              <a:spcAft>
                <a:spcPts val="300"/>
              </a:spcAft>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00000"/>
              </a:lnSpc>
              <a:spcBef>
                <a:spcPts val="500"/>
              </a:spcBef>
              <a:spcAft>
                <a:spcPts val="300"/>
              </a:spcAft>
              <a:buFont typeface="Wingdings" panose="05000000000000000000" pitchFamily="2" charset="2"/>
              <a:buNone/>
              <a:defRPr sz="1600" b="1" kern="1200">
                <a:solidFill>
                  <a:schemeClr val="tx1"/>
                </a:solidFill>
                <a:latin typeface="+mn-lt"/>
                <a:ea typeface="+mn-ea"/>
                <a:cs typeface="+mn-cs"/>
              </a:defRPr>
            </a:lvl4pPr>
            <a:lvl5pPr marL="1828800" indent="0" algn="l" defTabSz="914400" rtl="0" eaLnBrk="1" latinLnBrk="0" hangingPunct="1">
              <a:lnSpc>
                <a:spcPct val="100000"/>
              </a:lnSpc>
              <a:spcBef>
                <a:spcPts val="500"/>
              </a:spcBef>
              <a:spcAft>
                <a:spcPts val="300"/>
              </a:spcAft>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CA" sz="4400" b="1" dirty="0"/>
              <a:t>The Ask</a:t>
            </a:r>
          </a:p>
        </p:txBody>
      </p:sp>
      <p:graphicFrame>
        <p:nvGraphicFramePr>
          <p:cNvPr id="15" name="Content Placeholder 10">
            <a:extLst>
              <a:ext uri="{FF2B5EF4-FFF2-40B4-BE49-F238E27FC236}">
                <a16:creationId xmlns:a16="http://schemas.microsoft.com/office/drawing/2014/main" id="{A0970396-8601-0F74-82E1-D934740BD560}"/>
              </a:ext>
            </a:extLst>
          </p:cNvPr>
          <p:cNvGraphicFramePr>
            <a:graphicFrameLocks noGrp="1"/>
          </p:cNvGraphicFramePr>
          <p:nvPr>
            <p:ph sz="half" idx="2"/>
            <p:extLst>
              <p:ext uri="{D42A27DB-BD31-4B8C-83A1-F6EECF244321}">
                <p14:modId xmlns:p14="http://schemas.microsoft.com/office/powerpoint/2010/main" val="1126736100"/>
              </p:ext>
            </p:extLst>
          </p:nvPr>
        </p:nvGraphicFramePr>
        <p:xfrm>
          <a:off x="385200" y="2084400"/>
          <a:ext cx="5268480" cy="2194560"/>
        </p:xfrm>
        <a:graphic>
          <a:graphicData uri="http://schemas.openxmlformats.org/drawingml/2006/table">
            <a:tbl>
              <a:tblPr firstRow="1" bandRow="1">
                <a:tableStyleId>{5C22544A-7EE6-4342-B048-85BDC9FD1C3A}</a:tableStyleId>
              </a:tblPr>
              <a:tblGrid>
                <a:gridCol w="2547951">
                  <a:extLst>
                    <a:ext uri="{9D8B030D-6E8A-4147-A177-3AD203B41FA5}">
                      <a16:colId xmlns:a16="http://schemas.microsoft.com/office/drawing/2014/main" val="1103160853"/>
                    </a:ext>
                  </a:extLst>
                </a:gridCol>
                <a:gridCol w="1171031">
                  <a:extLst>
                    <a:ext uri="{9D8B030D-6E8A-4147-A177-3AD203B41FA5}">
                      <a16:colId xmlns:a16="http://schemas.microsoft.com/office/drawing/2014/main" val="1691026269"/>
                    </a:ext>
                  </a:extLst>
                </a:gridCol>
                <a:gridCol w="1549498">
                  <a:extLst>
                    <a:ext uri="{9D8B030D-6E8A-4147-A177-3AD203B41FA5}">
                      <a16:colId xmlns:a16="http://schemas.microsoft.com/office/drawing/2014/main" val="2325440210"/>
                    </a:ext>
                  </a:extLst>
                </a:gridCol>
              </a:tblGrid>
              <a:tr h="370840">
                <a:tc>
                  <a:txBody>
                    <a:bodyPr/>
                    <a:lstStyle/>
                    <a:p>
                      <a:r>
                        <a:rPr lang="en-CA" dirty="0"/>
                        <a:t>Source</a:t>
                      </a:r>
                    </a:p>
                  </a:txBody>
                  <a:tcPr/>
                </a:tc>
                <a:tc>
                  <a:txBody>
                    <a:bodyPr/>
                    <a:lstStyle/>
                    <a:p>
                      <a:r>
                        <a:rPr lang="en-CA" dirty="0"/>
                        <a:t># of Licences</a:t>
                      </a:r>
                    </a:p>
                  </a:txBody>
                  <a:tcPr/>
                </a:tc>
                <a:tc>
                  <a:txBody>
                    <a:bodyPr/>
                    <a:lstStyle/>
                    <a:p>
                      <a:r>
                        <a:rPr lang="en-CA" dirty="0"/>
                        <a:t>Total Annual Cost (CAD)*</a:t>
                      </a:r>
                    </a:p>
                  </a:txBody>
                  <a:tcPr/>
                </a:tc>
                <a:extLst>
                  <a:ext uri="{0D108BD9-81ED-4DB2-BD59-A6C34878D82A}">
                    <a16:rowId xmlns:a16="http://schemas.microsoft.com/office/drawing/2014/main" val="2546655532"/>
                  </a:ext>
                </a:extLst>
              </a:tr>
              <a:tr h="370840">
                <a:tc>
                  <a:txBody>
                    <a:bodyPr/>
                    <a:lstStyle/>
                    <a:p>
                      <a:r>
                        <a:rPr lang="en-CA" dirty="0"/>
                        <a:t>Existing Purchases &amp; Commitments</a:t>
                      </a:r>
                      <a:br>
                        <a:rPr lang="en-CA" dirty="0"/>
                      </a:br>
                      <a:r>
                        <a:rPr lang="en-CA" dirty="0"/>
                        <a:t>(</a:t>
                      </a:r>
                      <a:r>
                        <a:rPr lang="en-CA" dirty="0" err="1"/>
                        <a:t>CanOps</a:t>
                      </a:r>
                      <a:r>
                        <a:rPr lang="en-CA" dirty="0"/>
                        <a:t>)</a:t>
                      </a:r>
                    </a:p>
                  </a:txBody>
                  <a:tcPr/>
                </a:tc>
                <a:tc>
                  <a:txBody>
                    <a:bodyPr/>
                    <a:lstStyle/>
                    <a:p>
                      <a:r>
                        <a:rPr lang="en-CA" dirty="0"/>
                        <a:t>5,000</a:t>
                      </a:r>
                    </a:p>
                  </a:txBody>
                  <a:tcPr/>
                </a:tc>
                <a:tc>
                  <a:txBody>
                    <a:bodyPr/>
                    <a:lstStyle/>
                    <a:p>
                      <a:r>
                        <a:rPr lang="en-CA" dirty="0"/>
                        <a:t>0.486M</a:t>
                      </a:r>
                    </a:p>
                  </a:txBody>
                  <a:tcPr/>
                </a:tc>
                <a:extLst>
                  <a:ext uri="{0D108BD9-81ED-4DB2-BD59-A6C34878D82A}">
                    <a16:rowId xmlns:a16="http://schemas.microsoft.com/office/drawing/2014/main" val="1386801541"/>
                  </a:ext>
                </a:extLst>
              </a:tr>
              <a:tr h="370840">
                <a:tc>
                  <a:txBody>
                    <a:bodyPr/>
                    <a:lstStyle/>
                    <a:p>
                      <a:r>
                        <a:rPr lang="en-CA" dirty="0"/>
                        <a:t>Additional Required for</a:t>
                      </a:r>
                      <a:br>
                        <a:rPr lang="en-CA" dirty="0"/>
                      </a:br>
                      <a:r>
                        <a:rPr lang="en-CA" dirty="0"/>
                        <a:t>Managed </a:t>
                      </a:r>
                      <a:r>
                        <a:rPr lang="en-CA" dirty="0" err="1"/>
                        <a:t>Envs</a:t>
                      </a:r>
                      <a:endParaRPr lang="en-CA" dirty="0"/>
                    </a:p>
                  </a:txBody>
                  <a:tcPr/>
                </a:tc>
                <a:tc>
                  <a:txBody>
                    <a:bodyPr/>
                    <a:lstStyle/>
                    <a:p>
                      <a:r>
                        <a:rPr lang="en-CA" dirty="0"/>
                        <a:t>8,000</a:t>
                      </a:r>
                    </a:p>
                  </a:txBody>
                  <a:tcPr/>
                </a:tc>
                <a:tc>
                  <a:txBody>
                    <a:bodyPr/>
                    <a:lstStyle/>
                    <a:p>
                      <a:r>
                        <a:rPr lang="en-CA" dirty="0"/>
                        <a:t>0.779M</a:t>
                      </a:r>
                    </a:p>
                  </a:txBody>
                  <a:tcPr/>
                </a:tc>
                <a:extLst>
                  <a:ext uri="{0D108BD9-81ED-4DB2-BD59-A6C34878D82A}">
                    <a16:rowId xmlns:a16="http://schemas.microsoft.com/office/drawing/2014/main" val="3624458142"/>
                  </a:ext>
                </a:extLst>
              </a:tr>
            </a:tbl>
          </a:graphicData>
        </a:graphic>
      </p:graphicFrame>
    </p:spTree>
    <p:extLst>
      <p:ext uri="{BB962C8B-B14F-4D97-AF65-F5344CB8AC3E}">
        <p14:creationId xmlns:p14="http://schemas.microsoft.com/office/powerpoint/2010/main" val="1079205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6"/>
                                        </p:tgtEl>
                                      </p:cBhvr>
                                    </p:animEffect>
                                    <p:set>
                                      <p:cBhvr>
                                        <p:cTn id="10" dur="1" fill="hold">
                                          <p:stCondLst>
                                            <p:cond delay="499"/>
                                          </p:stCondLst>
                                        </p:cTn>
                                        <p:tgtEl>
                                          <p:spTgt spid="16"/>
                                        </p:tgtEl>
                                        <p:attrNameLst>
                                          <p:attrName>style.visibility</p:attrName>
                                        </p:attrNameLst>
                                      </p:cBhvr>
                                      <p:to>
                                        <p:strVal val="hidden"/>
                                      </p:to>
                                    </p:set>
                                  </p:childTnLst>
                                </p:cTn>
                              </p:par>
                            </p:childTnLst>
                          </p:cTn>
                        </p:par>
                        <p:par>
                          <p:cTn id="11" fill="hold">
                            <p:stCondLst>
                              <p:cond delay="500"/>
                            </p:stCondLst>
                            <p:childTnLst>
                              <p:par>
                                <p:cTn id="12" presetID="42" presetClass="path" presetSubtype="0" accel="50000" decel="50000" fill="hold" grpId="0" nodeType="afterEffect">
                                  <p:stCondLst>
                                    <p:cond delay="0"/>
                                  </p:stCondLst>
                                  <p:childTnLst>
                                    <p:animMotion origin="layout" path="M 4.375E-6 2.96296E-6 L 0.16263 0.1081 " pathEditMode="relative" rAng="0" ptsTypes="AA">
                                      <p:cBhvr>
                                        <p:cTn id="13" dur="2000" fill="hold"/>
                                        <p:tgtEl>
                                          <p:spTgt spid="2">
                                            <p:txEl>
                                              <p:pRg st="0" end="0"/>
                                            </p:txEl>
                                          </p:spTgt>
                                        </p:tgtEl>
                                        <p:attrNameLst>
                                          <p:attrName>ppt_x</p:attrName>
                                          <p:attrName>ppt_y</p:attrName>
                                        </p:attrNameLst>
                                      </p:cBhvr>
                                      <p:rCtr x="8125" y="5394"/>
                                    </p:animMotion>
                                  </p:childTnLst>
                                </p:cTn>
                              </p:par>
                              <p:par>
                                <p:cTn id="14" presetID="42" presetClass="path" presetSubtype="0" accel="50000" decel="50000" fill="hold" grpId="0" nodeType="withEffect">
                                  <p:stCondLst>
                                    <p:cond delay="0"/>
                                  </p:stCondLst>
                                  <p:childTnLst>
                                    <p:animMotion origin="layout" path="M -2.29167E-6 2.96296E-6 L -2.29167E-6 0.10625 " pathEditMode="relative" rAng="0" ptsTypes="AA">
                                      <p:cBhvr>
                                        <p:cTn id="15" dur="2000" fill="hold"/>
                                        <p:tgtEl>
                                          <p:spTgt spid="4">
                                            <p:txEl>
                                              <p:pRg st="0" end="0"/>
                                            </p:txEl>
                                          </p:spTgt>
                                        </p:tgtEl>
                                        <p:attrNameLst>
                                          <p:attrName>ppt_x</p:attrName>
                                          <p:attrName>ppt_y</p:attrName>
                                        </p:attrNameLst>
                                      </p:cBhvr>
                                      <p:rCtr x="0" y="5301"/>
                                    </p:animMotion>
                                  </p:childTnLst>
                                </p:cTn>
                              </p:par>
                              <p:par>
                                <p:cTn id="16" presetID="42" presetClass="path" presetSubtype="0" accel="50000" decel="50000" fill="hold" nodeType="withEffect">
                                  <p:stCondLst>
                                    <p:cond delay="0"/>
                                  </p:stCondLst>
                                  <p:childTnLst>
                                    <p:animMotion origin="layout" path="M -0.00039 1.11111E-6 L -0.07109 -0.14144 " pathEditMode="relative" rAng="0" ptsTypes="AA">
                                      <p:cBhvr>
                                        <p:cTn id="17" dur="2000" fill="hold"/>
                                        <p:tgtEl>
                                          <p:spTgt spid="20"/>
                                        </p:tgtEl>
                                        <p:attrNameLst>
                                          <p:attrName>ppt_x</p:attrName>
                                          <p:attrName>ppt_y</p:attrName>
                                        </p:attrNameLst>
                                      </p:cBhvr>
                                      <p:rCtr x="-3542" y="-7083"/>
                                    </p:animMotion>
                                  </p:childTnLst>
                                </p:cTn>
                              </p:par>
                              <p:par>
                                <p:cTn id="18" presetID="42" presetClass="path" presetSubtype="0" accel="50000" decel="50000" fill="hold" nodeType="withEffect">
                                  <p:stCondLst>
                                    <p:cond delay="0"/>
                                  </p:stCondLst>
                                  <p:childTnLst>
                                    <p:animMotion origin="layout" path="M 3.95833E-6 -2.96296E-6 L -0.1125 0.15949 " pathEditMode="relative" rAng="0" ptsTypes="AA">
                                      <p:cBhvr>
                                        <p:cTn id="19" dur="2000" fill="hold"/>
                                        <p:tgtEl>
                                          <p:spTgt spid="23"/>
                                        </p:tgtEl>
                                        <p:attrNameLst>
                                          <p:attrName>ppt_x</p:attrName>
                                          <p:attrName>ppt_y</p:attrName>
                                        </p:attrNameLst>
                                      </p:cBhvr>
                                      <p:rCtr x="-5625" y="7963"/>
                                    </p:animMotion>
                                  </p:childTnLst>
                                </p:cTn>
                              </p:par>
                              <p:par>
                                <p:cTn id="20" presetID="42" presetClass="path" presetSubtype="0" accel="50000" decel="50000" fill="hold" nodeType="withEffect">
                                  <p:stCondLst>
                                    <p:cond delay="0"/>
                                  </p:stCondLst>
                                  <p:childTnLst>
                                    <p:animMotion origin="layout" path="M 3.95833E-6 -3.7037E-7 L 0.1125 -0.14167 " pathEditMode="relative" rAng="0" ptsTypes="AA">
                                      <p:cBhvr>
                                        <p:cTn id="21" dur="2000" fill="hold"/>
                                        <p:tgtEl>
                                          <p:spTgt spid="26"/>
                                        </p:tgtEl>
                                        <p:attrNameLst>
                                          <p:attrName>ppt_x</p:attrName>
                                          <p:attrName>ppt_y</p:attrName>
                                        </p:attrNameLst>
                                      </p:cBhvr>
                                      <p:rCtr x="5625" y="-7083"/>
                                    </p:animMotion>
                                  </p:childTnLst>
                                </p:cTn>
                              </p:par>
                            </p:childTnLst>
                          </p:cTn>
                        </p:par>
                        <p:par>
                          <p:cTn id="22" fill="hold">
                            <p:stCondLst>
                              <p:cond delay="2500"/>
                            </p:stCondLst>
                            <p:childTnLst>
                              <p:par>
                                <p:cTn id="23" presetID="10" presetClass="entr" presetSubtype="0"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 grpId="0" build="p"/>
      <p:bldP spid="4" grpId="0" build="p"/>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F7FE8-BB53-D219-A61E-673C738C55A5}"/>
              </a:ext>
            </a:extLst>
          </p:cNvPr>
          <p:cNvSpPr>
            <a:spLocks noGrp="1"/>
          </p:cNvSpPr>
          <p:nvPr>
            <p:ph type="title"/>
          </p:nvPr>
        </p:nvSpPr>
        <p:spPr/>
        <p:txBody>
          <a:bodyPr/>
          <a:lstStyle/>
          <a:p>
            <a:r>
              <a:rPr lang="en-CA" dirty="0"/>
              <a:t>Appendix</a:t>
            </a:r>
          </a:p>
        </p:txBody>
      </p:sp>
      <p:sp>
        <p:nvSpPr>
          <p:cNvPr id="4" name="Date Placeholder 3">
            <a:extLst>
              <a:ext uri="{FF2B5EF4-FFF2-40B4-BE49-F238E27FC236}">
                <a16:creationId xmlns:a16="http://schemas.microsoft.com/office/drawing/2014/main" id="{F9932301-1E15-D1B2-2039-D956D09E7C1B}"/>
              </a:ext>
            </a:extLst>
          </p:cNvPr>
          <p:cNvSpPr>
            <a:spLocks noGrp="1"/>
          </p:cNvSpPr>
          <p:nvPr>
            <p:ph type="dt" sz="half" idx="14"/>
          </p:nvPr>
        </p:nvSpPr>
        <p:spPr/>
        <p:txBody>
          <a:bodyPr/>
          <a:lstStyle/>
          <a:p>
            <a:fld id="{92C11029-89B8-4EFC-A646-F30793B61689}" type="datetime4">
              <a:rPr lang="en-US" smtClean="0"/>
              <a:t>July 29, 2026</a:t>
            </a:fld>
            <a:endParaRPr lang="en-US"/>
          </a:p>
        </p:txBody>
      </p:sp>
      <p:sp>
        <p:nvSpPr>
          <p:cNvPr id="5" name="Footer Placeholder 4">
            <a:extLst>
              <a:ext uri="{FF2B5EF4-FFF2-40B4-BE49-F238E27FC236}">
                <a16:creationId xmlns:a16="http://schemas.microsoft.com/office/drawing/2014/main" id="{DBB88EE9-2C39-C007-61FE-DE762028206D}"/>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89DB9AEB-323E-BED1-7C7C-C4C2DEFC344D}"/>
              </a:ext>
            </a:extLst>
          </p:cNvPr>
          <p:cNvSpPr>
            <a:spLocks noGrp="1"/>
          </p:cNvSpPr>
          <p:nvPr>
            <p:ph type="sldNum" sz="quarter" idx="16"/>
          </p:nvPr>
        </p:nvSpPr>
        <p:spPr/>
        <p:txBody>
          <a:bodyPr/>
          <a:lstStyle/>
          <a:p>
            <a:fld id="{3CBD822F-ED39-4FC2-B5B5-D2EAB6238DC3}" type="slidenum">
              <a:rPr lang="en-US" smtClean="0"/>
              <a:pPr/>
              <a:t>12</a:t>
            </a:fld>
            <a:endParaRPr lang="en-US"/>
          </a:p>
        </p:txBody>
      </p:sp>
      <p:sp>
        <p:nvSpPr>
          <p:cNvPr id="7" name="Title 1">
            <a:extLst>
              <a:ext uri="{FF2B5EF4-FFF2-40B4-BE49-F238E27FC236}">
                <a16:creationId xmlns:a16="http://schemas.microsoft.com/office/drawing/2014/main" id="{84688C43-6237-2195-2D7C-97B7793B7025}"/>
              </a:ext>
            </a:extLst>
          </p:cNvPr>
          <p:cNvSpPr txBox="1">
            <a:spLocks/>
          </p:cNvSpPr>
          <p:nvPr/>
        </p:nvSpPr>
        <p:spPr>
          <a:xfrm>
            <a:off x="7416419" y="309282"/>
            <a:ext cx="3400104"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gn="r"/>
            <a:r>
              <a:rPr lang="en-CA" i="1" dirty="0"/>
              <a:t>Power Platform</a:t>
            </a:r>
            <a:endParaRPr lang="en-CA" i="1" dirty="0">
              <a:cs typeface="Arial" panose="020B0604020202020204"/>
            </a:endParaRPr>
          </a:p>
        </p:txBody>
      </p:sp>
      <p:pic>
        <p:nvPicPr>
          <p:cNvPr id="8" name="Graphic 7">
            <a:extLst>
              <a:ext uri="{FF2B5EF4-FFF2-40B4-BE49-F238E27FC236}">
                <a16:creationId xmlns:a16="http://schemas.microsoft.com/office/drawing/2014/main" id="{580CE223-2327-D5D9-42BD-60EE9095871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08510" y="280267"/>
            <a:ext cx="657409" cy="659560"/>
          </a:xfrm>
          <a:prstGeom prst="rect">
            <a:avLst/>
          </a:prstGeom>
        </p:spPr>
      </p:pic>
    </p:spTree>
    <p:extLst>
      <p:ext uri="{BB962C8B-B14F-4D97-AF65-F5344CB8AC3E}">
        <p14:creationId xmlns:p14="http://schemas.microsoft.com/office/powerpoint/2010/main" val="3270847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38FB5-93F6-617D-818A-5AA6EAC359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11D167F-21A6-4E93-22C6-7670B59A69D0}"/>
              </a:ext>
            </a:extLst>
          </p:cNvPr>
          <p:cNvSpPr>
            <a:spLocks noGrp="1"/>
          </p:cNvSpPr>
          <p:nvPr>
            <p:ph type="title"/>
          </p:nvPr>
        </p:nvSpPr>
        <p:spPr/>
        <p:txBody>
          <a:bodyPr/>
          <a:lstStyle/>
          <a:p>
            <a:r>
              <a:rPr lang="en-CA" dirty="0"/>
              <a:t>Benefits of Premium Licencing</a:t>
            </a:r>
          </a:p>
        </p:txBody>
      </p:sp>
      <p:sp>
        <p:nvSpPr>
          <p:cNvPr id="8" name="Date Placeholder 7">
            <a:extLst>
              <a:ext uri="{FF2B5EF4-FFF2-40B4-BE49-F238E27FC236}">
                <a16:creationId xmlns:a16="http://schemas.microsoft.com/office/drawing/2014/main" id="{C286A543-1416-AB20-D815-EE04725DAB3C}"/>
              </a:ext>
            </a:extLst>
          </p:cNvPr>
          <p:cNvSpPr>
            <a:spLocks noGrp="1"/>
          </p:cNvSpPr>
          <p:nvPr>
            <p:ph type="dt" sz="half" idx="14"/>
          </p:nvPr>
        </p:nvSpPr>
        <p:spPr/>
        <p:txBody>
          <a:bodyPr/>
          <a:lstStyle/>
          <a:p>
            <a:fld id="{4F31ED60-57BA-425F-BBE8-3DF23D11EEBD}" type="datetime4">
              <a:rPr lang="en-US" smtClean="0"/>
              <a:t>July 29, 2026</a:t>
            </a:fld>
            <a:endParaRPr lang="en-US"/>
          </a:p>
        </p:txBody>
      </p:sp>
      <p:sp>
        <p:nvSpPr>
          <p:cNvPr id="9" name="Footer Placeholder 8">
            <a:extLst>
              <a:ext uri="{FF2B5EF4-FFF2-40B4-BE49-F238E27FC236}">
                <a16:creationId xmlns:a16="http://schemas.microsoft.com/office/drawing/2014/main" id="{D6402E6C-62AE-A4E5-C1E6-5355E134F9B7}"/>
              </a:ext>
            </a:extLst>
          </p:cNvPr>
          <p:cNvSpPr>
            <a:spLocks noGrp="1"/>
          </p:cNvSpPr>
          <p:nvPr>
            <p:ph type="ftr" sz="quarter" idx="15"/>
          </p:nvPr>
        </p:nvSpPr>
        <p:spPr/>
        <p:txBody>
          <a:bodyPr/>
          <a:lstStyle/>
          <a:p>
            <a:endParaRPr lang="en-US" dirty="0"/>
          </a:p>
        </p:txBody>
      </p:sp>
      <p:sp>
        <p:nvSpPr>
          <p:cNvPr id="10" name="Slide Number Placeholder 9">
            <a:extLst>
              <a:ext uri="{FF2B5EF4-FFF2-40B4-BE49-F238E27FC236}">
                <a16:creationId xmlns:a16="http://schemas.microsoft.com/office/drawing/2014/main" id="{80594F2F-AF86-8CD5-0C8E-2917C36CAD18}"/>
              </a:ext>
            </a:extLst>
          </p:cNvPr>
          <p:cNvSpPr>
            <a:spLocks noGrp="1"/>
          </p:cNvSpPr>
          <p:nvPr>
            <p:ph type="sldNum" sz="quarter" idx="16"/>
          </p:nvPr>
        </p:nvSpPr>
        <p:spPr/>
        <p:txBody>
          <a:bodyPr/>
          <a:lstStyle/>
          <a:p>
            <a:fld id="{3CBD822F-ED39-4FC2-B5B5-D2EAB6238DC3}" type="slidenum">
              <a:rPr lang="en-US" smtClean="0"/>
              <a:pPr/>
              <a:t>13</a:t>
            </a:fld>
            <a:endParaRPr lang="en-US"/>
          </a:p>
        </p:txBody>
      </p:sp>
      <p:sp>
        <p:nvSpPr>
          <p:cNvPr id="25" name="Title 1">
            <a:extLst>
              <a:ext uri="{FF2B5EF4-FFF2-40B4-BE49-F238E27FC236}">
                <a16:creationId xmlns:a16="http://schemas.microsoft.com/office/drawing/2014/main" id="{3480CD06-84B5-4718-F02E-5CBD7F8AF923}"/>
              </a:ext>
            </a:extLst>
          </p:cNvPr>
          <p:cNvSpPr txBox="1">
            <a:spLocks/>
          </p:cNvSpPr>
          <p:nvPr/>
        </p:nvSpPr>
        <p:spPr>
          <a:xfrm>
            <a:off x="7416419" y="309282"/>
            <a:ext cx="3400104"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gn="r"/>
            <a:r>
              <a:rPr lang="en-CA" i="1" dirty="0"/>
              <a:t>Power Platform</a:t>
            </a:r>
            <a:endParaRPr lang="en-CA" i="1" dirty="0">
              <a:cs typeface="Arial" panose="020B0604020202020204"/>
            </a:endParaRPr>
          </a:p>
        </p:txBody>
      </p:sp>
      <p:pic>
        <p:nvPicPr>
          <p:cNvPr id="26" name="Graphic 25">
            <a:extLst>
              <a:ext uri="{FF2B5EF4-FFF2-40B4-BE49-F238E27FC236}">
                <a16:creationId xmlns:a16="http://schemas.microsoft.com/office/drawing/2014/main" id="{AF025359-47FD-248D-31C0-F22CA243C8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510" y="280267"/>
            <a:ext cx="657409" cy="659560"/>
          </a:xfrm>
          <a:prstGeom prst="rect">
            <a:avLst/>
          </a:prstGeom>
        </p:spPr>
      </p:pic>
      <p:pic>
        <p:nvPicPr>
          <p:cNvPr id="3" name="Graphic 2">
            <a:extLst>
              <a:ext uri="{FF2B5EF4-FFF2-40B4-BE49-F238E27FC236}">
                <a16:creationId xmlns:a16="http://schemas.microsoft.com/office/drawing/2014/main" id="{4C39D5B9-4D28-0E31-FC8E-9CB98B3848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93726" y="2968662"/>
            <a:ext cx="940630" cy="407826"/>
          </a:xfrm>
          <a:prstGeom prst="rect">
            <a:avLst/>
          </a:prstGeom>
        </p:spPr>
      </p:pic>
      <p:pic>
        <p:nvPicPr>
          <p:cNvPr id="4" name="Picture 4">
            <a:extLst>
              <a:ext uri="{FF2B5EF4-FFF2-40B4-BE49-F238E27FC236}">
                <a16:creationId xmlns:a16="http://schemas.microsoft.com/office/drawing/2014/main" id="{539642AE-BFFF-40A7-C691-530052B400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0720996">
            <a:off x="93470" y="2907855"/>
            <a:ext cx="1539197" cy="442119"/>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a:extLst>
              <a:ext uri="{FF2B5EF4-FFF2-40B4-BE49-F238E27FC236}">
                <a16:creationId xmlns:a16="http://schemas.microsoft.com/office/drawing/2014/main" id="{71DE2FCF-1177-590E-3814-012AE5848DF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6281" y="3751316"/>
            <a:ext cx="762000" cy="762000"/>
          </a:xfrm>
          <a:prstGeom prst="rect">
            <a:avLst/>
          </a:prstGeom>
        </p:spPr>
      </p:pic>
      <p:pic>
        <p:nvPicPr>
          <p:cNvPr id="7" name="Picture 6" descr="A blue cloud with white text&#10;&#10;AI-generated content may be incorrect.">
            <a:extLst>
              <a:ext uri="{FF2B5EF4-FFF2-40B4-BE49-F238E27FC236}">
                <a16:creationId xmlns:a16="http://schemas.microsoft.com/office/drawing/2014/main" id="{B0CD5718-0AAC-DF97-8D76-040F4BDF0458}"/>
              </a:ext>
            </a:extLst>
          </p:cNvPr>
          <p:cNvPicPr>
            <a:picLocks noChangeAspect="1"/>
          </p:cNvPicPr>
          <p:nvPr/>
        </p:nvPicPr>
        <p:blipFill>
          <a:blip r:embed="rId7">
            <a:extLst>
              <a:ext uri="{28A0092B-C50C-407E-A947-70E740481C1C}">
                <a14:useLocalDpi xmlns:a14="http://schemas.microsoft.com/office/drawing/2010/main" val="0"/>
              </a:ext>
            </a:extLst>
          </a:blip>
          <a:srcRect l="26312" t="20424" r="26250" b="20424"/>
          <a:stretch/>
        </p:blipFill>
        <p:spPr>
          <a:xfrm>
            <a:off x="1774540" y="3805596"/>
            <a:ext cx="762000" cy="534472"/>
          </a:xfrm>
          <a:prstGeom prst="rect">
            <a:avLst/>
          </a:prstGeom>
        </p:spPr>
      </p:pic>
      <p:graphicFrame>
        <p:nvGraphicFramePr>
          <p:cNvPr id="11" name="Diagram 10">
            <a:extLst>
              <a:ext uri="{FF2B5EF4-FFF2-40B4-BE49-F238E27FC236}">
                <a16:creationId xmlns:a16="http://schemas.microsoft.com/office/drawing/2014/main" id="{92BE320F-149B-F572-61DC-91083E1C0A29}"/>
              </a:ext>
            </a:extLst>
          </p:cNvPr>
          <p:cNvGraphicFramePr/>
          <p:nvPr>
            <p:extLst>
              <p:ext uri="{D42A27DB-BD31-4B8C-83A1-F6EECF244321}">
                <p14:modId xmlns:p14="http://schemas.microsoft.com/office/powerpoint/2010/main" val="1126999618"/>
              </p:ext>
            </p:extLst>
          </p:nvPr>
        </p:nvGraphicFramePr>
        <p:xfrm>
          <a:off x="3009900" y="1940109"/>
          <a:ext cx="8434200" cy="333173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2" name="Oval 11">
            <a:extLst>
              <a:ext uri="{FF2B5EF4-FFF2-40B4-BE49-F238E27FC236}">
                <a16:creationId xmlns:a16="http://schemas.microsoft.com/office/drawing/2014/main" id="{BE9C59DC-1E4B-8D70-3AD3-A36F697D3245}"/>
              </a:ext>
            </a:extLst>
          </p:cNvPr>
          <p:cNvSpPr/>
          <p:nvPr/>
        </p:nvSpPr>
        <p:spPr>
          <a:xfrm>
            <a:off x="396486" y="3149800"/>
            <a:ext cx="1995055" cy="881260"/>
          </a:xfrm>
          <a:prstGeom prst="ellipse">
            <a:avLst/>
          </a:prstGeom>
          <a:solidFill>
            <a:schemeClr val="accent3">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200" b="1" dirty="0">
                <a:solidFill>
                  <a:schemeClr val="tx1">
                    <a:lumMod val="50000"/>
                  </a:schemeClr>
                </a:solidFill>
                <a:latin typeface="+mj-lt"/>
              </a:rPr>
              <a:t>Access to Premium connectors</a:t>
            </a:r>
          </a:p>
        </p:txBody>
      </p:sp>
      <p:sp>
        <p:nvSpPr>
          <p:cNvPr id="13" name="Oval 12">
            <a:extLst>
              <a:ext uri="{FF2B5EF4-FFF2-40B4-BE49-F238E27FC236}">
                <a16:creationId xmlns:a16="http://schemas.microsoft.com/office/drawing/2014/main" id="{4A430A89-0452-0682-30CD-E982EAEAA9C7}"/>
              </a:ext>
            </a:extLst>
          </p:cNvPr>
          <p:cNvSpPr/>
          <p:nvPr/>
        </p:nvSpPr>
        <p:spPr>
          <a:xfrm>
            <a:off x="420471" y="4898923"/>
            <a:ext cx="1995055" cy="881260"/>
          </a:xfrm>
          <a:prstGeom prst="ellipse">
            <a:avLst/>
          </a:prstGeom>
          <a:solidFill>
            <a:schemeClr val="accent3">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200" b="1" dirty="0">
                <a:solidFill>
                  <a:schemeClr val="tx1">
                    <a:lumMod val="50000"/>
                  </a:schemeClr>
                </a:solidFill>
                <a:latin typeface="+mj-lt"/>
              </a:rPr>
              <a:t>Improved performance</a:t>
            </a:r>
          </a:p>
        </p:txBody>
      </p:sp>
      <p:sp>
        <p:nvSpPr>
          <p:cNvPr id="15" name="Oval 14">
            <a:extLst>
              <a:ext uri="{FF2B5EF4-FFF2-40B4-BE49-F238E27FC236}">
                <a16:creationId xmlns:a16="http://schemas.microsoft.com/office/drawing/2014/main" id="{C4ACCB50-C591-444B-8535-05BFFA2FFAE2}"/>
              </a:ext>
            </a:extLst>
          </p:cNvPr>
          <p:cNvSpPr/>
          <p:nvPr/>
        </p:nvSpPr>
        <p:spPr>
          <a:xfrm>
            <a:off x="393567" y="1400677"/>
            <a:ext cx="1995055" cy="881260"/>
          </a:xfrm>
          <a:prstGeom prst="ellipse">
            <a:avLst/>
          </a:prstGeom>
          <a:solidFill>
            <a:schemeClr val="accent3">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200" b="1" dirty="0">
                <a:solidFill>
                  <a:schemeClr val="tx1">
                    <a:lumMod val="50000"/>
                  </a:schemeClr>
                </a:solidFill>
                <a:latin typeface="+mj-lt"/>
              </a:rPr>
              <a:t>Unlimited app development</a:t>
            </a:r>
          </a:p>
        </p:txBody>
      </p:sp>
    </p:spTree>
    <p:extLst>
      <p:ext uri="{BB962C8B-B14F-4D97-AF65-F5344CB8AC3E}">
        <p14:creationId xmlns:p14="http://schemas.microsoft.com/office/powerpoint/2010/main" val="3622266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anim calcmode="lin" valueType="num">
                                      <p:cBhvr>
                                        <p:cTn id="8" dur="500" fill="hold"/>
                                        <p:tgtEl>
                                          <p:spTgt spid="12"/>
                                        </p:tgtEl>
                                        <p:attrNameLst>
                                          <p:attrName>ppt_x</p:attrName>
                                        </p:attrNameLst>
                                      </p:cBhvr>
                                      <p:tavLst>
                                        <p:tav tm="0">
                                          <p:val>
                                            <p:strVal val="#ppt_x"/>
                                          </p:val>
                                        </p:tav>
                                        <p:tav tm="100000">
                                          <p:val>
                                            <p:strVal val="#ppt_x"/>
                                          </p:val>
                                        </p:tav>
                                      </p:tavLst>
                                    </p:anim>
                                    <p:anim calcmode="lin" valueType="num">
                                      <p:cBhvr>
                                        <p:cTn id="9" dur="5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10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2000"/>
                                        <p:tgtEl>
                                          <p:spTgt spid="4"/>
                                        </p:tgtEl>
                                      </p:cBhvr>
                                    </p:animEffect>
                                  </p:childTnLst>
                                </p:cTn>
                              </p:par>
                              <p:par>
                                <p:cTn id="14" presetID="10" presetClass="entr" presetSubtype="0" fill="hold" nodeType="withEffect">
                                  <p:stCondLst>
                                    <p:cond delay="10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2000"/>
                                        <p:tgtEl>
                                          <p:spTgt spid="5"/>
                                        </p:tgtEl>
                                      </p:cBhvr>
                                    </p:animEffect>
                                  </p:childTnLst>
                                </p:cTn>
                              </p:par>
                              <p:par>
                                <p:cTn id="17" presetID="10" presetClass="entr" presetSubtype="0" fill="hold" nodeType="withEffect">
                                  <p:stCondLst>
                                    <p:cond delay="10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0"/>
                                        <p:tgtEl>
                                          <p:spTgt spid="7"/>
                                        </p:tgtEl>
                                      </p:cBhvr>
                                    </p:animEffect>
                                  </p:childTnLst>
                                </p:cTn>
                              </p:par>
                              <p:par>
                                <p:cTn id="20" presetID="10" presetClass="entr" presetSubtype="0" fill="hold" nodeType="withEffect">
                                  <p:stCondLst>
                                    <p:cond delay="100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20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anim calcmode="lin" valueType="num">
                                      <p:cBhvr>
                                        <p:cTn id="28" dur="500" fill="hold"/>
                                        <p:tgtEl>
                                          <p:spTgt spid="13"/>
                                        </p:tgtEl>
                                        <p:attrNameLst>
                                          <p:attrName>ppt_x</p:attrName>
                                        </p:attrNameLst>
                                      </p:cBhvr>
                                      <p:tavLst>
                                        <p:tav tm="0">
                                          <p:val>
                                            <p:strVal val="#ppt_x"/>
                                          </p:val>
                                        </p:tav>
                                        <p:tav tm="100000">
                                          <p:val>
                                            <p:strVal val="#ppt_x"/>
                                          </p:val>
                                        </p:tav>
                                      </p:tavLst>
                                    </p:anim>
                                    <p:anim calcmode="lin" valueType="num">
                                      <p:cBhvr>
                                        <p:cTn id="29"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1">
                                            <p:graphicEl>
                                              <a:dgm id="{35C13762-D28A-46FE-97CA-242A716F4DE9}"/>
                                            </p:graphicEl>
                                          </p:spTgt>
                                        </p:tgtEl>
                                        <p:attrNameLst>
                                          <p:attrName>style.visibility</p:attrName>
                                        </p:attrNameLst>
                                      </p:cBhvr>
                                      <p:to>
                                        <p:strVal val="visible"/>
                                      </p:to>
                                    </p:set>
                                    <p:animEffect transition="in" filter="fade">
                                      <p:cBhvr>
                                        <p:cTn id="34" dur="500"/>
                                        <p:tgtEl>
                                          <p:spTgt spid="11">
                                            <p:graphicEl>
                                              <a:dgm id="{35C13762-D28A-46FE-97CA-242A716F4DE9}"/>
                                            </p:graphic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graphicEl>
                                              <a:dgm id="{22A1B5D8-119E-43EF-84A0-E6D59E15DFE0}"/>
                                            </p:graphicEl>
                                          </p:spTgt>
                                        </p:tgtEl>
                                        <p:attrNameLst>
                                          <p:attrName>style.visibility</p:attrName>
                                        </p:attrNameLst>
                                      </p:cBhvr>
                                      <p:to>
                                        <p:strVal val="visible"/>
                                      </p:to>
                                    </p:set>
                                    <p:animEffect transition="in" filter="fade">
                                      <p:cBhvr>
                                        <p:cTn id="37" dur="500"/>
                                        <p:tgtEl>
                                          <p:spTgt spid="11">
                                            <p:graphicEl>
                                              <a:dgm id="{22A1B5D8-119E-43EF-84A0-E6D59E15DFE0}"/>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graphicEl>
                                              <a:dgm id="{00477568-36E8-4D24-B89D-69B5AC4DA6DB}"/>
                                            </p:graphicEl>
                                          </p:spTgt>
                                        </p:tgtEl>
                                        <p:attrNameLst>
                                          <p:attrName>style.visibility</p:attrName>
                                        </p:attrNameLst>
                                      </p:cBhvr>
                                      <p:to>
                                        <p:strVal val="visible"/>
                                      </p:to>
                                    </p:set>
                                    <p:animEffect transition="in" filter="fade">
                                      <p:cBhvr>
                                        <p:cTn id="42" dur="500"/>
                                        <p:tgtEl>
                                          <p:spTgt spid="11">
                                            <p:graphicEl>
                                              <a:dgm id="{00477568-36E8-4D24-B89D-69B5AC4DA6DB}"/>
                                            </p:graphic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1">
                                            <p:graphicEl>
                                              <a:dgm id="{6174F916-93F4-4FD6-9A99-ED21C2B71823}"/>
                                            </p:graphicEl>
                                          </p:spTgt>
                                        </p:tgtEl>
                                        <p:attrNameLst>
                                          <p:attrName>style.visibility</p:attrName>
                                        </p:attrNameLst>
                                      </p:cBhvr>
                                      <p:to>
                                        <p:strVal val="visible"/>
                                      </p:to>
                                    </p:set>
                                    <p:animEffect transition="in" filter="fade">
                                      <p:cBhvr>
                                        <p:cTn id="45" dur="500"/>
                                        <p:tgtEl>
                                          <p:spTgt spid="11">
                                            <p:graphicEl>
                                              <a:dgm id="{6174F916-93F4-4FD6-9A99-ED21C2B71823}"/>
                                            </p:graphic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1">
                                            <p:graphicEl>
                                              <a:dgm id="{7EC69AA2-2165-4615-94E7-ABF657D7FDC1}"/>
                                            </p:graphicEl>
                                          </p:spTgt>
                                        </p:tgtEl>
                                        <p:attrNameLst>
                                          <p:attrName>style.visibility</p:attrName>
                                        </p:attrNameLst>
                                      </p:cBhvr>
                                      <p:to>
                                        <p:strVal val="visible"/>
                                      </p:to>
                                    </p:set>
                                    <p:animEffect transition="in" filter="fade">
                                      <p:cBhvr>
                                        <p:cTn id="50" dur="500"/>
                                        <p:tgtEl>
                                          <p:spTgt spid="11">
                                            <p:graphicEl>
                                              <a:dgm id="{7EC69AA2-2165-4615-94E7-ABF657D7FDC1}"/>
                                            </p:graphic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1">
                                            <p:graphicEl>
                                              <a:dgm id="{ACC6B267-CBD0-4FBF-BEC3-5E5ADE72AAB2}"/>
                                            </p:graphicEl>
                                          </p:spTgt>
                                        </p:tgtEl>
                                        <p:attrNameLst>
                                          <p:attrName>style.visibility</p:attrName>
                                        </p:attrNameLst>
                                      </p:cBhvr>
                                      <p:to>
                                        <p:strVal val="visible"/>
                                      </p:to>
                                    </p:set>
                                    <p:animEffect transition="in" filter="fade">
                                      <p:cBhvr>
                                        <p:cTn id="53" dur="500"/>
                                        <p:tgtEl>
                                          <p:spTgt spid="11">
                                            <p:graphicEl>
                                              <a:dgm id="{ACC6B267-CBD0-4FBF-BEC3-5E5ADE72AAB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uiExpand="1">
        <p:bldSub>
          <a:bldDgm bld="one"/>
        </p:bldSub>
      </p:bldGraphic>
      <p:bldP spid="12"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A69B4-4F92-F9F9-94B4-8907963BC3E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2ADA008-3AEC-DF00-807D-D44A6AD1B551}"/>
              </a:ext>
            </a:extLst>
          </p:cNvPr>
          <p:cNvSpPr/>
          <p:nvPr/>
        </p:nvSpPr>
        <p:spPr>
          <a:xfrm>
            <a:off x="393568" y="998113"/>
            <a:ext cx="11412921" cy="5293217"/>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a:bodyPr>
          <a:lstStyle/>
          <a:p>
            <a:pPr algn="l"/>
            <a:endParaRPr lang="en-CA" dirty="0" err="1"/>
          </a:p>
        </p:txBody>
      </p:sp>
      <p:graphicFrame>
        <p:nvGraphicFramePr>
          <p:cNvPr id="12" name="think-cell data - do not delete" hidden="1">
            <a:extLst>
              <a:ext uri="{FF2B5EF4-FFF2-40B4-BE49-F238E27FC236}">
                <a16:creationId xmlns:a16="http://schemas.microsoft.com/office/drawing/2014/main" id="{B1EBB91C-C0A1-A80A-025F-D0DD44EC086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2" name="think-cell data - do not delete" hidden="1">
                        <a:extLst>
                          <a:ext uri="{FF2B5EF4-FFF2-40B4-BE49-F238E27FC236}">
                            <a16:creationId xmlns:a16="http://schemas.microsoft.com/office/drawing/2014/main" id="{B1EBB91C-C0A1-A80A-025F-D0DD44EC086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02" name="Title 1">
            <a:extLst>
              <a:ext uri="{FF2B5EF4-FFF2-40B4-BE49-F238E27FC236}">
                <a16:creationId xmlns:a16="http://schemas.microsoft.com/office/drawing/2014/main" id="{EC4908A7-6DBD-3701-BA79-59A44299299B}"/>
              </a:ext>
            </a:extLst>
          </p:cNvPr>
          <p:cNvSpPr>
            <a:spLocks noGrp="1"/>
          </p:cNvSpPr>
          <p:nvPr>
            <p:ph type="title"/>
          </p:nvPr>
        </p:nvSpPr>
        <p:spPr>
          <a:xfrm>
            <a:off x="8406386" y="309282"/>
            <a:ext cx="3400104" cy="605118"/>
          </a:xfrm>
        </p:spPr>
        <p:txBody>
          <a:bodyPr vert="horz">
            <a:normAutofit/>
          </a:bodyPr>
          <a:lstStyle/>
          <a:p>
            <a:pPr algn="r"/>
            <a:r>
              <a:rPr lang="en-CA" b="1"/>
              <a:t>Power Platform</a:t>
            </a:r>
            <a:endParaRPr lang="en-CA" b="1">
              <a:cs typeface="Arial" panose="020B0604020202020204"/>
            </a:endParaRPr>
          </a:p>
        </p:txBody>
      </p:sp>
      <p:pic>
        <p:nvPicPr>
          <p:cNvPr id="203" name="Graphic 202">
            <a:extLst>
              <a:ext uri="{FF2B5EF4-FFF2-40B4-BE49-F238E27FC236}">
                <a16:creationId xmlns:a16="http://schemas.microsoft.com/office/drawing/2014/main" id="{D7EDE571-145E-CD9F-CBF1-B1C71C0A0C1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65969" y="280267"/>
            <a:ext cx="657409" cy="659560"/>
          </a:xfrm>
          <a:prstGeom prst="rect">
            <a:avLst/>
          </a:prstGeom>
        </p:spPr>
      </p:pic>
      <p:sp>
        <p:nvSpPr>
          <p:cNvPr id="204" name="Title 1">
            <a:extLst>
              <a:ext uri="{FF2B5EF4-FFF2-40B4-BE49-F238E27FC236}">
                <a16:creationId xmlns:a16="http://schemas.microsoft.com/office/drawing/2014/main" id="{F5098FA6-C9AE-0DB8-3566-51E434FCAA53}"/>
              </a:ext>
            </a:extLst>
          </p:cNvPr>
          <p:cNvSpPr txBox="1">
            <a:spLocks/>
          </p:cNvSpPr>
          <p:nvPr/>
        </p:nvSpPr>
        <p:spPr>
          <a:xfrm>
            <a:off x="393569" y="307488"/>
            <a:ext cx="3634927"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CA" sz="3200" b="1" i="0" u="none" strike="noStrike" kern="1200" cap="none" spc="0" normalizeH="0" baseline="0" noProof="0" dirty="0">
                <a:ln>
                  <a:noFill/>
                </a:ln>
                <a:solidFill>
                  <a:srgbClr val="BA0C2F"/>
                </a:solidFill>
                <a:effectLst/>
                <a:uLnTx/>
                <a:uFillTx/>
                <a:latin typeface="Arial" panose="020B0604020202020204"/>
                <a:ea typeface="+mj-ea"/>
                <a:cs typeface="+mj-cs"/>
              </a:rPr>
              <a:t>Roadmap</a:t>
            </a:r>
            <a:endParaRPr kumimoji="0" lang="en-CA" sz="3200" b="1" i="0" u="none" strike="noStrike" kern="1200" cap="none" spc="0" normalizeH="0" baseline="0" noProof="0" dirty="0">
              <a:ln>
                <a:noFill/>
              </a:ln>
              <a:solidFill>
                <a:srgbClr val="BA0C2F"/>
              </a:solidFill>
              <a:effectLst/>
              <a:uLnTx/>
              <a:uFillTx/>
              <a:latin typeface="Arial" panose="020B0604020202020204"/>
              <a:ea typeface="+mj-ea"/>
              <a:cs typeface="Arial" panose="020B0604020202020204"/>
            </a:endParaRPr>
          </a:p>
        </p:txBody>
      </p:sp>
      <p:pic>
        <p:nvPicPr>
          <p:cNvPr id="4" name="Picture 3">
            <a:hlinkClick r:id="rId7"/>
            <a:extLst>
              <a:ext uri="{FF2B5EF4-FFF2-40B4-BE49-F238E27FC236}">
                <a16:creationId xmlns:a16="http://schemas.microsoft.com/office/drawing/2014/main" id="{17E5C2CC-64B4-D302-3273-19730861F6A7}"/>
              </a:ext>
            </a:extLst>
          </p:cNvPr>
          <p:cNvPicPr>
            <a:picLocks noChangeAspect="1"/>
          </p:cNvPicPr>
          <p:nvPr/>
        </p:nvPicPr>
        <p:blipFill>
          <a:blip r:embed="rId8"/>
          <a:stretch>
            <a:fillRect/>
          </a:stretch>
        </p:blipFill>
        <p:spPr>
          <a:xfrm>
            <a:off x="1010992" y="1105715"/>
            <a:ext cx="9440214" cy="5694704"/>
          </a:xfrm>
          <a:prstGeom prst="rect">
            <a:avLst/>
          </a:prstGeom>
        </p:spPr>
      </p:pic>
      <p:cxnSp>
        <p:nvCxnSpPr>
          <p:cNvPr id="10" name="Straight Connector 9">
            <a:extLst>
              <a:ext uri="{FF2B5EF4-FFF2-40B4-BE49-F238E27FC236}">
                <a16:creationId xmlns:a16="http://schemas.microsoft.com/office/drawing/2014/main" id="{A91A7725-6FC5-AC3C-EA73-658E5B83764B}"/>
              </a:ext>
            </a:extLst>
          </p:cNvPr>
          <p:cNvCxnSpPr>
            <a:cxnSpLocks/>
          </p:cNvCxnSpPr>
          <p:nvPr/>
        </p:nvCxnSpPr>
        <p:spPr>
          <a:xfrm>
            <a:off x="393568" y="990983"/>
            <a:ext cx="11416951"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208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A78F7-D39A-2AEE-9F8E-52C20CCC4486}"/>
            </a:ext>
          </a:extLst>
        </p:cNvPr>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8D06194-7D86-C445-EC2D-ED2822E56EB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2" name="think-cell data - do not delete" hidden="1">
                        <a:extLst>
                          <a:ext uri="{FF2B5EF4-FFF2-40B4-BE49-F238E27FC236}">
                            <a16:creationId xmlns:a16="http://schemas.microsoft.com/office/drawing/2014/main" id="{38D06194-7D86-C445-EC2D-ED2822E56EB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Date Placeholder 4">
            <a:extLst>
              <a:ext uri="{FF2B5EF4-FFF2-40B4-BE49-F238E27FC236}">
                <a16:creationId xmlns:a16="http://schemas.microsoft.com/office/drawing/2014/main" id="{42880EAF-149D-10D2-3019-5CFA154EC781}"/>
              </a:ext>
            </a:extLst>
          </p:cNvPr>
          <p:cNvSpPr>
            <a:spLocks noGrp="1"/>
          </p:cNvSpPr>
          <p:nvPr>
            <p:ph type="dt" sz="half" idx="14"/>
          </p:nvPr>
        </p:nvSpPr>
        <p:spPr/>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07C827D7-FDA3-42C2-9B0F-2CCD53D6A475}" type="datetime4">
              <a:rPr kumimoji="0" lang="en-US" sz="900" b="0" i="0" u="none" strike="noStrike" kern="1200" cap="none" spc="0" normalizeH="0" baseline="0" noProof="0" smtClean="0">
                <a:ln>
                  <a:noFill/>
                </a:ln>
                <a:solidFill>
                  <a:srgbClr val="515349">
                    <a:tint val="7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July 29, 2026</a:t>
            </a:fld>
            <a:endParaRPr kumimoji="0" lang="en-US" sz="900" b="0" i="0" u="none" strike="noStrike" kern="1200" cap="none" spc="0" normalizeH="0" baseline="0" noProof="0" dirty="0">
              <a:ln>
                <a:noFill/>
              </a:ln>
              <a:solidFill>
                <a:srgbClr val="515349">
                  <a:tint val="75000"/>
                </a:srgbClr>
              </a:solidFill>
              <a:effectLst/>
              <a:uLnTx/>
              <a:uFillTx/>
              <a:latin typeface="Arial" panose="020B0604020202020204"/>
              <a:ea typeface="+mn-ea"/>
              <a:cs typeface="+mn-cs"/>
            </a:endParaRPr>
          </a:p>
        </p:txBody>
      </p:sp>
      <p:sp>
        <p:nvSpPr>
          <p:cNvPr id="243" name="Slide Number Placeholder 5">
            <a:extLst>
              <a:ext uri="{FF2B5EF4-FFF2-40B4-BE49-F238E27FC236}">
                <a16:creationId xmlns:a16="http://schemas.microsoft.com/office/drawing/2014/main" id="{C3204961-4961-B7AF-86AA-D05E5DED6B83}"/>
              </a:ext>
            </a:extLst>
          </p:cNvPr>
          <p:cNvSpPr>
            <a:spLocks noGrp="1"/>
          </p:cNvSpPr>
          <p:nvPr>
            <p:ph type="sldNum" sz="quarter" idx="16"/>
          </p:nvPr>
        </p:nvSpPr>
        <p:spPr>
          <a:xfrm>
            <a:off x="87852" y="6286624"/>
            <a:ext cx="201619"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0D29B3-3718-49D1-8532-8733C4D9642A}" type="slidenum">
              <a:rPr kumimoji="0" lang="en-US" sz="900" b="0" i="0" u="none" strike="noStrike" kern="1200" cap="none" spc="0" normalizeH="0" baseline="0" noProof="0" smtClean="0">
                <a:ln>
                  <a:noFill/>
                </a:ln>
                <a:solidFill>
                  <a:srgbClr val="515349">
                    <a:tint val="75000"/>
                  </a:srgbClr>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900" b="0" i="0" u="none" strike="noStrike" kern="1200" cap="none" spc="0" normalizeH="0" baseline="0" noProof="0">
              <a:ln>
                <a:noFill/>
              </a:ln>
              <a:solidFill>
                <a:srgbClr val="515349">
                  <a:tint val="75000"/>
                </a:srgbClr>
              </a:solidFill>
              <a:effectLst/>
              <a:uLnTx/>
              <a:uFillTx/>
              <a:latin typeface="Arial" panose="020B0604020202020204"/>
              <a:ea typeface="+mn-ea"/>
              <a:cs typeface="+mn-cs"/>
            </a:endParaRPr>
          </a:p>
        </p:txBody>
      </p:sp>
      <p:sp>
        <p:nvSpPr>
          <p:cNvPr id="202" name="Title 1">
            <a:extLst>
              <a:ext uri="{FF2B5EF4-FFF2-40B4-BE49-F238E27FC236}">
                <a16:creationId xmlns:a16="http://schemas.microsoft.com/office/drawing/2014/main" id="{2A9B9DF8-2FC9-C104-9A14-D4D5B50AAA9D}"/>
              </a:ext>
            </a:extLst>
          </p:cNvPr>
          <p:cNvSpPr>
            <a:spLocks noGrp="1"/>
          </p:cNvSpPr>
          <p:nvPr>
            <p:ph type="title"/>
          </p:nvPr>
        </p:nvSpPr>
        <p:spPr>
          <a:xfrm>
            <a:off x="8406386" y="309282"/>
            <a:ext cx="3400104" cy="605118"/>
          </a:xfrm>
        </p:spPr>
        <p:txBody>
          <a:bodyPr vert="horz">
            <a:normAutofit/>
          </a:bodyPr>
          <a:lstStyle/>
          <a:p>
            <a:pPr algn="r"/>
            <a:r>
              <a:rPr lang="en-CA" b="1"/>
              <a:t>Power Platform</a:t>
            </a:r>
            <a:endParaRPr lang="en-CA" b="1">
              <a:cs typeface="Arial" panose="020B0604020202020204"/>
            </a:endParaRPr>
          </a:p>
        </p:txBody>
      </p:sp>
      <p:pic>
        <p:nvPicPr>
          <p:cNvPr id="203" name="Graphic 202">
            <a:extLst>
              <a:ext uri="{FF2B5EF4-FFF2-40B4-BE49-F238E27FC236}">
                <a16:creationId xmlns:a16="http://schemas.microsoft.com/office/drawing/2014/main" id="{D8337252-2EE3-F4F6-3CD6-0F12C81AC43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65969" y="280267"/>
            <a:ext cx="657409" cy="659560"/>
          </a:xfrm>
          <a:prstGeom prst="rect">
            <a:avLst/>
          </a:prstGeom>
        </p:spPr>
      </p:pic>
      <p:sp>
        <p:nvSpPr>
          <p:cNvPr id="204" name="Title 1">
            <a:extLst>
              <a:ext uri="{FF2B5EF4-FFF2-40B4-BE49-F238E27FC236}">
                <a16:creationId xmlns:a16="http://schemas.microsoft.com/office/drawing/2014/main" id="{FBF63C83-BFC0-8890-128D-181BA10B4AB7}"/>
              </a:ext>
            </a:extLst>
          </p:cNvPr>
          <p:cNvSpPr txBox="1">
            <a:spLocks/>
          </p:cNvSpPr>
          <p:nvPr/>
        </p:nvSpPr>
        <p:spPr>
          <a:xfrm>
            <a:off x="393569" y="307488"/>
            <a:ext cx="7334226"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CA" b="1" dirty="0">
                <a:solidFill>
                  <a:srgbClr val="BA0C2F"/>
                </a:solidFill>
                <a:latin typeface="Arial" panose="020B0604020202020204"/>
              </a:rPr>
              <a:t>Priority Items (1 of 5)</a:t>
            </a:r>
            <a:endParaRPr kumimoji="0" lang="en-CA" sz="3200" b="1" i="0" u="none" strike="noStrike" kern="1200" cap="none" spc="0" normalizeH="0" baseline="0" noProof="0" dirty="0">
              <a:ln>
                <a:noFill/>
              </a:ln>
              <a:solidFill>
                <a:srgbClr val="BA0C2F"/>
              </a:solidFill>
              <a:effectLst/>
              <a:uLnTx/>
              <a:uFillTx/>
              <a:latin typeface="Arial" panose="020B0604020202020204"/>
              <a:ea typeface="+mj-ea"/>
              <a:cs typeface="Arial" panose="020B0604020202020204"/>
            </a:endParaRPr>
          </a:p>
        </p:txBody>
      </p:sp>
      <p:graphicFrame>
        <p:nvGraphicFramePr>
          <p:cNvPr id="7" name="Table 6">
            <a:extLst>
              <a:ext uri="{FF2B5EF4-FFF2-40B4-BE49-F238E27FC236}">
                <a16:creationId xmlns:a16="http://schemas.microsoft.com/office/drawing/2014/main" id="{A9944B81-7C74-4779-2506-1F0EF3FC2A6B}"/>
              </a:ext>
            </a:extLst>
          </p:cNvPr>
          <p:cNvGraphicFramePr>
            <a:graphicFrameLocks noGrp="1"/>
          </p:cNvGraphicFramePr>
          <p:nvPr/>
        </p:nvGraphicFramePr>
        <p:xfrm>
          <a:off x="393570" y="1231900"/>
          <a:ext cx="11412920" cy="4444557"/>
        </p:xfrm>
        <a:graphic>
          <a:graphicData uri="http://schemas.openxmlformats.org/drawingml/2006/table">
            <a:tbl>
              <a:tblPr firstRow="1" firstCol="1" bandRow="1">
                <a:tableStyleId>{5C22544A-7EE6-4342-B048-85BDC9FD1C3A}</a:tableStyleId>
              </a:tblPr>
              <a:tblGrid>
                <a:gridCol w="3606930">
                  <a:extLst>
                    <a:ext uri="{9D8B030D-6E8A-4147-A177-3AD203B41FA5}">
                      <a16:colId xmlns:a16="http://schemas.microsoft.com/office/drawing/2014/main" val="699347023"/>
                    </a:ext>
                  </a:extLst>
                </a:gridCol>
                <a:gridCol w="1574800">
                  <a:extLst>
                    <a:ext uri="{9D8B030D-6E8A-4147-A177-3AD203B41FA5}">
                      <a16:colId xmlns:a16="http://schemas.microsoft.com/office/drawing/2014/main" val="3026545880"/>
                    </a:ext>
                  </a:extLst>
                </a:gridCol>
                <a:gridCol w="6231190">
                  <a:extLst>
                    <a:ext uri="{9D8B030D-6E8A-4147-A177-3AD203B41FA5}">
                      <a16:colId xmlns:a16="http://schemas.microsoft.com/office/drawing/2014/main" val="2688570249"/>
                    </a:ext>
                  </a:extLst>
                </a:gridCol>
              </a:tblGrid>
              <a:tr h="327216">
                <a:tc>
                  <a:txBody>
                    <a:bodyPr/>
                    <a:lstStyle/>
                    <a:p>
                      <a:pPr>
                        <a:lnSpc>
                          <a:spcPct val="107000"/>
                        </a:lnSpc>
                        <a:spcAft>
                          <a:spcPts val="800"/>
                        </a:spcAft>
                      </a:pPr>
                      <a:r>
                        <a:rPr lang="en-CA" sz="1100" kern="100" dirty="0">
                          <a:effectLst/>
                        </a:rPr>
                        <a:t>Activity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kern="100" dirty="0">
                          <a:effectLst/>
                        </a:rPr>
                        <a:t>Priority/Category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kern="100" dirty="0">
                          <a:effectLst/>
                        </a:rPr>
                        <a:t>Description</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21721335"/>
                  </a:ext>
                </a:extLst>
              </a:tr>
              <a:tr h="648269">
                <a:tc>
                  <a:txBody>
                    <a:bodyPr/>
                    <a:lstStyle/>
                    <a:p>
                      <a:pPr>
                        <a:lnSpc>
                          <a:spcPct val="107000"/>
                        </a:lnSpc>
                        <a:spcAft>
                          <a:spcPts val="800"/>
                        </a:spcAft>
                      </a:pPr>
                      <a:r>
                        <a:rPr lang="en-CA" sz="1100" kern="100" dirty="0">
                          <a:effectLst/>
                        </a:rPr>
                        <a:t>Solution Identification &amp; Categorization</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i="0" kern="100" dirty="0">
                          <a:solidFill>
                            <a:srgbClr val="C00000"/>
                          </a:solidFill>
                          <a:effectLst/>
                        </a:rPr>
                        <a:t>1 - Highest</a:t>
                      </a:r>
                    </a:p>
                    <a:p>
                      <a:pPr>
                        <a:lnSpc>
                          <a:spcPct val="107000"/>
                        </a:lnSpc>
                        <a:spcAft>
                          <a:spcPts val="800"/>
                        </a:spcAft>
                      </a:pPr>
                      <a:r>
                        <a:rPr lang="en-CA" sz="1100" kern="100" dirty="0">
                          <a:effectLst/>
                        </a:rPr>
                        <a:t>Environment Strategy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indent="0">
                        <a:lnSpc>
                          <a:spcPct val="107000"/>
                        </a:lnSpc>
                        <a:spcAft>
                          <a:spcPts val="800"/>
                        </a:spcAft>
                        <a:buFont typeface="Arial" panose="020B0604020202020204" pitchFamily="34" charset="0"/>
                        <a:buNone/>
                      </a:pPr>
                      <a:endParaRPr lang="en-CA" sz="1100" kern="100" dirty="0">
                        <a:effectLst/>
                      </a:endParaRPr>
                    </a:p>
                    <a:p>
                      <a:pPr marL="171450" indent="-171450">
                        <a:lnSpc>
                          <a:spcPct val="107000"/>
                        </a:lnSpc>
                        <a:spcAft>
                          <a:spcPts val="800"/>
                        </a:spcAft>
                        <a:buFont typeface="Arial" panose="020B0604020202020204" pitchFamily="34" charset="0"/>
                        <a:buChar char="•"/>
                      </a:pPr>
                      <a:r>
                        <a:rPr lang="en-CA" sz="1100" kern="100" dirty="0">
                          <a:effectLst/>
                        </a:rPr>
                        <a:t>Meet with makers to classify components (ex. flows, apps) according to LOB, criticality, data sensitivity, connectors, etc.</a:t>
                      </a:r>
                    </a:p>
                    <a:p>
                      <a:pPr marL="171450" indent="-171450">
                        <a:lnSpc>
                          <a:spcPct val="107000"/>
                        </a:lnSpc>
                        <a:spcAft>
                          <a:spcPts val="800"/>
                        </a:spcAft>
                        <a:buFont typeface="Arial" panose="020B0604020202020204" pitchFamily="34" charset="0"/>
                        <a:buChar char="•"/>
                      </a:pPr>
                      <a:r>
                        <a:rPr lang="en-CA" sz="1100" kern="100" dirty="0">
                          <a:effectLst/>
                        </a:rPr>
                        <a:t>Identify which components need to be moved to which environments. A mapping document should be created for this to track moves and business reasons for the move.</a:t>
                      </a:r>
                    </a:p>
                    <a:p>
                      <a:pPr marL="0" indent="0">
                        <a:lnSpc>
                          <a:spcPct val="107000"/>
                        </a:lnSpc>
                        <a:spcAft>
                          <a:spcPts val="800"/>
                        </a:spcAft>
                        <a:buFont typeface="Arial" panose="020B0604020202020204" pitchFamily="34" charset="0"/>
                        <a:buNone/>
                      </a:pPr>
                      <a:endParaRPr lang="en-CA" sz="1100" kern="100" dirty="0">
                        <a:effectLst/>
                      </a:endParaRPr>
                    </a:p>
                  </a:txBody>
                  <a:tcPr marL="68580" marR="68580" marT="0" marB="0" anchor="ctr"/>
                </a:tc>
                <a:extLst>
                  <a:ext uri="{0D108BD9-81ED-4DB2-BD59-A6C34878D82A}">
                    <a16:rowId xmlns:a16="http://schemas.microsoft.com/office/drawing/2014/main" val="2322798136"/>
                  </a:ext>
                </a:extLst>
              </a:tr>
              <a:tr h="327216">
                <a:tc>
                  <a:txBody>
                    <a:bodyPr/>
                    <a:lstStyle/>
                    <a:p>
                      <a:pPr>
                        <a:lnSpc>
                          <a:spcPct val="107000"/>
                        </a:lnSpc>
                        <a:spcAft>
                          <a:spcPts val="800"/>
                        </a:spcAft>
                      </a:pPr>
                      <a:r>
                        <a:rPr lang="en-CA" sz="1100" kern="100">
                          <a:effectLst/>
                        </a:rPr>
                        <a:t>Migrate to Dedicated Environments</a:t>
                      </a:r>
                      <a:endParaRPr lang="en-CA"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i="0" kern="100" dirty="0">
                          <a:solidFill>
                            <a:srgbClr val="C00000"/>
                          </a:solidFill>
                          <a:effectLst/>
                        </a:rPr>
                        <a:t>1 - Highest</a:t>
                      </a:r>
                      <a:endParaRPr lang="en-CA" sz="1100" kern="100" dirty="0">
                        <a:effectLst/>
                      </a:endParaRPr>
                    </a:p>
                    <a:p>
                      <a:pPr>
                        <a:lnSpc>
                          <a:spcPct val="107000"/>
                        </a:lnSpc>
                        <a:spcAft>
                          <a:spcPts val="800"/>
                        </a:spcAft>
                      </a:pPr>
                      <a:r>
                        <a:rPr lang="en-CA" sz="1100" kern="100" dirty="0">
                          <a:effectLst/>
                        </a:rPr>
                        <a:t>Environment Strategy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171450" indent="-171450">
                        <a:lnSpc>
                          <a:spcPct val="107000"/>
                        </a:lnSpc>
                        <a:spcAft>
                          <a:spcPts val="800"/>
                        </a:spcAft>
                        <a:buFont typeface="Arial" panose="020B0604020202020204" pitchFamily="34" charset="0"/>
                        <a:buChar char="•"/>
                      </a:pPr>
                      <a:endParaRPr lang="en-CA" sz="1100" kern="100" dirty="0">
                        <a:effectLst/>
                      </a:endParaRPr>
                    </a:p>
                    <a:p>
                      <a:pPr marL="171450" indent="-171450">
                        <a:lnSpc>
                          <a:spcPct val="107000"/>
                        </a:lnSpc>
                        <a:spcAft>
                          <a:spcPts val="800"/>
                        </a:spcAft>
                        <a:buFont typeface="Arial" panose="020B0604020202020204" pitchFamily="34" charset="0"/>
                        <a:buChar char="•"/>
                      </a:pPr>
                      <a:r>
                        <a:rPr lang="en-CA" sz="1100" kern="100" dirty="0">
                          <a:effectLst/>
                        </a:rPr>
                        <a:t>Develop a detailed transition plan that outlines the steps required to move from the current environment setup to the new strategy. This should include timelines, resource allocation, and communication plans.</a:t>
                      </a:r>
                    </a:p>
                    <a:p>
                      <a:pPr marL="171450" indent="-171450">
                        <a:lnSpc>
                          <a:spcPct val="107000"/>
                        </a:lnSpc>
                        <a:spcAft>
                          <a:spcPts val="800"/>
                        </a:spcAft>
                        <a:buFont typeface="Arial" panose="020B0604020202020204" pitchFamily="34" charset="0"/>
                        <a:buChar char="•"/>
                      </a:pPr>
                      <a:r>
                        <a:rPr lang="en-CA" sz="1100" kern="100" dirty="0">
                          <a:effectLst/>
                        </a:rPr>
                        <a:t>Use the Power Platform Admin Centre to create new environments based on the new strategy. Follow the naming convention "Name-Environment Type-Geography" for each environment.</a:t>
                      </a:r>
                    </a:p>
                    <a:p>
                      <a:pPr marL="171450" indent="-171450">
                        <a:lnSpc>
                          <a:spcPct val="107000"/>
                        </a:lnSpc>
                        <a:spcAft>
                          <a:spcPts val="800"/>
                        </a:spcAft>
                        <a:buFont typeface="Arial" panose="020B0604020202020204" pitchFamily="34" charset="0"/>
                        <a:buChar char="•"/>
                      </a:pPr>
                      <a:r>
                        <a:rPr lang="en-CA" sz="1100" kern="100" dirty="0">
                          <a:effectLst/>
                        </a:rPr>
                        <a:t>Export existing solutions from the current environments. This can be done using the solutions feature in Power Platform, which allows you to package and move components together.</a:t>
                      </a:r>
                    </a:p>
                    <a:p>
                      <a:pPr marL="171450" indent="-171450">
                        <a:lnSpc>
                          <a:spcPct val="107000"/>
                        </a:lnSpc>
                        <a:spcAft>
                          <a:spcPts val="800"/>
                        </a:spcAft>
                        <a:buFont typeface="Arial" panose="020B0604020202020204" pitchFamily="34" charset="0"/>
                        <a:buChar char="•"/>
                      </a:pPr>
                      <a:r>
                        <a:rPr lang="en-CA" sz="1100" kern="100" dirty="0">
                          <a:effectLst/>
                        </a:rPr>
                        <a:t>Import the exported solutions into the new environments. Ensure that all dependencies are addressed and that the solutions function as expected in the new environments.</a:t>
                      </a:r>
                    </a:p>
                    <a:p>
                      <a:pPr marL="171450" indent="-171450">
                        <a:lnSpc>
                          <a:spcPct val="107000"/>
                        </a:lnSpc>
                        <a:spcAft>
                          <a:spcPts val="800"/>
                        </a:spcAft>
                        <a:buFont typeface="Arial" panose="020B0604020202020204" pitchFamily="34" charset="0"/>
                        <a:buChar char="•"/>
                      </a:pPr>
                      <a:r>
                        <a:rPr lang="en-CA" sz="1100" kern="100" dirty="0">
                          <a:effectLst/>
                        </a:rPr>
                        <a:t>Offer training sessions for users to familiarize them with the new environment setup.</a:t>
                      </a:r>
                    </a:p>
                    <a:p>
                      <a:pPr marL="0" indent="0">
                        <a:lnSpc>
                          <a:spcPct val="107000"/>
                        </a:lnSpc>
                        <a:spcAft>
                          <a:spcPts val="800"/>
                        </a:spcAft>
                        <a:buFont typeface="Arial" panose="020B0604020202020204" pitchFamily="34" charset="0"/>
                        <a:buNone/>
                      </a:pPr>
                      <a:endParaRPr lang="en-CA" sz="1100" kern="100" dirty="0">
                        <a:effectLst/>
                      </a:endParaRPr>
                    </a:p>
                  </a:txBody>
                  <a:tcPr marL="68580" marR="68580" marT="0" marB="0" anchor="ctr"/>
                </a:tc>
                <a:extLst>
                  <a:ext uri="{0D108BD9-81ED-4DB2-BD59-A6C34878D82A}">
                    <a16:rowId xmlns:a16="http://schemas.microsoft.com/office/drawing/2014/main" val="406900550"/>
                  </a:ext>
                </a:extLst>
              </a:tr>
            </a:tbl>
          </a:graphicData>
        </a:graphic>
      </p:graphicFrame>
    </p:spTree>
    <p:extLst>
      <p:ext uri="{BB962C8B-B14F-4D97-AF65-F5344CB8AC3E}">
        <p14:creationId xmlns:p14="http://schemas.microsoft.com/office/powerpoint/2010/main" val="1989046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08830-4B45-5E73-1D18-1F38786A1C52}"/>
            </a:ext>
          </a:extLst>
        </p:cNvPr>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A90D5BF3-4576-67C1-F9FC-19EC1CF8D4F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2" name="think-cell data - do not delete" hidden="1">
                        <a:extLst>
                          <a:ext uri="{FF2B5EF4-FFF2-40B4-BE49-F238E27FC236}">
                            <a16:creationId xmlns:a16="http://schemas.microsoft.com/office/drawing/2014/main" id="{A90D5BF3-4576-67C1-F9FC-19EC1CF8D4F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Date Placeholder 4">
            <a:extLst>
              <a:ext uri="{FF2B5EF4-FFF2-40B4-BE49-F238E27FC236}">
                <a16:creationId xmlns:a16="http://schemas.microsoft.com/office/drawing/2014/main" id="{0334D8B0-024D-CAFC-86EC-F8C6305288C0}"/>
              </a:ext>
            </a:extLst>
          </p:cNvPr>
          <p:cNvSpPr>
            <a:spLocks noGrp="1"/>
          </p:cNvSpPr>
          <p:nvPr>
            <p:ph type="dt" sz="half" idx="14"/>
          </p:nvPr>
        </p:nvSpPr>
        <p:spPr/>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07C827D7-FDA3-42C2-9B0F-2CCD53D6A475}" type="datetime4">
              <a:rPr kumimoji="0" lang="en-US" sz="900" b="0" i="0" u="none" strike="noStrike" kern="1200" cap="none" spc="0" normalizeH="0" baseline="0" noProof="0" smtClean="0">
                <a:ln>
                  <a:noFill/>
                </a:ln>
                <a:solidFill>
                  <a:srgbClr val="515349">
                    <a:tint val="7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July 29, 2026</a:t>
            </a:fld>
            <a:endParaRPr kumimoji="0" lang="en-US" sz="900" b="0" i="0" u="none" strike="noStrike" kern="1200" cap="none" spc="0" normalizeH="0" baseline="0" noProof="0">
              <a:ln>
                <a:noFill/>
              </a:ln>
              <a:solidFill>
                <a:srgbClr val="515349">
                  <a:tint val="75000"/>
                </a:srgbClr>
              </a:solidFill>
              <a:effectLst/>
              <a:uLnTx/>
              <a:uFillTx/>
              <a:latin typeface="Arial" panose="020B0604020202020204"/>
              <a:ea typeface="+mn-ea"/>
              <a:cs typeface="+mn-cs"/>
            </a:endParaRPr>
          </a:p>
        </p:txBody>
      </p:sp>
      <p:sp>
        <p:nvSpPr>
          <p:cNvPr id="243" name="Slide Number Placeholder 5">
            <a:extLst>
              <a:ext uri="{FF2B5EF4-FFF2-40B4-BE49-F238E27FC236}">
                <a16:creationId xmlns:a16="http://schemas.microsoft.com/office/drawing/2014/main" id="{9AC06C15-BAB8-F766-CD81-6B1BCEA2C57B}"/>
              </a:ext>
            </a:extLst>
          </p:cNvPr>
          <p:cNvSpPr>
            <a:spLocks noGrp="1"/>
          </p:cNvSpPr>
          <p:nvPr>
            <p:ph type="sldNum" sz="quarter" idx="16"/>
          </p:nvPr>
        </p:nvSpPr>
        <p:spPr>
          <a:xfrm>
            <a:off x="87852" y="6286624"/>
            <a:ext cx="201619"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0D29B3-3718-49D1-8532-8733C4D9642A}" type="slidenum">
              <a:rPr kumimoji="0" lang="en-US" sz="900" b="0" i="0" u="none" strike="noStrike" kern="1200" cap="none" spc="0" normalizeH="0" baseline="0" noProof="0" smtClean="0">
                <a:ln>
                  <a:noFill/>
                </a:ln>
                <a:solidFill>
                  <a:srgbClr val="515349">
                    <a:tint val="75000"/>
                  </a:srgbClr>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0" normalizeH="0" baseline="0" noProof="0">
              <a:ln>
                <a:noFill/>
              </a:ln>
              <a:solidFill>
                <a:srgbClr val="515349">
                  <a:tint val="75000"/>
                </a:srgbClr>
              </a:solidFill>
              <a:effectLst/>
              <a:uLnTx/>
              <a:uFillTx/>
              <a:latin typeface="Arial" panose="020B0604020202020204"/>
              <a:ea typeface="+mn-ea"/>
              <a:cs typeface="+mn-cs"/>
            </a:endParaRPr>
          </a:p>
        </p:txBody>
      </p:sp>
      <p:sp>
        <p:nvSpPr>
          <p:cNvPr id="202" name="Title 1">
            <a:extLst>
              <a:ext uri="{FF2B5EF4-FFF2-40B4-BE49-F238E27FC236}">
                <a16:creationId xmlns:a16="http://schemas.microsoft.com/office/drawing/2014/main" id="{3A9A2E92-0563-8127-81D7-C9BC3B3BD0B6}"/>
              </a:ext>
            </a:extLst>
          </p:cNvPr>
          <p:cNvSpPr>
            <a:spLocks noGrp="1"/>
          </p:cNvSpPr>
          <p:nvPr>
            <p:ph type="title"/>
          </p:nvPr>
        </p:nvSpPr>
        <p:spPr>
          <a:xfrm>
            <a:off x="8406386" y="309282"/>
            <a:ext cx="3400104" cy="605118"/>
          </a:xfrm>
        </p:spPr>
        <p:txBody>
          <a:bodyPr vert="horz">
            <a:normAutofit/>
          </a:bodyPr>
          <a:lstStyle/>
          <a:p>
            <a:pPr algn="r"/>
            <a:r>
              <a:rPr lang="en-CA" b="1"/>
              <a:t>Power Platform</a:t>
            </a:r>
            <a:endParaRPr lang="en-CA" b="1">
              <a:cs typeface="Arial" panose="020B0604020202020204"/>
            </a:endParaRPr>
          </a:p>
        </p:txBody>
      </p:sp>
      <p:pic>
        <p:nvPicPr>
          <p:cNvPr id="203" name="Graphic 202">
            <a:extLst>
              <a:ext uri="{FF2B5EF4-FFF2-40B4-BE49-F238E27FC236}">
                <a16:creationId xmlns:a16="http://schemas.microsoft.com/office/drawing/2014/main" id="{680493CC-BCEC-36E1-5EB8-6C61EEAB226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65969" y="280267"/>
            <a:ext cx="657409" cy="659560"/>
          </a:xfrm>
          <a:prstGeom prst="rect">
            <a:avLst/>
          </a:prstGeom>
        </p:spPr>
      </p:pic>
      <p:sp>
        <p:nvSpPr>
          <p:cNvPr id="204" name="Title 1">
            <a:extLst>
              <a:ext uri="{FF2B5EF4-FFF2-40B4-BE49-F238E27FC236}">
                <a16:creationId xmlns:a16="http://schemas.microsoft.com/office/drawing/2014/main" id="{13ED3777-D71F-1201-C32B-9301D2B66280}"/>
              </a:ext>
            </a:extLst>
          </p:cNvPr>
          <p:cNvSpPr txBox="1">
            <a:spLocks/>
          </p:cNvSpPr>
          <p:nvPr/>
        </p:nvSpPr>
        <p:spPr>
          <a:xfrm>
            <a:off x="393569" y="307488"/>
            <a:ext cx="7334226"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CA" b="1" dirty="0">
                <a:solidFill>
                  <a:srgbClr val="BA0C2F"/>
                </a:solidFill>
                <a:latin typeface="Arial" panose="020B0604020202020204"/>
              </a:rPr>
              <a:t>Priority Items (2 of 5)</a:t>
            </a:r>
            <a:endParaRPr kumimoji="0" lang="en-CA" sz="3200" b="1" i="0" u="none" strike="noStrike" kern="1200" cap="none" spc="0" normalizeH="0" baseline="0" noProof="0" dirty="0">
              <a:ln>
                <a:noFill/>
              </a:ln>
              <a:solidFill>
                <a:srgbClr val="BA0C2F"/>
              </a:solidFill>
              <a:effectLst/>
              <a:uLnTx/>
              <a:uFillTx/>
              <a:latin typeface="Arial" panose="020B0604020202020204"/>
              <a:ea typeface="+mj-ea"/>
              <a:cs typeface="Arial" panose="020B0604020202020204"/>
            </a:endParaRPr>
          </a:p>
        </p:txBody>
      </p:sp>
      <p:graphicFrame>
        <p:nvGraphicFramePr>
          <p:cNvPr id="7" name="Table 6">
            <a:extLst>
              <a:ext uri="{FF2B5EF4-FFF2-40B4-BE49-F238E27FC236}">
                <a16:creationId xmlns:a16="http://schemas.microsoft.com/office/drawing/2014/main" id="{B2D525D8-97A4-623F-F544-DE11E27EB4BE}"/>
              </a:ext>
            </a:extLst>
          </p:cNvPr>
          <p:cNvGraphicFramePr>
            <a:graphicFrameLocks noGrp="1"/>
          </p:cNvGraphicFramePr>
          <p:nvPr>
            <p:extLst>
              <p:ext uri="{D42A27DB-BD31-4B8C-83A1-F6EECF244321}">
                <p14:modId xmlns:p14="http://schemas.microsoft.com/office/powerpoint/2010/main" val="4194510020"/>
              </p:ext>
            </p:extLst>
          </p:nvPr>
        </p:nvGraphicFramePr>
        <p:xfrm>
          <a:off x="393570" y="1231900"/>
          <a:ext cx="11412920" cy="4545331"/>
        </p:xfrm>
        <a:graphic>
          <a:graphicData uri="http://schemas.openxmlformats.org/drawingml/2006/table">
            <a:tbl>
              <a:tblPr firstRow="1" firstCol="1" bandRow="1">
                <a:tableStyleId>{5C22544A-7EE6-4342-B048-85BDC9FD1C3A}</a:tableStyleId>
              </a:tblPr>
              <a:tblGrid>
                <a:gridCol w="3606930">
                  <a:extLst>
                    <a:ext uri="{9D8B030D-6E8A-4147-A177-3AD203B41FA5}">
                      <a16:colId xmlns:a16="http://schemas.microsoft.com/office/drawing/2014/main" val="699347023"/>
                    </a:ext>
                  </a:extLst>
                </a:gridCol>
                <a:gridCol w="1574800">
                  <a:extLst>
                    <a:ext uri="{9D8B030D-6E8A-4147-A177-3AD203B41FA5}">
                      <a16:colId xmlns:a16="http://schemas.microsoft.com/office/drawing/2014/main" val="3026545880"/>
                    </a:ext>
                  </a:extLst>
                </a:gridCol>
                <a:gridCol w="6231190">
                  <a:extLst>
                    <a:ext uri="{9D8B030D-6E8A-4147-A177-3AD203B41FA5}">
                      <a16:colId xmlns:a16="http://schemas.microsoft.com/office/drawing/2014/main" val="2688570249"/>
                    </a:ext>
                  </a:extLst>
                </a:gridCol>
              </a:tblGrid>
              <a:tr h="327216">
                <a:tc>
                  <a:txBody>
                    <a:bodyPr/>
                    <a:lstStyle/>
                    <a:p>
                      <a:pPr>
                        <a:lnSpc>
                          <a:spcPct val="107000"/>
                        </a:lnSpc>
                        <a:spcAft>
                          <a:spcPts val="800"/>
                        </a:spcAft>
                      </a:pPr>
                      <a:r>
                        <a:rPr lang="en-CA" sz="1100" kern="100" dirty="0">
                          <a:effectLst/>
                        </a:rPr>
                        <a:t>Activity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kern="100" dirty="0">
                          <a:effectLst/>
                        </a:rPr>
                        <a:t>Priority/Category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kern="100" dirty="0">
                          <a:effectLst/>
                        </a:rPr>
                        <a:t>Description</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21721335"/>
                  </a:ext>
                </a:extLst>
              </a:tr>
              <a:tr h="327216">
                <a:tc>
                  <a:txBody>
                    <a:bodyPr/>
                    <a:lstStyle/>
                    <a:p>
                      <a:pPr>
                        <a:lnSpc>
                          <a:spcPct val="107000"/>
                        </a:lnSpc>
                        <a:spcAft>
                          <a:spcPts val="800"/>
                        </a:spcAft>
                      </a:pPr>
                      <a:r>
                        <a:rPr lang="en-CA" sz="1100" kern="100" dirty="0">
                          <a:effectLst/>
                        </a:rPr>
                        <a:t>Implement Application Lifecycle Management</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i="0" kern="100" dirty="0">
                          <a:solidFill>
                            <a:srgbClr val="C00000"/>
                          </a:solidFill>
                          <a:effectLst/>
                        </a:rPr>
                        <a:t>1 - Highest</a:t>
                      </a:r>
                      <a:endParaRPr lang="en-CA" sz="1100" kern="100" dirty="0">
                        <a:effectLst/>
                      </a:endParaRPr>
                    </a:p>
                    <a:p>
                      <a:pPr>
                        <a:lnSpc>
                          <a:spcPct val="107000"/>
                        </a:lnSpc>
                        <a:spcAft>
                          <a:spcPts val="800"/>
                        </a:spcAft>
                      </a:pPr>
                      <a:r>
                        <a:rPr lang="en-CA" sz="1100" kern="100" dirty="0">
                          <a:effectLst/>
                        </a:rPr>
                        <a:t>Environment Strategy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171450" indent="-171450">
                        <a:lnSpc>
                          <a:spcPct val="107000"/>
                        </a:lnSpc>
                        <a:spcAft>
                          <a:spcPts val="800"/>
                        </a:spcAft>
                        <a:buFont typeface="Arial" panose="020B0604020202020204" pitchFamily="34" charset="0"/>
                        <a:buChar char="•"/>
                      </a:pPr>
                      <a:endParaRPr lang="en-CA" sz="1100" kern="100" dirty="0">
                        <a:effectLst/>
                      </a:endParaRPr>
                    </a:p>
                    <a:p>
                      <a:pPr marL="171450" indent="-171450">
                        <a:lnSpc>
                          <a:spcPct val="107000"/>
                        </a:lnSpc>
                        <a:spcAft>
                          <a:spcPts val="800"/>
                        </a:spcAft>
                        <a:buFont typeface="Arial" panose="020B0604020202020204" pitchFamily="34" charset="0"/>
                        <a:buChar char="•"/>
                      </a:pPr>
                      <a:r>
                        <a:rPr lang="en-CA" sz="1100" kern="100" dirty="0">
                          <a:effectLst/>
                        </a:rPr>
                        <a:t>Prioritize ALM Integration for High Valued Environments.</a:t>
                      </a:r>
                    </a:p>
                    <a:p>
                      <a:pPr marL="171450" indent="-171450">
                        <a:lnSpc>
                          <a:spcPct val="107000"/>
                        </a:lnSpc>
                        <a:spcAft>
                          <a:spcPts val="800"/>
                        </a:spcAft>
                        <a:buFont typeface="Arial" panose="020B0604020202020204" pitchFamily="34" charset="0"/>
                        <a:buChar char="•"/>
                      </a:pPr>
                      <a:r>
                        <a:rPr lang="en-CA" sz="1100" kern="100" dirty="0">
                          <a:effectLst/>
                        </a:rPr>
                        <a:t>Implement Power Platform Pipelines to achieve a secure and automated ALM process, improving deployment efficiency, ensuring version control, and enabling scalable and compliant solution deployments across multiple environments.</a:t>
                      </a:r>
                    </a:p>
                    <a:p>
                      <a:pPr marL="171450" indent="-171450">
                        <a:lnSpc>
                          <a:spcPct val="107000"/>
                        </a:lnSpc>
                        <a:spcAft>
                          <a:spcPts val="800"/>
                        </a:spcAft>
                        <a:buFont typeface="Arial" panose="020B0604020202020204" pitchFamily="34" charset="0"/>
                        <a:buChar char="•"/>
                      </a:pPr>
                      <a:r>
                        <a:rPr lang="en-CA" sz="1100" kern="100" dirty="0">
                          <a:effectLst/>
                        </a:rPr>
                        <a:t>Conduct training for App makers on understanding the Solution packaging (Import/Export) and using Pipelines for automating the deployment process, considering post-deployment steps for an environment.</a:t>
                      </a:r>
                    </a:p>
                    <a:p>
                      <a:pPr marL="171450" indent="-171450">
                        <a:lnSpc>
                          <a:spcPct val="107000"/>
                        </a:lnSpc>
                        <a:spcAft>
                          <a:spcPts val="800"/>
                        </a:spcAft>
                        <a:buFont typeface="Arial" panose="020B0604020202020204" pitchFamily="34" charset="0"/>
                        <a:buChar char="•"/>
                      </a:pPr>
                      <a:endParaRPr lang="en-CA" sz="1100" kern="100" dirty="0">
                        <a:effectLst/>
                      </a:endParaRPr>
                    </a:p>
                  </a:txBody>
                  <a:tcPr marL="68580" marR="68580" marT="0" marB="0" anchor="ctr"/>
                </a:tc>
                <a:extLst>
                  <a:ext uri="{0D108BD9-81ED-4DB2-BD59-A6C34878D82A}">
                    <a16:rowId xmlns:a16="http://schemas.microsoft.com/office/drawing/2014/main" val="1657419606"/>
                  </a:ext>
                </a:extLst>
              </a:tr>
              <a:tr h="327216">
                <a:tc>
                  <a:txBody>
                    <a:bodyPr/>
                    <a:lstStyle/>
                    <a:p>
                      <a:pPr>
                        <a:lnSpc>
                          <a:spcPct val="107000"/>
                        </a:lnSpc>
                        <a:spcAft>
                          <a:spcPts val="800"/>
                        </a:spcAft>
                      </a:pPr>
                      <a:r>
                        <a:rPr lang="en-CA" sz="1100" kern="100" dirty="0">
                          <a:effectLst/>
                        </a:rPr>
                        <a:t>Ongoing Platform Service &amp; Support</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i="0" kern="100" dirty="0">
                          <a:solidFill>
                            <a:srgbClr val="C00000"/>
                          </a:solidFill>
                          <a:effectLst/>
                        </a:rPr>
                        <a:t>1 - Highest</a:t>
                      </a:r>
                      <a:endParaRPr lang="en-CA" sz="1100" kern="100" dirty="0">
                        <a:effectLst/>
                      </a:endParaRPr>
                    </a:p>
                    <a:p>
                      <a:pPr>
                        <a:lnSpc>
                          <a:spcPct val="107000"/>
                        </a:lnSpc>
                        <a:spcAft>
                          <a:spcPts val="800"/>
                        </a:spcAft>
                      </a:pPr>
                      <a:r>
                        <a:rPr lang="en-CA" sz="1100" kern="100" dirty="0">
                          <a:effectLst/>
                        </a:rPr>
                        <a:t>Support</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171450" indent="-171450">
                        <a:lnSpc>
                          <a:spcPct val="107000"/>
                        </a:lnSpc>
                        <a:spcAft>
                          <a:spcPts val="800"/>
                        </a:spcAft>
                        <a:buFont typeface="Arial" panose="020B0604020202020204" pitchFamily="34" charset="0"/>
                        <a:buChar char="•"/>
                      </a:pPr>
                      <a:r>
                        <a:rPr lang="en-CA" sz="1100" kern="100" dirty="0">
                          <a:effectLst/>
                        </a:rPr>
                        <a:t>KTLO &amp; future enhancements</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25013510"/>
                  </a:ext>
                </a:extLst>
              </a:tr>
              <a:tr h="78420">
                <a:tc>
                  <a:txBody>
                    <a:bodyPr/>
                    <a:lstStyle/>
                    <a:p>
                      <a:pPr>
                        <a:lnSpc>
                          <a:spcPct val="107000"/>
                        </a:lnSpc>
                        <a:spcAft>
                          <a:spcPts val="800"/>
                        </a:spcAft>
                      </a:pPr>
                      <a:r>
                        <a:rPr lang="en-CA" sz="1100" kern="100">
                          <a:effectLst/>
                        </a:rPr>
                        <a:t>Productionalize Services/Components</a:t>
                      </a:r>
                      <a:endParaRPr lang="en-CA"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i="0" kern="100" dirty="0">
                          <a:solidFill>
                            <a:srgbClr val="C00000"/>
                          </a:solidFill>
                          <a:effectLst/>
                        </a:rPr>
                        <a:t>1 - Highest</a:t>
                      </a:r>
                      <a:endParaRPr lang="en-CA" sz="1100" kern="100" dirty="0">
                        <a:effectLst/>
                      </a:endParaRPr>
                    </a:p>
                    <a:p>
                      <a:pPr>
                        <a:lnSpc>
                          <a:spcPct val="107000"/>
                        </a:lnSpc>
                        <a:spcAft>
                          <a:spcPts val="800"/>
                        </a:spcAft>
                      </a:pPr>
                      <a:r>
                        <a:rPr lang="en-CA" sz="1100" kern="100" dirty="0">
                          <a:effectLst/>
                        </a:rPr>
                        <a:t>Operations</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171450" indent="-171450">
                        <a:lnSpc>
                          <a:spcPct val="107000"/>
                        </a:lnSpc>
                        <a:spcAft>
                          <a:spcPts val="800"/>
                        </a:spcAft>
                        <a:buFont typeface="Arial" panose="020B0604020202020204" pitchFamily="34" charset="0"/>
                        <a:buChar char="•"/>
                      </a:pPr>
                      <a:endParaRPr lang="en-CA" sz="1100" kern="100" dirty="0">
                        <a:effectLst/>
                      </a:endParaRPr>
                    </a:p>
                    <a:p>
                      <a:pPr marL="171450" indent="-171450">
                        <a:lnSpc>
                          <a:spcPct val="107000"/>
                        </a:lnSpc>
                        <a:spcAft>
                          <a:spcPts val="800"/>
                        </a:spcAft>
                        <a:buFont typeface="Arial" panose="020B0604020202020204" pitchFamily="34" charset="0"/>
                        <a:buChar char="•"/>
                      </a:pPr>
                      <a:r>
                        <a:rPr lang="en-CA" sz="1100" kern="100" dirty="0">
                          <a:effectLst/>
                        </a:rPr>
                        <a:t>T2P</a:t>
                      </a:r>
                    </a:p>
                    <a:p>
                      <a:pPr marL="171450" indent="-171450">
                        <a:lnSpc>
                          <a:spcPct val="107000"/>
                        </a:lnSpc>
                        <a:spcAft>
                          <a:spcPts val="800"/>
                        </a:spcAft>
                        <a:buFont typeface="Arial" panose="020B0604020202020204" pitchFamily="34" charset="0"/>
                        <a:buChar char="•"/>
                      </a:pPr>
                      <a:r>
                        <a:rPr lang="en-CA" sz="1100" kern="100" dirty="0">
                          <a:effectLst/>
                        </a:rPr>
                        <a:t>APM</a:t>
                      </a:r>
                    </a:p>
                    <a:p>
                      <a:pPr marL="171450" indent="-171450">
                        <a:lnSpc>
                          <a:spcPct val="107000"/>
                        </a:lnSpc>
                        <a:spcAft>
                          <a:spcPts val="800"/>
                        </a:spcAft>
                        <a:buFont typeface="Arial" panose="020B0604020202020204" pitchFamily="34" charset="0"/>
                        <a:buChar char="•"/>
                      </a:pPr>
                      <a:r>
                        <a:rPr lang="en-CA" sz="1100" kern="100" dirty="0">
                          <a:effectLst/>
                        </a:rPr>
                        <a:t>Documentation standards/templates</a:t>
                      </a:r>
                    </a:p>
                    <a:p>
                      <a:pPr marL="171450" indent="-171450">
                        <a:lnSpc>
                          <a:spcPct val="107000"/>
                        </a:lnSpc>
                        <a:spcAft>
                          <a:spcPts val="800"/>
                        </a:spcAft>
                        <a:buFont typeface="Arial" panose="020B0604020202020204" pitchFamily="34" charset="0"/>
                        <a:buChar char="•"/>
                      </a:pPr>
                      <a:r>
                        <a:rPr lang="en-CA" sz="1100" kern="100" dirty="0">
                          <a:effectLst/>
                        </a:rPr>
                        <a:t>Document best practices and training areas to ensure consistent and effective use of the Power Platform</a:t>
                      </a:r>
                    </a:p>
                    <a:p>
                      <a:pPr>
                        <a:lnSpc>
                          <a:spcPct val="107000"/>
                        </a:lnSpc>
                        <a:spcAft>
                          <a:spcPts val="800"/>
                        </a:spcAft>
                      </a:pP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7020075"/>
                  </a:ext>
                </a:extLst>
              </a:tr>
            </a:tbl>
          </a:graphicData>
        </a:graphic>
      </p:graphicFrame>
    </p:spTree>
    <p:extLst>
      <p:ext uri="{BB962C8B-B14F-4D97-AF65-F5344CB8AC3E}">
        <p14:creationId xmlns:p14="http://schemas.microsoft.com/office/powerpoint/2010/main" val="4198621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BE905-FDAC-5355-CA02-567D51133523}"/>
            </a:ext>
          </a:extLst>
        </p:cNvPr>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A49EA706-A21A-88DA-FF3A-8623737A920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2" name="think-cell data - do not delete" hidden="1">
                        <a:extLst>
                          <a:ext uri="{FF2B5EF4-FFF2-40B4-BE49-F238E27FC236}">
                            <a16:creationId xmlns:a16="http://schemas.microsoft.com/office/drawing/2014/main" id="{A49EA706-A21A-88DA-FF3A-8623737A920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Date Placeholder 4">
            <a:extLst>
              <a:ext uri="{FF2B5EF4-FFF2-40B4-BE49-F238E27FC236}">
                <a16:creationId xmlns:a16="http://schemas.microsoft.com/office/drawing/2014/main" id="{27F8EB8B-A361-3D80-089D-7BC90F0C1C9D}"/>
              </a:ext>
            </a:extLst>
          </p:cNvPr>
          <p:cNvSpPr>
            <a:spLocks noGrp="1"/>
          </p:cNvSpPr>
          <p:nvPr>
            <p:ph type="dt" sz="half" idx="14"/>
          </p:nvPr>
        </p:nvSpPr>
        <p:spPr/>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07C827D7-FDA3-42C2-9B0F-2CCD53D6A475}" type="datetime4">
              <a:rPr kumimoji="0" lang="en-US" sz="900" b="0" i="0" u="none" strike="noStrike" kern="1200" cap="none" spc="0" normalizeH="0" baseline="0" noProof="0" smtClean="0">
                <a:ln>
                  <a:noFill/>
                </a:ln>
                <a:solidFill>
                  <a:srgbClr val="515349">
                    <a:tint val="7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July 29, 2026</a:t>
            </a:fld>
            <a:endParaRPr kumimoji="0" lang="en-US" sz="900" b="0" i="0" u="none" strike="noStrike" kern="1200" cap="none" spc="0" normalizeH="0" baseline="0" noProof="0">
              <a:ln>
                <a:noFill/>
              </a:ln>
              <a:solidFill>
                <a:srgbClr val="515349">
                  <a:tint val="75000"/>
                </a:srgbClr>
              </a:solidFill>
              <a:effectLst/>
              <a:uLnTx/>
              <a:uFillTx/>
              <a:latin typeface="Arial" panose="020B0604020202020204"/>
              <a:ea typeface="+mn-ea"/>
              <a:cs typeface="+mn-cs"/>
            </a:endParaRPr>
          </a:p>
        </p:txBody>
      </p:sp>
      <p:sp>
        <p:nvSpPr>
          <p:cNvPr id="243" name="Slide Number Placeholder 5">
            <a:extLst>
              <a:ext uri="{FF2B5EF4-FFF2-40B4-BE49-F238E27FC236}">
                <a16:creationId xmlns:a16="http://schemas.microsoft.com/office/drawing/2014/main" id="{45851AA0-1AD7-0344-0438-7BA2B60366E5}"/>
              </a:ext>
            </a:extLst>
          </p:cNvPr>
          <p:cNvSpPr>
            <a:spLocks noGrp="1"/>
          </p:cNvSpPr>
          <p:nvPr>
            <p:ph type="sldNum" sz="quarter" idx="16"/>
          </p:nvPr>
        </p:nvSpPr>
        <p:spPr>
          <a:xfrm>
            <a:off x="87852" y="6286624"/>
            <a:ext cx="201619"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0D29B3-3718-49D1-8532-8733C4D9642A}" type="slidenum">
              <a:rPr kumimoji="0" lang="en-US" sz="900" b="0" i="0" u="none" strike="noStrike" kern="1200" cap="none" spc="0" normalizeH="0" baseline="0" noProof="0" smtClean="0">
                <a:ln>
                  <a:noFill/>
                </a:ln>
                <a:solidFill>
                  <a:srgbClr val="515349">
                    <a:tint val="75000"/>
                  </a:srgbClr>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a:ln>
                <a:noFill/>
              </a:ln>
              <a:solidFill>
                <a:srgbClr val="515349">
                  <a:tint val="75000"/>
                </a:srgbClr>
              </a:solidFill>
              <a:effectLst/>
              <a:uLnTx/>
              <a:uFillTx/>
              <a:latin typeface="Arial" panose="020B0604020202020204"/>
              <a:ea typeface="+mn-ea"/>
              <a:cs typeface="+mn-cs"/>
            </a:endParaRPr>
          </a:p>
        </p:txBody>
      </p:sp>
      <p:sp>
        <p:nvSpPr>
          <p:cNvPr id="202" name="Title 1">
            <a:extLst>
              <a:ext uri="{FF2B5EF4-FFF2-40B4-BE49-F238E27FC236}">
                <a16:creationId xmlns:a16="http://schemas.microsoft.com/office/drawing/2014/main" id="{A17A604D-3CB0-1FDE-6564-2CE37B839600}"/>
              </a:ext>
            </a:extLst>
          </p:cNvPr>
          <p:cNvSpPr>
            <a:spLocks noGrp="1"/>
          </p:cNvSpPr>
          <p:nvPr>
            <p:ph type="title"/>
          </p:nvPr>
        </p:nvSpPr>
        <p:spPr>
          <a:xfrm>
            <a:off x="8406386" y="309282"/>
            <a:ext cx="3400104" cy="605118"/>
          </a:xfrm>
        </p:spPr>
        <p:txBody>
          <a:bodyPr vert="horz">
            <a:normAutofit/>
          </a:bodyPr>
          <a:lstStyle/>
          <a:p>
            <a:pPr algn="r"/>
            <a:r>
              <a:rPr lang="en-CA" b="1"/>
              <a:t>Power Platform</a:t>
            </a:r>
            <a:endParaRPr lang="en-CA" b="1">
              <a:cs typeface="Arial" panose="020B0604020202020204"/>
            </a:endParaRPr>
          </a:p>
        </p:txBody>
      </p:sp>
      <p:pic>
        <p:nvPicPr>
          <p:cNvPr id="203" name="Graphic 202">
            <a:extLst>
              <a:ext uri="{FF2B5EF4-FFF2-40B4-BE49-F238E27FC236}">
                <a16:creationId xmlns:a16="http://schemas.microsoft.com/office/drawing/2014/main" id="{28BF866F-FDD2-1D50-AB9E-3E2BEB7706C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65969" y="280267"/>
            <a:ext cx="657409" cy="659560"/>
          </a:xfrm>
          <a:prstGeom prst="rect">
            <a:avLst/>
          </a:prstGeom>
        </p:spPr>
      </p:pic>
      <p:sp>
        <p:nvSpPr>
          <p:cNvPr id="204" name="Title 1">
            <a:extLst>
              <a:ext uri="{FF2B5EF4-FFF2-40B4-BE49-F238E27FC236}">
                <a16:creationId xmlns:a16="http://schemas.microsoft.com/office/drawing/2014/main" id="{113C1F23-3D7D-A5C3-20EE-FBFAB7FFDF6D}"/>
              </a:ext>
            </a:extLst>
          </p:cNvPr>
          <p:cNvSpPr txBox="1">
            <a:spLocks/>
          </p:cNvSpPr>
          <p:nvPr/>
        </p:nvSpPr>
        <p:spPr>
          <a:xfrm>
            <a:off x="393569" y="307488"/>
            <a:ext cx="7334226"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CA" b="1" dirty="0">
                <a:solidFill>
                  <a:srgbClr val="BA0C2F"/>
                </a:solidFill>
                <a:latin typeface="Arial" panose="020B0604020202020204"/>
              </a:rPr>
              <a:t>Priority Items (3 of 5)</a:t>
            </a:r>
            <a:endParaRPr kumimoji="0" lang="en-CA" sz="3200" b="1" i="0" u="none" strike="noStrike" kern="1200" cap="none" spc="0" normalizeH="0" baseline="0" noProof="0" dirty="0">
              <a:ln>
                <a:noFill/>
              </a:ln>
              <a:solidFill>
                <a:srgbClr val="BA0C2F"/>
              </a:solidFill>
              <a:effectLst/>
              <a:uLnTx/>
              <a:uFillTx/>
              <a:latin typeface="Arial" panose="020B0604020202020204"/>
              <a:ea typeface="+mj-ea"/>
              <a:cs typeface="Arial" panose="020B0604020202020204"/>
            </a:endParaRPr>
          </a:p>
        </p:txBody>
      </p:sp>
      <p:graphicFrame>
        <p:nvGraphicFramePr>
          <p:cNvPr id="7" name="Table 6">
            <a:extLst>
              <a:ext uri="{FF2B5EF4-FFF2-40B4-BE49-F238E27FC236}">
                <a16:creationId xmlns:a16="http://schemas.microsoft.com/office/drawing/2014/main" id="{447B403F-5148-0168-401C-B50FBFB4A2F0}"/>
              </a:ext>
            </a:extLst>
          </p:cNvPr>
          <p:cNvGraphicFramePr>
            <a:graphicFrameLocks noGrp="1"/>
          </p:cNvGraphicFramePr>
          <p:nvPr>
            <p:extLst>
              <p:ext uri="{D42A27DB-BD31-4B8C-83A1-F6EECF244321}">
                <p14:modId xmlns:p14="http://schemas.microsoft.com/office/powerpoint/2010/main" val="3770937565"/>
              </p:ext>
            </p:extLst>
          </p:nvPr>
        </p:nvGraphicFramePr>
        <p:xfrm>
          <a:off x="393570" y="1231900"/>
          <a:ext cx="11412920" cy="4349815"/>
        </p:xfrm>
        <a:graphic>
          <a:graphicData uri="http://schemas.openxmlformats.org/drawingml/2006/table">
            <a:tbl>
              <a:tblPr firstRow="1" firstCol="1" bandRow="1">
                <a:tableStyleId>{5C22544A-7EE6-4342-B048-85BDC9FD1C3A}</a:tableStyleId>
              </a:tblPr>
              <a:tblGrid>
                <a:gridCol w="3606930">
                  <a:extLst>
                    <a:ext uri="{9D8B030D-6E8A-4147-A177-3AD203B41FA5}">
                      <a16:colId xmlns:a16="http://schemas.microsoft.com/office/drawing/2014/main" val="699347023"/>
                    </a:ext>
                  </a:extLst>
                </a:gridCol>
                <a:gridCol w="1574800">
                  <a:extLst>
                    <a:ext uri="{9D8B030D-6E8A-4147-A177-3AD203B41FA5}">
                      <a16:colId xmlns:a16="http://schemas.microsoft.com/office/drawing/2014/main" val="3026545880"/>
                    </a:ext>
                  </a:extLst>
                </a:gridCol>
                <a:gridCol w="6231190">
                  <a:extLst>
                    <a:ext uri="{9D8B030D-6E8A-4147-A177-3AD203B41FA5}">
                      <a16:colId xmlns:a16="http://schemas.microsoft.com/office/drawing/2014/main" val="2688570249"/>
                    </a:ext>
                  </a:extLst>
                </a:gridCol>
              </a:tblGrid>
              <a:tr h="327216">
                <a:tc>
                  <a:txBody>
                    <a:bodyPr/>
                    <a:lstStyle/>
                    <a:p>
                      <a:pPr>
                        <a:lnSpc>
                          <a:spcPct val="107000"/>
                        </a:lnSpc>
                        <a:spcAft>
                          <a:spcPts val="800"/>
                        </a:spcAft>
                      </a:pPr>
                      <a:r>
                        <a:rPr lang="en-CA" sz="1100" kern="100" dirty="0">
                          <a:effectLst/>
                        </a:rPr>
                        <a:t>Activity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kern="100" dirty="0">
                          <a:effectLst/>
                        </a:rPr>
                        <a:t>Priority/Category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kern="100" dirty="0">
                          <a:effectLst/>
                        </a:rPr>
                        <a:t>Description</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21721335"/>
                  </a:ext>
                </a:extLst>
              </a:tr>
              <a:tr h="327216">
                <a:tc>
                  <a:txBody>
                    <a:bodyPr/>
                    <a:lstStyle/>
                    <a:p>
                      <a:pPr>
                        <a:lnSpc>
                          <a:spcPct val="107000"/>
                        </a:lnSpc>
                        <a:spcAft>
                          <a:spcPts val="800"/>
                        </a:spcAft>
                      </a:pPr>
                      <a:r>
                        <a:rPr lang="en-CA" sz="1100" kern="100" dirty="0">
                          <a:effectLst/>
                        </a:rPr>
                        <a:t>Enable Tenant Isolation</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i="0" kern="100" dirty="0">
                          <a:solidFill>
                            <a:srgbClr val="C00000"/>
                          </a:solidFill>
                          <a:effectLst/>
                        </a:rPr>
                        <a:t>2 - High</a:t>
                      </a:r>
                      <a:endParaRPr lang="en-CA" sz="1100" kern="100" dirty="0">
                        <a:effectLst/>
                      </a:endParaRPr>
                    </a:p>
                    <a:p>
                      <a:pPr>
                        <a:lnSpc>
                          <a:spcPct val="107000"/>
                        </a:lnSpc>
                        <a:spcAft>
                          <a:spcPts val="800"/>
                        </a:spcAft>
                      </a:pPr>
                      <a:r>
                        <a:rPr lang="en-CA" sz="1100" kern="100" dirty="0">
                          <a:effectLst/>
                        </a:rPr>
                        <a:t>Access Security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171450" indent="-171450">
                        <a:lnSpc>
                          <a:spcPct val="107000"/>
                        </a:lnSpc>
                        <a:spcAft>
                          <a:spcPts val="800"/>
                        </a:spcAft>
                        <a:buFont typeface="Arial" panose="020B0604020202020204" pitchFamily="34" charset="0"/>
                        <a:buChar char="•"/>
                      </a:pP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p>
                      <a:pPr marL="171450" indent="-171450">
                        <a:lnSpc>
                          <a:spcPct val="107000"/>
                        </a:lnSpc>
                        <a:spcAft>
                          <a:spcPts val="800"/>
                        </a:spcAft>
                        <a:buFont typeface="Arial" panose="020B0604020202020204" pitchFamily="34" charset="0"/>
                        <a:buChar char="•"/>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Turning on tenant isolation for all environments in Power Platform helps ensure that data within your tenant is protected from unauthorized access by users from other tenants.</a:t>
                      </a:r>
                    </a:p>
                    <a:p>
                      <a:pPr marL="171450" indent="-171450">
                        <a:lnSpc>
                          <a:spcPct val="107000"/>
                        </a:lnSpc>
                        <a:spcAft>
                          <a:spcPts val="800"/>
                        </a:spcAft>
                        <a:buFont typeface="Arial" panose="020B0604020202020204" pitchFamily="34" charset="0"/>
                        <a:buChar char="•"/>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Enable Tenant Isolation through admin centre, under the Policies section. Configure the allowlist to specify which external tenants are permitted to establish connections with the Canada Life tenant.</a:t>
                      </a:r>
                    </a:p>
                    <a:p>
                      <a:pPr marL="171450" indent="-171450">
                        <a:lnSpc>
                          <a:spcPct val="107000"/>
                        </a:lnSpc>
                        <a:spcAft>
                          <a:spcPts val="800"/>
                        </a:spcAft>
                        <a:buFont typeface="Arial" panose="020B0604020202020204" pitchFamily="34" charset="0"/>
                        <a:buChar char="•"/>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Specify the tenants allowed for inbound, outbound, or both types of connections. Use the special pattern “*” to allow all tenants in a specific direction when tenant isolation is turned on. </a:t>
                      </a:r>
                    </a:p>
                    <a:p>
                      <a:pPr marL="171450" indent="-171450">
                        <a:lnSpc>
                          <a:spcPct val="107000"/>
                        </a:lnSpc>
                        <a:spcAft>
                          <a:spcPts val="800"/>
                        </a:spcAft>
                        <a:buFont typeface="Arial" panose="020B0604020202020204" pitchFamily="34" charset="0"/>
                        <a:buChar char="•"/>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Monitor and Adjust: Regularly monitor the tenant isolation settings and adjust the allowlist as necessary to ensure that only trusted tenants have access.</a:t>
                      </a:r>
                    </a:p>
                    <a:p>
                      <a:pPr marL="171450" indent="-171450">
                        <a:lnSpc>
                          <a:spcPct val="107000"/>
                        </a:lnSpc>
                        <a:spcAft>
                          <a:spcPts val="800"/>
                        </a:spcAft>
                        <a:buFont typeface="Arial" panose="020B0604020202020204" pitchFamily="34" charset="0"/>
                        <a:buChar char="•"/>
                      </a:pP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00164307"/>
                  </a:ext>
                </a:extLst>
              </a:tr>
              <a:tr h="591237">
                <a:tc>
                  <a:txBody>
                    <a:bodyPr/>
                    <a:lstStyle/>
                    <a:p>
                      <a:pPr>
                        <a:lnSpc>
                          <a:spcPct val="107000"/>
                        </a:lnSpc>
                        <a:spcAft>
                          <a:spcPts val="800"/>
                        </a:spcAft>
                      </a:pPr>
                      <a:r>
                        <a:rPr lang="en-CA" sz="1100" kern="100">
                          <a:effectLst/>
                        </a:rPr>
                        <a:t>Establish Governance Model for Building Solutions</a:t>
                      </a:r>
                      <a:endParaRPr lang="en-CA"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i="0" kern="100" dirty="0">
                          <a:solidFill>
                            <a:srgbClr val="C00000"/>
                          </a:solidFill>
                          <a:effectLst/>
                        </a:rPr>
                        <a:t>2 - High</a:t>
                      </a:r>
                      <a:endParaRPr lang="en-CA" sz="1100" kern="100" dirty="0">
                        <a:effectLst/>
                      </a:endParaRPr>
                    </a:p>
                    <a:p>
                      <a:pPr>
                        <a:lnSpc>
                          <a:spcPct val="107000"/>
                        </a:lnSpc>
                        <a:spcAft>
                          <a:spcPts val="800"/>
                        </a:spcAft>
                      </a:pPr>
                      <a:r>
                        <a:rPr lang="en-CA" sz="1100" kern="100" dirty="0">
                          <a:effectLst/>
                        </a:rPr>
                        <a:t>Governance Strategy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171450" indent="-171450">
                        <a:lnSpc>
                          <a:spcPct val="107000"/>
                        </a:lnSpc>
                        <a:spcAft>
                          <a:spcPts val="800"/>
                        </a:spcAft>
                        <a:buFont typeface="Arial" panose="020B0604020202020204" pitchFamily="34" charset="0"/>
                        <a:buChar char="•"/>
                      </a:pPr>
                      <a:endParaRPr lang="en-CA" sz="1100" kern="100" dirty="0">
                        <a:effectLst/>
                      </a:endParaRPr>
                    </a:p>
                    <a:p>
                      <a:pPr marL="171450" indent="-171450">
                        <a:lnSpc>
                          <a:spcPct val="107000"/>
                        </a:lnSpc>
                        <a:spcAft>
                          <a:spcPts val="800"/>
                        </a:spcAft>
                        <a:buFont typeface="Arial" panose="020B0604020202020204" pitchFamily="34" charset="0"/>
                        <a:buChar char="•"/>
                      </a:pPr>
                      <a:r>
                        <a:rPr lang="en-CA" sz="1100" kern="100" dirty="0">
                          <a:effectLst/>
                        </a:rPr>
                        <a:t>Create a simple flow that sends an automated message via Teams and email every time a user creates either an app or a flow and requests a business justification for it, with the condition that, if no answer is received within a predefined time period, the development in question should be deactivated.</a:t>
                      </a:r>
                    </a:p>
                    <a:p>
                      <a:pPr marL="171450" indent="-171450">
                        <a:lnSpc>
                          <a:spcPct val="107000"/>
                        </a:lnSpc>
                        <a:spcAft>
                          <a:spcPts val="800"/>
                        </a:spcAft>
                        <a:buFont typeface="Arial" panose="020B0604020202020204" pitchFamily="34" charset="0"/>
                        <a:buChar char="•"/>
                      </a:pPr>
                      <a:r>
                        <a:rPr lang="en-CA" sz="1100" kern="100" dirty="0">
                          <a:effectLst/>
                        </a:rPr>
                        <a:t>Data should be collected on the type of data that is handled by the app/flow, business purpose of the development, intended audience, data sources, etc.</a:t>
                      </a:r>
                    </a:p>
                    <a:p>
                      <a:pPr marL="171450" indent="-171450">
                        <a:lnSpc>
                          <a:spcPct val="107000"/>
                        </a:lnSpc>
                        <a:spcAft>
                          <a:spcPts val="800"/>
                        </a:spcAft>
                        <a:buFont typeface="Arial" panose="020B0604020202020204" pitchFamily="34" charset="0"/>
                        <a:buChar char="•"/>
                      </a:pPr>
                      <a:endParaRPr lang="en-CA" sz="1100" kern="100" dirty="0">
                        <a:effectLst/>
                      </a:endParaRPr>
                    </a:p>
                  </a:txBody>
                  <a:tcPr marL="68580" marR="68580" marT="0" marB="0" anchor="ctr"/>
                </a:tc>
                <a:extLst>
                  <a:ext uri="{0D108BD9-81ED-4DB2-BD59-A6C34878D82A}">
                    <a16:rowId xmlns:a16="http://schemas.microsoft.com/office/drawing/2014/main" val="2402762503"/>
                  </a:ext>
                </a:extLst>
              </a:tr>
            </a:tbl>
          </a:graphicData>
        </a:graphic>
      </p:graphicFrame>
    </p:spTree>
    <p:extLst>
      <p:ext uri="{BB962C8B-B14F-4D97-AF65-F5344CB8AC3E}">
        <p14:creationId xmlns:p14="http://schemas.microsoft.com/office/powerpoint/2010/main" val="1724753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4F33C-CD74-E929-CCF6-450BE75D31EA}"/>
            </a:ext>
          </a:extLst>
        </p:cNvPr>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AB4AE236-8A2A-0005-ED90-1868851DC52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2" name="think-cell data - do not delete" hidden="1">
                        <a:extLst>
                          <a:ext uri="{FF2B5EF4-FFF2-40B4-BE49-F238E27FC236}">
                            <a16:creationId xmlns:a16="http://schemas.microsoft.com/office/drawing/2014/main" id="{AB4AE236-8A2A-0005-ED90-1868851DC5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Date Placeholder 4">
            <a:extLst>
              <a:ext uri="{FF2B5EF4-FFF2-40B4-BE49-F238E27FC236}">
                <a16:creationId xmlns:a16="http://schemas.microsoft.com/office/drawing/2014/main" id="{A81A7ACD-FB0F-359E-F427-59D3DC8A9F61}"/>
              </a:ext>
            </a:extLst>
          </p:cNvPr>
          <p:cNvSpPr>
            <a:spLocks noGrp="1"/>
          </p:cNvSpPr>
          <p:nvPr>
            <p:ph type="dt" sz="half" idx="14"/>
          </p:nvPr>
        </p:nvSpPr>
        <p:spPr/>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07C827D7-FDA3-42C2-9B0F-2CCD53D6A475}" type="datetime4">
              <a:rPr kumimoji="0" lang="en-US" sz="900" b="0" i="0" u="none" strike="noStrike" kern="1200" cap="none" spc="0" normalizeH="0" baseline="0" noProof="0" smtClean="0">
                <a:ln>
                  <a:noFill/>
                </a:ln>
                <a:solidFill>
                  <a:srgbClr val="515349">
                    <a:tint val="7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July 29, 2026</a:t>
            </a:fld>
            <a:endParaRPr kumimoji="0" lang="en-US" sz="900" b="0" i="0" u="none" strike="noStrike" kern="1200" cap="none" spc="0" normalizeH="0" baseline="0" noProof="0">
              <a:ln>
                <a:noFill/>
              </a:ln>
              <a:solidFill>
                <a:srgbClr val="515349">
                  <a:tint val="75000"/>
                </a:srgbClr>
              </a:solidFill>
              <a:effectLst/>
              <a:uLnTx/>
              <a:uFillTx/>
              <a:latin typeface="Arial" panose="020B0604020202020204"/>
              <a:ea typeface="+mn-ea"/>
              <a:cs typeface="+mn-cs"/>
            </a:endParaRPr>
          </a:p>
        </p:txBody>
      </p:sp>
      <p:sp>
        <p:nvSpPr>
          <p:cNvPr id="243" name="Slide Number Placeholder 5">
            <a:extLst>
              <a:ext uri="{FF2B5EF4-FFF2-40B4-BE49-F238E27FC236}">
                <a16:creationId xmlns:a16="http://schemas.microsoft.com/office/drawing/2014/main" id="{343F5BF7-3FE4-80C0-ECD3-CE6E2B02AFC1}"/>
              </a:ext>
            </a:extLst>
          </p:cNvPr>
          <p:cNvSpPr>
            <a:spLocks noGrp="1"/>
          </p:cNvSpPr>
          <p:nvPr>
            <p:ph type="sldNum" sz="quarter" idx="16"/>
          </p:nvPr>
        </p:nvSpPr>
        <p:spPr>
          <a:xfrm>
            <a:off x="87852" y="6286624"/>
            <a:ext cx="201619"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0D29B3-3718-49D1-8532-8733C4D9642A}" type="slidenum">
              <a:rPr kumimoji="0" lang="en-US" sz="900" b="0" i="0" u="none" strike="noStrike" kern="1200" cap="none" spc="0" normalizeH="0" baseline="0" noProof="0" smtClean="0">
                <a:ln>
                  <a:noFill/>
                </a:ln>
                <a:solidFill>
                  <a:srgbClr val="515349">
                    <a:tint val="75000"/>
                  </a:srgbClr>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a:ln>
                <a:noFill/>
              </a:ln>
              <a:solidFill>
                <a:srgbClr val="515349">
                  <a:tint val="75000"/>
                </a:srgbClr>
              </a:solidFill>
              <a:effectLst/>
              <a:uLnTx/>
              <a:uFillTx/>
              <a:latin typeface="Arial" panose="020B0604020202020204"/>
              <a:ea typeface="+mn-ea"/>
              <a:cs typeface="+mn-cs"/>
            </a:endParaRPr>
          </a:p>
        </p:txBody>
      </p:sp>
      <p:sp>
        <p:nvSpPr>
          <p:cNvPr id="202" name="Title 1">
            <a:extLst>
              <a:ext uri="{FF2B5EF4-FFF2-40B4-BE49-F238E27FC236}">
                <a16:creationId xmlns:a16="http://schemas.microsoft.com/office/drawing/2014/main" id="{A5B1D8A2-A8B8-15E8-E9F8-1ACC1DA77AC2}"/>
              </a:ext>
            </a:extLst>
          </p:cNvPr>
          <p:cNvSpPr>
            <a:spLocks noGrp="1"/>
          </p:cNvSpPr>
          <p:nvPr>
            <p:ph type="title"/>
          </p:nvPr>
        </p:nvSpPr>
        <p:spPr>
          <a:xfrm>
            <a:off x="8406386" y="309282"/>
            <a:ext cx="3400104" cy="605118"/>
          </a:xfrm>
        </p:spPr>
        <p:txBody>
          <a:bodyPr vert="horz">
            <a:normAutofit/>
          </a:bodyPr>
          <a:lstStyle/>
          <a:p>
            <a:pPr algn="r"/>
            <a:r>
              <a:rPr lang="en-CA" b="1"/>
              <a:t>Power Platform</a:t>
            </a:r>
            <a:endParaRPr lang="en-CA" b="1">
              <a:cs typeface="Arial" panose="020B0604020202020204"/>
            </a:endParaRPr>
          </a:p>
        </p:txBody>
      </p:sp>
      <p:pic>
        <p:nvPicPr>
          <p:cNvPr id="203" name="Graphic 202">
            <a:extLst>
              <a:ext uri="{FF2B5EF4-FFF2-40B4-BE49-F238E27FC236}">
                <a16:creationId xmlns:a16="http://schemas.microsoft.com/office/drawing/2014/main" id="{99D6D325-9355-5CF5-A988-944A3451D38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65969" y="280267"/>
            <a:ext cx="657409" cy="659560"/>
          </a:xfrm>
          <a:prstGeom prst="rect">
            <a:avLst/>
          </a:prstGeom>
        </p:spPr>
      </p:pic>
      <p:sp>
        <p:nvSpPr>
          <p:cNvPr id="204" name="Title 1">
            <a:extLst>
              <a:ext uri="{FF2B5EF4-FFF2-40B4-BE49-F238E27FC236}">
                <a16:creationId xmlns:a16="http://schemas.microsoft.com/office/drawing/2014/main" id="{23DC3292-A90B-4869-4D6F-9A334A947740}"/>
              </a:ext>
            </a:extLst>
          </p:cNvPr>
          <p:cNvSpPr txBox="1">
            <a:spLocks/>
          </p:cNvSpPr>
          <p:nvPr/>
        </p:nvSpPr>
        <p:spPr>
          <a:xfrm>
            <a:off x="393569" y="307488"/>
            <a:ext cx="7334226"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CA" b="1" dirty="0">
                <a:solidFill>
                  <a:srgbClr val="BA0C2F"/>
                </a:solidFill>
                <a:latin typeface="Arial" panose="020B0604020202020204"/>
              </a:rPr>
              <a:t>Priority Items (4 of 5)</a:t>
            </a:r>
            <a:endParaRPr kumimoji="0" lang="en-CA" sz="3200" b="1" i="0" u="none" strike="noStrike" kern="1200" cap="none" spc="0" normalizeH="0" baseline="0" noProof="0" dirty="0">
              <a:ln>
                <a:noFill/>
              </a:ln>
              <a:solidFill>
                <a:srgbClr val="BA0C2F"/>
              </a:solidFill>
              <a:effectLst/>
              <a:uLnTx/>
              <a:uFillTx/>
              <a:latin typeface="Arial" panose="020B0604020202020204"/>
              <a:ea typeface="+mj-ea"/>
              <a:cs typeface="Arial" panose="020B0604020202020204"/>
            </a:endParaRPr>
          </a:p>
        </p:txBody>
      </p:sp>
      <p:graphicFrame>
        <p:nvGraphicFramePr>
          <p:cNvPr id="7" name="Table 6">
            <a:extLst>
              <a:ext uri="{FF2B5EF4-FFF2-40B4-BE49-F238E27FC236}">
                <a16:creationId xmlns:a16="http://schemas.microsoft.com/office/drawing/2014/main" id="{0489DBEE-92A8-D929-D2A8-CF2A9BDBE308}"/>
              </a:ext>
            </a:extLst>
          </p:cNvPr>
          <p:cNvGraphicFramePr>
            <a:graphicFrameLocks noGrp="1"/>
          </p:cNvGraphicFramePr>
          <p:nvPr>
            <p:extLst>
              <p:ext uri="{D42A27DB-BD31-4B8C-83A1-F6EECF244321}">
                <p14:modId xmlns:p14="http://schemas.microsoft.com/office/powerpoint/2010/main" val="1386784901"/>
              </p:ext>
            </p:extLst>
          </p:nvPr>
        </p:nvGraphicFramePr>
        <p:xfrm>
          <a:off x="393570" y="1231900"/>
          <a:ext cx="11412920" cy="4343656"/>
        </p:xfrm>
        <a:graphic>
          <a:graphicData uri="http://schemas.openxmlformats.org/drawingml/2006/table">
            <a:tbl>
              <a:tblPr firstRow="1" firstCol="1" bandRow="1">
                <a:tableStyleId>{5C22544A-7EE6-4342-B048-85BDC9FD1C3A}</a:tableStyleId>
              </a:tblPr>
              <a:tblGrid>
                <a:gridCol w="3606930">
                  <a:extLst>
                    <a:ext uri="{9D8B030D-6E8A-4147-A177-3AD203B41FA5}">
                      <a16:colId xmlns:a16="http://schemas.microsoft.com/office/drawing/2014/main" val="699347023"/>
                    </a:ext>
                  </a:extLst>
                </a:gridCol>
                <a:gridCol w="1574800">
                  <a:extLst>
                    <a:ext uri="{9D8B030D-6E8A-4147-A177-3AD203B41FA5}">
                      <a16:colId xmlns:a16="http://schemas.microsoft.com/office/drawing/2014/main" val="3026545880"/>
                    </a:ext>
                  </a:extLst>
                </a:gridCol>
                <a:gridCol w="6231190">
                  <a:extLst>
                    <a:ext uri="{9D8B030D-6E8A-4147-A177-3AD203B41FA5}">
                      <a16:colId xmlns:a16="http://schemas.microsoft.com/office/drawing/2014/main" val="2688570249"/>
                    </a:ext>
                  </a:extLst>
                </a:gridCol>
              </a:tblGrid>
              <a:tr h="327216">
                <a:tc>
                  <a:txBody>
                    <a:bodyPr/>
                    <a:lstStyle/>
                    <a:p>
                      <a:pPr>
                        <a:lnSpc>
                          <a:spcPct val="107000"/>
                        </a:lnSpc>
                        <a:spcAft>
                          <a:spcPts val="800"/>
                        </a:spcAft>
                      </a:pPr>
                      <a:r>
                        <a:rPr lang="en-CA" sz="1100" kern="100" dirty="0">
                          <a:effectLst/>
                        </a:rPr>
                        <a:t>Activity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kern="100" dirty="0">
                          <a:effectLst/>
                        </a:rPr>
                        <a:t>Priority/Category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kern="100" dirty="0">
                          <a:effectLst/>
                        </a:rPr>
                        <a:t>Description</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21721335"/>
                  </a:ext>
                </a:extLst>
              </a:tr>
              <a:tr h="327216">
                <a:tc>
                  <a:txBody>
                    <a:bodyPr/>
                    <a:lstStyle/>
                    <a:p>
                      <a:pPr>
                        <a:lnSpc>
                          <a:spcPct val="107000"/>
                        </a:lnSpc>
                        <a:spcAft>
                          <a:spcPts val="800"/>
                        </a:spcAft>
                      </a:pPr>
                      <a:r>
                        <a:rPr lang="en-CA" sz="1100" kern="100">
                          <a:effectLst/>
                        </a:rPr>
                        <a:t>Configure Conditional Access Policies</a:t>
                      </a:r>
                      <a:endParaRPr lang="en-CA"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i="0" kern="100" dirty="0">
                          <a:solidFill>
                            <a:srgbClr val="C00000"/>
                          </a:solidFill>
                          <a:effectLst/>
                        </a:rPr>
                        <a:t>2 - High</a:t>
                      </a:r>
                      <a:endParaRPr lang="en-CA" sz="1100" kern="100" dirty="0">
                        <a:effectLst/>
                      </a:endParaRPr>
                    </a:p>
                    <a:p>
                      <a:pPr>
                        <a:lnSpc>
                          <a:spcPct val="107000"/>
                        </a:lnSpc>
                        <a:spcAft>
                          <a:spcPts val="800"/>
                        </a:spcAft>
                      </a:pPr>
                      <a:r>
                        <a:rPr lang="en-CA" sz="1100" kern="100" dirty="0">
                          <a:effectLst/>
                        </a:rPr>
                        <a:t>Access Security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171450" indent="-171450">
                        <a:lnSpc>
                          <a:spcPct val="107000"/>
                        </a:lnSpc>
                        <a:spcAft>
                          <a:spcPts val="800"/>
                        </a:spcAft>
                        <a:buFont typeface="Arial" panose="020B0604020202020204" pitchFamily="34" charset="0"/>
                        <a:buChar char="•"/>
                      </a:pPr>
                      <a:endParaRPr lang="en-CA" sz="1100" kern="100" dirty="0">
                        <a:effectLst/>
                      </a:endParaRPr>
                    </a:p>
                    <a:p>
                      <a:pPr marL="171450" indent="-171450">
                        <a:lnSpc>
                          <a:spcPct val="107000"/>
                        </a:lnSpc>
                        <a:spcAft>
                          <a:spcPts val="800"/>
                        </a:spcAft>
                        <a:buFont typeface="Arial" panose="020B0604020202020204" pitchFamily="34" charset="0"/>
                        <a:buChar char="•"/>
                      </a:pPr>
                      <a:r>
                        <a:rPr lang="en-CA" sz="1100" kern="100" dirty="0">
                          <a:effectLst/>
                        </a:rPr>
                        <a:t>Conditional Access Policies were formally configured for Microsoft 365, but a deep-dive on the Power Platform side (ex. including Dataverse) was never done. A complete analysis and testing of CA Policies needs to be performed, including trusted/untrusted devices, different Operating Systems, etc.</a:t>
                      </a:r>
                    </a:p>
                    <a:p>
                      <a:pPr marL="171450" indent="-171450">
                        <a:lnSpc>
                          <a:spcPct val="107000"/>
                        </a:lnSpc>
                        <a:spcAft>
                          <a:spcPts val="800"/>
                        </a:spcAft>
                        <a:buFont typeface="Arial" panose="020B0604020202020204" pitchFamily="34" charset="0"/>
                        <a:buChar char="•"/>
                      </a:pP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26741335"/>
                  </a:ext>
                </a:extLst>
              </a:tr>
              <a:tr h="327216">
                <a:tc>
                  <a:txBody>
                    <a:bodyPr/>
                    <a:lstStyle/>
                    <a:p>
                      <a:pPr>
                        <a:lnSpc>
                          <a:spcPct val="107000"/>
                        </a:lnSpc>
                        <a:spcAft>
                          <a:spcPts val="800"/>
                        </a:spcAft>
                      </a:pPr>
                      <a:r>
                        <a:rPr lang="en-CA" sz="1100" kern="100">
                          <a:effectLst/>
                        </a:rPr>
                        <a:t>Enable IP Firewall</a:t>
                      </a:r>
                      <a:endParaRPr lang="en-CA"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i="0" kern="100" dirty="0">
                          <a:solidFill>
                            <a:srgbClr val="C00000"/>
                          </a:solidFill>
                          <a:effectLst/>
                        </a:rPr>
                        <a:t>2 - High</a:t>
                      </a:r>
                      <a:endParaRPr lang="en-CA" sz="1100" kern="100" dirty="0">
                        <a:effectLst/>
                      </a:endParaRPr>
                    </a:p>
                    <a:p>
                      <a:pPr>
                        <a:lnSpc>
                          <a:spcPct val="107000"/>
                        </a:lnSpc>
                        <a:spcAft>
                          <a:spcPts val="800"/>
                        </a:spcAft>
                      </a:pPr>
                      <a:r>
                        <a:rPr lang="en-CA" sz="1100" kern="100" dirty="0">
                          <a:effectLst/>
                        </a:rPr>
                        <a:t>Access Security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171450" indent="-171450">
                        <a:lnSpc>
                          <a:spcPct val="107000"/>
                        </a:lnSpc>
                        <a:spcAft>
                          <a:spcPts val="800"/>
                        </a:spcAft>
                        <a:buFont typeface="Arial" panose="020B0604020202020204" pitchFamily="34" charset="0"/>
                        <a:buChar char="•"/>
                      </a:pPr>
                      <a:endParaRPr lang="en-CA" sz="1100" kern="100" dirty="0">
                        <a:effectLst/>
                      </a:endParaRPr>
                    </a:p>
                    <a:p>
                      <a:pPr marL="171450" indent="-171450">
                        <a:lnSpc>
                          <a:spcPct val="107000"/>
                        </a:lnSpc>
                        <a:spcAft>
                          <a:spcPts val="800"/>
                        </a:spcAft>
                        <a:buFont typeface="Arial" panose="020B0604020202020204" pitchFamily="34" charset="0"/>
                        <a:buChar char="•"/>
                      </a:pPr>
                      <a:r>
                        <a:rPr lang="en-CA" sz="1100" kern="100" dirty="0">
                          <a:effectLst/>
                        </a:rPr>
                        <a:t>Key benefits are mitigating insider threats like data exfiltration (i.e. a malicious user who tries to download data from Dataverse using a client tool like Excel).</a:t>
                      </a:r>
                    </a:p>
                    <a:p>
                      <a:pPr marL="171450" indent="-171450">
                        <a:lnSpc>
                          <a:spcPct val="107000"/>
                        </a:lnSpc>
                        <a:spcAft>
                          <a:spcPts val="800"/>
                        </a:spcAft>
                        <a:buFont typeface="Arial" panose="020B0604020202020204" pitchFamily="34" charset="0"/>
                        <a:buChar char="•"/>
                      </a:pPr>
                      <a:r>
                        <a:rPr lang="en-CA" sz="1100" kern="100" dirty="0">
                          <a:effectLst/>
                        </a:rPr>
                        <a:t>Enable IP Firewall though the settings for a selected environment. Specify the allowed IP ranges. For multiple IP ranges, separate them with a comma.</a:t>
                      </a:r>
                    </a:p>
                    <a:p>
                      <a:pPr marL="171450" indent="-171450">
                        <a:lnSpc>
                          <a:spcPct val="107000"/>
                        </a:lnSpc>
                        <a:spcAft>
                          <a:spcPts val="800"/>
                        </a:spcAft>
                        <a:buFont typeface="Arial" panose="020B0604020202020204" pitchFamily="34" charset="0"/>
                        <a:buChar char="•"/>
                      </a:pPr>
                      <a:r>
                        <a:rPr lang="en-CA" sz="1100" kern="100" dirty="0">
                          <a:effectLst/>
                        </a:rPr>
                        <a:t>Monitor and Adjust: Regularly monitor the IP firewall settings and adjust the allowed IP ranges as needed to ensure that only trusted IP addresses have access.</a:t>
                      </a:r>
                    </a:p>
                    <a:p>
                      <a:pPr marL="171450" indent="-171450">
                        <a:lnSpc>
                          <a:spcPct val="107000"/>
                        </a:lnSpc>
                        <a:spcAft>
                          <a:spcPts val="800"/>
                        </a:spcAft>
                        <a:buFont typeface="Arial" panose="020B0604020202020204" pitchFamily="34" charset="0"/>
                        <a:buChar char="•"/>
                      </a:pPr>
                      <a:endParaRPr lang="en-CA" sz="1100" kern="100" dirty="0">
                        <a:effectLst/>
                      </a:endParaRPr>
                    </a:p>
                  </a:txBody>
                  <a:tcPr marL="68580" marR="68580" marT="0" marB="0" anchor="ctr"/>
                </a:tc>
                <a:extLst>
                  <a:ext uri="{0D108BD9-81ED-4DB2-BD59-A6C34878D82A}">
                    <a16:rowId xmlns:a16="http://schemas.microsoft.com/office/drawing/2014/main" val="3244642969"/>
                  </a:ext>
                </a:extLst>
              </a:tr>
              <a:tr h="327216">
                <a:tc>
                  <a:txBody>
                    <a:bodyPr/>
                    <a:lstStyle/>
                    <a:p>
                      <a:pPr>
                        <a:lnSpc>
                          <a:spcPct val="107000"/>
                        </a:lnSpc>
                        <a:spcAft>
                          <a:spcPts val="800"/>
                        </a:spcAft>
                      </a:pPr>
                      <a:r>
                        <a:rPr lang="en-CA" sz="1100" kern="100">
                          <a:effectLst/>
                        </a:rPr>
                        <a:t>Licencing Chargeback Model</a:t>
                      </a:r>
                      <a:endParaRPr lang="en-CA"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i="0" kern="100" dirty="0">
                          <a:solidFill>
                            <a:srgbClr val="C00000"/>
                          </a:solidFill>
                          <a:effectLst/>
                        </a:rPr>
                        <a:t>2 - High</a:t>
                      </a:r>
                      <a:endParaRPr lang="en-CA" sz="1100" kern="100" dirty="0">
                        <a:effectLst/>
                      </a:endParaRPr>
                    </a:p>
                    <a:p>
                      <a:pPr>
                        <a:lnSpc>
                          <a:spcPct val="107000"/>
                        </a:lnSpc>
                        <a:spcAft>
                          <a:spcPts val="800"/>
                        </a:spcAft>
                      </a:pPr>
                      <a:r>
                        <a:rPr lang="en-CA" sz="1100" kern="100" dirty="0">
                          <a:effectLst/>
                        </a:rPr>
                        <a:t>Financial Management</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171450" indent="-171450">
                        <a:lnSpc>
                          <a:spcPct val="107000"/>
                        </a:lnSpc>
                        <a:spcAft>
                          <a:spcPts val="800"/>
                        </a:spcAft>
                        <a:buFont typeface="Arial" panose="020B0604020202020204" pitchFamily="34" charset="0"/>
                        <a:buChar char="•"/>
                      </a:pP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p>
                      <a:pPr marL="171450" indent="-171450">
                        <a:lnSpc>
                          <a:spcPct val="107000"/>
                        </a:lnSpc>
                        <a:spcAft>
                          <a:spcPts val="800"/>
                        </a:spcAft>
                        <a:buFont typeface="Arial" panose="020B0604020202020204" pitchFamily="34" charset="0"/>
                        <a:buChar char="•"/>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To ensure the viability of the platform in future, we need to establish a clear, enforceable chargeback model to cover licencing and support costs.</a:t>
                      </a:r>
                    </a:p>
                    <a:p>
                      <a:pPr marL="171450" indent="-171450">
                        <a:lnSpc>
                          <a:spcPct val="107000"/>
                        </a:lnSpc>
                        <a:spcAft>
                          <a:spcPts val="800"/>
                        </a:spcAft>
                        <a:buFont typeface="Arial" panose="020B0604020202020204" pitchFamily="34" charset="0"/>
                        <a:buChar char="•"/>
                      </a:pP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78882421"/>
                  </a:ext>
                </a:extLst>
              </a:tr>
            </a:tbl>
          </a:graphicData>
        </a:graphic>
      </p:graphicFrame>
    </p:spTree>
    <p:extLst>
      <p:ext uri="{BB962C8B-B14F-4D97-AF65-F5344CB8AC3E}">
        <p14:creationId xmlns:p14="http://schemas.microsoft.com/office/powerpoint/2010/main" val="3797911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94C39-B325-E078-E464-CE43BB4F8A8B}"/>
            </a:ext>
          </a:extLst>
        </p:cNvPr>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CDD9DBF-C3D6-86CC-F107-EBD329C33F2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2" name="think-cell data - do not delete" hidden="1">
                        <a:extLst>
                          <a:ext uri="{FF2B5EF4-FFF2-40B4-BE49-F238E27FC236}">
                            <a16:creationId xmlns:a16="http://schemas.microsoft.com/office/drawing/2014/main" id="{0CDD9DBF-C3D6-86CC-F107-EBD329C33F2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Date Placeholder 4">
            <a:extLst>
              <a:ext uri="{FF2B5EF4-FFF2-40B4-BE49-F238E27FC236}">
                <a16:creationId xmlns:a16="http://schemas.microsoft.com/office/drawing/2014/main" id="{FE1116A2-B104-40E4-614B-A439F58A3B08}"/>
              </a:ext>
            </a:extLst>
          </p:cNvPr>
          <p:cNvSpPr>
            <a:spLocks noGrp="1"/>
          </p:cNvSpPr>
          <p:nvPr>
            <p:ph type="dt" sz="half" idx="14"/>
          </p:nvPr>
        </p:nvSpPr>
        <p:spPr/>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07C827D7-FDA3-42C2-9B0F-2CCD53D6A475}" type="datetime4">
              <a:rPr kumimoji="0" lang="en-US" sz="900" b="0" i="0" u="none" strike="noStrike" kern="1200" cap="none" spc="0" normalizeH="0" baseline="0" noProof="0" smtClean="0">
                <a:ln>
                  <a:noFill/>
                </a:ln>
                <a:solidFill>
                  <a:srgbClr val="515349">
                    <a:tint val="7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July 29, 2026</a:t>
            </a:fld>
            <a:endParaRPr kumimoji="0" lang="en-US" sz="900" b="0" i="0" u="none" strike="noStrike" kern="1200" cap="none" spc="0" normalizeH="0" baseline="0" noProof="0">
              <a:ln>
                <a:noFill/>
              </a:ln>
              <a:solidFill>
                <a:srgbClr val="515349">
                  <a:tint val="75000"/>
                </a:srgbClr>
              </a:solidFill>
              <a:effectLst/>
              <a:uLnTx/>
              <a:uFillTx/>
              <a:latin typeface="Arial" panose="020B0604020202020204"/>
              <a:ea typeface="+mn-ea"/>
              <a:cs typeface="+mn-cs"/>
            </a:endParaRPr>
          </a:p>
        </p:txBody>
      </p:sp>
      <p:sp>
        <p:nvSpPr>
          <p:cNvPr id="243" name="Slide Number Placeholder 5">
            <a:extLst>
              <a:ext uri="{FF2B5EF4-FFF2-40B4-BE49-F238E27FC236}">
                <a16:creationId xmlns:a16="http://schemas.microsoft.com/office/drawing/2014/main" id="{E7061B18-0C72-3EF5-1E3B-F6F0F5B322D7}"/>
              </a:ext>
            </a:extLst>
          </p:cNvPr>
          <p:cNvSpPr>
            <a:spLocks noGrp="1"/>
          </p:cNvSpPr>
          <p:nvPr>
            <p:ph type="sldNum" sz="quarter" idx="16"/>
          </p:nvPr>
        </p:nvSpPr>
        <p:spPr>
          <a:xfrm>
            <a:off x="87852" y="6286624"/>
            <a:ext cx="201619"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0D29B3-3718-49D1-8532-8733C4D9642A}" type="slidenum">
              <a:rPr kumimoji="0" lang="en-US" sz="900" b="0" i="0" u="none" strike="noStrike" kern="1200" cap="none" spc="0" normalizeH="0" baseline="0" noProof="0" smtClean="0">
                <a:ln>
                  <a:noFill/>
                </a:ln>
                <a:solidFill>
                  <a:srgbClr val="515349">
                    <a:tint val="75000"/>
                  </a:srgbClr>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515349">
                  <a:tint val="75000"/>
                </a:srgbClr>
              </a:solidFill>
              <a:effectLst/>
              <a:uLnTx/>
              <a:uFillTx/>
              <a:latin typeface="Arial" panose="020B0604020202020204"/>
              <a:ea typeface="+mn-ea"/>
              <a:cs typeface="+mn-cs"/>
            </a:endParaRPr>
          </a:p>
        </p:txBody>
      </p:sp>
      <p:sp>
        <p:nvSpPr>
          <p:cNvPr id="202" name="Title 1">
            <a:extLst>
              <a:ext uri="{FF2B5EF4-FFF2-40B4-BE49-F238E27FC236}">
                <a16:creationId xmlns:a16="http://schemas.microsoft.com/office/drawing/2014/main" id="{25B4B319-21EE-AA3A-875E-2236E4B64CD4}"/>
              </a:ext>
            </a:extLst>
          </p:cNvPr>
          <p:cNvSpPr>
            <a:spLocks noGrp="1"/>
          </p:cNvSpPr>
          <p:nvPr>
            <p:ph type="title"/>
          </p:nvPr>
        </p:nvSpPr>
        <p:spPr>
          <a:xfrm>
            <a:off x="8406386" y="309282"/>
            <a:ext cx="3400104" cy="605118"/>
          </a:xfrm>
        </p:spPr>
        <p:txBody>
          <a:bodyPr vert="horz">
            <a:normAutofit/>
          </a:bodyPr>
          <a:lstStyle/>
          <a:p>
            <a:pPr algn="r"/>
            <a:r>
              <a:rPr lang="en-CA" b="1"/>
              <a:t>Power Platform</a:t>
            </a:r>
            <a:endParaRPr lang="en-CA" b="1">
              <a:cs typeface="Arial" panose="020B0604020202020204"/>
            </a:endParaRPr>
          </a:p>
        </p:txBody>
      </p:sp>
      <p:pic>
        <p:nvPicPr>
          <p:cNvPr id="203" name="Graphic 202">
            <a:extLst>
              <a:ext uri="{FF2B5EF4-FFF2-40B4-BE49-F238E27FC236}">
                <a16:creationId xmlns:a16="http://schemas.microsoft.com/office/drawing/2014/main" id="{CB124958-131A-2B3F-2E46-7EBAF463F9C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65969" y="280267"/>
            <a:ext cx="657409" cy="659560"/>
          </a:xfrm>
          <a:prstGeom prst="rect">
            <a:avLst/>
          </a:prstGeom>
        </p:spPr>
      </p:pic>
      <p:sp>
        <p:nvSpPr>
          <p:cNvPr id="204" name="Title 1">
            <a:extLst>
              <a:ext uri="{FF2B5EF4-FFF2-40B4-BE49-F238E27FC236}">
                <a16:creationId xmlns:a16="http://schemas.microsoft.com/office/drawing/2014/main" id="{FE1DD58A-0FCF-D2C3-73D7-312D5CA1FC98}"/>
              </a:ext>
            </a:extLst>
          </p:cNvPr>
          <p:cNvSpPr txBox="1">
            <a:spLocks/>
          </p:cNvSpPr>
          <p:nvPr/>
        </p:nvSpPr>
        <p:spPr>
          <a:xfrm>
            <a:off x="393569" y="307488"/>
            <a:ext cx="7334226" cy="605118"/>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CA" b="1" dirty="0">
                <a:solidFill>
                  <a:srgbClr val="BA0C2F"/>
                </a:solidFill>
                <a:latin typeface="Arial" panose="020B0604020202020204"/>
              </a:rPr>
              <a:t>Priority Items (5 of 5)</a:t>
            </a:r>
            <a:endParaRPr kumimoji="0" lang="en-CA" sz="3200" b="1" i="0" u="none" strike="noStrike" kern="1200" cap="none" spc="0" normalizeH="0" baseline="0" noProof="0" dirty="0">
              <a:ln>
                <a:noFill/>
              </a:ln>
              <a:solidFill>
                <a:srgbClr val="BA0C2F"/>
              </a:solidFill>
              <a:effectLst/>
              <a:uLnTx/>
              <a:uFillTx/>
              <a:latin typeface="Arial" panose="020B0604020202020204"/>
              <a:ea typeface="+mj-ea"/>
              <a:cs typeface="Arial" panose="020B0604020202020204"/>
            </a:endParaRPr>
          </a:p>
        </p:txBody>
      </p:sp>
      <p:graphicFrame>
        <p:nvGraphicFramePr>
          <p:cNvPr id="7" name="Table 6">
            <a:extLst>
              <a:ext uri="{FF2B5EF4-FFF2-40B4-BE49-F238E27FC236}">
                <a16:creationId xmlns:a16="http://schemas.microsoft.com/office/drawing/2014/main" id="{1888AB59-A54A-F2E6-7AB1-1C256BDE176D}"/>
              </a:ext>
            </a:extLst>
          </p:cNvPr>
          <p:cNvGraphicFramePr>
            <a:graphicFrameLocks noGrp="1"/>
          </p:cNvGraphicFramePr>
          <p:nvPr>
            <p:extLst>
              <p:ext uri="{D42A27DB-BD31-4B8C-83A1-F6EECF244321}">
                <p14:modId xmlns:p14="http://schemas.microsoft.com/office/powerpoint/2010/main" val="4026321607"/>
              </p:ext>
            </p:extLst>
          </p:nvPr>
        </p:nvGraphicFramePr>
        <p:xfrm>
          <a:off x="393570" y="1231900"/>
          <a:ext cx="11412920" cy="4117150"/>
        </p:xfrm>
        <a:graphic>
          <a:graphicData uri="http://schemas.openxmlformats.org/drawingml/2006/table">
            <a:tbl>
              <a:tblPr firstRow="1" firstCol="1" bandRow="1">
                <a:tableStyleId>{5C22544A-7EE6-4342-B048-85BDC9FD1C3A}</a:tableStyleId>
              </a:tblPr>
              <a:tblGrid>
                <a:gridCol w="3606930">
                  <a:extLst>
                    <a:ext uri="{9D8B030D-6E8A-4147-A177-3AD203B41FA5}">
                      <a16:colId xmlns:a16="http://schemas.microsoft.com/office/drawing/2014/main" val="699347023"/>
                    </a:ext>
                  </a:extLst>
                </a:gridCol>
                <a:gridCol w="1574800">
                  <a:extLst>
                    <a:ext uri="{9D8B030D-6E8A-4147-A177-3AD203B41FA5}">
                      <a16:colId xmlns:a16="http://schemas.microsoft.com/office/drawing/2014/main" val="3026545880"/>
                    </a:ext>
                  </a:extLst>
                </a:gridCol>
                <a:gridCol w="6231190">
                  <a:extLst>
                    <a:ext uri="{9D8B030D-6E8A-4147-A177-3AD203B41FA5}">
                      <a16:colId xmlns:a16="http://schemas.microsoft.com/office/drawing/2014/main" val="2688570249"/>
                    </a:ext>
                  </a:extLst>
                </a:gridCol>
              </a:tblGrid>
              <a:tr h="327216">
                <a:tc>
                  <a:txBody>
                    <a:bodyPr/>
                    <a:lstStyle/>
                    <a:p>
                      <a:pPr>
                        <a:lnSpc>
                          <a:spcPct val="107000"/>
                        </a:lnSpc>
                        <a:spcAft>
                          <a:spcPts val="800"/>
                        </a:spcAft>
                      </a:pPr>
                      <a:r>
                        <a:rPr lang="en-CA" sz="1100" kern="100" dirty="0">
                          <a:effectLst/>
                        </a:rPr>
                        <a:t>Activity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kern="100" dirty="0">
                          <a:effectLst/>
                        </a:rPr>
                        <a:t>Priority/Category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kern="100" dirty="0">
                          <a:effectLst/>
                        </a:rPr>
                        <a:t>Description</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21721335"/>
                  </a:ext>
                </a:extLst>
              </a:tr>
              <a:tr h="327216">
                <a:tc>
                  <a:txBody>
                    <a:bodyPr/>
                    <a:lstStyle/>
                    <a:p>
                      <a:pPr>
                        <a:lnSpc>
                          <a:spcPct val="107000"/>
                        </a:lnSpc>
                        <a:spcAft>
                          <a:spcPts val="800"/>
                        </a:spcAft>
                      </a:pPr>
                      <a:r>
                        <a:rPr lang="en-CA" sz="1100" kern="100" dirty="0">
                          <a:effectLst/>
                        </a:rPr>
                        <a:t>Migrate Default Environment Geo</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i="0" kern="100" dirty="0">
                          <a:solidFill>
                            <a:srgbClr val="C00000"/>
                          </a:solidFill>
                          <a:effectLst/>
                        </a:rPr>
                        <a:t>2 - High</a:t>
                      </a:r>
                      <a:endParaRPr lang="en-CA" sz="1100" kern="100" dirty="0">
                        <a:effectLst/>
                      </a:endParaRPr>
                    </a:p>
                    <a:p>
                      <a:pPr>
                        <a:lnSpc>
                          <a:spcPct val="107000"/>
                        </a:lnSpc>
                        <a:spcAft>
                          <a:spcPts val="800"/>
                        </a:spcAft>
                      </a:pPr>
                      <a:r>
                        <a:rPr lang="en-CA" sz="1100" kern="100" dirty="0">
                          <a:effectLst/>
                        </a:rPr>
                        <a:t>Risk Management</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171450" indent="-171450">
                        <a:lnSpc>
                          <a:spcPct val="107000"/>
                        </a:lnSpc>
                        <a:spcAft>
                          <a:spcPts val="800"/>
                        </a:spcAft>
                        <a:buFont typeface="Arial" panose="020B0604020202020204" pitchFamily="34" charset="0"/>
                        <a:buChar char="•"/>
                      </a:pP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p>
                      <a:pPr marL="171450" indent="-171450">
                        <a:lnSpc>
                          <a:spcPct val="107000"/>
                        </a:lnSpc>
                        <a:spcAft>
                          <a:spcPts val="800"/>
                        </a:spcAft>
                        <a:buFont typeface="Arial" panose="020B0604020202020204" pitchFamily="34" charset="0"/>
                        <a:buChar char="•"/>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Current Default environment resides in the United States, so a migration to Canada is necessary for compliance reasons.</a:t>
                      </a:r>
                    </a:p>
                    <a:p>
                      <a:pPr marL="171450" indent="-171450">
                        <a:lnSpc>
                          <a:spcPct val="107000"/>
                        </a:lnSpc>
                        <a:spcAft>
                          <a:spcPts val="800"/>
                        </a:spcAft>
                        <a:buFont typeface="Arial" panose="020B0604020202020204" pitchFamily="34" charset="0"/>
                        <a:buChar char="•"/>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Prior to migrating the Default environment, other activities need to complete including:</a:t>
                      </a:r>
                    </a:p>
                    <a:p>
                      <a:pPr marL="628650" lvl="1" indent="-171450">
                        <a:lnSpc>
                          <a:spcPct val="107000"/>
                        </a:lnSpc>
                        <a:spcAft>
                          <a:spcPts val="800"/>
                        </a:spcAft>
                        <a:buFont typeface="Courier New" panose="02070309020205020404" pitchFamily="49" charset="0"/>
                        <a:buChar char="o"/>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Solution Identification &amp; Categorization</a:t>
                      </a:r>
                    </a:p>
                    <a:p>
                      <a:pPr marL="628650" lvl="1" indent="-171450">
                        <a:lnSpc>
                          <a:spcPct val="107000"/>
                        </a:lnSpc>
                        <a:spcAft>
                          <a:spcPts val="800"/>
                        </a:spcAft>
                        <a:buFont typeface="Courier New" panose="02070309020205020404" pitchFamily="49" charset="0"/>
                        <a:buChar char="o"/>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Migrate to Dedicated Environments</a:t>
                      </a:r>
                    </a:p>
                    <a:p>
                      <a:pPr marL="628650" lvl="1" indent="-171450">
                        <a:lnSpc>
                          <a:spcPct val="107000"/>
                        </a:lnSpc>
                        <a:spcAft>
                          <a:spcPts val="800"/>
                        </a:spcAft>
                        <a:buFont typeface="Courier New" panose="02070309020205020404" pitchFamily="49" charset="0"/>
                        <a:buChar char="o"/>
                      </a:pP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0422029"/>
                  </a:ext>
                </a:extLst>
              </a:tr>
              <a:tr h="327216">
                <a:tc>
                  <a:txBody>
                    <a:bodyPr/>
                    <a:lstStyle/>
                    <a:p>
                      <a:pPr>
                        <a:lnSpc>
                          <a:spcPct val="107000"/>
                        </a:lnSpc>
                        <a:spcAft>
                          <a:spcPts val="800"/>
                        </a:spcAft>
                      </a:pPr>
                      <a:r>
                        <a:rPr lang="en-CA" sz="1100" kern="100" dirty="0">
                          <a:effectLst/>
                        </a:rPr>
                        <a:t>DLP Policies</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i="0" kern="100" dirty="0">
                          <a:solidFill>
                            <a:srgbClr val="C00000"/>
                          </a:solidFill>
                          <a:effectLst/>
                        </a:rPr>
                        <a:t>2 - High</a:t>
                      </a:r>
                      <a:endParaRPr lang="en-CA" sz="1100" kern="100" dirty="0">
                        <a:effectLst/>
                      </a:endParaRPr>
                    </a:p>
                    <a:p>
                      <a:pPr>
                        <a:lnSpc>
                          <a:spcPct val="107000"/>
                        </a:lnSpc>
                        <a:spcAft>
                          <a:spcPts val="800"/>
                        </a:spcAft>
                      </a:pPr>
                      <a:r>
                        <a:rPr lang="en-CA" sz="1100" kern="100" dirty="0">
                          <a:effectLst/>
                        </a:rPr>
                        <a:t>Risk Management</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171450" indent="-171450">
                        <a:lnSpc>
                          <a:spcPct val="107000"/>
                        </a:lnSpc>
                        <a:spcAft>
                          <a:spcPts val="800"/>
                        </a:spcAft>
                        <a:buFont typeface="Arial" panose="020B0604020202020204" pitchFamily="34" charset="0"/>
                        <a:buChar char="•"/>
                      </a:pP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p>
                      <a:pPr marL="171450" indent="-171450">
                        <a:lnSpc>
                          <a:spcPct val="107000"/>
                        </a:lnSpc>
                        <a:spcAft>
                          <a:spcPts val="800"/>
                        </a:spcAft>
                        <a:buFont typeface="Arial" panose="020B0604020202020204" pitchFamily="34" charset="0"/>
                        <a:buChar char="•"/>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Implement DLP policies to protect sensitive data.</a:t>
                      </a:r>
                    </a:p>
                    <a:p>
                      <a:pPr marL="171450" indent="-171450">
                        <a:lnSpc>
                          <a:spcPct val="107000"/>
                        </a:lnSpc>
                        <a:spcAft>
                          <a:spcPts val="800"/>
                        </a:spcAft>
                        <a:buFont typeface="Arial" panose="020B0604020202020204" pitchFamily="34" charset="0"/>
                        <a:buChar char="•"/>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Configure policies beyond existing ones to cover Developer, Teams, and new environments.</a:t>
                      </a:r>
                    </a:p>
                    <a:p>
                      <a:pPr marL="171450" indent="-171450">
                        <a:lnSpc>
                          <a:spcPct val="107000"/>
                        </a:lnSpc>
                        <a:spcAft>
                          <a:spcPts val="800"/>
                        </a:spcAft>
                        <a:buFont typeface="Arial" panose="020B0604020202020204" pitchFamily="34" charset="0"/>
                        <a:buChar char="•"/>
                      </a:pPr>
                      <a:r>
                        <a:rPr lang="en-CA" sz="1100" kern="100" dirty="0">
                          <a:effectLst/>
                          <a:latin typeface="Aptos" panose="020B0004020202020204" pitchFamily="34" charset="0"/>
                          <a:ea typeface="Aptos" panose="020B0004020202020204" pitchFamily="34" charset="0"/>
                          <a:cs typeface="Times New Roman" panose="02020603050405020304" pitchFamily="18" charset="0"/>
                        </a:rPr>
                        <a:t>Configure policies to apply to Power Automate Desktop.</a:t>
                      </a:r>
                    </a:p>
                    <a:p>
                      <a:pPr marL="171450" indent="-171450">
                        <a:lnSpc>
                          <a:spcPct val="107000"/>
                        </a:lnSpc>
                        <a:spcAft>
                          <a:spcPts val="800"/>
                        </a:spcAft>
                        <a:buFont typeface="Arial" panose="020B0604020202020204" pitchFamily="34" charset="0"/>
                        <a:buChar char="•"/>
                      </a:pP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894629087"/>
                  </a:ext>
                </a:extLst>
              </a:tr>
              <a:tr h="327216">
                <a:tc>
                  <a:txBody>
                    <a:bodyPr/>
                    <a:lstStyle/>
                    <a:p>
                      <a:pPr>
                        <a:lnSpc>
                          <a:spcPct val="107000"/>
                        </a:lnSpc>
                        <a:spcAft>
                          <a:spcPts val="800"/>
                        </a:spcAft>
                      </a:pPr>
                      <a:r>
                        <a:rPr lang="en-CA" sz="1100" kern="100">
                          <a:effectLst/>
                        </a:rPr>
                        <a:t>Restrict Environment Creation</a:t>
                      </a:r>
                      <a:endParaRPr lang="en-CA"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pPr>
                      <a:r>
                        <a:rPr lang="en-CA" sz="1100" i="0" kern="100" dirty="0">
                          <a:solidFill>
                            <a:srgbClr val="C00000"/>
                          </a:solidFill>
                          <a:effectLst/>
                        </a:rPr>
                        <a:t>2 - High</a:t>
                      </a:r>
                      <a:endParaRPr lang="en-CA" sz="1100" kern="100" dirty="0">
                        <a:effectLst/>
                      </a:endParaRPr>
                    </a:p>
                    <a:p>
                      <a:pPr>
                        <a:lnSpc>
                          <a:spcPct val="107000"/>
                        </a:lnSpc>
                        <a:spcAft>
                          <a:spcPts val="800"/>
                        </a:spcAft>
                      </a:pPr>
                      <a:r>
                        <a:rPr lang="en-CA" sz="1100" kern="100" dirty="0">
                          <a:effectLst/>
                        </a:rPr>
                        <a:t>Environment Strategy</a:t>
                      </a: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171450" indent="-171450">
                        <a:lnSpc>
                          <a:spcPct val="107000"/>
                        </a:lnSpc>
                        <a:spcAft>
                          <a:spcPts val="800"/>
                        </a:spcAft>
                        <a:buFont typeface="Arial" panose="020B0604020202020204" pitchFamily="34" charset="0"/>
                        <a:buChar char="•"/>
                      </a:pPr>
                      <a:endParaRPr lang="en-CA" sz="1100" kern="100" dirty="0">
                        <a:effectLst/>
                      </a:endParaRPr>
                    </a:p>
                    <a:p>
                      <a:pPr marL="171450" indent="-171450">
                        <a:lnSpc>
                          <a:spcPct val="107000"/>
                        </a:lnSpc>
                        <a:spcAft>
                          <a:spcPts val="800"/>
                        </a:spcAft>
                        <a:buFont typeface="Arial" panose="020B0604020202020204" pitchFamily="34" charset="0"/>
                        <a:buChar char="•"/>
                      </a:pPr>
                      <a:r>
                        <a:rPr lang="en-CA" sz="1100" kern="100" dirty="0">
                          <a:effectLst/>
                        </a:rPr>
                        <a:t>Restrict creation for all environment types to Power Platform admins.</a:t>
                      </a:r>
                    </a:p>
                    <a:p>
                      <a:pPr marL="171450" indent="-171450">
                        <a:lnSpc>
                          <a:spcPct val="107000"/>
                        </a:lnSpc>
                        <a:spcAft>
                          <a:spcPts val="800"/>
                        </a:spcAft>
                        <a:buFont typeface="Arial" panose="020B0604020202020204" pitchFamily="34" charset="0"/>
                        <a:buChar char="•"/>
                      </a:pP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95883152"/>
                  </a:ext>
                </a:extLst>
              </a:tr>
            </a:tbl>
          </a:graphicData>
        </a:graphic>
      </p:graphicFrame>
    </p:spTree>
    <p:extLst>
      <p:ext uri="{BB962C8B-B14F-4D97-AF65-F5344CB8AC3E}">
        <p14:creationId xmlns:p14="http://schemas.microsoft.com/office/powerpoint/2010/main" val="20626193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CanadaLife-May2019">
      <a:dk1>
        <a:srgbClr val="515349"/>
      </a:dk1>
      <a:lt1>
        <a:srgbClr val="FFFFFF"/>
      </a:lt1>
      <a:dk2>
        <a:srgbClr val="BA0C2F"/>
      </a:dk2>
      <a:lt2>
        <a:srgbClr val="E2E2DF"/>
      </a:lt2>
      <a:accent1>
        <a:srgbClr val="007E7F"/>
      </a:accent1>
      <a:accent2>
        <a:srgbClr val="838271"/>
      </a:accent2>
      <a:accent3>
        <a:srgbClr val="862633"/>
      </a:accent3>
      <a:accent4>
        <a:srgbClr val="007CBF"/>
      </a:accent4>
      <a:accent5>
        <a:srgbClr val="00BDF1"/>
      </a:accent5>
      <a:accent6>
        <a:srgbClr val="5F59A2"/>
      </a:accent6>
      <a:hlink>
        <a:srgbClr val="BA0C2F"/>
      </a:hlink>
      <a:folHlink>
        <a:srgbClr val="007C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9525">
          <a:solidFill>
            <a:schemeClr val="accent1"/>
          </a:solidFill>
        </a:ln>
      </a:spPr>
      <a:bodyPr lIns="137160" tIns="137160" rIns="137160" bIns="137160" rtlCol="0" anchor="t">
        <a:normAutofit/>
      </a:bodyPr>
      <a:lstStyle>
        <a:defPPr algn="l">
          <a:defRPr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lIns="182880" tIns="182880" rIns="182880" bIns="182880" rtlCol="0" anchor="t" anchorCtr="0">
        <a:normAutofit/>
      </a:bodyPr>
      <a:lstStyle>
        <a:defPPr algn="l">
          <a:defRPr dirty="0" smtClean="0">
            <a:solidFill>
              <a:schemeClr val="tx1"/>
            </a:solidFill>
          </a:defRPr>
        </a:defPPr>
      </a:lstStyle>
      <a:style>
        <a:lnRef idx="3">
          <a:schemeClr val="lt1"/>
        </a:lnRef>
        <a:fillRef idx="1">
          <a:schemeClr val="accent2"/>
        </a:fillRef>
        <a:effectRef idx="1">
          <a:schemeClr val="accent2"/>
        </a:effectRef>
        <a:fontRef idx="minor">
          <a:schemeClr val="lt1"/>
        </a:fontRef>
      </a:style>
    </a:txDef>
  </a:objectDefaults>
  <a:extraClrSchemeLst/>
  <a:extLst>
    <a:ext uri="{05A4C25C-085E-4340-85A3-A5531E510DB2}">
      <thm15:themeFamily xmlns:thm15="http://schemas.microsoft.com/office/thememl/2012/main" name="CanadaLife_PPT_16x9_EN-1020-WithConfidential.potx" id="{16E1AE8F-CBCB-4C4E-8476-A6A928A18227}" vid="{A50A8851-6EE3-48A3-A0F1-6E0F8421FCD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50071</TotalTime>
  <Words>2312</Words>
  <Application>Microsoft Office PowerPoint</Application>
  <PresentationFormat>Widescreen</PresentationFormat>
  <Paragraphs>431</Paragraphs>
  <Slides>19</Slides>
  <Notes>13</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1_Office Theme</vt:lpstr>
      <vt:lpstr>Power Platform</vt:lpstr>
      <vt:lpstr>Agenda</vt:lpstr>
      <vt:lpstr>What is Power Platform?</vt:lpstr>
      <vt:lpstr>What is Power Platform?</vt:lpstr>
      <vt:lpstr>How did we get here?</vt:lpstr>
      <vt:lpstr>Current State</vt:lpstr>
      <vt:lpstr>Risks</vt:lpstr>
      <vt:lpstr>What are Managed Environments?</vt:lpstr>
      <vt:lpstr>Risks</vt:lpstr>
      <vt:lpstr>Costs</vt:lpstr>
      <vt:lpstr>Costs</vt:lpstr>
      <vt:lpstr>Appendix</vt:lpstr>
      <vt:lpstr>Benefits of Premium Licencing</vt:lpstr>
      <vt:lpstr>Power Platform</vt:lpstr>
      <vt:lpstr>Power Platform</vt:lpstr>
      <vt:lpstr>Power Platform</vt:lpstr>
      <vt:lpstr>Power Platform</vt:lpstr>
      <vt:lpstr>Power Platform</vt:lpstr>
      <vt:lpstr>Power Platform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Rubin, Jon</dc:creator>
  <cp:lastModifiedBy>Rubin, Jon</cp:lastModifiedBy>
  <cp:revision>3</cp:revision>
  <dcterms:created xsi:type="dcterms:W3CDTF">2025-04-16T18:28:25Z</dcterms:created>
  <dcterms:modified xsi:type="dcterms:W3CDTF">2026-07-29T12:32:10Z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07bbe84-2447-47ed-9f95-d9c34bc076ba_Enabled">
    <vt:lpwstr>true</vt:lpwstr>
  </property>
  <property fmtid="{D5CDD505-2E9C-101B-9397-08002B2CF9AE}" pid="3" name="MSIP_Label_b07bbe84-2447-47ed-9f95-d9c34bc076ba_SetDate">
    <vt:lpwstr>2025-04-16T19:00:53Z</vt:lpwstr>
  </property>
  <property fmtid="{D5CDD505-2E9C-101B-9397-08002B2CF9AE}" pid="4" name="MSIP_Label_b07bbe84-2447-47ed-9f95-d9c34bc076ba_Method">
    <vt:lpwstr>Standard</vt:lpwstr>
  </property>
  <property fmtid="{D5CDD505-2E9C-101B-9397-08002B2CF9AE}" pid="5" name="MSIP_Label_b07bbe84-2447-47ed-9f95-d9c34bc076ba_Name">
    <vt:lpwstr>Confidential</vt:lpwstr>
  </property>
  <property fmtid="{D5CDD505-2E9C-101B-9397-08002B2CF9AE}" pid="6" name="MSIP_Label_b07bbe84-2447-47ed-9f95-d9c34bc076ba_SiteId">
    <vt:lpwstr>633f3069-d670-4419-9fee-2ab4251c88ee</vt:lpwstr>
  </property>
  <property fmtid="{D5CDD505-2E9C-101B-9397-08002B2CF9AE}" pid="7" name="MSIP_Label_b07bbe84-2447-47ed-9f95-d9c34bc076ba_ActionId">
    <vt:lpwstr>01548757-f549-4e1c-8619-2b0611b218e9</vt:lpwstr>
  </property>
  <property fmtid="{D5CDD505-2E9C-101B-9397-08002B2CF9AE}" pid="8" name="MSIP_Label_b07bbe84-2447-47ed-9f95-d9c34bc076ba_ContentBits">
    <vt:lpwstr>0</vt:lpwstr>
  </property>
  <property fmtid="{D5CDD505-2E9C-101B-9397-08002B2CF9AE}" pid="9" name="MSIP_Label_b07bbe84-2447-47ed-9f95-d9c34bc076ba_Tag">
    <vt:lpwstr>10, 3, 0, 1</vt:lpwstr>
  </property>
</Properties>
</file>