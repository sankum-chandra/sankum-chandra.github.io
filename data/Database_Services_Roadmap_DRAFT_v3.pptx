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Current vs. Target (Illustrative)</a:t>
            </a:r>
          </a:p>
        </c:rich>
      </c:tx>
      <c:layout/>
    </c:title>
    <c:plotArea>
      <c:layout/>
      <c:radarChart>
        <c:radarStyle val="marker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State</c:v>
                </c:pt>
              </c:strCache>
            </c:strRef>
          </c:tx>
          <c:spPr>
            <a:ln w="25400" cap="flat">
              <a:solidFill>
                <a:srgbClr val="7474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47480"/>
              </a:solidFill>
              <a:ln w="9525" cap="flat">
                <a:solidFill>
                  <a:srgbClr val="74748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Platform Standardization</c:v>
                </c:pt>
                <c:pt idx="1">
                  <c:v>Lifecycle &amp; Tech Debt</c:v>
                </c:pt>
                <c:pt idx="2">
                  <c:v>Cloud/Managed Adoption</c:v>
                </c:pt>
                <c:pt idx="3">
                  <c:v>Automation &amp; Self-Service</c:v>
                </c:pt>
                <c:pt idx="4">
                  <c:v>Resilience &amp; DR</c:v>
                </c:pt>
                <c:pt idx="5">
                  <c:v>Security &amp; Compliance</c:v>
                </c:pt>
                <c:pt idx="6">
                  <c:v>Observability &amp; Ops</c:v>
                </c:pt>
                <c:pt idx="7">
                  <c:v>Cost / FinOps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State</c:v>
                </c:pt>
              </c:strCache>
            </c:strRef>
          </c:tx>
          <c:spPr>
            <a:ln w="25400" cap="flat">
              <a:solidFill>
                <a:srgbClr val="BA0C2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A0C2F"/>
              </a:solidFill>
              <a:ln w="9525" cap="flat">
                <a:solidFill>
                  <a:srgbClr val="BA0C2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Platform Standardization</c:v>
                </c:pt>
                <c:pt idx="1">
                  <c:v>Lifecycle &amp; Tech Debt</c:v>
                </c:pt>
                <c:pt idx="2">
                  <c:v>Cloud/Managed Adoption</c:v>
                </c:pt>
                <c:pt idx="3">
                  <c:v>Automation &amp; Self-Service</c:v>
                </c:pt>
                <c:pt idx="4">
                  <c:v>Resilience &amp; DR</c:v>
                </c:pt>
                <c:pt idx="5">
                  <c:v>Security &amp; Compliance</c:v>
                </c:pt>
                <c:pt idx="6">
                  <c:v>Observability &amp; Ops</c:v>
                </c:pt>
                <c:pt idx="7">
                  <c:v>Cost / FinOps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</c:ser>
        <c:dLbls/>
        <c:axId val="167561856"/>
        <c:axId val="167571840"/>
      </c:radarChart>
      <c:catAx>
        <c:axId val="16756185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67571840"/>
        <c:crosses val="autoZero"/>
        <c:auto val="1"/>
        <c:lblAlgn val="ctr"/>
        <c:lblOffset val="100"/>
        <c:noMultiLvlLbl val="1"/>
      </c:catAx>
      <c:valAx>
        <c:axId val="167571840"/>
        <c:scaling>
          <c:orientation val="minMax"/>
          <c:max val="5"/>
          <c:min val="0"/>
        </c:scaling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167561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9144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Services: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Roadmap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— Built for Discovery &amp; Stakeholder Validation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62895" y="621792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BA0C2F"/>
          </a:solidFill>
          <a:ln/>
        </p:spPr>
      </p:sp>
      <p:sp>
        <p:nvSpPr>
          <p:cNvPr id="7" name="Text 5"/>
          <p:cNvSpPr/>
          <p:nvPr/>
        </p:nvSpPr>
        <p:spPr>
          <a:xfrm>
            <a:off x="10362895" y="62179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To be finalized once discovery is complete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Working Draft (v0.1) — not yet reviewed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— in progress (source of current-state input)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Database Portfolio Architect — in progress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Pending. Recommend mirroring the Cloud Foundations Roadmap's sign-off chain: CTO/SVP I&amp;O, Chief Enterprise Architect, and the Database Product Owner's executive sponsor.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Santhosh Kumar Chandrashekar, Enterprise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Group: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206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&amp; team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Database Portfolio Architect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1371600" y="1371600"/>
          <a:ext cx="9418320" cy="4517136"/>
        </p:xfrm>
        <a:graphic>
          <a:graphicData uri="http://schemas.openxmlformats.org/drawingml/2006/table">
            <a:tbl>
              <a:tblPr/>
              <a:tblGrid>
                <a:gridCol w="8046720"/>
                <a:gridCol w="137160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Services Value Chain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Guiding Principles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Overview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Focus Areas &amp; Transformation Opportunities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Target-State Technology Positioning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with the NORTH Data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Packages / Initiatives Identification and Sequencing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21–25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Appendix — incl. Working Model &amp; Roles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26–28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Enterprise Database Maturity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6949440" cy="1691640"/>
          </a:xfrm>
          <a:prstGeom prst="roundRect">
            <a:avLst>
              <a:gd name="adj" fmla="val 3243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0876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Statement (source: Database Product Owner's in-progress deck): </a:t>
            </a: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a modern, resilient, and secure database enterprise that enables scalable growth, strengthens regulatory compliance, and accelerates innovation across the organization. Through strategic adoption of cloud-native and vendor-supported technologies, we will simplify operations, enhance service reliability, and unlock AI-enabled data capabilities that drive business value.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3611880"/>
          <a:ext cx="6949440" cy="1828800"/>
        </p:xfrm>
        <a:graphic>
          <a:graphicData uri="http://schemas.openxmlformats.org/drawingml/2006/table">
            <a:tbl>
              <a:tblPr/>
              <a:tblGrid>
                <a:gridCol w="694944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Accelerate Time-to-Market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Increase Service Resilience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Strengthen Security Posture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Modernized Features like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Reduce Operational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680960" y="1371600"/>
            <a:ext cx="4023360" cy="4663440"/>
          </a:xfrm>
          <a:prstGeom prst="roundRect">
            <a:avLst>
              <a:gd name="adj" fmla="val 1364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63840" y="15544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Value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863840" y="2880360"/>
            <a:ext cx="411480" cy="41148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863840" y="3538728"/>
            <a:ext cx="411480" cy="41148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0" y="3538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12480" y="35387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63840" y="4197096"/>
            <a:ext cx="411480" cy="41148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0" y="4197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412480" y="41970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863840" y="4855464"/>
            <a:ext cx="411480" cy="41148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0" y="4855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12480" y="485546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 Features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863840" y="5513832"/>
            <a:ext cx="411480" cy="41148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6" name="Text 23"/>
          <p:cNvSpPr/>
          <p:nvPr/>
        </p:nvSpPr>
        <p:spPr>
          <a:xfrm>
            <a:off x="7863840" y="5513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0" y="55138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Operations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863840" y="5806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→ 2028 → 2029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“Delivering Secure, Intelligent, and Resilient Data Platforms for the Future of Financial Services”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Services Value Chain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journey from planning to optimization — standardized, secure, and efficient database operations that enable faster delivery and compliance.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50008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50008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42816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42816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35624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35624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28432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28432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921240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921240" y="16916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workload needs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engine strategy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cloud vs. on-prem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50008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41448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CMDB/tag registration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monitoring setup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42816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34256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&amp; RBAC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baselines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35624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27064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monitoring &amp; incident mgmt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&amp; lifecycle mgmt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28432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19872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performance tuning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 cost optimization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testing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921240" y="2377440"/>
            <a:ext cx="1783080" cy="20116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12680" y="2487168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archival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reclamation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constituents: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Product Owner  •  EA Database Portfolio Architect  •  DBA/Engineering Teams (HCL)  •  Application Owners  •  Security  •  FinOps  •  Compliance  •  Vendors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5084064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data classification &amp; masking is an Application Owner responsibility, not a centralized database service — Oracle is the only DBMS with native masking functionality, and it's a platform capability App Owners may optionally consume.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5440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Engagement: contributes to database strategy &amp; planning, ensures governance alignment across the full lifecycle, and keeps this roadmap connected to the Cloud Foundations Roadmap.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from the Cloud Foundations Roadmap's nine enterprise principles, plus one database-specific addition — confirm with sponsors whether to keep all ten.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16736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1316736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Appropriate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first, cloud appropriate — pattern-based decisions for workload placement.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24912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84448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5" name="Text 13"/>
          <p:cNvSpPr/>
          <p:nvPr/>
        </p:nvSpPr>
        <p:spPr>
          <a:xfrm>
            <a:off x="3584448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16352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Before Build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16352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managed/DBaaS options before self-managed infrastructure.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92624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84064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Autonomy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84064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trusted to act in the best interest of the company, within a strong foundation.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60336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9872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5" name="Text 23"/>
          <p:cNvSpPr/>
          <p:nvPr/>
        </p:nvSpPr>
        <p:spPr>
          <a:xfrm>
            <a:off x="8119872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51776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Everywhere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51776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Provisioning, configuration, and lifecycle management are automated by default.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528048" y="160020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87584" y="176479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0" name="Text 28"/>
          <p:cNvSpPr/>
          <p:nvPr/>
        </p:nvSpPr>
        <p:spPr>
          <a:xfrm>
            <a:off x="10387584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19488" y="2313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Experientially Focused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19488" y="265176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teams' experience is a first-class design consideration.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16736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5" name="Text 33"/>
          <p:cNvSpPr/>
          <p:nvPr/>
        </p:nvSpPr>
        <p:spPr>
          <a:xfrm>
            <a:off x="1316736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Oriented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weighed on velocity, resilience, and total cost of ownership.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24912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584448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0" name="Text 38"/>
          <p:cNvSpPr/>
          <p:nvPr/>
        </p:nvSpPr>
        <p:spPr>
          <a:xfrm>
            <a:off x="3584448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816352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Observability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816352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Unified, real-time visibility into health, performance, and cost.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92624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52160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5" name="Text 43"/>
          <p:cNvSpPr/>
          <p:nvPr/>
        </p:nvSpPr>
        <p:spPr>
          <a:xfrm>
            <a:off x="585216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84064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084064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security, policy-driven enforcement, and data protection by default.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60336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19872" y="3867912"/>
            <a:ext cx="457200" cy="45720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50" name="Text 48"/>
          <p:cNvSpPr/>
          <p:nvPr/>
        </p:nvSpPr>
        <p:spPr>
          <a:xfrm>
            <a:off x="8119872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351776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Optimization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7351776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feedback loops for efficient use of technology and spend.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528048" y="3703320"/>
            <a:ext cx="2176272" cy="1920240"/>
          </a:xfrm>
          <a:prstGeom prst="roundRect">
            <a:avLst>
              <a:gd name="adj" fmla="val 2857"/>
            </a:avLst>
          </a:prstGeom>
          <a:solidFill>
            <a:srgbClr val="F2DDAC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0387584" y="3867912"/>
            <a:ext cx="457200" cy="457200"/>
          </a:xfrm>
          <a:prstGeom prst="ellipse">
            <a:avLst/>
          </a:prstGeom>
          <a:solidFill>
            <a:srgbClr val="8C0924"/>
          </a:solidFill>
          <a:ln/>
        </p:spPr>
      </p:sp>
      <p:sp>
        <p:nvSpPr>
          <p:cNvPr id="55" name="Text 53"/>
          <p:cNvSpPr/>
          <p:nvPr/>
        </p:nvSpPr>
        <p:spPr>
          <a:xfrm>
            <a:off x="10387584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619488" y="441655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Engine for the Job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619488" y="4754880"/>
            <a:ext cx="19933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storage engine — relational, document, vector — suited to the workload.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Strategic Domains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roadmap organizes database services into the same six domains the Cloud Foundations Roadmap uses, so the two roadmaps share one structural language — each domain below is grounded in confirmed technology direction, not generic category labels.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standards and engine selection — the confirmed workload-sizing rule (MS SQL small–medium, Oracle Exadata medium–high).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96596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encryption, and OSFI-aligned compliance — excludes masking, which is App Owner-led.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173736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75320" y="196596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1938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2560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standardization and lifecycle management — where DB2's retirement to Oracle Exadata sits.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Services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Cloud/managed-service adoption — Exa@Azure, MS SQL MI/RDS, Oracle 26ai, Autonomous Database.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5196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3886200"/>
            <a:ext cx="502920" cy="502920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Optimization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8056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governance and consumption-based cost management across every platform.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3657600"/>
            <a:ext cx="3657600" cy="1737360"/>
          </a:xfrm>
          <a:prstGeom prst="roundRect">
            <a:avLst>
              <a:gd name="adj" fmla="val 31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75320" y="3886200"/>
            <a:ext cx="502920" cy="502920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5" name="Text 33"/>
          <p:cNvSpPr/>
          <p:nvPr/>
        </p:nvSpPr>
        <p:spPr>
          <a:xfrm>
            <a:off x="82753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15400" y="3858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75320" y="44805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provisioning and operational automation, including Autonomous Database's self-healing.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 Areas &amp; Transformation Opportunities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focus areas translate database platform priorities into measurable opportunities that advance standardization, modernization, resilience, and operational efficiency by 2028.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 Areas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11112" y="16916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BA0C2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11112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Opportunities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38444" y="3959352"/>
            <a:ext cx="512064" cy="512064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3" name="Text 11"/>
          <p:cNvSpPr/>
          <p:nvPr/>
        </p:nvSpPr>
        <p:spPr>
          <a:xfrm>
            <a:off x="5838444" y="39593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276856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276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222199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Standardization &amp; Consolidation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5328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MS SQL on Azure SQL MI / AWS RDS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DB2 to Oracle Exadata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82112"/>
            <a:ext cx="5120640" cy="1033272"/>
          </a:xfrm>
          <a:prstGeom prst="roundRect">
            <a:avLst>
              <a:gd name="adj" fmla="val 5310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310128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325526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&amp; AI-Readiness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56616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Oracle 19c → 26ai &amp; MS SQL to 2025, with Autonomous ops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placement policy for NoSQL / Postgres / graph-vector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434340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4288536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&amp; DR Modernization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459943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Exa@Azure tiered SLA + multi-region model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wider estate to parity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5248656"/>
            <a:ext cx="5120640" cy="1033272"/>
          </a:xfrm>
          <a:prstGeom prst="roundRect">
            <a:avLst>
              <a:gd name="adj" fmla="val 5310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5376672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5376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8992" y="532180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Evolution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" y="563270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HCL ticket-driven model toward self-service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priority — low technical debt today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48272" y="2276856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3" name="Text 31"/>
          <p:cNvSpPr/>
          <p:nvPr/>
        </p:nvSpPr>
        <p:spPr>
          <a:xfrm>
            <a:off x="6748272" y="22768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32904" y="2221992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&amp; Consolidate the Estate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32904" y="255117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patterns to operate; removes the clearest cost outlier (~10x MS SQL rate)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11112" y="3182112"/>
            <a:ext cx="5120640" cy="1033272"/>
          </a:xfrm>
          <a:prstGeom prst="roundRect">
            <a:avLst>
              <a:gd name="adj" fmla="val 5310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48272" y="3310128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8" name="Text 36"/>
          <p:cNvSpPr/>
          <p:nvPr/>
        </p:nvSpPr>
        <p:spPr>
          <a:xfrm>
            <a:off x="6748272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32904" y="325526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for AI-Readiness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32904" y="358444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 platform without a separate NoSQL buildout; lower ops burden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48272" y="434340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2" name="Text 40"/>
          <p:cNvSpPr/>
          <p:nvPr/>
        </p:nvSpPr>
        <p:spPr>
          <a:xfrm>
            <a:off x="6748272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32904" y="4288536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Resilience &amp; Recovery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32904" y="46177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recovery; parity with cloud infrastructure maturity targets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611112" y="5248656"/>
            <a:ext cx="5120640" cy="1033272"/>
          </a:xfrm>
          <a:prstGeom prst="roundRect">
            <a:avLst>
              <a:gd name="adj" fmla="val 5310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48272" y="5376672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47" name="Text 45"/>
          <p:cNvSpPr/>
          <p:nvPr/>
        </p:nvSpPr>
        <p:spPr>
          <a:xfrm>
            <a:off x="6748272" y="5376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32904" y="532180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the Operating Model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232904" y="565099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provisioning; reduced operational friction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WITH THE DATABASE PRODUCT OWNER — AUGUST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Target-State Technology Positioning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40680" cy="3520440"/>
          </a:xfrm>
          <a:prstGeom prst="roundRect">
            <a:avLst>
              <a:gd name="adj" fmla="val 1558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48132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&amp; Oracle: Where Each Engine Wins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target: retire cloud IaaS (self-installed on AWS/Azure VMs) for AWS RDS / Azure SQL Managed Instance. On-prem MS SQL stays in place beyond this roadmap's horizon — unpreferred, not retired. Target version: SQL Server 2025.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target: Exa@Azure is the sole landing zone going forward, with licensing for all DB versions/features included. Cloud@Customer→Exa@Azure workload wave targeted Q3 2026; Oracle 19c stays supported until 2033.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640080" y="3886200"/>
          <a:ext cx="5074920" cy="877824"/>
        </p:xfrm>
        <a:graphic>
          <a:graphicData uri="http://schemas.openxmlformats.org/drawingml/2006/table">
            <a:tbl>
              <a:tblPr/>
              <a:tblGrid>
                <a:gridCol w="2194560"/>
                <a:gridCol w="288036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– 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(Managed Instance / RDS)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– Large (Critical)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Exadata (Exa@Azure)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126480" y="137160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09360" y="14813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DB2: the One Confirmed Pain Point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09360" y="18288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containment ~10 years, on-prem on AIX/Linux (one non-standard AWS EC2 exception). Oracle Exadata is the confirmed replacement target.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technical debt across the estate is low — DB2 is the explicit exception to that opportunity-led framing.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309360" y="3017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AI-Readiness &amp; Automation (Both Engines)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333756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26ai: 19c → 26ai upgrade path; native MongoDB-compatible storage and AI vector search inside the relational engine.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2025: the parallel confirmed upgrade target, for maximum support and AI-compatible datatypes.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Autonomous Database: confirmed focus area for self-healing, auto-patching, reduced ops overhead.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5074920"/>
            <a:ext cx="1124712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516636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Data Classification &amp; Masking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0080" y="5440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centralized database service capability. It is the Application Owner's accountability. Oracle is the only DBMS with native masking functionality — it's a platform capability App Owners may optionally consume, not something the database team delivers or governs on their behalf.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the NORTH Data Platform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(Next-Gen Organizational Repository for Trusted and High-Value Data) is Canada Life's enterprise data/AI platform — a downstream consumer of our databases, not a competing scope. It sets new demand signals this roadmap should plan for.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40680" cy="4343400"/>
          </a:xfrm>
          <a:prstGeom prst="roundRect">
            <a:avLst>
              <a:gd name="adj" fmla="val 1263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fit together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5074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roadmap owns the source-of-record databases (Oracle, MS SQL, DB2, MongoDB, PostgreSQL) — provisioning, resilience, security, licensing.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owns ingestion, governance, and consumption of data drawn FROM those databases into its Lakehouse, ODS, MDM, Graph and Vector repositories.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Azure-first by design — consistent with the Exa@Azure direction — with select AWS/GCP use for resiliency, latency, or specific functionality.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NORTH's Data Integration layer requires Batch, Streaming (Kafka), API, and CDC (Change Data Capture) access to our source systems.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577840" cy="4343400"/>
          </a:xfrm>
          <a:prstGeom prst="roundRect">
            <a:avLst>
              <a:gd name="adj" fmla="val 1263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828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demand signals for this roadmap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 readiness — Neo4j is NORTH's named target for knowledge graphs and relationship data.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readiness — an “Extended” NORTH pattern for RAG/semantic search; vendor not yet named.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support — confirm which source engines (Oracle, MS SQL, DB2) support low-latency CDC today, and where gaps exist.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hosting — NORTH's Master Data Management hub needs a technology home; confirm whether that's in this roadmap's scope or owned by the NORTH/Data team.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alignment — NORTH's Authoritative Sources / Book of Record model should map cleanly onto this roadmap's Governance domain rather than creating a second standard.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Mapping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item, not yet complete: </a:t>
            </a:r>
            <a:r>
              <a:rPr lang="en-US" sz="12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I&amp;O roadmap is mapped to the Canada Life Technology Capability Model (based on the TBM taxonomy — L1–L3 standard, L4 Canada Life-specific). Confirm the exact L1–L4 entries for database services with EA before this roadmap is considered complete. A hypothesis is shown below.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201168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2377440"/>
                <a:gridCol w="484632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Service Category (Draft)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Service Catalog &amp; Enablement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Modernization &amp; Migration Enablement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Governance &amp; Workload Placement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Enabling Platforms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Cost &amp; License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09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Draft only — replace with the confirmed model once validated with EA's capability-model owner.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Landscape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estate, per the Database Product Owner's landscape review and Service Catalogue — validate with discovery.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5544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— the Estate's Largest Footprint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2555748" cy="237744"/>
          </a:xfrm>
          <a:prstGeom prst="roundRect">
            <a:avLst>
              <a:gd name="adj" fmla="val 50000"/>
            </a:avLst>
          </a:prstGeom>
          <a:solidFill>
            <a:srgbClr val="8C09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25557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(dedicated VM clusters)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44144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Unpreferred, but persists beyond this roadmap's horizon — not a retirement target.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C09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49300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IaaS (self-installed on EC2) — retiring. Target: AWS RDS (managed).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C09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5196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544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IaaS across three flavours (VM, SQL Database, SQL Logical Server) — retiring. Target: Azure SQL Managed Instance (PaaS).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version: SQL Server 2025 (max general support + AI-compatible datatypes).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41732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508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— Medium–Large Critical Workloads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181051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+ Exadata Cloud @ Customer, migrating to Exa@Azure — workload wave Q3 2026 (CONFIRMED).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licensing included in Exa@Azure; 19c supported to 2033 — no forced move.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2971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— In Containment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273552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On-prem, AIX/Linux; ~10 years in containment. One non-standard AWS EC2 exception (FileNet replacement) — not an enterprise pattern.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Clearest cost outlier in the estate — roughly 10x the MS SQL rate.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4343400"/>
            <a:ext cx="55778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PostgreSQL — NoSQL / Open-Source Relational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473659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active, self-service across AWS, Azure &amp; GCP.</a:t>
            </a:r>
            <a:endParaRPr lang="en-US" sz="9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AWS RDS — active, self-service (Canada Central only).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55080" y="53492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direction still to be unified across Atlas / RDS / 26ai-native / graph-vector.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5715000"/>
            <a:ext cx="11292840" cy="621792"/>
          </a:xfrm>
          <a:prstGeom prst="roundRect">
            <a:avLst>
              <a:gd name="adj" fmla="val 8824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5715000"/>
            <a:ext cx="10927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&amp; Cost Snapshot:  </a:t>
            </a: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HCL-managed, 24/7 L1–L3  ·  Oracle ≈$150/instance/mo · MS SQL ≈$55/CPU/mo · DB2 ≈$555/CPU/mo (outlier) · Exadata C@C ≈$1/GB/mo  ·  SLA 99.5%, RPO/RTO ≤24h–96h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AUG 2026, BASELINED ON THE ENTERPRISE CLOUD MATURITY MODEL (1–5 SCALE, INITIAL → OPTIMIZED)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Maturity Model — 8 Dimensions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371600"/>
          <a:ext cx="11247120" cy="3950208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 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Assesses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Standardization &amp; Rationalization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 onto confirmed target platforms (MS SQL MI/RDS, Oracle Exadata) vs. fragmented/legacy patterns.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&amp; Technical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currency, end-of-life exposure, containment status of legacy platforms — DB2 is the clearest current gap.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&amp; Managed-Service Adoption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estate on managed/DBaaS (Managed Instance, RDS, Exa@Azure, Autonomous DB) vs. self-managed IaaS.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&amp; Self-Service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provisioning/patching and self-service enablement vs. ticket-driven, manual operations.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 &amp; 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RPO/RTO tiering by workload criticality, multi-region posture, DR testing cadence.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RBAC/PAM maturity, encryption, regulatory alignment (OSFI) — excludes masking, which is App Owner-led.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 &amp;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visibility into performance, health, capacity; incident response maturity.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FinOps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governance, consumption transparency, cost optimization discipline across platforms.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earlier generic 6-domain draft — these 8 are the team-agreed axes for both the maturity table and the current-vs-target radar (next slide).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Capability Maturity: Current vs. Target (Illustrative)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scoring against the 8 agreed dimensions (previous slide) — replace with a validated assessment from discovery.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463040"/>
          <a:ext cx="60350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858000" y="1463040"/>
            <a:ext cx="4846320" cy="4663440"/>
          </a:xfrm>
          <a:prstGeom prst="roundRect">
            <a:avLst>
              <a:gd name="adj" fmla="val 1176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40880" y="1600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(Illustrative)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040880" y="2057400"/>
            <a:ext cx="4480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Technical Debt is scored lowest today, driven almost entirely by DB2 — the one dimension where the estate's broader low-technical-debt position doesn't yet apply.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Managed-Service Adoption has the clearest, fastest-moving path to target given confirmed direction: Exa@Azure, MS SQL MI/RDS, and Oracle Autonomous Database.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Self-Service shows the widest gap if the roadmap pursues more self-service, mirroring the cloud roadmap's automation ambitions.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From Current-State Insights to Future-Ready Focus Areas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6949440" cy="27432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CURRENT-STATE INSIGHT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43800" y="1234440"/>
            <a:ext cx="4160520" cy="274320"/>
          </a:xfrm>
          <a:prstGeom prst="rect">
            <a:avLst/>
          </a:prstGeom>
          <a:solidFill>
            <a:srgbClr val="2E2E38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0" y="12344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FOCUS AREA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17007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700784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Sprawl across on-prem VM clusters, IaaS SQL-on-VM in both clouds, and three Azure flavours — too many patterns to operate and secure.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543800" y="164592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55280" y="1837944"/>
            <a:ext cx="438912" cy="438912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1837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1783080"/>
            <a:ext cx="3017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&amp; Consolidate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578608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633472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65960" y="2633472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AIX/Linux estate plus a non-endorsed EC2 FileNet one-off; the clearest cost outlier at ~10x the MS SQL rate.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43800" y="2578608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955280" y="2770632"/>
            <a:ext cx="438912" cy="438912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27706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2715768"/>
            <a:ext cx="3017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&amp; Consolidate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511296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566160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65960" y="3566160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Exadata Cloud @ Customer exits 2026, and a large 19c estate is ready to unlock AI — without a support-cliff forcing the move.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43800" y="3511296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955280" y="3593592"/>
            <a:ext cx="329184" cy="329184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0" y="3593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94192" y="3538728"/>
            <a:ext cx="3017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&amp; AI-Ready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955280" y="3977640"/>
            <a:ext cx="329184" cy="329184"/>
          </a:xfrm>
          <a:prstGeom prst="ellipse">
            <a:avLst/>
          </a:prstGeom>
          <a:solidFill>
            <a:srgbClr val="8C0924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3977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94192" y="3922776"/>
            <a:ext cx="3017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Resilience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443984"/>
            <a:ext cx="6949440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" y="4498848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/ Postgres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965960" y="4498848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sit on AWS RDS today, with NoSQL/graph/vector direction unresolved — teams lack a single placement rule.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43800" y="4443984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955280" y="4636008"/>
            <a:ext cx="438912" cy="438912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40" name="Text 38"/>
          <p:cNvSpPr/>
          <p:nvPr/>
        </p:nvSpPr>
        <p:spPr>
          <a:xfrm>
            <a:off x="7955280" y="46360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03920" y="4581144"/>
            <a:ext cx="30175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&amp; AI-Ready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5431536"/>
            <a:ext cx="11292840" cy="777240"/>
          </a:xfrm>
          <a:prstGeom prst="roundRect">
            <a:avLst>
              <a:gd name="adj" fmla="val 7059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4360" y="5495544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Evolution — cross-cutting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566160" y="5495544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HCL-managed, ticket-driven ops shift toward self-service; lower priority given generally low technical debt.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43800" y="5431536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7955280" y="5600700"/>
            <a:ext cx="438912" cy="438912"/>
          </a:xfrm>
          <a:prstGeom prst="ellipse">
            <a:avLst/>
          </a:prstGeom>
          <a:solidFill>
            <a:srgbClr val="747480"/>
          </a:solidFill>
          <a:ln/>
        </p:spPr>
      </p:sp>
      <p:sp>
        <p:nvSpPr>
          <p:cNvPr id="47" name="Text 45"/>
          <p:cNvSpPr/>
          <p:nvPr/>
        </p:nvSpPr>
        <p:spPr>
          <a:xfrm>
            <a:off x="7955280" y="56007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03920" y="55824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Operating Model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Database Landscape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target-state direction, per the Database Product Owner and current initiative intake — dates/costs remain TBD pending baseline.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00" cy="4434840"/>
          </a:xfrm>
          <a:prstGeom prst="roundRect">
            <a:avLst>
              <a:gd name="adj" fmla="val 1237"/>
            </a:avLst>
          </a:prstGeom>
          <a:solidFill>
            <a:srgbClr val="F2DDAC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On-Prem: persists beyond this roadmap's horizon — unpreferred pattern, not a retirement target.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(managed instance): preferred cloud target, replacing self-installed IaaS on EC2.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Managed Instance (PaaS): preferred cloud target, replacing VM / SQL Database / SQL Logical Server IaaS patterns.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SQL Server 2025 — maximum general support window, plus enhanced AI-compatible datatypes.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577840" cy="2606040"/>
          </a:xfrm>
          <a:prstGeom prst="roundRect">
            <a:avLst>
              <a:gd name="adj" fmla="val 2105"/>
            </a:avLst>
          </a:prstGeom>
          <a:solidFill>
            <a:srgbClr val="F2DDAC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828800"/>
            <a:ext cx="52120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Exa@Azure: sole Oracle landing zone; all database licensing included.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19c stays supported to 2033 — no support-cliff forcing the move.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26ai unlocks AI out of the box: native AI vector search, native MongoDB-compatible storage, unified JSON-or-SQL access.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Database: self-manage, self-patch, self-heal — targeted operating-model uplift.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4160520"/>
            <a:ext cx="55778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42793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· MongoDB · PostgreSQL — Target Resolution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46177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DB2: retired — consolidated onto Oracle Exadata.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MongoDB: Atlas or 26ai-native Mongo, per placement policy (D8).</a:t>
            </a:r>
            <a:endParaRPr lang="en-US" sz="10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AWS RDS PostgreSQL, per placement policy (D8).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for Target State &amp; Expected Business Outcomes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Outcomes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Engine for the Job: MS SQL (Managed Instance/RDS) for small–medium workloads, Oracle Exadata for medium–large (critical) — a confirmed sizing rule, not case-by-case debate.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Resilient, Tiered Architecture: DR and recovery targets matched to workload criticality, not one-size-fits-all.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 by Design: policy-driven guardrails, automated compliance — masking stays an Application Owner responsibility.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Cost-Transparent Operations: unified licensing and consumption visibility for FinOps-style traceability.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3949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Retirement of Legacy Platforms: DB2 exit to Oracle Exadata completed on a committed timeline.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7830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1737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Efficiency: contain licensing and infrastructure spend while supporting business growth.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26974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26517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Value: faster provisioning for application teams via self-service.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6118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611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5661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Compliance: reduced operational risk via unified database governance.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4526280"/>
            <a:ext cx="384048" cy="384048"/>
          </a:xfrm>
          <a:prstGeom prst="ellipse">
            <a:avLst/>
          </a:prstGeom>
          <a:solidFill>
            <a:srgbClr val="BA0C2F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66560" y="4480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Focus: simplify the estate by exiting deprecated, high-cost platforms.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5440680"/>
            <a:ext cx="384048" cy="384048"/>
          </a:xfrm>
          <a:prstGeom prst="ellipse">
            <a:avLst/>
          </a:prstGeom>
          <a:solidFill>
            <a:srgbClr val="2E2E38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5440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53949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Uplift: target Level 4+ across all assessed database capabilities.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Target Operating Model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model gives every workload a governed path to the right engine, sized by workload demand, with automation and observability wrapped around all of it — conceptual, to be refined with the Portfolio Architect.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7647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Teams  •  Analytics &amp; BI  •  AI / ML Workloads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8620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2918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Relational: MS SQL 2025 MI/RDS (small–medium) + Oracle Exadata/26ai/Autonomous DB (medium–large, critical)  •  NoSQL: MongoDB Atlas + Oracle 26ai-native  •  Graph/Vector (NORTH-driven, future)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9593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Security &amp; Governance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 •  RBAC/PAM  •  Automated backup, patch &amp; DR  •  Cost &amp; license governance  •  Masking = App Owner-led, Oracle-enabled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50566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4864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Exadata @ Azure (sole Oracle landing zone)  •  Azure SQL MI  •  AWS RDS  •  On-Prem MS SQL (persists beyond roadmap horizon, unpreferred)  •  On-Prem DB2 (retiring to Exadata)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 / Initiatives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35661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and Sequencing — dates/costs are provisional until the current-state baseline is agreed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OPPORTUNITY-LED — TECHNICAL DEBT IS LOW ACROSS THE ESTATE; DB2 IS THE ONE TRUE PAIN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Priorities Summary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371600"/>
          <a:ext cx="11247120" cy="448056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3200400"/>
                <a:gridCol w="2468880"/>
                <a:gridCol w="2103120"/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 / Pain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Exa@Azure Migration (CONFIRMED)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Exadata hardware support lapsed; workload wave to Exa@Azure targeted Q3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Avoids refresh; path to 99.99% SLA &amp; OSFI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MS SQL Platform Standardization (CONFIRMED)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IaaS MS SQL exists in both public clouds; on-prem persists (unpreferred) but cloud IaaS is not the target 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patterns to operate/secure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 DB2 Retirement to Oracle Exadata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 — cost outlier, ~10 years in containment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clearest cost outlier in the estate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&amp; Optimization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D4: Oracle 26ai Upgrade (AI-Readiness)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estate largely on 19c; no native AI-ready 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AI-ready platform, native Mongo 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D5: MS SQL Server 2025 Upgrade (AI-Readiness)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estate not yet on 2025; misses enhanced AI-compatible datatypes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general support, AI-ready platform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D6: Oracle Autonomous Database 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patching/ops on Oracle today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ops burden, self-healing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D7: Database DR &amp; Resiliency Modernization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RPO/RTO up to 96h; no tiering by criticality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recovery, reduced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D8: NoSQL/Postgres &amp; Graph/Vector Placement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Atlas/RDS active; Oracle 26ai adds an option; policy not formalized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team ambiguity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&amp; Services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D9: Operating Model Evolution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Ticket-driven provisioning via HCL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delivery, less friction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Work Packages / Initiatives &amp; Objectives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188720"/>
          <a:ext cx="11247120" cy="4160520"/>
        </p:xfrm>
        <a:graphic>
          <a:graphicData uri="http://schemas.openxmlformats.org/drawingml/2006/table">
            <a:tbl>
              <a:tblPr/>
              <a:tblGrid>
                <a:gridCol w="640080"/>
                <a:gridCol w="3017520"/>
                <a:gridCol w="7589520"/>
              </a:tblGrid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Exa@Azure Migration (CONFIRMED — Intake #290)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the move off unsupported on-prem Exadata hardware; Cloud@Customer→Exa@Azure workload wave targeted Q3 2026; Exa@Azure becomes the sole Oracle landing zone.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Platform Standardization (CONFIRMED)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 cloud IaaS MS SQL in Azure and AWS (on-prem persists beyond this roadmap, unpreferred); standardize on Managed Instance / RDS; confirm as the small–medium workload platform.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DB2 Retirement to Oracle Exadata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DB2 exit onto the confirmed Oracle Exadata replacement target; quantify and capture the cost gap vs. MS SQL/Postgres.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26ai Upgrade (AI-Readiness &amp; Native Mongo)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path from 19c to 26ai; evaluate native Mongo-compatible storage as an alternative to standalone NoSQL for eligible workloads. Not support-driven — 19c stays supported to 2033.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Server 2025 Upgrade (AI-Readiness)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 to SQL Server 2025 for maximum general support and enhanced AI-compatible datatypes — the MS SQL counterpart to Oracle's 19c→26ai upgrade.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Database 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 self-healing, auto-patching Autonomous Database capabilities to reduce operational overhead on Oracle workloads.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DR &amp; Resiliency Modernization (Broader Estate)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the resilience approach used for Exa@Azure (tiered SLA, multi-region) to the rest of the estate; tier RPO/RTO by workload criticality.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NoSQL/Postgres &amp; Graph/Vector Placement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Formalize placement across MongoDB Atlas, AWS RDS PostgreSQL, Oracle 26ai-native Mongo, and NORTH's Neo4j/vector direction into one policy.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&amp; Operating Model Evolution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expanding self-service provisioning within or alongside the HCL-managed model. Lower priority given low overall technical debt.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44068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Dependencies: D1 depends on ExpressRoute/Equinix connectivity and, for a possible future state, GCP Frontdoor; D7 may depend on Chaos Resiliency Testing (C7) and Proactive/Self-Recovery (C9); D9 connects to Self Service Tooling (C4). Open dependency: alignment with the enterprise Data Strategy (owned by EA) — inline vs. separate section, ETA pending.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Packages / Initiatives Sequencing (2027–2028 shown, provisional)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280160"/>
          <a:ext cx="11247120" cy="3749040"/>
        </p:xfrm>
        <a:graphic>
          <a:graphicData uri="http://schemas.openxmlformats.org/drawingml/2006/table">
            <a:tbl>
              <a:tblPr/>
              <a:tblGrid>
                <a:gridCol w="393192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Exa@Azure Migration (Q3 2026 wave precedes this window)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MS SQL Platform Standardization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 DB2 Retirement to Oracle Exadata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D4: Oracle 26ai Upgrade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D5: MS SQL Server 2025 Upgrade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D6: Oracle Autonomous Database Adoption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D7: Database DR &amp; Resiliency Modernization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D8: NoSQL/Postgres &amp; Graph/Vector Placement Policy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D9: Self-Service &amp; Operating Model Evolution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38912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5120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= confirmed technology direction (Aug 2026 session). Red = DB2 pain point plus items still pending target-state principle sign-off. Per the team's agreed sequencing principle, exact placement is provisional until the current-state baseline and target-state principles are formally agreed — only D1's Q3 2026 wave is a real, documented date.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 Details — Scope, Cost &amp; Timeline (Template)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188720"/>
          <a:ext cx="11247120" cy="475488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468880"/>
                <a:gridCol w="1645920"/>
                <a:gridCol w="201168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In-Scope 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D1: Exa@Azure Migration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Exadata Database Service on Azure (RAC), Autonomous Recovery Service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≈$1.15–1.2M Azure credits + $1.7M vendor + $0.33M internal IT (documented — verify total)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 complete (FY25); confirm W2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CONFIRMED: workload wave Q3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DA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D2: MS SQL Platform Standardization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SQL Managed Instance, AWS RDS SQL Server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D3: DB2 Retirement to Oracle Exadata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Exadata (Exa@Azure)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quantify DB2 exit savings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D4: Oracle 26ai Upgrade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26ai (from 19c)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D5: MS SQL Server 2025 Upgrade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 SQL Server 2025 (from current version)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D6: Oracle Autonomous Database Adoption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Autonomous Database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D7: Database DR &amp; Resiliency Modernization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HA/DR tooling, 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D8: NoSQL/Postgres &amp; Graph/Vector Placement Policy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Atlas, AWS RDS PostgreSQL, Oracle 26ai-native, Neo4j (NORTH)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D9: Self-Service &amp; Operating Model Evolution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(ServiceNow / IaC tooling)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— pending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080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D1's cost/timeline is real and documented (approved architecture sketch — verify consolidated total). Every other field reads TBD by design: the team agreed to baseline the current-state estate and target-state principles before assigning dates or costs to individual work packages.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8C092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651760" y="274320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6517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DISCUSSION &amp; VALIDATION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by Capability (Draft)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447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Service Catalog &amp; Enablement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access to approved database platforms; reduces risk and speeds adoption through a curated, discoverable catalogue.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3347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Modernization &amp; Migration Enablement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999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already-offered legacy-to-cloud migration service; accelerates DB2 exit and other modernization moves.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82219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Governance &amp; Workload Placement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18795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workload lands on the right engine and platform, consistent with enterprise standards and the cloud roadmap's placement framework.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01091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Cost &amp; License Optimization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37667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Rightsizing, license consumption tracking, and cost dashboards — direct counterpart to the cloud roadmap's FinOps/tagging initiatives.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WORKING DRAFT — FOR DISCOVERY &amp; VALIDATION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454335" y="63550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BA0C2F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63550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AUGUST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Working Model &amp; Roles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457200" y="1325880"/>
          <a:ext cx="11247120" cy="2121408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6126480"/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0C2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Glen Loewen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Current-State &amp; Technology 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landscape, pain points/technical debt, platform rationalization, technology positioning for SQL Server, Oracle/Exadata, DB2, cloud-managed services.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Santhosh Kumar Chandrashekar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Roadmap Structure &amp; Consolidation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 assessment, current-vs-target view, target-state principles, work packages, sequencing.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Rakesh Nair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 / Strategic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2E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Strategy alignment, dependencies &amp; guardrails, target-state architecture, strategic outcomes.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79476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2F2F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904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A0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Convergence Storyline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42062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 smtClean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→ Current </a:t>
            </a:r>
            <a:r>
              <a:rPr lang="en-US" sz="13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→  Gaps / Pain Points  →  Target State  →  Strategic Initiatives  →  Sequencing  →  Outcomes / Measures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93776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0CCD2"/>
          </a:solidFill>
          <a:ln/>
          <a:effectLst>
            <a:outerShdw blurRad="50800" dist="25400" dir="5400000" algn="bl" rotWithShape="0">
              <a:srgbClr val="80808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504748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C09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Sequencing Principle &amp; Open Item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before backlog: the team agreed to finalize the current-state estate and target-state principles before assigning dates/costs to individual work packages — architecture-driven, not backlog-driven. Open item: whether Data Strategy alignment is folded inline or kept as a separate section (owned by the EA/Strategic Alignment stream above, ETA pending).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4711</Words>
  <Application>Microsoft Office PowerPoint</Application>
  <PresentationFormat>Custom</PresentationFormat>
  <Paragraphs>669</Paragraphs>
  <Slides>28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Services Roadmap</dc:title>
  <dc:subject>PptxGenJS Presentation</dc:subject>
  <dc:creator>Santhosh Kumar Chandrashekar, Enterprise Architecture</dc:creator>
  <cp:lastModifiedBy>Santhosh Kumar Chandrashekar</cp:lastModifiedBy>
  <cp:revision>2</cp:revision>
  <dcterms:created xsi:type="dcterms:W3CDTF">2026-08-28T09:16:07Z</dcterms:created>
  <dcterms:modified xsi:type="dcterms:W3CDTF">2026-09-02T06:11:00Z</dcterms:modified>
</cp:coreProperties>
</file>