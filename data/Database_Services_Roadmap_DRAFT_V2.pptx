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Default Extension="xlsx" ContentType="application/vnd.openxmlformats-officedocument.spreadsheetml.sheet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-499" y="-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</a:rPr>
              <a:t>Current vs. Target (Illustrative)</a:t>
            </a:r>
          </a:p>
        </c:rich>
      </c:tx>
      <c:layout/>
    </c:title>
    <c:plotArea>
      <c:layout/>
      <c:radarChart>
        <c:radarStyle val="marker"/>
        <c:ser>
          <c:idx val="0"/>
          <c:order val="0"/>
          <c:tx>
            <c:strRef>
              <c:f>Sheet1!$B$1</c:f>
              <c:strCache>
                <c:ptCount val="1"/>
                <c:pt idx="0">
                  <c:v>Current State</c:v>
                </c:pt>
              </c:strCache>
            </c:strRef>
          </c:tx>
          <c:spPr>
            <a:ln w="25400" cap="flat">
              <a:solidFill>
                <a:srgbClr val="74748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747480"/>
              </a:solidFill>
              <a:ln w="9525" cap="flat">
                <a:solidFill>
                  <a:srgbClr val="747480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Platform Standardization</c:v>
                </c:pt>
                <c:pt idx="1">
                  <c:v>Lifecycle &amp; Tech Debt</c:v>
                </c:pt>
                <c:pt idx="2">
                  <c:v>Cloud/Managed Adoption</c:v>
                </c:pt>
                <c:pt idx="3">
                  <c:v>Automation &amp; Self-Service</c:v>
                </c:pt>
                <c:pt idx="4">
                  <c:v>Resilience &amp; DR</c:v>
                </c:pt>
                <c:pt idx="5">
                  <c:v>Security &amp; Compliance</c:v>
                </c:pt>
                <c:pt idx="6">
                  <c:v>Observability &amp; Ops</c:v>
                </c:pt>
                <c:pt idx="7">
                  <c:v>Cost / FinOps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</c:v>
                </c:pt>
                <c:pt idx="1">
                  <c:v>2</c:v>
                </c:pt>
                <c:pt idx="2">
                  <c:v>3</c:v>
                </c:pt>
                <c:pt idx="3">
                  <c:v>2</c:v>
                </c:pt>
                <c:pt idx="4">
                  <c:v>2</c:v>
                </c:pt>
                <c:pt idx="5">
                  <c:v>3</c:v>
                </c:pt>
                <c:pt idx="6">
                  <c:v>2</c:v>
                </c:pt>
                <c:pt idx="7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 State</c:v>
                </c:pt>
              </c:strCache>
            </c:strRef>
          </c:tx>
          <c:spPr>
            <a:ln w="25400" cap="flat">
              <a:solidFill>
                <a:srgbClr val="BA0C2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BA0C2F"/>
              </a:solidFill>
              <a:ln w="9525" cap="flat">
                <a:solidFill>
                  <a:srgbClr val="BA0C2F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Platform Standardization</c:v>
                </c:pt>
                <c:pt idx="1">
                  <c:v>Lifecycle &amp; Tech Debt</c:v>
                </c:pt>
                <c:pt idx="2">
                  <c:v>Cloud/Managed Adoption</c:v>
                </c:pt>
                <c:pt idx="3">
                  <c:v>Automation &amp; Self-Service</c:v>
                </c:pt>
                <c:pt idx="4">
                  <c:v>Resilience &amp; DR</c:v>
                </c:pt>
                <c:pt idx="5">
                  <c:v>Security &amp; Compliance</c:v>
                </c:pt>
                <c:pt idx="6">
                  <c:v>Observability &amp; Ops</c:v>
                </c:pt>
                <c:pt idx="7">
                  <c:v>Cost / FinOps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4</c:v>
                </c:pt>
                <c:pt idx="1">
                  <c:v>4</c:v>
                </c:pt>
                <c:pt idx="2">
                  <c:v>5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  <c:pt idx="6">
                  <c:v>4</c:v>
                </c:pt>
                <c:pt idx="7">
                  <c:v>4</c:v>
                </c:pt>
              </c:numCache>
            </c:numRef>
          </c:val>
        </c:ser>
        <c:dLbls/>
        <c:axId val="188063744"/>
        <c:axId val="188065280"/>
      </c:radarChart>
      <c:catAx>
        <c:axId val="188063744"/>
        <c:scaling>
          <c:orientation val="minMax"/>
        </c:scaling>
        <c:axPos val="b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188065280"/>
        <c:crosses val="autoZero"/>
        <c:auto val="1"/>
        <c:lblAlgn val="ctr"/>
        <c:lblOffset val="100"/>
        <c:noMultiLvlLbl val="1"/>
      </c:catAx>
      <c:valAx>
        <c:axId val="188065280"/>
        <c:scaling>
          <c:orientation val="minMax"/>
          <c:max val="5"/>
          <c:min val="0"/>
        </c:scaling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1880637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0" cy="914400"/>
          </a:xfrm>
          <a:prstGeom prst="rect">
            <a:avLst/>
          </a:prstGeom>
          <a:solidFill>
            <a:srgbClr val="BA0C2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9144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Database Services: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Roadmap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5486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DRAFT — Built for Discovery &amp; Stakeholder Validation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362895" y="6217920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BA0C2F"/>
          </a:solidFill>
          <a:ln/>
        </p:spPr>
      </p:sp>
      <p:sp>
        <p:nvSpPr>
          <p:cNvPr id="7" name="Text 5"/>
          <p:cNvSpPr/>
          <p:nvPr/>
        </p:nvSpPr>
        <p:spPr>
          <a:xfrm>
            <a:off x="10362895" y="621792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Status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Status: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To be finalized once discovery is complete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Working Draft (v0.1) — not yet reviewed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Product Owner — in progress (source of current-state input)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 Database Portfolio Architect — in progress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2648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26480" y="17373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Pending. Recommend mirroring the Cloud Foundations Roadmap's sign-off chain: CTO/SVP I&amp;O, Chief Enterprise Architect, and the Database Product Owner's executive sponsor.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26480" y="2834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26480" y="3200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Santhosh Kumar Chandrashekar, Enterprise Architecture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0" y="3840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Group: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26480" y="420624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Product Owner &amp; team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 Database Portfolio Architect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1371600" y="1371600"/>
          <a:ext cx="9418320" cy="4517136"/>
        </p:xfrm>
        <a:graphic>
          <a:graphicData uri="http://schemas.openxmlformats.org/drawingml/2006/table">
            <a:tbl>
              <a:tblPr/>
              <a:tblGrid>
                <a:gridCol w="8046720"/>
                <a:gridCol w="1371600"/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Services Value Chain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Guiding Principles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Overview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Strategic Focus Areas &amp; Transformation Opportunities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Confirmed Target-State Technology Positioning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Alignment with the NORTH Data Platform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 Mapping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State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12–16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State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17–19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 Packages / Initiatives Identification and Sequencing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Appendix — incl. Working Model &amp; Roles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25–27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Advancing Enterprise Database Maturity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6949440" cy="1691640"/>
          </a:xfrm>
          <a:prstGeom prst="roundRect">
            <a:avLst>
              <a:gd name="adj" fmla="val 3243"/>
            </a:avLst>
          </a:prstGeom>
          <a:solidFill>
            <a:srgbClr val="F0CCD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1508760"/>
            <a:ext cx="6492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8C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Statement (source: Database Product Owner's in-progress deck): </a:t>
            </a:r>
            <a:r>
              <a:rPr lang="en-US" sz="12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a modern, resilient, and secure database enterprise that enables scalable growth, strengthens regulatory compliance, and accelerates innovation across the organization. Through strategic adoption of cloud-native and vendor-supported technologies, we will simplify operations, enhance service reliability, and unlock AI-enabled data capabilities that drive business value.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246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Outcomes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457200" y="3611880"/>
          <a:ext cx="6949440" cy="1828800"/>
        </p:xfrm>
        <a:graphic>
          <a:graphicData uri="http://schemas.openxmlformats.org/drawingml/2006/table">
            <a:tbl>
              <a:tblPr/>
              <a:tblGrid>
                <a:gridCol w="6949440"/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Accelerate Time-to-Market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Increase Service Resilience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Strengthen Security Posture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Modernized Features like 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 Reduce Operational Effort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7680960" y="1371600"/>
            <a:ext cx="4023360" cy="4663440"/>
          </a:xfrm>
          <a:prstGeom prst="roundRect">
            <a:avLst>
              <a:gd name="adj" fmla="val 1364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863840" y="155448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Value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863840" y="2880360"/>
            <a:ext cx="411480" cy="41148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14" name="Text 11"/>
          <p:cNvSpPr/>
          <p:nvPr/>
        </p:nvSpPr>
        <p:spPr>
          <a:xfrm>
            <a:off x="7863840" y="2880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412480" y="28803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Agility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863840" y="3538728"/>
            <a:ext cx="411480" cy="411480"/>
          </a:xfrm>
          <a:prstGeom prst="ellipse">
            <a:avLst/>
          </a:prstGeom>
          <a:solidFill>
            <a:srgbClr val="2E2E38"/>
          </a:solidFill>
          <a:ln/>
        </p:spPr>
      </p:sp>
      <p:sp>
        <p:nvSpPr>
          <p:cNvPr id="17" name="Text 14"/>
          <p:cNvSpPr/>
          <p:nvPr/>
        </p:nvSpPr>
        <p:spPr>
          <a:xfrm>
            <a:off x="7863840" y="35387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412480" y="353872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863840" y="4197096"/>
            <a:ext cx="411480" cy="41148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20" name="Text 17"/>
          <p:cNvSpPr/>
          <p:nvPr/>
        </p:nvSpPr>
        <p:spPr>
          <a:xfrm>
            <a:off x="7863840" y="41970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412480" y="419709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Security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863840" y="4855464"/>
            <a:ext cx="411480" cy="411480"/>
          </a:xfrm>
          <a:prstGeom prst="ellipse">
            <a:avLst/>
          </a:prstGeom>
          <a:solidFill>
            <a:srgbClr val="2E2E38"/>
          </a:solidFill>
          <a:ln/>
        </p:spPr>
      </p:sp>
      <p:sp>
        <p:nvSpPr>
          <p:cNvPr id="23" name="Text 20"/>
          <p:cNvSpPr/>
          <p:nvPr/>
        </p:nvSpPr>
        <p:spPr>
          <a:xfrm>
            <a:off x="7863840" y="48554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412480" y="4855464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Consumable Features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7863840" y="5513832"/>
            <a:ext cx="411480" cy="41148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26" name="Text 23"/>
          <p:cNvSpPr/>
          <p:nvPr/>
        </p:nvSpPr>
        <p:spPr>
          <a:xfrm>
            <a:off x="7863840" y="55138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412480" y="551383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Operations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7863840" y="5806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C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→ 2028 → 2029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57200" y="61722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C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“Delivering Secure, Intelligent, and Resilient Data Platforms for the Future of Financial Services”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Services Value Chain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end-to-end journey from planning to optimization — standardized, secure, and efficient database operations that enable faster delivery and compliance.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BA0C2F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6916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350008" y="1691640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BA0C2F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50008" y="16916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42816" y="1691640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BA0C2F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242816" y="16916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35624" y="1691640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BA0C2F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35624" y="16916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28432" y="1691640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BA0C2F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028432" y="16916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921240" y="1691640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BA0C2F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921240" y="16916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2377440"/>
            <a:ext cx="1783080" cy="2011680"/>
          </a:xfrm>
          <a:prstGeom prst="roundRect">
            <a:avLst>
              <a:gd name="adj" fmla="val 3077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2487168"/>
            <a:ext cx="1600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workload needs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engine strategy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cloud vs. on-prem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350008" y="2377440"/>
            <a:ext cx="1783080" cy="2011680"/>
          </a:xfrm>
          <a:prstGeom prst="roundRect">
            <a:avLst>
              <a:gd name="adj" fmla="val 3077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441448" y="2487168"/>
            <a:ext cx="1600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builds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CMDB/tag registration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monitoring setup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242816" y="2377440"/>
            <a:ext cx="1783080" cy="2011680"/>
          </a:xfrm>
          <a:prstGeom prst="roundRect">
            <a:avLst>
              <a:gd name="adj" fmla="val 3077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334256" y="2487168"/>
            <a:ext cx="1600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&amp; RBAC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baselines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monitoring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35624" y="2377440"/>
            <a:ext cx="1783080" cy="2011680"/>
          </a:xfrm>
          <a:prstGeom prst="roundRect">
            <a:avLst>
              <a:gd name="adj" fmla="val 3077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27064" y="2487168"/>
            <a:ext cx="1600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monitoring &amp; incident mgmt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&amp; lifecycle mgmt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028432" y="2377440"/>
            <a:ext cx="1783080" cy="2011680"/>
          </a:xfrm>
          <a:prstGeom prst="roundRect">
            <a:avLst>
              <a:gd name="adj" fmla="val 3077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119872" y="2487168"/>
            <a:ext cx="1600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&amp; performance tuning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&amp; cost optimization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testing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921240" y="2377440"/>
            <a:ext cx="1783080" cy="2011680"/>
          </a:xfrm>
          <a:prstGeom prst="roundRect">
            <a:avLst>
              <a:gd name="adj" fmla="val 3077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0012680" y="2487168"/>
            <a:ext cx="1600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Decommissioning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archival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reclamation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" y="4480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constituents: 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7548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Product Owner  •  EA Database Portfolio Architect  •  DBA/Engineering Teams (HCL)  •  Application Owners  •  Security  •  FinOps  •  Compliance  •  Vendors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5084064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C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data classification &amp; masking is an Application Owner responsibility, not a centralized database service — Oracle is the only DBMS with native masking functionality, and it's a platform capability App Owners may optionally consume.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5440680"/>
            <a:ext cx="11247120" cy="777240"/>
          </a:xfrm>
          <a:prstGeom prst="roundRect">
            <a:avLst>
              <a:gd name="adj" fmla="val 7059"/>
            </a:avLst>
          </a:prstGeom>
          <a:solidFill>
            <a:srgbClr val="F0CCD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40080" y="54406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C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Architecture Engagement: contributes to database strategy &amp; planning, ensures governance alignment across the full lifecycle, and keeps this roadmap connected to the Cloud Foundations Roadmap.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Principles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Adopted from the Cloud Foundations Roadmap's nine enterprise principles, plus one database-specific addition — confirm with sponsors whether to keep all ten.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2176272" cy="1920240"/>
          </a:xfrm>
          <a:prstGeom prst="roundRect">
            <a:avLst>
              <a:gd name="adj" fmla="val 2857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316736" y="1764792"/>
            <a:ext cx="457200" cy="45720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10" name="Text 8"/>
          <p:cNvSpPr/>
          <p:nvPr/>
        </p:nvSpPr>
        <p:spPr>
          <a:xfrm>
            <a:off x="1316736" y="1764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313432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Appropriate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2651760"/>
            <a:ext cx="1993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first, cloud appropriate — pattern-based decisions for workload placement.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24912" y="1600200"/>
            <a:ext cx="2176272" cy="1920240"/>
          </a:xfrm>
          <a:prstGeom prst="roundRect">
            <a:avLst>
              <a:gd name="adj" fmla="val 2857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84448" y="1764792"/>
            <a:ext cx="457200" cy="45720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15" name="Text 13"/>
          <p:cNvSpPr/>
          <p:nvPr/>
        </p:nvSpPr>
        <p:spPr>
          <a:xfrm>
            <a:off x="3584448" y="1764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16352" y="2313432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Before Build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816352" y="2651760"/>
            <a:ext cx="1993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managed/DBaaS options before self-managed infrastructure.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992624" y="1600200"/>
            <a:ext cx="2176272" cy="1920240"/>
          </a:xfrm>
          <a:prstGeom prst="roundRect">
            <a:avLst>
              <a:gd name="adj" fmla="val 2857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52160" y="1764792"/>
            <a:ext cx="457200" cy="45720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20" name="Text 18"/>
          <p:cNvSpPr/>
          <p:nvPr/>
        </p:nvSpPr>
        <p:spPr>
          <a:xfrm>
            <a:off x="5852160" y="1764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84064" y="2313432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Autonomy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84064" y="2651760"/>
            <a:ext cx="1993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Practitioners trusted to act in the best interest of the company, within a strong foundation.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260336" y="1600200"/>
            <a:ext cx="2176272" cy="1920240"/>
          </a:xfrm>
          <a:prstGeom prst="roundRect">
            <a:avLst>
              <a:gd name="adj" fmla="val 2857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19872" y="1764792"/>
            <a:ext cx="457200" cy="45720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25" name="Text 23"/>
          <p:cNvSpPr/>
          <p:nvPr/>
        </p:nvSpPr>
        <p:spPr>
          <a:xfrm>
            <a:off x="8119872" y="1764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51776" y="2313432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Everywhere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351776" y="2651760"/>
            <a:ext cx="1993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Provisioning, configuration, and lifecycle management are automated by default.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528048" y="1600200"/>
            <a:ext cx="2176272" cy="1920240"/>
          </a:xfrm>
          <a:prstGeom prst="roundRect">
            <a:avLst>
              <a:gd name="adj" fmla="val 2857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387584" y="1764792"/>
            <a:ext cx="457200" cy="45720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30" name="Text 28"/>
          <p:cNvSpPr/>
          <p:nvPr/>
        </p:nvSpPr>
        <p:spPr>
          <a:xfrm>
            <a:off x="10387584" y="1764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619488" y="2313432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Experientially Focused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9619488" y="2651760"/>
            <a:ext cx="1993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teams' experience is a first-class design consideration.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3703320"/>
            <a:ext cx="2176272" cy="1920240"/>
          </a:xfrm>
          <a:prstGeom prst="roundRect">
            <a:avLst>
              <a:gd name="adj" fmla="val 2857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316736" y="3867912"/>
            <a:ext cx="457200" cy="45720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35" name="Text 33"/>
          <p:cNvSpPr/>
          <p:nvPr/>
        </p:nvSpPr>
        <p:spPr>
          <a:xfrm>
            <a:off x="1316736" y="3867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4416552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Oriented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48640" y="4754880"/>
            <a:ext cx="1993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weighed on velocity, resilience, and total cost of ownership.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24912" y="3703320"/>
            <a:ext cx="2176272" cy="1920240"/>
          </a:xfrm>
          <a:prstGeom prst="roundRect">
            <a:avLst>
              <a:gd name="adj" fmla="val 2857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584448" y="3867912"/>
            <a:ext cx="457200" cy="45720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40" name="Text 38"/>
          <p:cNvSpPr/>
          <p:nvPr/>
        </p:nvSpPr>
        <p:spPr>
          <a:xfrm>
            <a:off x="3584448" y="3867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816352" y="4416552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Observability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2816352" y="4754880"/>
            <a:ext cx="1993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Unified, real-time visibility into health, performance, and cost.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992624" y="3703320"/>
            <a:ext cx="2176272" cy="1920240"/>
          </a:xfrm>
          <a:prstGeom prst="roundRect">
            <a:avLst>
              <a:gd name="adj" fmla="val 2857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852160" y="3867912"/>
            <a:ext cx="457200" cy="45720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45" name="Text 43"/>
          <p:cNvSpPr/>
          <p:nvPr/>
        </p:nvSpPr>
        <p:spPr>
          <a:xfrm>
            <a:off x="5852160" y="3867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084064" y="4416552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by Design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5084064" y="4754880"/>
            <a:ext cx="1993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security, policy-driven enforcement, and data protection by default.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260336" y="3703320"/>
            <a:ext cx="2176272" cy="1920240"/>
          </a:xfrm>
          <a:prstGeom prst="roundRect">
            <a:avLst>
              <a:gd name="adj" fmla="val 2857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8119872" y="3867912"/>
            <a:ext cx="457200" cy="45720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50" name="Text 48"/>
          <p:cNvSpPr/>
          <p:nvPr/>
        </p:nvSpPr>
        <p:spPr>
          <a:xfrm>
            <a:off x="8119872" y="3867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351776" y="4416552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Optimization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7351776" y="4754880"/>
            <a:ext cx="1993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 feedback loops for efficient use of technology and spend.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9528048" y="3703320"/>
            <a:ext cx="2176272" cy="1920240"/>
          </a:xfrm>
          <a:prstGeom prst="roundRect">
            <a:avLst>
              <a:gd name="adj" fmla="val 2857"/>
            </a:avLst>
          </a:prstGeom>
          <a:solidFill>
            <a:srgbClr val="F2DDAC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10387584" y="3867912"/>
            <a:ext cx="457200" cy="457200"/>
          </a:xfrm>
          <a:prstGeom prst="ellipse">
            <a:avLst/>
          </a:prstGeom>
          <a:solidFill>
            <a:srgbClr val="8C0924"/>
          </a:solidFill>
          <a:ln/>
        </p:spPr>
      </p:sp>
      <p:sp>
        <p:nvSpPr>
          <p:cNvPr id="55" name="Text 53"/>
          <p:cNvSpPr/>
          <p:nvPr/>
        </p:nvSpPr>
        <p:spPr>
          <a:xfrm>
            <a:off x="10387584" y="3867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9619488" y="4416552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Engine for the Job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9619488" y="4754880"/>
            <a:ext cx="1993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storage engine — relational, document, vector — suited to the workload.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Strategic Domains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roadmap organizes database services into the same six domains the Cloud Foundations Roadmap uses, so the two roadmaps share one structural language — each domain below is grounded in confirmed technology direction, not generic category labels.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3657600" cy="1737360"/>
          </a:xfrm>
          <a:prstGeom prst="roundRect">
            <a:avLst>
              <a:gd name="adj" fmla="val 3158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1965960"/>
            <a:ext cx="502920" cy="50292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25880" y="193852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256032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standards and engine selection — the confirmed workload-sizing rule (MS SQL small–medium, Oracle Exadata medium–high).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51960" y="1737360"/>
            <a:ext cx="3657600" cy="1737360"/>
          </a:xfrm>
          <a:prstGeom prst="roundRect">
            <a:avLst>
              <a:gd name="adj" fmla="val 3158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80560" y="1965960"/>
            <a:ext cx="502920" cy="502920"/>
          </a:xfrm>
          <a:prstGeom prst="ellipse">
            <a:avLst/>
          </a:prstGeom>
          <a:solidFill>
            <a:srgbClr val="2E2E38"/>
          </a:solidFill>
          <a:ln/>
        </p:spPr>
      </p:sp>
      <p:sp>
        <p:nvSpPr>
          <p:cNvPr id="15" name="Text 13"/>
          <p:cNvSpPr/>
          <p:nvPr/>
        </p:nvSpPr>
        <p:spPr>
          <a:xfrm>
            <a:off x="448056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20640" y="193852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80560" y="256032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control, encryption, and OSFI-aligned compliance — excludes masking, which is App Owner-led.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46720" y="1737360"/>
            <a:ext cx="3657600" cy="1737360"/>
          </a:xfrm>
          <a:prstGeom prst="roundRect">
            <a:avLst>
              <a:gd name="adj" fmla="val 3158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75320" y="1965960"/>
            <a:ext cx="502920" cy="50292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20" name="Text 18"/>
          <p:cNvSpPr/>
          <p:nvPr/>
        </p:nvSpPr>
        <p:spPr>
          <a:xfrm>
            <a:off x="827532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915400" y="193852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75320" y="256032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standardization and lifecycle management — where DB2's retirement to Oracle Exadata sits.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657600"/>
            <a:ext cx="3657600" cy="1737360"/>
          </a:xfrm>
          <a:prstGeom prst="roundRect">
            <a:avLst>
              <a:gd name="adj" fmla="val 3158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5800" y="3886200"/>
            <a:ext cx="502920" cy="502920"/>
          </a:xfrm>
          <a:prstGeom prst="ellipse">
            <a:avLst/>
          </a:prstGeom>
          <a:solidFill>
            <a:srgbClr val="2E2E38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325880" y="38587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&amp; Services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5800" y="44805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Cloud/managed-service adoption — Exa@Azure, MS SQL MI/RDS, Oracle 26ai, Autonomous Database.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251960" y="3657600"/>
            <a:ext cx="3657600" cy="1737360"/>
          </a:xfrm>
          <a:prstGeom prst="roundRect">
            <a:avLst>
              <a:gd name="adj" fmla="val 3158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480560" y="3886200"/>
            <a:ext cx="502920" cy="50292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30" name="Text 28"/>
          <p:cNvSpPr/>
          <p:nvPr/>
        </p:nvSpPr>
        <p:spPr>
          <a:xfrm>
            <a:off x="448056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20640" y="38587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Optimization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480560" y="44805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governance and consumption-based cost management across every platform.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046720" y="3657600"/>
            <a:ext cx="3657600" cy="1737360"/>
          </a:xfrm>
          <a:prstGeom prst="roundRect">
            <a:avLst>
              <a:gd name="adj" fmla="val 3158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275320" y="3886200"/>
            <a:ext cx="502920" cy="502920"/>
          </a:xfrm>
          <a:prstGeom prst="ellipse">
            <a:avLst/>
          </a:prstGeom>
          <a:solidFill>
            <a:srgbClr val="2E2E38"/>
          </a:solidFill>
          <a:ln/>
        </p:spPr>
      </p:sp>
      <p:sp>
        <p:nvSpPr>
          <p:cNvPr id="35" name="Text 33"/>
          <p:cNvSpPr/>
          <p:nvPr/>
        </p:nvSpPr>
        <p:spPr>
          <a:xfrm>
            <a:off x="827532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915400" y="38587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275320" y="44805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provisioning and operational automation, including Autonomous Database's self-healing.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Focus Areas &amp; Transformation Opportunities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areas below are now confirmed technology direction rather than hypotheses. Technical debt is low across the estate overall — DB2 is the one area still framed as a genuine pain point.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11247120" cy="960120"/>
          </a:xfrm>
          <a:prstGeom prst="roundRect">
            <a:avLst>
              <a:gd name="adj" fmla="val 5714"/>
            </a:avLst>
          </a:prstGeom>
          <a:solidFill>
            <a:srgbClr val="F2DDAC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627632"/>
            <a:ext cx="502920" cy="502920"/>
          </a:xfrm>
          <a:prstGeom prst="ellipse">
            <a:avLst/>
          </a:prstGeom>
          <a:solidFill>
            <a:srgbClr val="8C0924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6276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80160" y="153619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C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— Oracle Exadata Cloud Migration (Exa@Azure)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1901952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ARC-approved Intake #290, ~$3.2M documented budget, 42 applications in scope. CONFIRMED (Aug 2026): Cloud@Customer → Exa@Azure workload migration targeted Q3 2026; Exa@Azure becomes the sole Oracle landing zone going forward.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440680" cy="1170432"/>
          </a:xfrm>
          <a:prstGeom prst="roundRect">
            <a:avLst>
              <a:gd name="adj" fmla="val 4688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" y="2752344"/>
            <a:ext cx="365760" cy="36576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" y="27523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78992" y="2697480"/>
            <a:ext cx="4654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C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SQL Platform Standardization — CONFIRMED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" y="3136392"/>
            <a:ext cx="51114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Opportunity: </a:t>
            </a:r>
            <a:r>
              <a:rPr lang="en-US" sz="8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on-prem "IaaS" MS SQL in both clouds; standardize on Azure SQL Managed Instance / AWS RDS. Confirmed platform for small–medium, lower-transaction workloads. </a:t>
            </a:r>
            <a:r>
              <a:rPr lang="en-US" sz="8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Value: </a:t>
            </a:r>
            <a:r>
              <a:rPr lang="en-US" sz="8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patterns to operate and secure; consistent footprint in both clouds.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080760" y="2606040"/>
            <a:ext cx="5440680" cy="1170432"/>
          </a:xfrm>
          <a:prstGeom prst="roundRect">
            <a:avLst>
              <a:gd name="adj" fmla="val 4688"/>
            </a:avLst>
          </a:prstGeom>
          <a:solidFill>
            <a:srgbClr val="F0CCD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45352" y="2752344"/>
            <a:ext cx="365760" cy="36576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20" name="Text 18"/>
          <p:cNvSpPr/>
          <p:nvPr/>
        </p:nvSpPr>
        <p:spPr>
          <a:xfrm>
            <a:off x="6245352" y="27523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02552" y="2697480"/>
            <a:ext cx="4654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C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DB2 Retirement to Oracle Exadata — pain point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45352" y="3136392"/>
            <a:ext cx="51114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Opportunity: </a:t>
            </a:r>
            <a:r>
              <a:rPr lang="en-US" sz="8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DB2 in containment ~10 years; Oracle Exadata is now the confirmed replacement target. The one item still framed as risk, not opportunity. </a:t>
            </a:r>
            <a:r>
              <a:rPr lang="en-US" sz="8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Value: </a:t>
            </a:r>
            <a:r>
              <a:rPr lang="en-US" sz="8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the estate's clearest cost outlier (~10x MS SQL rate).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3886200"/>
            <a:ext cx="5440680" cy="1170432"/>
          </a:xfrm>
          <a:prstGeom prst="roundRect">
            <a:avLst>
              <a:gd name="adj" fmla="val 4688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" y="4032504"/>
            <a:ext cx="365760" cy="36576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40325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78992" y="3977640"/>
            <a:ext cx="4654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C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Modernization: 26ai &amp; Autonomous DB — CONFIRMED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" y="4416552"/>
            <a:ext cx="51114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Opportunity: </a:t>
            </a:r>
            <a:r>
              <a:rPr lang="en-US" sz="8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26ai is the confirmed AI-readiness target (19c→26ai), with native Mongo-compatible storage. Autonomous Database targeted for self-healing, auto-patching ops. </a:t>
            </a:r>
            <a:r>
              <a:rPr lang="en-US" sz="8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Value: </a:t>
            </a:r>
            <a:r>
              <a:rPr lang="en-US" sz="8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AI-ready platform without a separate NoSQL buildout in every case; lower ops burden.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080760" y="3886200"/>
            <a:ext cx="5440680" cy="1170432"/>
          </a:xfrm>
          <a:prstGeom prst="roundRect">
            <a:avLst>
              <a:gd name="adj" fmla="val 4688"/>
            </a:avLst>
          </a:prstGeom>
          <a:solidFill>
            <a:srgbClr val="F0CCD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45352" y="4032504"/>
            <a:ext cx="365760" cy="36576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30" name="Text 28"/>
          <p:cNvSpPr/>
          <p:nvPr/>
        </p:nvSpPr>
        <p:spPr>
          <a:xfrm>
            <a:off x="6245352" y="40325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702552" y="3977640"/>
            <a:ext cx="4654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C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&amp; DR Modernization (Broader Estate)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45352" y="4416552"/>
            <a:ext cx="51114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Opportunity: </a:t>
            </a:r>
            <a:r>
              <a:rPr lang="en-US" sz="8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resilience thinking already applied to Exa@Azure (tiered SLA, multi-region) to the rest of the estate. </a:t>
            </a:r>
            <a:r>
              <a:rPr lang="en-US" sz="8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Value: </a:t>
            </a:r>
            <a:r>
              <a:rPr lang="en-US" sz="8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recovery; parity with cloud infrastructure's maturity targets.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200" y="5166360"/>
            <a:ext cx="5440680" cy="1170432"/>
          </a:xfrm>
          <a:prstGeom prst="roundRect">
            <a:avLst>
              <a:gd name="adj" fmla="val 4688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1792" y="5312664"/>
            <a:ext cx="365760" cy="36576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35" name="Text 33"/>
          <p:cNvSpPr/>
          <p:nvPr/>
        </p:nvSpPr>
        <p:spPr>
          <a:xfrm>
            <a:off x="621792" y="53126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78992" y="5257800"/>
            <a:ext cx="4654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C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NoSQL/Postgres &amp; Graph/Vector Placement Policy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1792" y="5696712"/>
            <a:ext cx="51114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Opportunity: </a:t>
            </a:r>
            <a:r>
              <a:rPr lang="en-US" sz="8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Atlas, AWS RDS PostgreSQL, and now Oracle 26ai's native Mongo storage all need a single placement policy alongside NORTH's Neo4j/vector direction. </a:t>
            </a:r>
            <a:r>
              <a:rPr lang="en-US" sz="8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Value: </a:t>
            </a:r>
            <a:r>
              <a:rPr lang="en-US" sz="8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ambiguity for teams evaluating NoSQL/Postgres/graph/vector.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080760" y="5166360"/>
            <a:ext cx="5440680" cy="1170432"/>
          </a:xfrm>
          <a:prstGeom prst="roundRect">
            <a:avLst>
              <a:gd name="adj" fmla="val 4688"/>
            </a:avLst>
          </a:prstGeom>
          <a:solidFill>
            <a:srgbClr val="F0CCD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245352" y="5312664"/>
            <a:ext cx="365760" cy="36576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40" name="Text 38"/>
          <p:cNvSpPr/>
          <p:nvPr/>
        </p:nvSpPr>
        <p:spPr>
          <a:xfrm>
            <a:off x="6245352" y="53126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702552" y="5257800"/>
            <a:ext cx="4654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C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Model Evolution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245352" y="5696712"/>
            <a:ext cx="51114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Opportunity: </a:t>
            </a:r>
            <a:r>
              <a:rPr lang="en-US" sz="8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whether the HCL-managed, ticket-driven model should shift toward more self-service. Lower priority given generally low technical debt. </a:t>
            </a:r>
            <a:r>
              <a:rPr lang="en-US" sz="8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Value: </a:t>
            </a:r>
            <a:r>
              <a:rPr lang="en-US" sz="8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provisioning; reduced operational friction.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WITH THE DATABASE PRODUCT OWNER — AUGUST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Target-State Technology Positioning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5440680" cy="3200400"/>
          </a:xfrm>
          <a:prstGeom prst="roundRect">
            <a:avLst>
              <a:gd name="adj" fmla="val 1714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481328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SQL &amp; Oracle: Where Each Engine Wins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828800"/>
            <a:ext cx="50749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SQL target: Azure SQL Managed Instance / AWS RDS — on-prem "IaaS" MS SQL is confirmed NOT the desired state; live IaaS examples exist in both clouds today.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target: Exa@Azure is the sole Oracle landing zone going forward. Legacy Oracle is already on Exadata; the Cloud@Customer→Exa@Azure workload wave is targeted Q3 2026.</a:t>
            </a:r>
            <a:endParaRPr lang="en-US" sz="10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640080" y="3611880"/>
          <a:ext cx="5074920" cy="877824"/>
        </p:xfrm>
        <a:graphic>
          <a:graphicData uri="http://schemas.openxmlformats.org/drawingml/2006/table">
            <a:tbl>
              <a:tblPr/>
              <a:tblGrid>
                <a:gridCol w="2194560"/>
                <a:gridCol w="2880360"/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Workload Size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Platform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– 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 SQL (Managed Instance / RDS)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– 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Exadata (Exa@Azure)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6126480" y="1371600"/>
            <a:ext cx="5577840" cy="3200400"/>
          </a:xfrm>
          <a:prstGeom prst="roundRect">
            <a:avLst>
              <a:gd name="adj" fmla="val 1714"/>
            </a:avLst>
          </a:prstGeom>
          <a:solidFill>
            <a:srgbClr val="F0CCD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309360" y="148132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DB2: the One Confirmed Pain Point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309360" y="1828800"/>
            <a:ext cx="52120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containment ~10 years, shrinking footprint. Oracle Exadata is the confirmed replacement target.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technical debt across the estate is low — DB2 is the explicit exception to that opportunity-led framing.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309360" y="28803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AI-Readiness &amp; Automation (Oracle)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309360" y="3200400"/>
            <a:ext cx="52120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26ai: confirmed AI-readiness target; 19c → 26ai upgrade path; native MongoDB-compatible storage inside 26ai containers — a new option alongside standalone NoSQL.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Autonomous Database: confirmed focus area for self-healing, auto-patching, reduced ops overhead.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57200" y="4709160"/>
            <a:ext cx="11247120" cy="1508760"/>
          </a:xfrm>
          <a:prstGeom prst="roundRect">
            <a:avLst>
              <a:gd name="adj" fmla="val 3636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81888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Correction: Data Classification &amp; Masking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40080" y="5138928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centralized database service capability. It is the Application Owner's accountability. Oracle is the only DBMS with native masking functionality — it's a platform capability App Owners may optionally consume, not something the database team delivers or governs on their behalf. The Value Chain "Secure" stage has been updated accordingly.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with the NORTH Data Platform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(Next-Gen Organizational Repository for Trusted and High-Value Data) is Canada Life's enterprise data/AI platform — a downstream consumer of our databases, not a competing scope. It sets new demand signals this roadmap should plan for.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5440680" cy="4343400"/>
          </a:xfrm>
          <a:prstGeom prst="roundRect">
            <a:avLst>
              <a:gd name="adj" fmla="val 1263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8288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two fit together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5074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roadmap owns the source-of-record databases (Oracle, MS SQL, DB2, MongoDB, PostgreSQL) — provisioning, resilience, security, licensing.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owns ingestion, governance, and consumption of data drawn FROM those databases into its Lakehouse, ODS, MDM, Graph and Vector repositories.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is Azure-first by design — consistent with the Exa@Azure direction — with select AWS/GCP use for resiliency, latency, or specific functionality.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NORTH's Data Integration layer requires Batch, Streaming (Kafka), API, and CDC (Change Data Capture) access to our source systems.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691640"/>
            <a:ext cx="5577840" cy="4343400"/>
          </a:xfrm>
          <a:prstGeom prst="roundRect">
            <a:avLst>
              <a:gd name="adj" fmla="val 1263"/>
            </a:avLst>
          </a:prstGeom>
          <a:solidFill>
            <a:srgbClr val="F0CCD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18288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demand signals for this roadmap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09360" y="2194560"/>
            <a:ext cx="52120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database readiness — Neo4j is NORTH's named target for knowledge graphs and relationship data.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 readiness — an “Extended” NORTH pattern for RAG/semantic search; vendor not yet named.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support — confirm which source engines (Oracle, MS SQL, DB2) support low-latency CDC today, and where gaps exist.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MDM hosting — NORTH's Master Data Management hub needs a technology home; confirm whether that's in this roadmap's scope or owned by the NORTH/Data team.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alignment — NORTH's Authoritative Sources / Book of Record model should map cleanly onto this roadmap's Governance domain rather than creating a second standard.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Mapping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C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item, not yet complete: </a:t>
            </a:r>
            <a:r>
              <a:rPr lang="en-US" sz="12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I&amp;O roadmap is mapped to the Canada Life Technology Capability Model (based on the TBM taxonomy — L1–L3 standard, L4 Canada Life-specific). Confirm the exact L1–L4 entries for database services with EA before this roadmap is considered complete. A hypothesis is shown below.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457200" y="2011680"/>
          <a:ext cx="11247120" cy="2514600"/>
        </p:xfrm>
        <a:graphic>
          <a:graphicData uri="http://schemas.openxmlformats.org/drawingml/2006/table">
            <a:tbl>
              <a:tblPr/>
              <a:tblGrid>
                <a:gridCol w="1645920"/>
                <a:gridCol w="2377440"/>
                <a:gridCol w="2377440"/>
                <a:gridCol w="4846320"/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 Capability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Capability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L3 Capability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L4 Service Category (Draft)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Enabling Platforms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 Platform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Service Catalog &amp; Enablement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Enabling Platforms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 Platform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Modernization &amp; Migration Enablement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Enabling Platforms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 Platform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Governance &amp; Workload Placement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Enabling Platforms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 Platform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Cost &amp; License Optimization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47091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Draft only — replace with the confirmed model once validated with EA's capability-model owner.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BA0C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8C092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37744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651760" y="2743200"/>
            <a:ext cx="8961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65176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DISCUSSION &amp; VALIDATION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Database Landscape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Database Service Catalogue already tells us — confirm with discovery.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457200" y="1463040"/>
          <a:ext cx="6675120" cy="3695700"/>
        </p:xfrm>
        <a:graphic>
          <a:graphicData uri="http://schemas.openxmlformats.org/drawingml/2006/table">
            <a:tbl>
              <a:tblPr/>
              <a:tblGrid>
                <a:gridCol w="2377440"/>
                <a:gridCol w="4297680"/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/ Hosting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Database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On-prem + Exadata Cloud at Customer; Exa@Azure migration underway (Intake #290). CONFIRMED: Cloud@Customer→Exa@Azure workload wave targeted Q3 2026; Exa@Azure = sole Oracle landing zone going forward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 SQL Database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On-prem IaaS + Azure SQL Managed Instance (ACTIVE) + AWS RDS SQL Server (ACTIVE). CONFIRMED: standardize on Managed Instance/RDS, eliminate IaaS pattern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DB2 Database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Deprecated — legacy support only, in containment ~10 years. CONFIRMED: Oracle Exadata is the replacement target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 (NoSQL)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 Atlas — ACTIVE, self-service across AWS, Azure &amp; GCP; Oracle 26ai adds native Mongo-compatible storage as an alternative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RDS PostgreSQL — ACTIVE, self-service (Canada Central only)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 → Cloud Migration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DMS listed DRAFT — capability exists, not yet fully self-service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406640" y="1463040"/>
            <a:ext cx="4297680" cy="4572000"/>
          </a:xfrm>
          <a:prstGeom prst="roundRect">
            <a:avLst>
              <a:gd name="adj" fmla="val 1277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589520" y="16002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Model &amp; Cost Snapshot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589520" y="2011680"/>
            <a:ext cx="3931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via managed service provider (HCL) — L1–L3 DBA support, 24/7 on-call; OCIO handles chargeback.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ops ≈ $150/instance/mo; MS SQL ≈ $55/CPU/mo; DB2 ≈ $555/CPU/mo (cost outlier); Exadata Cloud @ Customer ≈ $1/GB/mo.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SLA: 99.5% availability; Business Hours (non-prod) / 24×7 (prod); RPO/RTO ≤24h up to 96h.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enhancement already flagged: evolving DR and resiliency patterns — now confirmed as the Exa@Azure initiative (see Work Packages).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AGREED AUG 2026, BASELINED ON THE ENTERPRISE CLOUD MATURITY MODEL (1–5 SCALE, INITIAL → OPTIMIZED)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Maturity Model — 8 Dimensions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457200" y="1371600"/>
          <a:ext cx="11247120" cy="3950208"/>
        </p:xfrm>
        <a:graphic>
          <a:graphicData uri="http://schemas.openxmlformats.org/drawingml/2006/table">
            <a:tbl>
              <a:tblPr/>
              <a:tblGrid>
                <a:gridCol w="3291840"/>
                <a:gridCol w="7955280"/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Maturity Dimension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Assesses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Standardization &amp; Rationalization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Consolidation onto confirmed target platforms (MS SQL MI/RDS, Oracle Exadata) vs. fragmented/legacy patterns.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Lifecycle &amp; Technical Debt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currency, end-of-life exposure, containment status of legacy platforms — DB2 is the clearest current gap.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&amp; Managed-Service Adoption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estate on managed/DBaaS (Managed Instance, RDS, Exa@Azure, Autonomous DB) vs. self-managed IaaS.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 &amp; Self-Service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provisioning/patching and self-service enablement vs. ticket-driven, manual operations.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Resilience &amp; DR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RPO/RTO tiering by workload criticality, multi-region posture, DR testing cadence.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&amp; Compliance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RBAC/PAM maturity, encryption, regulatory alignment (OSFI) — excludes masking, which is App Owner-led.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Observability &amp; Operations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visibility into performance, health, capacity; incident response maturity.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/ FinOps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License governance, consumption transparency, cost optimization discipline across platforms.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58064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the earlier generic 6-domain draft — these 8 are the team-agreed axes for both the maturity table and the current-vs-target radar (next slide).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Capability Maturity: Current vs. Target (Illustrative)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scoring against the 8 agreed dimensions (previous slide) — replace with a validated assessment from discovery.</a:t>
            </a:r>
            <a:endParaRPr lang="en-US" sz="12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548640" y="1463040"/>
          <a:ext cx="603504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6858000" y="1463040"/>
            <a:ext cx="4846320" cy="4663440"/>
          </a:xfrm>
          <a:prstGeom prst="roundRect">
            <a:avLst>
              <a:gd name="adj" fmla="val 1176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040880" y="16002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(Illustrative)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040880" y="2057400"/>
            <a:ext cx="44805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&amp; Technical Debt is scored lowest today, driven almost entirely by DB2 — the one dimension where the estate's broader low-technical-debt position doesn't yet apply.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Managed-Service Adoption has the clearest, fastest-moving path to target given confirmed direction: Exa@Azure, MS SQL MI/RDS, and Oracle Autonomous Database.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&amp; Self-Service shows the widest gap if the roadmap pursues more self-service, mirroring the cloud roadmap's automation ambitions.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Evolving From Current-State Insights to Future-Ready Focus Areas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457200" y="1280160"/>
          <a:ext cx="11247120" cy="4608576"/>
        </p:xfrm>
        <a:graphic>
          <a:graphicData uri="http://schemas.openxmlformats.org/drawingml/2006/table">
            <a:tbl>
              <a:tblPr/>
              <a:tblGrid>
                <a:gridCol w="1554480"/>
                <a:gridCol w="4663440"/>
                <a:gridCol w="5029200"/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Observation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Strategic Focus for Future State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 SQL Platform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On-prem, manually-installed "IaaS" MS SQL exists in both Azure and AWS today.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CONFIRMED: standardize on Managed Instance/RDS; eliminate IaaS pattern; MS SQL for small–medium workloads.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Platform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 Oracle already consolidated onto Exadata Cloud at Customer.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CONFIRMED: Exa@Azure = sole landing zone; workload wave targeted Q3 2026; Oracle for medium–high workloads.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Licensing / DB2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DB2 legacy licensing is a cost outlier; in containment ~10 years.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CONFIRMED: Oracle Exadata as replacement target; accelerated exit — the one genuine pain point.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AI-Readiness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estate largely on 19c; no native AI-oriented storage today.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CONFIRMED: Oracle 26ai upgrade path; native Mongo-compatible storage as an alternative to standalone NoSQL.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Resilience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99.5% availability; RPO/RTO up to 96 hours across the board.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Tiered resilience targets aligned to workload criticality.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HCL-managed, largely ticket-driven; Autonomous Database not yet adopted.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Autonomous Database adoption; increased self-service for common patterns.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BA0C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8C092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37744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651760" y="2743200"/>
            <a:ext cx="8961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State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65176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DISCUSSION &amp; VALIDATION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 for Target State &amp; Expected Business Outcomes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Principles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Business Outcomes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384048" cy="384048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73736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Engine for the Job: MS SQL (Managed Instance/RDS) for small–medium workloads, Oracle Exadata for medium–high — a confirmed sizing rule, not case-by-case debate.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384048" cy="384048"/>
          </a:xfrm>
          <a:prstGeom prst="ellipse">
            <a:avLst/>
          </a:prstGeom>
          <a:solidFill>
            <a:srgbClr val="2E2E3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697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65176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Resilient, Tiered Architecture: DR and recovery targets matched to workload criticality, not one-size-fits-all.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611880"/>
            <a:ext cx="384048" cy="384048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6118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356616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Governance by Design: policy-driven guardrails, automated compliance — masking stays an Application Owner responsibility.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4526280"/>
            <a:ext cx="384048" cy="384048"/>
          </a:xfrm>
          <a:prstGeom prst="ellipse">
            <a:avLst/>
          </a:prstGeom>
          <a:solidFill>
            <a:srgbClr val="2E2E38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526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448056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Cost-Transparent Operations: unified licensing and consumption visibility for FinOps-style traceability.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5440680"/>
            <a:ext cx="384048" cy="384048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5440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539496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Retirement of Legacy Platforms: DB2 exit to Oracle Exadata completed on a committed timeline.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17920" y="1783080"/>
            <a:ext cx="384048" cy="384048"/>
          </a:xfrm>
          <a:prstGeom prst="ellipse">
            <a:avLst/>
          </a:prstGeom>
          <a:solidFill>
            <a:srgbClr val="2E2E38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766560" y="173736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Efficiency: contain licensing and infrastructure spend while supporting business growth.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17920" y="2697480"/>
            <a:ext cx="384048" cy="384048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0" y="2697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66560" y="265176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to Value: faster provisioning for application teams via self-service.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17920" y="3611880"/>
            <a:ext cx="384048" cy="384048"/>
          </a:xfrm>
          <a:prstGeom prst="ellipse">
            <a:avLst/>
          </a:prstGeom>
          <a:solidFill>
            <a:srgbClr val="2E2E38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0" y="36118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766560" y="356616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Compliance: reduced operational risk via unified database governance.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217920" y="4526280"/>
            <a:ext cx="384048" cy="384048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34" name="Text 32"/>
          <p:cNvSpPr/>
          <p:nvPr/>
        </p:nvSpPr>
        <p:spPr>
          <a:xfrm>
            <a:off x="6217920" y="4526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766560" y="448056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Focus: simplify the estate by exiting deprecated, high-cost platforms.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217920" y="5440680"/>
            <a:ext cx="384048" cy="384048"/>
          </a:xfrm>
          <a:prstGeom prst="ellipse">
            <a:avLst/>
          </a:prstGeom>
          <a:solidFill>
            <a:srgbClr val="2E2E38"/>
          </a:solidFill>
          <a:ln/>
        </p:spPr>
      </p:sp>
      <p:sp>
        <p:nvSpPr>
          <p:cNvPr id="37" name="Text 35"/>
          <p:cNvSpPr/>
          <p:nvPr/>
        </p:nvSpPr>
        <p:spPr>
          <a:xfrm>
            <a:off x="6217920" y="5440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766560" y="539496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Uplift: target Level 4+ across all assessed database capabilities.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Target Operating Model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model gives every workload a governed path to the right engine, sized by workload demand, with automation and observability wrapped around all of it — conceptual, to be refined with the Portfolio Architect.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11247120" cy="960120"/>
          </a:xfrm>
          <a:prstGeom prst="roundRect">
            <a:avLst>
              <a:gd name="adj" fmla="val 5714"/>
            </a:avLst>
          </a:prstGeom>
          <a:solidFill>
            <a:srgbClr val="F0CCD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176479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19456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Teams  •  Analytics &amp; BI  •  AI / ML Workloads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11247120" cy="96012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286207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Service Layer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329184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Relational: MS SQL MI/RDS (small–medium) + Oracle Exadata/26ai/Autonomous DB (medium–high)  •  NoSQL: MongoDB Atlas + Oracle 26ai-native  •  Graph/Vector (NORTH-driven, future)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886200"/>
            <a:ext cx="11247120" cy="960120"/>
          </a:xfrm>
          <a:prstGeom prst="roundRect">
            <a:avLst>
              <a:gd name="adj" fmla="val 5714"/>
            </a:avLst>
          </a:prstGeom>
          <a:solidFill>
            <a:srgbClr val="F0CCD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95935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Automation, Security &amp; Governance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438912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Policy-as-code  •  RBAC/PAM  •  Automated backup, patch &amp; DR  •  Cost &amp; license governance  •  Masking = App Owner-led, Oracle-enabled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4983480"/>
            <a:ext cx="11247120" cy="96012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" y="505663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548640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Exadata @ Azure (sole Oracle landing zone)  •  Azure SQL MI  •  AWS RDS  •  On-Prem Data Centers (legacy only)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BA0C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8C092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37744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651760" y="2743200"/>
            <a:ext cx="8961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Packages / Initiatives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651760" y="356616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0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and Sequencing — dates/costs are provisional until the current-state baseline is agreed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65176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DISCUSSION &amp; VALIDATION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OPPORTUNITY-LED — TECHNICAL DEBT IS LOW ACROSS THE ESTATE; DB2 IS THE ONE TRUE PAIN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Priorities Summary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822960"/>
                <a:gridCol w="3200400"/>
                <a:gridCol w="2468880"/>
                <a:gridCol w="2103120"/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Opportunity / Pain Point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Impact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D1: Exa@Azure Migration (CONFIRMED)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On-prem Exadata hardware support lapsed; workload wave to Exa@Azure targeted Q3 2026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Avoids refresh; path to 99.99% SLA &amp; OSFI compliance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&amp; Services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D2: MS SQL Platform Standardization (CONFIRMED)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On-prem IaaS MS SQL exists in both clouds; not the target pattern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Fewer patterns to operate/secure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&amp; Services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D3: DB2 Retirement to Oracle Exadata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 POINT — cost outlier, ~10 years in containment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Removes clearest cost outlier in the estate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&amp; Optimization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D4: Oracle 26ai Upgrade (AI-Readiness)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estate largely on 19c; no native AI-ready storage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AI-ready platform, native Mongo option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&amp; Services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D5: Oracle Autonomous Database Adoption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patching/ops on Oracle today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ops burden, self-healing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D6: Database DR &amp; Resiliency Modernization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RPO/RTO up to 96h; no tiering by criticality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 recovery, reduced risk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D7: NoSQL/Postgres &amp; Graph/Vector Placement Policy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Atlas/RDS active; Oracle 26ai adds an option; policy not formalized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Removes team ambiguity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&amp; Services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D8: Operating Model Evolution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Ticket-driven provisioning via HCL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 delivery, less friction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Work Packages / Initiatives &amp; Objectives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017520"/>
                <a:gridCol w="7589520"/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Exa@Azure Migration (CONFIRMED — Intake #290)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the move off unsupported on-prem Exadata hardware; Cloud@Customer→Exa@Azure workload wave targeted Q3 2026; Exa@Azure becomes the sole Oracle landing zone.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 SQL Platform Standardization (CONFIRMED)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Eliminate on-prem IaaS MS SQL in Azure and AWS; standardize on Managed Instance / RDS; confirm as the small–medium workload platform.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DB2 Retirement to Oracle Exadata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DB2 exit onto the confirmed Oracle Exadata replacement target; quantify and capture the cost gap vs. MS SQL/Postgres.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26ai Upgrade (AI-Readiness &amp; Native Mongo)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Upgrade path from 19c to 26ai; evaluate native Mongo-compatible storage as an alternative to standalone NoSQL for eligible workloads.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Autonomous Database Adoption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 self-healing, auto-patching Autonomous Database capabilities to reduce operational overhead on Oracle workloads.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DR &amp; Resiliency Modernization (Broader Estate)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 the resilience approach used for Exa@Azure (tiered SLA, multi-region) to the rest of the estate; tier RPO/RTO by workload criticality.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NoSQL/Postgres &amp; Graph/Vector Placement Policy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Formalize placement across MongoDB Atlas, AWS RDS PostgreSQL, Oracle 26ai-native Mongo, and NORTH's Neo4j/vector direction into one policy.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Self-Service &amp; Operating Model Evolution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Evaluate expanding self-service provisioning within or alongside the HCL-managed model. Lower priority given low overall technical debt.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5440680"/>
            <a:ext cx="11247120" cy="822960"/>
          </a:xfrm>
          <a:prstGeom prst="roundRect">
            <a:avLst>
              <a:gd name="adj" fmla="val 6667"/>
            </a:avLst>
          </a:prstGeom>
          <a:solidFill>
            <a:srgbClr val="F0CCD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" y="54406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C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Dependencies: D1 depends on ExpressRoute/Equinix connectivity and, for a possible future state, GCP Frontdoor; D6 may depend on Chaos Resiliency Testing (C7) and Proactive/Self-Recovery (C9); D8 connects to Self Service Tooling (C4). Open dependency: alignment with the enterprise Data Strategy (owned by EA) — inline vs. separate section, ETA pending.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Packages / Initiatives Sequencing (2027–2028 shown, provisional)</a:t>
            </a:r>
            <a:endParaRPr lang="en-US" sz="2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D1: Exa@Azure Migration (Q3 2026 wave precedes this window)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D2: MS SQL Platform Standardization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D3: DB2 Retirement to Oracle Exadata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D4: Oracle 26ai Upgrade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D5: Oracle Autonomous Database Adoption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D6: Database DR &amp; Resiliency Modernization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D7: NoSQL/Postgres &amp; Graph/Vector Placement Policy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D8: Self-Service &amp; Operating Model Evolution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389120" y="960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46720" y="960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52578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 = confirmed technology direction (Aug 2026 session). Red = DB2 pain point plus items still pending target-state principle sign-off. Per the team's agreed sequencing principle, exact placement is provisional until the current-state baseline and target-state principles are formally agreed — only D1's Q3 2026 wave is a real, documented date.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Package Details — Scope, Cost &amp; Timeline (Template)</a:t>
            </a:r>
            <a:endParaRPr lang="en-US" sz="2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834640"/>
                <a:gridCol w="2468880"/>
                <a:gridCol w="1645920"/>
                <a:gridCol w="2011680"/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In-Scope Technology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Estimated Cost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D1: Exa@Azure Migration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Exadata Database Service on Azure (RAC), Autonomous Recovery Service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≈$1.15–1.2M Azure credits + $1.7M vendor + $0.33M internal IT (documented — verify total)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W1 complete (FY25); confirm W2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CONFIRMED: workload wave Q3 2026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D2: MS SQL Platform Standardization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SQL Managed Instance, AWS RDS SQL Server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 — pending baseline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D3: DB2 Retirement to Oracle Exadata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Exadata (Exa@Azure)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 — quantify DB2 exit savings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 — pending baseline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D4: Oracle 26ai Upgrade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26ai (from 19c)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 — pending baseline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D5: Oracle Autonomous Database Adoption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Autonomous Database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 — pending baseline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D6: Database DR &amp; Resiliency Modernization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HA/DR tooling, TBD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 — pending baseline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D7: NoSQL/Postgres &amp; Graph/Vector Placement Policy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 Atlas, AWS RDS PostgreSQL, Oracle 26ai-native, Neo4j (NORTH)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 only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 — pending baseline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D8: Self-Service &amp; Operating Model Evolution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 (ServiceNow / IaC tooling)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 — pending baseline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5806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D1's cost/timeline is real and documented (approved architecture sketch — verify consolidated total). Every other field reads TBD by design: the team agreed to baseline the current-state estate and target-state principles before assigning dates or costs to individual work packages.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BA0C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8C092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37744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651760" y="2743200"/>
            <a:ext cx="8961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65176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DISCUSSION &amp; VALIDATION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by Capability (Draft)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47120" cy="1051560"/>
          </a:xfrm>
          <a:prstGeom prst="roundRect">
            <a:avLst>
              <a:gd name="adj" fmla="val 5217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44475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Service Catalog &amp; Enablement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81051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Governs access to approved database platforms; reduces risk and speeds adoption through a curated, discoverable catalogue.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11247120" cy="1051560"/>
          </a:xfrm>
          <a:prstGeom prst="roundRect">
            <a:avLst>
              <a:gd name="adj" fmla="val 5217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63347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Modernization &amp; Migration Enablement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299923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the already-offered legacy-to-cloud migration service; accelerates DB2 exit and other modernization moves.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11247120" cy="1051560"/>
          </a:xfrm>
          <a:prstGeom prst="roundRect">
            <a:avLst>
              <a:gd name="adj" fmla="val 5217"/>
            </a:avLst>
          </a:prstGeom>
          <a:solidFill>
            <a:srgbClr val="F2F2F2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82219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Governance &amp; Workload Placement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418795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every workload lands on the right engine and platform, consistent with enterprise standards and the cloud roadmap's placement framework.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4937760"/>
            <a:ext cx="11247120" cy="1051560"/>
          </a:xfrm>
          <a:prstGeom prst="roundRect">
            <a:avLst>
              <a:gd name="adj" fmla="val 5217"/>
            </a:avLst>
          </a:prstGeom>
          <a:solidFill>
            <a:srgbClr val="F2F2F2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501091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Cost &amp; License Optimization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537667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Rightsizing, license consumption tracking, and cost dashboards — direct counterpart to the cloud roadmap's FinOps/tagging initiatives.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AGREED AUGUST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Working Model &amp; Roles</a:t>
            </a:r>
            <a:endParaRPr lang="en-US" sz="26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457200" y="1325880"/>
          <a:ext cx="11247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6126480"/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Glen Loewen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Current-State &amp; Technology Direction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landscape, pain points/technical debt, platform rationalization, technology positioning for SQL Server, Oracle/Exadata, DB2, cloud-managed services.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Santhosh Kumar Chandrashekar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Roadmap Structure &amp; Consolidation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Maturity assessment, current-vs-target view, target-state principles, work packages, sequencing.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Rakesh Nair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 / Strategic Alignment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Strategy alignment, dependencies &amp; guardrails, target-state architecture, strategic outcomes.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3794760"/>
            <a:ext cx="11247120" cy="1005840"/>
          </a:xfrm>
          <a:prstGeom prst="roundRect">
            <a:avLst>
              <a:gd name="adj" fmla="val 5455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080" y="390448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Agreed Convergence Storyline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40080" y="420624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 →  Gaps / Pain Points  →  Target State  →  Strategic Initiatives  →  Sequencing  →  Outcomes / Measures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493776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0CCD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0080" y="504748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C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Agreed Sequencing Principle &amp; Open Item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0080" y="534924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before backlog: the team agreed to finalize the current-state estate and target-state principles before assigning dates/costs to individual work packages — architecture-driven, not backlog-driven. Open item: whether Data Strategy alignment is folded inline or kept as a separate section (owned by the EA/Strategic Alignment stream above, ETA pending).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4525</Words>
  <Application>Microsoft Office PowerPoint</Application>
  <PresentationFormat>Custom</PresentationFormat>
  <Paragraphs>614</Paragraphs>
  <Slides>27</Slides>
  <Notes>27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Services Roadmap</dc:title>
  <dc:subject>PptxGenJS Presentation</dc:subject>
  <dc:creator>Santhosh Kumar Chandrashekar, Enterprise Architecture</dc:creator>
  <cp:lastModifiedBy>Santhosh Kumar Chandrashekar</cp:lastModifiedBy>
  <cp:revision>1</cp:revision>
  <dcterms:created xsi:type="dcterms:W3CDTF">2026-08-17T11:24:26Z</dcterms:created>
  <dcterms:modified xsi:type="dcterms:W3CDTF">2026-08-17T11:41:38Z</dcterms:modified>
</cp:coreProperties>
</file>