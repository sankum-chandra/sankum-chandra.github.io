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FFFE15_D5480B3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7FFFFDC0_461F437E.xml" ContentType="application/vnd.ms-powerpoint.comments+xml"/>
  <Override PartName="/ppt/notesSlides/notesSlide8.xml" ContentType="application/vnd.openxmlformats-officedocument.presentationml.notesSlide+xml"/>
  <Override PartName="/ppt/comments/modernComment_7FFFFDF5_9B5AEFBA.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FFFDEE_C30FB71D.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33"/>
  </p:notesMasterIdLst>
  <p:sldIdLst>
    <p:sldId id="488" r:id="rId6"/>
    <p:sldId id="2147483067" r:id="rId7"/>
    <p:sldId id="2147483068" r:id="rId8"/>
    <p:sldId id="2147483070" r:id="rId9"/>
    <p:sldId id="2147483079" r:id="rId10"/>
    <p:sldId id="2147483008" r:id="rId11"/>
    <p:sldId id="2147483533" r:id="rId12"/>
    <p:sldId id="2147483157" r:id="rId13"/>
    <p:sldId id="2147483523" r:id="rId14"/>
    <p:sldId id="2147483526" r:id="rId15"/>
    <p:sldId id="2147483072" r:id="rId16"/>
    <p:sldId id="2147483125" r:id="rId17"/>
    <p:sldId id="2147483525" r:id="rId18"/>
    <p:sldId id="2147483118" r:id="rId19"/>
    <p:sldId id="2147483111" r:id="rId20"/>
    <p:sldId id="2147483021" r:id="rId21"/>
    <p:sldId id="2147483032" r:id="rId22"/>
    <p:sldId id="2147483162" r:id="rId23"/>
    <p:sldId id="2147483010" r:id="rId24"/>
    <p:sldId id="2147483536" r:id="rId25"/>
    <p:sldId id="2147483518" r:id="rId26"/>
    <p:sldId id="2147483519" r:id="rId27"/>
    <p:sldId id="2147483528" r:id="rId28"/>
    <p:sldId id="2147483527" r:id="rId29"/>
    <p:sldId id="2147483009" r:id="rId30"/>
    <p:sldId id="2147483058" r:id="rId31"/>
    <p:sldId id="214748305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A66D802-AB92-463D-8701-733991ADBFA2}">
          <p14:sldIdLst>
            <p14:sldId id="488"/>
            <p14:sldId id="2147483067"/>
            <p14:sldId id="2147483068"/>
            <p14:sldId id="2147483070"/>
            <p14:sldId id="2147483079"/>
            <p14:sldId id="2147483008"/>
          </p14:sldIdLst>
        </p14:section>
        <p14:section name="L1 Representation (Business)" id="{F3B4CE77-7B75-45D9-91DF-7767BC02D984}">
          <p14:sldIdLst>
            <p14:sldId id="2147483533"/>
            <p14:sldId id="2147483157"/>
            <p14:sldId id="2147483523"/>
            <p14:sldId id="2147483526"/>
            <p14:sldId id="2147483072"/>
            <p14:sldId id="2147483125"/>
          </p14:sldIdLst>
        </p14:section>
        <p14:section name="Level 2 Representation" id="{69D00D1C-130E-4863-972C-79AA70133BC8}">
          <p14:sldIdLst>
            <p14:sldId id="2147483525"/>
            <p14:sldId id="2147483118"/>
            <p14:sldId id="2147483111"/>
          </p14:sldIdLst>
        </p14:section>
        <p14:section name="Data Domains" id="{B1315AE8-4B72-4EA8-9DED-8745E1CC424D}">
          <p14:sldIdLst>
            <p14:sldId id="2147483021"/>
            <p14:sldId id="2147483032"/>
            <p14:sldId id="2147483162"/>
          </p14:sldIdLst>
        </p14:section>
        <p14:section name="Data Patterns" id="{1531AD34-E144-4E76-B284-1C1293CA50A7}">
          <p14:sldIdLst>
            <p14:sldId id="2147483010"/>
            <p14:sldId id="2147483536"/>
            <p14:sldId id="2147483518"/>
            <p14:sldId id="2147483519"/>
          </p14:sldIdLst>
        </p14:section>
        <p14:section name="Appendix" id="{D3544B37-160C-439F-9567-4EA31673DECC}">
          <p14:sldIdLst>
            <p14:sldId id="2147483528"/>
            <p14:sldId id="2147483527"/>
            <p14:sldId id="2147483009"/>
            <p14:sldId id="2147483058"/>
            <p14:sldId id="2147483055"/>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A45025-C711-7B13-F22D-015D905C7AF8}" name="Singh, Jitender" initials="JS" userId="S::jitender.o.singh@accenture.com::805a77ce-3b2a-490e-8b0c-2a97abff4ca1" providerId="AD"/>
  <p188:author id="{6E67C12D-5670-6785-C3FF-F04E92DB8423}" name="Nadar, Shailesh" initials="SN" userId="S::shailesh.nadar@accenture.com::cc34a35e-fefe-4bf4-acef-1ccb0d43771e" providerId="AD"/>
  <p188:author id="{057FFB40-CE2E-5E01-9F24-CAE16BBDD78C}" name="Ram, Meena" initials="MR" userId="S::Meena.Ram@canadalife.com::c2795a12-49b1-4c05-8f85-e0ffba9370a3" providerId="AD"/>
  <p188:author id="{F0ABBD45-51BB-03D0-33A4-3CAF2D18AA6B}" name="Mohan, Monica" initials="MM" userId="S::monica.d.mohan_accenture.com#ext#@769372677.onmicrosoft.com::a041cf45-c9ee-4622-a9ee-ea9d90aae7d0" providerId="AD"/>
  <p188:author id="{F509E849-51C6-7473-6B15-6667E1CF8F21}" name="Rosenbaum, Tegan" initials="RT" userId="S::Tegan.Rosenbaum@canadalife.com::a1447898-e601-4eca-9db7-ba4c10e22f7a" providerId="AD"/>
  <p188:author id="{2E492E67-A84C-1A49-3F2A-A5CE8FEFC367}" name="Ki, James" initials="JK" userId="S::James.Ki@canadalife.com::3aacfdf9-3263-474a-addf-3159f2b192ed" providerId="AD"/>
  <p188:author id="{741A0683-08FB-B25C-CA2E-22FC104BECBC}" name="Lacasse, Kévin" initials="KL" userId="S::kevin.lacasse@accenture.com::1472ea1f-9ebc-42e1-9577-1b3631e69278" providerId="AD"/>
  <p188:author id="{78E7B191-E266-1B8F-87E1-B130546D2419}" name="Nair, Rakesh" initials="NR" userId="S::rakesh.nair@canadalife.com::8070e9ac-250d-454a-bfe7-9c4d9e94aa96" providerId="AD"/>
  <p188:author id="{B15EC393-2C45-FF6A-6247-49C897C13676}" name="Mohan, Monica" initials="MM" userId="S::monica.d.mohan@accenture.com::28a46946-6790-40b9-ab53-fff034bf2968" providerId="AD"/>
  <p188:author id="{07C2D793-F004-FBE2-6A3E-FD8922002F15}" name="Theodora, Natalia" initials="NT" userId="S::natalia.theodora@accenture.com::8d828495-3ebc-4fa0-9c6b-645a77e3fe31" providerId="AD"/>
  <p188:author id="{BB09D897-0717-B42C-EB42-245957BA0779}" name="Modares, Saeid" initials="SM" userId="S::s.modares@accenture.com::b743442e-ede0-48aa-bf60-84e555c896d5" providerId="AD"/>
  <p188:author id="{66337FB0-F0AD-6477-7837-B1BD3C49A1FC}" name="Manocha, Umesh" initials="" userId="S::umesh.manocha@accenture.com::1dfd520a-e791-467d-b388-d357ffd462a2" providerId="AD"/>
  <p188:author id="{05FD9DB2-3F5C-074A-2F82-464F497A4F85}" name="Banerjee, Krish" initials="BK" userId="S::krish.banerjee_accenture.com#ext#@769372677.onmicrosoft.com::60d19a0c-ef80-4462-bdc0-1f2398335192" providerId="AD"/>
  <p188:author id="{50F977C7-728B-6039-C4D9-CCD504FC9040}" name="Almogharbel, Nada" initials="NA" userId="S::nada.almogharbel@accenture.com::5564cb94-96f8-412b-93fa-5dd23dc85ca0" providerId="AD"/>
  <p188:author id="{3081ABD0-8DA6-9353-CD03-0FAC943728E8}" name="Shamaei, Ali" initials="SA" userId="S::ali.shamaei@canadalife.com::27865597-4919-4158-9b1c-96124278d372" providerId="AD"/>
  <p188:author id="{063B50D1-3792-A360-6B2B-782C148E1CBB}" name="Banerjee, Krish" initials="KB" userId="S::krish.banerjee@accenture.com::c3e2eeb0-b257-4bcb-95a4-ad1646f155f7" providerId="AD"/>
  <p188:author id="{5F6BDCD5-FD79-282A-E675-AA4E587745E6}" name="Dickson, William" initials="WD" userId="S::william.dickson@accenture.com::7fe91a3c-6a1f-4448-ba8c-33de571340cd" providerId="AD"/>
  <p188:author id="{E3747DDC-9DF3-1F21-8FB8-A238F68D511C}" name="Sabbagh, Souha" initials="SS" userId="S::souha.sabbagh@accenture.com::3660de2e-6ff8-456e-acdf-2be64c032104" providerId="AD"/>
  <p188:author id="{035D05EE-2830-209D-E2D3-2FD1374CD430}" name="Shamaei, Ali" initials="AS" userId="S::Ali.Shamaei@canadalife.com::27865597-4919-4158-9b1c-96124278d372" providerId="AD"/>
  <p188:author id="{4FFB74FA-E0B4-F206-2FFB-E3936DE1AB36}" name="Illidge, William" initials="WI" userId="S::william.illidge@accenture.com::788a991d-a3b7-40f4-a01a-5c10764e4a36" providerId="AD"/>
  <p188:author id="{17F788FC-8985-DADF-A7C0-CDD24D8CB58E}" name="Jain, Vaibhav" initials="" userId="S::v.s.jain@accenture.com::88887eba-e37a-4e7e-b48d-5f342f85834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E6E"/>
    <a:srgbClr val="A100FF"/>
    <a:srgbClr val="F1F1EF"/>
    <a:srgbClr val="F3FBFF"/>
    <a:srgbClr val="FCF7FF"/>
    <a:srgbClr val="F6E7FF"/>
    <a:srgbClr val="F0F6F6"/>
    <a:srgbClr val="DFEDED"/>
    <a:srgbClr val="C2DCDC"/>
    <a:srgbClr val="FFF3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omments/modernComment_7FFFFDC0_461F437E.xml><?xml version="1.0" encoding="utf-8"?>
<p188:cmLst xmlns:a="http://schemas.openxmlformats.org/drawingml/2006/main" xmlns:r="http://schemas.openxmlformats.org/officeDocument/2006/relationships" xmlns:p188="http://schemas.microsoft.com/office/powerpoint/2018/8/main">
  <p188:cm id="{E0A1D263-A373-4B27-AB85-FF024E745C94}" authorId="{78E7B191-E266-1B8F-87E1-B130546D2419}" created="2026-04-23T17:03:13.514">
    <pc:sldMkLst xmlns:pc="http://schemas.microsoft.com/office/powerpoint/2013/main/command">
      <pc:docMk/>
      <pc:sldMk cId="1176454014" sldId="2147483072"/>
    </pc:sldMkLst>
    <p188:replyLst>
      <p188:reply id="{F51B2FA5-44C2-4FF0-A0E4-35FC44FD77EC}" authorId="{66337FB0-F0AD-6477-7837-B1BD3C49A1FC}" created="2026-04-27T15:26:02.042">
        <p188:txBody>
          <a:bodyPr/>
          <a:lstStyle/>
          <a:p>
            <a:r>
              <a:rPr lang="en-US"/>
              <a:t>The 360 view is a data product, not a monolithic physical dataset.
It is typically assembled, not fully persisted end‑to‑end
Backed by authoritative domain data products (e.g., Party, Finance, Risk)
Can be exposed as a logical or semantic product (e.g., governed view / semantic layer)</a:t>
            </a:r>
          </a:p>
        </p188:txBody>
      </p188:reply>
    </p188:replyLst>
    <p188:txBody>
      <a:bodyPr/>
      <a:lstStyle/>
      <a:p>
        <a:r>
          <a:rPr lang="en-US"/>
          <a:t>Where does the 360 view live? is it a physical dataset? federated view? dataproduct (domain)?</a:t>
        </a:r>
      </a:p>
    </p188:txBody>
  </p188:cm>
  <p188:cm id="{20F91C79-2530-4BCA-8868-64433A8957DD}" authorId="{78E7B191-E266-1B8F-87E1-B130546D2419}" created="2026-04-23T17:06:03.329">
    <pc:sldMkLst xmlns:pc="http://schemas.microsoft.com/office/powerpoint/2013/main/command">
      <pc:docMk/>
      <pc:sldMk cId="1176454014" sldId="2147483072"/>
    </pc:sldMkLst>
    <p188:replyLst>
      <p188:reply id="{EC88FF14-79A9-4AF8-B2E5-6B425255458E}" authorId="{66337FB0-F0AD-6477-7837-B1BD3C49A1FC}" created="2026-04-27T15:27:59.008">
        <p188:txBody>
          <a:bodyPr/>
          <a:lstStyle/>
          <a:p>
            <a:r>
              <a:rPr lang="en-US"/>
              <a:t>This is intentional and not contradictory, but it must be clearly articulated.
No duplication refers to authoritative ownership of truth, not physical bytes
MDM consolidation creates and maintains golden records for mastering purposes
Federated 360 assembles perspectives across domains without re‑owning the data
In architecture terms:
MDM = authoritative core
360 = composed experience
This is controlled data movement, not uncontrolled duplication or heavy virtualization.</a:t>
            </a:r>
          </a:p>
        </p188:txBody>
      </p188:reply>
    </p188:replyLst>
    <p188:txBody>
      <a:bodyPr/>
      <a:lstStyle/>
      <a:p>
        <a:r>
          <a:rPr lang="en-US"/>
          <a:t>The previous slide said , no duplication is our principle - but then here we indicate 
MDM consolidates 
Federated node assembles 360 
So that is datamovement or heavy virtualization </a:t>
        </a:r>
      </a:p>
    </p188:txBody>
  </p188:cm>
</p188:cmLst>
</file>

<file path=ppt/comments/modernComment_7FFFFDEE_C30FB71D.xml><?xml version="1.0" encoding="utf-8"?>
<p188:cmLst xmlns:a="http://schemas.openxmlformats.org/drawingml/2006/main" xmlns:r="http://schemas.openxmlformats.org/officeDocument/2006/relationships" xmlns:p188="http://schemas.microsoft.com/office/powerpoint/2018/8/main">
  <p188:cm id="{5E228572-12D9-47EC-BA67-6D1B3C388DBE}" authorId="{78E7B191-E266-1B8F-87E1-B130546D2419}" created="2026-04-23T17:24:32.698">
    <pc:sldMkLst xmlns:pc="http://schemas.microsoft.com/office/powerpoint/2013/main/command">
      <pc:docMk/>
      <pc:sldMk cId="3272587037" sldId="2147483118"/>
    </pc:sldMkLst>
    <p188:replyLst>
      <p188:reply id="{BB75D5CE-A038-4C1C-9657-4935C62F2747}" authorId="{66337FB0-F0AD-6477-7837-B1BD3C49A1FC}" created="2026-04-27T15:40:31.635">
        <p188:txBody>
          <a:bodyPr/>
          <a:lstStyle/>
          <a:p>
            <a:r>
              <a:rPr lang="en-US"/>
              <a:t>Ali / Goran to comment. What is reflected here is enterprise standard for workload usage and boundaries. </a:t>
            </a:r>
          </a:p>
        </p188:txBody>
      </p188:reply>
      <p188:reply id="{56CAB566-78EC-474F-B443-8C08F6629AC5}" authorId="{035D05EE-2830-209D-E2D3-2FD1374CD430}" created="2026-04-28T18:33:40.987">
        <p188:txBody>
          <a:bodyPr/>
          <a:lstStyle/>
          <a:p>
            <a:r>
              <a:rPr lang="en-CA"/>
              <a:t>Majority of transactional apps are either on prem or in AWS. </a:t>
            </a:r>
          </a:p>
        </p188:txBody>
      </p188:reply>
    </p188:replyLst>
    <p188:txBody>
      <a:bodyPr/>
      <a:lstStyle/>
      <a:p>
        <a:r>
          <a:rPr lang="en-US"/>
          <a:t>What workloads are explicitly allowed outside Azure, and what controls that decision</a:t>
        </a:r>
      </a:p>
    </p188:txBody>
  </p188:cm>
  <p188:cm id="{FD8191D6-8630-490E-981E-AE16FEE3816E}" authorId="{78E7B191-E266-1B8F-87E1-B130546D2419}" created="2026-04-23T17:24:56.729">
    <pc:sldMkLst xmlns:pc="http://schemas.microsoft.com/office/powerpoint/2013/main/command">
      <pc:docMk/>
      <pc:sldMk cId="3272587037" sldId="2147483118"/>
    </pc:sldMkLst>
    <p188:replyLst>
      <p188:reply id="{879985B3-25A9-4C25-81A1-B6700837BD98}" authorId="{66337FB0-F0AD-6477-7837-B1BD3C49A1FC}" created="2026-04-27T15:38:54.526">
        <p188:txBody>
          <a:bodyPr/>
          <a:lstStyle/>
          <a:p>
            <a:r>
              <a:rPr lang="en-US"/>
              <a:t>It is my understanding that it is EntraID. Ali to confirm.
</a:t>
            </a:r>
          </a:p>
        </p188:txBody>
      </p188:reply>
      <p188:reply id="{7AECFEC2-7D10-49F0-BB5E-F5B948220D8B}" authorId="{035D05EE-2830-209D-E2D3-2FD1374CD430}" created="2026-04-28T18:45:12.861">
        <p188:txBody>
          <a:bodyPr/>
          <a:lstStyle/>
          <a:p>
            <a:r>
              <a:rPr lang="en-CA"/>
              <a:t>Yes</a:t>
            </a:r>
          </a:p>
        </p188:txBody>
      </p188:reply>
    </p188:replyLst>
    <p188:txBody>
      <a:bodyPr/>
      <a:lstStyle/>
      <a:p>
        <a:r>
          <a:rPr lang="en-US"/>
          <a:t>How are we standardizing identity, networking, and data access across Azure, AWS, and GCP?  Is there a single identity plane (e.g., Entra ID) governing access across all clouds, or are we federating identities per platform</a:t>
        </a:r>
      </a:p>
    </p188:txBody>
  </p188:cm>
  <p188:cm id="{1C8DF172-9F4C-4A2A-9D43-3579EA8602BD}" authorId="{78E7B191-E266-1B8F-87E1-B130546D2419}" created="2026-04-23T17:27:09.355">
    <pc:sldMkLst xmlns:pc="http://schemas.microsoft.com/office/powerpoint/2013/main/command">
      <pc:docMk/>
      <pc:sldMk cId="3272587037" sldId="2147483118"/>
    </pc:sldMkLst>
    <p188:replyLst>
      <p188:reply id="{0893AAD1-2C28-4651-B765-E8E0DAC2C211}" authorId="{66337FB0-F0AD-6477-7837-B1BD3C49A1FC}" created="2026-04-27T15:43:10.349">
        <p188:txBody>
          <a:bodyPr/>
          <a:lstStyle/>
          <a:p>
            <a:r>
              <a:rPr lang="en-US"/>
              <a:t>Data residency and cross‑cloud movement must be policy‑driven and explicit, especially for sensitive datasets.
Sensitive and regulated data respects jurisdictional residency constraints
Cross‑cloud movement is allowed only where justified, governed, and audited</a:t>
            </a:r>
          </a:p>
        </p188:txBody>
      </p188:reply>
    </p188:replyLst>
    <p188:txBody>
      <a:bodyPr/>
      <a:lstStyle/>
      <a:p>
        <a:r>
          <a:rPr lang="en-US"/>
          <a:t>What are the data residency and cross-cloud movement policies, especially for sensitive datasets?  What is the authoritative storage layer for structured enterprise data—Databricks, SQL, or RDS?</a:t>
        </a:r>
      </a:p>
    </p188:txBody>
  </p188:cm>
  <p188:cm id="{6DEAF10D-66DC-4433-BA78-F6AFDC70240B}" authorId="{78E7B191-E266-1B8F-87E1-B130546D2419}" created="2026-04-23T17:28:16.262">
    <pc:sldMkLst xmlns:pc="http://schemas.microsoft.com/office/powerpoint/2013/main/command">
      <pc:docMk/>
      <pc:sldMk cId="3272587037" sldId="2147483118"/>
    </pc:sldMkLst>
    <p188:replyLst>
      <p188:reply id="{35075815-51C7-49F9-AEA3-B3E714D3824D}" authorId="{07C2D793-F004-FBE2-6A3E-FD8922002F15}" created="2026-04-27T17:08:57.190">
        <p188:txBody>
          <a:bodyPr/>
          <a:lstStyle/>
          <a:p>
            <a:r>
              <a:rPr lang="en-US"/>
              <a:t>Most of the workloads are running on azure. Only select workloads such Apigee or Kafka or RDS runs on AWS or GCP for very specific reasons such as performance, latency, resiliency or cloud specific functionality
</a:t>
            </a:r>
          </a:p>
        </p188:txBody>
      </p188:reply>
    </p188:replyLst>
    <p188:txBody>
      <a:bodyPr/>
      <a:lstStyle/>
      <a:p>
        <a:r>
          <a:rPr lang="en-US"/>
          <a:t>Have we evaluated a more unified platform approach (e.g., Fabric) to reduce cross-cloud complexity</a:t>
        </a:r>
      </a:p>
    </p188:txBody>
  </p188:cm>
</p188:cmLst>
</file>

<file path=ppt/comments/modernComment_7FFFFDF5_9B5AEFBA.xml><?xml version="1.0" encoding="utf-8"?>
<p188:cmLst xmlns:a="http://schemas.openxmlformats.org/drawingml/2006/main" xmlns:r="http://schemas.openxmlformats.org/officeDocument/2006/relationships" xmlns:p188="http://schemas.microsoft.com/office/powerpoint/2018/8/main">
  <p188:cm id="{6A99668C-5D81-41C0-8092-33F77E4DE4A0}" authorId="{78E7B191-E266-1B8F-87E1-B130546D2419}" created="2026-04-23T17:11:13.160">
    <pc:sldMkLst xmlns:pc="http://schemas.microsoft.com/office/powerpoint/2013/main/command">
      <pc:docMk/>
      <pc:sldMk cId="2606428090" sldId="2147483125"/>
    </pc:sldMkLst>
    <p188:replyLst>
      <p188:reply id="{10DAC59F-3FF9-49FB-8B0C-D47BAE75232D}" authorId="{66337FB0-F0AD-6477-7837-B1BD3C49A1FC}" created="2026-04-27T15:31:10.783">
        <p188:txBody>
          <a:bodyPr/>
          <a:lstStyle/>
          <a:p>
            <a:r>
              <a:rPr lang="en-US"/>
              <a:t>It should be intent‑driven, not an all‑or‑nothing choice.
Pre‑joined (persisted) 360s are appropriate where performance, consistency, and repeatability are critical
Dynamically assembled 360s are appropriate where flexibility and rapid evolution matter more than latency</a:t>
            </a:r>
          </a:p>
        </p188:txBody>
      </p188:reply>
    </p188:replyLst>
    <p188:txBody>
      <a:bodyPr/>
      <a:lstStyle/>
      <a:p>
        <a:r>
          <a:rPr lang="en-US"/>
          <a:t>the flow shows
WBR, Wealth, Insurance → 360 → Power BI
Is the 360 dataset pre-joined and persisted, or are joins happening dynamically at query time?
 Because:
Pre-joined → fast, but duplication + latency
Dynamic → flexible, but performance issues</a:t>
        </a:r>
      </a:p>
    </p188:txBody>
  </p188:cm>
  <p188:cm id="{796836DC-9E3F-4372-80C5-1A8D458E11A6}" authorId="{78E7B191-E266-1B8F-87E1-B130546D2419}" created="2026-04-23T17:12:43.613">
    <pc:sldMkLst xmlns:pc="http://schemas.microsoft.com/office/powerpoint/2013/main/command">
      <pc:docMk/>
      <pc:sldMk cId="2606428090" sldId="2147483125"/>
    </pc:sldMkLst>
    <p188:replyLst>
      <p188:reply id="{A60989BD-9408-4656-87D6-560374C7BBF5}" authorId="{66337FB0-F0AD-6477-7837-B1BD3C49A1FC}" created="2026-04-27T15:34:35.291">
        <p188:txBody>
          <a:bodyPr/>
          <a:lstStyle/>
          <a:p>
            <a:r>
              <a:rPr lang="en-US"/>
              <a:t>Access controls are defined by source domains, enforced centrally, and consistently applied at the 360 layer without re‑owning data or policies.
@Ali - do you agree ? </a:t>
            </a:r>
          </a:p>
        </p188:txBody>
      </p188:reply>
    </p188:replyLst>
    <p188:txBody>
      <a:bodyPr/>
      <a:lstStyle/>
      <a:p>
        <a:r>
          <a:rPr lang="en-US"/>
          <a:t>Now that data is centralized:
Customer + policy + investment all in one place
Are access controls applied at the 360 layer independently, or inherited from source nodes?  also are we intentionally introducing a centralized 360 data layer for performance and consistency, and if so, how do we prevent it from undermining the node-based ownership model?</a:t>
        </a:r>
      </a:p>
    </p188:txBody>
  </p188:cm>
</p188:cmLst>
</file>

<file path=ppt/comments/modernComment_7FFFFE15_D5480B30.xml><?xml version="1.0" encoding="utf-8"?>
<p188:cmLst xmlns:a="http://schemas.openxmlformats.org/drawingml/2006/main" xmlns:r="http://schemas.openxmlformats.org/officeDocument/2006/relationships" xmlns:p188="http://schemas.microsoft.com/office/powerpoint/2018/8/main">
  <p188:cm id="{4B662CD5-BAB1-4C04-85BE-AE253EDC5542}" authorId="{035D05EE-2830-209D-E2D3-2FD1374CD430}" status="resolved" created="2026-04-23T12:53:16.307" complete="100000">
    <ac:txMkLst xmlns:ac="http://schemas.microsoft.com/office/drawing/2013/main/command">
      <pc:docMk xmlns:pc="http://schemas.microsoft.com/office/powerpoint/2013/main/command"/>
      <pc:sldMk xmlns:pc="http://schemas.microsoft.com/office/powerpoint/2013/main/command" cId="3578268464" sldId="2147483157"/>
      <ac:spMk id="15" creationId="{42B9046F-0205-E19B-C6CE-787FF5F08F9F}"/>
      <ac:txMk cp="64" len="36">
        <ac:context len="260" hash="1981526803"/>
      </ac:txMk>
    </ac:txMkLst>
    <p188:pos x="7221639" y="270299"/>
    <p188:replyLst>
      <p188:reply id="{202F2491-A6FA-49E2-BD8C-C4891B5CC10B}" authorId="{07C2D793-F004-FBE2-6A3E-FD8922002F15}" created="2026-04-23T15:21:53.423">
        <p188:txBody>
          <a:bodyPr/>
          <a:lstStyle/>
          <a:p>
            <a:r>
              <a:rPr lang="en-US"/>
              <a:t>Updated</a:t>
            </a:r>
          </a:p>
        </p188:txBody>
      </p188:reply>
    </p188:replyLst>
    <p188:txBody>
      <a:bodyPr/>
      <a:lstStyle/>
      <a:p>
        <a:r>
          <a:rPr lang="en-CA"/>
          <a:t>Doesn’t look like wording and Grammarly correct</a:t>
        </a:r>
      </a:p>
    </p188:txBody>
  </p188:cm>
  <p188:cm id="{C847A728-D4C8-42A0-82FF-276D08A723D4}" authorId="{78E7B191-E266-1B8F-87E1-B130546D2419}" created="2026-04-23T16:40:42.226">
    <pc:sldMkLst xmlns:pc="http://schemas.microsoft.com/office/powerpoint/2013/main/command">
      <pc:docMk/>
      <pc:sldMk cId="3578268464" sldId="2147483157"/>
    </pc:sldMkLst>
    <p188:replyLst>
      <p188:reply id="{2ADCB351-D1B5-495E-BE16-2683BE396D32}" authorId="{66337FB0-F0AD-6477-7837-B1BD3C49A1FC}" created="2026-04-27T15:01:33.362">
        <p188:txBody>
          <a:bodyPr/>
          <a:lstStyle/>
          <a:p>
            <a:r>
              <a:rPr lang="en-US"/>
              <a:t>Owning end‑to‑end means accountability for the data product lifecycle, not the physical plumbing.
Includes: ingestion contract, transformation intent, data quality rules, SLAs, certification readiness, and published consumption semantics
Excludes: downstream consumer logic and bespoke use‑case implementations
Data quality accountability:
Producer (domain/node owner) is accountable for data correctness and contract adherence
Consumer is accountable for fitness for use within their context
Shared issues are surfaced through governance</a:t>
            </a:r>
          </a:p>
        </p188:txBody>
      </p188:reply>
    </p188:replyLst>
    <p188:txBody>
      <a:bodyPr/>
      <a:lstStyle/>
      <a:p>
        <a:r>
          <a:rPr lang="en-US"/>
          <a:t>What does “own end-to-end” actually include?
 → Ingestion? Quality? SLA? Certification? Consumption?
Who is accountable for data quality issues when data is consumed across nodes?
 → Producer vs consumer accountability model?</a:t>
        </a:r>
      </a:p>
    </p188:txBody>
  </p188:cm>
  <p188:cm id="{3D992597-33E1-4DDA-8626-95C20DEE207D}" authorId="{78E7B191-E266-1B8F-87E1-B130546D2419}" created="2026-04-23T16:41:24.679">
    <pc:sldMkLst xmlns:pc="http://schemas.microsoft.com/office/powerpoint/2013/main/command">
      <pc:docMk/>
      <pc:sldMk cId="3578268464" sldId="2147483157"/>
    </pc:sldMkLst>
    <p188:replyLst>
      <p188:reply id="{2927585D-A93A-4BE9-8C68-7FE6E1AEE1C5}" authorId="{66337FB0-F0AD-6477-7837-B1BD3C49A1FC}" created="2026-04-27T15:02:57.087">
        <p188:txBody>
          <a:bodyPr/>
          <a:lstStyle/>
          <a:p>
            <a:r>
              <a:rPr lang="en-US"/>
              <a:t>A dataset has one accountable owner, even if it is widely used.</a:t>
            </a:r>
          </a:p>
        </p188:txBody>
      </p188:reply>
    </p188:replyLst>
    <p188:txBody>
      <a:bodyPr/>
      <a:lstStyle/>
      <a:p>
        <a:r>
          <a:rPr lang="en-US"/>
          <a:t>What happens when a dataset truly belongs to multiple domains?
 → e.g., Customer + Finance + Risk
Is there a concept of “primary node” vs “consumer node”?</a:t>
        </a:r>
      </a:p>
    </p188:txBody>
  </p188:cm>
  <p188:cm id="{DDBA5749-E7D9-4101-AAB5-D174479C7151}" authorId="{78E7B191-E266-1B8F-87E1-B130546D2419}" created="2026-04-23T16:41:50.992">
    <pc:sldMkLst xmlns:pc="http://schemas.microsoft.com/office/powerpoint/2013/main/command">
      <pc:docMk/>
      <pc:sldMk cId="3578268464" sldId="2147483157"/>
    </pc:sldMkLst>
    <p188:replyLst>
      <p188:reply id="{FBBEBF4A-7A9C-461A-A1E2-0B68DA016208}" authorId="{66337FB0-F0AD-6477-7837-B1BD3C49A1FC}" created="2026-04-27T15:04:36.224">
        <p188:txBody>
          <a:bodyPr/>
          <a:lstStyle/>
          <a:p>
            <a:r>
              <a:rPr lang="en-US"/>
              <a:t>Trust is declared, governed, and observable—not implied.
A trusted data product has:
Defined ownership and data contract
Explicit quality checks and coverage
Lineage visibility
Published certification status
Tiers are expected, not optional:
Raw → Curated → Certified
Only certified products are promoted for broad enterprise reuse</a:t>
            </a:r>
          </a:p>
        </p188:txBody>
      </p188:reply>
    </p188:replyLst>
    <p188:txBody>
      <a:bodyPr/>
      <a:lstStyle/>
      <a:p>
        <a:r>
          <a:rPr lang="en-US"/>
          <a:t>What defines a “trusted data product” in a node?
Is there a certification / publishing process?
Are there tiers (raw, curated, certified)?</a:t>
        </a:r>
      </a:p>
    </p188:txBody>
  </p188:cm>
  <p188:cm id="{A23C531D-758B-4CB7-B4B7-66DB190E3A46}" authorId="{78E7B191-E266-1B8F-87E1-B130546D2419}" created="2026-04-23T16:42:18.570">
    <pc:sldMkLst xmlns:pc="http://schemas.microsoft.com/office/powerpoint/2013/main/command">
      <pc:docMk/>
      <pc:sldMk cId="3578268464" sldId="2147483157"/>
    </pc:sldMkLst>
    <p188:replyLst>
      <p188:reply id="{BDDAC8BF-47F0-4039-947D-945027D31584}" authorId="{66337FB0-F0AD-6477-7837-B1BD3C49A1FC}" created="2026-04-27T15:05:46.845">
        <p188:txBody>
          <a:bodyPr/>
          <a:lstStyle/>
          <a:p>
            <a:r>
              <a:rPr lang="en-US"/>
              <a:t>Consumers should not break if architecture discipline is followed.
Lineage is preserved through logical data product identifiers, not physical placement
Node re‑orgs require a migration strategy, not a cutover surprise
Backward compatibility (or deprecation windows) is a node owner responsibility
Architecture governs continuity; platforms enable it.</a:t>
            </a:r>
          </a:p>
        </p188:txBody>
      </p188:reply>
    </p188:replyLst>
    <p188:txBody>
      <a:bodyPr/>
      <a:lstStyle/>
      <a:p>
        <a:r>
          <a:rPr lang="en-US"/>
          <a:t>What is the impact on downstream consumers during node re-org?
How is lineage maintained when data moves nodes?
Is there a migration strategy / backward compatibility model?</a:t>
        </a:r>
      </a:p>
    </p188:txBody>
  </p188:cm>
  <p188:cm id="{888295A6-1723-49F4-9409-5AF6B5C7568A}" authorId="{78E7B191-E266-1B8F-87E1-B130546D2419}" created="2026-04-23T16:43:21.602">
    <pc:sldMkLst xmlns:pc="http://schemas.microsoft.com/office/powerpoint/2013/main/command">
      <pc:docMk/>
      <pc:sldMk cId="3578268464" sldId="2147483157"/>
    </pc:sldMkLst>
    <p188:replyLst>
      <p188:reply id="{2EFA3023-CE27-4C2A-A6D1-F8C24D5C882F}" authorId="{66337FB0-F0AD-6477-7837-B1BD3C49A1FC}" created="2026-04-27T15:07:48.419">
        <p188:txBody>
          <a:bodyPr/>
          <a:lstStyle/>
          <a:p>
            <a:r>
              <a:rPr lang="en-US"/>
              <a:t>Access control is hybrid by design.
Central IAM provides identity, authentication, and global policy guardrails
Domain/node owners define access intent and entitlements
Masking and sensitivity rules are centrally standardized, locally applied
Row/column‑level controls should be platform‑consistent, not re‑implemented per node.</a:t>
            </a:r>
          </a:p>
        </p188:txBody>
      </p188:reply>
    </p188:replyLst>
    <p188:txBody>
      <a:bodyPr/>
      <a:lstStyle/>
      <a:p>
        <a:r>
          <a:rPr lang="en-US"/>
          <a:t>How is access controlled across nodes?
 → Is it domain-owned RBAC, centralized IAM, or hybrid?
If data is shared across nodes, who enforces masking / entitlements?
 → Node owner vs central governance?
Do we have row/column-level controls standardized across nodes?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444B6-C587-4E9F-B629-10474565FD7B}"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C8513-1CA2-4E61-94ED-AE7D2B383338}" type="slidenum">
              <a:rPr lang="en-US" smtClean="0"/>
              <a:t>‹#›</a:t>
            </a:fld>
            <a:endParaRPr lang="en-US"/>
          </a:p>
        </p:txBody>
      </p:sp>
    </p:spTree>
    <p:extLst>
      <p:ext uri="{BB962C8B-B14F-4D97-AF65-F5344CB8AC3E}">
        <p14:creationId xmlns:p14="http://schemas.microsoft.com/office/powerpoint/2010/main" val="1353246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a:t>Graveyard slides are removed. To see the graveyard slides, refer to version 45</a:t>
            </a:r>
          </a:p>
        </p:txBody>
      </p:sp>
      <p:sp>
        <p:nvSpPr>
          <p:cNvPr id="4" name="Slide Number Placeholder 3"/>
          <p:cNvSpPr>
            <a:spLocks noGrp="1"/>
          </p:cNvSpPr>
          <p:nvPr>
            <p:ph type="sldNum" sz="quarter" idx="5"/>
          </p:nvPr>
        </p:nvSpPr>
        <p:spPr/>
        <p:txBody>
          <a:bodyPr/>
          <a:lstStyle/>
          <a:p>
            <a:fld id="{095C8513-1CA2-4E61-94ED-AE7D2B383338}" type="slidenum">
              <a:rPr lang="en-US" smtClean="0"/>
              <a:t>1</a:t>
            </a:fld>
            <a:endParaRPr lang="en-US"/>
          </a:p>
        </p:txBody>
      </p:sp>
    </p:spTree>
    <p:extLst>
      <p:ext uri="{BB962C8B-B14F-4D97-AF65-F5344CB8AC3E}">
        <p14:creationId xmlns:p14="http://schemas.microsoft.com/office/powerpoint/2010/main" val="2631757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A"/>
          </a:p>
        </p:txBody>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095C8513-1CA2-4E61-94ED-AE7D2B383338}" type="slidenum">
              <a:rPr lang="en-US" smtClean="0"/>
              <a:t>3</a:t>
            </a:fld>
            <a:endParaRPr lang="en-US"/>
          </a:p>
        </p:txBody>
      </p:sp>
    </p:spTree>
    <p:extLst>
      <p:ext uri="{BB962C8B-B14F-4D97-AF65-F5344CB8AC3E}">
        <p14:creationId xmlns:p14="http://schemas.microsoft.com/office/powerpoint/2010/main" val="853456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C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C8513-1CA2-4E61-94ED-AE7D2B383338}" type="slidenum">
              <a:rPr lang="en-US" smtClean="0"/>
              <a:t>5</a:t>
            </a:fld>
            <a:endParaRPr lang="en-US"/>
          </a:p>
        </p:txBody>
      </p:sp>
    </p:spTree>
    <p:extLst>
      <p:ext uri="{BB962C8B-B14F-4D97-AF65-F5344CB8AC3E}">
        <p14:creationId xmlns:p14="http://schemas.microsoft.com/office/powerpoint/2010/main" val="281496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52983-6A53-5E91-D0E2-D40AE7C44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49BE41-4EBC-81F1-0A1D-9B807269C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47A18-E9EC-4130-07C0-0E65696EC180}"/>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0E5F230D-C005-F566-FC3A-852300489823}"/>
              </a:ext>
            </a:extLst>
          </p:cNvPr>
          <p:cNvSpPr>
            <a:spLocks noGrp="1"/>
          </p:cNvSpPr>
          <p:nvPr>
            <p:ph type="sldNum" sz="quarter" idx="5"/>
          </p:nvPr>
        </p:nvSpPr>
        <p:spPr/>
        <p:txBody>
          <a:bodyPr/>
          <a:lstStyle/>
          <a:p>
            <a:fld id="{095C8513-1CA2-4E61-94ED-AE7D2B383338}" type="slidenum">
              <a:rPr lang="en-US" smtClean="0"/>
              <a:t>7</a:t>
            </a:fld>
            <a:endParaRPr lang="en-US"/>
          </a:p>
        </p:txBody>
      </p:sp>
    </p:spTree>
    <p:extLst>
      <p:ext uri="{BB962C8B-B14F-4D97-AF65-F5344CB8AC3E}">
        <p14:creationId xmlns:p14="http://schemas.microsoft.com/office/powerpoint/2010/main" val="4268523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86C89-6AEC-1677-7D06-DFFD541B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AEC86-0802-2642-2350-12A4080A96F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91B7EEF-3FEA-0764-DFFE-A6F460254030}"/>
              </a:ext>
            </a:extLst>
          </p:cNvPr>
          <p:cNvSpPr>
            <a:spLocks noGrp="1"/>
          </p:cNvSpPr>
          <p:nvPr>
            <p:ph type="body" idx="1"/>
          </p:nvPr>
        </p:nvSpPr>
        <p:spPr/>
        <p:txBody>
          <a:bodyPr/>
          <a:lstStyle/>
          <a:p>
            <a:r>
              <a:rPr lang="en-US"/>
              <a:t>Note:</a:t>
            </a:r>
            <a:br>
              <a:rPr lang="en-US"/>
            </a:br>
            <a:r>
              <a:rPr lang="en-US"/>
              <a:t>Make the story telling cleaner</a:t>
            </a:r>
          </a:p>
          <a:p>
            <a:r>
              <a:rPr lang="en-US"/>
              <a:t>Add </a:t>
            </a:r>
            <a:r>
              <a:rPr lang="en-US" err="1"/>
              <a:t>sharepoint</a:t>
            </a:r>
            <a:r>
              <a:rPr lang="en-US"/>
              <a:t> logo</a:t>
            </a:r>
          </a:p>
          <a:p>
            <a:endParaRPr lang="en-US"/>
          </a:p>
        </p:txBody>
      </p:sp>
      <p:sp>
        <p:nvSpPr>
          <p:cNvPr id="4" name="Slide Number Placeholder 3">
            <a:extLst>
              <a:ext uri="{FF2B5EF4-FFF2-40B4-BE49-F238E27FC236}">
                <a16:creationId xmlns:a16="http://schemas.microsoft.com/office/drawing/2014/main" id="{E334AE4B-E58B-F57E-228A-6B721ABB5A63}"/>
              </a:ext>
            </a:extLst>
          </p:cNvPr>
          <p:cNvSpPr>
            <a:spLocks noGrp="1"/>
          </p:cNvSpPr>
          <p:nvPr>
            <p:ph type="sldNum" sz="quarter" idx="5"/>
          </p:nvPr>
        </p:nvSpPr>
        <p:spPr/>
        <p:txBody>
          <a:bodyPr/>
          <a:lstStyle/>
          <a:p>
            <a:fld id="{095C8513-1CA2-4E61-94ED-AE7D2B383338}" type="slidenum">
              <a:rPr lang="en-US" smtClean="0"/>
              <a:t>9</a:t>
            </a:fld>
            <a:endParaRPr lang="en-US"/>
          </a:p>
        </p:txBody>
      </p:sp>
    </p:spTree>
    <p:extLst>
      <p:ext uri="{BB962C8B-B14F-4D97-AF65-F5344CB8AC3E}">
        <p14:creationId xmlns:p14="http://schemas.microsoft.com/office/powerpoint/2010/main" val="4169125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EA34D-DA6D-48F0-BB21-1D1CB14BC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08817-1662-15DE-4C39-219F4AB89CEC}"/>
              </a:ext>
            </a:extLst>
          </p:cNvPr>
          <p:cNvSpPr>
            <a:spLocks noGrp="1" noRot="1" noChangeAspect="1"/>
          </p:cNvSpPr>
          <p:nvPr>
            <p:ph type="sldImg"/>
          </p:nvPr>
        </p:nvSpPr>
        <p:spPr/>
        <p:txBody>
          <a:bodyPr/>
          <a:lstStyle/>
          <a:p>
            <a:endParaRPr lang="fr-CA"/>
          </a:p>
        </p:txBody>
      </p:sp>
      <p:sp>
        <p:nvSpPr>
          <p:cNvPr id="3" name="Notes Placeholder 2">
            <a:extLst>
              <a:ext uri="{FF2B5EF4-FFF2-40B4-BE49-F238E27FC236}">
                <a16:creationId xmlns:a16="http://schemas.microsoft.com/office/drawing/2014/main" id="{BA0A38C8-CF47-BED6-26C7-29ECC3B0E9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13186B-A76E-3D65-EFF3-B8D9566B2434}"/>
              </a:ext>
            </a:extLst>
          </p:cNvPr>
          <p:cNvSpPr>
            <a:spLocks noGrp="1"/>
          </p:cNvSpPr>
          <p:nvPr>
            <p:ph type="sldNum" sz="quarter" idx="5"/>
          </p:nvPr>
        </p:nvSpPr>
        <p:spPr/>
        <p:txBody>
          <a:bodyPr/>
          <a:lstStyle/>
          <a:p>
            <a:fld id="{095C8513-1CA2-4E61-94ED-AE7D2B383338}" type="slidenum">
              <a:rPr lang="en-US" smtClean="0"/>
              <a:t>10</a:t>
            </a:fld>
            <a:endParaRPr lang="en-US"/>
          </a:p>
        </p:txBody>
      </p:sp>
    </p:spTree>
    <p:extLst>
      <p:ext uri="{BB962C8B-B14F-4D97-AF65-F5344CB8AC3E}">
        <p14:creationId xmlns:p14="http://schemas.microsoft.com/office/powerpoint/2010/main" val="3528494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CC3A3-16ED-6890-8BF4-FF72F6A2E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8D27D-47BA-51CC-EA3D-CBAC2BD5A85F}"/>
              </a:ext>
            </a:extLst>
          </p:cNvPr>
          <p:cNvSpPr>
            <a:spLocks noGrp="1" noRot="1" noChangeAspect="1"/>
          </p:cNvSpPr>
          <p:nvPr>
            <p:ph type="sldImg"/>
          </p:nvPr>
        </p:nvSpPr>
        <p:spPr/>
        <p:txBody>
          <a:bodyPr/>
          <a:lstStyle/>
          <a:p>
            <a:endParaRPr lang="fr-CA"/>
          </a:p>
        </p:txBody>
      </p:sp>
      <p:sp>
        <p:nvSpPr>
          <p:cNvPr id="3" name="Notes Placeholder 2">
            <a:extLst>
              <a:ext uri="{FF2B5EF4-FFF2-40B4-BE49-F238E27FC236}">
                <a16:creationId xmlns:a16="http://schemas.microsoft.com/office/drawing/2014/main" id="{9C965BA7-671A-2E06-AD6C-67C62D9543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DD65AC-1097-9B58-0657-74879449E1D8}"/>
              </a:ext>
            </a:extLst>
          </p:cNvPr>
          <p:cNvSpPr>
            <a:spLocks noGrp="1"/>
          </p:cNvSpPr>
          <p:nvPr>
            <p:ph type="sldNum" sz="quarter" idx="5"/>
          </p:nvPr>
        </p:nvSpPr>
        <p:spPr/>
        <p:txBody>
          <a:bodyPr/>
          <a:lstStyle/>
          <a:p>
            <a:fld id="{095C8513-1CA2-4E61-94ED-AE7D2B383338}" type="slidenum">
              <a:rPr lang="en-US" smtClean="0"/>
              <a:t>11</a:t>
            </a:fld>
            <a:endParaRPr lang="en-US"/>
          </a:p>
        </p:txBody>
      </p:sp>
    </p:spTree>
    <p:extLst>
      <p:ext uri="{BB962C8B-B14F-4D97-AF65-F5344CB8AC3E}">
        <p14:creationId xmlns:p14="http://schemas.microsoft.com/office/powerpoint/2010/main" val="24150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4538D-4414-8B98-53F5-0F2701442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19B24-37DB-5D63-F173-F82CBFE6C3EA}"/>
              </a:ext>
            </a:extLst>
          </p:cNvPr>
          <p:cNvSpPr>
            <a:spLocks noGrp="1" noRot="1" noChangeAspect="1"/>
          </p:cNvSpPr>
          <p:nvPr>
            <p:ph type="sldImg"/>
          </p:nvPr>
        </p:nvSpPr>
        <p:spPr/>
        <p:txBody>
          <a:bodyPr/>
          <a:lstStyle/>
          <a:p>
            <a:endParaRPr lang="fr-CA"/>
          </a:p>
        </p:txBody>
      </p:sp>
      <p:sp>
        <p:nvSpPr>
          <p:cNvPr id="3" name="Notes Placeholder 2">
            <a:extLst>
              <a:ext uri="{FF2B5EF4-FFF2-40B4-BE49-F238E27FC236}">
                <a16:creationId xmlns:a16="http://schemas.microsoft.com/office/drawing/2014/main" id="{DE36BA64-703F-F7A9-21C6-D7B9BC4EAF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10CBF5-0908-F9AD-0B2C-D0DB70447632}"/>
              </a:ext>
            </a:extLst>
          </p:cNvPr>
          <p:cNvSpPr>
            <a:spLocks noGrp="1"/>
          </p:cNvSpPr>
          <p:nvPr>
            <p:ph type="sldNum" sz="quarter" idx="5"/>
          </p:nvPr>
        </p:nvSpPr>
        <p:spPr/>
        <p:txBody>
          <a:bodyPr/>
          <a:lstStyle/>
          <a:p>
            <a:fld id="{095C8513-1CA2-4E61-94ED-AE7D2B383338}" type="slidenum">
              <a:rPr lang="en-US" smtClean="0"/>
              <a:t>12</a:t>
            </a:fld>
            <a:endParaRPr lang="en-US"/>
          </a:p>
        </p:txBody>
      </p:sp>
    </p:spTree>
    <p:extLst>
      <p:ext uri="{BB962C8B-B14F-4D97-AF65-F5344CB8AC3E}">
        <p14:creationId xmlns:p14="http://schemas.microsoft.com/office/powerpoint/2010/main" val="2750429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A0895-A1FA-7891-07E6-116BAAA8F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81854-7CA4-97A4-51A5-3509CCDEFCCE}"/>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0F21E3C-73F5-AF6A-39BD-3784EBB5D040}"/>
              </a:ext>
            </a:extLst>
          </p:cNvPr>
          <p:cNvSpPr>
            <a:spLocks noGrp="1"/>
          </p:cNvSpPr>
          <p:nvPr>
            <p:ph type="body" idx="1"/>
          </p:nvPr>
        </p:nvSpPr>
        <p:spPr/>
        <p:txBody>
          <a:bodyPr/>
          <a:lstStyle/>
          <a:p>
            <a:r>
              <a:rPr lang="en-US"/>
              <a:t>Note:</a:t>
            </a:r>
            <a:br>
              <a:rPr lang="en-US"/>
            </a:br>
            <a:r>
              <a:rPr lang="en-US"/>
              <a:t>Make the story telling cleaner</a:t>
            </a:r>
          </a:p>
          <a:p>
            <a:r>
              <a:rPr lang="en-US"/>
              <a:t>Add </a:t>
            </a:r>
            <a:r>
              <a:rPr lang="en-US" err="1"/>
              <a:t>sharepoint</a:t>
            </a:r>
            <a:r>
              <a:rPr lang="en-US"/>
              <a:t> logo</a:t>
            </a:r>
          </a:p>
          <a:p>
            <a:endParaRPr lang="en-US"/>
          </a:p>
        </p:txBody>
      </p:sp>
      <p:sp>
        <p:nvSpPr>
          <p:cNvPr id="4" name="Slide Number Placeholder 3">
            <a:extLst>
              <a:ext uri="{FF2B5EF4-FFF2-40B4-BE49-F238E27FC236}">
                <a16:creationId xmlns:a16="http://schemas.microsoft.com/office/drawing/2014/main" id="{8450EE76-8405-5C68-05D7-6EFC9774679D}"/>
              </a:ext>
            </a:extLst>
          </p:cNvPr>
          <p:cNvSpPr>
            <a:spLocks noGrp="1"/>
          </p:cNvSpPr>
          <p:nvPr>
            <p:ph type="sldNum" sz="quarter" idx="5"/>
          </p:nvPr>
        </p:nvSpPr>
        <p:spPr/>
        <p:txBody>
          <a:bodyPr/>
          <a:lstStyle/>
          <a:p>
            <a:fld id="{095C8513-1CA2-4E61-94ED-AE7D2B383338}" type="slidenum">
              <a:rPr lang="en-US" smtClean="0"/>
              <a:t>13</a:t>
            </a:fld>
            <a:endParaRPr lang="en-US"/>
          </a:p>
        </p:txBody>
      </p:sp>
    </p:spTree>
    <p:extLst>
      <p:ext uri="{BB962C8B-B14F-4D97-AF65-F5344CB8AC3E}">
        <p14:creationId xmlns:p14="http://schemas.microsoft.com/office/powerpoint/2010/main" val="1945357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A88C1-D180-F8AA-57E1-23F7A49A2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414ED-DDAB-0D67-4382-1A2CD5E26FE0}"/>
              </a:ext>
            </a:extLst>
          </p:cNvPr>
          <p:cNvSpPr>
            <a:spLocks noGrp="1" noRot="1" noChangeAspect="1"/>
          </p:cNvSpPr>
          <p:nvPr>
            <p:ph type="sldImg"/>
          </p:nvPr>
        </p:nvSpPr>
        <p:spPr/>
        <p:txBody>
          <a:bodyPr/>
          <a:lstStyle/>
          <a:p>
            <a:endParaRPr lang="fr-CA"/>
          </a:p>
        </p:txBody>
      </p:sp>
      <p:sp>
        <p:nvSpPr>
          <p:cNvPr id="3" name="Notes Placeholder 2">
            <a:extLst>
              <a:ext uri="{FF2B5EF4-FFF2-40B4-BE49-F238E27FC236}">
                <a16:creationId xmlns:a16="http://schemas.microsoft.com/office/drawing/2014/main" id="{3D67661C-B8D5-6D5A-839E-0FB66F0905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FE8787-9AA0-E47C-186F-53C267D9F78A}"/>
              </a:ext>
            </a:extLst>
          </p:cNvPr>
          <p:cNvSpPr>
            <a:spLocks noGrp="1"/>
          </p:cNvSpPr>
          <p:nvPr>
            <p:ph type="sldNum" sz="quarter" idx="5"/>
          </p:nvPr>
        </p:nvSpPr>
        <p:spPr/>
        <p:txBody>
          <a:bodyPr/>
          <a:lstStyle/>
          <a:p>
            <a:fld id="{095C8513-1CA2-4E61-94ED-AE7D2B383338}" type="slidenum">
              <a:rPr lang="en-US" smtClean="0"/>
              <a:t>14</a:t>
            </a:fld>
            <a:endParaRPr lang="en-US"/>
          </a:p>
        </p:txBody>
      </p:sp>
    </p:spTree>
    <p:extLst>
      <p:ext uri="{BB962C8B-B14F-4D97-AF65-F5344CB8AC3E}">
        <p14:creationId xmlns:p14="http://schemas.microsoft.com/office/powerpoint/2010/main" val="3801923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AC569-D21E-001D-919E-B051CB33F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F7350-1C87-46D5-3617-8E2AE89575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4408D2-1598-2BFB-0601-8AEE55965904}"/>
              </a:ext>
            </a:extLst>
          </p:cNvPr>
          <p:cNvSpPr>
            <a:spLocks noGrp="1"/>
          </p:cNvSpPr>
          <p:nvPr>
            <p:ph type="body" idx="1"/>
          </p:nvPr>
        </p:nvSpPr>
        <p:spPr/>
        <p:txBody>
          <a:bodyPr/>
          <a:lstStyle/>
          <a:p>
            <a:r>
              <a:rPr lang="en-US"/>
              <a:t>Put in where MDM sits</a:t>
            </a:r>
          </a:p>
          <a:p>
            <a:r>
              <a:rPr lang="en-US"/>
              <a:t>Where </a:t>
            </a:r>
            <a:r>
              <a:rPr lang="en-US" err="1"/>
              <a:t>lifeco</a:t>
            </a:r>
            <a:r>
              <a:rPr lang="en-US"/>
              <a:t> sits in overall strategy</a:t>
            </a:r>
          </a:p>
        </p:txBody>
      </p:sp>
      <p:sp>
        <p:nvSpPr>
          <p:cNvPr id="4" name="Slide Number Placeholder 3">
            <a:extLst>
              <a:ext uri="{FF2B5EF4-FFF2-40B4-BE49-F238E27FC236}">
                <a16:creationId xmlns:a16="http://schemas.microsoft.com/office/drawing/2014/main" id="{5FF620C4-9ADD-5C2F-4472-ED11A4A7E0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5C8513-1CA2-4E61-94ED-AE7D2B38333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5975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7DB04-42B0-0D67-7D55-0C48A1143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48DB4-445D-163A-FADF-AE6A3B635FA8}"/>
              </a:ext>
            </a:extLst>
          </p:cNvPr>
          <p:cNvSpPr>
            <a:spLocks noGrp="1" noRot="1" noChangeAspect="1"/>
          </p:cNvSpPr>
          <p:nvPr>
            <p:ph type="sldImg"/>
          </p:nvPr>
        </p:nvSpPr>
        <p:spPr/>
        <p:txBody>
          <a:bodyPr/>
          <a:lstStyle/>
          <a:p>
            <a:endParaRPr lang="fr-CA"/>
          </a:p>
        </p:txBody>
      </p:sp>
      <p:sp>
        <p:nvSpPr>
          <p:cNvPr id="3" name="Notes Placeholder 2">
            <a:extLst>
              <a:ext uri="{FF2B5EF4-FFF2-40B4-BE49-F238E27FC236}">
                <a16:creationId xmlns:a16="http://schemas.microsoft.com/office/drawing/2014/main" id="{5BC86132-C77F-ED88-11C0-610738ACA9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0490EAF-01B2-D207-D57D-4766FDCE2E25}"/>
              </a:ext>
            </a:extLst>
          </p:cNvPr>
          <p:cNvSpPr>
            <a:spLocks noGrp="1"/>
          </p:cNvSpPr>
          <p:nvPr>
            <p:ph type="sldNum" sz="quarter" idx="5"/>
          </p:nvPr>
        </p:nvSpPr>
        <p:spPr/>
        <p:txBody>
          <a:bodyPr/>
          <a:lstStyle/>
          <a:p>
            <a:fld id="{095C8513-1CA2-4E61-94ED-AE7D2B383338}" type="slidenum">
              <a:rPr lang="en-US" smtClean="0"/>
              <a:t>18</a:t>
            </a:fld>
            <a:endParaRPr lang="en-US"/>
          </a:p>
        </p:txBody>
      </p:sp>
    </p:spTree>
    <p:extLst>
      <p:ext uri="{BB962C8B-B14F-4D97-AF65-F5344CB8AC3E}">
        <p14:creationId xmlns:p14="http://schemas.microsoft.com/office/powerpoint/2010/main" val="3194092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82E59-6522-34E7-78B2-B94C45E4B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FE7E4-E768-031E-3045-ECE2F22D01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0F70D-3087-970C-F793-D58AEABECC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F162EF-8C42-C3CD-1F4A-AA33A78CEBA3}"/>
              </a:ext>
            </a:extLst>
          </p:cNvPr>
          <p:cNvSpPr>
            <a:spLocks noGrp="1"/>
          </p:cNvSpPr>
          <p:nvPr>
            <p:ph type="sldNum" sz="quarter" idx="5"/>
          </p:nvPr>
        </p:nvSpPr>
        <p:spPr/>
        <p:txBody>
          <a:bodyPr/>
          <a:lstStyle/>
          <a:p>
            <a:fld id="{095C8513-1CA2-4E61-94ED-AE7D2B383338}" type="slidenum">
              <a:rPr lang="en-US" smtClean="0"/>
              <a:t>20</a:t>
            </a:fld>
            <a:endParaRPr lang="en-US"/>
          </a:p>
        </p:txBody>
      </p:sp>
    </p:spTree>
    <p:extLst>
      <p:ext uri="{BB962C8B-B14F-4D97-AF65-F5344CB8AC3E}">
        <p14:creationId xmlns:p14="http://schemas.microsoft.com/office/powerpoint/2010/main" val="2613043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944D4-F415-DE15-3608-AF56D2668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C6103-2A32-DB5D-3BAF-C3484162F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5FE00-63E4-573C-7D5C-F5FE33AA8E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22EBC51-40DB-E789-8C9B-21BF2B3E2D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5C8513-1CA2-4E61-94ED-AE7D2B38333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3456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05715-8725-05F0-8AEA-B20229506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9777D-AE85-1B48-376E-F315A4ACBF28}"/>
              </a:ext>
            </a:extLst>
          </p:cNvPr>
          <p:cNvSpPr>
            <a:spLocks noGrp="1" noRot="1" noChangeAspect="1"/>
          </p:cNvSpPr>
          <p:nvPr>
            <p:ph type="sldImg"/>
          </p:nvPr>
        </p:nvSpPr>
        <p:spPr/>
        <p:txBody>
          <a:bodyPr/>
          <a:lstStyle/>
          <a:p>
            <a:endParaRPr lang="fr-CA"/>
          </a:p>
        </p:txBody>
      </p:sp>
      <p:sp>
        <p:nvSpPr>
          <p:cNvPr id="3" name="Notes Placeholder 2">
            <a:extLst>
              <a:ext uri="{FF2B5EF4-FFF2-40B4-BE49-F238E27FC236}">
                <a16:creationId xmlns:a16="http://schemas.microsoft.com/office/drawing/2014/main" id="{689A57B3-BDF2-CB71-D55C-E5540A1BC8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784E104-D786-A0BF-267C-2BC1758ABD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5C8513-1CA2-4E61-94ED-AE7D2B38333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27640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5AB7E-48D3-2950-D03A-D936C3568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73B58-C556-DF5C-7924-135D0CD8FF7D}"/>
              </a:ext>
            </a:extLst>
          </p:cNvPr>
          <p:cNvSpPr>
            <a:spLocks noGrp="1" noRot="1" noChangeAspect="1"/>
          </p:cNvSpPr>
          <p:nvPr>
            <p:ph type="sldImg"/>
          </p:nvPr>
        </p:nvSpPr>
        <p:spPr/>
        <p:txBody>
          <a:bodyPr/>
          <a:lstStyle/>
          <a:p>
            <a:endParaRPr lang="fr-CA"/>
          </a:p>
        </p:txBody>
      </p:sp>
      <p:sp>
        <p:nvSpPr>
          <p:cNvPr id="3" name="Notes Placeholder 2">
            <a:extLst>
              <a:ext uri="{FF2B5EF4-FFF2-40B4-BE49-F238E27FC236}">
                <a16:creationId xmlns:a16="http://schemas.microsoft.com/office/drawing/2014/main" id="{EB75758E-96D8-ED29-AF9D-BE651287C9FA}"/>
              </a:ext>
            </a:extLst>
          </p:cNvPr>
          <p:cNvSpPr>
            <a:spLocks noGrp="1"/>
          </p:cNvSpPr>
          <p:nvPr>
            <p:ph type="body" idx="1"/>
          </p:nvPr>
        </p:nvSpPr>
        <p:spPr/>
        <p:txBody>
          <a:bodyPr/>
          <a:lstStyle/>
          <a:p>
            <a:r>
              <a:rPr lang="en-US"/>
              <a:t>Single view i</a:t>
            </a:r>
          </a:p>
        </p:txBody>
      </p:sp>
      <p:sp>
        <p:nvSpPr>
          <p:cNvPr id="4" name="Slide Number Placeholder 3">
            <a:extLst>
              <a:ext uri="{FF2B5EF4-FFF2-40B4-BE49-F238E27FC236}">
                <a16:creationId xmlns:a16="http://schemas.microsoft.com/office/drawing/2014/main" id="{DFC5A300-099C-383B-66EF-61F7D6FFFE62}"/>
              </a:ext>
            </a:extLst>
          </p:cNvPr>
          <p:cNvSpPr>
            <a:spLocks noGrp="1"/>
          </p:cNvSpPr>
          <p:nvPr>
            <p:ph type="sldNum" sz="quarter" idx="5"/>
          </p:nvPr>
        </p:nvSpPr>
        <p:spPr/>
        <p:txBody>
          <a:bodyPr/>
          <a:lstStyle/>
          <a:p>
            <a:fld id="{095C8513-1CA2-4E61-94ED-AE7D2B383338}" type="slidenum">
              <a:rPr lang="en-US" smtClean="0"/>
              <a:t>24</a:t>
            </a:fld>
            <a:endParaRPr lang="en-US"/>
          </a:p>
        </p:txBody>
      </p:sp>
    </p:spTree>
    <p:extLst>
      <p:ext uri="{BB962C8B-B14F-4D97-AF65-F5344CB8AC3E}">
        <p14:creationId xmlns:p14="http://schemas.microsoft.com/office/powerpoint/2010/main" val="4065953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384048" y="2715768"/>
            <a:ext cx="11430000" cy="2286000"/>
          </a:xfrm>
        </p:spPr>
        <p:txBody>
          <a:bodyPr anchor="t">
            <a:normAutofit/>
          </a:bodyPr>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716669B-BD66-4AFB-9C56-B2FE309E9FE8}"/>
              </a:ext>
            </a:extLst>
          </p:cNvPr>
          <p:cNvSpPr>
            <a:spLocks noGrp="1"/>
          </p:cNvSpPr>
          <p:nvPr>
            <p:ph type="subTitle" idx="1"/>
          </p:nvPr>
        </p:nvSpPr>
        <p:spPr>
          <a:xfrm>
            <a:off x="384048" y="4983480"/>
            <a:ext cx="11430000"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FAC0F52C-81EE-426E-A6DD-0C8B7B101834}"/>
              </a:ext>
            </a:extLst>
          </p:cNvPr>
          <p:cNvSpPr>
            <a:spLocks noGrp="1" noChangeAspect="1"/>
          </p:cNvSpPr>
          <p:nvPr>
            <p:ph type="dt" sz="half" idx="10"/>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B03DC8D7-AC00-4073-B57F-D303D46BE1CD}" type="datetime4">
              <a:rPr lang="en-US" smtClean="0"/>
              <a:t>August 10, 2026</a:t>
            </a:fld>
            <a:endParaRPr lang="en-US"/>
          </a:p>
        </p:txBody>
      </p:sp>
    </p:spTree>
    <p:extLst>
      <p:ext uri="{BB962C8B-B14F-4D97-AF65-F5344CB8AC3E}">
        <p14:creationId xmlns:p14="http://schemas.microsoft.com/office/powerpoint/2010/main" val="1447187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1967753" y="2501439"/>
            <a:ext cx="4128248" cy="2286000"/>
          </a:xfrm>
        </p:spPr>
        <p:txBody>
          <a:bodyPr anchor="b">
            <a:normAutofit/>
          </a:bodyPr>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8716669B-BD66-4AFB-9C56-B2FE309E9FE8}"/>
              </a:ext>
            </a:extLst>
          </p:cNvPr>
          <p:cNvSpPr>
            <a:spLocks noGrp="1"/>
          </p:cNvSpPr>
          <p:nvPr>
            <p:ph type="subTitle" idx="1"/>
          </p:nvPr>
        </p:nvSpPr>
        <p:spPr>
          <a:xfrm>
            <a:off x="1967753" y="4983480"/>
            <a:ext cx="4128248"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FAC0F52C-81EE-426E-A6DD-0C8B7B101834}"/>
              </a:ext>
            </a:extLst>
          </p:cNvPr>
          <p:cNvSpPr>
            <a:spLocks noGrp="1" noChangeAspect="1"/>
          </p:cNvSpPr>
          <p:nvPr>
            <p:ph type="dt" sz="half" idx="10"/>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169AEAC8-9CEB-40FF-85B5-D6BD95EA7CC2}" type="datetime4">
              <a:rPr lang="en-US" smtClean="0"/>
              <a:t>August 10, 2026</a:t>
            </a:fld>
            <a:endParaRPr lang="en-US"/>
          </a:p>
        </p:txBody>
      </p:sp>
    </p:spTree>
    <p:extLst>
      <p:ext uri="{BB962C8B-B14F-4D97-AF65-F5344CB8AC3E}">
        <p14:creationId xmlns:p14="http://schemas.microsoft.com/office/powerpoint/2010/main" val="2846625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1755648" y="1371600"/>
            <a:ext cx="4538790" cy="4537424"/>
          </a:xfrm>
          <a:solidFill>
            <a:schemeClr val="bg2"/>
          </a:solidFill>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6928374" y="2114401"/>
            <a:ext cx="5000713" cy="1813418"/>
          </a:xfrm>
        </p:spPr>
        <p:txBody>
          <a:bodyPr anchor="b">
            <a:noAutofit/>
          </a:bodyPr>
          <a:lstStyle>
            <a:lvl1pPr algn="l">
              <a:defRPr sz="4000">
                <a:solidFill>
                  <a:schemeClr val="tx2"/>
                </a:solidFill>
              </a:defRPr>
            </a:lvl1pPr>
          </a:lstStyle>
          <a:p>
            <a:r>
              <a:rPr lang="en-US"/>
              <a:t>Click to edit Master title style</a:t>
            </a:r>
          </a:p>
        </p:txBody>
      </p:sp>
      <p:sp>
        <p:nvSpPr>
          <p:cNvPr id="12" name="Subtitle 2">
            <a:extLst>
              <a:ext uri="{FF2B5EF4-FFF2-40B4-BE49-F238E27FC236}">
                <a16:creationId xmlns:a16="http://schemas.microsoft.com/office/drawing/2014/main" id="{558AE939-8E03-4C31-9D66-970A23FF82A3}"/>
              </a:ext>
            </a:extLst>
          </p:cNvPr>
          <p:cNvSpPr>
            <a:spLocks noGrp="1"/>
          </p:cNvSpPr>
          <p:nvPr>
            <p:ph type="subTitle" idx="1"/>
          </p:nvPr>
        </p:nvSpPr>
        <p:spPr>
          <a:xfrm>
            <a:off x="6928375" y="4154873"/>
            <a:ext cx="5009626"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Date Placeholder 6">
            <a:extLst>
              <a:ext uri="{FF2B5EF4-FFF2-40B4-BE49-F238E27FC236}">
                <a16:creationId xmlns:a16="http://schemas.microsoft.com/office/drawing/2014/main" id="{FD0DC7B5-8BAB-4E77-9FE9-D37D81327091}"/>
              </a:ext>
            </a:extLst>
          </p:cNvPr>
          <p:cNvSpPr>
            <a:spLocks noGrp="1" noChangeAspect="1"/>
          </p:cNvSpPr>
          <p:nvPr>
            <p:ph type="dt" sz="half" idx="11"/>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fld id="{7D16034C-1BE4-481D-93E3-DB8DD45D623A}" type="datetime4">
              <a:rPr lang="en-US" smtClean="0"/>
              <a:t>August 10, 2026</a:t>
            </a:fld>
            <a:endParaRPr lang="en-US"/>
          </a:p>
        </p:txBody>
      </p:sp>
    </p:spTree>
    <p:extLst>
      <p:ext uri="{BB962C8B-B14F-4D97-AF65-F5344CB8AC3E}">
        <p14:creationId xmlns:p14="http://schemas.microsoft.com/office/powerpoint/2010/main" val="3093226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0" y="0"/>
            <a:ext cx="12192000" cy="6254496"/>
          </a:xfrm>
          <a:solidFill>
            <a:schemeClr val="bg2"/>
          </a:solidFill>
        </p:spPr>
        <p:txBody>
          <a:bodyPr wrap="none" anchor="ctr">
            <a:noAutofit/>
          </a:bodyPr>
          <a:lstStyle>
            <a:lvl1pPr algn="ctr">
              <a:defRPr/>
            </a:lvl1pPr>
          </a:lstStyle>
          <a:p>
            <a:r>
              <a:rPr lang="en-US"/>
              <a:t>Click icon to add picture</a:t>
            </a:r>
          </a:p>
        </p:txBody>
      </p:sp>
      <p:sp>
        <p:nvSpPr>
          <p:cNvPr id="14" name="Date Placeholder 13">
            <a:extLst>
              <a:ext uri="{FF2B5EF4-FFF2-40B4-BE49-F238E27FC236}">
                <a16:creationId xmlns:a16="http://schemas.microsoft.com/office/drawing/2014/main" id="{882AFEBB-BCB0-46C2-BCCD-B894557C4711}"/>
              </a:ext>
            </a:extLst>
          </p:cNvPr>
          <p:cNvSpPr>
            <a:spLocks noGrp="1"/>
          </p:cNvSpPr>
          <p:nvPr>
            <p:ph type="dt" sz="half" idx="16"/>
          </p:nvPr>
        </p:nvSpPr>
        <p:spPr/>
        <p:txBody>
          <a:bodyPr/>
          <a:lstStyle/>
          <a:p>
            <a:fld id="{277C4782-5119-4E8F-8C6D-2225EEB94A42}" type="datetime4">
              <a:rPr lang="en-US" smtClean="0"/>
              <a:t>August 10, 2026</a:t>
            </a:fld>
            <a:endParaRPr lang="en-US"/>
          </a:p>
        </p:txBody>
      </p:sp>
      <p:sp>
        <p:nvSpPr>
          <p:cNvPr id="15" name="Footer Placeholder 14">
            <a:extLst>
              <a:ext uri="{FF2B5EF4-FFF2-40B4-BE49-F238E27FC236}">
                <a16:creationId xmlns:a16="http://schemas.microsoft.com/office/drawing/2014/main" id="{314B59BC-6F59-44F6-865C-5D73C67871D0}"/>
              </a:ext>
            </a:extLst>
          </p:cNvPr>
          <p:cNvSpPr>
            <a:spLocks noGrp="1"/>
          </p:cNvSpPr>
          <p:nvPr>
            <p:ph type="ftr" sz="quarter" idx="17"/>
          </p:nvPr>
        </p:nvSpPr>
        <p:spPr/>
        <p:txBody>
          <a:bodyPr/>
          <a:lstStyle/>
          <a:p>
            <a:endParaRPr lang="en-US"/>
          </a:p>
        </p:txBody>
      </p:sp>
      <p:sp>
        <p:nvSpPr>
          <p:cNvPr id="16" name="Slide Number Placeholder 15">
            <a:extLst>
              <a:ext uri="{FF2B5EF4-FFF2-40B4-BE49-F238E27FC236}">
                <a16:creationId xmlns:a16="http://schemas.microsoft.com/office/drawing/2014/main" id="{EA5DA748-59EA-4E36-B955-E105B32320FF}"/>
              </a:ext>
            </a:extLst>
          </p:cNvPr>
          <p:cNvSpPr>
            <a:spLocks noGrp="1"/>
          </p:cNvSpPr>
          <p:nvPr>
            <p:ph type="sldNum" sz="quarter" idx="18"/>
          </p:nvPr>
        </p:nvSpPr>
        <p:spPr/>
        <p:txBody>
          <a:bodyPr/>
          <a:lstStyle/>
          <a:p>
            <a:fld id="{3CBD822F-ED39-4FC2-B5B5-D2EAB6238DC3}" type="slidenum">
              <a:rPr lang="en-US" smtClean="0"/>
              <a:pPr/>
              <a:t>‹#›</a:t>
            </a:fld>
            <a:endParaRPr lang="en-US"/>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1755647" y="1374775"/>
            <a:ext cx="4064000" cy="4064000"/>
          </a:xfrm>
          <a:solidFill>
            <a:schemeClr val="bg1">
              <a:alpha val="93000"/>
            </a:schemeClr>
          </a:solidFill>
        </p:spPr>
        <p:txBody>
          <a:bodyPr lIns="274320" tIns="274320" rIns="274320" bIns="274320" anchor="b">
            <a:normAutofit/>
          </a:bodyPr>
          <a:lstStyle>
            <a:lvl1pPr algn="l">
              <a:defRPr sz="4000">
                <a:solidFill>
                  <a:schemeClr val="tx2"/>
                </a:solidFill>
              </a:defRPr>
            </a:lvl1pPr>
          </a:lstStyle>
          <a:p>
            <a:r>
              <a:rPr lang="en-US"/>
              <a:t>Click to edit Master title style</a:t>
            </a:r>
          </a:p>
        </p:txBody>
      </p:sp>
      <p:sp>
        <p:nvSpPr>
          <p:cNvPr id="7" name="Text Placeholder 9">
            <a:extLst>
              <a:ext uri="{FF2B5EF4-FFF2-40B4-BE49-F238E27FC236}">
                <a16:creationId xmlns:a16="http://schemas.microsoft.com/office/drawing/2014/main" id="{90E10410-993C-449B-A55D-C84ED3802C3D}"/>
              </a:ext>
            </a:extLst>
          </p:cNvPr>
          <p:cNvSpPr>
            <a:spLocks noGrp="1" noChangeAspect="1"/>
          </p:cNvSpPr>
          <p:nvPr>
            <p:ph type="body" sz="quarter" idx="15"/>
          </p:nvPr>
        </p:nvSpPr>
        <p:spPr>
          <a:xfrm>
            <a:off x="384047" y="-1905"/>
            <a:ext cx="1371600" cy="1371600"/>
          </a:xfrm>
          <a:solidFill>
            <a:schemeClr val="tx2"/>
          </a:solid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40644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Pictur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1755648" y="1371600"/>
            <a:ext cx="4544568" cy="4544568"/>
          </a:xfrm>
          <a:solidFill>
            <a:schemeClr val="bg2"/>
          </a:solidFill>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6675120" y="1435545"/>
            <a:ext cx="5129784" cy="857250"/>
          </a:xfrm>
        </p:spPr>
        <p:txBody>
          <a:bodyPr anchor="b">
            <a:normAutofit/>
          </a:bodyPr>
          <a:lstStyle>
            <a:lvl1pPr algn="l">
              <a:defRPr sz="2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884694F1-51CC-436E-BC18-35F2B5ACF5D6}"/>
              </a:ext>
            </a:extLst>
          </p:cNvPr>
          <p:cNvSpPr>
            <a:spLocks noGrp="1"/>
          </p:cNvSpPr>
          <p:nvPr>
            <p:ph type="body" sz="quarter" idx="14"/>
          </p:nvPr>
        </p:nvSpPr>
        <p:spPr>
          <a:xfrm>
            <a:off x="6675120" y="2423159"/>
            <a:ext cx="5129784" cy="3497877"/>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4E7FE4F7-337B-42FA-8ADE-F89909039F87}"/>
              </a:ext>
            </a:extLst>
          </p:cNvPr>
          <p:cNvSpPr>
            <a:spLocks noGrp="1" noChangeAspect="1"/>
          </p:cNvSpPr>
          <p:nvPr>
            <p:ph type="body" sz="quarter" idx="15"/>
          </p:nvPr>
        </p:nvSpPr>
        <p:spPr>
          <a:xfrm>
            <a:off x="384047" y="-1905"/>
            <a:ext cx="1371600" cy="1371600"/>
          </a:xfrm>
          <a:solidFill>
            <a:schemeClr val="tx2"/>
          </a:solid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2" name="Date Placeholder 11">
            <a:extLst>
              <a:ext uri="{FF2B5EF4-FFF2-40B4-BE49-F238E27FC236}">
                <a16:creationId xmlns:a16="http://schemas.microsoft.com/office/drawing/2014/main" id="{6BFDD46C-A566-49B2-A318-226843D04D52}"/>
              </a:ext>
            </a:extLst>
          </p:cNvPr>
          <p:cNvSpPr>
            <a:spLocks noGrp="1"/>
          </p:cNvSpPr>
          <p:nvPr>
            <p:ph type="dt" sz="half" idx="16"/>
          </p:nvPr>
        </p:nvSpPr>
        <p:spPr/>
        <p:txBody>
          <a:bodyPr/>
          <a:lstStyle/>
          <a:p>
            <a:fld id="{06F15B73-330A-47E3-AD58-53CA2B8F5465}" type="datetime4">
              <a:rPr lang="en-US" smtClean="0"/>
              <a:t>August 10, 2026</a:t>
            </a:fld>
            <a:endParaRPr lang="en-US"/>
          </a:p>
        </p:txBody>
      </p:sp>
      <p:sp>
        <p:nvSpPr>
          <p:cNvPr id="16" name="Footer Placeholder 15">
            <a:extLst>
              <a:ext uri="{FF2B5EF4-FFF2-40B4-BE49-F238E27FC236}">
                <a16:creationId xmlns:a16="http://schemas.microsoft.com/office/drawing/2014/main" id="{5B7C9032-4AEB-485D-919C-03DC0C7F494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C4BA98A5-9D78-40E5-BB3F-05201E69D878}"/>
              </a:ext>
            </a:extLst>
          </p:cNvPr>
          <p:cNvSpPr>
            <a:spLocks noGrp="1"/>
          </p:cNvSpPr>
          <p:nvPr>
            <p:ph type="sldNum" sz="quarter" idx="18"/>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4236946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5" name="Table Placeholder 4">
            <a:extLst>
              <a:ext uri="{FF2B5EF4-FFF2-40B4-BE49-F238E27FC236}">
                <a16:creationId xmlns:a16="http://schemas.microsoft.com/office/drawing/2014/main" id="{183FDF11-03E0-40A5-BFCA-F6B60D099601}"/>
              </a:ext>
            </a:extLst>
          </p:cNvPr>
          <p:cNvSpPr>
            <a:spLocks noGrp="1"/>
          </p:cNvSpPr>
          <p:nvPr>
            <p:ph type="tbl" sz="quarter" idx="13"/>
          </p:nvPr>
        </p:nvSpPr>
        <p:spPr>
          <a:xfrm>
            <a:off x="384048" y="1298448"/>
            <a:ext cx="11430000" cy="4727448"/>
          </a:xfrm>
        </p:spPr>
        <p:txBody>
          <a:bodyPr/>
          <a:lstStyle/>
          <a:p>
            <a:r>
              <a:rPr lang="en-US"/>
              <a:t>Click icon to add table</a:t>
            </a:r>
          </a:p>
        </p:txBody>
      </p:sp>
      <p:sp>
        <p:nvSpPr>
          <p:cNvPr id="10" name="Date Placeholder 9">
            <a:extLst>
              <a:ext uri="{FF2B5EF4-FFF2-40B4-BE49-F238E27FC236}">
                <a16:creationId xmlns:a16="http://schemas.microsoft.com/office/drawing/2014/main" id="{9F00D4C4-5920-4E4C-B44B-E524B2BA6983}"/>
              </a:ext>
            </a:extLst>
          </p:cNvPr>
          <p:cNvSpPr>
            <a:spLocks noGrp="1"/>
          </p:cNvSpPr>
          <p:nvPr>
            <p:ph type="dt" sz="half" idx="14"/>
          </p:nvPr>
        </p:nvSpPr>
        <p:spPr/>
        <p:txBody>
          <a:bodyPr/>
          <a:lstStyle/>
          <a:p>
            <a:fld id="{E6E11EAE-16B7-464E-91D8-413C5CE9C268}" type="datetime4">
              <a:rPr lang="en-US" smtClean="0"/>
              <a:t>August 10, 2026</a:t>
            </a:fld>
            <a:endParaRPr lang="en-US"/>
          </a:p>
        </p:txBody>
      </p:sp>
      <p:sp>
        <p:nvSpPr>
          <p:cNvPr id="11" name="Footer Placeholder 10">
            <a:extLst>
              <a:ext uri="{FF2B5EF4-FFF2-40B4-BE49-F238E27FC236}">
                <a16:creationId xmlns:a16="http://schemas.microsoft.com/office/drawing/2014/main" id="{C0FAB686-89E6-43A6-9874-8E3BA3735B1E}"/>
              </a:ext>
            </a:extLst>
          </p:cNvPr>
          <p:cNvSpPr>
            <a:spLocks noGrp="1"/>
          </p:cNvSpPr>
          <p:nvPr>
            <p:ph type="ftr" sz="quarter" idx="15"/>
          </p:nvPr>
        </p:nvSpPr>
        <p:spPr/>
        <p:txBody>
          <a:bodyPr/>
          <a:lstStyle/>
          <a:p>
            <a:endParaRPr lang="en-US"/>
          </a:p>
        </p:txBody>
      </p:sp>
      <p:sp>
        <p:nvSpPr>
          <p:cNvPr id="12" name="Slide Number Placeholder 11">
            <a:extLst>
              <a:ext uri="{FF2B5EF4-FFF2-40B4-BE49-F238E27FC236}">
                <a16:creationId xmlns:a16="http://schemas.microsoft.com/office/drawing/2014/main" id="{A483A1A4-F005-47B5-B97D-30454D5A20EC}"/>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1309793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C6A5A7-3710-4177-9FD0-325381615362}"/>
              </a:ext>
            </a:extLst>
          </p:cNvPr>
          <p:cNvSpPr>
            <a:spLocks noGrp="1"/>
          </p:cNvSpPr>
          <p:nvPr>
            <p:ph idx="1"/>
          </p:nvPr>
        </p:nvSpPr>
        <p:spPr>
          <a:xfrm>
            <a:off x="384047" y="1298448"/>
            <a:ext cx="11420858" cy="4727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C8F6833B-8495-484F-968E-3B2854108418}"/>
              </a:ext>
            </a:extLst>
          </p:cNvPr>
          <p:cNvSpPr>
            <a:spLocks noGrp="1"/>
          </p:cNvSpPr>
          <p:nvPr>
            <p:ph type="dt" sz="half" idx="10"/>
          </p:nvPr>
        </p:nvSpPr>
        <p:spPr/>
        <p:txBody>
          <a:bodyPr/>
          <a:lstStyle/>
          <a:p>
            <a:fld id="{7E15AF70-ADAD-49F6-BD67-CA881F71B9B7}" type="datetime4">
              <a:rPr lang="en-US" smtClean="0"/>
              <a:t>August 10, 2026</a:t>
            </a:fld>
            <a:endParaRPr lang="en-US"/>
          </a:p>
        </p:txBody>
      </p:sp>
      <p:sp>
        <p:nvSpPr>
          <p:cNvPr id="11" name="Footer Placeholder 10">
            <a:extLst>
              <a:ext uri="{FF2B5EF4-FFF2-40B4-BE49-F238E27FC236}">
                <a16:creationId xmlns:a16="http://schemas.microsoft.com/office/drawing/2014/main" id="{EFFF37B0-AC29-4042-AC96-7599D2120687}"/>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F31F9BA5-9E19-486A-A62B-135326498FC6}"/>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844955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C6A5A7-3710-4177-9FD0-325381615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C33430D5-A340-4E15-B946-0AD7AFBF0A7E}"/>
              </a:ext>
            </a:extLst>
          </p:cNvPr>
          <p:cNvSpPr>
            <a:spLocks noGrp="1"/>
          </p:cNvSpPr>
          <p:nvPr>
            <p:ph type="dt" sz="half" idx="10"/>
          </p:nvPr>
        </p:nvSpPr>
        <p:spPr/>
        <p:txBody>
          <a:bodyPr/>
          <a:lstStyle/>
          <a:p>
            <a:fld id="{1871100B-AD5A-4147-BA75-36218ACA1D4F}" type="datetime4">
              <a:rPr lang="en-US" smtClean="0"/>
              <a:t>August 10, 2026</a:t>
            </a:fld>
            <a:endParaRPr lang="en-US"/>
          </a:p>
        </p:txBody>
      </p:sp>
      <p:sp>
        <p:nvSpPr>
          <p:cNvPr id="11" name="Footer Placeholder 10">
            <a:extLst>
              <a:ext uri="{FF2B5EF4-FFF2-40B4-BE49-F238E27FC236}">
                <a16:creationId xmlns:a16="http://schemas.microsoft.com/office/drawing/2014/main" id="{02ACA458-9E60-44C4-93CE-B2EB998CEE9B}"/>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917D0231-8B96-49A0-ABCC-87EA1B0AFB36}"/>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194798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7AF624A-80DA-6AF6-E0F1-87763F1DCDE9}"/>
              </a:ext>
            </a:extLst>
          </p:cNvPr>
          <p:cNvGrpSpPr>
            <a:grpSpLocks noGrp="1" noUngrp="1" noRot="1" noMove="1" noResize="1"/>
          </p:cNvGrpSpPr>
          <p:nvPr userDrawn="1"/>
        </p:nvGrpSpPr>
        <p:grpSpPr>
          <a:xfrm>
            <a:off x="0" y="0"/>
            <a:ext cx="12192000" cy="6235700"/>
            <a:chOff x="0" y="0"/>
            <a:chExt cx="12192000" cy="6235700"/>
          </a:xfrm>
        </p:grpSpPr>
        <p:sp>
          <p:nvSpPr>
            <p:cNvPr id="8" name="Rectangle 7">
              <a:extLst>
                <a:ext uri="{FF2B5EF4-FFF2-40B4-BE49-F238E27FC236}">
                  <a16:creationId xmlns:a16="http://schemas.microsoft.com/office/drawing/2014/main" id="{B28A9E9E-11E4-BDE7-4D90-A57EF42608B9}"/>
                </a:ext>
              </a:extLst>
            </p:cNvPr>
            <p:cNvSpPr>
              <a:spLocks noGrp="1" noRot="1" noMove="1" noResize="1" noEditPoints="1" noAdjustHandles="1" noChangeArrowheads="1" noChangeShapeType="1"/>
            </p:cNvSpPr>
            <p:nvPr userDrawn="1"/>
          </p:nvSpPr>
          <p:spPr>
            <a:xfrm>
              <a:off x="0" y="0"/>
              <a:ext cx="12192000" cy="6235700"/>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rmAutofit/>
            </a:bodyPr>
            <a:lstStyle/>
            <a:p>
              <a:pPr algn="l"/>
              <a:endParaRPr lang="en-CA">
                <a:latin typeface="Graphik" panose="020B0503030202060203" pitchFamily="34" charset="0"/>
              </a:endParaRPr>
            </a:p>
          </p:txBody>
        </p:sp>
        <p:sp>
          <p:nvSpPr>
            <p:cNvPr id="10" name="TextBox 9">
              <a:extLst>
                <a:ext uri="{FF2B5EF4-FFF2-40B4-BE49-F238E27FC236}">
                  <a16:creationId xmlns:a16="http://schemas.microsoft.com/office/drawing/2014/main" id="{2E635D83-2917-9966-D50F-AE9454D425ED}"/>
                </a:ext>
              </a:extLst>
            </p:cNvPr>
            <p:cNvSpPr txBox="1">
              <a:spLocks noGrp="1" noRot="1" noMove="1" noResize="1" noEditPoints="1" noAdjustHandles="1" noChangeArrowheads="1" noChangeShapeType="1"/>
            </p:cNvSpPr>
            <p:nvPr userDrawn="1"/>
          </p:nvSpPr>
          <p:spPr>
            <a:xfrm>
              <a:off x="10957861" y="95250"/>
              <a:ext cx="953723" cy="24612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normAutofit/>
            </a:bodyPr>
            <a:lstStyle/>
            <a:p>
              <a:pPr algn="l"/>
              <a:r>
                <a:rPr lang="en-CA" sz="900">
                  <a:solidFill>
                    <a:schemeClr val="bg1"/>
                  </a:solidFill>
                  <a:latin typeface="Graphik" panose="020B0503030202060203" pitchFamily="34" charset="0"/>
                </a:rPr>
                <a:t>CONFIDENTIAL </a:t>
              </a:r>
            </a:p>
          </p:txBody>
        </p:sp>
      </p:grpSp>
      <p:sp>
        <p:nvSpPr>
          <p:cNvPr id="2" name="Title 1">
            <a:extLst>
              <a:ext uri="{FF2B5EF4-FFF2-40B4-BE49-F238E27FC236}">
                <a16:creationId xmlns:a16="http://schemas.microsoft.com/office/drawing/2014/main" id="{E25ED4B9-844B-481A-901D-4FD67391BA29}"/>
              </a:ext>
            </a:extLst>
          </p:cNvPr>
          <p:cNvSpPr>
            <a:spLocks noGrp="1"/>
          </p:cNvSpPr>
          <p:nvPr>
            <p:ph type="title"/>
          </p:nvPr>
        </p:nvSpPr>
        <p:spPr>
          <a:xfrm>
            <a:off x="384174" y="1086929"/>
            <a:ext cx="11420729" cy="2342072"/>
          </a:xfrm>
        </p:spPr>
        <p:txBody>
          <a:bodyPr anchor="b">
            <a:normAutofit/>
          </a:bodyPr>
          <a:lstStyle>
            <a:lvl1pPr>
              <a:defRPr sz="48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49A1DCEF-4DE5-40BD-9FE1-433E30AAA615}"/>
              </a:ext>
            </a:extLst>
          </p:cNvPr>
          <p:cNvSpPr>
            <a:spLocks noGrp="1"/>
          </p:cNvSpPr>
          <p:nvPr>
            <p:ph type="body" idx="1"/>
          </p:nvPr>
        </p:nvSpPr>
        <p:spPr>
          <a:xfrm>
            <a:off x="384174" y="4724569"/>
            <a:ext cx="11420729" cy="1365081"/>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4E5A25-1EB5-41AC-993B-DA0B711D5A73}"/>
              </a:ext>
            </a:extLst>
          </p:cNvPr>
          <p:cNvSpPr>
            <a:spLocks noGrp="1"/>
          </p:cNvSpPr>
          <p:nvPr>
            <p:ph type="dt" sz="half" idx="10"/>
          </p:nvPr>
        </p:nvSpPr>
        <p:spPr/>
        <p:txBody>
          <a:bodyPr/>
          <a:lstStyle/>
          <a:p>
            <a:fld id="{E152C4D6-D0BD-449D-8C84-CBB8AB784B90}" type="datetime4">
              <a:rPr lang="en-US" smtClean="0"/>
              <a:t>August 10, 2026</a:t>
            </a:fld>
            <a:endParaRPr lang="en-US"/>
          </a:p>
        </p:txBody>
      </p:sp>
      <p:sp>
        <p:nvSpPr>
          <p:cNvPr id="5" name="Footer Placeholder 4">
            <a:extLst>
              <a:ext uri="{FF2B5EF4-FFF2-40B4-BE49-F238E27FC236}">
                <a16:creationId xmlns:a16="http://schemas.microsoft.com/office/drawing/2014/main" id="{CB6CAD86-ED3E-47C7-BA0D-6BF957312B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66FC48-EC1A-434A-B52C-A94DA2CCC86A}"/>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810927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29B1A16-56D1-0DDE-2AB9-7C4FE0EACE72}"/>
              </a:ext>
            </a:extLst>
          </p:cNvPr>
          <p:cNvGrpSpPr/>
          <p:nvPr userDrawn="1"/>
        </p:nvGrpSpPr>
        <p:grpSpPr>
          <a:xfrm>
            <a:off x="0" y="0"/>
            <a:ext cx="12192000" cy="6235700"/>
            <a:chOff x="0" y="0"/>
            <a:chExt cx="12192000" cy="6235700"/>
          </a:xfrm>
        </p:grpSpPr>
        <p:sp>
          <p:nvSpPr>
            <p:cNvPr id="10" name="Rectangle 9">
              <a:extLst>
                <a:ext uri="{FF2B5EF4-FFF2-40B4-BE49-F238E27FC236}">
                  <a16:creationId xmlns:a16="http://schemas.microsoft.com/office/drawing/2014/main" id="{C37DEB7A-1AAB-FD36-A234-160C0243BAAC}"/>
                </a:ext>
              </a:extLst>
            </p:cNvPr>
            <p:cNvSpPr>
              <a:spLocks noGrp="1" noRot="1" noMove="1" noResize="1" noEditPoints="1" noAdjustHandles="1" noChangeArrowheads="1" noChangeShapeType="1"/>
            </p:cNvSpPr>
            <p:nvPr userDrawn="1"/>
          </p:nvSpPr>
          <p:spPr>
            <a:xfrm>
              <a:off x="0" y="0"/>
              <a:ext cx="12192000" cy="6235700"/>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37160" rIns="137160" bIns="137160" numCol="1" spcCol="0" rtlCol="0" fromWordArt="0" anchor="t" anchorCtr="0" forceAA="0" compatLnSpc="1">
              <a:prstTxWarp prst="textNoShape">
                <a:avLst/>
              </a:prstTxWarp>
              <a:normAutofit/>
            </a:bodyPr>
            <a:lstStyle/>
            <a:p>
              <a:pPr algn="l"/>
              <a:endParaRPr lang="en-CA">
                <a:latin typeface="Graphik" panose="020B0503030202060203" pitchFamily="34" charset="0"/>
              </a:endParaRPr>
            </a:p>
          </p:txBody>
        </p:sp>
        <p:sp>
          <p:nvSpPr>
            <p:cNvPr id="11" name="TextBox 10">
              <a:extLst>
                <a:ext uri="{FF2B5EF4-FFF2-40B4-BE49-F238E27FC236}">
                  <a16:creationId xmlns:a16="http://schemas.microsoft.com/office/drawing/2014/main" id="{6966D3FB-673B-4C13-62CD-5B1CF5FD9BC7}"/>
                </a:ext>
              </a:extLst>
            </p:cNvPr>
            <p:cNvSpPr txBox="1"/>
            <p:nvPr userDrawn="1"/>
          </p:nvSpPr>
          <p:spPr>
            <a:xfrm>
              <a:off x="10957861" y="95250"/>
              <a:ext cx="953723" cy="24612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normAutofit/>
            </a:bodyPr>
            <a:lstStyle/>
            <a:p>
              <a:pPr algn="l"/>
              <a:r>
                <a:rPr lang="en-CA" sz="900">
                  <a:solidFill>
                    <a:schemeClr val="bg1"/>
                  </a:solidFill>
                  <a:latin typeface="Graphik" panose="020B0503030202060203" pitchFamily="34" charset="0"/>
                </a:rPr>
                <a:t>CONFIDENTIAL </a:t>
              </a:r>
            </a:p>
          </p:txBody>
        </p:sp>
      </p:grpSp>
      <p:sp>
        <p:nvSpPr>
          <p:cNvPr id="2" name="Title 1">
            <a:extLst>
              <a:ext uri="{FF2B5EF4-FFF2-40B4-BE49-F238E27FC236}">
                <a16:creationId xmlns:a16="http://schemas.microsoft.com/office/drawing/2014/main" id="{E25ED4B9-844B-481A-901D-4FD67391BA29}"/>
              </a:ext>
            </a:extLst>
          </p:cNvPr>
          <p:cNvSpPr>
            <a:spLocks noGrp="1"/>
          </p:cNvSpPr>
          <p:nvPr>
            <p:ph type="title"/>
          </p:nvPr>
        </p:nvSpPr>
        <p:spPr>
          <a:xfrm>
            <a:off x="384174" y="1086929"/>
            <a:ext cx="11420729" cy="2342072"/>
          </a:xfrm>
        </p:spPr>
        <p:txBody>
          <a:bodyPr anchor="b">
            <a:normAutofit/>
          </a:bodyPr>
          <a:lstStyle>
            <a:lvl1pPr>
              <a:defRPr sz="48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49A1DCEF-4DE5-40BD-9FE1-433E30AAA615}"/>
              </a:ext>
            </a:extLst>
          </p:cNvPr>
          <p:cNvSpPr>
            <a:spLocks noGrp="1"/>
          </p:cNvSpPr>
          <p:nvPr>
            <p:ph type="body" idx="1"/>
          </p:nvPr>
        </p:nvSpPr>
        <p:spPr>
          <a:xfrm>
            <a:off x="384174" y="4724569"/>
            <a:ext cx="11420729" cy="1365081"/>
          </a:xfrm>
        </p:spPr>
        <p:txBody>
          <a:bodyP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E0A562-A9EC-4275-8D40-0940A46048F1}"/>
              </a:ext>
            </a:extLst>
          </p:cNvPr>
          <p:cNvSpPr>
            <a:spLocks noGrp="1"/>
          </p:cNvSpPr>
          <p:nvPr>
            <p:ph type="dt" sz="half" idx="10"/>
          </p:nvPr>
        </p:nvSpPr>
        <p:spPr/>
        <p:txBody>
          <a:bodyPr/>
          <a:lstStyle/>
          <a:p>
            <a:fld id="{E152C4D6-D0BD-449D-8C84-CBB8AB784B90}" type="datetime4">
              <a:rPr lang="en-US" smtClean="0"/>
              <a:t>August 10, 2026</a:t>
            </a:fld>
            <a:endParaRPr lang="en-US"/>
          </a:p>
        </p:txBody>
      </p:sp>
      <p:sp>
        <p:nvSpPr>
          <p:cNvPr id="5" name="Footer Placeholder 4">
            <a:extLst>
              <a:ext uri="{FF2B5EF4-FFF2-40B4-BE49-F238E27FC236}">
                <a16:creationId xmlns:a16="http://schemas.microsoft.com/office/drawing/2014/main" id="{F0915255-D2A3-46A3-9AD7-B19094DFF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87673-9CF7-426A-85BE-919F529EDF1B}"/>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1065622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13282-AD49-4621-B10F-F1C1C20EAE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027F03-B746-4206-AC6E-604245BD809E}"/>
              </a:ext>
            </a:extLst>
          </p:cNvPr>
          <p:cNvSpPr>
            <a:spLocks noGrp="1"/>
          </p:cNvSpPr>
          <p:nvPr>
            <p:ph sz="half" idx="1"/>
          </p:nvPr>
        </p:nvSpPr>
        <p:spPr>
          <a:xfrm>
            <a:off x="384047" y="1298448"/>
            <a:ext cx="5577840" cy="4805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A0138A-CD2E-4629-9FCE-75FB154293B0}"/>
              </a:ext>
            </a:extLst>
          </p:cNvPr>
          <p:cNvSpPr>
            <a:spLocks noGrp="1"/>
          </p:cNvSpPr>
          <p:nvPr>
            <p:ph sz="half" idx="2"/>
          </p:nvPr>
        </p:nvSpPr>
        <p:spPr>
          <a:xfrm>
            <a:off x="6172200" y="1298448"/>
            <a:ext cx="5577840" cy="4805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a:extLst>
              <a:ext uri="{FF2B5EF4-FFF2-40B4-BE49-F238E27FC236}">
                <a16:creationId xmlns:a16="http://schemas.microsoft.com/office/drawing/2014/main" id="{AEE04010-43D9-4C1A-A916-97B780F4745F}"/>
              </a:ext>
            </a:extLst>
          </p:cNvPr>
          <p:cNvSpPr>
            <a:spLocks noGrp="1"/>
          </p:cNvSpPr>
          <p:nvPr>
            <p:ph type="dt" sz="half" idx="10"/>
          </p:nvPr>
        </p:nvSpPr>
        <p:spPr/>
        <p:txBody>
          <a:bodyPr/>
          <a:lstStyle/>
          <a:p>
            <a:fld id="{E5DFB869-E380-426F-8789-4272408A01CC}" type="datetime4">
              <a:rPr lang="en-US" smtClean="0"/>
              <a:t>August 10, 2026</a:t>
            </a:fld>
            <a:endParaRPr lang="en-US"/>
          </a:p>
        </p:txBody>
      </p:sp>
      <p:sp>
        <p:nvSpPr>
          <p:cNvPr id="15" name="Footer Placeholder 14">
            <a:extLst>
              <a:ext uri="{FF2B5EF4-FFF2-40B4-BE49-F238E27FC236}">
                <a16:creationId xmlns:a16="http://schemas.microsoft.com/office/drawing/2014/main" id="{86121DD1-65DF-450D-8899-B9CCCFF456FF}"/>
              </a:ext>
            </a:extLst>
          </p:cNvPr>
          <p:cNvSpPr>
            <a:spLocks noGrp="1"/>
          </p:cNvSpPr>
          <p:nvPr>
            <p:ph type="ftr" sz="quarter" idx="11"/>
          </p:nvPr>
        </p:nvSpPr>
        <p:spPr/>
        <p:txBody>
          <a:bodyPr/>
          <a:lstStyle/>
          <a:p>
            <a:endParaRPr lang="en-US"/>
          </a:p>
        </p:txBody>
      </p:sp>
      <p:sp>
        <p:nvSpPr>
          <p:cNvPr id="16" name="Slide Number Placeholder 15">
            <a:extLst>
              <a:ext uri="{FF2B5EF4-FFF2-40B4-BE49-F238E27FC236}">
                <a16:creationId xmlns:a16="http://schemas.microsoft.com/office/drawing/2014/main" id="{02E6D15C-BA30-4176-AEF5-FEFB81BD6093}"/>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3778238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1735CF-D95C-40DA-81C8-78A8EE2BF6E6}"/>
              </a:ext>
            </a:extLst>
          </p:cNvPr>
          <p:cNvSpPr>
            <a:spLocks noGrp="1"/>
          </p:cNvSpPr>
          <p:nvPr>
            <p:ph type="body" idx="1"/>
          </p:nvPr>
        </p:nvSpPr>
        <p:spPr>
          <a:xfrm>
            <a:off x="384046"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DB630D-AB45-4AB4-A735-78668B628A8D}"/>
              </a:ext>
            </a:extLst>
          </p:cNvPr>
          <p:cNvSpPr>
            <a:spLocks noGrp="1"/>
          </p:cNvSpPr>
          <p:nvPr>
            <p:ph sz="half" idx="2"/>
          </p:nvPr>
        </p:nvSpPr>
        <p:spPr>
          <a:xfrm>
            <a:off x="384046"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B0A25-DE4F-4426-9983-567310E5224D}"/>
              </a:ext>
            </a:extLst>
          </p:cNvPr>
          <p:cNvSpPr>
            <a:spLocks noGrp="1"/>
          </p:cNvSpPr>
          <p:nvPr>
            <p:ph type="body" sz="quarter" idx="3"/>
          </p:nvPr>
        </p:nvSpPr>
        <p:spPr>
          <a:xfrm>
            <a:off x="6172199"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5E150C-F172-4212-848B-D99E37AC7889}"/>
              </a:ext>
            </a:extLst>
          </p:cNvPr>
          <p:cNvSpPr>
            <a:spLocks noGrp="1"/>
          </p:cNvSpPr>
          <p:nvPr>
            <p:ph sz="quarter" idx="4"/>
          </p:nvPr>
        </p:nvSpPr>
        <p:spPr>
          <a:xfrm>
            <a:off x="6172199"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BB202358-E0C0-45A3-A206-BE2E6FD21018}"/>
              </a:ext>
            </a:extLst>
          </p:cNvPr>
          <p:cNvSpPr>
            <a:spLocks noGrp="1"/>
          </p:cNvSpPr>
          <p:nvPr>
            <p:ph type="title"/>
          </p:nvPr>
        </p:nvSpPr>
        <p:spPr/>
        <p:txBody>
          <a:bodyPr/>
          <a:lstStyle/>
          <a:p>
            <a:r>
              <a:rPr lang="en-US"/>
              <a:t>Click to edit Master title style</a:t>
            </a:r>
          </a:p>
        </p:txBody>
      </p:sp>
      <p:sp>
        <p:nvSpPr>
          <p:cNvPr id="16" name="Date Placeholder 15">
            <a:extLst>
              <a:ext uri="{FF2B5EF4-FFF2-40B4-BE49-F238E27FC236}">
                <a16:creationId xmlns:a16="http://schemas.microsoft.com/office/drawing/2014/main" id="{8952C853-9EFE-4F60-BAC5-120852F565BA}"/>
              </a:ext>
            </a:extLst>
          </p:cNvPr>
          <p:cNvSpPr>
            <a:spLocks noGrp="1"/>
          </p:cNvSpPr>
          <p:nvPr>
            <p:ph type="dt" sz="half" idx="10"/>
          </p:nvPr>
        </p:nvSpPr>
        <p:spPr/>
        <p:txBody>
          <a:bodyPr/>
          <a:lstStyle/>
          <a:p>
            <a:fld id="{0D5FE891-8DE1-43A7-8DFE-F05C0F650F8C}" type="datetime4">
              <a:rPr lang="en-US" smtClean="0"/>
              <a:t>August 10, 2026</a:t>
            </a:fld>
            <a:endParaRPr lang="en-US"/>
          </a:p>
        </p:txBody>
      </p:sp>
      <p:sp>
        <p:nvSpPr>
          <p:cNvPr id="17" name="Footer Placeholder 16">
            <a:extLst>
              <a:ext uri="{FF2B5EF4-FFF2-40B4-BE49-F238E27FC236}">
                <a16:creationId xmlns:a16="http://schemas.microsoft.com/office/drawing/2014/main" id="{4A708594-B379-44C4-B1CC-64C3F079F5E5}"/>
              </a:ext>
            </a:extLst>
          </p:cNvPr>
          <p:cNvSpPr>
            <a:spLocks noGrp="1"/>
          </p:cNvSpPr>
          <p:nvPr>
            <p:ph type="ftr" sz="quarter" idx="11"/>
          </p:nvPr>
        </p:nvSpPr>
        <p:spPr/>
        <p:txBody>
          <a:bodyPr/>
          <a:lstStyle/>
          <a:p>
            <a:endParaRPr lang="en-US"/>
          </a:p>
        </p:txBody>
      </p:sp>
      <p:sp>
        <p:nvSpPr>
          <p:cNvPr id="18" name="Slide Number Placeholder 17">
            <a:extLst>
              <a:ext uri="{FF2B5EF4-FFF2-40B4-BE49-F238E27FC236}">
                <a16:creationId xmlns:a16="http://schemas.microsoft.com/office/drawing/2014/main" id="{E7E36EAD-166B-44EF-A4CC-11F738D9877E}"/>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595698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ccentur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6DDA1-A969-4C82-9A0D-55A52859A62B}"/>
              </a:ext>
            </a:extLst>
          </p:cNvPr>
          <p:cNvSpPr>
            <a:spLocks noGrp="1"/>
          </p:cNvSpPr>
          <p:nvPr>
            <p:ph type="title"/>
          </p:nvPr>
        </p:nvSpPr>
        <p:spPr>
          <a:xfrm>
            <a:off x="390000" y="302072"/>
            <a:ext cx="11412000" cy="405102"/>
          </a:xfrm>
        </p:spPr>
        <p:txBody>
          <a:bodyPr lIns="72000" tIns="36000" rIns="72000" bIns="36000">
            <a:spAutoFit/>
          </a:bodyPr>
          <a:lstStyle>
            <a:lvl1pPr>
              <a:defRPr sz="2400"/>
            </a:lvl1pPr>
          </a:lstStyle>
          <a:p>
            <a:r>
              <a:rPr lang="en-US"/>
              <a:t>Click to edit Master title style</a:t>
            </a:r>
          </a:p>
        </p:txBody>
      </p:sp>
      <p:sp>
        <p:nvSpPr>
          <p:cNvPr id="15" name="Slide Number Placeholder 14">
            <a:extLst>
              <a:ext uri="{FF2B5EF4-FFF2-40B4-BE49-F238E27FC236}">
                <a16:creationId xmlns:a16="http://schemas.microsoft.com/office/drawing/2014/main" id="{7FD3E4CB-9E65-447D-B78E-891C1F97ADDA}"/>
              </a:ext>
            </a:extLst>
          </p:cNvPr>
          <p:cNvSpPr>
            <a:spLocks noGrp="1"/>
          </p:cNvSpPr>
          <p:nvPr>
            <p:ph type="sldNum" sz="quarter" idx="12"/>
          </p:nvPr>
        </p:nvSpPr>
        <p:spPr/>
        <p:txBody>
          <a:bodyPr/>
          <a:lstStyle/>
          <a:p>
            <a:fld id="{3CBD822F-ED39-4FC2-B5B5-D2EAB6238DC3}" type="slidenum">
              <a:rPr lang="en-US" smtClean="0"/>
              <a:pPr/>
              <a:t>‹#›</a:t>
            </a:fld>
            <a:endParaRPr lang="en-US"/>
          </a:p>
        </p:txBody>
      </p:sp>
      <p:grpSp>
        <p:nvGrpSpPr>
          <p:cNvPr id="3" name="Group 2">
            <a:extLst>
              <a:ext uri="{FF2B5EF4-FFF2-40B4-BE49-F238E27FC236}">
                <a16:creationId xmlns:a16="http://schemas.microsoft.com/office/drawing/2014/main" id="{54FD03AB-CB61-4EEC-332C-F7D536582AF0}"/>
              </a:ext>
            </a:extLst>
          </p:cNvPr>
          <p:cNvGrpSpPr/>
          <p:nvPr userDrawn="1"/>
        </p:nvGrpSpPr>
        <p:grpSpPr>
          <a:xfrm>
            <a:off x="9977186" y="6461125"/>
            <a:ext cx="780081" cy="235554"/>
            <a:chOff x="267730" y="6451233"/>
            <a:chExt cx="780081" cy="235554"/>
          </a:xfrm>
        </p:grpSpPr>
        <p:cxnSp>
          <p:nvCxnSpPr>
            <p:cNvPr id="4" name="Straight Connector 3">
              <a:extLst>
                <a:ext uri="{FF2B5EF4-FFF2-40B4-BE49-F238E27FC236}">
                  <a16:creationId xmlns:a16="http://schemas.microsoft.com/office/drawing/2014/main" id="{1A67A5AD-8D12-5464-FC3A-AEBE23EC76B9}"/>
                </a:ext>
              </a:extLst>
            </p:cNvPr>
            <p:cNvCxnSpPr>
              <a:cxnSpLocks/>
            </p:cNvCxnSpPr>
            <p:nvPr/>
          </p:nvCxnSpPr>
          <p:spPr>
            <a:xfrm>
              <a:off x="267730" y="6459174"/>
              <a:ext cx="0" cy="227613"/>
            </a:xfrm>
            <a:prstGeom prst="line">
              <a:avLst/>
            </a:prstGeom>
            <a:noFill/>
            <a:ln w="9525" cap="flat" cmpd="sng" algn="ctr">
              <a:solidFill>
                <a:srgbClr val="000000"/>
              </a:solidFill>
              <a:prstDash val="solid"/>
              <a:miter lim="800000"/>
            </a:ln>
            <a:effectLst/>
          </p:spPr>
        </p:cxnSp>
        <p:grpSp>
          <p:nvGrpSpPr>
            <p:cNvPr id="5" name="Group 4">
              <a:extLst>
                <a:ext uri="{FF2B5EF4-FFF2-40B4-BE49-F238E27FC236}">
                  <a16:creationId xmlns:a16="http://schemas.microsoft.com/office/drawing/2014/main" id="{27F2CF42-E9F6-8A23-74BD-41D978C9E578}"/>
                </a:ext>
              </a:extLst>
            </p:cNvPr>
            <p:cNvGrpSpPr/>
            <p:nvPr userDrawn="1"/>
          </p:nvGrpSpPr>
          <p:grpSpPr>
            <a:xfrm>
              <a:off x="380999" y="6451233"/>
              <a:ext cx="666812" cy="174691"/>
              <a:chOff x="407988" y="6564154"/>
              <a:chExt cx="515201" cy="134972"/>
            </a:xfrm>
          </p:grpSpPr>
          <p:sp>
            <p:nvSpPr>
              <p:cNvPr id="6" name="Freeform: Shape 8">
                <a:extLst>
                  <a:ext uri="{FF2B5EF4-FFF2-40B4-BE49-F238E27FC236}">
                    <a16:creationId xmlns:a16="http://schemas.microsoft.com/office/drawing/2014/main" id="{A1AC1154-300E-90FB-EA9E-FF4F2CD491BB}"/>
                  </a:ext>
                </a:extLst>
              </p:cNvPr>
              <p:cNvSpPr/>
              <p:nvPr/>
            </p:nvSpPr>
            <p:spPr>
              <a:xfrm>
                <a:off x="708317" y="6564154"/>
                <a:ext cx="50821" cy="53401"/>
              </a:xfrm>
              <a:custGeom>
                <a:avLst/>
                <a:gdLst>
                  <a:gd name="connsiteX0" fmla="*/ 0 w 50821"/>
                  <a:gd name="connsiteY0" fmla="*/ 37716 h 53401"/>
                  <a:gd name="connsiteX1" fmla="*/ 29676 w 50821"/>
                  <a:gd name="connsiteY1" fmla="*/ 26760 h 53401"/>
                  <a:gd name="connsiteX2" fmla="*/ 0 w 50821"/>
                  <a:gd name="connsiteY2" fmla="*/ 15252 h 53401"/>
                  <a:gd name="connsiteX3" fmla="*/ 0 w 50821"/>
                  <a:gd name="connsiteY3" fmla="*/ 0 h 53401"/>
                  <a:gd name="connsiteX4" fmla="*/ 50822 w 50821"/>
                  <a:gd name="connsiteY4" fmla="*/ 20336 h 53401"/>
                  <a:gd name="connsiteX5" fmla="*/ 50822 w 50821"/>
                  <a:gd name="connsiteY5" fmla="*/ 32987 h 53401"/>
                  <a:gd name="connsiteX6" fmla="*/ 0 w 50821"/>
                  <a:gd name="connsiteY6" fmla="*/ 53401 h 53401"/>
                  <a:gd name="connsiteX7" fmla="*/ 0 w 50821"/>
                  <a:gd name="connsiteY7" fmla="*/ 37716 h 5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21" h="53401">
                    <a:moveTo>
                      <a:pt x="0" y="37716"/>
                    </a:moveTo>
                    <a:lnTo>
                      <a:pt x="29676" y="26760"/>
                    </a:lnTo>
                    <a:lnTo>
                      <a:pt x="0" y="15252"/>
                    </a:lnTo>
                    <a:lnTo>
                      <a:pt x="0" y="0"/>
                    </a:lnTo>
                    <a:lnTo>
                      <a:pt x="50822" y="20336"/>
                    </a:lnTo>
                    <a:lnTo>
                      <a:pt x="50822" y="32987"/>
                    </a:lnTo>
                    <a:lnTo>
                      <a:pt x="0" y="53401"/>
                    </a:lnTo>
                    <a:lnTo>
                      <a:pt x="0" y="37716"/>
                    </a:lnTo>
                    <a:close/>
                  </a:path>
                </a:pathLst>
              </a:custGeom>
              <a:solidFill>
                <a:srgbClr val="BC00FF"/>
              </a:solidFill>
              <a:ln w="393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Graphik" panose="020B0503030202060203" pitchFamily="34" charset="0"/>
                </a:endParaRPr>
              </a:p>
            </p:txBody>
          </p:sp>
          <p:sp>
            <p:nvSpPr>
              <p:cNvPr id="7" name="Freeform: Shape 9">
                <a:extLst>
                  <a:ext uri="{FF2B5EF4-FFF2-40B4-BE49-F238E27FC236}">
                    <a16:creationId xmlns:a16="http://schemas.microsoft.com/office/drawing/2014/main" id="{B437ECAC-78FF-D881-26CE-66014CECEC43}"/>
                  </a:ext>
                </a:extLst>
              </p:cNvPr>
              <p:cNvSpPr/>
              <p:nvPr/>
            </p:nvSpPr>
            <p:spPr>
              <a:xfrm>
                <a:off x="407988" y="6620944"/>
                <a:ext cx="515201" cy="78182"/>
              </a:xfrm>
              <a:custGeom>
                <a:avLst/>
                <a:gdLst>
                  <a:gd name="connsiteX0" fmla="*/ 19559 w 515201"/>
                  <a:gd name="connsiteY0" fmla="*/ 78151 h 78182"/>
                  <a:gd name="connsiteX1" fmla="*/ 0 w 515201"/>
                  <a:gd name="connsiteY1" fmla="*/ 60771 h 78182"/>
                  <a:gd name="connsiteX2" fmla="*/ 0 w 515201"/>
                  <a:gd name="connsiteY2" fmla="*/ 60062 h 78182"/>
                  <a:gd name="connsiteX3" fmla="*/ 28089 w 515201"/>
                  <a:gd name="connsiteY3" fmla="*/ 40751 h 78182"/>
                  <a:gd name="connsiteX4" fmla="*/ 35468 w 515201"/>
                  <a:gd name="connsiteY4" fmla="*/ 40751 h 78182"/>
                  <a:gd name="connsiteX5" fmla="*/ 35468 w 515201"/>
                  <a:gd name="connsiteY5" fmla="*/ 37795 h 78182"/>
                  <a:gd name="connsiteX6" fmla="*/ 26700 w 515201"/>
                  <a:gd name="connsiteY6" fmla="*/ 28297 h 78182"/>
                  <a:gd name="connsiteX7" fmla="*/ 17770 w 515201"/>
                  <a:gd name="connsiteY7" fmla="*/ 35498 h 78182"/>
                  <a:gd name="connsiteX8" fmla="*/ 17734 w 515201"/>
                  <a:gd name="connsiteY8" fmla="*/ 35982 h 78182"/>
                  <a:gd name="connsiteX9" fmla="*/ 1865 w 515201"/>
                  <a:gd name="connsiteY9" fmla="*/ 35982 h 78182"/>
                  <a:gd name="connsiteX10" fmla="*/ 27533 w 515201"/>
                  <a:gd name="connsiteY10" fmla="*/ 16277 h 78182"/>
                  <a:gd name="connsiteX11" fmla="*/ 52091 w 515201"/>
                  <a:gd name="connsiteY11" fmla="*/ 37046 h 78182"/>
                  <a:gd name="connsiteX12" fmla="*/ 52091 w 515201"/>
                  <a:gd name="connsiteY12" fmla="*/ 76457 h 78182"/>
                  <a:gd name="connsiteX13" fmla="*/ 35706 w 515201"/>
                  <a:gd name="connsiteY13" fmla="*/ 76457 h 78182"/>
                  <a:gd name="connsiteX14" fmla="*/ 35706 w 515201"/>
                  <a:gd name="connsiteY14" fmla="*/ 70112 h 78182"/>
                  <a:gd name="connsiteX15" fmla="*/ 19559 w 515201"/>
                  <a:gd name="connsiteY15" fmla="*/ 78151 h 78182"/>
                  <a:gd name="connsiteX16" fmla="*/ 35429 w 515201"/>
                  <a:gd name="connsiteY16" fmla="*/ 57264 h 78182"/>
                  <a:gd name="connsiteX17" fmla="*/ 35429 w 515201"/>
                  <a:gd name="connsiteY17" fmla="*/ 51628 h 78182"/>
                  <a:gd name="connsiteX18" fmla="*/ 28882 w 515201"/>
                  <a:gd name="connsiteY18" fmla="*/ 51628 h 78182"/>
                  <a:gd name="connsiteX19" fmla="*/ 16465 w 515201"/>
                  <a:gd name="connsiteY19" fmla="*/ 59155 h 78182"/>
                  <a:gd name="connsiteX20" fmla="*/ 16465 w 515201"/>
                  <a:gd name="connsiteY20" fmla="*/ 59747 h 78182"/>
                  <a:gd name="connsiteX21" fmla="*/ 24399 w 515201"/>
                  <a:gd name="connsiteY21" fmla="*/ 66643 h 78182"/>
                  <a:gd name="connsiteX22" fmla="*/ 35389 w 515201"/>
                  <a:gd name="connsiteY22" fmla="*/ 58257 h 78182"/>
                  <a:gd name="connsiteX23" fmla="*/ 35468 w 515201"/>
                  <a:gd name="connsiteY23" fmla="*/ 57264 h 78182"/>
                  <a:gd name="connsiteX24" fmla="*/ 89662 w 515201"/>
                  <a:gd name="connsiteY24" fmla="*/ 78151 h 78182"/>
                  <a:gd name="connsiteX25" fmla="*/ 61216 w 515201"/>
                  <a:gd name="connsiteY25" fmla="*/ 48002 h 78182"/>
                  <a:gd name="connsiteX26" fmla="*/ 61216 w 515201"/>
                  <a:gd name="connsiteY26" fmla="*/ 47214 h 78182"/>
                  <a:gd name="connsiteX27" fmla="*/ 89781 w 515201"/>
                  <a:gd name="connsiteY27" fmla="*/ 16592 h 78182"/>
                  <a:gd name="connsiteX28" fmla="*/ 115807 w 515201"/>
                  <a:gd name="connsiteY28" fmla="*/ 38859 h 78182"/>
                  <a:gd name="connsiteX29" fmla="*/ 99938 w 515201"/>
                  <a:gd name="connsiteY29" fmla="*/ 38859 h 78182"/>
                  <a:gd name="connsiteX30" fmla="*/ 90138 w 515201"/>
                  <a:gd name="connsiteY30" fmla="*/ 29361 h 78182"/>
                  <a:gd name="connsiteX31" fmla="*/ 78236 w 515201"/>
                  <a:gd name="connsiteY31" fmla="*/ 46544 h 78182"/>
                  <a:gd name="connsiteX32" fmla="*/ 78236 w 515201"/>
                  <a:gd name="connsiteY32" fmla="*/ 48318 h 78182"/>
                  <a:gd name="connsiteX33" fmla="*/ 90138 w 515201"/>
                  <a:gd name="connsiteY33" fmla="*/ 65737 h 78182"/>
                  <a:gd name="connsiteX34" fmla="*/ 100930 w 515201"/>
                  <a:gd name="connsiteY34" fmla="*/ 55096 h 78182"/>
                  <a:gd name="connsiteX35" fmla="*/ 116045 w 515201"/>
                  <a:gd name="connsiteY35" fmla="*/ 55096 h 78182"/>
                  <a:gd name="connsiteX36" fmla="*/ 89702 w 515201"/>
                  <a:gd name="connsiteY36" fmla="*/ 78151 h 78182"/>
                  <a:gd name="connsiteX37" fmla="*/ 151474 w 515201"/>
                  <a:gd name="connsiteY37" fmla="*/ 78151 h 78182"/>
                  <a:gd name="connsiteX38" fmla="*/ 122988 w 515201"/>
                  <a:gd name="connsiteY38" fmla="*/ 48002 h 78182"/>
                  <a:gd name="connsiteX39" fmla="*/ 122988 w 515201"/>
                  <a:gd name="connsiteY39" fmla="*/ 47214 h 78182"/>
                  <a:gd name="connsiteX40" fmla="*/ 151514 w 515201"/>
                  <a:gd name="connsiteY40" fmla="*/ 16592 h 78182"/>
                  <a:gd name="connsiteX41" fmla="*/ 177539 w 515201"/>
                  <a:gd name="connsiteY41" fmla="*/ 38859 h 78182"/>
                  <a:gd name="connsiteX42" fmla="*/ 161670 w 515201"/>
                  <a:gd name="connsiteY42" fmla="*/ 38859 h 78182"/>
                  <a:gd name="connsiteX43" fmla="*/ 151910 w 515201"/>
                  <a:gd name="connsiteY43" fmla="*/ 29361 h 78182"/>
                  <a:gd name="connsiteX44" fmla="*/ 140008 w 515201"/>
                  <a:gd name="connsiteY44" fmla="*/ 46544 h 78182"/>
                  <a:gd name="connsiteX45" fmla="*/ 140008 w 515201"/>
                  <a:gd name="connsiteY45" fmla="*/ 48318 h 78182"/>
                  <a:gd name="connsiteX46" fmla="*/ 151910 w 515201"/>
                  <a:gd name="connsiteY46" fmla="*/ 65737 h 78182"/>
                  <a:gd name="connsiteX47" fmla="*/ 162702 w 515201"/>
                  <a:gd name="connsiteY47" fmla="*/ 55096 h 78182"/>
                  <a:gd name="connsiteX48" fmla="*/ 177817 w 515201"/>
                  <a:gd name="connsiteY48" fmla="*/ 55096 h 78182"/>
                  <a:gd name="connsiteX49" fmla="*/ 151514 w 515201"/>
                  <a:gd name="connsiteY49" fmla="*/ 78151 h 78182"/>
                  <a:gd name="connsiteX50" fmla="*/ 213801 w 515201"/>
                  <a:gd name="connsiteY50" fmla="*/ 78151 h 78182"/>
                  <a:gd name="connsiteX51" fmla="*/ 184919 w 515201"/>
                  <a:gd name="connsiteY51" fmla="*/ 48318 h 78182"/>
                  <a:gd name="connsiteX52" fmla="*/ 184919 w 515201"/>
                  <a:gd name="connsiteY52" fmla="*/ 47214 h 78182"/>
                  <a:gd name="connsiteX53" fmla="*/ 213206 w 515201"/>
                  <a:gd name="connsiteY53" fmla="*/ 16592 h 78182"/>
                  <a:gd name="connsiteX54" fmla="*/ 240383 w 515201"/>
                  <a:gd name="connsiteY54" fmla="*/ 44376 h 78182"/>
                  <a:gd name="connsiteX55" fmla="*/ 240383 w 515201"/>
                  <a:gd name="connsiteY55" fmla="*/ 51510 h 78182"/>
                  <a:gd name="connsiteX56" fmla="*/ 201780 w 515201"/>
                  <a:gd name="connsiteY56" fmla="*/ 51510 h 78182"/>
                  <a:gd name="connsiteX57" fmla="*/ 214238 w 515201"/>
                  <a:gd name="connsiteY57" fmla="*/ 66171 h 78182"/>
                  <a:gd name="connsiteX58" fmla="*/ 225148 w 515201"/>
                  <a:gd name="connsiteY58" fmla="*/ 58485 h 78182"/>
                  <a:gd name="connsiteX59" fmla="*/ 240422 w 515201"/>
                  <a:gd name="connsiteY59" fmla="*/ 58485 h 78182"/>
                  <a:gd name="connsiteX60" fmla="*/ 213841 w 515201"/>
                  <a:gd name="connsiteY60" fmla="*/ 78151 h 78182"/>
                  <a:gd name="connsiteX61" fmla="*/ 201899 w 515201"/>
                  <a:gd name="connsiteY61" fmla="*/ 40554 h 78182"/>
                  <a:gd name="connsiteX62" fmla="*/ 224156 w 515201"/>
                  <a:gd name="connsiteY62" fmla="*/ 40554 h 78182"/>
                  <a:gd name="connsiteX63" fmla="*/ 213246 w 515201"/>
                  <a:gd name="connsiteY63" fmla="*/ 28139 h 78182"/>
                  <a:gd name="connsiteX64" fmla="*/ 202018 w 515201"/>
                  <a:gd name="connsiteY64" fmla="*/ 40554 h 78182"/>
                  <a:gd name="connsiteX65" fmla="*/ 250539 w 515201"/>
                  <a:gd name="connsiteY65" fmla="*/ 17853 h 78182"/>
                  <a:gd name="connsiteX66" fmla="*/ 267123 w 515201"/>
                  <a:gd name="connsiteY66" fmla="*/ 17853 h 78182"/>
                  <a:gd name="connsiteX67" fmla="*/ 267123 w 515201"/>
                  <a:gd name="connsiteY67" fmla="*/ 26642 h 78182"/>
                  <a:gd name="connsiteX68" fmla="*/ 285095 w 515201"/>
                  <a:gd name="connsiteY68" fmla="*/ 16592 h 78182"/>
                  <a:gd name="connsiteX69" fmla="*/ 303067 w 515201"/>
                  <a:gd name="connsiteY69" fmla="*/ 37361 h 78182"/>
                  <a:gd name="connsiteX70" fmla="*/ 303067 w 515201"/>
                  <a:gd name="connsiteY70" fmla="*/ 76772 h 78182"/>
                  <a:gd name="connsiteX71" fmla="*/ 286563 w 515201"/>
                  <a:gd name="connsiteY71" fmla="*/ 76772 h 78182"/>
                  <a:gd name="connsiteX72" fmla="*/ 286563 w 515201"/>
                  <a:gd name="connsiteY72" fmla="*/ 39726 h 78182"/>
                  <a:gd name="connsiteX73" fmla="*/ 277715 w 515201"/>
                  <a:gd name="connsiteY73" fmla="*/ 29794 h 78182"/>
                  <a:gd name="connsiteX74" fmla="*/ 267199 w 515201"/>
                  <a:gd name="connsiteY74" fmla="*/ 39099 h 78182"/>
                  <a:gd name="connsiteX75" fmla="*/ 267242 w 515201"/>
                  <a:gd name="connsiteY75" fmla="*/ 40751 h 78182"/>
                  <a:gd name="connsiteX76" fmla="*/ 267242 w 515201"/>
                  <a:gd name="connsiteY76" fmla="*/ 76772 h 78182"/>
                  <a:gd name="connsiteX77" fmla="*/ 250658 w 515201"/>
                  <a:gd name="connsiteY77" fmla="*/ 76772 h 78182"/>
                  <a:gd name="connsiteX78" fmla="*/ 334092 w 515201"/>
                  <a:gd name="connsiteY78" fmla="*/ 0 h 78182"/>
                  <a:gd name="connsiteX79" fmla="*/ 334092 w 515201"/>
                  <a:gd name="connsiteY79" fmla="*/ 17853 h 78182"/>
                  <a:gd name="connsiteX80" fmla="*/ 345478 w 515201"/>
                  <a:gd name="connsiteY80" fmla="*/ 17853 h 78182"/>
                  <a:gd name="connsiteX81" fmla="*/ 345478 w 515201"/>
                  <a:gd name="connsiteY81" fmla="*/ 30149 h 78182"/>
                  <a:gd name="connsiteX82" fmla="*/ 334211 w 515201"/>
                  <a:gd name="connsiteY82" fmla="*/ 30149 h 78182"/>
                  <a:gd name="connsiteX83" fmla="*/ 334211 w 515201"/>
                  <a:gd name="connsiteY83" fmla="*/ 58170 h 78182"/>
                  <a:gd name="connsiteX84" fmla="*/ 340122 w 515201"/>
                  <a:gd name="connsiteY84" fmla="*/ 64594 h 78182"/>
                  <a:gd name="connsiteX85" fmla="*/ 345914 w 515201"/>
                  <a:gd name="connsiteY85" fmla="*/ 63569 h 78182"/>
                  <a:gd name="connsiteX86" fmla="*/ 345914 w 515201"/>
                  <a:gd name="connsiteY86" fmla="*/ 76457 h 78182"/>
                  <a:gd name="connsiteX87" fmla="*/ 336591 w 515201"/>
                  <a:gd name="connsiteY87" fmla="*/ 77678 h 78182"/>
                  <a:gd name="connsiteX88" fmla="*/ 317508 w 515201"/>
                  <a:gd name="connsiteY88" fmla="*/ 59865 h 78182"/>
                  <a:gd name="connsiteX89" fmla="*/ 317508 w 515201"/>
                  <a:gd name="connsiteY89" fmla="*/ 30149 h 78182"/>
                  <a:gd name="connsiteX90" fmla="*/ 310565 w 515201"/>
                  <a:gd name="connsiteY90" fmla="*/ 30149 h 78182"/>
                  <a:gd name="connsiteX91" fmla="*/ 310565 w 515201"/>
                  <a:gd name="connsiteY91" fmla="*/ 17853 h 78182"/>
                  <a:gd name="connsiteX92" fmla="*/ 317389 w 515201"/>
                  <a:gd name="connsiteY92" fmla="*/ 17853 h 78182"/>
                  <a:gd name="connsiteX93" fmla="*/ 317389 w 515201"/>
                  <a:gd name="connsiteY93" fmla="*/ 6779 h 78182"/>
                  <a:gd name="connsiteX94" fmla="*/ 407964 w 515201"/>
                  <a:gd name="connsiteY94" fmla="*/ 76890 h 78182"/>
                  <a:gd name="connsiteX95" fmla="*/ 391499 w 515201"/>
                  <a:gd name="connsiteY95" fmla="*/ 76890 h 78182"/>
                  <a:gd name="connsiteX96" fmla="*/ 391499 w 515201"/>
                  <a:gd name="connsiteY96" fmla="*/ 68220 h 78182"/>
                  <a:gd name="connsiteX97" fmla="*/ 374241 w 515201"/>
                  <a:gd name="connsiteY97" fmla="*/ 78151 h 78182"/>
                  <a:gd name="connsiteX98" fmla="*/ 355714 w 515201"/>
                  <a:gd name="connsiteY98" fmla="*/ 57815 h 78182"/>
                  <a:gd name="connsiteX99" fmla="*/ 355714 w 515201"/>
                  <a:gd name="connsiteY99" fmla="*/ 17853 h 78182"/>
                  <a:gd name="connsiteX100" fmla="*/ 372416 w 515201"/>
                  <a:gd name="connsiteY100" fmla="*/ 17853 h 78182"/>
                  <a:gd name="connsiteX101" fmla="*/ 372416 w 515201"/>
                  <a:gd name="connsiteY101" fmla="*/ 55333 h 78182"/>
                  <a:gd name="connsiteX102" fmla="*/ 381065 w 515201"/>
                  <a:gd name="connsiteY102" fmla="*/ 65264 h 78182"/>
                  <a:gd name="connsiteX103" fmla="*/ 391542 w 515201"/>
                  <a:gd name="connsiteY103" fmla="*/ 55832 h 78182"/>
                  <a:gd name="connsiteX104" fmla="*/ 391499 w 515201"/>
                  <a:gd name="connsiteY104" fmla="*/ 54308 h 78182"/>
                  <a:gd name="connsiteX105" fmla="*/ 391499 w 515201"/>
                  <a:gd name="connsiteY105" fmla="*/ 17853 h 78182"/>
                  <a:gd name="connsiteX106" fmla="*/ 408083 w 515201"/>
                  <a:gd name="connsiteY106" fmla="*/ 17853 h 78182"/>
                  <a:gd name="connsiteX107" fmla="*/ 419866 w 515201"/>
                  <a:gd name="connsiteY107" fmla="*/ 17774 h 78182"/>
                  <a:gd name="connsiteX108" fmla="*/ 436489 w 515201"/>
                  <a:gd name="connsiteY108" fmla="*/ 17774 h 78182"/>
                  <a:gd name="connsiteX109" fmla="*/ 436489 w 515201"/>
                  <a:gd name="connsiteY109" fmla="*/ 28612 h 78182"/>
                  <a:gd name="connsiteX110" fmla="*/ 454303 w 515201"/>
                  <a:gd name="connsiteY110" fmla="*/ 16789 h 78182"/>
                  <a:gd name="connsiteX111" fmla="*/ 454303 w 515201"/>
                  <a:gd name="connsiteY111" fmla="*/ 33026 h 78182"/>
                  <a:gd name="connsiteX112" fmla="*/ 436489 w 515201"/>
                  <a:gd name="connsiteY112" fmla="*/ 46268 h 78182"/>
                  <a:gd name="connsiteX113" fmla="*/ 436489 w 515201"/>
                  <a:gd name="connsiteY113" fmla="*/ 76614 h 78182"/>
                  <a:gd name="connsiteX114" fmla="*/ 420144 w 515201"/>
                  <a:gd name="connsiteY114" fmla="*/ 76614 h 78182"/>
                  <a:gd name="connsiteX115" fmla="*/ 488422 w 515201"/>
                  <a:gd name="connsiteY115" fmla="*/ 78073 h 78182"/>
                  <a:gd name="connsiteX116" fmla="*/ 459540 w 515201"/>
                  <a:gd name="connsiteY116" fmla="*/ 48239 h 78182"/>
                  <a:gd name="connsiteX117" fmla="*/ 459540 w 515201"/>
                  <a:gd name="connsiteY117" fmla="*/ 47135 h 78182"/>
                  <a:gd name="connsiteX118" fmla="*/ 487867 w 515201"/>
                  <a:gd name="connsiteY118" fmla="*/ 16513 h 78182"/>
                  <a:gd name="connsiteX119" fmla="*/ 515003 w 515201"/>
                  <a:gd name="connsiteY119" fmla="*/ 44298 h 78182"/>
                  <a:gd name="connsiteX120" fmla="*/ 515003 w 515201"/>
                  <a:gd name="connsiteY120" fmla="*/ 51431 h 78182"/>
                  <a:gd name="connsiteX121" fmla="*/ 476361 w 515201"/>
                  <a:gd name="connsiteY121" fmla="*/ 51431 h 78182"/>
                  <a:gd name="connsiteX122" fmla="*/ 488779 w 515201"/>
                  <a:gd name="connsiteY122" fmla="*/ 66092 h 78182"/>
                  <a:gd name="connsiteX123" fmla="*/ 499888 w 515201"/>
                  <a:gd name="connsiteY123" fmla="*/ 58485 h 78182"/>
                  <a:gd name="connsiteX124" fmla="*/ 515202 w 515201"/>
                  <a:gd name="connsiteY124" fmla="*/ 58485 h 78182"/>
                  <a:gd name="connsiteX125" fmla="*/ 488700 w 515201"/>
                  <a:gd name="connsiteY125" fmla="*/ 78151 h 78182"/>
                  <a:gd name="connsiteX126" fmla="*/ 476520 w 515201"/>
                  <a:gd name="connsiteY126" fmla="*/ 40475 h 78182"/>
                  <a:gd name="connsiteX127" fmla="*/ 498817 w 515201"/>
                  <a:gd name="connsiteY127" fmla="*/ 40475 h 78182"/>
                  <a:gd name="connsiteX128" fmla="*/ 487906 w 515201"/>
                  <a:gd name="connsiteY128" fmla="*/ 28060 h 78182"/>
                  <a:gd name="connsiteX129" fmla="*/ 476877 w 515201"/>
                  <a:gd name="connsiteY129" fmla="*/ 40554 h 7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515201" h="78182">
                    <a:moveTo>
                      <a:pt x="19559" y="78151"/>
                    </a:moveTo>
                    <a:cubicBezTo>
                      <a:pt x="8847" y="78151"/>
                      <a:pt x="0" y="72713"/>
                      <a:pt x="0" y="60771"/>
                    </a:cubicBezTo>
                    <a:lnTo>
                      <a:pt x="0" y="60062"/>
                    </a:lnTo>
                    <a:cubicBezTo>
                      <a:pt x="0" y="45519"/>
                      <a:pt x="12735" y="40751"/>
                      <a:pt x="28089" y="40751"/>
                    </a:cubicBezTo>
                    <a:lnTo>
                      <a:pt x="35468" y="40751"/>
                    </a:lnTo>
                    <a:lnTo>
                      <a:pt x="35468" y="37795"/>
                    </a:lnTo>
                    <a:cubicBezTo>
                      <a:pt x="35468" y="31923"/>
                      <a:pt x="32850" y="28297"/>
                      <a:pt x="26700" y="28297"/>
                    </a:cubicBezTo>
                    <a:cubicBezTo>
                      <a:pt x="22233" y="27836"/>
                      <a:pt x="18234" y="31060"/>
                      <a:pt x="17770" y="35498"/>
                    </a:cubicBezTo>
                    <a:cubicBezTo>
                      <a:pt x="17753" y="35659"/>
                      <a:pt x="17741" y="35820"/>
                      <a:pt x="17734" y="35982"/>
                    </a:cubicBezTo>
                    <a:lnTo>
                      <a:pt x="1865" y="35982"/>
                    </a:lnTo>
                    <a:cubicBezTo>
                      <a:pt x="2976" y="22898"/>
                      <a:pt x="13449" y="16277"/>
                      <a:pt x="27533" y="16277"/>
                    </a:cubicBezTo>
                    <a:cubicBezTo>
                      <a:pt x="41618" y="16277"/>
                      <a:pt x="52091" y="22385"/>
                      <a:pt x="52091" y="37046"/>
                    </a:cubicBezTo>
                    <a:lnTo>
                      <a:pt x="52091" y="76457"/>
                    </a:lnTo>
                    <a:lnTo>
                      <a:pt x="35706" y="76457"/>
                    </a:lnTo>
                    <a:lnTo>
                      <a:pt x="35706" y="70112"/>
                    </a:lnTo>
                    <a:cubicBezTo>
                      <a:pt x="32062" y="75358"/>
                      <a:pt x="25971" y="78390"/>
                      <a:pt x="19559" y="78151"/>
                    </a:cubicBezTo>
                    <a:close/>
                    <a:moveTo>
                      <a:pt x="35429" y="57264"/>
                    </a:moveTo>
                    <a:lnTo>
                      <a:pt x="35429" y="51628"/>
                    </a:lnTo>
                    <a:lnTo>
                      <a:pt x="28882" y="51628"/>
                    </a:lnTo>
                    <a:cubicBezTo>
                      <a:pt x="20670" y="51628"/>
                      <a:pt x="16465" y="53874"/>
                      <a:pt x="16465" y="59155"/>
                    </a:cubicBezTo>
                    <a:lnTo>
                      <a:pt x="16465" y="59747"/>
                    </a:lnTo>
                    <a:cubicBezTo>
                      <a:pt x="16465" y="63688"/>
                      <a:pt x="18964" y="66643"/>
                      <a:pt x="24399" y="66643"/>
                    </a:cubicBezTo>
                    <a:cubicBezTo>
                      <a:pt x="29765" y="67342"/>
                      <a:pt x="34686" y="63587"/>
                      <a:pt x="35389" y="58257"/>
                    </a:cubicBezTo>
                    <a:cubicBezTo>
                      <a:pt x="35432" y="57927"/>
                      <a:pt x="35459" y="57596"/>
                      <a:pt x="35468" y="57264"/>
                    </a:cubicBezTo>
                    <a:close/>
                    <a:moveTo>
                      <a:pt x="89662" y="78151"/>
                    </a:moveTo>
                    <a:cubicBezTo>
                      <a:pt x="73158" y="78151"/>
                      <a:pt x="61216" y="67983"/>
                      <a:pt x="61216" y="48002"/>
                    </a:cubicBezTo>
                    <a:lnTo>
                      <a:pt x="61216" y="47214"/>
                    </a:lnTo>
                    <a:cubicBezTo>
                      <a:pt x="61216" y="27233"/>
                      <a:pt x="73952" y="16592"/>
                      <a:pt x="89781" y="16592"/>
                    </a:cubicBezTo>
                    <a:cubicBezTo>
                      <a:pt x="103270" y="16592"/>
                      <a:pt x="114419" y="23371"/>
                      <a:pt x="115807" y="38859"/>
                    </a:cubicBezTo>
                    <a:lnTo>
                      <a:pt x="99938" y="38859"/>
                    </a:lnTo>
                    <a:cubicBezTo>
                      <a:pt x="98906" y="33105"/>
                      <a:pt x="95971" y="29361"/>
                      <a:pt x="90138" y="29361"/>
                    </a:cubicBezTo>
                    <a:cubicBezTo>
                      <a:pt x="83077" y="29361"/>
                      <a:pt x="78236" y="34878"/>
                      <a:pt x="78236" y="46544"/>
                    </a:cubicBezTo>
                    <a:lnTo>
                      <a:pt x="78236" y="48318"/>
                    </a:lnTo>
                    <a:cubicBezTo>
                      <a:pt x="78236" y="60141"/>
                      <a:pt x="82561" y="65737"/>
                      <a:pt x="90138" y="65737"/>
                    </a:cubicBezTo>
                    <a:cubicBezTo>
                      <a:pt x="95990" y="65555"/>
                      <a:pt x="100704" y="60908"/>
                      <a:pt x="100930" y="55096"/>
                    </a:cubicBezTo>
                    <a:lnTo>
                      <a:pt x="116045" y="55096"/>
                    </a:lnTo>
                    <a:cubicBezTo>
                      <a:pt x="115054" y="68535"/>
                      <a:pt x="105810" y="78151"/>
                      <a:pt x="89702" y="78151"/>
                    </a:cubicBezTo>
                    <a:close/>
                    <a:moveTo>
                      <a:pt x="151474" y="78151"/>
                    </a:moveTo>
                    <a:cubicBezTo>
                      <a:pt x="134890" y="78151"/>
                      <a:pt x="122988" y="67983"/>
                      <a:pt x="122988" y="48002"/>
                    </a:cubicBezTo>
                    <a:lnTo>
                      <a:pt x="122988" y="47214"/>
                    </a:lnTo>
                    <a:cubicBezTo>
                      <a:pt x="122988" y="27233"/>
                      <a:pt x="135723" y="16592"/>
                      <a:pt x="151514" y="16592"/>
                    </a:cubicBezTo>
                    <a:cubicBezTo>
                      <a:pt x="165042" y="16592"/>
                      <a:pt x="176191" y="23371"/>
                      <a:pt x="177539" y="38859"/>
                    </a:cubicBezTo>
                    <a:lnTo>
                      <a:pt x="161670" y="38859"/>
                    </a:lnTo>
                    <a:cubicBezTo>
                      <a:pt x="160678" y="33105"/>
                      <a:pt x="157703" y="29361"/>
                      <a:pt x="151910" y="29361"/>
                    </a:cubicBezTo>
                    <a:cubicBezTo>
                      <a:pt x="144848" y="29361"/>
                      <a:pt x="140008" y="34878"/>
                      <a:pt x="140008" y="46544"/>
                    </a:cubicBezTo>
                    <a:lnTo>
                      <a:pt x="140008" y="48318"/>
                    </a:lnTo>
                    <a:cubicBezTo>
                      <a:pt x="140008" y="60141"/>
                      <a:pt x="144333" y="65737"/>
                      <a:pt x="151910" y="65737"/>
                    </a:cubicBezTo>
                    <a:cubicBezTo>
                      <a:pt x="157762" y="65555"/>
                      <a:pt x="162475" y="60908"/>
                      <a:pt x="162702" y="55096"/>
                    </a:cubicBezTo>
                    <a:lnTo>
                      <a:pt x="177817" y="55096"/>
                    </a:lnTo>
                    <a:cubicBezTo>
                      <a:pt x="176865" y="68535"/>
                      <a:pt x="167661" y="78151"/>
                      <a:pt x="151514" y="78151"/>
                    </a:cubicBezTo>
                    <a:close/>
                    <a:moveTo>
                      <a:pt x="213801" y="78151"/>
                    </a:moveTo>
                    <a:cubicBezTo>
                      <a:pt x="196623" y="78151"/>
                      <a:pt x="184919" y="67983"/>
                      <a:pt x="184919" y="48318"/>
                    </a:cubicBezTo>
                    <a:lnTo>
                      <a:pt x="184919" y="47214"/>
                    </a:lnTo>
                    <a:cubicBezTo>
                      <a:pt x="184919" y="27509"/>
                      <a:pt x="197297" y="16592"/>
                      <a:pt x="213206" y="16592"/>
                    </a:cubicBezTo>
                    <a:cubicBezTo>
                      <a:pt x="228004" y="16592"/>
                      <a:pt x="240383" y="24829"/>
                      <a:pt x="240383" y="44376"/>
                    </a:cubicBezTo>
                    <a:lnTo>
                      <a:pt x="240383" y="51510"/>
                    </a:lnTo>
                    <a:lnTo>
                      <a:pt x="201780" y="51510"/>
                    </a:lnTo>
                    <a:cubicBezTo>
                      <a:pt x="202336" y="62111"/>
                      <a:pt x="207017" y="66171"/>
                      <a:pt x="214238" y="66171"/>
                    </a:cubicBezTo>
                    <a:cubicBezTo>
                      <a:pt x="219289" y="66650"/>
                      <a:pt x="223932" y="63379"/>
                      <a:pt x="225148" y="58485"/>
                    </a:cubicBezTo>
                    <a:lnTo>
                      <a:pt x="240422" y="58485"/>
                    </a:lnTo>
                    <a:cubicBezTo>
                      <a:pt x="238597" y="69678"/>
                      <a:pt x="229393" y="78151"/>
                      <a:pt x="213841" y="78151"/>
                    </a:cubicBezTo>
                    <a:close/>
                    <a:moveTo>
                      <a:pt x="201899" y="40554"/>
                    </a:moveTo>
                    <a:lnTo>
                      <a:pt x="224156" y="40554"/>
                    </a:lnTo>
                    <a:cubicBezTo>
                      <a:pt x="223839" y="31844"/>
                      <a:pt x="219832" y="28139"/>
                      <a:pt x="213246" y="28139"/>
                    </a:cubicBezTo>
                    <a:cubicBezTo>
                      <a:pt x="208128" y="28139"/>
                      <a:pt x="203367" y="30937"/>
                      <a:pt x="202018" y="40554"/>
                    </a:cubicBezTo>
                    <a:close/>
                    <a:moveTo>
                      <a:pt x="250539" y="17853"/>
                    </a:moveTo>
                    <a:lnTo>
                      <a:pt x="267123" y="17853"/>
                    </a:lnTo>
                    <a:lnTo>
                      <a:pt x="267123" y="26642"/>
                    </a:lnTo>
                    <a:cubicBezTo>
                      <a:pt x="270683" y="20151"/>
                      <a:pt x="277661" y="16249"/>
                      <a:pt x="285095" y="16592"/>
                    </a:cubicBezTo>
                    <a:cubicBezTo>
                      <a:pt x="295886" y="16592"/>
                      <a:pt x="303067" y="23055"/>
                      <a:pt x="303067" y="37361"/>
                    </a:cubicBezTo>
                    <a:lnTo>
                      <a:pt x="303067" y="76772"/>
                    </a:lnTo>
                    <a:lnTo>
                      <a:pt x="286563" y="76772"/>
                    </a:lnTo>
                    <a:lnTo>
                      <a:pt x="286563" y="39726"/>
                    </a:lnTo>
                    <a:cubicBezTo>
                      <a:pt x="286563" y="32869"/>
                      <a:pt x="283746" y="29794"/>
                      <a:pt x="277715" y="29794"/>
                    </a:cubicBezTo>
                    <a:cubicBezTo>
                      <a:pt x="272225" y="29479"/>
                      <a:pt x="267516" y="33645"/>
                      <a:pt x="267199" y="39099"/>
                    </a:cubicBezTo>
                    <a:cubicBezTo>
                      <a:pt x="267167" y="39650"/>
                      <a:pt x="267181" y="40202"/>
                      <a:pt x="267242" y="40751"/>
                    </a:cubicBezTo>
                    <a:lnTo>
                      <a:pt x="267242" y="76772"/>
                    </a:lnTo>
                    <a:lnTo>
                      <a:pt x="250658" y="76772"/>
                    </a:lnTo>
                    <a:close/>
                    <a:moveTo>
                      <a:pt x="334092" y="0"/>
                    </a:moveTo>
                    <a:lnTo>
                      <a:pt x="334092" y="17853"/>
                    </a:lnTo>
                    <a:lnTo>
                      <a:pt x="345478" y="17853"/>
                    </a:lnTo>
                    <a:lnTo>
                      <a:pt x="345478" y="30149"/>
                    </a:lnTo>
                    <a:lnTo>
                      <a:pt x="334211" y="30149"/>
                    </a:lnTo>
                    <a:lnTo>
                      <a:pt x="334211" y="58170"/>
                    </a:lnTo>
                    <a:cubicBezTo>
                      <a:pt x="334211" y="62545"/>
                      <a:pt x="336274" y="64594"/>
                      <a:pt x="340122" y="64594"/>
                    </a:cubicBezTo>
                    <a:cubicBezTo>
                      <a:pt x="342103" y="64652"/>
                      <a:pt x="344075" y="64303"/>
                      <a:pt x="345914" y="63569"/>
                    </a:cubicBezTo>
                    <a:lnTo>
                      <a:pt x="345914" y="76457"/>
                    </a:lnTo>
                    <a:cubicBezTo>
                      <a:pt x="342877" y="77282"/>
                      <a:pt x="339740" y="77693"/>
                      <a:pt x="336591" y="77678"/>
                    </a:cubicBezTo>
                    <a:cubicBezTo>
                      <a:pt x="323657" y="77678"/>
                      <a:pt x="317508" y="71806"/>
                      <a:pt x="317508" y="59865"/>
                    </a:cubicBezTo>
                    <a:lnTo>
                      <a:pt x="317508" y="30149"/>
                    </a:lnTo>
                    <a:lnTo>
                      <a:pt x="310565" y="30149"/>
                    </a:lnTo>
                    <a:lnTo>
                      <a:pt x="310565" y="17853"/>
                    </a:lnTo>
                    <a:lnTo>
                      <a:pt x="317389" y="17853"/>
                    </a:lnTo>
                    <a:lnTo>
                      <a:pt x="317389" y="6779"/>
                    </a:lnTo>
                    <a:close/>
                    <a:moveTo>
                      <a:pt x="407964" y="76890"/>
                    </a:moveTo>
                    <a:lnTo>
                      <a:pt x="391499" y="76890"/>
                    </a:lnTo>
                    <a:lnTo>
                      <a:pt x="391499" y="68220"/>
                    </a:lnTo>
                    <a:cubicBezTo>
                      <a:pt x="388269" y="74666"/>
                      <a:pt x="381477" y="78574"/>
                      <a:pt x="374241" y="78151"/>
                    </a:cubicBezTo>
                    <a:cubicBezTo>
                      <a:pt x="363529" y="78151"/>
                      <a:pt x="355714" y="71688"/>
                      <a:pt x="355714" y="57815"/>
                    </a:cubicBezTo>
                    <a:lnTo>
                      <a:pt x="355714" y="17853"/>
                    </a:lnTo>
                    <a:lnTo>
                      <a:pt x="372416" y="17853"/>
                    </a:lnTo>
                    <a:lnTo>
                      <a:pt x="372416" y="55333"/>
                    </a:lnTo>
                    <a:cubicBezTo>
                      <a:pt x="372416" y="62111"/>
                      <a:pt x="375154" y="65264"/>
                      <a:pt x="381065" y="65264"/>
                    </a:cubicBezTo>
                    <a:cubicBezTo>
                      <a:pt x="386580" y="65534"/>
                      <a:pt x="391271" y="61311"/>
                      <a:pt x="391542" y="55832"/>
                    </a:cubicBezTo>
                    <a:cubicBezTo>
                      <a:pt x="391567" y="55324"/>
                      <a:pt x="391553" y="54814"/>
                      <a:pt x="391499" y="54308"/>
                    </a:cubicBezTo>
                    <a:lnTo>
                      <a:pt x="391499" y="17853"/>
                    </a:lnTo>
                    <a:lnTo>
                      <a:pt x="408083" y="17853"/>
                    </a:lnTo>
                    <a:close/>
                    <a:moveTo>
                      <a:pt x="419866" y="17774"/>
                    </a:moveTo>
                    <a:lnTo>
                      <a:pt x="436489" y="17774"/>
                    </a:lnTo>
                    <a:lnTo>
                      <a:pt x="436489" y="28612"/>
                    </a:lnTo>
                    <a:cubicBezTo>
                      <a:pt x="439068" y="21134"/>
                      <a:pt x="446360" y="16292"/>
                      <a:pt x="454303" y="16789"/>
                    </a:cubicBezTo>
                    <a:lnTo>
                      <a:pt x="454303" y="33026"/>
                    </a:lnTo>
                    <a:cubicBezTo>
                      <a:pt x="443075" y="33026"/>
                      <a:pt x="436489" y="36415"/>
                      <a:pt x="436489" y="46268"/>
                    </a:cubicBezTo>
                    <a:lnTo>
                      <a:pt x="436489" y="76614"/>
                    </a:lnTo>
                    <a:lnTo>
                      <a:pt x="420144" y="76614"/>
                    </a:lnTo>
                    <a:close/>
                    <a:moveTo>
                      <a:pt x="488422" y="78073"/>
                    </a:moveTo>
                    <a:cubicBezTo>
                      <a:pt x="471243" y="78073"/>
                      <a:pt x="459540" y="67905"/>
                      <a:pt x="459540" y="48239"/>
                    </a:cubicBezTo>
                    <a:lnTo>
                      <a:pt x="459540" y="47135"/>
                    </a:lnTo>
                    <a:cubicBezTo>
                      <a:pt x="459540" y="27430"/>
                      <a:pt x="471957" y="16513"/>
                      <a:pt x="487867" y="16513"/>
                    </a:cubicBezTo>
                    <a:cubicBezTo>
                      <a:pt x="502625" y="16513"/>
                      <a:pt x="515003" y="24750"/>
                      <a:pt x="515003" y="44298"/>
                    </a:cubicBezTo>
                    <a:lnTo>
                      <a:pt x="515003" y="51431"/>
                    </a:lnTo>
                    <a:lnTo>
                      <a:pt x="476361" y="51431"/>
                    </a:lnTo>
                    <a:cubicBezTo>
                      <a:pt x="477075" y="62032"/>
                      <a:pt x="481598" y="66092"/>
                      <a:pt x="488779" y="66092"/>
                    </a:cubicBezTo>
                    <a:cubicBezTo>
                      <a:pt x="493873" y="66664"/>
                      <a:pt x="498614" y="63419"/>
                      <a:pt x="499888" y="58485"/>
                    </a:cubicBezTo>
                    <a:lnTo>
                      <a:pt x="515202" y="58485"/>
                    </a:lnTo>
                    <a:cubicBezTo>
                      <a:pt x="513496" y="69678"/>
                      <a:pt x="504291" y="78151"/>
                      <a:pt x="488700" y="78151"/>
                    </a:cubicBezTo>
                    <a:close/>
                    <a:moveTo>
                      <a:pt x="476520" y="40475"/>
                    </a:moveTo>
                    <a:lnTo>
                      <a:pt x="498817" y="40475"/>
                    </a:lnTo>
                    <a:cubicBezTo>
                      <a:pt x="498459" y="31765"/>
                      <a:pt x="494492" y="28060"/>
                      <a:pt x="487906" y="28060"/>
                    </a:cubicBezTo>
                    <a:cubicBezTo>
                      <a:pt x="483026" y="28139"/>
                      <a:pt x="478266" y="30937"/>
                      <a:pt x="476877" y="40554"/>
                    </a:cubicBezTo>
                    <a:close/>
                  </a:path>
                </a:pathLst>
              </a:custGeom>
              <a:solidFill>
                <a:srgbClr val="000000"/>
              </a:solidFill>
              <a:ln w="393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Graphik" panose="020B0503030202060203" pitchFamily="34" charset="0"/>
                </a:endParaRPr>
              </a:p>
            </p:txBody>
          </p:sp>
        </p:grpSp>
      </p:grpSp>
      <p:sp>
        <p:nvSpPr>
          <p:cNvPr id="10" name="Text Placeholder 9">
            <a:extLst>
              <a:ext uri="{FF2B5EF4-FFF2-40B4-BE49-F238E27FC236}">
                <a16:creationId xmlns:a16="http://schemas.microsoft.com/office/drawing/2014/main" id="{A2319385-BD5E-F434-6601-9323322A6FE8}"/>
              </a:ext>
            </a:extLst>
          </p:cNvPr>
          <p:cNvSpPr>
            <a:spLocks noGrp="1"/>
          </p:cNvSpPr>
          <p:nvPr>
            <p:ph type="body" sz="quarter" idx="13"/>
          </p:nvPr>
        </p:nvSpPr>
        <p:spPr>
          <a:xfrm>
            <a:off x="390000" y="707174"/>
            <a:ext cx="11412000" cy="288147"/>
          </a:xfrm>
        </p:spPr>
        <p:txBody>
          <a:bodyPr lIns="72000" tIns="36000" rIns="72000" bIns="36000">
            <a:spAutoFit/>
          </a:bodyPr>
          <a:lstStyle>
            <a:lvl1pPr marL="0" indent="0">
              <a:buNone/>
              <a:defRPr sz="1400">
                <a:solidFill>
                  <a:schemeClr val="bg2">
                    <a:lumMod val="10000"/>
                  </a:schemeClr>
                </a:solidFill>
              </a:defRPr>
            </a:lvl1pPr>
          </a:lstStyle>
          <a:p>
            <a:pPr lvl="0"/>
            <a:endParaRPr lang="fr-CA"/>
          </a:p>
        </p:txBody>
      </p:sp>
    </p:spTree>
    <p:extLst>
      <p:ext uri="{BB962C8B-B14F-4D97-AF65-F5344CB8AC3E}">
        <p14:creationId xmlns:p14="http://schemas.microsoft.com/office/powerpoint/2010/main" val="2570853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1D5AAA70-8031-4D41-AC24-D112D9CB0E94}"/>
              </a:ext>
            </a:extLst>
          </p:cNvPr>
          <p:cNvSpPr>
            <a:spLocks noGrp="1"/>
          </p:cNvSpPr>
          <p:nvPr>
            <p:ph type="ftr" sz="quarter" idx="11"/>
          </p:nvPr>
        </p:nvSpPr>
        <p:spPr/>
        <p:txBody>
          <a:bodyPr/>
          <a:lstStyle/>
          <a:p>
            <a:endParaRPr lang="en-US"/>
          </a:p>
        </p:txBody>
      </p:sp>
      <p:sp>
        <p:nvSpPr>
          <p:cNvPr id="16" name="Slide Number Placeholder 15">
            <a:extLst>
              <a:ext uri="{FF2B5EF4-FFF2-40B4-BE49-F238E27FC236}">
                <a16:creationId xmlns:a16="http://schemas.microsoft.com/office/drawing/2014/main" id="{0D310E4B-2F0B-4312-8F90-47DC70B618EF}"/>
              </a:ext>
            </a:extLst>
          </p:cNvPr>
          <p:cNvSpPr>
            <a:spLocks noGrp="1"/>
          </p:cNvSpPr>
          <p:nvPr>
            <p:ph type="sldNum" sz="quarter" idx="12"/>
          </p:nvPr>
        </p:nvSpPr>
        <p:spPr/>
        <p:txBody>
          <a:bodyPr/>
          <a:lstStyle/>
          <a:p>
            <a:fld id="{3CBD822F-ED39-4FC2-B5B5-D2EAB6238DC3}" type="slidenum">
              <a:rPr lang="en-US" smtClean="0"/>
              <a:pPr/>
              <a:t>‹#›</a:t>
            </a:fld>
            <a:endParaRPr lang="en-US"/>
          </a:p>
        </p:txBody>
      </p:sp>
      <p:grpSp>
        <p:nvGrpSpPr>
          <p:cNvPr id="2" name="Group 1">
            <a:extLst>
              <a:ext uri="{FF2B5EF4-FFF2-40B4-BE49-F238E27FC236}">
                <a16:creationId xmlns:a16="http://schemas.microsoft.com/office/drawing/2014/main" id="{B928C484-8C45-965D-28AF-D854DB81DCC2}"/>
              </a:ext>
            </a:extLst>
          </p:cNvPr>
          <p:cNvGrpSpPr/>
          <p:nvPr userDrawn="1"/>
        </p:nvGrpSpPr>
        <p:grpSpPr>
          <a:xfrm>
            <a:off x="9994123" y="6451600"/>
            <a:ext cx="780081" cy="235554"/>
            <a:chOff x="267730" y="6451233"/>
            <a:chExt cx="780081" cy="235554"/>
          </a:xfrm>
        </p:grpSpPr>
        <p:cxnSp>
          <p:nvCxnSpPr>
            <p:cNvPr id="3" name="Straight Connector 2">
              <a:extLst>
                <a:ext uri="{FF2B5EF4-FFF2-40B4-BE49-F238E27FC236}">
                  <a16:creationId xmlns:a16="http://schemas.microsoft.com/office/drawing/2014/main" id="{A1481544-8A09-BCFD-25CE-1BF8FF5E0375}"/>
                </a:ext>
              </a:extLst>
            </p:cNvPr>
            <p:cNvCxnSpPr>
              <a:cxnSpLocks/>
            </p:cNvCxnSpPr>
            <p:nvPr/>
          </p:nvCxnSpPr>
          <p:spPr>
            <a:xfrm>
              <a:off x="267730" y="6459174"/>
              <a:ext cx="0" cy="227613"/>
            </a:xfrm>
            <a:prstGeom prst="line">
              <a:avLst/>
            </a:prstGeom>
            <a:noFill/>
            <a:ln w="9525" cap="flat" cmpd="sng" algn="ctr">
              <a:solidFill>
                <a:srgbClr val="000000"/>
              </a:solidFill>
              <a:prstDash val="solid"/>
              <a:miter lim="800000"/>
            </a:ln>
            <a:effectLst/>
          </p:spPr>
        </p:cxnSp>
        <p:grpSp>
          <p:nvGrpSpPr>
            <p:cNvPr id="4" name="Group 3">
              <a:extLst>
                <a:ext uri="{FF2B5EF4-FFF2-40B4-BE49-F238E27FC236}">
                  <a16:creationId xmlns:a16="http://schemas.microsoft.com/office/drawing/2014/main" id="{8E7FD614-7667-5684-A348-673E79CCBF14}"/>
                </a:ext>
              </a:extLst>
            </p:cNvPr>
            <p:cNvGrpSpPr/>
            <p:nvPr userDrawn="1"/>
          </p:nvGrpSpPr>
          <p:grpSpPr>
            <a:xfrm>
              <a:off x="380999" y="6451233"/>
              <a:ext cx="666812" cy="174691"/>
              <a:chOff x="407988" y="6564154"/>
              <a:chExt cx="515201" cy="134972"/>
            </a:xfrm>
          </p:grpSpPr>
          <p:sp>
            <p:nvSpPr>
              <p:cNvPr id="5" name="Freeform: Shape 8">
                <a:extLst>
                  <a:ext uri="{FF2B5EF4-FFF2-40B4-BE49-F238E27FC236}">
                    <a16:creationId xmlns:a16="http://schemas.microsoft.com/office/drawing/2014/main" id="{7A179BEA-D333-9361-8E96-89C993930B42}"/>
                  </a:ext>
                </a:extLst>
              </p:cNvPr>
              <p:cNvSpPr/>
              <p:nvPr/>
            </p:nvSpPr>
            <p:spPr>
              <a:xfrm>
                <a:off x="708317" y="6564154"/>
                <a:ext cx="50821" cy="53401"/>
              </a:xfrm>
              <a:custGeom>
                <a:avLst/>
                <a:gdLst>
                  <a:gd name="connsiteX0" fmla="*/ 0 w 50821"/>
                  <a:gd name="connsiteY0" fmla="*/ 37716 h 53401"/>
                  <a:gd name="connsiteX1" fmla="*/ 29676 w 50821"/>
                  <a:gd name="connsiteY1" fmla="*/ 26760 h 53401"/>
                  <a:gd name="connsiteX2" fmla="*/ 0 w 50821"/>
                  <a:gd name="connsiteY2" fmla="*/ 15252 h 53401"/>
                  <a:gd name="connsiteX3" fmla="*/ 0 w 50821"/>
                  <a:gd name="connsiteY3" fmla="*/ 0 h 53401"/>
                  <a:gd name="connsiteX4" fmla="*/ 50822 w 50821"/>
                  <a:gd name="connsiteY4" fmla="*/ 20336 h 53401"/>
                  <a:gd name="connsiteX5" fmla="*/ 50822 w 50821"/>
                  <a:gd name="connsiteY5" fmla="*/ 32987 h 53401"/>
                  <a:gd name="connsiteX6" fmla="*/ 0 w 50821"/>
                  <a:gd name="connsiteY6" fmla="*/ 53401 h 53401"/>
                  <a:gd name="connsiteX7" fmla="*/ 0 w 50821"/>
                  <a:gd name="connsiteY7" fmla="*/ 37716 h 5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821" h="53401">
                    <a:moveTo>
                      <a:pt x="0" y="37716"/>
                    </a:moveTo>
                    <a:lnTo>
                      <a:pt x="29676" y="26760"/>
                    </a:lnTo>
                    <a:lnTo>
                      <a:pt x="0" y="15252"/>
                    </a:lnTo>
                    <a:lnTo>
                      <a:pt x="0" y="0"/>
                    </a:lnTo>
                    <a:lnTo>
                      <a:pt x="50822" y="20336"/>
                    </a:lnTo>
                    <a:lnTo>
                      <a:pt x="50822" y="32987"/>
                    </a:lnTo>
                    <a:lnTo>
                      <a:pt x="0" y="53401"/>
                    </a:lnTo>
                    <a:lnTo>
                      <a:pt x="0" y="37716"/>
                    </a:lnTo>
                    <a:close/>
                  </a:path>
                </a:pathLst>
              </a:custGeom>
              <a:solidFill>
                <a:srgbClr val="BC00FF"/>
              </a:solidFill>
              <a:ln w="393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Graphik" panose="020B0503030202060203" pitchFamily="34" charset="0"/>
                </a:endParaRPr>
              </a:p>
            </p:txBody>
          </p:sp>
          <p:sp>
            <p:nvSpPr>
              <p:cNvPr id="6" name="Freeform: Shape 9">
                <a:extLst>
                  <a:ext uri="{FF2B5EF4-FFF2-40B4-BE49-F238E27FC236}">
                    <a16:creationId xmlns:a16="http://schemas.microsoft.com/office/drawing/2014/main" id="{0F8298AE-7038-B267-0237-68A962571D4D}"/>
                  </a:ext>
                </a:extLst>
              </p:cNvPr>
              <p:cNvSpPr/>
              <p:nvPr/>
            </p:nvSpPr>
            <p:spPr>
              <a:xfrm>
                <a:off x="407988" y="6620944"/>
                <a:ext cx="515201" cy="78182"/>
              </a:xfrm>
              <a:custGeom>
                <a:avLst/>
                <a:gdLst>
                  <a:gd name="connsiteX0" fmla="*/ 19559 w 515201"/>
                  <a:gd name="connsiteY0" fmla="*/ 78151 h 78182"/>
                  <a:gd name="connsiteX1" fmla="*/ 0 w 515201"/>
                  <a:gd name="connsiteY1" fmla="*/ 60771 h 78182"/>
                  <a:gd name="connsiteX2" fmla="*/ 0 w 515201"/>
                  <a:gd name="connsiteY2" fmla="*/ 60062 h 78182"/>
                  <a:gd name="connsiteX3" fmla="*/ 28089 w 515201"/>
                  <a:gd name="connsiteY3" fmla="*/ 40751 h 78182"/>
                  <a:gd name="connsiteX4" fmla="*/ 35468 w 515201"/>
                  <a:gd name="connsiteY4" fmla="*/ 40751 h 78182"/>
                  <a:gd name="connsiteX5" fmla="*/ 35468 w 515201"/>
                  <a:gd name="connsiteY5" fmla="*/ 37795 h 78182"/>
                  <a:gd name="connsiteX6" fmla="*/ 26700 w 515201"/>
                  <a:gd name="connsiteY6" fmla="*/ 28297 h 78182"/>
                  <a:gd name="connsiteX7" fmla="*/ 17770 w 515201"/>
                  <a:gd name="connsiteY7" fmla="*/ 35498 h 78182"/>
                  <a:gd name="connsiteX8" fmla="*/ 17734 w 515201"/>
                  <a:gd name="connsiteY8" fmla="*/ 35982 h 78182"/>
                  <a:gd name="connsiteX9" fmla="*/ 1865 w 515201"/>
                  <a:gd name="connsiteY9" fmla="*/ 35982 h 78182"/>
                  <a:gd name="connsiteX10" fmla="*/ 27533 w 515201"/>
                  <a:gd name="connsiteY10" fmla="*/ 16277 h 78182"/>
                  <a:gd name="connsiteX11" fmla="*/ 52091 w 515201"/>
                  <a:gd name="connsiteY11" fmla="*/ 37046 h 78182"/>
                  <a:gd name="connsiteX12" fmla="*/ 52091 w 515201"/>
                  <a:gd name="connsiteY12" fmla="*/ 76457 h 78182"/>
                  <a:gd name="connsiteX13" fmla="*/ 35706 w 515201"/>
                  <a:gd name="connsiteY13" fmla="*/ 76457 h 78182"/>
                  <a:gd name="connsiteX14" fmla="*/ 35706 w 515201"/>
                  <a:gd name="connsiteY14" fmla="*/ 70112 h 78182"/>
                  <a:gd name="connsiteX15" fmla="*/ 19559 w 515201"/>
                  <a:gd name="connsiteY15" fmla="*/ 78151 h 78182"/>
                  <a:gd name="connsiteX16" fmla="*/ 35429 w 515201"/>
                  <a:gd name="connsiteY16" fmla="*/ 57264 h 78182"/>
                  <a:gd name="connsiteX17" fmla="*/ 35429 w 515201"/>
                  <a:gd name="connsiteY17" fmla="*/ 51628 h 78182"/>
                  <a:gd name="connsiteX18" fmla="*/ 28882 w 515201"/>
                  <a:gd name="connsiteY18" fmla="*/ 51628 h 78182"/>
                  <a:gd name="connsiteX19" fmla="*/ 16465 w 515201"/>
                  <a:gd name="connsiteY19" fmla="*/ 59155 h 78182"/>
                  <a:gd name="connsiteX20" fmla="*/ 16465 w 515201"/>
                  <a:gd name="connsiteY20" fmla="*/ 59747 h 78182"/>
                  <a:gd name="connsiteX21" fmla="*/ 24399 w 515201"/>
                  <a:gd name="connsiteY21" fmla="*/ 66643 h 78182"/>
                  <a:gd name="connsiteX22" fmla="*/ 35389 w 515201"/>
                  <a:gd name="connsiteY22" fmla="*/ 58257 h 78182"/>
                  <a:gd name="connsiteX23" fmla="*/ 35468 w 515201"/>
                  <a:gd name="connsiteY23" fmla="*/ 57264 h 78182"/>
                  <a:gd name="connsiteX24" fmla="*/ 89662 w 515201"/>
                  <a:gd name="connsiteY24" fmla="*/ 78151 h 78182"/>
                  <a:gd name="connsiteX25" fmla="*/ 61216 w 515201"/>
                  <a:gd name="connsiteY25" fmla="*/ 48002 h 78182"/>
                  <a:gd name="connsiteX26" fmla="*/ 61216 w 515201"/>
                  <a:gd name="connsiteY26" fmla="*/ 47214 h 78182"/>
                  <a:gd name="connsiteX27" fmla="*/ 89781 w 515201"/>
                  <a:gd name="connsiteY27" fmla="*/ 16592 h 78182"/>
                  <a:gd name="connsiteX28" fmla="*/ 115807 w 515201"/>
                  <a:gd name="connsiteY28" fmla="*/ 38859 h 78182"/>
                  <a:gd name="connsiteX29" fmla="*/ 99938 w 515201"/>
                  <a:gd name="connsiteY29" fmla="*/ 38859 h 78182"/>
                  <a:gd name="connsiteX30" fmla="*/ 90138 w 515201"/>
                  <a:gd name="connsiteY30" fmla="*/ 29361 h 78182"/>
                  <a:gd name="connsiteX31" fmla="*/ 78236 w 515201"/>
                  <a:gd name="connsiteY31" fmla="*/ 46544 h 78182"/>
                  <a:gd name="connsiteX32" fmla="*/ 78236 w 515201"/>
                  <a:gd name="connsiteY32" fmla="*/ 48318 h 78182"/>
                  <a:gd name="connsiteX33" fmla="*/ 90138 w 515201"/>
                  <a:gd name="connsiteY33" fmla="*/ 65737 h 78182"/>
                  <a:gd name="connsiteX34" fmla="*/ 100930 w 515201"/>
                  <a:gd name="connsiteY34" fmla="*/ 55096 h 78182"/>
                  <a:gd name="connsiteX35" fmla="*/ 116045 w 515201"/>
                  <a:gd name="connsiteY35" fmla="*/ 55096 h 78182"/>
                  <a:gd name="connsiteX36" fmla="*/ 89702 w 515201"/>
                  <a:gd name="connsiteY36" fmla="*/ 78151 h 78182"/>
                  <a:gd name="connsiteX37" fmla="*/ 151474 w 515201"/>
                  <a:gd name="connsiteY37" fmla="*/ 78151 h 78182"/>
                  <a:gd name="connsiteX38" fmla="*/ 122988 w 515201"/>
                  <a:gd name="connsiteY38" fmla="*/ 48002 h 78182"/>
                  <a:gd name="connsiteX39" fmla="*/ 122988 w 515201"/>
                  <a:gd name="connsiteY39" fmla="*/ 47214 h 78182"/>
                  <a:gd name="connsiteX40" fmla="*/ 151514 w 515201"/>
                  <a:gd name="connsiteY40" fmla="*/ 16592 h 78182"/>
                  <a:gd name="connsiteX41" fmla="*/ 177539 w 515201"/>
                  <a:gd name="connsiteY41" fmla="*/ 38859 h 78182"/>
                  <a:gd name="connsiteX42" fmla="*/ 161670 w 515201"/>
                  <a:gd name="connsiteY42" fmla="*/ 38859 h 78182"/>
                  <a:gd name="connsiteX43" fmla="*/ 151910 w 515201"/>
                  <a:gd name="connsiteY43" fmla="*/ 29361 h 78182"/>
                  <a:gd name="connsiteX44" fmla="*/ 140008 w 515201"/>
                  <a:gd name="connsiteY44" fmla="*/ 46544 h 78182"/>
                  <a:gd name="connsiteX45" fmla="*/ 140008 w 515201"/>
                  <a:gd name="connsiteY45" fmla="*/ 48318 h 78182"/>
                  <a:gd name="connsiteX46" fmla="*/ 151910 w 515201"/>
                  <a:gd name="connsiteY46" fmla="*/ 65737 h 78182"/>
                  <a:gd name="connsiteX47" fmla="*/ 162702 w 515201"/>
                  <a:gd name="connsiteY47" fmla="*/ 55096 h 78182"/>
                  <a:gd name="connsiteX48" fmla="*/ 177817 w 515201"/>
                  <a:gd name="connsiteY48" fmla="*/ 55096 h 78182"/>
                  <a:gd name="connsiteX49" fmla="*/ 151514 w 515201"/>
                  <a:gd name="connsiteY49" fmla="*/ 78151 h 78182"/>
                  <a:gd name="connsiteX50" fmla="*/ 213801 w 515201"/>
                  <a:gd name="connsiteY50" fmla="*/ 78151 h 78182"/>
                  <a:gd name="connsiteX51" fmla="*/ 184919 w 515201"/>
                  <a:gd name="connsiteY51" fmla="*/ 48318 h 78182"/>
                  <a:gd name="connsiteX52" fmla="*/ 184919 w 515201"/>
                  <a:gd name="connsiteY52" fmla="*/ 47214 h 78182"/>
                  <a:gd name="connsiteX53" fmla="*/ 213206 w 515201"/>
                  <a:gd name="connsiteY53" fmla="*/ 16592 h 78182"/>
                  <a:gd name="connsiteX54" fmla="*/ 240383 w 515201"/>
                  <a:gd name="connsiteY54" fmla="*/ 44376 h 78182"/>
                  <a:gd name="connsiteX55" fmla="*/ 240383 w 515201"/>
                  <a:gd name="connsiteY55" fmla="*/ 51510 h 78182"/>
                  <a:gd name="connsiteX56" fmla="*/ 201780 w 515201"/>
                  <a:gd name="connsiteY56" fmla="*/ 51510 h 78182"/>
                  <a:gd name="connsiteX57" fmla="*/ 214238 w 515201"/>
                  <a:gd name="connsiteY57" fmla="*/ 66171 h 78182"/>
                  <a:gd name="connsiteX58" fmla="*/ 225148 w 515201"/>
                  <a:gd name="connsiteY58" fmla="*/ 58485 h 78182"/>
                  <a:gd name="connsiteX59" fmla="*/ 240422 w 515201"/>
                  <a:gd name="connsiteY59" fmla="*/ 58485 h 78182"/>
                  <a:gd name="connsiteX60" fmla="*/ 213841 w 515201"/>
                  <a:gd name="connsiteY60" fmla="*/ 78151 h 78182"/>
                  <a:gd name="connsiteX61" fmla="*/ 201899 w 515201"/>
                  <a:gd name="connsiteY61" fmla="*/ 40554 h 78182"/>
                  <a:gd name="connsiteX62" fmla="*/ 224156 w 515201"/>
                  <a:gd name="connsiteY62" fmla="*/ 40554 h 78182"/>
                  <a:gd name="connsiteX63" fmla="*/ 213246 w 515201"/>
                  <a:gd name="connsiteY63" fmla="*/ 28139 h 78182"/>
                  <a:gd name="connsiteX64" fmla="*/ 202018 w 515201"/>
                  <a:gd name="connsiteY64" fmla="*/ 40554 h 78182"/>
                  <a:gd name="connsiteX65" fmla="*/ 250539 w 515201"/>
                  <a:gd name="connsiteY65" fmla="*/ 17853 h 78182"/>
                  <a:gd name="connsiteX66" fmla="*/ 267123 w 515201"/>
                  <a:gd name="connsiteY66" fmla="*/ 17853 h 78182"/>
                  <a:gd name="connsiteX67" fmla="*/ 267123 w 515201"/>
                  <a:gd name="connsiteY67" fmla="*/ 26642 h 78182"/>
                  <a:gd name="connsiteX68" fmla="*/ 285095 w 515201"/>
                  <a:gd name="connsiteY68" fmla="*/ 16592 h 78182"/>
                  <a:gd name="connsiteX69" fmla="*/ 303067 w 515201"/>
                  <a:gd name="connsiteY69" fmla="*/ 37361 h 78182"/>
                  <a:gd name="connsiteX70" fmla="*/ 303067 w 515201"/>
                  <a:gd name="connsiteY70" fmla="*/ 76772 h 78182"/>
                  <a:gd name="connsiteX71" fmla="*/ 286563 w 515201"/>
                  <a:gd name="connsiteY71" fmla="*/ 76772 h 78182"/>
                  <a:gd name="connsiteX72" fmla="*/ 286563 w 515201"/>
                  <a:gd name="connsiteY72" fmla="*/ 39726 h 78182"/>
                  <a:gd name="connsiteX73" fmla="*/ 277715 w 515201"/>
                  <a:gd name="connsiteY73" fmla="*/ 29794 h 78182"/>
                  <a:gd name="connsiteX74" fmla="*/ 267199 w 515201"/>
                  <a:gd name="connsiteY74" fmla="*/ 39099 h 78182"/>
                  <a:gd name="connsiteX75" fmla="*/ 267242 w 515201"/>
                  <a:gd name="connsiteY75" fmla="*/ 40751 h 78182"/>
                  <a:gd name="connsiteX76" fmla="*/ 267242 w 515201"/>
                  <a:gd name="connsiteY76" fmla="*/ 76772 h 78182"/>
                  <a:gd name="connsiteX77" fmla="*/ 250658 w 515201"/>
                  <a:gd name="connsiteY77" fmla="*/ 76772 h 78182"/>
                  <a:gd name="connsiteX78" fmla="*/ 334092 w 515201"/>
                  <a:gd name="connsiteY78" fmla="*/ 0 h 78182"/>
                  <a:gd name="connsiteX79" fmla="*/ 334092 w 515201"/>
                  <a:gd name="connsiteY79" fmla="*/ 17853 h 78182"/>
                  <a:gd name="connsiteX80" fmla="*/ 345478 w 515201"/>
                  <a:gd name="connsiteY80" fmla="*/ 17853 h 78182"/>
                  <a:gd name="connsiteX81" fmla="*/ 345478 w 515201"/>
                  <a:gd name="connsiteY81" fmla="*/ 30149 h 78182"/>
                  <a:gd name="connsiteX82" fmla="*/ 334211 w 515201"/>
                  <a:gd name="connsiteY82" fmla="*/ 30149 h 78182"/>
                  <a:gd name="connsiteX83" fmla="*/ 334211 w 515201"/>
                  <a:gd name="connsiteY83" fmla="*/ 58170 h 78182"/>
                  <a:gd name="connsiteX84" fmla="*/ 340122 w 515201"/>
                  <a:gd name="connsiteY84" fmla="*/ 64594 h 78182"/>
                  <a:gd name="connsiteX85" fmla="*/ 345914 w 515201"/>
                  <a:gd name="connsiteY85" fmla="*/ 63569 h 78182"/>
                  <a:gd name="connsiteX86" fmla="*/ 345914 w 515201"/>
                  <a:gd name="connsiteY86" fmla="*/ 76457 h 78182"/>
                  <a:gd name="connsiteX87" fmla="*/ 336591 w 515201"/>
                  <a:gd name="connsiteY87" fmla="*/ 77678 h 78182"/>
                  <a:gd name="connsiteX88" fmla="*/ 317508 w 515201"/>
                  <a:gd name="connsiteY88" fmla="*/ 59865 h 78182"/>
                  <a:gd name="connsiteX89" fmla="*/ 317508 w 515201"/>
                  <a:gd name="connsiteY89" fmla="*/ 30149 h 78182"/>
                  <a:gd name="connsiteX90" fmla="*/ 310565 w 515201"/>
                  <a:gd name="connsiteY90" fmla="*/ 30149 h 78182"/>
                  <a:gd name="connsiteX91" fmla="*/ 310565 w 515201"/>
                  <a:gd name="connsiteY91" fmla="*/ 17853 h 78182"/>
                  <a:gd name="connsiteX92" fmla="*/ 317389 w 515201"/>
                  <a:gd name="connsiteY92" fmla="*/ 17853 h 78182"/>
                  <a:gd name="connsiteX93" fmla="*/ 317389 w 515201"/>
                  <a:gd name="connsiteY93" fmla="*/ 6779 h 78182"/>
                  <a:gd name="connsiteX94" fmla="*/ 407964 w 515201"/>
                  <a:gd name="connsiteY94" fmla="*/ 76890 h 78182"/>
                  <a:gd name="connsiteX95" fmla="*/ 391499 w 515201"/>
                  <a:gd name="connsiteY95" fmla="*/ 76890 h 78182"/>
                  <a:gd name="connsiteX96" fmla="*/ 391499 w 515201"/>
                  <a:gd name="connsiteY96" fmla="*/ 68220 h 78182"/>
                  <a:gd name="connsiteX97" fmla="*/ 374241 w 515201"/>
                  <a:gd name="connsiteY97" fmla="*/ 78151 h 78182"/>
                  <a:gd name="connsiteX98" fmla="*/ 355714 w 515201"/>
                  <a:gd name="connsiteY98" fmla="*/ 57815 h 78182"/>
                  <a:gd name="connsiteX99" fmla="*/ 355714 w 515201"/>
                  <a:gd name="connsiteY99" fmla="*/ 17853 h 78182"/>
                  <a:gd name="connsiteX100" fmla="*/ 372416 w 515201"/>
                  <a:gd name="connsiteY100" fmla="*/ 17853 h 78182"/>
                  <a:gd name="connsiteX101" fmla="*/ 372416 w 515201"/>
                  <a:gd name="connsiteY101" fmla="*/ 55333 h 78182"/>
                  <a:gd name="connsiteX102" fmla="*/ 381065 w 515201"/>
                  <a:gd name="connsiteY102" fmla="*/ 65264 h 78182"/>
                  <a:gd name="connsiteX103" fmla="*/ 391542 w 515201"/>
                  <a:gd name="connsiteY103" fmla="*/ 55832 h 78182"/>
                  <a:gd name="connsiteX104" fmla="*/ 391499 w 515201"/>
                  <a:gd name="connsiteY104" fmla="*/ 54308 h 78182"/>
                  <a:gd name="connsiteX105" fmla="*/ 391499 w 515201"/>
                  <a:gd name="connsiteY105" fmla="*/ 17853 h 78182"/>
                  <a:gd name="connsiteX106" fmla="*/ 408083 w 515201"/>
                  <a:gd name="connsiteY106" fmla="*/ 17853 h 78182"/>
                  <a:gd name="connsiteX107" fmla="*/ 419866 w 515201"/>
                  <a:gd name="connsiteY107" fmla="*/ 17774 h 78182"/>
                  <a:gd name="connsiteX108" fmla="*/ 436489 w 515201"/>
                  <a:gd name="connsiteY108" fmla="*/ 17774 h 78182"/>
                  <a:gd name="connsiteX109" fmla="*/ 436489 w 515201"/>
                  <a:gd name="connsiteY109" fmla="*/ 28612 h 78182"/>
                  <a:gd name="connsiteX110" fmla="*/ 454303 w 515201"/>
                  <a:gd name="connsiteY110" fmla="*/ 16789 h 78182"/>
                  <a:gd name="connsiteX111" fmla="*/ 454303 w 515201"/>
                  <a:gd name="connsiteY111" fmla="*/ 33026 h 78182"/>
                  <a:gd name="connsiteX112" fmla="*/ 436489 w 515201"/>
                  <a:gd name="connsiteY112" fmla="*/ 46268 h 78182"/>
                  <a:gd name="connsiteX113" fmla="*/ 436489 w 515201"/>
                  <a:gd name="connsiteY113" fmla="*/ 76614 h 78182"/>
                  <a:gd name="connsiteX114" fmla="*/ 420144 w 515201"/>
                  <a:gd name="connsiteY114" fmla="*/ 76614 h 78182"/>
                  <a:gd name="connsiteX115" fmla="*/ 488422 w 515201"/>
                  <a:gd name="connsiteY115" fmla="*/ 78073 h 78182"/>
                  <a:gd name="connsiteX116" fmla="*/ 459540 w 515201"/>
                  <a:gd name="connsiteY116" fmla="*/ 48239 h 78182"/>
                  <a:gd name="connsiteX117" fmla="*/ 459540 w 515201"/>
                  <a:gd name="connsiteY117" fmla="*/ 47135 h 78182"/>
                  <a:gd name="connsiteX118" fmla="*/ 487867 w 515201"/>
                  <a:gd name="connsiteY118" fmla="*/ 16513 h 78182"/>
                  <a:gd name="connsiteX119" fmla="*/ 515003 w 515201"/>
                  <a:gd name="connsiteY119" fmla="*/ 44298 h 78182"/>
                  <a:gd name="connsiteX120" fmla="*/ 515003 w 515201"/>
                  <a:gd name="connsiteY120" fmla="*/ 51431 h 78182"/>
                  <a:gd name="connsiteX121" fmla="*/ 476361 w 515201"/>
                  <a:gd name="connsiteY121" fmla="*/ 51431 h 78182"/>
                  <a:gd name="connsiteX122" fmla="*/ 488779 w 515201"/>
                  <a:gd name="connsiteY122" fmla="*/ 66092 h 78182"/>
                  <a:gd name="connsiteX123" fmla="*/ 499888 w 515201"/>
                  <a:gd name="connsiteY123" fmla="*/ 58485 h 78182"/>
                  <a:gd name="connsiteX124" fmla="*/ 515202 w 515201"/>
                  <a:gd name="connsiteY124" fmla="*/ 58485 h 78182"/>
                  <a:gd name="connsiteX125" fmla="*/ 488700 w 515201"/>
                  <a:gd name="connsiteY125" fmla="*/ 78151 h 78182"/>
                  <a:gd name="connsiteX126" fmla="*/ 476520 w 515201"/>
                  <a:gd name="connsiteY126" fmla="*/ 40475 h 78182"/>
                  <a:gd name="connsiteX127" fmla="*/ 498817 w 515201"/>
                  <a:gd name="connsiteY127" fmla="*/ 40475 h 78182"/>
                  <a:gd name="connsiteX128" fmla="*/ 487906 w 515201"/>
                  <a:gd name="connsiteY128" fmla="*/ 28060 h 78182"/>
                  <a:gd name="connsiteX129" fmla="*/ 476877 w 515201"/>
                  <a:gd name="connsiteY129" fmla="*/ 40554 h 7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515201" h="78182">
                    <a:moveTo>
                      <a:pt x="19559" y="78151"/>
                    </a:moveTo>
                    <a:cubicBezTo>
                      <a:pt x="8847" y="78151"/>
                      <a:pt x="0" y="72713"/>
                      <a:pt x="0" y="60771"/>
                    </a:cubicBezTo>
                    <a:lnTo>
                      <a:pt x="0" y="60062"/>
                    </a:lnTo>
                    <a:cubicBezTo>
                      <a:pt x="0" y="45519"/>
                      <a:pt x="12735" y="40751"/>
                      <a:pt x="28089" y="40751"/>
                    </a:cubicBezTo>
                    <a:lnTo>
                      <a:pt x="35468" y="40751"/>
                    </a:lnTo>
                    <a:lnTo>
                      <a:pt x="35468" y="37795"/>
                    </a:lnTo>
                    <a:cubicBezTo>
                      <a:pt x="35468" y="31923"/>
                      <a:pt x="32850" y="28297"/>
                      <a:pt x="26700" y="28297"/>
                    </a:cubicBezTo>
                    <a:cubicBezTo>
                      <a:pt x="22233" y="27836"/>
                      <a:pt x="18234" y="31060"/>
                      <a:pt x="17770" y="35498"/>
                    </a:cubicBezTo>
                    <a:cubicBezTo>
                      <a:pt x="17753" y="35659"/>
                      <a:pt x="17741" y="35820"/>
                      <a:pt x="17734" y="35982"/>
                    </a:cubicBezTo>
                    <a:lnTo>
                      <a:pt x="1865" y="35982"/>
                    </a:lnTo>
                    <a:cubicBezTo>
                      <a:pt x="2976" y="22898"/>
                      <a:pt x="13449" y="16277"/>
                      <a:pt x="27533" y="16277"/>
                    </a:cubicBezTo>
                    <a:cubicBezTo>
                      <a:pt x="41618" y="16277"/>
                      <a:pt x="52091" y="22385"/>
                      <a:pt x="52091" y="37046"/>
                    </a:cubicBezTo>
                    <a:lnTo>
                      <a:pt x="52091" y="76457"/>
                    </a:lnTo>
                    <a:lnTo>
                      <a:pt x="35706" y="76457"/>
                    </a:lnTo>
                    <a:lnTo>
                      <a:pt x="35706" y="70112"/>
                    </a:lnTo>
                    <a:cubicBezTo>
                      <a:pt x="32062" y="75358"/>
                      <a:pt x="25971" y="78390"/>
                      <a:pt x="19559" y="78151"/>
                    </a:cubicBezTo>
                    <a:close/>
                    <a:moveTo>
                      <a:pt x="35429" y="57264"/>
                    </a:moveTo>
                    <a:lnTo>
                      <a:pt x="35429" y="51628"/>
                    </a:lnTo>
                    <a:lnTo>
                      <a:pt x="28882" y="51628"/>
                    </a:lnTo>
                    <a:cubicBezTo>
                      <a:pt x="20670" y="51628"/>
                      <a:pt x="16465" y="53874"/>
                      <a:pt x="16465" y="59155"/>
                    </a:cubicBezTo>
                    <a:lnTo>
                      <a:pt x="16465" y="59747"/>
                    </a:lnTo>
                    <a:cubicBezTo>
                      <a:pt x="16465" y="63688"/>
                      <a:pt x="18964" y="66643"/>
                      <a:pt x="24399" y="66643"/>
                    </a:cubicBezTo>
                    <a:cubicBezTo>
                      <a:pt x="29765" y="67342"/>
                      <a:pt x="34686" y="63587"/>
                      <a:pt x="35389" y="58257"/>
                    </a:cubicBezTo>
                    <a:cubicBezTo>
                      <a:pt x="35432" y="57927"/>
                      <a:pt x="35459" y="57596"/>
                      <a:pt x="35468" y="57264"/>
                    </a:cubicBezTo>
                    <a:close/>
                    <a:moveTo>
                      <a:pt x="89662" y="78151"/>
                    </a:moveTo>
                    <a:cubicBezTo>
                      <a:pt x="73158" y="78151"/>
                      <a:pt x="61216" y="67983"/>
                      <a:pt x="61216" y="48002"/>
                    </a:cubicBezTo>
                    <a:lnTo>
                      <a:pt x="61216" y="47214"/>
                    </a:lnTo>
                    <a:cubicBezTo>
                      <a:pt x="61216" y="27233"/>
                      <a:pt x="73952" y="16592"/>
                      <a:pt x="89781" y="16592"/>
                    </a:cubicBezTo>
                    <a:cubicBezTo>
                      <a:pt x="103270" y="16592"/>
                      <a:pt x="114419" y="23371"/>
                      <a:pt x="115807" y="38859"/>
                    </a:cubicBezTo>
                    <a:lnTo>
                      <a:pt x="99938" y="38859"/>
                    </a:lnTo>
                    <a:cubicBezTo>
                      <a:pt x="98906" y="33105"/>
                      <a:pt x="95971" y="29361"/>
                      <a:pt x="90138" y="29361"/>
                    </a:cubicBezTo>
                    <a:cubicBezTo>
                      <a:pt x="83077" y="29361"/>
                      <a:pt x="78236" y="34878"/>
                      <a:pt x="78236" y="46544"/>
                    </a:cubicBezTo>
                    <a:lnTo>
                      <a:pt x="78236" y="48318"/>
                    </a:lnTo>
                    <a:cubicBezTo>
                      <a:pt x="78236" y="60141"/>
                      <a:pt x="82561" y="65737"/>
                      <a:pt x="90138" y="65737"/>
                    </a:cubicBezTo>
                    <a:cubicBezTo>
                      <a:pt x="95990" y="65555"/>
                      <a:pt x="100704" y="60908"/>
                      <a:pt x="100930" y="55096"/>
                    </a:cubicBezTo>
                    <a:lnTo>
                      <a:pt x="116045" y="55096"/>
                    </a:lnTo>
                    <a:cubicBezTo>
                      <a:pt x="115054" y="68535"/>
                      <a:pt x="105810" y="78151"/>
                      <a:pt x="89702" y="78151"/>
                    </a:cubicBezTo>
                    <a:close/>
                    <a:moveTo>
                      <a:pt x="151474" y="78151"/>
                    </a:moveTo>
                    <a:cubicBezTo>
                      <a:pt x="134890" y="78151"/>
                      <a:pt x="122988" y="67983"/>
                      <a:pt x="122988" y="48002"/>
                    </a:cubicBezTo>
                    <a:lnTo>
                      <a:pt x="122988" y="47214"/>
                    </a:lnTo>
                    <a:cubicBezTo>
                      <a:pt x="122988" y="27233"/>
                      <a:pt x="135723" y="16592"/>
                      <a:pt x="151514" y="16592"/>
                    </a:cubicBezTo>
                    <a:cubicBezTo>
                      <a:pt x="165042" y="16592"/>
                      <a:pt x="176191" y="23371"/>
                      <a:pt x="177539" y="38859"/>
                    </a:cubicBezTo>
                    <a:lnTo>
                      <a:pt x="161670" y="38859"/>
                    </a:lnTo>
                    <a:cubicBezTo>
                      <a:pt x="160678" y="33105"/>
                      <a:pt x="157703" y="29361"/>
                      <a:pt x="151910" y="29361"/>
                    </a:cubicBezTo>
                    <a:cubicBezTo>
                      <a:pt x="144848" y="29361"/>
                      <a:pt x="140008" y="34878"/>
                      <a:pt x="140008" y="46544"/>
                    </a:cubicBezTo>
                    <a:lnTo>
                      <a:pt x="140008" y="48318"/>
                    </a:lnTo>
                    <a:cubicBezTo>
                      <a:pt x="140008" y="60141"/>
                      <a:pt x="144333" y="65737"/>
                      <a:pt x="151910" y="65737"/>
                    </a:cubicBezTo>
                    <a:cubicBezTo>
                      <a:pt x="157762" y="65555"/>
                      <a:pt x="162475" y="60908"/>
                      <a:pt x="162702" y="55096"/>
                    </a:cubicBezTo>
                    <a:lnTo>
                      <a:pt x="177817" y="55096"/>
                    </a:lnTo>
                    <a:cubicBezTo>
                      <a:pt x="176865" y="68535"/>
                      <a:pt x="167661" y="78151"/>
                      <a:pt x="151514" y="78151"/>
                    </a:cubicBezTo>
                    <a:close/>
                    <a:moveTo>
                      <a:pt x="213801" y="78151"/>
                    </a:moveTo>
                    <a:cubicBezTo>
                      <a:pt x="196623" y="78151"/>
                      <a:pt x="184919" y="67983"/>
                      <a:pt x="184919" y="48318"/>
                    </a:cubicBezTo>
                    <a:lnTo>
                      <a:pt x="184919" y="47214"/>
                    </a:lnTo>
                    <a:cubicBezTo>
                      <a:pt x="184919" y="27509"/>
                      <a:pt x="197297" y="16592"/>
                      <a:pt x="213206" y="16592"/>
                    </a:cubicBezTo>
                    <a:cubicBezTo>
                      <a:pt x="228004" y="16592"/>
                      <a:pt x="240383" y="24829"/>
                      <a:pt x="240383" y="44376"/>
                    </a:cubicBezTo>
                    <a:lnTo>
                      <a:pt x="240383" y="51510"/>
                    </a:lnTo>
                    <a:lnTo>
                      <a:pt x="201780" y="51510"/>
                    </a:lnTo>
                    <a:cubicBezTo>
                      <a:pt x="202336" y="62111"/>
                      <a:pt x="207017" y="66171"/>
                      <a:pt x="214238" y="66171"/>
                    </a:cubicBezTo>
                    <a:cubicBezTo>
                      <a:pt x="219289" y="66650"/>
                      <a:pt x="223932" y="63379"/>
                      <a:pt x="225148" y="58485"/>
                    </a:cubicBezTo>
                    <a:lnTo>
                      <a:pt x="240422" y="58485"/>
                    </a:lnTo>
                    <a:cubicBezTo>
                      <a:pt x="238597" y="69678"/>
                      <a:pt x="229393" y="78151"/>
                      <a:pt x="213841" y="78151"/>
                    </a:cubicBezTo>
                    <a:close/>
                    <a:moveTo>
                      <a:pt x="201899" y="40554"/>
                    </a:moveTo>
                    <a:lnTo>
                      <a:pt x="224156" y="40554"/>
                    </a:lnTo>
                    <a:cubicBezTo>
                      <a:pt x="223839" y="31844"/>
                      <a:pt x="219832" y="28139"/>
                      <a:pt x="213246" y="28139"/>
                    </a:cubicBezTo>
                    <a:cubicBezTo>
                      <a:pt x="208128" y="28139"/>
                      <a:pt x="203367" y="30937"/>
                      <a:pt x="202018" y="40554"/>
                    </a:cubicBezTo>
                    <a:close/>
                    <a:moveTo>
                      <a:pt x="250539" y="17853"/>
                    </a:moveTo>
                    <a:lnTo>
                      <a:pt x="267123" y="17853"/>
                    </a:lnTo>
                    <a:lnTo>
                      <a:pt x="267123" y="26642"/>
                    </a:lnTo>
                    <a:cubicBezTo>
                      <a:pt x="270683" y="20151"/>
                      <a:pt x="277661" y="16249"/>
                      <a:pt x="285095" y="16592"/>
                    </a:cubicBezTo>
                    <a:cubicBezTo>
                      <a:pt x="295886" y="16592"/>
                      <a:pt x="303067" y="23055"/>
                      <a:pt x="303067" y="37361"/>
                    </a:cubicBezTo>
                    <a:lnTo>
                      <a:pt x="303067" y="76772"/>
                    </a:lnTo>
                    <a:lnTo>
                      <a:pt x="286563" y="76772"/>
                    </a:lnTo>
                    <a:lnTo>
                      <a:pt x="286563" y="39726"/>
                    </a:lnTo>
                    <a:cubicBezTo>
                      <a:pt x="286563" y="32869"/>
                      <a:pt x="283746" y="29794"/>
                      <a:pt x="277715" y="29794"/>
                    </a:cubicBezTo>
                    <a:cubicBezTo>
                      <a:pt x="272225" y="29479"/>
                      <a:pt x="267516" y="33645"/>
                      <a:pt x="267199" y="39099"/>
                    </a:cubicBezTo>
                    <a:cubicBezTo>
                      <a:pt x="267167" y="39650"/>
                      <a:pt x="267181" y="40202"/>
                      <a:pt x="267242" y="40751"/>
                    </a:cubicBezTo>
                    <a:lnTo>
                      <a:pt x="267242" y="76772"/>
                    </a:lnTo>
                    <a:lnTo>
                      <a:pt x="250658" y="76772"/>
                    </a:lnTo>
                    <a:close/>
                    <a:moveTo>
                      <a:pt x="334092" y="0"/>
                    </a:moveTo>
                    <a:lnTo>
                      <a:pt x="334092" y="17853"/>
                    </a:lnTo>
                    <a:lnTo>
                      <a:pt x="345478" y="17853"/>
                    </a:lnTo>
                    <a:lnTo>
                      <a:pt x="345478" y="30149"/>
                    </a:lnTo>
                    <a:lnTo>
                      <a:pt x="334211" y="30149"/>
                    </a:lnTo>
                    <a:lnTo>
                      <a:pt x="334211" y="58170"/>
                    </a:lnTo>
                    <a:cubicBezTo>
                      <a:pt x="334211" y="62545"/>
                      <a:pt x="336274" y="64594"/>
                      <a:pt x="340122" y="64594"/>
                    </a:cubicBezTo>
                    <a:cubicBezTo>
                      <a:pt x="342103" y="64652"/>
                      <a:pt x="344075" y="64303"/>
                      <a:pt x="345914" y="63569"/>
                    </a:cubicBezTo>
                    <a:lnTo>
                      <a:pt x="345914" y="76457"/>
                    </a:lnTo>
                    <a:cubicBezTo>
                      <a:pt x="342877" y="77282"/>
                      <a:pt x="339740" y="77693"/>
                      <a:pt x="336591" y="77678"/>
                    </a:cubicBezTo>
                    <a:cubicBezTo>
                      <a:pt x="323657" y="77678"/>
                      <a:pt x="317508" y="71806"/>
                      <a:pt x="317508" y="59865"/>
                    </a:cubicBezTo>
                    <a:lnTo>
                      <a:pt x="317508" y="30149"/>
                    </a:lnTo>
                    <a:lnTo>
                      <a:pt x="310565" y="30149"/>
                    </a:lnTo>
                    <a:lnTo>
                      <a:pt x="310565" y="17853"/>
                    </a:lnTo>
                    <a:lnTo>
                      <a:pt x="317389" y="17853"/>
                    </a:lnTo>
                    <a:lnTo>
                      <a:pt x="317389" y="6779"/>
                    </a:lnTo>
                    <a:close/>
                    <a:moveTo>
                      <a:pt x="407964" y="76890"/>
                    </a:moveTo>
                    <a:lnTo>
                      <a:pt x="391499" y="76890"/>
                    </a:lnTo>
                    <a:lnTo>
                      <a:pt x="391499" y="68220"/>
                    </a:lnTo>
                    <a:cubicBezTo>
                      <a:pt x="388269" y="74666"/>
                      <a:pt x="381477" y="78574"/>
                      <a:pt x="374241" y="78151"/>
                    </a:cubicBezTo>
                    <a:cubicBezTo>
                      <a:pt x="363529" y="78151"/>
                      <a:pt x="355714" y="71688"/>
                      <a:pt x="355714" y="57815"/>
                    </a:cubicBezTo>
                    <a:lnTo>
                      <a:pt x="355714" y="17853"/>
                    </a:lnTo>
                    <a:lnTo>
                      <a:pt x="372416" y="17853"/>
                    </a:lnTo>
                    <a:lnTo>
                      <a:pt x="372416" y="55333"/>
                    </a:lnTo>
                    <a:cubicBezTo>
                      <a:pt x="372416" y="62111"/>
                      <a:pt x="375154" y="65264"/>
                      <a:pt x="381065" y="65264"/>
                    </a:cubicBezTo>
                    <a:cubicBezTo>
                      <a:pt x="386580" y="65534"/>
                      <a:pt x="391271" y="61311"/>
                      <a:pt x="391542" y="55832"/>
                    </a:cubicBezTo>
                    <a:cubicBezTo>
                      <a:pt x="391567" y="55324"/>
                      <a:pt x="391553" y="54814"/>
                      <a:pt x="391499" y="54308"/>
                    </a:cubicBezTo>
                    <a:lnTo>
                      <a:pt x="391499" y="17853"/>
                    </a:lnTo>
                    <a:lnTo>
                      <a:pt x="408083" y="17853"/>
                    </a:lnTo>
                    <a:close/>
                    <a:moveTo>
                      <a:pt x="419866" y="17774"/>
                    </a:moveTo>
                    <a:lnTo>
                      <a:pt x="436489" y="17774"/>
                    </a:lnTo>
                    <a:lnTo>
                      <a:pt x="436489" y="28612"/>
                    </a:lnTo>
                    <a:cubicBezTo>
                      <a:pt x="439068" y="21134"/>
                      <a:pt x="446360" y="16292"/>
                      <a:pt x="454303" y="16789"/>
                    </a:cubicBezTo>
                    <a:lnTo>
                      <a:pt x="454303" y="33026"/>
                    </a:lnTo>
                    <a:cubicBezTo>
                      <a:pt x="443075" y="33026"/>
                      <a:pt x="436489" y="36415"/>
                      <a:pt x="436489" y="46268"/>
                    </a:cubicBezTo>
                    <a:lnTo>
                      <a:pt x="436489" y="76614"/>
                    </a:lnTo>
                    <a:lnTo>
                      <a:pt x="420144" y="76614"/>
                    </a:lnTo>
                    <a:close/>
                    <a:moveTo>
                      <a:pt x="488422" y="78073"/>
                    </a:moveTo>
                    <a:cubicBezTo>
                      <a:pt x="471243" y="78073"/>
                      <a:pt x="459540" y="67905"/>
                      <a:pt x="459540" y="48239"/>
                    </a:cubicBezTo>
                    <a:lnTo>
                      <a:pt x="459540" y="47135"/>
                    </a:lnTo>
                    <a:cubicBezTo>
                      <a:pt x="459540" y="27430"/>
                      <a:pt x="471957" y="16513"/>
                      <a:pt x="487867" y="16513"/>
                    </a:cubicBezTo>
                    <a:cubicBezTo>
                      <a:pt x="502625" y="16513"/>
                      <a:pt x="515003" y="24750"/>
                      <a:pt x="515003" y="44298"/>
                    </a:cubicBezTo>
                    <a:lnTo>
                      <a:pt x="515003" y="51431"/>
                    </a:lnTo>
                    <a:lnTo>
                      <a:pt x="476361" y="51431"/>
                    </a:lnTo>
                    <a:cubicBezTo>
                      <a:pt x="477075" y="62032"/>
                      <a:pt x="481598" y="66092"/>
                      <a:pt x="488779" y="66092"/>
                    </a:cubicBezTo>
                    <a:cubicBezTo>
                      <a:pt x="493873" y="66664"/>
                      <a:pt x="498614" y="63419"/>
                      <a:pt x="499888" y="58485"/>
                    </a:cubicBezTo>
                    <a:lnTo>
                      <a:pt x="515202" y="58485"/>
                    </a:lnTo>
                    <a:cubicBezTo>
                      <a:pt x="513496" y="69678"/>
                      <a:pt x="504291" y="78151"/>
                      <a:pt x="488700" y="78151"/>
                    </a:cubicBezTo>
                    <a:close/>
                    <a:moveTo>
                      <a:pt x="476520" y="40475"/>
                    </a:moveTo>
                    <a:lnTo>
                      <a:pt x="498817" y="40475"/>
                    </a:lnTo>
                    <a:cubicBezTo>
                      <a:pt x="498459" y="31765"/>
                      <a:pt x="494492" y="28060"/>
                      <a:pt x="487906" y="28060"/>
                    </a:cubicBezTo>
                    <a:cubicBezTo>
                      <a:pt x="483026" y="28139"/>
                      <a:pt x="478266" y="30937"/>
                      <a:pt x="476877" y="40554"/>
                    </a:cubicBezTo>
                    <a:close/>
                  </a:path>
                </a:pathLst>
              </a:custGeom>
              <a:solidFill>
                <a:srgbClr val="000000"/>
              </a:solidFill>
              <a:ln w="393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Graphik" panose="020B0503030202060203" pitchFamily="34" charset="0"/>
                </a:endParaRPr>
              </a:p>
            </p:txBody>
          </p:sp>
        </p:grpSp>
      </p:grpSp>
    </p:spTree>
    <p:extLst>
      <p:ext uri="{BB962C8B-B14F-4D97-AF65-F5344CB8AC3E}">
        <p14:creationId xmlns:p14="http://schemas.microsoft.com/office/powerpoint/2010/main" val="27283138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pic>
        <p:nvPicPr>
          <p:cNvPr id="6" name="Picture Placeholder 17">
            <a:extLst>
              <a:ext uri="{FF2B5EF4-FFF2-40B4-BE49-F238E27FC236}">
                <a16:creationId xmlns:a16="http://schemas.microsoft.com/office/drawing/2014/main" id="{34AD7E65-4338-77E1-9DF2-8440720A02F5}"/>
              </a:ext>
            </a:extLst>
          </p:cNvPr>
          <p:cNvPicPr>
            <a:picLocks noGrp="1" noRot="1" noChangeAspect="1" noMove="1" noResize="1" noEditPoints="1" noAdjustHandles="1" noChangeArrowheads="1" noChangeShapeType="1" noCrop="1"/>
          </p:cNvPicPr>
          <p:nvPr userDrawn="1"/>
        </p:nvPicPr>
        <p:blipFill rotWithShape="1">
          <a:blip r:embed="rId2">
            <a:extLst>
              <a:ext uri="{28A0092B-C50C-407E-A947-70E740481C1C}">
                <a14:useLocalDpi xmlns:a14="http://schemas.microsoft.com/office/drawing/2010/main" val="0"/>
              </a:ext>
            </a:extLst>
          </a:blip>
          <a:srcRect t="11380" b="3773"/>
          <a:stretch/>
        </p:blipFill>
        <p:spPr>
          <a:xfrm>
            <a:off x="0" y="0"/>
            <a:ext cx="12192000" cy="6858000"/>
          </a:xfrm>
          <a:prstGeom prst="rect">
            <a:avLst/>
          </a:prstGeom>
        </p:spPr>
      </p:pic>
      <p:sp>
        <p:nvSpPr>
          <p:cNvPr id="13" name="Text Placeholder 12">
            <a:extLst>
              <a:ext uri="{FF2B5EF4-FFF2-40B4-BE49-F238E27FC236}">
                <a16:creationId xmlns:a16="http://schemas.microsoft.com/office/drawing/2014/main" id="{7124370A-DAD1-7BDC-E343-ED6CFC57FB8A}"/>
              </a:ext>
            </a:extLst>
          </p:cNvPr>
          <p:cNvSpPr>
            <a:spLocks noGrp="1"/>
          </p:cNvSpPr>
          <p:nvPr>
            <p:ph type="body" sz="quarter" idx="11"/>
          </p:nvPr>
        </p:nvSpPr>
        <p:spPr>
          <a:xfrm>
            <a:off x="3225800" y="2330450"/>
            <a:ext cx="7208838" cy="3262313"/>
          </a:xfrm>
        </p:spPr>
        <p:txBody>
          <a:bodyPr/>
          <a:lstStyle>
            <a:lvl1pPr marL="0" indent="0">
              <a:buNone/>
              <a:defRPr sz="4000">
                <a:solidFill>
                  <a:schemeClr val="bg1"/>
                </a:solidFill>
              </a:defRPr>
            </a:lvl1pPr>
            <a:lvl2pPr marL="800100" indent="-342900">
              <a:buFont typeface="Arial" panose="020B0604020202020204" pitchFamily="34" charset="0"/>
              <a:buChar char="•"/>
              <a:defRPr sz="2400">
                <a:solidFill>
                  <a:schemeClr val="bg1"/>
                </a:solidFill>
              </a:defRPr>
            </a:lvl2pPr>
            <a:lvl3pPr marL="914400" indent="0">
              <a:buNone/>
              <a:defRPr sz="2400">
                <a:solidFill>
                  <a:schemeClr val="bg1"/>
                </a:solidFill>
              </a:defRPr>
            </a:lvl3pPr>
            <a:lvl4pPr marL="1371600" indent="0">
              <a:buNone/>
              <a:defRPr sz="2400">
                <a:solidFill>
                  <a:schemeClr val="bg1"/>
                </a:solidFill>
              </a:defRPr>
            </a:lvl4pPr>
            <a:lvl5pPr marL="1828800" indent="0">
              <a:buNone/>
              <a:defRPr sz="2400">
                <a:solidFill>
                  <a:schemeClr val="bg1"/>
                </a:solidFill>
              </a:defRPr>
            </a:lvl5pPr>
          </a:lstStyle>
          <a:p>
            <a:pPr lvl="0"/>
            <a:r>
              <a:rPr lang="en-US"/>
              <a:t>Click to edit Master text styles</a:t>
            </a:r>
          </a:p>
          <a:p>
            <a:pPr lvl="1"/>
            <a:r>
              <a:rPr lang="en-US"/>
              <a:t>Second level</a:t>
            </a:r>
          </a:p>
        </p:txBody>
      </p:sp>
      <p:pic>
        <p:nvPicPr>
          <p:cNvPr id="2" name="Picture 1">
            <a:extLst>
              <a:ext uri="{FF2B5EF4-FFF2-40B4-BE49-F238E27FC236}">
                <a16:creationId xmlns:a16="http://schemas.microsoft.com/office/drawing/2014/main" id="{F29DF5B8-CA2B-E0C3-A974-AE34A02B44E4}"/>
              </a:ext>
            </a:extLst>
          </p:cNvPr>
          <p:cNvPicPr/>
          <p:nvPr userDrawn="1"/>
        </p:nvPicPr>
        <p:blipFill>
          <a:blip r:embed="rId3"/>
          <a:srcRect/>
          <a:stretch/>
        </p:blipFill>
        <p:spPr>
          <a:xfrm>
            <a:off x="10595562" y="5908814"/>
            <a:ext cx="1458453" cy="1126986"/>
          </a:xfrm>
          <a:prstGeom prst="rect">
            <a:avLst/>
          </a:prstGeom>
        </p:spPr>
      </p:pic>
    </p:spTree>
    <p:extLst>
      <p:ext uri="{BB962C8B-B14F-4D97-AF65-F5344CB8AC3E}">
        <p14:creationId xmlns:p14="http://schemas.microsoft.com/office/powerpoint/2010/main" val="36423650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Title Slide with phot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1755648" y="1371600"/>
            <a:ext cx="4538790" cy="4537424"/>
          </a:xfrm>
          <a:solidFill>
            <a:schemeClr val="bg2"/>
          </a:solidFill>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6928374" y="2114401"/>
            <a:ext cx="5000713" cy="1813418"/>
          </a:xfrm>
        </p:spPr>
        <p:txBody>
          <a:bodyPr anchor="b">
            <a:noAutofit/>
          </a:bodyPr>
          <a:lstStyle>
            <a:lvl1pPr algn="l">
              <a:defRPr sz="4000">
                <a:solidFill>
                  <a:schemeClr val="tx2"/>
                </a:solidFill>
              </a:defRPr>
            </a:lvl1pPr>
          </a:lstStyle>
          <a:p>
            <a:r>
              <a:rPr lang="en-US"/>
              <a:t>Click to edit Master title style</a:t>
            </a:r>
          </a:p>
        </p:txBody>
      </p:sp>
      <p:sp>
        <p:nvSpPr>
          <p:cNvPr id="12" name="Subtitle 2">
            <a:extLst>
              <a:ext uri="{FF2B5EF4-FFF2-40B4-BE49-F238E27FC236}">
                <a16:creationId xmlns:a16="http://schemas.microsoft.com/office/drawing/2014/main" id="{558AE939-8E03-4C31-9D66-970A23FF82A3}"/>
              </a:ext>
            </a:extLst>
          </p:cNvPr>
          <p:cNvSpPr>
            <a:spLocks noGrp="1"/>
          </p:cNvSpPr>
          <p:nvPr>
            <p:ph type="subTitle" idx="1"/>
          </p:nvPr>
        </p:nvSpPr>
        <p:spPr>
          <a:xfrm>
            <a:off x="6928375" y="4154873"/>
            <a:ext cx="5009626" cy="70014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Date Placeholder 6">
            <a:extLst>
              <a:ext uri="{FF2B5EF4-FFF2-40B4-BE49-F238E27FC236}">
                <a16:creationId xmlns:a16="http://schemas.microsoft.com/office/drawing/2014/main" id="{FD0DC7B5-8BAB-4E77-9FE9-D37D81327091}"/>
              </a:ext>
            </a:extLst>
          </p:cNvPr>
          <p:cNvSpPr>
            <a:spLocks noGrp="1" noChangeAspect="1"/>
          </p:cNvSpPr>
          <p:nvPr>
            <p:ph type="dt" sz="half" idx="11"/>
          </p:nvPr>
        </p:nvSpPr>
        <p:spPr>
          <a:xfrm>
            <a:off x="384048" y="0"/>
            <a:ext cx="1371600" cy="1371600"/>
          </a:xfrm>
          <a:solidFill>
            <a:schemeClr val="tx2"/>
          </a:solidFill>
        </p:spPr>
        <p:txBody>
          <a:bodyPr lIns="91440" tIns="91440" rIns="91440" bIns="91440"/>
          <a:lstStyle>
            <a:lvl1pPr algn="ctr">
              <a:defRPr>
                <a:solidFill>
                  <a:schemeClr val="bg1"/>
                </a:solidFill>
              </a:defRPr>
            </a:lvl1pPr>
          </a:lstStyle>
          <a:p>
            <a:endParaRPr lang="en-US"/>
          </a:p>
        </p:txBody>
      </p:sp>
    </p:spTree>
    <p:extLst>
      <p:ext uri="{BB962C8B-B14F-4D97-AF65-F5344CB8AC3E}">
        <p14:creationId xmlns:p14="http://schemas.microsoft.com/office/powerpoint/2010/main" val="8275940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Pictur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0" y="0"/>
            <a:ext cx="12192000" cy="6254496"/>
          </a:xfrm>
          <a:solidFill>
            <a:schemeClr val="bg2"/>
          </a:solidFill>
        </p:spPr>
        <p:txBody>
          <a:bodyPr wrap="none" anchor="ctr">
            <a:noAutofit/>
          </a:bodyPr>
          <a:lstStyle>
            <a:lvl1pPr algn="ctr">
              <a:defRPr/>
            </a:lvl1pPr>
          </a:lstStyle>
          <a:p>
            <a:r>
              <a:rPr lang="en-US"/>
              <a:t>Click icon to add picture</a:t>
            </a:r>
          </a:p>
        </p:txBody>
      </p:sp>
      <p:sp>
        <p:nvSpPr>
          <p:cNvPr id="14" name="Date Placeholder 13">
            <a:extLst>
              <a:ext uri="{FF2B5EF4-FFF2-40B4-BE49-F238E27FC236}">
                <a16:creationId xmlns:a16="http://schemas.microsoft.com/office/drawing/2014/main" id="{882AFEBB-BCB0-46C2-BCCD-B894557C4711}"/>
              </a:ext>
            </a:extLst>
          </p:cNvPr>
          <p:cNvSpPr>
            <a:spLocks noGrp="1"/>
          </p:cNvSpPr>
          <p:nvPr>
            <p:ph type="dt" sz="half" idx="16"/>
          </p:nvPr>
        </p:nvSpPr>
        <p:spPr/>
        <p:txBody>
          <a:bodyPr/>
          <a:lstStyle/>
          <a:p>
            <a:endParaRPr lang="en-US"/>
          </a:p>
        </p:txBody>
      </p:sp>
      <p:sp>
        <p:nvSpPr>
          <p:cNvPr id="15" name="Footer Placeholder 14">
            <a:extLst>
              <a:ext uri="{FF2B5EF4-FFF2-40B4-BE49-F238E27FC236}">
                <a16:creationId xmlns:a16="http://schemas.microsoft.com/office/drawing/2014/main" id="{314B59BC-6F59-44F6-865C-5D73C67871D0}"/>
              </a:ext>
            </a:extLst>
          </p:cNvPr>
          <p:cNvSpPr>
            <a:spLocks noGrp="1"/>
          </p:cNvSpPr>
          <p:nvPr>
            <p:ph type="ftr" sz="quarter" idx="17"/>
          </p:nvPr>
        </p:nvSpPr>
        <p:spPr/>
        <p:txBody>
          <a:bodyPr/>
          <a:lstStyle/>
          <a:p>
            <a:endParaRPr lang="en-US"/>
          </a:p>
        </p:txBody>
      </p:sp>
      <p:sp>
        <p:nvSpPr>
          <p:cNvPr id="16" name="Slide Number Placeholder 15">
            <a:extLst>
              <a:ext uri="{FF2B5EF4-FFF2-40B4-BE49-F238E27FC236}">
                <a16:creationId xmlns:a16="http://schemas.microsoft.com/office/drawing/2014/main" id="{EA5DA748-59EA-4E36-B955-E105B32320FF}"/>
              </a:ext>
            </a:extLst>
          </p:cNvPr>
          <p:cNvSpPr>
            <a:spLocks noGrp="1"/>
          </p:cNvSpPr>
          <p:nvPr>
            <p:ph type="sldNum" sz="quarter" idx="18"/>
          </p:nvPr>
        </p:nvSpPr>
        <p:spPr/>
        <p:txBody>
          <a:bodyPr/>
          <a:lstStyle/>
          <a:p>
            <a:fld id="{3CBD822F-ED39-4FC2-B5B5-D2EAB6238DC3}" type="slidenum">
              <a:rPr lang="en-US" smtClean="0"/>
              <a:pPr/>
              <a:t>‹#›</a:t>
            </a:fld>
            <a:endParaRPr lang="en-US"/>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1755647" y="1374775"/>
            <a:ext cx="4064000" cy="4064000"/>
          </a:xfrm>
          <a:solidFill>
            <a:schemeClr val="bg1">
              <a:alpha val="93000"/>
            </a:schemeClr>
          </a:solidFill>
        </p:spPr>
        <p:txBody>
          <a:bodyPr lIns="274320" tIns="274320" rIns="274320" bIns="274320" anchor="b">
            <a:normAutofit/>
          </a:bodyPr>
          <a:lstStyle>
            <a:lvl1pPr algn="l">
              <a:defRPr sz="4000">
                <a:solidFill>
                  <a:schemeClr val="tx2"/>
                </a:solidFill>
              </a:defRPr>
            </a:lvl1pPr>
          </a:lstStyle>
          <a:p>
            <a:r>
              <a:rPr lang="en-US"/>
              <a:t>Click to edit Master title style</a:t>
            </a:r>
          </a:p>
        </p:txBody>
      </p:sp>
      <p:sp>
        <p:nvSpPr>
          <p:cNvPr id="7" name="Text Placeholder 9">
            <a:extLst>
              <a:ext uri="{FF2B5EF4-FFF2-40B4-BE49-F238E27FC236}">
                <a16:creationId xmlns:a16="http://schemas.microsoft.com/office/drawing/2014/main" id="{90E10410-993C-449B-A55D-C84ED3802C3D}"/>
              </a:ext>
            </a:extLst>
          </p:cNvPr>
          <p:cNvSpPr>
            <a:spLocks noGrp="1" noChangeAspect="1"/>
          </p:cNvSpPr>
          <p:nvPr>
            <p:ph type="body" sz="quarter" idx="15"/>
          </p:nvPr>
        </p:nvSpPr>
        <p:spPr>
          <a:xfrm>
            <a:off x="384047" y="-1905"/>
            <a:ext cx="1371600" cy="1371600"/>
          </a:xfrm>
          <a:solidFill>
            <a:schemeClr val="tx2"/>
          </a:solid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668003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3_Pictur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D008935-A73A-4449-92D6-12BCF20AEC9B}"/>
              </a:ext>
            </a:extLst>
          </p:cNvPr>
          <p:cNvSpPr>
            <a:spLocks noGrp="1" noChangeAspect="1"/>
          </p:cNvSpPr>
          <p:nvPr>
            <p:ph type="pic" sz="quarter" idx="10"/>
          </p:nvPr>
        </p:nvSpPr>
        <p:spPr>
          <a:xfrm>
            <a:off x="1755648" y="1371600"/>
            <a:ext cx="4544568" cy="4544568"/>
          </a:xfrm>
          <a:solidFill>
            <a:schemeClr val="bg2"/>
          </a:solidFill>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F9E36B6-FFE3-4DE7-A79B-C7DF77E061C8}"/>
              </a:ext>
            </a:extLst>
          </p:cNvPr>
          <p:cNvSpPr>
            <a:spLocks noGrp="1"/>
          </p:cNvSpPr>
          <p:nvPr>
            <p:ph type="ctrTitle"/>
          </p:nvPr>
        </p:nvSpPr>
        <p:spPr>
          <a:xfrm>
            <a:off x="6675120" y="1435545"/>
            <a:ext cx="5129784" cy="857250"/>
          </a:xfrm>
        </p:spPr>
        <p:txBody>
          <a:bodyPr anchor="b">
            <a:normAutofit/>
          </a:bodyPr>
          <a:lstStyle>
            <a:lvl1pPr algn="l">
              <a:defRPr sz="2800">
                <a:solidFill>
                  <a:schemeClr val="tx2"/>
                </a:solidFill>
              </a:defRPr>
            </a:lvl1pPr>
          </a:lstStyle>
          <a:p>
            <a:r>
              <a:rPr lang="en-US"/>
              <a:t>Click to edit Master title style</a:t>
            </a:r>
          </a:p>
        </p:txBody>
      </p:sp>
      <p:sp>
        <p:nvSpPr>
          <p:cNvPr id="10" name="Text Placeholder 9">
            <a:extLst>
              <a:ext uri="{FF2B5EF4-FFF2-40B4-BE49-F238E27FC236}">
                <a16:creationId xmlns:a16="http://schemas.microsoft.com/office/drawing/2014/main" id="{884694F1-51CC-436E-BC18-35F2B5ACF5D6}"/>
              </a:ext>
            </a:extLst>
          </p:cNvPr>
          <p:cNvSpPr>
            <a:spLocks noGrp="1"/>
          </p:cNvSpPr>
          <p:nvPr>
            <p:ph type="body" sz="quarter" idx="14"/>
          </p:nvPr>
        </p:nvSpPr>
        <p:spPr>
          <a:xfrm>
            <a:off x="6675120" y="2423159"/>
            <a:ext cx="5129784" cy="3497877"/>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9">
            <a:extLst>
              <a:ext uri="{FF2B5EF4-FFF2-40B4-BE49-F238E27FC236}">
                <a16:creationId xmlns:a16="http://schemas.microsoft.com/office/drawing/2014/main" id="{4E7FE4F7-337B-42FA-8ADE-F89909039F87}"/>
              </a:ext>
            </a:extLst>
          </p:cNvPr>
          <p:cNvSpPr>
            <a:spLocks noGrp="1" noChangeAspect="1"/>
          </p:cNvSpPr>
          <p:nvPr>
            <p:ph type="body" sz="quarter" idx="15"/>
          </p:nvPr>
        </p:nvSpPr>
        <p:spPr>
          <a:xfrm>
            <a:off x="384047" y="-1905"/>
            <a:ext cx="1371600" cy="1371600"/>
          </a:xfrm>
          <a:solidFill>
            <a:schemeClr val="tx2"/>
          </a:solidFill>
        </p:spPr>
        <p:txBody>
          <a:bodyPr lIns="91440" tIns="91440" rIns="91440" bIns="91440" anchor="b">
            <a:normAutofit/>
          </a:bodyPr>
          <a:lstStyle>
            <a:lvl1pPr marL="0" indent="0" algn="ctr">
              <a:buNone/>
              <a:defRPr sz="900" b="0">
                <a:solidFill>
                  <a:schemeClr val="bg1"/>
                </a:solidFill>
              </a:defRPr>
            </a:lvl1pPr>
            <a:lvl2pPr marL="457200" indent="0" algn="ctr">
              <a:buNone/>
              <a:defRPr sz="900">
                <a:solidFill>
                  <a:schemeClr val="bg1"/>
                </a:solidFill>
              </a:defRPr>
            </a:lvl2pPr>
            <a:lvl3pPr marL="914400" indent="0" algn="ctr">
              <a:buNone/>
              <a:defRPr sz="900">
                <a:solidFill>
                  <a:schemeClr val="bg1"/>
                </a:solidFill>
              </a:defRPr>
            </a:lvl3pPr>
            <a:lvl4pPr marL="1371600" indent="0" algn="ctr">
              <a:buNone/>
              <a:defRPr sz="900">
                <a:solidFill>
                  <a:schemeClr val="bg1"/>
                </a:solidFill>
              </a:defRPr>
            </a:lvl4pPr>
            <a:lvl5pPr marL="1828800" indent="0" algn="ctr">
              <a:buNone/>
              <a:defRPr sz="900">
                <a:solidFill>
                  <a:schemeClr val="bg1"/>
                </a:solidFill>
              </a:defRPr>
            </a:lvl5pPr>
          </a:lstStyle>
          <a:p>
            <a:pPr lvl="0"/>
            <a:r>
              <a:rPr lang="en-US"/>
              <a:t>Click to edit Master text styles</a:t>
            </a:r>
          </a:p>
        </p:txBody>
      </p:sp>
      <p:sp>
        <p:nvSpPr>
          <p:cNvPr id="12" name="Date Placeholder 11">
            <a:extLst>
              <a:ext uri="{FF2B5EF4-FFF2-40B4-BE49-F238E27FC236}">
                <a16:creationId xmlns:a16="http://schemas.microsoft.com/office/drawing/2014/main" id="{6BFDD46C-A566-49B2-A318-226843D04D52}"/>
              </a:ext>
            </a:extLst>
          </p:cNvPr>
          <p:cNvSpPr>
            <a:spLocks noGrp="1"/>
          </p:cNvSpPr>
          <p:nvPr>
            <p:ph type="dt" sz="half" idx="16"/>
          </p:nvPr>
        </p:nvSpPr>
        <p:spPr/>
        <p:txBody>
          <a:bodyPr/>
          <a:lstStyle/>
          <a:p>
            <a:endParaRPr lang="en-US"/>
          </a:p>
        </p:txBody>
      </p:sp>
      <p:sp>
        <p:nvSpPr>
          <p:cNvPr id="16" name="Footer Placeholder 15">
            <a:extLst>
              <a:ext uri="{FF2B5EF4-FFF2-40B4-BE49-F238E27FC236}">
                <a16:creationId xmlns:a16="http://schemas.microsoft.com/office/drawing/2014/main" id="{5B7C9032-4AEB-485D-919C-03DC0C7F4948}"/>
              </a:ext>
            </a:extLst>
          </p:cNvPr>
          <p:cNvSpPr>
            <a:spLocks noGrp="1"/>
          </p:cNvSpPr>
          <p:nvPr>
            <p:ph type="ftr" sz="quarter" idx="17"/>
          </p:nvPr>
        </p:nvSpPr>
        <p:spPr/>
        <p:txBody>
          <a:bodyPr/>
          <a:lstStyle/>
          <a:p>
            <a:endParaRPr lang="en-US"/>
          </a:p>
        </p:txBody>
      </p:sp>
      <p:sp>
        <p:nvSpPr>
          <p:cNvPr id="17" name="Slide Number Placeholder 16">
            <a:extLst>
              <a:ext uri="{FF2B5EF4-FFF2-40B4-BE49-F238E27FC236}">
                <a16:creationId xmlns:a16="http://schemas.microsoft.com/office/drawing/2014/main" id="{C4BA98A5-9D78-40E5-BB3F-05201E69D878}"/>
              </a:ext>
            </a:extLst>
          </p:cNvPr>
          <p:cNvSpPr>
            <a:spLocks noGrp="1"/>
          </p:cNvSpPr>
          <p:nvPr>
            <p:ph type="sldNum" sz="quarter" idx="18"/>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10293494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Executive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1E07F-ADCB-4879-ADBB-94F04C86A8CD}"/>
              </a:ext>
            </a:extLst>
          </p:cNvPr>
          <p:cNvSpPr>
            <a:spLocks noGrp="1"/>
          </p:cNvSpPr>
          <p:nvPr>
            <p:ph type="title"/>
          </p:nvPr>
        </p:nvSpPr>
        <p:spPr/>
        <p:txBody>
          <a:bodyPr/>
          <a:lstStyle/>
          <a:p>
            <a:r>
              <a:rPr lang="en-US"/>
              <a:t>Click to edit Master title style</a:t>
            </a:r>
          </a:p>
        </p:txBody>
      </p:sp>
      <p:sp>
        <p:nvSpPr>
          <p:cNvPr id="5" name="Table Placeholder 4">
            <a:extLst>
              <a:ext uri="{FF2B5EF4-FFF2-40B4-BE49-F238E27FC236}">
                <a16:creationId xmlns:a16="http://schemas.microsoft.com/office/drawing/2014/main" id="{183FDF11-03E0-40A5-BFCA-F6B60D099601}"/>
              </a:ext>
            </a:extLst>
          </p:cNvPr>
          <p:cNvSpPr>
            <a:spLocks noGrp="1"/>
          </p:cNvSpPr>
          <p:nvPr>
            <p:ph type="tbl" sz="quarter" idx="13"/>
          </p:nvPr>
        </p:nvSpPr>
        <p:spPr>
          <a:xfrm>
            <a:off x="384048" y="1298448"/>
            <a:ext cx="11430000" cy="4727448"/>
          </a:xfrm>
        </p:spPr>
        <p:txBody>
          <a:bodyPr/>
          <a:lstStyle/>
          <a:p>
            <a:r>
              <a:rPr lang="en-US"/>
              <a:t>Click icon to add table</a:t>
            </a:r>
          </a:p>
        </p:txBody>
      </p:sp>
      <p:sp>
        <p:nvSpPr>
          <p:cNvPr id="10" name="Date Placeholder 9">
            <a:extLst>
              <a:ext uri="{FF2B5EF4-FFF2-40B4-BE49-F238E27FC236}">
                <a16:creationId xmlns:a16="http://schemas.microsoft.com/office/drawing/2014/main" id="{9F00D4C4-5920-4E4C-B44B-E524B2BA6983}"/>
              </a:ext>
            </a:extLst>
          </p:cNvPr>
          <p:cNvSpPr>
            <a:spLocks noGrp="1"/>
          </p:cNvSpPr>
          <p:nvPr>
            <p:ph type="dt" sz="half" idx="14"/>
          </p:nvPr>
        </p:nvSpPr>
        <p:spPr/>
        <p:txBody>
          <a:bodyPr/>
          <a:lstStyle/>
          <a:p>
            <a:endParaRPr lang="en-US"/>
          </a:p>
        </p:txBody>
      </p:sp>
      <p:sp>
        <p:nvSpPr>
          <p:cNvPr id="11" name="Footer Placeholder 10">
            <a:extLst>
              <a:ext uri="{FF2B5EF4-FFF2-40B4-BE49-F238E27FC236}">
                <a16:creationId xmlns:a16="http://schemas.microsoft.com/office/drawing/2014/main" id="{C0FAB686-89E6-43A6-9874-8E3BA3735B1E}"/>
              </a:ext>
            </a:extLst>
          </p:cNvPr>
          <p:cNvSpPr>
            <a:spLocks noGrp="1"/>
          </p:cNvSpPr>
          <p:nvPr>
            <p:ph type="ftr" sz="quarter" idx="15"/>
          </p:nvPr>
        </p:nvSpPr>
        <p:spPr/>
        <p:txBody>
          <a:bodyPr/>
          <a:lstStyle/>
          <a:p>
            <a:endParaRPr lang="en-US"/>
          </a:p>
        </p:txBody>
      </p:sp>
      <p:sp>
        <p:nvSpPr>
          <p:cNvPr id="12" name="Slide Number Placeholder 11">
            <a:extLst>
              <a:ext uri="{FF2B5EF4-FFF2-40B4-BE49-F238E27FC236}">
                <a16:creationId xmlns:a16="http://schemas.microsoft.com/office/drawing/2014/main" id="{A483A1A4-F005-47B5-B97D-30454D5A20EC}"/>
              </a:ext>
            </a:extLst>
          </p:cNvPr>
          <p:cNvSpPr>
            <a:spLocks noGrp="1"/>
          </p:cNvSpPr>
          <p:nvPr>
            <p:ph type="sldNum" sz="quarter" idx="16"/>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7610285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21735CF-D95C-40DA-81C8-78A8EE2BF6E6}"/>
              </a:ext>
            </a:extLst>
          </p:cNvPr>
          <p:cNvSpPr>
            <a:spLocks noGrp="1"/>
          </p:cNvSpPr>
          <p:nvPr>
            <p:ph type="body" idx="1"/>
          </p:nvPr>
        </p:nvSpPr>
        <p:spPr>
          <a:xfrm>
            <a:off x="384046"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DB630D-AB45-4AB4-A735-78668B628A8D}"/>
              </a:ext>
            </a:extLst>
          </p:cNvPr>
          <p:cNvSpPr>
            <a:spLocks noGrp="1"/>
          </p:cNvSpPr>
          <p:nvPr>
            <p:ph sz="half" idx="2"/>
          </p:nvPr>
        </p:nvSpPr>
        <p:spPr>
          <a:xfrm>
            <a:off x="384046"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BB0A25-DE4F-4426-9983-567310E5224D}"/>
              </a:ext>
            </a:extLst>
          </p:cNvPr>
          <p:cNvSpPr>
            <a:spLocks noGrp="1"/>
          </p:cNvSpPr>
          <p:nvPr>
            <p:ph type="body" sz="quarter" idx="3"/>
          </p:nvPr>
        </p:nvSpPr>
        <p:spPr>
          <a:xfrm>
            <a:off x="6172199" y="1143953"/>
            <a:ext cx="5577840" cy="823912"/>
          </a:xfrm>
        </p:spPr>
        <p:txBody>
          <a:bodyPr anchor="b">
            <a:normAutofit/>
          </a:bodyPr>
          <a:lstStyle>
            <a:lvl1pPr marL="0" indent="0">
              <a:buNone/>
              <a:defRPr sz="28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5E150C-F172-4212-848B-D99E37AC7889}"/>
              </a:ext>
            </a:extLst>
          </p:cNvPr>
          <p:cNvSpPr>
            <a:spLocks noGrp="1"/>
          </p:cNvSpPr>
          <p:nvPr>
            <p:ph sz="quarter" idx="4"/>
          </p:nvPr>
        </p:nvSpPr>
        <p:spPr>
          <a:xfrm>
            <a:off x="6172199" y="2086608"/>
            <a:ext cx="5577840" cy="4028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BB202358-E0C0-45A3-A206-BE2E6FD21018}"/>
              </a:ext>
            </a:extLst>
          </p:cNvPr>
          <p:cNvSpPr>
            <a:spLocks noGrp="1"/>
          </p:cNvSpPr>
          <p:nvPr>
            <p:ph type="title"/>
          </p:nvPr>
        </p:nvSpPr>
        <p:spPr/>
        <p:txBody>
          <a:bodyPr/>
          <a:lstStyle/>
          <a:p>
            <a:r>
              <a:rPr lang="en-US"/>
              <a:t>Click to edit Master title style</a:t>
            </a:r>
          </a:p>
        </p:txBody>
      </p:sp>
      <p:sp>
        <p:nvSpPr>
          <p:cNvPr id="16" name="Date Placeholder 15">
            <a:extLst>
              <a:ext uri="{FF2B5EF4-FFF2-40B4-BE49-F238E27FC236}">
                <a16:creationId xmlns:a16="http://schemas.microsoft.com/office/drawing/2014/main" id="{8952C853-9EFE-4F60-BAC5-120852F565BA}"/>
              </a:ext>
            </a:extLst>
          </p:cNvPr>
          <p:cNvSpPr>
            <a:spLocks noGrp="1"/>
          </p:cNvSpPr>
          <p:nvPr>
            <p:ph type="dt" sz="half" idx="10"/>
          </p:nvPr>
        </p:nvSpPr>
        <p:spPr/>
        <p:txBody>
          <a:bodyPr/>
          <a:lstStyle/>
          <a:p>
            <a:endParaRPr lang="en-US"/>
          </a:p>
        </p:txBody>
      </p:sp>
      <p:sp>
        <p:nvSpPr>
          <p:cNvPr id="17" name="Footer Placeholder 16">
            <a:extLst>
              <a:ext uri="{FF2B5EF4-FFF2-40B4-BE49-F238E27FC236}">
                <a16:creationId xmlns:a16="http://schemas.microsoft.com/office/drawing/2014/main" id="{4A708594-B379-44C4-B1CC-64C3F079F5E5}"/>
              </a:ext>
            </a:extLst>
          </p:cNvPr>
          <p:cNvSpPr>
            <a:spLocks noGrp="1"/>
          </p:cNvSpPr>
          <p:nvPr>
            <p:ph type="ftr" sz="quarter" idx="11"/>
          </p:nvPr>
        </p:nvSpPr>
        <p:spPr/>
        <p:txBody>
          <a:bodyPr/>
          <a:lstStyle/>
          <a:p>
            <a:endParaRPr lang="en-US"/>
          </a:p>
        </p:txBody>
      </p:sp>
      <p:sp>
        <p:nvSpPr>
          <p:cNvPr id="18" name="Slide Number Placeholder 17">
            <a:extLst>
              <a:ext uri="{FF2B5EF4-FFF2-40B4-BE49-F238E27FC236}">
                <a16:creationId xmlns:a16="http://schemas.microsoft.com/office/drawing/2014/main" id="{E7E36EAD-166B-44EF-A4CC-11F738D9877E}"/>
              </a:ext>
            </a:extLst>
          </p:cNvPr>
          <p:cNvSpPr>
            <a:spLocks noGrp="1"/>
          </p:cNvSpPr>
          <p:nvPr>
            <p:ph type="sldNum" sz="quarter" idx="12"/>
          </p:nvPr>
        </p:nvSpPr>
        <p:spPr/>
        <p:txBody>
          <a:bodyPr/>
          <a:lstStyle/>
          <a:p>
            <a:fld id="{3CBD822F-ED39-4FC2-B5B5-D2EAB6238DC3}" type="slidenum">
              <a:rPr lang="en-US" smtClean="0"/>
              <a:pPr/>
              <a:t>‹#›</a:t>
            </a:fld>
            <a:endParaRPr lang="en-US"/>
          </a:p>
        </p:txBody>
      </p:sp>
    </p:spTree>
    <p:extLst>
      <p:ext uri="{BB962C8B-B14F-4D97-AF65-F5344CB8AC3E}">
        <p14:creationId xmlns:p14="http://schemas.microsoft.com/office/powerpoint/2010/main" val="29845369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7AA5245-DE60-FB49-9806-D11EB4572122}"/>
              </a:ext>
            </a:extLst>
          </p:cNvPr>
          <p:cNvSpPr>
            <a:spLocks noGrp="1"/>
          </p:cNvSpPr>
          <p:nvPr>
            <p:ph type="title"/>
          </p:nvPr>
        </p:nvSpPr>
        <p:spPr>
          <a:xfrm>
            <a:off x="384048" y="381000"/>
            <a:ext cx="11420856" cy="533400"/>
          </a:xfrm>
          <a:prstGeom prst="rect">
            <a:avLst/>
          </a:prstGeom>
        </p:spPr>
        <p:txBody>
          <a:bodyPr/>
          <a:lstStyle>
            <a:lvl1pPr>
              <a:defRPr>
                <a:solidFill>
                  <a:schemeClr val="tx2"/>
                </a:solidFill>
                <a:latin typeface="Calibri" panose="020F0502020204030204" pitchFamily="34" charset="0"/>
                <a:cs typeface="Calibri" panose="020F0502020204030204" pitchFamily="34" charset="0"/>
              </a:defRPr>
            </a:lvl1pPr>
          </a:lstStyle>
          <a:p>
            <a:r>
              <a:rPr lang="en-US"/>
              <a:t>Click to edit Master title style</a:t>
            </a:r>
            <a:endParaRPr lang="en-CA"/>
          </a:p>
        </p:txBody>
      </p:sp>
      <p:sp>
        <p:nvSpPr>
          <p:cNvPr id="8" name="Table Placeholder 9">
            <a:extLst>
              <a:ext uri="{FF2B5EF4-FFF2-40B4-BE49-F238E27FC236}">
                <a16:creationId xmlns:a16="http://schemas.microsoft.com/office/drawing/2014/main" id="{E1B65114-DF11-4247-A710-23928FACB038}"/>
              </a:ext>
            </a:extLst>
          </p:cNvPr>
          <p:cNvSpPr>
            <a:spLocks noGrp="1"/>
          </p:cNvSpPr>
          <p:nvPr>
            <p:ph type="tbl" sz="quarter" idx="14" hasCustomPrompt="1"/>
          </p:nvPr>
        </p:nvSpPr>
        <p:spPr>
          <a:xfrm>
            <a:off x="381000" y="1295400"/>
            <a:ext cx="11430000" cy="4724400"/>
          </a:xfrm>
          <a:prstGeom prst="rect">
            <a:avLst/>
          </a:prstGeom>
        </p:spPr>
        <p:txBody>
          <a:bodyPr/>
          <a:lstStyle>
            <a:lvl1pPr marL="0" indent="0">
              <a:buNone/>
              <a:defRPr sz="1600">
                <a:latin typeface="Calibri" panose="020F0502020204030204" pitchFamily="34" charset="0"/>
                <a:cs typeface="Calibri" panose="020F0502020204030204" pitchFamily="34" charset="0"/>
              </a:defRPr>
            </a:lvl1pPr>
            <a:lvl2pPr marL="685800" indent="-228600">
              <a:buFont typeface="Arial" panose="020B0604020202020204" pitchFamily="34" charset="0"/>
              <a:buChar char="•"/>
              <a:defRPr sz="1600">
                <a:latin typeface="Calibri" panose="020F0502020204030204" pitchFamily="34" charset="0"/>
                <a:cs typeface="Calibri" panose="020F0502020204030204" pitchFamily="34" charset="0"/>
              </a:defRPr>
            </a:lvl2pPr>
            <a:lvl3pPr marL="1143000" indent="-228600">
              <a:buFont typeface="Wingdings" pitchFamily="2" charset="2"/>
              <a:buChar char="§"/>
              <a:defRPr sz="1400">
                <a:latin typeface="Calibri" panose="020F0502020204030204" pitchFamily="34" charset="0"/>
                <a:cs typeface="Calibri" panose="020F0502020204030204" pitchFamily="34" charset="0"/>
              </a:defRPr>
            </a:lvl3pPr>
            <a:lvl4pPr marL="1600200" indent="-228600">
              <a:buFont typeface="Arial" panose="020B0604020202020204" pitchFamily="34" charset="0"/>
              <a:buChar char="•"/>
              <a:defRPr sz="1200">
                <a:latin typeface="Calibri" panose="020F0502020204030204" pitchFamily="34" charset="0"/>
                <a:cs typeface="Calibri" panose="020F0502020204030204" pitchFamily="34" charset="0"/>
              </a:defRPr>
            </a:lvl4pPr>
            <a:lvl5pPr marL="2057400" indent="-228600">
              <a:buFont typeface="Wingdings" pitchFamily="2" charset="2"/>
              <a:buChar char="§"/>
              <a:defRPr sz="1000">
                <a:latin typeface="Calibri" panose="020F0502020204030204" pitchFamily="34" charset="0"/>
                <a:cs typeface="Calibri" panose="020F0502020204030204" pitchFamily="34" charset="0"/>
              </a:defRPr>
            </a:lvl5pPr>
          </a:lstStyle>
          <a:p>
            <a:pPr lvl="0"/>
            <a:r>
              <a:rPr lang="en-CA"/>
              <a:t>Edit Master text styles</a:t>
            </a:r>
          </a:p>
          <a:p>
            <a:pPr lvl="1"/>
            <a:r>
              <a:rPr lang="en-CA"/>
              <a:t>Second level</a:t>
            </a:r>
          </a:p>
          <a:p>
            <a:pPr lvl="2"/>
            <a:r>
              <a:rPr lang="en-CA"/>
              <a:t>Third level</a:t>
            </a:r>
          </a:p>
          <a:p>
            <a:pPr lvl="3"/>
            <a:r>
              <a:rPr lang="en-CA"/>
              <a:t>Fourth level</a:t>
            </a:r>
          </a:p>
          <a:p>
            <a:pPr lvl="4"/>
            <a:r>
              <a:rPr lang="en-CA"/>
              <a:t>Fifth level</a:t>
            </a:r>
          </a:p>
        </p:txBody>
      </p:sp>
      <p:sp>
        <p:nvSpPr>
          <p:cNvPr id="12" name="Rectangle 11">
            <a:extLst>
              <a:ext uri="{FF2B5EF4-FFF2-40B4-BE49-F238E27FC236}">
                <a16:creationId xmlns:a16="http://schemas.microsoft.com/office/drawing/2014/main" id="{A9FE5BBC-194F-6548-BED8-EF556F2601BD}"/>
              </a:ext>
            </a:extLst>
          </p:cNvPr>
          <p:cNvSpPr/>
          <p:nvPr userDrawn="1"/>
        </p:nvSpPr>
        <p:spPr>
          <a:xfrm>
            <a:off x="266218" y="995423"/>
            <a:ext cx="11667281" cy="12732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25000" lnSpcReduction="20000"/>
          </a:bodyPr>
          <a:lstStyle/>
          <a:p>
            <a:pPr algn="l"/>
            <a:endParaRPr lang="en-US">
              <a:latin typeface="Graphik" panose="020B0503030202060203" pitchFamily="34" charset="0"/>
            </a:endParaRPr>
          </a:p>
        </p:txBody>
      </p:sp>
      <p:sp>
        <p:nvSpPr>
          <p:cNvPr id="13" name="Rectangle 12">
            <a:extLst>
              <a:ext uri="{FF2B5EF4-FFF2-40B4-BE49-F238E27FC236}">
                <a16:creationId xmlns:a16="http://schemas.microsoft.com/office/drawing/2014/main" id="{C6761786-A733-6D42-B94B-414438862DB6}"/>
              </a:ext>
            </a:extLst>
          </p:cNvPr>
          <p:cNvSpPr/>
          <p:nvPr userDrawn="1"/>
        </p:nvSpPr>
        <p:spPr>
          <a:xfrm>
            <a:off x="9479666" y="92597"/>
            <a:ext cx="2606233" cy="21668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25000" lnSpcReduction="20000"/>
          </a:bodyPr>
          <a:lstStyle/>
          <a:p>
            <a:pPr algn="l"/>
            <a:endParaRPr lang="en-US">
              <a:latin typeface="Graphik" panose="020B0503030202060203" pitchFamily="34" charset="0"/>
            </a:endParaRPr>
          </a:p>
        </p:txBody>
      </p:sp>
      <p:sp>
        <p:nvSpPr>
          <p:cNvPr id="2" name="TextBox 1">
            <a:extLst>
              <a:ext uri="{FF2B5EF4-FFF2-40B4-BE49-F238E27FC236}">
                <a16:creationId xmlns:a16="http://schemas.microsoft.com/office/drawing/2014/main" id="{9DAE7115-1D1E-CABE-1AA6-099EC73409C1}"/>
              </a:ext>
            </a:extLst>
          </p:cNvPr>
          <p:cNvSpPr txBox="1"/>
          <p:nvPr userDrawn="1"/>
        </p:nvSpPr>
        <p:spPr>
          <a:xfrm>
            <a:off x="11594969" y="6589336"/>
            <a:ext cx="0" cy="0"/>
          </a:xfrm>
          <a:prstGeom prst="rect">
            <a:avLst/>
          </a:prstGeom>
          <a:solidFill>
            <a:schemeClr val="bg1"/>
          </a:solidFill>
        </p:spPr>
        <p:style>
          <a:lnRef idx="3">
            <a:schemeClr val="lt1"/>
          </a:lnRef>
          <a:fillRef idx="1">
            <a:schemeClr val="accent2"/>
          </a:fillRef>
          <a:effectRef idx="1">
            <a:schemeClr val="accent2"/>
          </a:effectRef>
          <a:fontRef idx="minor">
            <a:schemeClr val="lt1"/>
          </a:fontRef>
        </p:style>
        <p:txBody>
          <a:bodyPr wrap="none" lIns="182880" tIns="182880" rIns="182880" bIns="182880" rtlCol="0" anchor="t" anchorCtr="0">
            <a:normAutofit fontScale="25000" lnSpcReduction="20000"/>
          </a:bodyPr>
          <a:lstStyle/>
          <a:p>
            <a:pPr algn="l"/>
            <a:endParaRPr lang="en-US">
              <a:solidFill>
                <a:schemeClr val="tx1"/>
              </a:solidFill>
              <a:latin typeface="Graphik" panose="020B0503030202060203" pitchFamily="34" charset="0"/>
            </a:endParaRPr>
          </a:p>
        </p:txBody>
      </p:sp>
    </p:spTree>
    <p:extLst>
      <p:ext uri="{BB962C8B-B14F-4D97-AF65-F5344CB8AC3E}">
        <p14:creationId xmlns:p14="http://schemas.microsoft.com/office/powerpoint/2010/main" val="33352009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ide Bar Right DK GRE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E52536C-4573-3620-17CD-488440F4D508}"/>
              </a:ext>
            </a:extLst>
          </p:cNvPr>
          <p:cNvSpPr>
            <a:spLocks/>
          </p:cNvSpPr>
          <p:nvPr userDrawn="1"/>
        </p:nvSpPr>
        <p:spPr>
          <a:xfrm>
            <a:off x="8593506" y="0"/>
            <a:ext cx="359849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raphik" panose="020B0503030202060203" pitchFamily="34" charset="0"/>
            </a:endParaRPr>
          </a:p>
        </p:txBody>
      </p:sp>
      <p:sp>
        <p:nvSpPr>
          <p:cNvPr id="2" name="Title 1">
            <a:extLst>
              <a:ext uri="{FF2B5EF4-FFF2-40B4-BE49-F238E27FC236}">
                <a16:creationId xmlns:a16="http://schemas.microsoft.com/office/drawing/2014/main" id="{354A17C9-2033-F0CE-8E8E-26D5244A8EAB}"/>
              </a:ext>
            </a:extLst>
          </p:cNvPr>
          <p:cNvSpPr>
            <a:spLocks noGrp="1"/>
          </p:cNvSpPr>
          <p:nvPr>
            <p:ph type="title"/>
          </p:nvPr>
        </p:nvSpPr>
        <p:spPr>
          <a:xfrm>
            <a:off x="8923323" y="365125"/>
            <a:ext cx="2932345" cy="549275"/>
          </a:xfrm>
        </p:spPr>
        <p:txBody>
          <a:bodyPr/>
          <a:lstStyle>
            <a:lvl1pPr>
              <a:defRPr sz="16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B7C7F047-2D73-BB7A-336D-AF7916C06D9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995BCADC-03B1-1643-0233-398666B8BA18}"/>
              </a:ext>
            </a:extLst>
          </p:cNvPr>
          <p:cNvSpPr>
            <a:spLocks noGrp="1"/>
          </p:cNvSpPr>
          <p:nvPr>
            <p:ph type="ftr" sz="quarter" idx="11"/>
          </p:nvPr>
        </p:nvSpPr>
        <p:spPr>
          <a:xfrm>
            <a:off x="334229" y="6303909"/>
            <a:ext cx="7949513" cy="417561"/>
          </a:xfrm>
        </p:spPr>
        <p:txBody>
          <a:bodyPr/>
          <a:lstStyle/>
          <a:p>
            <a:endParaRPr lang="en-US"/>
          </a:p>
        </p:txBody>
      </p:sp>
      <p:sp>
        <p:nvSpPr>
          <p:cNvPr id="5" name="Slide Number Placeholder 4">
            <a:extLst>
              <a:ext uri="{FF2B5EF4-FFF2-40B4-BE49-F238E27FC236}">
                <a16:creationId xmlns:a16="http://schemas.microsoft.com/office/drawing/2014/main" id="{2060DF0A-A708-7A65-991A-0D45F1BE77C0}"/>
              </a:ext>
            </a:extLst>
          </p:cNvPr>
          <p:cNvSpPr>
            <a:spLocks noGrp="1"/>
          </p:cNvSpPr>
          <p:nvPr>
            <p:ph type="sldNum" sz="quarter" idx="12"/>
          </p:nvPr>
        </p:nvSpPr>
        <p:spPr/>
        <p:txBody>
          <a:bodyPr/>
          <a:lstStyle/>
          <a:p>
            <a:fld id="{DC014F4D-06DF-7C43-83BE-00DDE1D4B94F}" type="slidenum">
              <a:rPr lang="en-US" smtClean="0"/>
              <a:pPr/>
              <a:t>‹#›</a:t>
            </a:fld>
            <a:endParaRPr lang="en-US"/>
          </a:p>
        </p:txBody>
      </p:sp>
      <p:pic>
        <p:nvPicPr>
          <p:cNvPr id="7" name="Picture 6">
            <a:extLst>
              <a:ext uri="{FF2B5EF4-FFF2-40B4-BE49-F238E27FC236}">
                <a16:creationId xmlns:a16="http://schemas.microsoft.com/office/drawing/2014/main" id="{E68F992B-6251-745E-42F1-E19EC69B0197}"/>
              </a:ext>
            </a:extLst>
          </p:cNvPr>
          <p:cNvPicPr>
            <a:picLocks/>
          </p:cNvPicPr>
          <p:nvPr userDrawn="1"/>
        </p:nvPicPr>
        <p:blipFill>
          <a:blip r:embed="rId2"/>
          <a:srcRect/>
          <a:stretch/>
        </p:blipFill>
        <p:spPr>
          <a:xfrm>
            <a:off x="10604217" y="6066413"/>
            <a:ext cx="1447119" cy="791587"/>
          </a:xfrm>
          <a:prstGeom prst="rect">
            <a:avLst/>
          </a:prstGeom>
        </p:spPr>
      </p:pic>
      <p:sp>
        <p:nvSpPr>
          <p:cNvPr id="10" name="Content Placeholder 9">
            <a:extLst>
              <a:ext uri="{FF2B5EF4-FFF2-40B4-BE49-F238E27FC236}">
                <a16:creationId xmlns:a16="http://schemas.microsoft.com/office/drawing/2014/main" id="{DF0918F9-CA81-EAAF-244A-78E57A7B547A}"/>
              </a:ext>
            </a:extLst>
          </p:cNvPr>
          <p:cNvSpPr>
            <a:spLocks noGrp="1"/>
          </p:cNvSpPr>
          <p:nvPr>
            <p:ph sz="quarter" idx="13"/>
          </p:nvPr>
        </p:nvSpPr>
        <p:spPr>
          <a:xfrm>
            <a:off x="330868" y="365125"/>
            <a:ext cx="7952873" cy="570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0">
            <a:extLst>
              <a:ext uri="{FF2B5EF4-FFF2-40B4-BE49-F238E27FC236}">
                <a16:creationId xmlns:a16="http://schemas.microsoft.com/office/drawing/2014/main" id="{1DACC63E-F0FE-4800-13EB-00A13A1BBCA2}"/>
              </a:ext>
            </a:extLst>
          </p:cNvPr>
          <p:cNvSpPr>
            <a:spLocks noGrp="1"/>
          </p:cNvSpPr>
          <p:nvPr>
            <p:ph type="body" sz="quarter" idx="14"/>
          </p:nvPr>
        </p:nvSpPr>
        <p:spPr>
          <a:xfrm>
            <a:off x="8923322" y="3033206"/>
            <a:ext cx="2932345" cy="914400"/>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6282023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2079-7CFC-294C-B9CA-04F940BBC3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355DD6-59CA-954D-A6E6-1878B57420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9A8534B1-025B-9641-9A80-A9BF1FDB18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980411-49B3-2E4C-AFDF-B937037E8DD4}"/>
              </a:ext>
            </a:extLst>
          </p:cNvPr>
          <p:cNvSpPr>
            <a:spLocks noGrp="1"/>
          </p:cNvSpPr>
          <p:nvPr>
            <p:ph type="sldNum" sz="quarter" idx="12"/>
          </p:nvPr>
        </p:nvSpPr>
        <p:spPr/>
        <p:txBody>
          <a:bodyPr/>
          <a:lstStyle/>
          <a:p>
            <a:fld id="{750AEE70-3A92-4927-A870-0B8144354B90}" type="slidenum">
              <a:rPr lang="en-US" smtClean="0"/>
              <a:t>‹#›</a:t>
            </a:fld>
            <a:endParaRPr lang="en-US"/>
          </a:p>
        </p:txBody>
      </p:sp>
      <p:sp>
        <p:nvSpPr>
          <p:cNvPr id="16" name="Text Placeholder 15">
            <a:extLst>
              <a:ext uri="{FF2B5EF4-FFF2-40B4-BE49-F238E27FC236}">
                <a16:creationId xmlns:a16="http://schemas.microsoft.com/office/drawing/2014/main" id="{C950E1D6-AD1C-6E43-9154-07E3D9073DD3}"/>
              </a:ext>
            </a:extLst>
          </p:cNvPr>
          <p:cNvSpPr>
            <a:spLocks noGrp="1"/>
          </p:cNvSpPr>
          <p:nvPr>
            <p:ph type="body" sz="quarter" idx="19" hasCustomPrompt="1"/>
          </p:nvPr>
        </p:nvSpPr>
        <p:spPr>
          <a:xfrm>
            <a:off x="1318551" y="1714830"/>
            <a:ext cx="2680683" cy="605117"/>
          </a:xfrm>
        </p:spPr>
        <p:txBody>
          <a:bodyPr anchor="b">
            <a:noAutofit/>
          </a:bodyPr>
          <a:lstStyle>
            <a:lvl1pPr marL="0" indent="0">
              <a:buNone/>
              <a:defRPr sz="1800" b="1"/>
            </a:lvl1pPr>
          </a:lstStyle>
          <a:p>
            <a:pPr lvl="0"/>
            <a:r>
              <a:rPr lang="en-US"/>
              <a:t>Name</a:t>
            </a:r>
          </a:p>
        </p:txBody>
      </p:sp>
      <p:sp>
        <p:nvSpPr>
          <p:cNvPr id="17" name="Text Placeholder 15">
            <a:extLst>
              <a:ext uri="{FF2B5EF4-FFF2-40B4-BE49-F238E27FC236}">
                <a16:creationId xmlns:a16="http://schemas.microsoft.com/office/drawing/2014/main" id="{9E56EB21-0120-3C46-BB66-A7FD7B5D1B90}"/>
              </a:ext>
            </a:extLst>
          </p:cNvPr>
          <p:cNvSpPr>
            <a:spLocks noGrp="1"/>
          </p:cNvSpPr>
          <p:nvPr>
            <p:ph type="body" sz="quarter" idx="20" hasCustomPrompt="1"/>
          </p:nvPr>
        </p:nvSpPr>
        <p:spPr>
          <a:xfrm>
            <a:off x="1318551" y="2362784"/>
            <a:ext cx="2680683" cy="768043"/>
          </a:xfrm>
        </p:spPr>
        <p:txBody>
          <a:bodyPr anchor="t">
            <a:noAutofit/>
          </a:bodyPr>
          <a:lstStyle>
            <a:lvl1pPr marL="0" indent="0">
              <a:buNone/>
              <a:defRPr sz="1600"/>
            </a:lvl1pPr>
          </a:lstStyle>
          <a:p>
            <a:pPr lvl="0"/>
            <a:r>
              <a:rPr lang="en-US"/>
              <a:t>Title</a:t>
            </a:r>
          </a:p>
        </p:txBody>
      </p:sp>
      <p:sp>
        <p:nvSpPr>
          <p:cNvPr id="26" name="Text Placeholder 15">
            <a:extLst>
              <a:ext uri="{FF2B5EF4-FFF2-40B4-BE49-F238E27FC236}">
                <a16:creationId xmlns:a16="http://schemas.microsoft.com/office/drawing/2014/main" id="{AC39F667-E08C-3D49-B570-06E0936C9B50}"/>
              </a:ext>
            </a:extLst>
          </p:cNvPr>
          <p:cNvSpPr>
            <a:spLocks noGrp="1"/>
          </p:cNvSpPr>
          <p:nvPr>
            <p:ph type="body" sz="quarter" idx="21" hasCustomPrompt="1"/>
          </p:nvPr>
        </p:nvSpPr>
        <p:spPr>
          <a:xfrm>
            <a:off x="4658099" y="1714830"/>
            <a:ext cx="2680683" cy="605117"/>
          </a:xfrm>
        </p:spPr>
        <p:txBody>
          <a:bodyPr anchor="b">
            <a:noAutofit/>
          </a:bodyPr>
          <a:lstStyle>
            <a:lvl1pPr marL="0" indent="0">
              <a:buNone/>
              <a:defRPr sz="1800" b="1"/>
            </a:lvl1pPr>
          </a:lstStyle>
          <a:p>
            <a:pPr lvl="0"/>
            <a:r>
              <a:rPr lang="en-US"/>
              <a:t>Name</a:t>
            </a:r>
          </a:p>
        </p:txBody>
      </p:sp>
      <p:sp>
        <p:nvSpPr>
          <p:cNvPr id="33" name="Text Placeholder 15">
            <a:extLst>
              <a:ext uri="{FF2B5EF4-FFF2-40B4-BE49-F238E27FC236}">
                <a16:creationId xmlns:a16="http://schemas.microsoft.com/office/drawing/2014/main" id="{934994FD-A6A4-EF4C-AC40-FA95219C1B01}"/>
              </a:ext>
            </a:extLst>
          </p:cNvPr>
          <p:cNvSpPr>
            <a:spLocks noGrp="1"/>
          </p:cNvSpPr>
          <p:nvPr>
            <p:ph type="body" sz="quarter" idx="22" hasCustomPrompt="1"/>
          </p:nvPr>
        </p:nvSpPr>
        <p:spPr>
          <a:xfrm>
            <a:off x="4658099" y="2362784"/>
            <a:ext cx="2680683" cy="768043"/>
          </a:xfrm>
        </p:spPr>
        <p:txBody>
          <a:bodyPr anchor="t">
            <a:noAutofit/>
          </a:bodyPr>
          <a:lstStyle>
            <a:lvl1pPr marL="0" indent="0">
              <a:buNone/>
              <a:defRPr sz="1600"/>
            </a:lvl1pPr>
          </a:lstStyle>
          <a:p>
            <a:pPr lvl="0"/>
            <a:r>
              <a:rPr lang="en-US"/>
              <a:t>Title</a:t>
            </a:r>
          </a:p>
        </p:txBody>
      </p:sp>
      <p:sp>
        <p:nvSpPr>
          <p:cNvPr id="34" name="Text Placeholder 15">
            <a:extLst>
              <a:ext uri="{FF2B5EF4-FFF2-40B4-BE49-F238E27FC236}">
                <a16:creationId xmlns:a16="http://schemas.microsoft.com/office/drawing/2014/main" id="{40FE5C6C-7E2A-CE40-8B11-CC551AC953CD}"/>
              </a:ext>
            </a:extLst>
          </p:cNvPr>
          <p:cNvSpPr>
            <a:spLocks noGrp="1"/>
          </p:cNvSpPr>
          <p:nvPr>
            <p:ph type="body" sz="quarter" idx="23" hasCustomPrompt="1"/>
          </p:nvPr>
        </p:nvSpPr>
        <p:spPr>
          <a:xfrm>
            <a:off x="7991802" y="1714830"/>
            <a:ext cx="2680683" cy="605117"/>
          </a:xfrm>
        </p:spPr>
        <p:txBody>
          <a:bodyPr anchor="b">
            <a:noAutofit/>
          </a:bodyPr>
          <a:lstStyle>
            <a:lvl1pPr marL="0" indent="0">
              <a:buNone/>
              <a:defRPr sz="1800" b="1"/>
            </a:lvl1pPr>
          </a:lstStyle>
          <a:p>
            <a:pPr lvl="0"/>
            <a:r>
              <a:rPr lang="en-US"/>
              <a:t>Name</a:t>
            </a:r>
          </a:p>
        </p:txBody>
      </p:sp>
      <p:sp>
        <p:nvSpPr>
          <p:cNvPr id="35" name="Text Placeholder 15">
            <a:extLst>
              <a:ext uri="{FF2B5EF4-FFF2-40B4-BE49-F238E27FC236}">
                <a16:creationId xmlns:a16="http://schemas.microsoft.com/office/drawing/2014/main" id="{2D2FBF8C-5DE4-2B49-8C20-FC890359F21F}"/>
              </a:ext>
            </a:extLst>
          </p:cNvPr>
          <p:cNvSpPr>
            <a:spLocks noGrp="1"/>
          </p:cNvSpPr>
          <p:nvPr>
            <p:ph type="body" sz="quarter" idx="24" hasCustomPrompt="1"/>
          </p:nvPr>
        </p:nvSpPr>
        <p:spPr>
          <a:xfrm>
            <a:off x="7991802" y="2362784"/>
            <a:ext cx="2680683" cy="768043"/>
          </a:xfrm>
        </p:spPr>
        <p:txBody>
          <a:bodyPr anchor="t">
            <a:noAutofit/>
          </a:bodyPr>
          <a:lstStyle>
            <a:lvl1pPr marL="0" indent="0">
              <a:buNone/>
              <a:defRPr sz="1600"/>
            </a:lvl1pPr>
          </a:lstStyle>
          <a:p>
            <a:pPr lvl="0"/>
            <a:r>
              <a:rPr lang="en-US"/>
              <a:t>Title</a:t>
            </a:r>
          </a:p>
        </p:txBody>
      </p:sp>
      <p:sp>
        <p:nvSpPr>
          <p:cNvPr id="36" name="Text Placeholder 15">
            <a:extLst>
              <a:ext uri="{FF2B5EF4-FFF2-40B4-BE49-F238E27FC236}">
                <a16:creationId xmlns:a16="http://schemas.microsoft.com/office/drawing/2014/main" id="{FBB694A3-E1EB-BC44-9852-60F8ABD36B06}"/>
              </a:ext>
            </a:extLst>
          </p:cNvPr>
          <p:cNvSpPr>
            <a:spLocks noGrp="1"/>
          </p:cNvSpPr>
          <p:nvPr>
            <p:ph type="body" sz="quarter" idx="25" hasCustomPrompt="1"/>
          </p:nvPr>
        </p:nvSpPr>
        <p:spPr>
          <a:xfrm>
            <a:off x="1318551" y="3583387"/>
            <a:ext cx="2680683" cy="605117"/>
          </a:xfrm>
        </p:spPr>
        <p:txBody>
          <a:bodyPr anchor="b">
            <a:noAutofit/>
          </a:bodyPr>
          <a:lstStyle>
            <a:lvl1pPr marL="0" indent="0">
              <a:buNone/>
              <a:defRPr sz="1800" b="1"/>
            </a:lvl1pPr>
          </a:lstStyle>
          <a:p>
            <a:pPr lvl="0"/>
            <a:r>
              <a:rPr lang="en-US"/>
              <a:t>Name</a:t>
            </a:r>
          </a:p>
        </p:txBody>
      </p:sp>
      <p:sp>
        <p:nvSpPr>
          <p:cNvPr id="37" name="Text Placeholder 15">
            <a:extLst>
              <a:ext uri="{FF2B5EF4-FFF2-40B4-BE49-F238E27FC236}">
                <a16:creationId xmlns:a16="http://schemas.microsoft.com/office/drawing/2014/main" id="{D14B9192-AB4B-FD4D-B408-ED85E6CDF30D}"/>
              </a:ext>
            </a:extLst>
          </p:cNvPr>
          <p:cNvSpPr>
            <a:spLocks noGrp="1"/>
          </p:cNvSpPr>
          <p:nvPr>
            <p:ph type="body" sz="quarter" idx="26" hasCustomPrompt="1"/>
          </p:nvPr>
        </p:nvSpPr>
        <p:spPr>
          <a:xfrm>
            <a:off x="1318551" y="4231341"/>
            <a:ext cx="2680683" cy="768043"/>
          </a:xfrm>
        </p:spPr>
        <p:txBody>
          <a:bodyPr anchor="t">
            <a:noAutofit/>
          </a:bodyPr>
          <a:lstStyle>
            <a:lvl1pPr marL="0" indent="0">
              <a:buNone/>
              <a:defRPr sz="1600"/>
            </a:lvl1pPr>
          </a:lstStyle>
          <a:p>
            <a:pPr lvl="0"/>
            <a:r>
              <a:rPr lang="en-US"/>
              <a:t>Title</a:t>
            </a:r>
          </a:p>
        </p:txBody>
      </p:sp>
      <p:sp>
        <p:nvSpPr>
          <p:cNvPr id="38" name="Text Placeholder 15">
            <a:extLst>
              <a:ext uri="{FF2B5EF4-FFF2-40B4-BE49-F238E27FC236}">
                <a16:creationId xmlns:a16="http://schemas.microsoft.com/office/drawing/2014/main" id="{5C94EC7B-FDCA-8048-AA2A-A70E4B4C2D4C}"/>
              </a:ext>
            </a:extLst>
          </p:cNvPr>
          <p:cNvSpPr>
            <a:spLocks noGrp="1"/>
          </p:cNvSpPr>
          <p:nvPr>
            <p:ph type="body" sz="quarter" idx="27" hasCustomPrompt="1"/>
          </p:nvPr>
        </p:nvSpPr>
        <p:spPr>
          <a:xfrm>
            <a:off x="4658099" y="3583387"/>
            <a:ext cx="2680683" cy="605117"/>
          </a:xfrm>
        </p:spPr>
        <p:txBody>
          <a:bodyPr anchor="b">
            <a:noAutofit/>
          </a:bodyPr>
          <a:lstStyle>
            <a:lvl1pPr marL="0" indent="0">
              <a:buNone/>
              <a:defRPr sz="1800" b="1"/>
            </a:lvl1pPr>
          </a:lstStyle>
          <a:p>
            <a:pPr lvl="0"/>
            <a:r>
              <a:rPr lang="en-US"/>
              <a:t>Name</a:t>
            </a:r>
          </a:p>
        </p:txBody>
      </p:sp>
      <p:sp>
        <p:nvSpPr>
          <p:cNvPr id="39" name="Text Placeholder 15">
            <a:extLst>
              <a:ext uri="{FF2B5EF4-FFF2-40B4-BE49-F238E27FC236}">
                <a16:creationId xmlns:a16="http://schemas.microsoft.com/office/drawing/2014/main" id="{DCC97A25-A01C-9B48-B974-EEE76F63757E}"/>
              </a:ext>
            </a:extLst>
          </p:cNvPr>
          <p:cNvSpPr>
            <a:spLocks noGrp="1"/>
          </p:cNvSpPr>
          <p:nvPr>
            <p:ph type="body" sz="quarter" idx="28" hasCustomPrompt="1"/>
          </p:nvPr>
        </p:nvSpPr>
        <p:spPr>
          <a:xfrm>
            <a:off x="4658099" y="4231341"/>
            <a:ext cx="2680683" cy="768043"/>
          </a:xfrm>
        </p:spPr>
        <p:txBody>
          <a:bodyPr anchor="t">
            <a:noAutofit/>
          </a:bodyPr>
          <a:lstStyle>
            <a:lvl1pPr marL="0" indent="0">
              <a:buNone/>
              <a:defRPr sz="1600"/>
            </a:lvl1pPr>
          </a:lstStyle>
          <a:p>
            <a:pPr lvl="0"/>
            <a:r>
              <a:rPr lang="en-US"/>
              <a:t>Title</a:t>
            </a:r>
          </a:p>
        </p:txBody>
      </p:sp>
      <p:sp>
        <p:nvSpPr>
          <p:cNvPr id="40" name="Text Placeholder 15">
            <a:extLst>
              <a:ext uri="{FF2B5EF4-FFF2-40B4-BE49-F238E27FC236}">
                <a16:creationId xmlns:a16="http://schemas.microsoft.com/office/drawing/2014/main" id="{247D59A8-D041-C842-AD9D-BA016C2D4964}"/>
              </a:ext>
            </a:extLst>
          </p:cNvPr>
          <p:cNvSpPr>
            <a:spLocks noGrp="1"/>
          </p:cNvSpPr>
          <p:nvPr>
            <p:ph type="body" sz="quarter" idx="29" hasCustomPrompt="1"/>
          </p:nvPr>
        </p:nvSpPr>
        <p:spPr>
          <a:xfrm>
            <a:off x="7991802" y="3583387"/>
            <a:ext cx="2680683" cy="605117"/>
          </a:xfrm>
        </p:spPr>
        <p:txBody>
          <a:bodyPr anchor="b">
            <a:noAutofit/>
          </a:bodyPr>
          <a:lstStyle>
            <a:lvl1pPr marL="0" indent="0">
              <a:buNone/>
              <a:defRPr sz="1800" b="1"/>
            </a:lvl1pPr>
          </a:lstStyle>
          <a:p>
            <a:pPr lvl="0"/>
            <a:r>
              <a:rPr lang="en-US"/>
              <a:t>Name</a:t>
            </a:r>
          </a:p>
        </p:txBody>
      </p:sp>
      <p:sp>
        <p:nvSpPr>
          <p:cNvPr id="41" name="Text Placeholder 15">
            <a:extLst>
              <a:ext uri="{FF2B5EF4-FFF2-40B4-BE49-F238E27FC236}">
                <a16:creationId xmlns:a16="http://schemas.microsoft.com/office/drawing/2014/main" id="{7E16C032-6F10-0A44-86F4-46E38D007B5D}"/>
              </a:ext>
            </a:extLst>
          </p:cNvPr>
          <p:cNvSpPr>
            <a:spLocks noGrp="1"/>
          </p:cNvSpPr>
          <p:nvPr>
            <p:ph type="body" sz="quarter" idx="30" hasCustomPrompt="1"/>
          </p:nvPr>
        </p:nvSpPr>
        <p:spPr>
          <a:xfrm>
            <a:off x="7991802" y="4231341"/>
            <a:ext cx="2680683" cy="768043"/>
          </a:xfrm>
        </p:spPr>
        <p:txBody>
          <a:bodyPr anchor="t">
            <a:noAutofit/>
          </a:bodyPr>
          <a:lstStyle>
            <a:lvl1pPr marL="0" indent="0">
              <a:buNone/>
              <a:defRPr sz="1600"/>
            </a:lvl1pPr>
          </a:lstStyle>
          <a:p>
            <a:pPr lvl="0"/>
            <a:r>
              <a:rPr lang="en-US"/>
              <a:t>Title</a:t>
            </a:r>
          </a:p>
        </p:txBody>
      </p:sp>
    </p:spTree>
    <p:extLst>
      <p:ext uri="{BB962C8B-B14F-4D97-AF65-F5344CB8AC3E}">
        <p14:creationId xmlns:p14="http://schemas.microsoft.com/office/powerpoint/2010/main" val="29855984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ide Bar Left 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59CE5F-C5D5-D8A2-FCEA-91C570883C87}"/>
              </a:ext>
            </a:extLst>
          </p:cNvPr>
          <p:cNvSpPr>
            <a:spLocks/>
          </p:cNvSpPr>
          <p:nvPr userDrawn="1"/>
        </p:nvSpPr>
        <p:spPr>
          <a:xfrm>
            <a:off x="3485" y="0"/>
            <a:ext cx="359849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raphik" panose="020B0503030202060203" pitchFamily="34" charset="0"/>
            </a:endParaRPr>
          </a:p>
        </p:txBody>
      </p:sp>
      <p:sp>
        <p:nvSpPr>
          <p:cNvPr id="2" name="Title 1">
            <a:extLst>
              <a:ext uri="{FF2B5EF4-FFF2-40B4-BE49-F238E27FC236}">
                <a16:creationId xmlns:a16="http://schemas.microsoft.com/office/drawing/2014/main" id="{5E382766-7A7C-2627-2E70-538DBA196128}"/>
              </a:ext>
            </a:extLst>
          </p:cNvPr>
          <p:cNvSpPr>
            <a:spLocks noGrp="1"/>
          </p:cNvSpPr>
          <p:nvPr>
            <p:ph type="title"/>
          </p:nvPr>
        </p:nvSpPr>
        <p:spPr>
          <a:xfrm>
            <a:off x="334229" y="365125"/>
            <a:ext cx="2932345" cy="549275"/>
          </a:xfrm>
        </p:spPr>
        <p:txBody>
          <a:bodyPr/>
          <a:lstStyle>
            <a:lvl1pPr>
              <a:defRPr sz="16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59D41FD4-AF44-F88D-A0F5-E8A491DF1BC4}"/>
              </a:ext>
            </a:extLst>
          </p:cNvPr>
          <p:cNvSpPr>
            <a:spLocks noGrp="1"/>
          </p:cNvSpPr>
          <p:nvPr>
            <p:ph type="dt" sz="half" idx="10"/>
          </p:nvPr>
        </p:nvSpPr>
        <p:spPr/>
        <p:txBody>
          <a:bodyPr/>
          <a:lstStyle/>
          <a:p>
            <a:fld id="{0CEF6A96-46E0-D54B-8048-27AEC900181B}" type="datetimeFigureOut">
              <a:rPr lang="en-US" smtClean="0"/>
              <a:pPr/>
              <a:t>8/10/2026</a:t>
            </a:fld>
            <a:endParaRPr lang="en-US"/>
          </a:p>
        </p:txBody>
      </p:sp>
      <p:sp>
        <p:nvSpPr>
          <p:cNvPr id="4" name="Footer Placeholder 3">
            <a:extLst>
              <a:ext uri="{FF2B5EF4-FFF2-40B4-BE49-F238E27FC236}">
                <a16:creationId xmlns:a16="http://schemas.microsoft.com/office/drawing/2014/main" id="{768118EA-BCFD-D56C-106D-FA616F102789}"/>
              </a:ext>
            </a:extLst>
          </p:cNvPr>
          <p:cNvSpPr>
            <a:spLocks noGrp="1"/>
          </p:cNvSpPr>
          <p:nvPr>
            <p:ph type="ftr" sz="quarter" idx="11"/>
          </p:nvPr>
        </p:nvSpPr>
        <p:spPr>
          <a:xfrm>
            <a:off x="3912201" y="6284095"/>
            <a:ext cx="6477067" cy="417561"/>
          </a:xfrm>
        </p:spPr>
        <p:txBody>
          <a:bodyPr/>
          <a:lstStyle/>
          <a:p>
            <a:endParaRPr lang="en-US"/>
          </a:p>
        </p:txBody>
      </p:sp>
      <p:sp>
        <p:nvSpPr>
          <p:cNvPr id="5" name="Slide Number Placeholder 4">
            <a:extLst>
              <a:ext uri="{FF2B5EF4-FFF2-40B4-BE49-F238E27FC236}">
                <a16:creationId xmlns:a16="http://schemas.microsoft.com/office/drawing/2014/main" id="{852441D3-2086-B1C8-0E59-EB63841199B7}"/>
              </a:ext>
            </a:extLst>
          </p:cNvPr>
          <p:cNvSpPr>
            <a:spLocks noGrp="1"/>
          </p:cNvSpPr>
          <p:nvPr>
            <p:ph type="sldNum" sz="quarter" idx="12"/>
          </p:nvPr>
        </p:nvSpPr>
        <p:spPr/>
        <p:txBody>
          <a:bodyPr/>
          <a:lstStyle/>
          <a:p>
            <a:fld id="{DC014F4D-06DF-7C43-83BE-00DDE1D4B94F}" type="slidenum">
              <a:rPr lang="en-US" smtClean="0"/>
              <a:pPr/>
              <a:t>‹#›</a:t>
            </a:fld>
            <a:endParaRPr lang="en-US"/>
          </a:p>
        </p:txBody>
      </p:sp>
      <p:sp>
        <p:nvSpPr>
          <p:cNvPr id="9" name="Content Placeholder 8">
            <a:extLst>
              <a:ext uri="{FF2B5EF4-FFF2-40B4-BE49-F238E27FC236}">
                <a16:creationId xmlns:a16="http://schemas.microsoft.com/office/drawing/2014/main" id="{AD8ECBA8-3E0A-8F44-8F69-EFB4D004904A}"/>
              </a:ext>
            </a:extLst>
          </p:cNvPr>
          <p:cNvSpPr>
            <a:spLocks noGrp="1"/>
          </p:cNvSpPr>
          <p:nvPr>
            <p:ph sz="quarter" idx="13"/>
          </p:nvPr>
        </p:nvSpPr>
        <p:spPr>
          <a:xfrm>
            <a:off x="3932723" y="365124"/>
            <a:ext cx="7925048" cy="569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BE2E80D3-4DCE-715C-ED48-1FA31E457CA8}"/>
              </a:ext>
            </a:extLst>
          </p:cNvPr>
          <p:cNvSpPr>
            <a:spLocks noGrp="1"/>
          </p:cNvSpPr>
          <p:nvPr>
            <p:ph type="body" sz="quarter" idx="14"/>
          </p:nvPr>
        </p:nvSpPr>
        <p:spPr>
          <a:xfrm>
            <a:off x="384777" y="2971800"/>
            <a:ext cx="2826836" cy="914400"/>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192876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Custom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DACAB-D5AA-84FF-1277-5B8A7BE37EE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79ACA04-8AF3-EAE2-6E3A-32871DA410DC}"/>
              </a:ext>
            </a:extLst>
          </p:cNvPr>
          <p:cNvSpPr>
            <a:spLocks noGrp="1"/>
          </p:cNvSpPr>
          <p:nvPr>
            <p:ph type="dt" sz="half" idx="10"/>
          </p:nvPr>
        </p:nvSpPr>
        <p:spPr/>
        <p:txBody>
          <a:bodyPr/>
          <a:lstStyle/>
          <a:p>
            <a:fld id="{5DB7ED4F-8EAF-4669-9BBC-544250BBA612}" type="datetime4">
              <a:rPr lang="en-CA" smtClean="0"/>
              <a:t>August 10, 2026</a:t>
            </a:fld>
            <a:endParaRPr lang="en-US"/>
          </a:p>
        </p:txBody>
      </p:sp>
      <p:sp>
        <p:nvSpPr>
          <p:cNvPr id="4" name="Footer Placeholder 3">
            <a:extLst>
              <a:ext uri="{FF2B5EF4-FFF2-40B4-BE49-F238E27FC236}">
                <a16:creationId xmlns:a16="http://schemas.microsoft.com/office/drawing/2014/main" id="{476886C4-5AB4-FA23-09CB-DA1936A1EE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0E24F9-2502-A1CD-ADE0-B65F80CF3B00}"/>
              </a:ext>
            </a:extLst>
          </p:cNvPr>
          <p:cNvSpPr>
            <a:spLocks noGrp="1"/>
          </p:cNvSpPr>
          <p:nvPr>
            <p:ph type="sldNum" sz="quarter" idx="12"/>
          </p:nvPr>
        </p:nvSpPr>
        <p:spPr/>
        <p:txBody>
          <a:bodyPr/>
          <a:lstStyle/>
          <a:p>
            <a:fld id="{3CBD822F-ED39-4FC2-B5B5-D2EAB6238DC3}" type="slidenum">
              <a:rPr lang="en-US" smtClean="0"/>
              <a:pPr/>
              <a:t>‹#›</a:t>
            </a:fld>
            <a:endParaRPr lang="en-US"/>
          </a:p>
        </p:txBody>
      </p:sp>
      <p:sp>
        <p:nvSpPr>
          <p:cNvPr id="10" name="Shape">
            <a:extLst>
              <a:ext uri="{FF2B5EF4-FFF2-40B4-BE49-F238E27FC236}">
                <a16:creationId xmlns:a16="http://schemas.microsoft.com/office/drawing/2014/main" id="{45EA311F-B4C4-05B0-CA86-2432F50F7F8E}"/>
              </a:ext>
            </a:extLst>
          </p:cNvPr>
          <p:cNvSpPr/>
          <p:nvPr userDrawn="1"/>
        </p:nvSpPr>
        <p:spPr>
          <a:xfrm>
            <a:off x="0" y="2199005"/>
            <a:ext cx="6344594" cy="25759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4538" y="21600"/>
                </a:lnTo>
                <a:cubicBezTo>
                  <a:pt x="16549" y="21600"/>
                  <a:pt x="17755" y="21600"/>
                  <a:pt x="18560" y="20948"/>
                </a:cubicBezTo>
                <a:cubicBezTo>
                  <a:pt x="19843" y="19857"/>
                  <a:pt x="20854" y="17494"/>
                  <a:pt x="21321" y="14495"/>
                </a:cubicBezTo>
                <a:cubicBezTo>
                  <a:pt x="21506" y="13311"/>
                  <a:pt x="21600" y="12061"/>
                  <a:pt x="21600" y="10801"/>
                </a:cubicBezTo>
                <a:cubicBezTo>
                  <a:pt x="21600" y="9541"/>
                  <a:pt x="21506" y="8289"/>
                  <a:pt x="21321" y="7105"/>
                </a:cubicBezTo>
                <a:cubicBezTo>
                  <a:pt x="20854" y="4106"/>
                  <a:pt x="19843" y="1743"/>
                  <a:pt x="18560" y="652"/>
                </a:cubicBezTo>
                <a:cubicBezTo>
                  <a:pt x="17755" y="0"/>
                  <a:pt x="16549" y="0"/>
                  <a:pt x="14538" y="0"/>
                </a:cubicBezTo>
                <a:lnTo>
                  <a:pt x="0" y="0"/>
                </a:lnTo>
                <a:close/>
              </a:path>
            </a:pathLst>
          </a:custGeom>
          <a:solidFill>
            <a:srgbClr val="FFFFFF"/>
          </a:solidFill>
          <a:ln w="25400">
            <a:miter lim="400000"/>
          </a:ln>
          <a:effectLst>
            <a:outerShdw blurRad="381000" dist="381000" dir="5400000" rotWithShape="0">
              <a:srgbClr val="000000">
                <a:alpha val="5000"/>
              </a:srgbClr>
            </a:outerShdw>
          </a:effectLst>
        </p:spPr>
        <p:txBody>
          <a:bodyPr tIns="91439" bIns="91439" anchor="ctr"/>
          <a:lstStyle/>
          <a:p>
            <a:pPr defTabSz="1828800" hangingPunct="0"/>
            <a:endParaRPr sz="3600" kern="0">
              <a:solidFill>
                <a:srgbClr val="000000"/>
              </a:solidFill>
              <a:latin typeface="Calibri"/>
              <a:cs typeface="Calibri"/>
              <a:sym typeface="Calibri"/>
            </a:endParaRPr>
          </a:p>
        </p:txBody>
      </p:sp>
      <p:sp>
        <p:nvSpPr>
          <p:cNvPr id="15" name="Picture Placeholder 14">
            <a:extLst>
              <a:ext uri="{FF2B5EF4-FFF2-40B4-BE49-F238E27FC236}">
                <a16:creationId xmlns:a16="http://schemas.microsoft.com/office/drawing/2014/main" id="{06A0AA37-EB9C-22EB-5564-E3BFB2F4F590}"/>
              </a:ext>
            </a:extLst>
          </p:cNvPr>
          <p:cNvSpPr>
            <a:spLocks noGrp="1"/>
          </p:cNvSpPr>
          <p:nvPr>
            <p:ph type="pic" sz="quarter" idx="13"/>
          </p:nvPr>
        </p:nvSpPr>
        <p:spPr>
          <a:xfrm>
            <a:off x="3830248" y="2600341"/>
            <a:ext cx="1897691" cy="1781877"/>
          </a:xfrm>
          <a:prstGeom prst="flowChartConnector">
            <a:avLst/>
          </a:prstGeom>
        </p:spPr>
        <p:txBody>
          <a:bodyPr/>
          <a:lstStyle/>
          <a:p>
            <a:endParaRPr lang="en-CA"/>
          </a:p>
        </p:txBody>
      </p:sp>
    </p:spTree>
    <p:extLst>
      <p:ext uri="{BB962C8B-B14F-4D97-AF65-F5344CB8AC3E}">
        <p14:creationId xmlns:p14="http://schemas.microsoft.com/office/powerpoint/2010/main" val="458994519"/>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Accenture - 3">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62F6482-6464-73F3-216D-40BBF3104ECA}"/>
              </a:ext>
            </a:extLst>
          </p:cNvPr>
          <p:cNvSpPr>
            <a:spLocks noGrp="1"/>
          </p:cNvSpPr>
          <p:nvPr>
            <p:ph type="sldNum" sz="quarter" idx="12"/>
          </p:nvPr>
        </p:nvSpPr>
        <p:spPr/>
        <p:txBody>
          <a:bodyPr/>
          <a:lstStyle/>
          <a:p>
            <a:fld id="{3CBD822F-ED39-4FC2-B5B5-D2EAB6238DC3}" type="slidenum">
              <a:rPr lang="en-US" smtClean="0"/>
              <a:pPr/>
              <a:t>‹#›</a:t>
            </a:fld>
            <a:endParaRPr lang="en-US"/>
          </a:p>
        </p:txBody>
      </p:sp>
      <p:sp>
        <p:nvSpPr>
          <p:cNvPr id="6" name="Rectangle 5">
            <a:extLst>
              <a:ext uri="{FF2B5EF4-FFF2-40B4-BE49-F238E27FC236}">
                <a16:creationId xmlns:a16="http://schemas.microsoft.com/office/drawing/2014/main" id="{C18902A0-3677-99E3-EB1A-C9D54297EAE2}"/>
              </a:ext>
            </a:extLst>
          </p:cNvPr>
          <p:cNvSpPr/>
          <p:nvPr userDrawn="1"/>
        </p:nvSpPr>
        <p:spPr>
          <a:xfrm>
            <a:off x="358219" y="6146276"/>
            <a:ext cx="11623249" cy="14034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fr-CA" sz="1100" noProof="0">
              <a:latin typeface="Graphik" panose="020B0503030202060203" pitchFamily="34" charset="0"/>
            </a:endParaRPr>
          </a:p>
        </p:txBody>
      </p:sp>
      <p:sp>
        <p:nvSpPr>
          <p:cNvPr id="7" name="Rectangle 6">
            <a:extLst>
              <a:ext uri="{FF2B5EF4-FFF2-40B4-BE49-F238E27FC236}">
                <a16:creationId xmlns:a16="http://schemas.microsoft.com/office/drawing/2014/main" id="{C90D4F34-E883-6604-15AF-74D702824C1A}"/>
              </a:ext>
            </a:extLst>
          </p:cNvPr>
          <p:cNvSpPr/>
          <p:nvPr userDrawn="1"/>
        </p:nvSpPr>
        <p:spPr>
          <a:xfrm>
            <a:off x="358218" y="970961"/>
            <a:ext cx="11623249" cy="140348"/>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fr-CA" sz="1100" noProof="0">
              <a:latin typeface="Graphik" panose="020B0503030202060203" pitchFamily="34" charset="0"/>
            </a:endParaRPr>
          </a:p>
        </p:txBody>
      </p:sp>
      <p:sp>
        <p:nvSpPr>
          <p:cNvPr id="8" name="Title 1">
            <a:extLst>
              <a:ext uri="{FF2B5EF4-FFF2-40B4-BE49-F238E27FC236}">
                <a16:creationId xmlns:a16="http://schemas.microsoft.com/office/drawing/2014/main" id="{DBDADE02-D8E4-D5AE-1CBE-112E907C9DD0}"/>
              </a:ext>
            </a:extLst>
          </p:cNvPr>
          <p:cNvSpPr>
            <a:spLocks noGrp="1"/>
          </p:cNvSpPr>
          <p:nvPr>
            <p:ph type="title"/>
          </p:nvPr>
        </p:nvSpPr>
        <p:spPr>
          <a:xfrm>
            <a:off x="390000" y="412"/>
            <a:ext cx="11412000" cy="405102"/>
          </a:xfrm>
        </p:spPr>
        <p:txBody>
          <a:bodyPr lIns="72000" tIns="36000" rIns="72000" bIns="36000">
            <a:spAutoFit/>
          </a:bodyPr>
          <a:lstStyle>
            <a:lvl1pPr>
              <a:defRPr sz="2400"/>
            </a:lvl1pPr>
          </a:lstStyle>
          <a:p>
            <a:r>
              <a:rPr lang="en-US"/>
              <a:t>Click to edit Master title style</a:t>
            </a:r>
          </a:p>
        </p:txBody>
      </p:sp>
      <p:sp>
        <p:nvSpPr>
          <p:cNvPr id="9" name="Text Placeholder 9">
            <a:extLst>
              <a:ext uri="{FF2B5EF4-FFF2-40B4-BE49-F238E27FC236}">
                <a16:creationId xmlns:a16="http://schemas.microsoft.com/office/drawing/2014/main" id="{0D3E1C3E-E9E8-2D65-D277-536A969FC99D}"/>
              </a:ext>
            </a:extLst>
          </p:cNvPr>
          <p:cNvSpPr>
            <a:spLocks noGrp="1"/>
          </p:cNvSpPr>
          <p:nvPr>
            <p:ph type="body" sz="quarter" idx="13"/>
          </p:nvPr>
        </p:nvSpPr>
        <p:spPr>
          <a:xfrm>
            <a:off x="390000" y="405514"/>
            <a:ext cx="11412000" cy="288147"/>
          </a:xfrm>
        </p:spPr>
        <p:txBody>
          <a:bodyPr lIns="72000" tIns="36000" rIns="72000" bIns="36000">
            <a:spAutoFit/>
          </a:bodyPr>
          <a:lstStyle>
            <a:lvl1pPr marL="0" indent="0">
              <a:buNone/>
              <a:defRPr sz="1400">
                <a:solidFill>
                  <a:schemeClr val="bg2">
                    <a:lumMod val="10000"/>
                  </a:schemeClr>
                </a:solidFill>
              </a:defRPr>
            </a:lvl1pPr>
          </a:lstStyle>
          <a:p>
            <a:pPr lvl="0"/>
            <a:endParaRPr lang="fr-CA"/>
          </a:p>
        </p:txBody>
      </p:sp>
    </p:spTree>
    <p:extLst>
      <p:ext uri="{BB962C8B-B14F-4D97-AF65-F5344CB8AC3E}">
        <p14:creationId xmlns:p14="http://schemas.microsoft.com/office/powerpoint/2010/main" val="526895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2495A-387F-4487-99DA-C1B91241206A}"/>
              </a:ext>
            </a:extLst>
          </p:cNvPr>
          <p:cNvSpPr>
            <a:spLocks noGrp="1"/>
          </p:cNvSpPr>
          <p:nvPr>
            <p:ph type="title"/>
          </p:nvPr>
        </p:nvSpPr>
        <p:spPr>
          <a:xfrm>
            <a:off x="384048" y="309282"/>
            <a:ext cx="11420856" cy="605118"/>
          </a:xfrm>
          <a:prstGeom prst="rect">
            <a:avLst/>
          </a:prstGeom>
        </p:spPr>
        <p:txBody>
          <a:bodyPr vert="horz" lIns="0" tIns="0" rIns="0" bIns="0" rtlCol="0" anchor="b"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5B8B1471-C4E9-49B1-8279-03D2FFDE8E39}"/>
              </a:ext>
            </a:extLst>
          </p:cNvPr>
          <p:cNvSpPr>
            <a:spLocks noGrp="1"/>
          </p:cNvSpPr>
          <p:nvPr>
            <p:ph type="body" idx="1"/>
          </p:nvPr>
        </p:nvSpPr>
        <p:spPr>
          <a:xfrm>
            <a:off x="384048" y="1298448"/>
            <a:ext cx="11420856" cy="472744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6D3428-6EC2-434A-9201-A0874C1BE0C6}"/>
              </a:ext>
            </a:extLst>
          </p:cNvPr>
          <p:cNvSpPr>
            <a:spLocks noGrp="1"/>
          </p:cNvSpPr>
          <p:nvPr>
            <p:ph type="dt" sz="half" idx="2"/>
          </p:nvPr>
        </p:nvSpPr>
        <p:spPr>
          <a:xfrm>
            <a:off x="9499714" y="6284637"/>
            <a:ext cx="1118980" cy="365125"/>
          </a:xfrm>
          <a:prstGeom prst="rect">
            <a:avLst/>
          </a:prstGeom>
        </p:spPr>
        <p:txBody>
          <a:bodyPr vert="horz" lIns="0" tIns="0" rIns="0" bIns="0" rtlCol="0" anchor="b"/>
          <a:lstStyle>
            <a:lvl1pPr algn="r">
              <a:defRPr sz="900">
                <a:solidFill>
                  <a:schemeClr val="tx1">
                    <a:tint val="75000"/>
                  </a:schemeClr>
                </a:solidFill>
                <a:latin typeface="Graphik" panose="020B0503030202060203" pitchFamily="34" charset="0"/>
              </a:defRPr>
            </a:lvl1pPr>
          </a:lstStyle>
          <a:p>
            <a:fld id="{E152C4D6-D0BD-449D-8C84-CBB8AB784B90}" type="datetime4">
              <a:rPr lang="en-US" smtClean="0"/>
              <a:pPr/>
              <a:t>August 10, 2026</a:t>
            </a:fld>
            <a:endParaRPr lang="en-US"/>
          </a:p>
        </p:txBody>
      </p:sp>
      <p:sp>
        <p:nvSpPr>
          <p:cNvPr id="5" name="Footer Placeholder 4">
            <a:extLst>
              <a:ext uri="{FF2B5EF4-FFF2-40B4-BE49-F238E27FC236}">
                <a16:creationId xmlns:a16="http://schemas.microsoft.com/office/drawing/2014/main" id="{B0D16131-1E12-4FD2-B3B5-0EBF92856167}"/>
              </a:ext>
            </a:extLst>
          </p:cNvPr>
          <p:cNvSpPr>
            <a:spLocks noGrp="1"/>
          </p:cNvSpPr>
          <p:nvPr>
            <p:ph type="ftr" sz="quarter" idx="3"/>
          </p:nvPr>
        </p:nvSpPr>
        <p:spPr>
          <a:xfrm>
            <a:off x="384047" y="6286624"/>
            <a:ext cx="9048437" cy="365125"/>
          </a:xfrm>
          <a:prstGeom prst="rect">
            <a:avLst/>
          </a:prstGeom>
          <a:ln>
            <a:noFill/>
          </a:ln>
        </p:spPr>
        <p:txBody>
          <a:bodyPr vert="horz" lIns="0" tIns="0" rIns="0" bIns="0" rtlCol="0" anchor="b"/>
          <a:lstStyle>
            <a:lvl1pPr algn="l">
              <a:defRPr sz="900">
                <a:solidFill>
                  <a:schemeClr val="tx1">
                    <a:tint val="75000"/>
                  </a:schemeClr>
                </a:solidFill>
                <a:latin typeface="Graphik" panose="020B0503030202060203" pitchFamily="34" charset="0"/>
              </a:defRPr>
            </a:lvl1pPr>
          </a:lstStyle>
          <a:p>
            <a:endParaRPr lang="en-US"/>
          </a:p>
        </p:txBody>
      </p:sp>
      <p:sp>
        <p:nvSpPr>
          <p:cNvPr id="7" name="Slide Number Placeholder 6">
            <a:extLst>
              <a:ext uri="{FF2B5EF4-FFF2-40B4-BE49-F238E27FC236}">
                <a16:creationId xmlns:a16="http://schemas.microsoft.com/office/drawing/2014/main" id="{00AF3643-EB4B-4E60-89BC-E0DA304B5E83}"/>
              </a:ext>
            </a:extLst>
          </p:cNvPr>
          <p:cNvSpPr>
            <a:spLocks noGrp="1"/>
          </p:cNvSpPr>
          <p:nvPr>
            <p:ph type="sldNum" sz="quarter" idx="4"/>
          </p:nvPr>
        </p:nvSpPr>
        <p:spPr>
          <a:xfrm>
            <a:off x="87852" y="6286624"/>
            <a:ext cx="201619" cy="365125"/>
          </a:xfrm>
          <a:prstGeom prst="rect">
            <a:avLst/>
          </a:prstGeom>
        </p:spPr>
        <p:txBody>
          <a:bodyPr vert="horz" lIns="0" tIns="0" rIns="0" bIns="0" rtlCol="0" anchor="b" anchorCtr="0"/>
          <a:lstStyle>
            <a:lvl1pPr algn="ctr">
              <a:defRPr sz="900">
                <a:solidFill>
                  <a:schemeClr val="tx1">
                    <a:tint val="75000"/>
                  </a:schemeClr>
                </a:solidFill>
                <a:latin typeface="Graphik" panose="020B0503030202060203" pitchFamily="34" charset="0"/>
              </a:defRPr>
            </a:lvl1pPr>
          </a:lstStyle>
          <a:p>
            <a:fld id="{3CBD822F-ED39-4FC2-B5B5-D2EAB6238DC3}" type="slidenum">
              <a:rPr lang="en-US" smtClean="0"/>
              <a:pPr/>
              <a:t>‹#›</a:t>
            </a:fld>
            <a:endParaRPr lang="en-US"/>
          </a:p>
        </p:txBody>
      </p:sp>
    </p:spTree>
    <p:extLst>
      <p:ext uri="{BB962C8B-B14F-4D97-AF65-F5344CB8AC3E}">
        <p14:creationId xmlns:p14="http://schemas.microsoft.com/office/powerpoint/2010/main" val="230654906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7" r:id="rId3"/>
    <p:sldLayoutId id="2147483661" r:id="rId4"/>
    <p:sldLayoutId id="2147483666" r:id="rId5"/>
    <p:sldLayoutId id="2147483663" r:id="rId6"/>
    <p:sldLayoutId id="2147483664" r:id="rId7"/>
    <p:sldLayoutId id="2147483650" r:id="rId8"/>
    <p:sldLayoutId id="2147483651" r:id="rId9"/>
    <p:sldLayoutId id="2147483672" r:id="rId10"/>
    <p:sldLayoutId id="2147483652" r:id="rId11"/>
    <p:sldLayoutId id="2147483653" r:id="rId12"/>
    <p:sldLayoutId id="2147483654" r:id="rId13"/>
    <p:sldLayoutId id="2147483655" r:id="rId14"/>
    <p:sldLayoutId id="2147483673" r:id="rId15"/>
    <p:sldLayoutId id="2147483680" r:id="rId16"/>
    <p:sldLayoutId id="2147483681" r:id="rId17"/>
    <p:sldLayoutId id="2147483682" r:id="rId18"/>
    <p:sldLayoutId id="2147483683" r:id="rId19"/>
    <p:sldLayoutId id="2147483684" r:id="rId20"/>
    <p:sldLayoutId id="2147483686" r:id="rId21"/>
    <p:sldLayoutId id="2147483687" r:id="rId22"/>
    <p:sldLayoutId id="2147483689" r:id="rId23"/>
    <p:sldLayoutId id="2147483690" r:id="rId24"/>
    <p:sldLayoutId id="2147483691" r:id="rId25"/>
    <p:sldLayoutId id="2147483746" r:id="rId26"/>
  </p:sldLayoutIdLst>
  <p:hf hdr="0"/>
  <p:txStyles>
    <p:titleStyle>
      <a:lvl1pPr algn="l" defTabSz="914400" rtl="0" eaLnBrk="1" latinLnBrk="0" hangingPunct="1">
        <a:lnSpc>
          <a:spcPct val="90000"/>
        </a:lnSpc>
        <a:spcBef>
          <a:spcPct val="0"/>
        </a:spcBef>
        <a:buNone/>
        <a:defRPr sz="3200" kern="1200">
          <a:solidFill>
            <a:schemeClr val="tx2"/>
          </a:solidFill>
          <a:latin typeface="Graphik" panose="020B0503030202060203" pitchFamily="34" charset="0"/>
          <a:ea typeface="+mj-ea"/>
          <a:cs typeface="+mj-cs"/>
        </a:defRPr>
      </a:lvl1pPr>
    </p:titleStyle>
    <p:body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Graphik" panose="020B0503030202060203" pitchFamily="34"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Graphik" panose="020B0503030202060203" pitchFamily="34" charset="0"/>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Graphik" panose="020B0503030202060203" pitchFamily="34"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Graphik" panose="020B050303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jpe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26.jpeg"/><Relationship Id="rId20" Type="http://schemas.openxmlformats.org/officeDocument/2006/relationships/image" Target="../media/image30.jpe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svg"/></Relationships>
</file>

<file path=ppt/slides/_rels/slide8.xml.rels><?xml version="1.0" encoding="UTF-8" standalone="yes"?>
<Relationships xmlns="http://schemas.openxmlformats.org/package/2006/relationships"><Relationship Id="rId2" Type="http://schemas.microsoft.com/office/2018/10/relationships/comments" Target="../comments/modernComment_7FFFFE15_D5480B30.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emf"/></Relationships>
</file>

<file path=ppt/slides/_rels/slide10.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46.svg"/></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FFDC0_461F437E.xml"/><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48.svg"/><Relationship Id="rId4" Type="http://schemas.openxmlformats.org/officeDocument/2006/relationships/image" Target="../media/image47.svg"/></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FFDF5_9B5AEFBA.xml"/><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50.svg"/><Relationship Id="rId4" Type="http://schemas.openxmlformats.org/officeDocument/2006/relationships/image" Target="../media/image49.svg"/></Relationships>
</file>

<file path=ppt/slides/_rels/slide13.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1.png"/><Relationship Id="rId7" Type="http://schemas.openxmlformats.org/officeDocument/2006/relationships/image" Target="../media/image42.emf"/><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41.emf"/><Relationship Id="rId11" Type="http://schemas.openxmlformats.org/officeDocument/2006/relationships/image" Target="../media/image57.png"/><Relationship Id="rId5" Type="http://schemas.openxmlformats.org/officeDocument/2006/relationships/image" Target="../media/image53.emf"/><Relationship Id="rId10" Type="http://schemas.openxmlformats.org/officeDocument/2006/relationships/image" Target="../media/image56.emf"/><Relationship Id="rId4" Type="http://schemas.openxmlformats.org/officeDocument/2006/relationships/image" Target="../media/image52.pn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52.png"/><Relationship Id="rId18" Type="http://schemas.openxmlformats.org/officeDocument/2006/relationships/image" Target="../media/image67.png"/><Relationship Id="rId3" Type="http://schemas.microsoft.com/office/2018/10/relationships/comments" Target="../comments/modernComment_7FFFFDEE_C30FB71D.xml"/><Relationship Id="rId21" Type="http://schemas.openxmlformats.org/officeDocument/2006/relationships/image" Target="../media/image34.png"/><Relationship Id="rId7" Type="http://schemas.openxmlformats.org/officeDocument/2006/relationships/image" Target="../media/image59.emf"/><Relationship Id="rId12" Type="http://schemas.openxmlformats.org/officeDocument/2006/relationships/image" Target="../media/image56.emf"/><Relationship Id="rId17" Type="http://schemas.openxmlformats.org/officeDocument/2006/relationships/image" Target="../media/image66.emf"/><Relationship Id="rId25" Type="http://schemas.openxmlformats.org/officeDocument/2006/relationships/image" Target="../media/image69.svg"/><Relationship Id="rId2" Type="http://schemas.openxmlformats.org/officeDocument/2006/relationships/notesSlide" Target="../notesSlides/notesSlide10.xml"/><Relationship Id="rId16" Type="http://schemas.openxmlformats.org/officeDocument/2006/relationships/image" Target="../media/image65.png"/><Relationship Id="rId20" Type="http://schemas.openxmlformats.org/officeDocument/2006/relationships/image" Target="../media/image68.png"/><Relationship Id="rId1" Type="http://schemas.openxmlformats.org/officeDocument/2006/relationships/slideLayout" Target="../slideLayouts/slideLayout13.xml"/><Relationship Id="rId6" Type="http://schemas.openxmlformats.org/officeDocument/2006/relationships/image" Target="../media/image58.png"/><Relationship Id="rId11" Type="http://schemas.openxmlformats.org/officeDocument/2006/relationships/image" Target="../media/image63.emf"/><Relationship Id="rId24" Type="http://schemas.openxmlformats.org/officeDocument/2006/relationships/image" Target="../media/image37.png"/><Relationship Id="rId5" Type="http://schemas.openxmlformats.org/officeDocument/2006/relationships/image" Target="../media/image39.png"/><Relationship Id="rId15" Type="http://schemas.openxmlformats.org/officeDocument/2006/relationships/image" Target="../media/image64.png"/><Relationship Id="rId23" Type="http://schemas.openxmlformats.org/officeDocument/2006/relationships/image" Target="../media/image36.png"/><Relationship Id="rId10" Type="http://schemas.openxmlformats.org/officeDocument/2006/relationships/image" Target="../media/image62.png"/><Relationship Id="rId19" Type="http://schemas.openxmlformats.org/officeDocument/2006/relationships/image" Target="../media/image53.emf"/><Relationship Id="rId4" Type="http://schemas.openxmlformats.org/officeDocument/2006/relationships/image" Target="../media/image38.png"/><Relationship Id="rId9" Type="http://schemas.openxmlformats.org/officeDocument/2006/relationships/image" Target="../media/image61.png"/><Relationship Id="rId14" Type="http://schemas.openxmlformats.org/officeDocument/2006/relationships/image" Target="../media/image51.png"/><Relationship Id="rId22"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D3CAC044-BA91-E5EA-6FBB-E24CCCCB5B6E}"/>
              </a:ext>
            </a:extLst>
          </p:cNvPr>
          <p:cNvSpPr>
            <a:spLocks noGrp="1"/>
          </p:cNvSpPr>
          <p:nvPr>
            <p:ph type="body" sz="quarter" idx="11"/>
          </p:nvPr>
        </p:nvSpPr>
        <p:spPr>
          <a:xfrm>
            <a:off x="421240" y="1592497"/>
            <a:ext cx="9746428" cy="3780888"/>
          </a:xfrm>
        </p:spPr>
        <p:txBody>
          <a:bodyPr vert="horz" lIns="0" tIns="0" rIns="0" bIns="0" rtlCol="0" anchor="b">
            <a:normAutofit fontScale="97500"/>
          </a:bodyPr>
          <a:lstStyle/>
          <a:p>
            <a:r>
              <a:rPr lang="en-CA" sz="4500" b="1" noProof="0">
                <a:latin typeface="+mj-lt"/>
              </a:rPr>
              <a:t>North Data Platform </a:t>
            </a:r>
          </a:p>
          <a:p>
            <a:r>
              <a:rPr lang="en-CA" sz="3700" noProof="0">
                <a:latin typeface="+mj-lt"/>
              </a:rPr>
              <a:t>Target State Blueprint</a:t>
            </a:r>
            <a:br>
              <a:rPr lang="en-CA" sz="4400" noProof="0">
                <a:latin typeface="Graphik" panose="020B0503030202060203" pitchFamily="34" charset="0"/>
              </a:rPr>
            </a:br>
            <a:r>
              <a:rPr lang="en-CA" sz="2900" noProof="0">
                <a:solidFill>
                  <a:srgbClr val="FFFFFF"/>
                </a:solidFill>
                <a:latin typeface="Graphik" panose="020B0503030202060203" pitchFamily="34" charset="0"/>
              </a:rPr>
              <a:t> </a:t>
            </a:r>
          </a:p>
          <a:p>
            <a:endParaRPr lang="en-CA" sz="2400" noProof="0">
              <a:solidFill>
                <a:schemeClr val="bg1"/>
              </a:solidFill>
              <a:latin typeface="Graphik" panose="020B0503030202060203" pitchFamily="34" charset="0"/>
            </a:endParaRPr>
          </a:p>
          <a:p>
            <a:r>
              <a:rPr lang="en-CA" sz="2400" noProof="0">
                <a:solidFill>
                  <a:schemeClr val="bg1"/>
                </a:solidFill>
                <a:latin typeface="+mn-lt"/>
              </a:rPr>
              <a:t>May 2026</a:t>
            </a:r>
          </a:p>
        </p:txBody>
      </p:sp>
      <p:pic>
        <p:nvPicPr>
          <p:cNvPr id="16" name="Picture 16" descr="Accenture Logo | The most famous brands and company logos in the world">
            <a:extLst>
              <a:ext uri="{FF2B5EF4-FFF2-40B4-BE49-F238E27FC236}">
                <a16:creationId xmlns:a16="http://schemas.microsoft.com/office/drawing/2014/main" id="{7150046E-B8A8-FD93-A9B8-875F83721E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2292" b="15444"/>
          <a:stretch/>
        </p:blipFill>
        <p:spPr bwMode="auto">
          <a:xfrm>
            <a:off x="392159" y="6289915"/>
            <a:ext cx="1344175" cy="4707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397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EF9C-DA57-E709-7E89-D62D7E05B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D05EA-7F7E-3DDC-477D-8D993415623B}"/>
              </a:ext>
            </a:extLst>
          </p:cNvPr>
          <p:cNvSpPr>
            <a:spLocks noGrp="1"/>
          </p:cNvSpPr>
          <p:nvPr>
            <p:ph type="title"/>
          </p:nvPr>
        </p:nvSpPr>
        <p:spPr>
          <a:xfrm>
            <a:off x="193360" y="302072"/>
            <a:ext cx="11412000" cy="405102"/>
          </a:xfrm>
        </p:spPr>
        <p:txBody>
          <a:bodyPr/>
          <a:lstStyle/>
          <a:p>
            <a:r>
              <a:rPr lang="en-CA" noProof="0">
                <a:latin typeface="+mj-lt"/>
              </a:rPr>
              <a:t>Table of Content</a:t>
            </a:r>
          </a:p>
        </p:txBody>
      </p:sp>
      <p:sp>
        <p:nvSpPr>
          <p:cNvPr id="3" name="Slide Number Placeholder 2">
            <a:extLst>
              <a:ext uri="{FF2B5EF4-FFF2-40B4-BE49-F238E27FC236}">
                <a16:creationId xmlns:a16="http://schemas.microsoft.com/office/drawing/2014/main" id="{A9A7A965-6BEF-A89D-09D1-3487CE95389C}"/>
              </a:ext>
            </a:extLst>
          </p:cNvPr>
          <p:cNvSpPr>
            <a:spLocks noGrp="1"/>
          </p:cNvSpPr>
          <p:nvPr>
            <p:ph type="sldNum" sz="quarter" idx="12"/>
          </p:nvPr>
        </p:nvSpPr>
        <p:spPr/>
        <p:txBody>
          <a:bodyPr/>
          <a:lstStyle/>
          <a:p>
            <a:fld id="{3CBD822F-ED39-4FC2-B5B5-D2EAB6238DC3}" type="slidenum">
              <a:rPr lang="en-CA" noProof="0" smtClean="0">
                <a:latin typeface="+mn-lt"/>
              </a:rPr>
              <a:pPr/>
              <a:t>2</a:t>
            </a:fld>
            <a:endParaRPr lang="en-CA" noProof="0">
              <a:latin typeface="+mn-lt"/>
            </a:endParaRPr>
          </a:p>
        </p:txBody>
      </p:sp>
      <p:sp>
        <p:nvSpPr>
          <p:cNvPr id="4" name="Text Placeholder 3">
            <a:extLst>
              <a:ext uri="{FF2B5EF4-FFF2-40B4-BE49-F238E27FC236}">
                <a16:creationId xmlns:a16="http://schemas.microsoft.com/office/drawing/2014/main" id="{7816082C-44CE-0D86-65A0-9D719BD0670C}"/>
              </a:ext>
            </a:extLst>
          </p:cNvPr>
          <p:cNvSpPr>
            <a:spLocks noGrp="1"/>
          </p:cNvSpPr>
          <p:nvPr>
            <p:ph type="body" sz="quarter" idx="13"/>
          </p:nvPr>
        </p:nvSpPr>
        <p:spPr/>
        <p:txBody>
          <a:bodyPr/>
          <a:lstStyle/>
          <a:p>
            <a:r>
              <a:rPr lang="en-CA" noProof="0"/>
              <a:t> </a:t>
            </a:r>
          </a:p>
        </p:txBody>
      </p:sp>
      <p:cxnSp>
        <p:nvCxnSpPr>
          <p:cNvPr id="7" name="Straight Connector 6">
            <a:extLst>
              <a:ext uri="{FF2B5EF4-FFF2-40B4-BE49-F238E27FC236}">
                <a16:creationId xmlns:a16="http://schemas.microsoft.com/office/drawing/2014/main" id="{CBABBCBF-65B9-3AC4-644B-A79CCE3BE4E3}"/>
              </a:ext>
            </a:extLst>
          </p:cNvPr>
          <p:cNvCxnSpPr>
            <a:cxnSpLocks/>
          </p:cNvCxnSpPr>
          <p:nvPr/>
        </p:nvCxnSpPr>
        <p:spPr>
          <a:xfrm>
            <a:off x="2647324" y="1320183"/>
            <a:ext cx="0" cy="3254988"/>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B9B100C-73F7-0D2A-8B25-A34AF1B5A979}"/>
              </a:ext>
            </a:extLst>
          </p:cNvPr>
          <p:cNvGrpSpPr/>
          <p:nvPr/>
        </p:nvGrpSpPr>
        <p:grpSpPr>
          <a:xfrm>
            <a:off x="3214803" y="1618987"/>
            <a:ext cx="7131374" cy="360000"/>
            <a:chOff x="2801848" y="3213273"/>
            <a:chExt cx="7131374" cy="360000"/>
          </a:xfrm>
        </p:grpSpPr>
        <p:sp>
          <p:nvSpPr>
            <p:cNvPr id="23" name="TextBox 22">
              <a:extLst>
                <a:ext uri="{FF2B5EF4-FFF2-40B4-BE49-F238E27FC236}">
                  <a16:creationId xmlns:a16="http://schemas.microsoft.com/office/drawing/2014/main" id="{5F6E3CFD-210E-0C4E-D94C-7FD60E6B0822}"/>
                </a:ext>
              </a:extLst>
            </p:cNvPr>
            <p:cNvSpPr txBox="1"/>
            <p:nvPr/>
          </p:nvSpPr>
          <p:spPr>
            <a:xfrm>
              <a:off x="3314699" y="3249200"/>
              <a:ext cx="6618523"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400" b="1" noProof="0">
                  <a:solidFill>
                    <a:schemeClr val="tx1"/>
                  </a:solidFill>
                </a:rPr>
                <a:t>L1 Blueprints (Business Led)</a:t>
              </a:r>
            </a:p>
          </p:txBody>
        </p:sp>
        <p:sp>
          <p:nvSpPr>
            <p:cNvPr id="24" name="Oval 23">
              <a:extLst>
                <a:ext uri="{FF2B5EF4-FFF2-40B4-BE49-F238E27FC236}">
                  <a16:creationId xmlns:a16="http://schemas.microsoft.com/office/drawing/2014/main" id="{33D268B7-11CD-8431-2346-9A1B92C06F53}"/>
                </a:ext>
              </a:extLst>
            </p:cNvPr>
            <p:cNvSpPr>
              <a:spLocks noChangeAspect="1"/>
            </p:cNvSpPr>
            <p:nvPr/>
          </p:nvSpPr>
          <p:spPr>
            <a:xfrm>
              <a:off x="2801848" y="3213273"/>
              <a:ext cx="360000" cy="360000"/>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100" b="1" noProof="0">
                  <a:solidFill>
                    <a:schemeClr val="tx2"/>
                  </a:solidFill>
                </a:rPr>
                <a:t>1</a:t>
              </a:r>
            </a:p>
          </p:txBody>
        </p:sp>
      </p:grpSp>
      <p:grpSp>
        <p:nvGrpSpPr>
          <p:cNvPr id="11" name="Group 10">
            <a:extLst>
              <a:ext uri="{FF2B5EF4-FFF2-40B4-BE49-F238E27FC236}">
                <a16:creationId xmlns:a16="http://schemas.microsoft.com/office/drawing/2014/main" id="{1D003745-C8D6-D5AC-93E5-44684405F62A}"/>
              </a:ext>
            </a:extLst>
          </p:cNvPr>
          <p:cNvGrpSpPr/>
          <p:nvPr/>
        </p:nvGrpSpPr>
        <p:grpSpPr>
          <a:xfrm>
            <a:off x="3214803" y="2379234"/>
            <a:ext cx="7131373" cy="360000"/>
            <a:chOff x="2801848" y="3670958"/>
            <a:chExt cx="7131373" cy="360000"/>
          </a:xfrm>
        </p:grpSpPr>
        <p:sp>
          <p:nvSpPr>
            <p:cNvPr id="21" name="TextBox 20">
              <a:extLst>
                <a:ext uri="{FF2B5EF4-FFF2-40B4-BE49-F238E27FC236}">
                  <a16:creationId xmlns:a16="http://schemas.microsoft.com/office/drawing/2014/main" id="{74F64E37-42E5-D80B-71BF-EEC01CB07E65}"/>
                </a:ext>
              </a:extLst>
            </p:cNvPr>
            <p:cNvSpPr txBox="1"/>
            <p:nvPr/>
          </p:nvSpPr>
          <p:spPr>
            <a:xfrm>
              <a:off x="3314698" y="3706885"/>
              <a:ext cx="6618523"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spcBef>
                  <a:spcPts val="300"/>
                </a:spcBef>
                <a:spcAft>
                  <a:spcPts val="300"/>
                </a:spcAft>
              </a:pPr>
              <a:r>
                <a:rPr lang="en-CA" sz="1400" b="1" noProof="0">
                  <a:solidFill>
                    <a:schemeClr val="tx1"/>
                  </a:solidFill>
                </a:rPr>
                <a:t>L2 Blueprints (Builds on L1 by adding technology)</a:t>
              </a:r>
              <a:endParaRPr lang="en-CA" sz="1200" b="1" noProof="0">
                <a:solidFill>
                  <a:schemeClr val="tx1"/>
                </a:solidFill>
              </a:endParaRPr>
            </a:p>
          </p:txBody>
        </p:sp>
        <p:sp>
          <p:nvSpPr>
            <p:cNvPr id="22" name="Oval 21">
              <a:extLst>
                <a:ext uri="{FF2B5EF4-FFF2-40B4-BE49-F238E27FC236}">
                  <a16:creationId xmlns:a16="http://schemas.microsoft.com/office/drawing/2014/main" id="{E4A36C4B-FBC4-AF96-69C9-71C6751505FE}"/>
                </a:ext>
              </a:extLst>
            </p:cNvPr>
            <p:cNvSpPr>
              <a:spLocks noChangeAspect="1"/>
            </p:cNvSpPr>
            <p:nvPr/>
          </p:nvSpPr>
          <p:spPr>
            <a:xfrm>
              <a:off x="2801848" y="3670958"/>
              <a:ext cx="360000" cy="360000"/>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100" b="1" noProof="0">
                  <a:solidFill>
                    <a:schemeClr val="tx2"/>
                  </a:solidFill>
                </a:rPr>
                <a:t>2</a:t>
              </a:r>
            </a:p>
          </p:txBody>
        </p:sp>
      </p:grpSp>
      <p:grpSp>
        <p:nvGrpSpPr>
          <p:cNvPr id="13" name="Group 12">
            <a:extLst>
              <a:ext uri="{FF2B5EF4-FFF2-40B4-BE49-F238E27FC236}">
                <a16:creationId xmlns:a16="http://schemas.microsoft.com/office/drawing/2014/main" id="{68087B83-D88E-2D48-17BB-2C70E2978757}"/>
              </a:ext>
            </a:extLst>
          </p:cNvPr>
          <p:cNvGrpSpPr/>
          <p:nvPr/>
        </p:nvGrpSpPr>
        <p:grpSpPr>
          <a:xfrm>
            <a:off x="3214803" y="3066678"/>
            <a:ext cx="8065970" cy="360000"/>
            <a:chOff x="2801848" y="3115822"/>
            <a:chExt cx="8065970" cy="360000"/>
          </a:xfrm>
        </p:grpSpPr>
        <p:sp>
          <p:nvSpPr>
            <p:cNvPr id="17" name="TextBox 16">
              <a:extLst>
                <a:ext uri="{FF2B5EF4-FFF2-40B4-BE49-F238E27FC236}">
                  <a16:creationId xmlns:a16="http://schemas.microsoft.com/office/drawing/2014/main" id="{EF3999DE-D679-3CAB-CED2-8C03D2557262}"/>
                </a:ext>
              </a:extLst>
            </p:cNvPr>
            <p:cNvSpPr txBox="1"/>
            <p:nvPr/>
          </p:nvSpPr>
          <p:spPr>
            <a:xfrm>
              <a:off x="3314696" y="3151749"/>
              <a:ext cx="7553122"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400" b="1" noProof="0">
                  <a:solidFill>
                    <a:schemeClr val="tx1"/>
                  </a:solidFill>
                </a:rPr>
                <a:t>Enterprise Data Domains &amp; Person Ontology</a:t>
              </a:r>
            </a:p>
          </p:txBody>
        </p:sp>
        <p:sp>
          <p:nvSpPr>
            <p:cNvPr id="18" name="Oval 17">
              <a:extLst>
                <a:ext uri="{FF2B5EF4-FFF2-40B4-BE49-F238E27FC236}">
                  <a16:creationId xmlns:a16="http://schemas.microsoft.com/office/drawing/2014/main" id="{E2F8851F-38E7-9164-EEC4-E437A78CDBEC}"/>
                </a:ext>
              </a:extLst>
            </p:cNvPr>
            <p:cNvSpPr>
              <a:spLocks noChangeAspect="1"/>
            </p:cNvSpPr>
            <p:nvPr/>
          </p:nvSpPr>
          <p:spPr>
            <a:xfrm>
              <a:off x="2801848" y="3115822"/>
              <a:ext cx="360000" cy="360000"/>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100" b="1" noProof="0">
                  <a:solidFill>
                    <a:schemeClr val="tx2"/>
                  </a:solidFill>
                </a:rPr>
                <a:t>3</a:t>
              </a:r>
            </a:p>
          </p:txBody>
        </p:sp>
      </p:grpSp>
      <p:grpSp>
        <p:nvGrpSpPr>
          <p:cNvPr id="14" name="Group 13">
            <a:extLst>
              <a:ext uri="{FF2B5EF4-FFF2-40B4-BE49-F238E27FC236}">
                <a16:creationId xmlns:a16="http://schemas.microsoft.com/office/drawing/2014/main" id="{13B57DE9-D843-8AF6-E20C-48B36BCF2EA1}"/>
              </a:ext>
            </a:extLst>
          </p:cNvPr>
          <p:cNvGrpSpPr/>
          <p:nvPr/>
        </p:nvGrpSpPr>
        <p:grpSpPr>
          <a:xfrm>
            <a:off x="3214803" y="3775779"/>
            <a:ext cx="8065970" cy="360000"/>
            <a:chOff x="2801848" y="3679771"/>
            <a:chExt cx="8065970" cy="360000"/>
          </a:xfrm>
        </p:grpSpPr>
        <p:sp>
          <p:nvSpPr>
            <p:cNvPr id="15" name="TextBox 14">
              <a:extLst>
                <a:ext uri="{FF2B5EF4-FFF2-40B4-BE49-F238E27FC236}">
                  <a16:creationId xmlns:a16="http://schemas.microsoft.com/office/drawing/2014/main" id="{4F380468-1E34-2F83-6243-9755B22AF424}"/>
                </a:ext>
              </a:extLst>
            </p:cNvPr>
            <p:cNvSpPr txBox="1"/>
            <p:nvPr/>
          </p:nvSpPr>
          <p:spPr>
            <a:xfrm>
              <a:off x="3314696" y="3715698"/>
              <a:ext cx="7553122"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400" b="1" noProof="0">
                  <a:solidFill>
                    <a:schemeClr val="tx1"/>
                  </a:solidFill>
                </a:rPr>
                <a:t>Enterprise Data Patterns</a:t>
              </a:r>
            </a:p>
          </p:txBody>
        </p:sp>
        <p:sp>
          <p:nvSpPr>
            <p:cNvPr id="16" name="Oval 15">
              <a:extLst>
                <a:ext uri="{FF2B5EF4-FFF2-40B4-BE49-F238E27FC236}">
                  <a16:creationId xmlns:a16="http://schemas.microsoft.com/office/drawing/2014/main" id="{C4AF7080-86AB-C93E-5770-D5613584F434}"/>
                </a:ext>
              </a:extLst>
            </p:cNvPr>
            <p:cNvSpPr>
              <a:spLocks noChangeAspect="1"/>
            </p:cNvSpPr>
            <p:nvPr/>
          </p:nvSpPr>
          <p:spPr>
            <a:xfrm>
              <a:off x="2801848" y="3679771"/>
              <a:ext cx="360000" cy="360000"/>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100" b="1" noProof="0">
                  <a:solidFill>
                    <a:schemeClr val="tx2"/>
                  </a:solidFill>
                </a:rPr>
                <a:t>4</a:t>
              </a:r>
            </a:p>
          </p:txBody>
        </p:sp>
      </p:grpSp>
    </p:spTree>
    <p:extLst>
      <p:ext uri="{BB962C8B-B14F-4D97-AF65-F5344CB8AC3E}">
        <p14:creationId xmlns:p14="http://schemas.microsoft.com/office/powerpoint/2010/main" val="564862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5BAB-0CA5-7438-9E6B-B278999CD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CA01A-A974-8CA7-4E5C-E646816523D8}"/>
              </a:ext>
            </a:extLst>
          </p:cNvPr>
          <p:cNvSpPr>
            <a:spLocks noGrp="1"/>
          </p:cNvSpPr>
          <p:nvPr>
            <p:ph type="title"/>
          </p:nvPr>
        </p:nvSpPr>
        <p:spPr>
          <a:xfrm>
            <a:off x="381525" y="471156"/>
            <a:ext cx="11412000" cy="405102"/>
          </a:xfrm>
        </p:spPr>
        <p:txBody>
          <a:bodyPr/>
          <a:lstStyle/>
          <a:p>
            <a:r>
              <a:rPr lang="en-CA" noProof="0">
                <a:latin typeface="+mj-lt"/>
              </a:rPr>
              <a:t>Table of Content</a:t>
            </a:r>
          </a:p>
        </p:txBody>
      </p:sp>
      <p:sp>
        <p:nvSpPr>
          <p:cNvPr id="3" name="Slide Number Placeholder 2">
            <a:extLst>
              <a:ext uri="{FF2B5EF4-FFF2-40B4-BE49-F238E27FC236}">
                <a16:creationId xmlns:a16="http://schemas.microsoft.com/office/drawing/2014/main" id="{6D36AE5F-4DFE-AEC1-A957-C41A89FC35E1}"/>
              </a:ext>
            </a:extLst>
          </p:cNvPr>
          <p:cNvSpPr>
            <a:spLocks noGrp="1"/>
          </p:cNvSpPr>
          <p:nvPr>
            <p:ph type="sldNum" sz="quarter" idx="12"/>
          </p:nvPr>
        </p:nvSpPr>
        <p:spPr/>
        <p:txBody>
          <a:bodyPr/>
          <a:lstStyle/>
          <a:p>
            <a:fld id="{3CBD822F-ED39-4FC2-B5B5-D2EAB6238DC3}" type="slidenum">
              <a:rPr lang="en-CA" noProof="0" smtClean="0">
                <a:latin typeface="Graphik" panose="020B0503030202060203" pitchFamily="34" charset="0"/>
              </a:rPr>
              <a:pPr/>
              <a:t>3</a:t>
            </a:fld>
            <a:endParaRPr lang="en-CA" noProof="0">
              <a:latin typeface="Graphik" panose="020B0503030202060203" pitchFamily="34" charset="0"/>
            </a:endParaRPr>
          </a:p>
        </p:txBody>
      </p:sp>
      <p:sp>
        <p:nvSpPr>
          <p:cNvPr id="4" name="Text Placeholder 3">
            <a:extLst>
              <a:ext uri="{FF2B5EF4-FFF2-40B4-BE49-F238E27FC236}">
                <a16:creationId xmlns:a16="http://schemas.microsoft.com/office/drawing/2014/main" id="{27314B6C-7368-1F79-60E6-9A703D3F77BA}"/>
              </a:ext>
            </a:extLst>
          </p:cNvPr>
          <p:cNvSpPr>
            <a:spLocks noGrp="1"/>
          </p:cNvSpPr>
          <p:nvPr>
            <p:ph type="body" sz="quarter" idx="13"/>
          </p:nvPr>
        </p:nvSpPr>
        <p:spPr/>
        <p:txBody>
          <a:bodyPr/>
          <a:lstStyle/>
          <a:p>
            <a:r>
              <a:rPr lang="en-CA" noProof="0">
                <a:latin typeface="Graphik" panose="020B0503030202060203" pitchFamily="34" charset="0"/>
              </a:rPr>
              <a:t> </a:t>
            </a:r>
          </a:p>
        </p:txBody>
      </p:sp>
      <p:graphicFrame>
        <p:nvGraphicFramePr>
          <p:cNvPr id="5" name="Table 4">
            <a:extLst>
              <a:ext uri="{FF2B5EF4-FFF2-40B4-BE49-F238E27FC236}">
                <a16:creationId xmlns:a16="http://schemas.microsoft.com/office/drawing/2014/main" id="{D12425A9-BB8F-FAA1-8F8C-D504097D1785}"/>
              </a:ext>
            </a:extLst>
          </p:cNvPr>
          <p:cNvGraphicFramePr>
            <a:graphicFrameLocks noGrp="1"/>
          </p:cNvGraphicFramePr>
          <p:nvPr>
            <p:extLst>
              <p:ext uri="{D42A27DB-BD31-4B8C-83A1-F6EECF244321}">
                <p14:modId xmlns:p14="http://schemas.microsoft.com/office/powerpoint/2010/main" val="2042722396"/>
              </p:ext>
            </p:extLst>
          </p:nvPr>
        </p:nvGraphicFramePr>
        <p:xfrm>
          <a:off x="390000" y="1400423"/>
          <a:ext cx="11420474" cy="2288208"/>
        </p:xfrm>
        <a:graphic>
          <a:graphicData uri="http://schemas.openxmlformats.org/drawingml/2006/table">
            <a:tbl>
              <a:tblPr firstRow="1" firstCol="1" bandRow="1">
                <a:tableStyleId>{5A111915-BE36-4E01-A7E5-04B1672EAD32}</a:tableStyleId>
              </a:tblPr>
              <a:tblGrid>
                <a:gridCol w="3734607">
                  <a:extLst>
                    <a:ext uri="{9D8B030D-6E8A-4147-A177-3AD203B41FA5}">
                      <a16:colId xmlns:a16="http://schemas.microsoft.com/office/drawing/2014/main" val="3278012841"/>
                    </a:ext>
                  </a:extLst>
                </a:gridCol>
                <a:gridCol w="7685867">
                  <a:extLst>
                    <a:ext uri="{9D8B030D-6E8A-4147-A177-3AD203B41FA5}">
                      <a16:colId xmlns:a16="http://schemas.microsoft.com/office/drawing/2014/main" val="322912424"/>
                    </a:ext>
                  </a:extLst>
                </a:gridCol>
              </a:tblGrid>
              <a:tr h="182880">
                <a:tc>
                  <a:txBody>
                    <a:bodyPr/>
                    <a:lstStyle/>
                    <a:p>
                      <a:pPr marL="0" marR="0">
                        <a:lnSpc>
                          <a:spcPct val="115000"/>
                        </a:lnSpc>
                        <a:spcAft>
                          <a:spcPts val="800"/>
                        </a:spcAft>
                        <a:buNone/>
                      </a:pPr>
                      <a:r>
                        <a:rPr lang="en-CA" sz="1050" b="1" kern="100" noProof="0">
                          <a:solidFill>
                            <a:schemeClr val="bg1"/>
                          </a:solidFill>
                          <a:effectLst/>
                          <a:latin typeface="+mj-lt"/>
                        </a:rPr>
                        <a:t>Item</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4008" marR="64008" marT="0" marB="0" anchor="ctr">
                    <a:solidFill>
                      <a:schemeClr val="tx2"/>
                    </a:solidFill>
                  </a:tcPr>
                </a:tc>
                <a:tc>
                  <a:txBody>
                    <a:bodyPr/>
                    <a:lstStyle/>
                    <a:p>
                      <a:pPr marL="0" marR="0">
                        <a:lnSpc>
                          <a:spcPct val="115000"/>
                        </a:lnSpc>
                        <a:spcAft>
                          <a:spcPts val="800"/>
                        </a:spcAft>
                        <a:buNone/>
                      </a:pPr>
                      <a:r>
                        <a:rPr lang="en-CA" sz="1050" b="1" kern="100" noProof="0">
                          <a:solidFill>
                            <a:schemeClr val="bg1"/>
                          </a:solidFill>
                          <a:effectLst/>
                          <a:latin typeface="+mj-lt"/>
                        </a:rPr>
                        <a:t>Description</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8580" marR="68580" marT="0" marB="0" anchor="ctr">
                    <a:solidFill>
                      <a:schemeClr val="tx2"/>
                    </a:solidFill>
                  </a:tcPr>
                </a:tc>
                <a:extLst>
                  <a:ext uri="{0D108BD9-81ED-4DB2-BD59-A6C34878D82A}">
                    <a16:rowId xmlns:a16="http://schemas.microsoft.com/office/drawing/2014/main" val="327095414"/>
                  </a:ext>
                </a:extLst>
              </a:tr>
              <a:tr h="350888">
                <a:tc>
                  <a:txBody>
                    <a:bodyPr/>
                    <a:lstStyle/>
                    <a:p>
                      <a:pPr marL="0" marR="0">
                        <a:lnSpc>
                          <a:spcPct val="115000"/>
                        </a:lnSpc>
                        <a:spcAft>
                          <a:spcPts val="800"/>
                        </a:spcAft>
                        <a:buNone/>
                      </a:pPr>
                      <a:r>
                        <a:rPr lang="en-CA" sz="1000" b="1" kern="100" noProof="0">
                          <a:solidFill>
                            <a:srgbClr val="0070C0"/>
                          </a:solidFill>
                          <a:effectLst/>
                          <a:latin typeface="+mn-lt"/>
                        </a:rPr>
                        <a:t>1.1 NORTH Data Platform: Functional Architecture</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8580" marR="68580"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Defines how Canada Life connects, governs, and delivers data as reusable products across business units to enable consistent insights, operational decisions, and AI at scale.</a:t>
                      </a:r>
                      <a:endPar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4250733439"/>
                  </a:ext>
                </a:extLst>
              </a:tr>
              <a:tr h="350888">
                <a:tc>
                  <a:txBody>
                    <a:bodyPr/>
                    <a:lstStyle/>
                    <a:p>
                      <a:pPr algn="l">
                        <a:buNone/>
                      </a:pPr>
                      <a:r>
                        <a:rPr lang="en-CA" sz="1000" noProof="0">
                          <a:solidFill>
                            <a:srgbClr val="0070C0"/>
                          </a:solidFill>
                          <a:latin typeface="+mn-lt"/>
                        </a:rPr>
                        <a:t>1.2 NORTH Platform Data Node FAQ</a:t>
                      </a:r>
                    </a:p>
                  </a:txBody>
                  <a:tcPr>
                    <a:solidFill>
                      <a:schemeClr val="bg1">
                        <a:lumMod val="85000"/>
                      </a:schemeClr>
                    </a:solidFill>
                  </a:tcPr>
                </a:tc>
                <a:tc>
                  <a:txBody>
                    <a:bodyPr/>
                    <a:lstStyle/>
                    <a:p>
                      <a:pPr>
                        <a:buNone/>
                      </a:pPr>
                      <a:r>
                        <a:rPr lang="en-CA" sz="1000" noProof="0">
                          <a:latin typeface="+mn-lt"/>
                        </a:rPr>
                        <a:t>Addressing frequently asked question related to the Data Nodes within the NORTH platform.</a:t>
                      </a:r>
                    </a:p>
                  </a:txBody>
                  <a:tcPr/>
                </a:tc>
                <a:extLst>
                  <a:ext uri="{0D108BD9-81ED-4DB2-BD59-A6C34878D82A}">
                    <a16:rowId xmlns:a16="http://schemas.microsoft.com/office/drawing/2014/main" val="2953820215"/>
                  </a:ext>
                </a:extLst>
              </a:tr>
              <a:tr h="350888">
                <a:tc>
                  <a:txBody>
                    <a:bodyPr/>
                    <a:lstStyle/>
                    <a:p>
                      <a:pPr marL="0" marR="0">
                        <a:lnSpc>
                          <a:spcPct val="115000"/>
                        </a:lnSpc>
                        <a:spcAft>
                          <a:spcPts val="800"/>
                        </a:spcAft>
                        <a:buNone/>
                      </a:pPr>
                      <a:r>
                        <a:rPr lang="en-CA" sz="1000" b="1" kern="100" noProof="0">
                          <a:solidFill>
                            <a:srgbClr val="0070C0"/>
                          </a:solidFill>
                          <a:effectLst/>
                          <a:latin typeface="+mn-lt"/>
                        </a:rPr>
                        <a:t>1.3 NORTH Data Node Blueprint</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8580" marR="68580"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Illustrate the data capabilities within a business‑owned space where data is managed and shared for reuse across the enterprise for </a:t>
                      </a:r>
                      <a:r>
                        <a:rPr lang="en-CA" sz="1000" b="0" kern="100" noProof="0">
                          <a:solidFill>
                            <a:schemeClr val="tx1">
                              <a:lumMod val="50000"/>
                            </a:schemeClr>
                          </a:solidFill>
                          <a:effectLst/>
                          <a:latin typeface="+mn-lt"/>
                        </a:rPr>
                        <a:t>analytical/operational </a:t>
                      </a:r>
                      <a:r>
                        <a:rPr lang="en-CA" sz="1000" kern="100" noProof="0">
                          <a:solidFill>
                            <a:schemeClr val="tx1">
                              <a:lumMod val="50000"/>
                            </a:schemeClr>
                          </a:solidFill>
                          <a:effectLst/>
                          <a:latin typeface="+mn-lt"/>
                        </a:rPr>
                        <a:t>data, and AI-Ready data.</a:t>
                      </a:r>
                      <a:endPar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27175876"/>
                  </a:ext>
                </a:extLst>
              </a:tr>
              <a:tr h="350888">
                <a:tc>
                  <a:txBody>
                    <a:bodyPr/>
                    <a:lstStyle/>
                    <a:p>
                      <a:pPr marL="0" marR="0">
                        <a:lnSpc>
                          <a:spcPct val="115000"/>
                        </a:lnSpc>
                        <a:spcAft>
                          <a:spcPts val="800"/>
                        </a:spcAft>
                        <a:buNone/>
                      </a:pPr>
                      <a:r>
                        <a:rPr lang="en-CA" sz="1000" b="1" kern="100" noProof="0">
                          <a:solidFill>
                            <a:srgbClr val="0070C0"/>
                          </a:solidFill>
                          <a:effectLst/>
                          <a:latin typeface="+mn-lt"/>
                        </a:rPr>
                        <a:t>1.4 Shared Services and Connectivity: Accessing Data Products Across Nodes</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8580" marR="68580"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Illustrate how the NORTH platform provides secure, standardized connectivity that enables teams to discover and access data products across business data nodes, supporting enterprise reuse without creating silos.</a:t>
                      </a:r>
                      <a:endPar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916236213"/>
                  </a:ext>
                </a:extLst>
              </a:tr>
              <a:tr h="350888">
                <a:tc>
                  <a:txBody>
                    <a:bodyPr/>
                    <a:lstStyle/>
                    <a:p>
                      <a:pPr marL="0" marR="0">
                        <a:lnSpc>
                          <a:spcPct val="115000"/>
                        </a:lnSpc>
                        <a:spcAft>
                          <a:spcPts val="800"/>
                        </a:spcAft>
                        <a:buNone/>
                      </a:pPr>
                      <a:r>
                        <a:rPr lang="en-CA" sz="1000" b="1" kern="100" noProof="0">
                          <a:solidFill>
                            <a:srgbClr val="0070C0"/>
                          </a:solidFill>
                          <a:effectLst/>
                          <a:latin typeface="+mn-lt"/>
                        </a:rPr>
                        <a:t>1.5 360 Views Blueprint</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8580" marR="68580"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Illustrate how 360 Views are assembled by combining mastered data from MDM with relevant business data nodes to support enterprise reuse and decision‑making.</a:t>
                      </a:r>
                      <a:endPar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47659469"/>
                  </a:ext>
                </a:extLst>
              </a:tr>
              <a:tr h="350888">
                <a:tc>
                  <a:txBody>
                    <a:bodyPr/>
                    <a:lstStyle/>
                    <a:p>
                      <a:pPr marL="0" marR="0">
                        <a:lnSpc>
                          <a:spcPct val="115000"/>
                        </a:lnSpc>
                        <a:spcAft>
                          <a:spcPts val="800"/>
                        </a:spcAft>
                        <a:buNone/>
                      </a:pPr>
                      <a:r>
                        <a:rPr lang="en-CA" sz="1000" kern="100" noProof="0">
                          <a:solidFill>
                            <a:srgbClr val="0070C0"/>
                          </a:solidFill>
                          <a:effectLst/>
                          <a:latin typeface="+mn-lt"/>
                          <a:ea typeface="Aptos" panose="020B0004020202020204" pitchFamily="34" charset="0"/>
                          <a:cs typeface="Times New Roman" panose="02020603050405020304" pitchFamily="18" charset="0"/>
                        </a:rPr>
                        <a:t>1.6 360 Views — Illustrative Data Sourcing</a:t>
                      </a:r>
                    </a:p>
                  </a:txBody>
                  <a:tcPr marL="68580" marR="68580"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rPr>
                        <a:t>Example of how data comes together into a 360 View within the NORTH Platform to enable a business insight/decision.</a:t>
                      </a:r>
                    </a:p>
                  </a:txBody>
                  <a:tcPr marL="68580" marR="68580" marT="0" marB="0" anchor="ctr"/>
                </a:tc>
                <a:extLst>
                  <a:ext uri="{0D108BD9-81ED-4DB2-BD59-A6C34878D82A}">
                    <a16:rowId xmlns:a16="http://schemas.microsoft.com/office/drawing/2014/main" val="352867184"/>
                  </a:ext>
                </a:extLst>
              </a:tr>
            </a:tbl>
          </a:graphicData>
        </a:graphic>
      </p:graphicFrame>
      <p:graphicFrame>
        <p:nvGraphicFramePr>
          <p:cNvPr id="6" name="Table 5">
            <a:extLst>
              <a:ext uri="{FF2B5EF4-FFF2-40B4-BE49-F238E27FC236}">
                <a16:creationId xmlns:a16="http://schemas.microsoft.com/office/drawing/2014/main" id="{861CE244-65E1-F618-9DF1-8E6349372361}"/>
              </a:ext>
            </a:extLst>
          </p:cNvPr>
          <p:cNvGraphicFramePr>
            <a:graphicFrameLocks noGrp="1"/>
          </p:cNvGraphicFramePr>
          <p:nvPr>
            <p:extLst>
              <p:ext uri="{D42A27DB-BD31-4B8C-83A1-F6EECF244321}">
                <p14:modId xmlns:p14="http://schemas.microsoft.com/office/powerpoint/2010/main" val="773699420"/>
              </p:ext>
            </p:extLst>
          </p:nvPr>
        </p:nvGraphicFramePr>
        <p:xfrm>
          <a:off x="390000" y="4489973"/>
          <a:ext cx="11420475" cy="1393971"/>
        </p:xfrm>
        <a:graphic>
          <a:graphicData uri="http://schemas.openxmlformats.org/drawingml/2006/table">
            <a:tbl>
              <a:tblPr firstRow="1" firstCol="1" bandRow="1">
                <a:tableStyleId>{5A111915-BE36-4E01-A7E5-04B1672EAD32}</a:tableStyleId>
              </a:tblPr>
              <a:tblGrid>
                <a:gridCol w="3697952">
                  <a:extLst>
                    <a:ext uri="{9D8B030D-6E8A-4147-A177-3AD203B41FA5}">
                      <a16:colId xmlns:a16="http://schemas.microsoft.com/office/drawing/2014/main" val="798452702"/>
                    </a:ext>
                  </a:extLst>
                </a:gridCol>
                <a:gridCol w="7722523">
                  <a:extLst>
                    <a:ext uri="{9D8B030D-6E8A-4147-A177-3AD203B41FA5}">
                      <a16:colId xmlns:a16="http://schemas.microsoft.com/office/drawing/2014/main" val="2378334465"/>
                    </a:ext>
                  </a:extLst>
                </a:gridCol>
              </a:tblGrid>
              <a:tr h="216381">
                <a:tc>
                  <a:txBody>
                    <a:bodyPr/>
                    <a:lstStyle/>
                    <a:p>
                      <a:pPr marL="0" marR="0">
                        <a:lnSpc>
                          <a:spcPct val="115000"/>
                        </a:lnSpc>
                        <a:spcAft>
                          <a:spcPts val="800"/>
                        </a:spcAft>
                        <a:buNone/>
                      </a:pPr>
                      <a:r>
                        <a:rPr lang="en-CA" sz="1050" b="1" kern="100" noProof="0">
                          <a:solidFill>
                            <a:schemeClr val="bg1"/>
                          </a:solidFill>
                          <a:effectLst/>
                          <a:latin typeface="+mj-lt"/>
                        </a:rPr>
                        <a:t>Item</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3444" marR="63444" marT="0" marB="0" anchor="ctr">
                    <a:solidFill>
                      <a:schemeClr val="tx2"/>
                    </a:solidFill>
                  </a:tcPr>
                </a:tc>
                <a:tc>
                  <a:txBody>
                    <a:bodyPr/>
                    <a:lstStyle/>
                    <a:p>
                      <a:pPr marL="0" marR="0">
                        <a:lnSpc>
                          <a:spcPct val="115000"/>
                        </a:lnSpc>
                        <a:spcAft>
                          <a:spcPts val="800"/>
                        </a:spcAft>
                        <a:buNone/>
                      </a:pPr>
                      <a:r>
                        <a:rPr lang="en-CA" sz="1050" b="1" kern="100" noProof="0">
                          <a:solidFill>
                            <a:schemeClr val="bg1"/>
                          </a:solidFill>
                          <a:effectLst/>
                          <a:latin typeface="+mj-lt"/>
                        </a:rPr>
                        <a:t>Description</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3444" marR="63444" marT="0" marB="0" anchor="ctr">
                    <a:solidFill>
                      <a:schemeClr val="tx2"/>
                    </a:solidFill>
                  </a:tcPr>
                </a:tc>
                <a:extLst>
                  <a:ext uri="{0D108BD9-81ED-4DB2-BD59-A6C34878D82A}">
                    <a16:rowId xmlns:a16="http://schemas.microsoft.com/office/drawing/2014/main" val="3233904366"/>
                  </a:ext>
                </a:extLst>
              </a:tr>
              <a:tr h="392530">
                <a:tc>
                  <a:txBody>
                    <a:bodyPr/>
                    <a:lstStyle/>
                    <a:p>
                      <a:pPr marL="0" marR="0">
                        <a:lnSpc>
                          <a:spcPct val="115000"/>
                        </a:lnSpc>
                        <a:spcAft>
                          <a:spcPts val="800"/>
                        </a:spcAft>
                        <a:buNone/>
                      </a:pPr>
                      <a:r>
                        <a:rPr lang="en-CA" sz="1000" b="1" kern="100" noProof="0">
                          <a:solidFill>
                            <a:srgbClr val="0070C0"/>
                          </a:solidFill>
                          <a:effectLst/>
                          <a:latin typeface="+mn-lt"/>
                          <a:ea typeface="Aptos" panose="020B0004020202020204" pitchFamily="34" charset="0"/>
                          <a:cs typeface="Times New Roman" panose="02020603050405020304" pitchFamily="18" charset="0"/>
                        </a:rPr>
                        <a:t>2.1 Business Data Node (Architecture-Oriented)</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444" marR="63444"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A more detailed view of how structured and unstructured data is stored, processed, and accessed within a node.</a:t>
                      </a:r>
                      <a:endPar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endParaRPr>
                    </a:p>
                  </a:txBody>
                  <a:tcPr marL="63444" marR="63444" marT="0" marB="0" anchor="ctr"/>
                </a:tc>
                <a:extLst>
                  <a:ext uri="{0D108BD9-81ED-4DB2-BD59-A6C34878D82A}">
                    <a16:rowId xmlns:a16="http://schemas.microsoft.com/office/drawing/2014/main" val="3128981057"/>
                  </a:ext>
                </a:extLst>
              </a:tr>
              <a:tr h="392530">
                <a:tc>
                  <a:txBody>
                    <a:bodyPr/>
                    <a:lstStyle/>
                    <a:p>
                      <a:pPr marL="0" marR="0">
                        <a:lnSpc>
                          <a:spcPct val="115000"/>
                        </a:lnSpc>
                        <a:spcAft>
                          <a:spcPts val="800"/>
                        </a:spcAft>
                        <a:buNone/>
                      </a:pPr>
                      <a:r>
                        <a:rPr lang="en-CA" sz="1000" b="1" kern="100" noProof="0">
                          <a:solidFill>
                            <a:srgbClr val="0070C0"/>
                          </a:solidFill>
                          <a:effectLst/>
                          <a:latin typeface="+mn-lt"/>
                        </a:rPr>
                        <a:t>2.2 Multi‑Cloud Architecture Blueprint</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444" marR="63444"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rPr>
                        <a:t>Illustrate how the end-to-end Data Strategy is delivered and enabled across multiple cloud platforms.</a:t>
                      </a:r>
                    </a:p>
                  </a:txBody>
                  <a:tcPr marL="63444" marR="63444" marT="0" marB="0" anchor="ctr">
                    <a:solidFill>
                      <a:schemeClr val="bg1">
                        <a:lumMod val="95000"/>
                      </a:schemeClr>
                    </a:solidFill>
                  </a:tcPr>
                </a:tc>
                <a:extLst>
                  <a:ext uri="{0D108BD9-81ED-4DB2-BD59-A6C34878D82A}">
                    <a16:rowId xmlns:a16="http://schemas.microsoft.com/office/drawing/2014/main" val="1973064862"/>
                  </a:ext>
                </a:extLst>
              </a:tr>
              <a:tr h="392530">
                <a:tc>
                  <a:txBody>
                    <a:bodyPr/>
                    <a:lstStyle/>
                    <a:p>
                      <a:pPr marL="0" marR="0">
                        <a:lnSpc>
                          <a:spcPct val="115000"/>
                        </a:lnSpc>
                        <a:spcAft>
                          <a:spcPts val="800"/>
                        </a:spcAft>
                        <a:buNone/>
                      </a:pPr>
                      <a:r>
                        <a:rPr lang="en-CA" sz="1000" b="1" kern="100" noProof="0">
                          <a:solidFill>
                            <a:srgbClr val="0070C0"/>
                          </a:solidFill>
                          <a:effectLst/>
                          <a:latin typeface="+mn-lt"/>
                        </a:rPr>
                        <a:t>2.3 Shared Services and Connectivity: Cross‑Region Data Product Access</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444" marR="63444"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Illustrate how data products are securely stored and accessed across regions while respecting regional and regulatory requirements.</a:t>
                      </a:r>
                      <a:endPar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endParaRPr>
                    </a:p>
                  </a:txBody>
                  <a:tcPr marL="63444" marR="63444" marT="0" marB="0" anchor="ctr"/>
                </a:tc>
                <a:extLst>
                  <a:ext uri="{0D108BD9-81ED-4DB2-BD59-A6C34878D82A}">
                    <a16:rowId xmlns:a16="http://schemas.microsoft.com/office/drawing/2014/main" val="2419362208"/>
                  </a:ext>
                </a:extLst>
              </a:tr>
            </a:tbl>
          </a:graphicData>
        </a:graphic>
      </p:graphicFrame>
      <p:sp>
        <p:nvSpPr>
          <p:cNvPr id="7" name="TextBox 6">
            <a:extLst>
              <a:ext uri="{FF2B5EF4-FFF2-40B4-BE49-F238E27FC236}">
                <a16:creationId xmlns:a16="http://schemas.microsoft.com/office/drawing/2014/main" id="{E36AA1C2-8035-007E-84F5-EEA077E7417D}"/>
              </a:ext>
            </a:extLst>
          </p:cNvPr>
          <p:cNvSpPr txBox="1"/>
          <p:nvPr/>
        </p:nvSpPr>
        <p:spPr>
          <a:xfrm>
            <a:off x="390000" y="1148686"/>
            <a:ext cx="226205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tx2"/>
                </a:solidFill>
                <a:latin typeface="+mj-lt"/>
              </a:rPr>
              <a:t>1. L1 Blueprints (Business Led)</a:t>
            </a:r>
          </a:p>
        </p:txBody>
      </p:sp>
      <p:sp>
        <p:nvSpPr>
          <p:cNvPr id="8" name="TextBox 7">
            <a:extLst>
              <a:ext uri="{FF2B5EF4-FFF2-40B4-BE49-F238E27FC236}">
                <a16:creationId xmlns:a16="http://schemas.microsoft.com/office/drawing/2014/main" id="{5F52E3C8-499F-7D4C-BFBC-E4D9B898DB3C}"/>
              </a:ext>
            </a:extLst>
          </p:cNvPr>
          <p:cNvSpPr txBox="1"/>
          <p:nvPr/>
        </p:nvSpPr>
        <p:spPr>
          <a:xfrm>
            <a:off x="390000" y="4255687"/>
            <a:ext cx="3764622"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tx2"/>
                </a:solidFill>
                <a:latin typeface="+mj-lt"/>
              </a:rPr>
              <a:t>2. L2 Blueprints (Builds on L1 by adding technology)</a:t>
            </a:r>
          </a:p>
        </p:txBody>
      </p:sp>
    </p:spTree>
    <p:extLst>
      <p:ext uri="{BB962C8B-B14F-4D97-AF65-F5344CB8AC3E}">
        <p14:creationId xmlns:p14="http://schemas.microsoft.com/office/powerpoint/2010/main" val="3583270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8AB6-4986-BBCF-ACA2-6479D2B2A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CB61A-26FA-7B32-D475-3BC6F7B1503B}"/>
              </a:ext>
            </a:extLst>
          </p:cNvPr>
          <p:cNvSpPr>
            <a:spLocks noGrp="1"/>
          </p:cNvSpPr>
          <p:nvPr>
            <p:ph type="title"/>
          </p:nvPr>
        </p:nvSpPr>
        <p:spPr>
          <a:xfrm>
            <a:off x="289471" y="446145"/>
            <a:ext cx="11412000" cy="405102"/>
          </a:xfrm>
        </p:spPr>
        <p:txBody>
          <a:bodyPr/>
          <a:lstStyle/>
          <a:p>
            <a:r>
              <a:rPr lang="en-CA" noProof="0">
                <a:latin typeface="+mj-lt"/>
              </a:rPr>
              <a:t>Table of Content</a:t>
            </a:r>
          </a:p>
        </p:txBody>
      </p:sp>
      <p:sp>
        <p:nvSpPr>
          <p:cNvPr id="3" name="Slide Number Placeholder 2">
            <a:extLst>
              <a:ext uri="{FF2B5EF4-FFF2-40B4-BE49-F238E27FC236}">
                <a16:creationId xmlns:a16="http://schemas.microsoft.com/office/drawing/2014/main" id="{D174565C-0103-DB57-9D4B-F2BB03B3C756}"/>
              </a:ext>
            </a:extLst>
          </p:cNvPr>
          <p:cNvSpPr>
            <a:spLocks noGrp="1"/>
          </p:cNvSpPr>
          <p:nvPr>
            <p:ph type="sldNum" sz="quarter" idx="12"/>
          </p:nvPr>
        </p:nvSpPr>
        <p:spPr/>
        <p:txBody>
          <a:bodyPr/>
          <a:lstStyle/>
          <a:p>
            <a:fld id="{3CBD822F-ED39-4FC2-B5B5-D2EAB6238DC3}" type="slidenum">
              <a:rPr lang="en-CA" noProof="0" smtClean="0">
                <a:latin typeface="+mn-lt"/>
              </a:rPr>
              <a:pPr/>
              <a:t>4</a:t>
            </a:fld>
            <a:endParaRPr lang="en-CA" noProof="0">
              <a:latin typeface="+mn-lt"/>
            </a:endParaRPr>
          </a:p>
        </p:txBody>
      </p:sp>
      <p:sp>
        <p:nvSpPr>
          <p:cNvPr id="4" name="Text Placeholder 3">
            <a:extLst>
              <a:ext uri="{FF2B5EF4-FFF2-40B4-BE49-F238E27FC236}">
                <a16:creationId xmlns:a16="http://schemas.microsoft.com/office/drawing/2014/main" id="{E8292B9B-6059-398D-93DF-6011A667607C}"/>
              </a:ext>
            </a:extLst>
          </p:cNvPr>
          <p:cNvSpPr>
            <a:spLocks noGrp="1"/>
          </p:cNvSpPr>
          <p:nvPr>
            <p:ph type="body" sz="quarter" idx="13"/>
          </p:nvPr>
        </p:nvSpPr>
        <p:spPr/>
        <p:txBody>
          <a:bodyPr/>
          <a:lstStyle/>
          <a:p>
            <a:r>
              <a:rPr lang="en-CA" noProof="0">
                <a:latin typeface="Graphik" panose="020B0503030202060203" pitchFamily="34" charset="0"/>
              </a:rPr>
              <a:t> </a:t>
            </a:r>
          </a:p>
        </p:txBody>
      </p:sp>
      <p:graphicFrame>
        <p:nvGraphicFramePr>
          <p:cNvPr id="10" name="Table 9">
            <a:extLst>
              <a:ext uri="{FF2B5EF4-FFF2-40B4-BE49-F238E27FC236}">
                <a16:creationId xmlns:a16="http://schemas.microsoft.com/office/drawing/2014/main" id="{D3249027-1EA8-685C-72AF-5B5BC7A4A9E0}"/>
              </a:ext>
            </a:extLst>
          </p:cNvPr>
          <p:cNvGraphicFramePr>
            <a:graphicFrameLocks noGrp="1"/>
          </p:cNvGraphicFramePr>
          <p:nvPr>
            <p:extLst>
              <p:ext uri="{D42A27DB-BD31-4B8C-83A1-F6EECF244321}">
                <p14:modId xmlns:p14="http://schemas.microsoft.com/office/powerpoint/2010/main" val="1658804347"/>
              </p:ext>
            </p:extLst>
          </p:nvPr>
        </p:nvGraphicFramePr>
        <p:xfrm>
          <a:off x="289471" y="1490636"/>
          <a:ext cx="11420475" cy="921838"/>
        </p:xfrm>
        <a:graphic>
          <a:graphicData uri="http://schemas.openxmlformats.org/drawingml/2006/table">
            <a:tbl>
              <a:tblPr firstRow="1" firstCol="1" bandRow="1">
                <a:tableStyleId>{5A111915-BE36-4E01-A7E5-04B1672EAD32}</a:tableStyleId>
              </a:tblPr>
              <a:tblGrid>
                <a:gridCol w="3699094">
                  <a:extLst>
                    <a:ext uri="{9D8B030D-6E8A-4147-A177-3AD203B41FA5}">
                      <a16:colId xmlns:a16="http://schemas.microsoft.com/office/drawing/2014/main" val="2146299482"/>
                    </a:ext>
                  </a:extLst>
                </a:gridCol>
                <a:gridCol w="7721381">
                  <a:extLst>
                    <a:ext uri="{9D8B030D-6E8A-4147-A177-3AD203B41FA5}">
                      <a16:colId xmlns:a16="http://schemas.microsoft.com/office/drawing/2014/main" val="2564633520"/>
                    </a:ext>
                  </a:extLst>
                </a:gridCol>
              </a:tblGrid>
              <a:tr h="184984">
                <a:tc>
                  <a:txBody>
                    <a:bodyPr/>
                    <a:lstStyle/>
                    <a:p>
                      <a:pPr marL="0" marR="0">
                        <a:lnSpc>
                          <a:spcPct val="115000"/>
                        </a:lnSpc>
                        <a:spcAft>
                          <a:spcPts val="800"/>
                        </a:spcAft>
                        <a:buNone/>
                      </a:pPr>
                      <a:r>
                        <a:rPr lang="en-CA" sz="1050" b="1" kern="100" noProof="0">
                          <a:solidFill>
                            <a:schemeClr val="bg1"/>
                          </a:solidFill>
                          <a:effectLst/>
                          <a:latin typeface="+mj-lt"/>
                        </a:rPr>
                        <a:t>Item</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3463" marR="63463" marT="0" marB="0" anchor="ctr">
                    <a:solidFill>
                      <a:schemeClr val="tx2"/>
                    </a:solidFill>
                  </a:tcPr>
                </a:tc>
                <a:tc>
                  <a:txBody>
                    <a:bodyPr/>
                    <a:lstStyle/>
                    <a:p>
                      <a:pPr marL="0" marR="0">
                        <a:lnSpc>
                          <a:spcPct val="115000"/>
                        </a:lnSpc>
                        <a:spcAft>
                          <a:spcPts val="800"/>
                        </a:spcAft>
                        <a:buNone/>
                      </a:pPr>
                      <a:r>
                        <a:rPr lang="en-CA" sz="1050" b="1" kern="100" noProof="0">
                          <a:solidFill>
                            <a:schemeClr val="bg1"/>
                          </a:solidFill>
                          <a:effectLst/>
                          <a:latin typeface="+mj-lt"/>
                        </a:rPr>
                        <a:t>Description</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3463" marR="63463" marT="0" marB="0" anchor="ctr">
                    <a:solidFill>
                      <a:schemeClr val="tx2"/>
                    </a:solidFill>
                  </a:tcPr>
                </a:tc>
                <a:extLst>
                  <a:ext uri="{0D108BD9-81ED-4DB2-BD59-A6C34878D82A}">
                    <a16:rowId xmlns:a16="http://schemas.microsoft.com/office/drawing/2014/main" val="2351683898"/>
                  </a:ext>
                </a:extLst>
              </a:tr>
              <a:tr h="368427">
                <a:tc>
                  <a:txBody>
                    <a:bodyPr/>
                    <a:lstStyle/>
                    <a:p>
                      <a:pPr marL="0" marR="0">
                        <a:lnSpc>
                          <a:spcPct val="115000"/>
                        </a:lnSpc>
                        <a:spcAft>
                          <a:spcPts val="800"/>
                        </a:spcAft>
                        <a:buNone/>
                      </a:pPr>
                      <a:r>
                        <a:rPr lang="en-CA" sz="1000" b="1" kern="100" noProof="0">
                          <a:solidFill>
                            <a:srgbClr val="0070C0"/>
                          </a:solidFill>
                          <a:effectLst/>
                          <a:latin typeface="+mn-lt"/>
                        </a:rPr>
                        <a:t>3.1 Enterprise Information Model – Domains</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463" marR="63463"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A shared business language used to classify, govern, and align data consistently across the enterprise.</a:t>
                      </a:r>
                      <a:endParaRPr lang="en-CA" sz="1000" kern="100" noProof="0">
                        <a:solidFill>
                          <a:schemeClr val="tx1">
                            <a:lumMod val="50000"/>
                          </a:schemeClr>
                        </a:solidFill>
                        <a:effectLst/>
                        <a:latin typeface="+mn-lt"/>
                        <a:ea typeface="Aptos" panose="020B0004020202020204" pitchFamily="34" charset="0"/>
                        <a:cs typeface="Times New Roman" panose="02020603050405020304" pitchFamily="18" charset="0"/>
                      </a:endParaRPr>
                    </a:p>
                  </a:txBody>
                  <a:tcPr marL="63463" marR="63463" marT="0" marB="0" anchor="ctr">
                    <a:solidFill>
                      <a:schemeClr val="bg1">
                        <a:lumMod val="95000"/>
                      </a:schemeClr>
                    </a:solidFill>
                  </a:tcPr>
                </a:tc>
                <a:extLst>
                  <a:ext uri="{0D108BD9-81ED-4DB2-BD59-A6C34878D82A}">
                    <a16:rowId xmlns:a16="http://schemas.microsoft.com/office/drawing/2014/main" val="3385422354"/>
                  </a:ext>
                </a:extLst>
              </a:tr>
              <a:tr h="368427">
                <a:tc>
                  <a:txBody>
                    <a:bodyPr/>
                    <a:lstStyle/>
                    <a:p>
                      <a:pPr marL="0" marR="0">
                        <a:lnSpc>
                          <a:spcPct val="115000"/>
                        </a:lnSpc>
                        <a:spcAft>
                          <a:spcPts val="800"/>
                        </a:spcAft>
                        <a:buNone/>
                      </a:pPr>
                      <a:r>
                        <a:rPr lang="en-CA" sz="1000" b="1" kern="100" noProof="0">
                          <a:solidFill>
                            <a:srgbClr val="0070C0"/>
                          </a:solidFill>
                          <a:effectLst/>
                          <a:latin typeface="+mn-lt"/>
                          <a:ea typeface="Aptos" panose="020B0004020202020204" pitchFamily="34" charset="0"/>
                          <a:cs typeface="Times New Roman" panose="02020603050405020304" pitchFamily="18" charset="0"/>
                        </a:rPr>
                        <a:t>3.2 Person – Canada Life Ontology Model</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463" marR="63463"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rPr>
                        <a:t>Defines the canonical representation of people and organizations, including their identities, relationships, and governance rules, across the enterprise.</a:t>
                      </a:r>
                      <a:endParaRPr lang="en-CA" sz="1000" kern="100" noProof="0">
                        <a:solidFill>
                          <a:schemeClr val="tx1">
                            <a:lumMod val="50000"/>
                          </a:schemeClr>
                        </a:solidFill>
                        <a:effectLst/>
                        <a:highlight>
                          <a:srgbClr val="FFFF00"/>
                        </a:highlight>
                        <a:latin typeface="+mn-lt"/>
                        <a:ea typeface="Aptos" panose="020B0004020202020204" pitchFamily="34" charset="0"/>
                        <a:cs typeface="Times New Roman" panose="02020603050405020304" pitchFamily="18" charset="0"/>
                      </a:endParaRPr>
                    </a:p>
                  </a:txBody>
                  <a:tcPr marL="63463" marR="63463" marT="0" marB="0" anchor="ctr"/>
                </a:tc>
                <a:extLst>
                  <a:ext uri="{0D108BD9-81ED-4DB2-BD59-A6C34878D82A}">
                    <a16:rowId xmlns:a16="http://schemas.microsoft.com/office/drawing/2014/main" val="3244236274"/>
                  </a:ext>
                </a:extLst>
              </a:tr>
            </a:tbl>
          </a:graphicData>
        </a:graphic>
      </p:graphicFrame>
      <p:graphicFrame>
        <p:nvGraphicFramePr>
          <p:cNvPr id="11" name="Table 10">
            <a:extLst>
              <a:ext uri="{FF2B5EF4-FFF2-40B4-BE49-F238E27FC236}">
                <a16:creationId xmlns:a16="http://schemas.microsoft.com/office/drawing/2014/main" id="{42A79AE6-D1CE-D457-829C-7EC0ECE29745}"/>
              </a:ext>
            </a:extLst>
          </p:cNvPr>
          <p:cNvGraphicFramePr>
            <a:graphicFrameLocks noGrp="1"/>
          </p:cNvGraphicFramePr>
          <p:nvPr>
            <p:extLst>
              <p:ext uri="{D42A27DB-BD31-4B8C-83A1-F6EECF244321}">
                <p14:modId xmlns:p14="http://schemas.microsoft.com/office/powerpoint/2010/main" val="463856927"/>
              </p:ext>
            </p:extLst>
          </p:nvPr>
        </p:nvGraphicFramePr>
        <p:xfrm>
          <a:off x="289471" y="3016689"/>
          <a:ext cx="11420475" cy="1092030"/>
        </p:xfrm>
        <a:graphic>
          <a:graphicData uri="http://schemas.openxmlformats.org/drawingml/2006/table">
            <a:tbl>
              <a:tblPr firstRow="1" firstCol="1" bandRow="1">
                <a:tableStyleId>{5A111915-BE36-4E01-A7E5-04B1672EAD32}</a:tableStyleId>
              </a:tblPr>
              <a:tblGrid>
                <a:gridCol w="3682043">
                  <a:extLst>
                    <a:ext uri="{9D8B030D-6E8A-4147-A177-3AD203B41FA5}">
                      <a16:colId xmlns:a16="http://schemas.microsoft.com/office/drawing/2014/main" val="3495954476"/>
                    </a:ext>
                  </a:extLst>
                </a:gridCol>
                <a:gridCol w="7738432">
                  <a:extLst>
                    <a:ext uri="{9D8B030D-6E8A-4147-A177-3AD203B41FA5}">
                      <a16:colId xmlns:a16="http://schemas.microsoft.com/office/drawing/2014/main" val="1515764007"/>
                    </a:ext>
                  </a:extLst>
                </a:gridCol>
              </a:tblGrid>
              <a:tr h="184131">
                <a:tc>
                  <a:txBody>
                    <a:bodyPr/>
                    <a:lstStyle/>
                    <a:p>
                      <a:pPr marL="0" marR="0">
                        <a:lnSpc>
                          <a:spcPct val="115000"/>
                        </a:lnSpc>
                        <a:spcAft>
                          <a:spcPts val="800"/>
                        </a:spcAft>
                        <a:buNone/>
                      </a:pPr>
                      <a:r>
                        <a:rPr lang="en-CA" sz="1050" b="1" kern="100" noProof="0">
                          <a:solidFill>
                            <a:schemeClr val="bg1"/>
                          </a:solidFill>
                          <a:effectLst/>
                          <a:latin typeface="+mj-lt"/>
                        </a:rPr>
                        <a:t>Item</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3171" marR="63171" marT="0" marB="0" anchor="ctr">
                    <a:solidFill>
                      <a:schemeClr val="tx2"/>
                    </a:solidFill>
                  </a:tcPr>
                </a:tc>
                <a:tc>
                  <a:txBody>
                    <a:bodyPr/>
                    <a:lstStyle/>
                    <a:p>
                      <a:pPr marL="0" marR="0">
                        <a:lnSpc>
                          <a:spcPct val="115000"/>
                        </a:lnSpc>
                        <a:spcAft>
                          <a:spcPts val="800"/>
                        </a:spcAft>
                        <a:buNone/>
                      </a:pPr>
                      <a:r>
                        <a:rPr lang="en-CA" sz="1050" b="1" kern="100" noProof="0">
                          <a:solidFill>
                            <a:schemeClr val="bg1"/>
                          </a:solidFill>
                          <a:effectLst/>
                          <a:latin typeface="+mj-lt"/>
                        </a:rPr>
                        <a:t>Description</a:t>
                      </a:r>
                      <a:endParaRPr lang="en-CA" sz="1050" kern="100" noProof="0">
                        <a:solidFill>
                          <a:schemeClr val="bg1"/>
                        </a:solidFill>
                        <a:effectLst/>
                        <a:latin typeface="+mj-lt"/>
                        <a:ea typeface="Aptos" panose="020B0004020202020204" pitchFamily="34" charset="0"/>
                        <a:cs typeface="Times New Roman" panose="02020603050405020304" pitchFamily="18" charset="0"/>
                      </a:endParaRPr>
                    </a:p>
                  </a:txBody>
                  <a:tcPr marL="63171" marR="63171" marT="0" marB="0" anchor="ctr">
                    <a:solidFill>
                      <a:schemeClr val="tx2"/>
                    </a:solidFill>
                  </a:tcPr>
                </a:tc>
                <a:extLst>
                  <a:ext uri="{0D108BD9-81ED-4DB2-BD59-A6C34878D82A}">
                    <a16:rowId xmlns:a16="http://schemas.microsoft.com/office/drawing/2014/main" val="2333070080"/>
                  </a:ext>
                </a:extLst>
              </a:tr>
              <a:tr h="330390">
                <a:tc>
                  <a:txBody>
                    <a:bodyPr/>
                    <a:lstStyle/>
                    <a:p>
                      <a:pPr marL="0" marR="0">
                        <a:lnSpc>
                          <a:spcPct val="115000"/>
                        </a:lnSpc>
                        <a:spcAft>
                          <a:spcPts val="800"/>
                        </a:spcAft>
                        <a:buNone/>
                      </a:pPr>
                      <a:r>
                        <a:rPr lang="en-CA" sz="1000" kern="100" noProof="0">
                          <a:solidFill>
                            <a:srgbClr val="0070C0"/>
                          </a:solidFill>
                          <a:effectLst/>
                          <a:latin typeface="+mn-lt"/>
                          <a:ea typeface="Aptos" panose="020B0004020202020204" pitchFamily="34" charset="0"/>
                          <a:cs typeface="Times New Roman"/>
                        </a:rPr>
                        <a:t>4.1 North Architecture Patterns</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171" marR="63171"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ea typeface="Aptos" panose="020B0004020202020204" pitchFamily="34" charset="0"/>
                          <a:cs typeface="Times New Roman"/>
                        </a:rPr>
                        <a:t>Repeatable design standards defining how data in NORTH is ingested, stored, processed, governed, and consumed — covering 20 core patterns to run the platform and 30 extended patterns to scale and innovate</a:t>
                      </a:r>
                    </a:p>
                  </a:txBody>
                  <a:tcPr marL="63171" marR="63171" marT="0" marB="0" anchor="ctr">
                    <a:solidFill>
                      <a:schemeClr val="bg1">
                        <a:lumMod val="95000"/>
                      </a:schemeClr>
                    </a:solidFill>
                  </a:tcPr>
                </a:tc>
                <a:extLst>
                  <a:ext uri="{0D108BD9-81ED-4DB2-BD59-A6C34878D82A}">
                    <a16:rowId xmlns:a16="http://schemas.microsoft.com/office/drawing/2014/main" val="682913433"/>
                  </a:ext>
                </a:extLst>
              </a:tr>
              <a:tr h="330390">
                <a:tc>
                  <a:txBody>
                    <a:bodyPr/>
                    <a:lstStyle/>
                    <a:p>
                      <a:pPr marL="0" marR="0">
                        <a:lnSpc>
                          <a:spcPct val="115000"/>
                        </a:lnSpc>
                        <a:spcAft>
                          <a:spcPts val="800"/>
                        </a:spcAft>
                        <a:buNone/>
                      </a:pPr>
                      <a:r>
                        <a:rPr lang="en-CA" sz="1000" kern="100" noProof="0">
                          <a:solidFill>
                            <a:srgbClr val="0070C0"/>
                          </a:solidFill>
                          <a:effectLst/>
                          <a:latin typeface="+mn-lt"/>
                          <a:ea typeface="Aptos" panose="020B0004020202020204" pitchFamily="34" charset="0"/>
                          <a:cs typeface="Times New Roman"/>
                        </a:rPr>
                        <a:t>4.2 North Platform Data Patterns</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171" marR="63171" marT="0" marB="0" anchor="ctr">
                    <a:solidFill>
                      <a:schemeClr val="bg1">
                        <a:lumMod val="85000"/>
                      </a:schemeClr>
                    </a:solidFill>
                  </a:tcPr>
                </a:tc>
                <a:tc>
                  <a:txBody>
                    <a:bodyPr/>
                    <a:lstStyle/>
                    <a:p>
                      <a:pPr marL="0" marR="0">
                        <a:lnSpc>
                          <a:spcPct val="115000"/>
                        </a:lnSpc>
                        <a:spcAft>
                          <a:spcPts val="800"/>
                        </a:spcAft>
                        <a:buNone/>
                      </a:pPr>
                      <a:r>
                        <a:rPr lang="en-CA" sz="1000" kern="100" noProof="0">
                          <a:solidFill>
                            <a:schemeClr val="tx1">
                              <a:lumMod val="50000"/>
                            </a:schemeClr>
                          </a:solidFill>
                          <a:effectLst/>
                          <a:latin typeface="+mn-lt"/>
                          <a:ea typeface="Aptos" panose="020B0004020202020204" pitchFamily="34" charset="0"/>
                          <a:cs typeface="Times New Roman"/>
                        </a:rPr>
                        <a:t>A visual summary of how the 50 enterprise data patterns are allocated across each layer of the NORTH platform, from data integration and repositories to governance and consumption</a:t>
                      </a:r>
                    </a:p>
                  </a:txBody>
                  <a:tcPr marL="63171" marR="63171" marT="0" marB="0" anchor="ctr">
                    <a:solidFill>
                      <a:schemeClr val="bg1">
                        <a:lumMod val="95000"/>
                      </a:schemeClr>
                    </a:solidFill>
                  </a:tcPr>
                </a:tc>
                <a:extLst>
                  <a:ext uri="{0D108BD9-81ED-4DB2-BD59-A6C34878D82A}">
                    <a16:rowId xmlns:a16="http://schemas.microsoft.com/office/drawing/2014/main" val="1611745553"/>
                  </a:ext>
                </a:extLst>
              </a:tr>
              <a:tr h="236703">
                <a:tc>
                  <a:txBody>
                    <a:bodyPr/>
                    <a:lstStyle/>
                    <a:p>
                      <a:pPr marL="0" marR="0">
                        <a:lnSpc>
                          <a:spcPct val="115000"/>
                        </a:lnSpc>
                        <a:spcAft>
                          <a:spcPts val="800"/>
                        </a:spcAft>
                        <a:buNone/>
                      </a:pPr>
                      <a:r>
                        <a:rPr lang="en-CA" sz="1000" b="1" kern="100" noProof="0">
                          <a:solidFill>
                            <a:srgbClr val="0070C0"/>
                          </a:solidFill>
                          <a:effectLst/>
                          <a:latin typeface="+mn-lt"/>
                        </a:rPr>
                        <a:t>4.3 Data Patterns – Inventory</a:t>
                      </a:r>
                      <a:endParaRPr lang="en-CA" sz="1000" kern="100" noProof="0">
                        <a:solidFill>
                          <a:srgbClr val="0070C0"/>
                        </a:solidFill>
                        <a:effectLst/>
                        <a:latin typeface="+mn-lt"/>
                        <a:ea typeface="Aptos" panose="020B0004020202020204" pitchFamily="34" charset="0"/>
                        <a:cs typeface="Times New Roman" panose="02020603050405020304" pitchFamily="18" charset="0"/>
                      </a:endParaRPr>
                    </a:p>
                  </a:txBody>
                  <a:tcPr marL="63171" marR="63171" marT="0" marB="0" anchor="ctr">
                    <a:solidFill>
                      <a:schemeClr val="bg1">
                        <a:lumMod val="85000"/>
                      </a:schemeClr>
                    </a:solidFill>
                  </a:tcPr>
                </a:tc>
                <a:tc>
                  <a:txBody>
                    <a:bodyPr/>
                    <a:lstStyle/>
                    <a:p>
                      <a:pPr marL="0" marR="0" lvl="0">
                        <a:lnSpc>
                          <a:spcPct val="114999"/>
                        </a:lnSpc>
                        <a:spcAft>
                          <a:spcPts val="800"/>
                        </a:spcAft>
                        <a:buNone/>
                      </a:pPr>
                      <a:r>
                        <a:rPr lang="en-CA" sz="1000" b="0" i="0" u="none" strike="noStrike" kern="100" noProof="0">
                          <a:solidFill>
                            <a:schemeClr val="tx1">
                              <a:lumMod val="50000"/>
                            </a:schemeClr>
                          </a:solidFill>
                          <a:effectLst/>
                          <a:latin typeface="+mn-lt"/>
                        </a:rPr>
                        <a:t>A visual breakdown of 50 enterprise data patterns and how they map across every layer of the NORTH platform</a:t>
                      </a:r>
                      <a:endParaRPr lang="en-CA" noProof="0">
                        <a:latin typeface="+mn-lt"/>
                      </a:endParaRPr>
                    </a:p>
                  </a:txBody>
                  <a:tcPr marL="63171" marR="63171" marT="0" marB="0" anchor="ctr">
                    <a:solidFill>
                      <a:schemeClr val="bg1">
                        <a:lumMod val="95000"/>
                      </a:schemeClr>
                    </a:solidFill>
                  </a:tcPr>
                </a:tc>
                <a:extLst>
                  <a:ext uri="{0D108BD9-81ED-4DB2-BD59-A6C34878D82A}">
                    <a16:rowId xmlns:a16="http://schemas.microsoft.com/office/drawing/2014/main" val="3902279855"/>
                  </a:ext>
                </a:extLst>
              </a:tr>
            </a:tbl>
          </a:graphicData>
        </a:graphic>
      </p:graphicFrame>
      <p:sp>
        <p:nvSpPr>
          <p:cNvPr id="13" name="TextBox 12">
            <a:extLst>
              <a:ext uri="{FF2B5EF4-FFF2-40B4-BE49-F238E27FC236}">
                <a16:creationId xmlns:a16="http://schemas.microsoft.com/office/drawing/2014/main" id="{2DB3DD29-E776-1239-02B3-F9C5F9C4DFE0}"/>
              </a:ext>
            </a:extLst>
          </p:cNvPr>
          <p:cNvSpPr txBox="1"/>
          <p:nvPr/>
        </p:nvSpPr>
        <p:spPr>
          <a:xfrm>
            <a:off x="289470" y="1256350"/>
            <a:ext cx="4036724"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tx2"/>
                </a:solidFill>
                <a:latin typeface="+mj-lt"/>
              </a:rPr>
              <a:t>3. Enterprise Data Domains &amp; Person Ontology </a:t>
            </a:r>
          </a:p>
        </p:txBody>
      </p:sp>
      <p:sp>
        <p:nvSpPr>
          <p:cNvPr id="14" name="TextBox 13">
            <a:extLst>
              <a:ext uri="{FF2B5EF4-FFF2-40B4-BE49-F238E27FC236}">
                <a16:creationId xmlns:a16="http://schemas.microsoft.com/office/drawing/2014/main" id="{BFFF0775-E567-3F1A-9BE6-52806321D4D2}"/>
              </a:ext>
            </a:extLst>
          </p:cNvPr>
          <p:cNvSpPr txBox="1"/>
          <p:nvPr/>
        </p:nvSpPr>
        <p:spPr>
          <a:xfrm>
            <a:off x="289471" y="2782403"/>
            <a:ext cx="226205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tx2"/>
                </a:solidFill>
                <a:latin typeface="+mj-lt"/>
              </a:rPr>
              <a:t>4. Enterprise Data Patterns</a:t>
            </a:r>
          </a:p>
        </p:txBody>
      </p:sp>
    </p:spTree>
    <p:extLst>
      <p:ext uri="{BB962C8B-B14F-4D97-AF65-F5344CB8AC3E}">
        <p14:creationId xmlns:p14="http://schemas.microsoft.com/office/powerpoint/2010/main" val="411800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E0CCC-243E-A532-A357-3AE96A529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D9B88-684D-639B-9DD7-9FCAD95B1CDE}"/>
              </a:ext>
            </a:extLst>
          </p:cNvPr>
          <p:cNvSpPr>
            <a:spLocks noGrp="1"/>
          </p:cNvSpPr>
          <p:nvPr>
            <p:ph type="title"/>
          </p:nvPr>
        </p:nvSpPr>
        <p:spPr>
          <a:xfrm>
            <a:off x="193360" y="-27432"/>
            <a:ext cx="11412000" cy="737501"/>
          </a:xfrm>
        </p:spPr>
        <p:txBody>
          <a:bodyPr wrap="none">
            <a:noAutofit/>
          </a:bodyPr>
          <a:lstStyle/>
          <a:p>
            <a:r>
              <a:rPr lang="en-CA" noProof="0">
                <a:latin typeface="+mj-lt"/>
              </a:rPr>
              <a:t>Recall: Canada Life’s Next-Gen Unified Data Platform for Insight, Innovation, &amp; AI</a:t>
            </a:r>
          </a:p>
        </p:txBody>
      </p:sp>
      <p:sp>
        <p:nvSpPr>
          <p:cNvPr id="3" name="Slide Number Placeholder 2">
            <a:extLst>
              <a:ext uri="{FF2B5EF4-FFF2-40B4-BE49-F238E27FC236}">
                <a16:creationId xmlns:a16="http://schemas.microsoft.com/office/drawing/2014/main" id="{18A8DEF4-2976-BBD8-B75D-3EF045153384}"/>
              </a:ext>
            </a:extLst>
          </p:cNvPr>
          <p:cNvSpPr>
            <a:spLocks noGrp="1"/>
          </p:cNvSpPr>
          <p:nvPr>
            <p:ph type="sldNum" sz="quarter" idx="12"/>
          </p:nvPr>
        </p:nvSpPr>
        <p:spPr/>
        <p:txBody>
          <a:bodyPr/>
          <a:lstStyle/>
          <a:p>
            <a:fld id="{3CBD822F-ED39-4FC2-B5B5-D2EAB6238DC3}" type="slidenum">
              <a:rPr lang="en-CA" noProof="0" smtClean="0">
                <a:latin typeface="+mn-lt"/>
              </a:rPr>
              <a:pPr/>
              <a:t>5</a:t>
            </a:fld>
            <a:endParaRPr lang="en-CA" noProof="0">
              <a:latin typeface="+mn-lt"/>
            </a:endParaRPr>
          </a:p>
        </p:txBody>
      </p:sp>
      <p:sp>
        <p:nvSpPr>
          <p:cNvPr id="4" name="Text Placeholder 3">
            <a:extLst>
              <a:ext uri="{FF2B5EF4-FFF2-40B4-BE49-F238E27FC236}">
                <a16:creationId xmlns:a16="http://schemas.microsoft.com/office/drawing/2014/main" id="{1A1781B0-D260-77B6-B67B-537D567A3213}"/>
              </a:ext>
            </a:extLst>
          </p:cNvPr>
          <p:cNvSpPr>
            <a:spLocks noGrp="1"/>
          </p:cNvSpPr>
          <p:nvPr>
            <p:ph type="body" sz="quarter" idx="13"/>
          </p:nvPr>
        </p:nvSpPr>
        <p:spPr>
          <a:xfrm>
            <a:off x="193360" y="612648"/>
            <a:ext cx="11412000" cy="288147"/>
          </a:xfrm>
        </p:spPr>
        <p:txBody>
          <a:bodyPr/>
          <a:lstStyle/>
          <a:p>
            <a:r>
              <a:rPr lang="en-CA" noProof="0">
                <a:latin typeface="+mj-lt"/>
              </a:rPr>
              <a:t>A modern data foundation that standardizes how insights are created, shared, and operationalized at scale</a:t>
            </a:r>
          </a:p>
        </p:txBody>
      </p:sp>
      <p:sp>
        <p:nvSpPr>
          <p:cNvPr id="5" name="Rectangle 4">
            <a:extLst>
              <a:ext uri="{FF2B5EF4-FFF2-40B4-BE49-F238E27FC236}">
                <a16:creationId xmlns:a16="http://schemas.microsoft.com/office/drawing/2014/main" id="{81ADBA7C-E2A3-A687-F75A-6215CBFA7A4F}"/>
              </a:ext>
            </a:extLst>
          </p:cNvPr>
          <p:cNvSpPr/>
          <p:nvPr/>
        </p:nvSpPr>
        <p:spPr>
          <a:xfrm>
            <a:off x="301124" y="6256495"/>
            <a:ext cx="6610336" cy="289810"/>
          </a:xfrm>
          <a:prstGeom prst="rect">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Autofit/>
          </a:bodyPr>
          <a:lstStyle/>
          <a:p>
            <a:pPr algn="l"/>
            <a:r>
              <a:rPr lang="en-CA" sz="1100" b="1" noProof="0">
                <a:solidFill>
                  <a:schemeClr val="tx1">
                    <a:lumMod val="50000"/>
                  </a:schemeClr>
                </a:solidFill>
              </a:rPr>
              <a:t>*Note: </a:t>
            </a:r>
            <a:r>
              <a:rPr lang="en-CA" sz="1100" i="1" noProof="0">
                <a:solidFill>
                  <a:schemeClr val="tx1">
                    <a:lumMod val="50000"/>
                  </a:schemeClr>
                </a:solidFill>
              </a:rPr>
              <a:t>Data sources &amp; Enterprise Intelligence technologies are not exhaustive and may evolve</a:t>
            </a:r>
          </a:p>
        </p:txBody>
      </p:sp>
      <p:pic>
        <p:nvPicPr>
          <p:cNvPr id="6" name="Picture 4" descr="Informatica - Wikipedia">
            <a:extLst>
              <a:ext uri="{FF2B5EF4-FFF2-40B4-BE49-F238E27FC236}">
                <a16:creationId xmlns:a16="http://schemas.microsoft.com/office/drawing/2014/main" id="{168FA648-C2E3-1862-792F-789F19847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8898" y="5695360"/>
            <a:ext cx="932562" cy="33945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0">
            <a:extLst>
              <a:ext uri="{FF2B5EF4-FFF2-40B4-BE49-F238E27FC236}">
                <a16:creationId xmlns:a16="http://schemas.microsoft.com/office/drawing/2014/main" id="{58E084B6-A945-152F-9FAD-5CB654378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018" y="5599209"/>
            <a:ext cx="901468" cy="4739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2" descr="Azure Logo, Blue Mark, Tech Emblem ...">
            <a:extLst>
              <a:ext uri="{FF2B5EF4-FFF2-40B4-BE49-F238E27FC236}">
                <a16:creationId xmlns:a16="http://schemas.microsoft.com/office/drawing/2014/main" id="{BBF894F3-43A6-ACAF-D0ED-9D7FC4626A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8663" y="5631464"/>
            <a:ext cx="402467" cy="402467"/>
          </a:xfrm>
          <a:prstGeom prst="rect">
            <a:avLst/>
          </a:prstGeom>
          <a:noFill/>
          <a:extLst>
            <a:ext uri="{909E8E84-426E-40DD-AFC4-6F175D3DCCD1}">
              <a14:hiddenFill xmlns:a14="http://schemas.microsoft.com/office/drawing/2010/main">
                <a:solidFill>
                  <a:srgbClr val="FFFFFF"/>
                </a:solidFill>
              </a14:hiddenFill>
            </a:ext>
          </a:extLst>
        </p:spPr>
      </p:pic>
      <p:sp>
        <p:nvSpPr>
          <p:cNvPr id="16" name="Rounded Rectangle 129">
            <a:extLst>
              <a:ext uri="{FF2B5EF4-FFF2-40B4-BE49-F238E27FC236}">
                <a16:creationId xmlns:a16="http://schemas.microsoft.com/office/drawing/2014/main" id="{E086B21B-F277-2313-0ECC-375E5A126796}"/>
              </a:ext>
            </a:extLst>
          </p:cNvPr>
          <p:cNvSpPr/>
          <p:nvPr/>
        </p:nvSpPr>
        <p:spPr>
          <a:xfrm>
            <a:off x="4218070" y="1802424"/>
            <a:ext cx="3842949" cy="3697181"/>
          </a:xfrm>
          <a:prstGeom prst="roundRect">
            <a:avLst>
              <a:gd name="adj" fmla="val 2921"/>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rgbClr val="9A0A26"/>
                </a:solidFill>
                <a:effectLst/>
                <a:uLnTx/>
                <a:uFillTx/>
              </a:rPr>
              <a:t>NORTH</a:t>
            </a:r>
          </a:p>
        </p:txBody>
      </p:sp>
      <p:sp>
        <p:nvSpPr>
          <p:cNvPr id="17" name="Rounded Rectangle 12">
            <a:extLst>
              <a:ext uri="{FF2B5EF4-FFF2-40B4-BE49-F238E27FC236}">
                <a16:creationId xmlns:a16="http://schemas.microsoft.com/office/drawing/2014/main" id="{B1D9AC66-A23E-2430-78D3-757FBC5BBB15}"/>
              </a:ext>
            </a:extLst>
          </p:cNvPr>
          <p:cNvSpPr/>
          <p:nvPr/>
        </p:nvSpPr>
        <p:spPr>
          <a:xfrm>
            <a:off x="5669349" y="2617415"/>
            <a:ext cx="1086235" cy="2038911"/>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rPr>
              <a:t>Governed &amp; High-Quality Data Products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50" b="1" i="0" u="none" strike="noStrike" kern="0" cap="none" spc="0" normalizeH="0" baseline="0" noProof="0">
              <a:ln>
                <a:noFill/>
              </a:ln>
              <a:solidFill>
                <a:srgbClr val="FFFFFF"/>
              </a:solidFill>
              <a:effectLst/>
              <a:uLnTx/>
              <a:uFillTx/>
            </a:endParaRPr>
          </a:p>
        </p:txBody>
      </p:sp>
      <p:sp>
        <p:nvSpPr>
          <p:cNvPr id="18" name="Rectangle 17">
            <a:extLst>
              <a:ext uri="{FF2B5EF4-FFF2-40B4-BE49-F238E27FC236}">
                <a16:creationId xmlns:a16="http://schemas.microsoft.com/office/drawing/2014/main" id="{3260413C-537C-68AB-D993-32D42D1769BD}"/>
              </a:ext>
            </a:extLst>
          </p:cNvPr>
          <p:cNvSpPr/>
          <p:nvPr/>
        </p:nvSpPr>
        <p:spPr>
          <a:xfrm>
            <a:off x="8624093" y="3065712"/>
            <a:ext cx="2395226" cy="513561"/>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1" u="none" strike="noStrike" kern="1200" cap="none" spc="0" normalizeH="0" baseline="0" noProof="0">
                <a:ln>
                  <a:noFill/>
                </a:ln>
                <a:solidFill>
                  <a:srgbClr val="FFFFFF"/>
                </a:solidFill>
                <a:effectLst/>
                <a:uLnTx/>
                <a:uFillTx/>
              </a:rPr>
              <a:t>Experience:</a:t>
            </a:r>
            <a:r>
              <a:rPr kumimoji="0" lang="en-CA" sz="1050" b="0" i="1" u="none" strike="noStrike" kern="1200" cap="none" spc="0" normalizeH="0" baseline="0" noProof="0">
                <a:ln>
                  <a:noFill/>
                </a:ln>
                <a:solidFill>
                  <a:srgbClr val="FFFFFF"/>
                </a:solidFill>
                <a:effectLst/>
                <a:uLnTx/>
                <a:uFillTx/>
              </a:rPr>
              <a:t> Enterprise Applications &amp; Omni-Channel</a:t>
            </a:r>
          </a:p>
        </p:txBody>
      </p:sp>
      <p:sp>
        <p:nvSpPr>
          <p:cNvPr id="19" name="Rectangle 18">
            <a:extLst>
              <a:ext uri="{FF2B5EF4-FFF2-40B4-BE49-F238E27FC236}">
                <a16:creationId xmlns:a16="http://schemas.microsoft.com/office/drawing/2014/main" id="{9056033E-DADF-A041-87E2-CF5300E0D7AD}"/>
              </a:ext>
            </a:extLst>
          </p:cNvPr>
          <p:cNvSpPr/>
          <p:nvPr/>
        </p:nvSpPr>
        <p:spPr>
          <a:xfrm>
            <a:off x="8624093" y="3751598"/>
            <a:ext cx="2395226" cy="471623"/>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0" i="1" u="none" strike="noStrike" kern="1200" cap="none" spc="0" normalizeH="0" baseline="0" noProof="0">
                <a:ln>
                  <a:noFill/>
                </a:ln>
                <a:solidFill>
                  <a:srgbClr val="FFFFFF"/>
                </a:solidFill>
                <a:effectLst/>
                <a:uLnTx/>
                <a:uFillTx/>
              </a:rPr>
              <a:t> </a:t>
            </a:r>
            <a:r>
              <a:rPr lang="en-CA" sz="1050" b="1" i="1" noProof="0">
                <a:solidFill>
                  <a:srgbClr val="FFFFFF"/>
                </a:solidFill>
              </a:rPr>
              <a:t>Insights:</a:t>
            </a:r>
            <a:r>
              <a:rPr lang="en-CA" sz="1050" i="1" noProof="0">
                <a:solidFill>
                  <a:srgbClr val="FFFFFF"/>
                </a:solidFill>
              </a:rPr>
              <a:t> </a:t>
            </a:r>
            <a:r>
              <a:rPr kumimoji="0" lang="en-CA" sz="1050" b="0" i="1" u="none" strike="noStrike" kern="1200" cap="none" spc="0" normalizeH="0" baseline="0" noProof="0">
                <a:ln>
                  <a:noFill/>
                </a:ln>
                <a:solidFill>
                  <a:srgbClr val="FFFFFF"/>
                </a:solidFill>
                <a:effectLst/>
                <a:uLnTx/>
                <a:uFillTx/>
              </a:rPr>
              <a:t>Self Serve Analytics </a:t>
            </a:r>
          </a:p>
        </p:txBody>
      </p:sp>
      <p:sp>
        <p:nvSpPr>
          <p:cNvPr id="20" name="Rectangle 19">
            <a:extLst>
              <a:ext uri="{FF2B5EF4-FFF2-40B4-BE49-F238E27FC236}">
                <a16:creationId xmlns:a16="http://schemas.microsoft.com/office/drawing/2014/main" id="{FE0C7077-4355-4AE5-98BA-5EF8B01D104D}"/>
              </a:ext>
            </a:extLst>
          </p:cNvPr>
          <p:cNvSpPr/>
          <p:nvPr/>
        </p:nvSpPr>
        <p:spPr>
          <a:xfrm>
            <a:off x="8624093" y="2382671"/>
            <a:ext cx="2395226" cy="41447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1" u="none" strike="noStrike" kern="1200" cap="none" spc="0" normalizeH="0" baseline="0" noProof="0">
                <a:ln>
                  <a:noFill/>
                </a:ln>
                <a:solidFill>
                  <a:srgbClr val="FFFFFF"/>
                </a:solidFill>
                <a:effectLst/>
                <a:uLnTx/>
                <a:uFillTx/>
              </a:rPr>
              <a:t>AI:</a:t>
            </a:r>
            <a:r>
              <a:rPr kumimoji="0" lang="en-CA" sz="1050" b="0" i="1" u="none" strike="noStrike" kern="1200" cap="none" spc="0" normalizeH="0" baseline="0" noProof="0">
                <a:ln>
                  <a:noFill/>
                </a:ln>
                <a:solidFill>
                  <a:srgbClr val="FFFFFF"/>
                </a:solidFill>
                <a:effectLst/>
                <a:uLnTx/>
                <a:uFillTx/>
              </a:rPr>
              <a:t> Gen AI/ Agentic AI / ML</a:t>
            </a:r>
          </a:p>
        </p:txBody>
      </p:sp>
      <p:sp>
        <p:nvSpPr>
          <p:cNvPr id="21" name="Rectangle 20">
            <a:extLst>
              <a:ext uri="{FF2B5EF4-FFF2-40B4-BE49-F238E27FC236}">
                <a16:creationId xmlns:a16="http://schemas.microsoft.com/office/drawing/2014/main" id="{1A7BA2E8-DDA7-1CF0-07E9-FD010072B8C7}"/>
              </a:ext>
            </a:extLst>
          </p:cNvPr>
          <p:cNvSpPr/>
          <p:nvPr/>
        </p:nvSpPr>
        <p:spPr>
          <a:xfrm>
            <a:off x="8642980" y="4474464"/>
            <a:ext cx="2395226" cy="48079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1" u="none" strike="noStrike" kern="1200" cap="none" spc="0" normalizeH="0" baseline="0" noProof="0">
                <a:ln>
                  <a:noFill/>
                </a:ln>
                <a:solidFill>
                  <a:srgbClr val="FFFFFF"/>
                </a:solidFill>
                <a:effectLst/>
                <a:uLnTx/>
                <a:uFillTx/>
              </a:rPr>
              <a:t>Business Intelligence:</a:t>
            </a:r>
            <a:r>
              <a:rPr kumimoji="0" lang="en-CA" sz="1050" b="0" i="1" u="none" strike="noStrike" kern="1200" cap="none" spc="0" normalizeH="0" baseline="0" noProof="0">
                <a:ln>
                  <a:noFill/>
                </a:ln>
                <a:solidFill>
                  <a:srgbClr val="FFFFFF"/>
                </a:solidFill>
                <a:effectLst/>
                <a:uLnTx/>
                <a:uFillTx/>
              </a:rPr>
              <a:t> Reporting</a:t>
            </a:r>
          </a:p>
        </p:txBody>
      </p:sp>
      <p:sp>
        <p:nvSpPr>
          <p:cNvPr id="22" name="Rounded Rectangle 12">
            <a:extLst>
              <a:ext uri="{FF2B5EF4-FFF2-40B4-BE49-F238E27FC236}">
                <a16:creationId xmlns:a16="http://schemas.microsoft.com/office/drawing/2014/main" id="{75BF4630-60B8-F114-8CD9-9C3357A8061C}"/>
              </a:ext>
            </a:extLst>
          </p:cNvPr>
          <p:cNvSpPr/>
          <p:nvPr/>
        </p:nvSpPr>
        <p:spPr>
          <a:xfrm>
            <a:off x="6814750" y="2604082"/>
            <a:ext cx="1135756" cy="2048462"/>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rPr>
              <a:t>Information Access Layer</a:t>
            </a:r>
            <a:endParaRPr kumimoji="0" lang="en-CA" sz="1050" b="0" i="0" u="none" strike="noStrike" kern="0" cap="none" spc="0" normalizeH="0" baseline="0" noProof="0">
              <a:ln>
                <a:noFill/>
              </a:ln>
              <a:solidFill>
                <a:srgbClr val="FFFFFF"/>
              </a:solidFill>
              <a:effectLst/>
              <a:uLnTx/>
              <a:uFillTx/>
            </a:endParaRPr>
          </a:p>
        </p:txBody>
      </p:sp>
      <p:sp>
        <p:nvSpPr>
          <p:cNvPr id="23" name="Rounded Rectangle 12">
            <a:extLst>
              <a:ext uri="{FF2B5EF4-FFF2-40B4-BE49-F238E27FC236}">
                <a16:creationId xmlns:a16="http://schemas.microsoft.com/office/drawing/2014/main" id="{FAFA2705-9474-57A0-A520-365D89761918}"/>
              </a:ext>
            </a:extLst>
          </p:cNvPr>
          <p:cNvSpPr/>
          <p:nvPr/>
        </p:nvSpPr>
        <p:spPr>
          <a:xfrm>
            <a:off x="4399879" y="2623232"/>
            <a:ext cx="1190947" cy="992020"/>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rPr>
              <a:t>Data Repositories</a:t>
            </a:r>
            <a:endParaRPr kumimoji="0" lang="en-CA" sz="1050" b="0" i="0" u="none" strike="noStrike" kern="0" cap="none" spc="0" normalizeH="0" baseline="0" noProof="0">
              <a:ln>
                <a:noFill/>
              </a:ln>
              <a:solidFill>
                <a:srgbClr val="FFFFFF"/>
              </a:solidFill>
              <a:effectLst/>
              <a:uLnTx/>
              <a:uFillTx/>
            </a:endParaRPr>
          </a:p>
        </p:txBody>
      </p:sp>
      <p:sp>
        <p:nvSpPr>
          <p:cNvPr id="24" name="Rounded Rectangle 12">
            <a:extLst>
              <a:ext uri="{FF2B5EF4-FFF2-40B4-BE49-F238E27FC236}">
                <a16:creationId xmlns:a16="http://schemas.microsoft.com/office/drawing/2014/main" id="{EC7A3842-5759-C9FC-0B7A-5A0E278B4F4C}"/>
              </a:ext>
            </a:extLst>
          </p:cNvPr>
          <p:cNvSpPr/>
          <p:nvPr/>
        </p:nvSpPr>
        <p:spPr>
          <a:xfrm>
            <a:off x="4412332" y="3660524"/>
            <a:ext cx="1190947" cy="992020"/>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rPr>
              <a:t>Data Supply Chain</a:t>
            </a:r>
            <a:endParaRPr kumimoji="0" lang="en-CA" sz="1050" b="0" i="0" u="none" strike="noStrike" kern="0" cap="none" spc="0" normalizeH="0" baseline="0" noProof="0">
              <a:ln>
                <a:noFill/>
              </a:ln>
              <a:solidFill>
                <a:srgbClr val="FFFFFF"/>
              </a:solidFill>
              <a:effectLst/>
              <a:uLnTx/>
              <a:uFillTx/>
            </a:endParaRPr>
          </a:p>
        </p:txBody>
      </p:sp>
      <p:sp>
        <p:nvSpPr>
          <p:cNvPr id="25" name="Arrow: Pentagon 24">
            <a:extLst>
              <a:ext uri="{FF2B5EF4-FFF2-40B4-BE49-F238E27FC236}">
                <a16:creationId xmlns:a16="http://schemas.microsoft.com/office/drawing/2014/main" id="{BC96D3AC-F632-5CAD-53CE-1B1202A9DEA5}"/>
              </a:ext>
            </a:extLst>
          </p:cNvPr>
          <p:cNvSpPr/>
          <p:nvPr/>
        </p:nvSpPr>
        <p:spPr>
          <a:xfrm>
            <a:off x="8061019" y="1313746"/>
            <a:ext cx="3365752" cy="318916"/>
          </a:xfrm>
          <a:prstGeom prst="homePlate">
            <a:avLst/>
          </a:prstGeom>
          <a:solidFill>
            <a:schemeClr val="tx2">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900" b="1" noProof="0"/>
              <a:t>Enterprise Intelligence</a:t>
            </a:r>
          </a:p>
        </p:txBody>
      </p:sp>
      <p:sp>
        <p:nvSpPr>
          <p:cNvPr id="26" name="Arrow: Pentagon 25">
            <a:extLst>
              <a:ext uri="{FF2B5EF4-FFF2-40B4-BE49-F238E27FC236}">
                <a16:creationId xmlns:a16="http://schemas.microsoft.com/office/drawing/2014/main" id="{0F487325-B2BC-23ED-AA7D-3B99F35B58D4}"/>
              </a:ext>
            </a:extLst>
          </p:cNvPr>
          <p:cNvSpPr/>
          <p:nvPr/>
        </p:nvSpPr>
        <p:spPr>
          <a:xfrm>
            <a:off x="4077015" y="1313746"/>
            <a:ext cx="4101126" cy="318916"/>
          </a:xfrm>
          <a:prstGeom prst="homePlate">
            <a:avLst/>
          </a:prstGeom>
          <a:solidFill>
            <a:srgbClr val="A20A28"/>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900" b="1" noProof="0"/>
              <a:t>    The Next-Gen Unified Data Platform</a:t>
            </a:r>
          </a:p>
        </p:txBody>
      </p:sp>
      <p:sp>
        <p:nvSpPr>
          <p:cNvPr id="27" name="Arrow: Pentagon 26">
            <a:extLst>
              <a:ext uri="{FF2B5EF4-FFF2-40B4-BE49-F238E27FC236}">
                <a16:creationId xmlns:a16="http://schemas.microsoft.com/office/drawing/2014/main" id="{1D9DF9C7-06BF-E9B0-4FF3-04E9065E70E2}"/>
              </a:ext>
            </a:extLst>
          </p:cNvPr>
          <p:cNvSpPr/>
          <p:nvPr/>
        </p:nvSpPr>
        <p:spPr>
          <a:xfrm>
            <a:off x="858581" y="1313746"/>
            <a:ext cx="3381867" cy="318916"/>
          </a:xfrm>
          <a:prstGeom prst="homePlate">
            <a:avLst/>
          </a:prstGeom>
          <a:solidFill>
            <a:schemeClr val="tx2">
              <a:lumMod val="60000"/>
              <a:lumOff val="4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900" b="1" noProof="0"/>
              <a:t>Enterprise Sources</a:t>
            </a:r>
          </a:p>
        </p:txBody>
      </p:sp>
      <p:sp>
        <p:nvSpPr>
          <p:cNvPr id="28" name="Rounded Rectangle 12">
            <a:extLst>
              <a:ext uri="{FF2B5EF4-FFF2-40B4-BE49-F238E27FC236}">
                <a16:creationId xmlns:a16="http://schemas.microsoft.com/office/drawing/2014/main" id="{3B225698-7863-20C8-D105-0ABED34EC85E}"/>
              </a:ext>
            </a:extLst>
          </p:cNvPr>
          <p:cNvSpPr/>
          <p:nvPr/>
        </p:nvSpPr>
        <p:spPr>
          <a:xfrm>
            <a:off x="4412332" y="4741433"/>
            <a:ext cx="3583690" cy="566726"/>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rPr>
              <a:t>Governance, Security &amp; Metadata</a:t>
            </a:r>
          </a:p>
        </p:txBody>
      </p:sp>
      <p:sp>
        <p:nvSpPr>
          <p:cNvPr id="29" name="Arrow: Left-Right 28">
            <a:extLst>
              <a:ext uri="{FF2B5EF4-FFF2-40B4-BE49-F238E27FC236}">
                <a16:creationId xmlns:a16="http://schemas.microsoft.com/office/drawing/2014/main" id="{F9A64C58-8EE9-8A42-19E9-41B8077ADDED}"/>
              </a:ext>
            </a:extLst>
          </p:cNvPr>
          <p:cNvSpPr/>
          <p:nvPr/>
        </p:nvSpPr>
        <p:spPr>
          <a:xfrm>
            <a:off x="8021888" y="3522527"/>
            <a:ext cx="466786" cy="318916"/>
          </a:xfrm>
          <a:prstGeom prst="leftRightArrow">
            <a:avLst>
              <a:gd name="adj1" fmla="val 50000"/>
              <a:gd name="adj2" fmla="val 39381"/>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25000" lnSpcReduction="20000"/>
          </a:bodyPr>
          <a:lstStyle/>
          <a:p>
            <a:pPr algn="l"/>
            <a:endParaRPr lang="en-CA" noProof="0"/>
          </a:p>
        </p:txBody>
      </p:sp>
      <p:sp>
        <p:nvSpPr>
          <p:cNvPr id="30" name="Arrow: Right 29">
            <a:extLst>
              <a:ext uri="{FF2B5EF4-FFF2-40B4-BE49-F238E27FC236}">
                <a16:creationId xmlns:a16="http://schemas.microsoft.com/office/drawing/2014/main" id="{8F3CDA2A-F3B8-30DF-6045-009178F38631}"/>
              </a:ext>
            </a:extLst>
          </p:cNvPr>
          <p:cNvSpPr/>
          <p:nvPr/>
        </p:nvSpPr>
        <p:spPr>
          <a:xfrm>
            <a:off x="3946364" y="3522527"/>
            <a:ext cx="362321" cy="318916"/>
          </a:xfrm>
          <a:prstGeom prst="rightArrow">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25000" lnSpcReduction="20000"/>
          </a:bodyPr>
          <a:lstStyle/>
          <a:p>
            <a:pPr algn="l"/>
            <a:endParaRPr lang="en-CA" noProof="0"/>
          </a:p>
        </p:txBody>
      </p:sp>
      <p:pic>
        <p:nvPicPr>
          <p:cNvPr id="31" name="Picture 2" descr="Salesforce Logo - Salesforce">
            <a:extLst>
              <a:ext uri="{FF2B5EF4-FFF2-40B4-BE49-F238E27FC236}">
                <a16:creationId xmlns:a16="http://schemas.microsoft.com/office/drawing/2014/main" id="{5EAA9C07-64AF-6418-95EF-91D496F52E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4563" y="2266240"/>
            <a:ext cx="726729" cy="53510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Understanding Siebel for beginners - anjalimehta - Medium">
            <a:extLst>
              <a:ext uri="{FF2B5EF4-FFF2-40B4-BE49-F238E27FC236}">
                <a16:creationId xmlns:a16="http://schemas.microsoft.com/office/drawing/2014/main" id="{3D971975-8914-4383-FAEA-BB4BB22714D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6283" y="2368891"/>
            <a:ext cx="601664" cy="32980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actSet">
            <a:extLst>
              <a:ext uri="{FF2B5EF4-FFF2-40B4-BE49-F238E27FC236}">
                <a16:creationId xmlns:a16="http://schemas.microsoft.com/office/drawing/2014/main" id="{3F647984-6274-20BB-07AC-CA08EE82EB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7264" y="4938443"/>
            <a:ext cx="631507" cy="354827"/>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SAP Logo PNG Vector (SVG) Free Download">
            <a:extLst>
              <a:ext uri="{FF2B5EF4-FFF2-40B4-BE49-F238E27FC236}">
                <a16:creationId xmlns:a16="http://schemas.microsoft.com/office/drawing/2014/main" id="{1121B3FE-AF1A-234B-F9C0-06151789BA9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3210" y="3840959"/>
            <a:ext cx="645561" cy="645561"/>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8258E4FB-E5E2-F6E4-200F-A85229C41237}"/>
              </a:ext>
            </a:extLst>
          </p:cNvPr>
          <p:cNvSpPr/>
          <p:nvPr/>
        </p:nvSpPr>
        <p:spPr>
          <a:xfrm rot="16200000">
            <a:off x="-4642" y="2463466"/>
            <a:ext cx="1392006" cy="25911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rgbClr val="A20A28"/>
                </a:solidFill>
                <a:effectLst/>
                <a:uLnTx/>
                <a:uFillTx/>
              </a:rPr>
              <a:t>Canada Life</a:t>
            </a:r>
            <a:endParaRPr kumimoji="0" lang="en-CA" sz="1000" b="1" i="0" u="none" strike="noStrike" kern="1200" cap="none" spc="0" normalizeH="0" baseline="0" noProof="0">
              <a:ln>
                <a:noFill/>
              </a:ln>
              <a:solidFill>
                <a:srgbClr val="A20A28"/>
              </a:solidFill>
              <a:effectLst/>
              <a:uLnTx/>
              <a:uFillTx/>
              <a:cs typeface="Arial"/>
            </a:endParaRPr>
          </a:p>
        </p:txBody>
      </p:sp>
      <p:sp>
        <p:nvSpPr>
          <p:cNvPr id="36" name="Rectangle 35">
            <a:extLst>
              <a:ext uri="{FF2B5EF4-FFF2-40B4-BE49-F238E27FC236}">
                <a16:creationId xmlns:a16="http://schemas.microsoft.com/office/drawing/2014/main" id="{47B031E4-96AB-8F72-337F-EFBB9C332FAA}"/>
              </a:ext>
            </a:extLst>
          </p:cNvPr>
          <p:cNvSpPr/>
          <p:nvPr/>
        </p:nvSpPr>
        <p:spPr>
          <a:xfrm rot="16200000">
            <a:off x="22810" y="3807204"/>
            <a:ext cx="1392006" cy="25911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rgbClr val="A20A28"/>
                </a:solidFill>
                <a:effectLst/>
                <a:uLnTx/>
                <a:uFillTx/>
              </a:rPr>
              <a:t>Lifeco Entities</a:t>
            </a:r>
            <a:endParaRPr kumimoji="0" lang="en-CA" sz="1000" b="1" i="0" u="none" strike="noStrike" kern="1200" cap="none" spc="0" normalizeH="0" baseline="0" noProof="0">
              <a:ln>
                <a:noFill/>
              </a:ln>
              <a:solidFill>
                <a:srgbClr val="A20A28"/>
              </a:solidFill>
              <a:effectLst/>
              <a:uLnTx/>
              <a:uFillTx/>
              <a:cs typeface="Arial"/>
            </a:endParaRPr>
          </a:p>
        </p:txBody>
      </p:sp>
      <p:sp>
        <p:nvSpPr>
          <p:cNvPr id="37" name="Rectangle 36">
            <a:extLst>
              <a:ext uri="{FF2B5EF4-FFF2-40B4-BE49-F238E27FC236}">
                <a16:creationId xmlns:a16="http://schemas.microsoft.com/office/drawing/2014/main" id="{3CB7515A-1E08-D37F-0017-EF4B76FA1427}"/>
              </a:ext>
            </a:extLst>
          </p:cNvPr>
          <p:cNvSpPr/>
          <p:nvPr/>
        </p:nvSpPr>
        <p:spPr>
          <a:xfrm rot="16200000">
            <a:off x="-4641" y="4659540"/>
            <a:ext cx="1392006" cy="25911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rgbClr val="A20A28"/>
                </a:solidFill>
                <a:effectLst/>
                <a:uLnTx/>
                <a:uFillTx/>
              </a:rPr>
              <a:t>External</a:t>
            </a:r>
            <a:endParaRPr kumimoji="0" lang="en-CA" sz="1000" b="1" i="0" u="none" strike="noStrike" kern="1200" cap="none" spc="0" normalizeH="0" baseline="0" noProof="0">
              <a:ln>
                <a:noFill/>
              </a:ln>
              <a:solidFill>
                <a:srgbClr val="A20A28"/>
              </a:solidFill>
              <a:effectLst/>
              <a:uLnTx/>
              <a:uFillTx/>
              <a:cs typeface="Arial"/>
            </a:endParaRPr>
          </a:p>
        </p:txBody>
      </p:sp>
      <p:pic>
        <p:nvPicPr>
          <p:cNvPr id="38" name="Picture 2" descr="Bloomberg Logo: valor, história, PNG">
            <a:extLst>
              <a:ext uri="{FF2B5EF4-FFF2-40B4-BE49-F238E27FC236}">
                <a16:creationId xmlns:a16="http://schemas.microsoft.com/office/drawing/2014/main" id="{3CE65D6C-52FE-0982-5AFB-27F38D3CFCC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8992" y="4839029"/>
            <a:ext cx="819161" cy="46077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6" descr="AWS renews Amazon Connect and deepens ...">
            <a:extLst>
              <a:ext uri="{FF2B5EF4-FFF2-40B4-BE49-F238E27FC236}">
                <a16:creationId xmlns:a16="http://schemas.microsoft.com/office/drawing/2014/main" id="{2BCC3FC2-F05D-71CE-220A-07655989AD8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28826" y="2856188"/>
            <a:ext cx="897659" cy="666339"/>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2" descr="SharePoint Logo, symbol, meaning ...">
            <a:extLst>
              <a:ext uri="{FF2B5EF4-FFF2-40B4-BE49-F238E27FC236}">
                <a16:creationId xmlns:a16="http://schemas.microsoft.com/office/drawing/2014/main" id="{0423F7DB-E0F2-4DC9-33D2-1B9862A0A21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1304" y="2943156"/>
            <a:ext cx="657467" cy="36818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8" descr="Data Warehouse Architecture icon line ...">
            <a:extLst>
              <a:ext uri="{FF2B5EF4-FFF2-40B4-BE49-F238E27FC236}">
                <a16:creationId xmlns:a16="http://schemas.microsoft.com/office/drawing/2014/main" id="{37DCC961-B288-E2F3-C3E5-7B227BBFF02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19804" y="3024937"/>
            <a:ext cx="528184" cy="528184"/>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35311095-4EA1-F1B4-3A98-75F8F0FDEF72}"/>
              </a:ext>
            </a:extLst>
          </p:cNvPr>
          <p:cNvSpPr/>
          <p:nvPr/>
        </p:nvSpPr>
        <p:spPr>
          <a:xfrm>
            <a:off x="2678573" y="3452442"/>
            <a:ext cx="1392006" cy="25911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i="0" u="none" strike="noStrike" kern="1200" cap="none" spc="0" normalizeH="0" baseline="0" noProof="0">
                <a:ln>
                  <a:noFill/>
                </a:ln>
                <a:solidFill>
                  <a:schemeClr val="tx1"/>
                </a:solidFill>
                <a:effectLst/>
                <a:uLnTx/>
                <a:uFillTx/>
              </a:rPr>
              <a:t>Business </a:t>
            </a:r>
            <a:r>
              <a:rPr kumimoji="0" lang="en-CA" sz="800" i="0" u="none" strike="noStrike" kern="1200" cap="none" spc="0" normalizeH="0" baseline="0" noProof="0" err="1">
                <a:ln>
                  <a:noFill/>
                </a:ln>
                <a:solidFill>
                  <a:schemeClr val="tx1"/>
                </a:solidFill>
                <a:effectLst/>
                <a:uLnTx/>
                <a:uFillTx/>
              </a:rPr>
              <a:t>datamarts</a:t>
            </a:r>
            <a:endParaRPr kumimoji="0" lang="en-CA" sz="800" i="0" u="none" strike="noStrike" kern="1200" cap="none" spc="0" normalizeH="0" baseline="0" noProof="0">
              <a:ln>
                <a:noFill/>
              </a:ln>
              <a:solidFill>
                <a:schemeClr val="tx1"/>
              </a:solidFill>
              <a:effectLst/>
              <a:uLnTx/>
              <a:uFillTx/>
              <a:cs typeface="Arial"/>
            </a:endParaRPr>
          </a:p>
        </p:txBody>
      </p:sp>
      <p:pic>
        <p:nvPicPr>
          <p:cNvPr id="43" name="Picture 24" descr="Cloven Partnership | Top Advisor CRM">
            <a:extLst>
              <a:ext uri="{FF2B5EF4-FFF2-40B4-BE49-F238E27FC236}">
                <a16:creationId xmlns:a16="http://schemas.microsoft.com/office/drawing/2014/main" id="{F98333AA-117F-3699-0FDC-35175C5D6A6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4246" y="3970820"/>
            <a:ext cx="729720" cy="33509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6" descr="DXC Technology cuts ivari insurance ...">
            <a:extLst>
              <a:ext uri="{FF2B5EF4-FFF2-40B4-BE49-F238E27FC236}">
                <a16:creationId xmlns:a16="http://schemas.microsoft.com/office/drawing/2014/main" id="{846C1759-792F-C916-F2A6-0F64ED362E9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45707" y="2240879"/>
            <a:ext cx="545027" cy="545027"/>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8" descr="File:Microsoft Office Excel (2025 ...">
            <a:extLst>
              <a:ext uri="{FF2B5EF4-FFF2-40B4-BE49-F238E27FC236}">
                <a16:creationId xmlns:a16="http://schemas.microsoft.com/office/drawing/2014/main" id="{6D3C79B3-EAB1-2CE8-81D1-E95270D340E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94090" y="3476019"/>
            <a:ext cx="338088" cy="348797"/>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0" descr="Mainframe Icon in Trendy Design Style. Mainframe Icon ...">
            <a:extLst>
              <a:ext uri="{FF2B5EF4-FFF2-40B4-BE49-F238E27FC236}">
                <a16:creationId xmlns:a16="http://schemas.microsoft.com/office/drawing/2014/main" id="{B8CB82D7-404F-FEDC-48DA-2FD488F37AC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70294" y="2361106"/>
            <a:ext cx="723325" cy="67328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id="{1AB7B6B7-82FD-4EB5-0E27-306E82ABA298}"/>
              </a:ext>
            </a:extLst>
          </p:cNvPr>
          <p:cNvPicPr>
            <a:picLocks noChangeAspect="1"/>
          </p:cNvPicPr>
          <p:nvPr/>
        </p:nvPicPr>
        <p:blipFill>
          <a:blip r:embed="rId18"/>
          <a:stretch>
            <a:fillRect/>
          </a:stretch>
        </p:blipFill>
        <p:spPr>
          <a:xfrm>
            <a:off x="1927106" y="4323451"/>
            <a:ext cx="801163" cy="346133"/>
          </a:xfrm>
          <a:prstGeom prst="rect">
            <a:avLst/>
          </a:prstGeom>
        </p:spPr>
      </p:pic>
      <p:pic>
        <p:nvPicPr>
          <p:cNvPr id="48" name="Picture 18" descr="Power Bi | Vivantio">
            <a:extLst>
              <a:ext uri="{FF2B5EF4-FFF2-40B4-BE49-F238E27FC236}">
                <a16:creationId xmlns:a16="http://schemas.microsoft.com/office/drawing/2014/main" id="{9E502009-C4D0-DA34-A01B-886AF90EB449}"/>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31464" t="12069" r="33867" b="14632"/>
          <a:stretch/>
        </p:blipFill>
        <p:spPr bwMode="auto">
          <a:xfrm>
            <a:off x="8642980" y="5604322"/>
            <a:ext cx="441813" cy="48079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30" descr="Azure AI Foundry - Building generative ...">
            <a:extLst>
              <a:ext uri="{FF2B5EF4-FFF2-40B4-BE49-F238E27FC236}">
                <a16:creationId xmlns:a16="http://schemas.microsoft.com/office/drawing/2014/main" id="{1830FD5A-FA65-52F5-2B5E-4DEDE891D8D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220933" y="5633598"/>
            <a:ext cx="675931" cy="52015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2" descr="Open AI Logo PNG Vector (SVG) Free Download">
            <a:extLst>
              <a:ext uri="{FF2B5EF4-FFF2-40B4-BE49-F238E27FC236}">
                <a16:creationId xmlns:a16="http://schemas.microsoft.com/office/drawing/2014/main" id="{6C500814-CD86-B344-F7F7-02BE6183A57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039777" y="5677276"/>
            <a:ext cx="364504" cy="36450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6" descr="Multifonds - Crunchbase Company Profile ...">
            <a:extLst>
              <a:ext uri="{FF2B5EF4-FFF2-40B4-BE49-F238E27FC236}">
                <a16:creationId xmlns:a16="http://schemas.microsoft.com/office/drawing/2014/main" id="{3B8CC73C-9897-55E0-9953-ECFA4608436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883376" y="3814311"/>
            <a:ext cx="781574" cy="781574"/>
          </a:xfrm>
          <a:prstGeom prst="rect">
            <a:avLst/>
          </a:prstGeom>
          <a:noFill/>
          <a:extLst>
            <a:ext uri="{909E8E84-426E-40DD-AFC4-6F175D3DCCD1}">
              <a14:hiddenFill xmlns:a14="http://schemas.microsoft.com/office/drawing/2010/main">
                <a:solidFill>
                  <a:srgbClr val="FFFFFF"/>
                </a:solidFill>
              </a14:hiddenFill>
            </a:ext>
          </a:extLst>
        </p:spPr>
      </p:pic>
      <p:sp>
        <p:nvSpPr>
          <p:cNvPr id="52" name="Rounded Rectangle 12">
            <a:extLst>
              <a:ext uri="{FF2B5EF4-FFF2-40B4-BE49-F238E27FC236}">
                <a16:creationId xmlns:a16="http://schemas.microsoft.com/office/drawing/2014/main" id="{A2CA6DFE-4A8A-16C0-4A2A-7D1504394706}"/>
              </a:ext>
            </a:extLst>
          </p:cNvPr>
          <p:cNvSpPr/>
          <p:nvPr/>
        </p:nvSpPr>
        <p:spPr>
          <a:xfrm>
            <a:off x="831726" y="5568234"/>
            <a:ext cx="2959008" cy="289811"/>
          </a:xfrm>
          <a:prstGeom prst="roundRect">
            <a:avLst>
              <a:gd name="adj" fmla="val 8149"/>
            </a:avLst>
          </a:prstGeom>
          <a:solidFill>
            <a:schemeClr val="bg2"/>
          </a:solidFill>
          <a:ln w="12700" cap="flat" cmpd="sng" algn="ctr">
            <a:noFill/>
            <a:prstDash val="solid"/>
            <a:miter lim="800000"/>
          </a:ln>
          <a:effectLst>
            <a:outerShdw blurRad="50800" dist="38100" dir="2700000" algn="tl" rotWithShape="0">
              <a:prstClr val="black">
                <a:alpha val="40000"/>
              </a:prstClr>
            </a:outerShdw>
          </a:effectLst>
        </p:spPr>
        <p:txBody>
          <a:bodyPr lIns="182880" tIns="0" rIns="91440" bIns="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i="0" u="none" strike="noStrike" kern="0" cap="none" spc="0" normalizeH="0" baseline="0" noProof="0">
                <a:ln>
                  <a:noFill/>
                </a:ln>
                <a:effectLst/>
                <a:uLnTx/>
                <a:uFillTx/>
              </a:rPr>
              <a:t>Structured Data | Transactional Data | Unstructured Data | Documents | Voice</a:t>
            </a:r>
          </a:p>
        </p:txBody>
      </p:sp>
      <p:pic>
        <p:nvPicPr>
          <p:cNvPr id="53" name="Picture 38" descr="An Introduction to AWS. Amazon Web ...">
            <a:extLst>
              <a:ext uri="{FF2B5EF4-FFF2-40B4-BE49-F238E27FC236}">
                <a16:creationId xmlns:a16="http://schemas.microsoft.com/office/drawing/2014/main" id="{DBC9593C-E73D-5097-C7A5-1B810B80DD1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547194" y="5631464"/>
            <a:ext cx="589750" cy="44174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Salesforce Logo - Salesforce">
            <a:extLst>
              <a:ext uri="{FF2B5EF4-FFF2-40B4-BE49-F238E27FC236}">
                <a16:creationId xmlns:a16="http://schemas.microsoft.com/office/drawing/2014/main" id="{93BE7590-C31C-EA1F-BC70-92EF546010F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7272" y="2266997"/>
            <a:ext cx="726729" cy="53510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Understanding Siebel for beginners - anjalimehta - Medium">
            <a:extLst>
              <a:ext uri="{FF2B5EF4-FFF2-40B4-BE49-F238E27FC236}">
                <a16:creationId xmlns:a16="http://schemas.microsoft.com/office/drawing/2014/main" id="{25E642DD-A569-D6F6-E6D1-F710AD26C6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8992" y="2369648"/>
            <a:ext cx="601664" cy="329801"/>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10" descr="Mainframe Icon in Trendy Design Style. Mainframe Icon ...">
            <a:extLst>
              <a:ext uri="{FF2B5EF4-FFF2-40B4-BE49-F238E27FC236}">
                <a16:creationId xmlns:a16="http://schemas.microsoft.com/office/drawing/2014/main" id="{D1222EDE-5BB5-884B-521F-5EBB9D3952B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73003" y="2361863"/>
            <a:ext cx="723325" cy="673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570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373AA8A-F887-4D6D-87D5-AD830BFCB51E}"/>
              </a:ext>
            </a:extLst>
          </p:cNvPr>
          <p:cNvSpPr>
            <a:spLocks noGrp="1"/>
          </p:cNvSpPr>
          <p:nvPr>
            <p:ph type="title"/>
          </p:nvPr>
        </p:nvSpPr>
        <p:spPr/>
        <p:txBody>
          <a:bodyPr lIns="0" tIns="0" rIns="0" bIns="0"/>
          <a:lstStyle/>
          <a:p>
            <a:r>
              <a:rPr lang="en-CA" noProof="0">
                <a:latin typeface="+mj-lt"/>
              </a:rPr>
              <a:t>Platform NORTH Architecture Blueprints</a:t>
            </a:r>
          </a:p>
        </p:txBody>
      </p:sp>
      <p:sp>
        <p:nvSpPr>
          <p:cNvPr id="8" name="Text Placeholder 7">
            <a:extLst>
              <a:ext uri="{FF2B5EF4-FFF2-40B4-BE49-F238E27FC236}">
                <a16:creationId xmlns:a16="http://schemas.microsoft.com/office/drawing/2014/main" id="{1A80B124-F6A4-986E-1781-3F2E3B8A5BD5}"/>
              </a:ext>
            </a:extLst>
          </p:cNvPr>
          <p:cNvSpPr>
            <a:spLocks noGrp="1"/>
          </p:cNvSpPr>
          <p:nvPr>
            <p:ph type="body" idx="1"/>
          </p:nvPr>
        </p:nvSpPr>
        <p:spPr/>
        <p:txBody>
          <a:bodyPr/>
          <a:lstStyle/>
          <a:p>
            <a:r>
              <a:rPr lang="en-CA" noProof="0"/>
              <a:t> </a:t>
            </a:r>
          </a:p>
        </p:txBody>
      </p:sp>
      <p:sp>
        <p:nvSpPr>
          <p:cNvPr id="4" name="Date Placeholder 3">
            <a:extLst>
              <a:ext uri="{FF2B5EF4-FFF2-40B4-BE49-F238E27FC236}">
                <a16:creationId xmlns:a16="http://schemas.microsoft.com/office/drawing/2014/main" id="{84E3C151-6CC9-16D8-9F8E-115806FD904C}"/>
              </a:ext>
            </a:extLst>
          </p:cNvPr>
          <p:cNvSpPr>
            <a:spLocks noGrp="1"/>
          </p:cNvSpPr>
          <p:nvPr>
            <p:ph type="dt" sz="half" idx="10"/>
          </p:nvPr>
        </p:nvSpPr>
        <p:spPr/>
        <p:txBody>
          <a:bodyPr/>
          <a:lstStyle/>
          <a:p>
            <a:fld id="{E6E11EAE-16B7-464E-91D8-413C5CE9C268}" type="datetime4">
              <a:rPr lang="en-CA" noProof="0" smtClean="0"/>
              <a:t>August 10, 2026</a:t>
            </a:fld>
            <a:endParaRPr lang="en-CA" noProof="0"/>
          </a:p>
        </p:txBody>
      </p:sp>
      <p:sp>
        <p:nvSpPr>
          <p:cNvPr id="5" name="Footer Placeholder 4">
            <a:extLst>
              <a:ext uri="{FF2B5EF4-FFF2-40B4-BE49-F238E27FC236}">
                <a16:creationId xmlns:a16="http://schemas.microsoft.com/office/drawing/2014/main" id="{03D82603-D7F4-BD8D-97E2-013E00C842A1}"/>
              </a:ext>
            </a:extLst>
          </p:cNvPr>
          <p:cNvSpPr>
            <a:spLocks noGrp="1"/>
          </p:cNvSpPr>
          <p:nvPr>
            <p:ph type="ftr" sz="quarter" idx="11"/>
          </p:nvPr>
        </p:nvSpPr>
        <p:spPr/>
        <p:txBody>
          <a:bodyPr/>
          <a:lstStyle/>
          <a:p>
            <a:r>
              <a:rPr lang="en-CA" noProof="0"/>
              <a:t> </a:t>
            </a:r>
          </a:p>
        </p:txBody>
      </p:sp>
      <p:sp>
        <p:nvSpPr>
          <p:cNvPr id="6" name="Slide Number Placeholder 5">
            <a:extLst>
              <a:ext uri="{FF2B5EF4-FFF2-40B4-BE49-F238E27FC236}">
                <a16:creationId xmlns:a16="http://schemas.microsoft.com/office/drawing/2014/main" id="{B7D7DC0C-6557-3A00-83DB-A49D077E8CBC}"/>
              </a:ext>
            </a:extLst>
          </p:cNvPr>
          <p:cNvSpPr>
            <a:spLocks noGrp="1"/>
          </p:cNvSpPr>
          <p:nvPr>
            <p:ph type="sldNum" sz="quarter" idx="12"/>
          </p:nvPr>
        </p:nvSpPr>
        <p:spPr/>
        <p:txBody>
          <a:bodyPr/>
          <a:lstStyle/>
          <a:p>
            <a:fld id="{3CBD822F-ED39-4FC2-B5B5-D2EAB6238DC3}" type="slidenum">
              <a:rPr lang="en-CA" noProof="0" smtClean="0"/>
              <a:pPr/>
              <a:t>6</a:t>
            </a:fld>
            <a:endParaRPr lang="en-CA" noProof="0"/>
          </a:p>
        </p:txBody>
      </p:sp>
    </p:spTree>
    <p:extLst>
      <p:ext uri="{BB962C8B-B14F-4D97-AF65-F5344CB8AC3E}">
        <p14:creationId xmlns:p14="http://schemas.microsoft.com/office/powerpoint/2010/main" val="1919193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FB5F8-333E-6631-5764-F4A6C585E63D}"/>
            </a:ext>
          </a:extLst>
        </p:cNvPr>
        <p:cNvGrpSpPr/>
        <p:nvPr/>
      </p:nvGrpSpPr>
      <p:grpSpPr>
        <a:xfrm>
          <a:off x="0" y="0"/>
          <a:ext cx="0" cy="0"/>
          <a:chOff x="0" y="0"/>
          <a:chExt cx="0" cy="0"/>
        </a:xfrm>
      </p:grpSpPr>
      <p:sp>
        <p:nvSpPr>
          <p:cNvPr id="1025" name="Rectangle 1024">
            <a:extLst>
              <a:ext uri="{FF2B5EF4-FFF2-40B4-BE49-F238E27FC236}">
                <a16:creationId xmlns:a16="http://schemas.microsoft.com/office/drawing/2014/main" id="{FEACA722-C2FB-FF6E-7B8B-6CE82A8D8904}"/>
              </a:ext>
            </a:extLst>
          </p:cNvPr>
          <p:cNvSpPr/>
          <p:nvPr/>
        </p:nvSpPr>
        <p:spPr>
          <a:xfrm>
            <a:off x="108642" y="5532075"/>
            <a:ext cx="12198825" cy="961039"/>
          </a:xfrm>
          <a:prstGeom prst="rect">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a:bodyPr>
          <a:lstStyle/>
          <a:p>
            <a:pPr algn="l"/>
            <a:endParaRPr lang="en-CA" noProof="0"/>
          </a:p>
        </p:txBody>
      </p:sp>
      <p:sp>
        <p:nvSpPr>
          <p:cNvPr id="10" name="TextBox 9">
            <a:extLst>
              <a:ext uri="{FF2B5EF4-FFF2-40B4-BE49-F238E27FC236}">
                <a16:creationId xmlns:a16="http://schemas.microsoft.com/office/drawing/2014/main" id="{9ED796E7-F201-8AAE-9207-480CB5CAF86B}"/>
              </a:ext>
            </a:extLst>
          </p:cNvPr>
          <p:cNvSpPr txBox="1"/>
          <p:nvPr/>
        </p:nvSpPr>
        <p:spPr>
          <a:xfrm>
            <a:off x="6055588" y="6581575"/>
            <a:ext cx="2740571" cy="169277"/>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0" tIns="0" rIns="0" bIns="0">
            <a:spAutoFit/>
          </a:bodyPr>
          <a:lstStyle/>
          <a:p>
            <a:pPr algn="ctr"/>
            <a:r>
              <a:rPr lang="en-CA" sz="1100" noProof="0">
                <a:solidFill>
                  <a:schemeClr val="bg2">
                    <a:lumMod val="10000"/>
                  </a:schemeClr>
                </a:solidFill>
              </a:rPr>
              <a:t>Business Unit / Functional Area Capabilities</a:t>
            </a:r>
          </a:p>
        </p:txBody>
      </p:sp>
      <p:sp>
        <p:nvSpPr>
          <p:cNvPr id="4" name="Slide Number Placeholder 3">
            <a:extLst>
              <a:ext uri="{FF2B5EF4-FFF2-40B4-BE49-F238E27FC236}">
                <a16:creationId xmlns:a16="http://schemas.microsoft.com/office/drawing/2014/main" id="{43397F25-A1EC-7C66-76EC-852A81C75C8B}"/>
              </a:ext>
            </a:extLst>
          </p:cNvPr>
          <p:cNvSpPr>
            <a:spLocks noGrp="1"/>
          </p:cNvSpPr>
          <p:nvPr>
            <p:ph type="sldNum" sz="quarter" idx="12"/>
          </p:nvPr>
        </p:nvSpPr>
        <p:spPr>
          <a:xfrm>
            <a:off x="226135" y="6486007"/>
            <a:ext cx="201619" cy="365125"/>
          </a:xfrm>
        </p:spPr>
        <p:txBody>
          <a:bodyPr/>
          <a:lstStyle/>
          <a:p>
            <a:fld id="{3CBD822F-ED39-4FC2-B5B5-D2EAB6238DC3}" type="slidenum">
              <a:rPr lang="en-CA" noProof="0" smtClean="0">
                <a:latin typeface="+mn-lt"/>
              </a:rPr>
              <a:pPr/>
              <a:t>7</a:t>
            </a:fld>
            <a:endParaRPr lang="en-CA" noProof="0">
              <a:latin typeface="+mn-lt"/>
            </a:endParaRPr>
          </a:p>
        </p:txBody>
      </p:sp>
      <p:sp>
        <p:nvSpPr>
          <p:cNvPr id="5" name="TextBox 4">
            <a:extLst>
              <a:ext uri="{FF2B5EF4-FFF2-40B4-BE49-F238E27FC236}">
                <a16:creationId xmlns:a16="http://schemas.microsoft.com/office/drawing/2014/main" id="{B0CDCABF-0864-9C07-3F94-5AA8157D24FA}"/>
              </a:ext>
            </a:extLst>
          </p:cNvPr>
          <p:cNvSpPr txBox="1"/>
          <p:nvPr/>
        </p:nvSpPr>
        <p:spPr>
          <a:xfrm>
            <a:off x="4020634" y="6581575"/>
            <a:ext cx="1634656" cy="169277"/>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0" tIns="0" rIns="0" bIns="0">
            <a:spAutoFit/>
          </a:bodyPr>
          <a:lstStyle/>
          <a:p>
            <a:pPr algn="ctr"/>
            <a:r>
              <a:rPr lang="en-CA" sz="1100" noProof="0">
                <a:solidFill>
                  <a:schemeClr val="bg2">
                    <a:lumMod val="10000"/>
                  </a:schemeClr>
                </a:solidFill>
              </a:rPr>
              <a:t>Enterprise Data Capability</a:t>
            </a:r>
          </a:p>
        </p:txBody>
      </p:sp>
      <p:sp>
        <p:nvSpPr>
          <p:cNvPr id="6" name="Rectangle: Rounded Corners 5">
            <a:extLst>
              <a:ext uri="{FF2B5EF4-FFF2-40B4-BE49-F238E27FC236}">
                <a16:creationId xmlns:a16="http://schemas.microsoft.com/office/drawing/2014/main" id="{211E3B44-5689-6EA4-A0FD-0430597ED824}"/>
              </a:ext>
            </a:extLst>
          </p:cNvPr>
          <p:cNvSpPr/>
          <p:nvPr/>
        </p:nvSpPr>
        <p:spPr>
          <a:xfrm>
            <a:off x="2832544" y="6493239"/>
            <a:ext cx="6249912" cy="345949"/>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7" name="TextBox 6">
            <a:extLst>
              <a:ext uri="{FF2B5EF4-FFF2-40B4-BE49-F238E27FC236}">
                <a16:creationId xmlns:a16="http://schemas.microsoft.com/office/drawing/2014/main" id="{88561E04-7C20-6876-43C2-BA7619F41659}"/>
              </a:ext>
            </a:extLst>
          </p:cNvPr>
          <p:cNvSpPr txBox="1"/>
          <p:nvPr/>
        </p:nvSpPr>
        <p:spPr>
          <a:xfrm>
            <a:off x="2968136" y="6552918"/>
            <a:ext cx="468000"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000" b="1" noProof="0">
                <a:solidFill>
                  <a:schemeClr val="bg2">
                    <a:lumMod val="10000"/>
                  </a:schemeClr>
                </a:solidFill>
              </a:rPr>
              <a:t>Legend</a:t>
            </a:r>
          </a:p>
        </p:txBody>
      </p:sp>
      <p:sp>
        <p:nvSpPr>
          <p:cNvPr id="8" name="Rectangle 7">
            <a:extLst>
              <a:ext uri="{FF2B5EF4-FFF2-40B4-BE49-F238E27FC236}">
                <a16:creationId xmlns:a16="http://schemas.microsoft.com/office/drawing/2014/main" id="{20AF0D23-C47E-3F0F-34D2-18991B2F022D}"/>
              </a:ext>
            </a:extLst>
          </p:cNvPr>
          <p:cNvSpPr/>
          <p:nvPr/>
        </p:nvSpPr>
        <p:spPr>
          <a:xfrm>
            <a:off x="3828213" y="6581700"/>
            <a:ext cx="169027" cy="169027"/>
          </a:xfrm>
          <a:prstGeom prst="rect">
            <a:avLst/>
          </a:prstGeom>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25000" lnSpcReduction="20000"/>
          </a:bodyPr>
          <a:lstStyle/>
          <a:p>
            <a:pPr algn="l"/>
            <a:endParaRPr lang="en-CA" noProof="0"/>
          </a:p>
        </p:txBody>
      </p:sp>
      <p:sp>
        <p:nvSpPr>
          <p:cNvPr id="9" name="Rectangle 8">
            <a:extLst>
              <a:ext uri="{FF2B5EF4-FFF2-40B4-BE49-F238E27FC236}">
                <a16:creationId xmlns:a16="http://schemas.microsoft.com/office/drawing/2014/main" id="{75261586-CE97-C234-7BFC-66BD7223A888}"/>
              </a:ext>
            </a:extLst>
          </p:cNvPr>
          <p:cNvSpPr/>
          <p:nvPr/>
        </p:nvSpPr>
        <p:spPr>
          <a:xfrm>
            <a:off x="5840578" y="6581700"/>
            <a:ext cx="169027" cy="169027"/>
          </a:xfrm>
          <a:prstGeom prst="rect">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25000" lnSpcReduction="20000"/>
          </a:bodyPr>
          <a:lstStyle/>
          <a:p>
            <a:pPr algn="l"/>
            <a:endParaRPr lang="en-CA" noProof="0"/>
          </a:p>
        </p:txBody>
      </p:sp>
      <p:sp>
        <p:nvSpPr>
          <p:cNvPr id="11" name="Title 1">
            <a:extLst>
              <a:ext uri="{FF2B5EF4-FFF2-40B4-BE49-F238E27FC236}">
                <a16:creationId xmlns:a16="http://schemas.microsoft.com/office/drawing/2014/main" id="{7A449EFB-7313-38F5-7E3B-164FA8B70C38}"/>
              </a:ext>
            </a:extLst>
          </p:cNvPr>
          <p:cNvSpPr txBox="1">
            <a:spLocks/>
          </p:cNvSpPr>
          <p:nvPr/>
        </p:nvSpPr>
        <p:spPr>
          <a:xfrm>
            <a:off x="34093" y="105323"/>
            <a:ext cx="11420856" cy="605118"/>
          </a:xfrm>
          <a:prstGeom prst="rect">
            <a:avLst/>
          </a:prstGeom>
        </p:spPr>
        <p:txBody>
          <a:bodyPr anchor="t">
            <a:norm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000" b="1" noProof="0">
                <a:latin typeface="+mn-lt"/>
              </a:rPr>
              <a:t>1.1 NORTH Data Platform: </a:t>
            </a:r>
            <a:r>
              <a:rPr lang="en-CA" sz="2000" noProof="0">
                <a:latin typeface="+mn-lt"/>
              </a:rPr>
              <a:t>Functional Architecture</a:t>
            </a:r>
          </a:p>
        </p:txBody>
      </p:sp>
      <p:sp>
        <p:nvSpPr>
          <p:cNvPr id="14" name="Rectangle 13">
            <a:extLst>
              <a:ext uri="{FF2B5EF4-FFF2-40B4-BE49-F238E27FC236}">
                <a16:creationId xmlns:a16="http://schemas.microsoft.com/office/drawing/2014/main" id="{CB453F5D-BCAD-D9C9-8C09-99807B35C66F}"/>
              </a:ext>
            </a:extLst>
          </p:cNvPr>
          <p:cNvSpPr/>
          <p:nvPr/>
        </p:nvSpPr>
        <p:spPr>
          <a:xfrm>
            <a:off x="9450100" y="930280"/>
            <a:ext cx="969370" cy="4115470"/>
          </a:xfrm>
          <a:prstGeom prst="rect">
            <a:avLst/>
          </a:prstGeom>
          <a:solidFill>
            <a:schemeClr val="accent1"/>
          </a:solidFill>
          <a:ln w="19050" cap="flat" cmpd="sng" algn="ctr">
            <a:noFill/>
            <a:prstDash val="solid"/>
            <a:miter lim="800000"/>
          </a:ln>
          <a:effectLst/>
        </p:spPr>
        <p:txBody>
          <a:bodyPr lIns="0" tIns="45720" rIns="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800" b="1" i="0" u="none" strike="noStrike" kern="0" cap="none" spc="0" normalizeH="0" baseline="0" noProof="0">
              <a:ln>
                <a:noFill/>
              </a:ln>
              <a:solidFill>
                <a:srgbClr val="7030A0"/>
              </a:solidFill>
              <a:effectLst/>
              <a:uLnTx/>
              <a:uFillTx/>
              <a:cs typeface="Arial"/>
            </a:endParaRPr>
          </a:p>
        </p:txBody>
      </p:sp>
      <p:sp>
        <p:nvSpPr>
          <p:cNvPr id="15" name="TextBox 14">
            <a:extLst>
              <a:ext uri="{FF2B5EF4-FFF2-40B4-BE49-F238E27FC236}">
                <a16:creationId xmlns:a16="http://schemas.microsoft.com/office/drawing/2014/main" id="{8B65F6A6-A051-A2A0-7D2B-FEFDE8321CA4}"/>
              </a:ext>
            </a:extLst>
          </p:cNvPr>
          <p:cNvSpPr txBox="1"/>
          <p:nvPr/>
        </p:nvSpPr>
        <p:spPr>
          <a:xfrm>
            <a:off x="9440042" y="981836"/>
            <a:ext cx="962913"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1200" b="1" noProof="0">
                <a:solidFill>
                  <a:schemeClr val="bg1"/>
                </a:solidFill>
              </a:rPr>
              <a:t>Information Access</a:t>
            </a:r>
          </a:p>
        </p:txBody>
      </p:sp>
      <p:sp>
        <p:nvSpPr>
          <p:cNvPr id="16" name="TextBox 15">
            <a:extLst>
              <a:ext uri="{FF2B5EF4-FFF2-40B4-BE49-F238E27FC236}">
                <a16:creationId xmlns:a16="http://schemas.microsoft.com/office/drawing/2014/main" id="{2EC3285E-C16F-CCD8-8AE5-93804271F638}"/>
              </a:ext>
            </a:extLst>
          </p:cNvPr>
          <p:cNvSpPr txBox="1"/>
          <p:nvPr/>
        </p:nvSpPr>
        <p:spPr>
          <a:xfrm>
            <a:off x="9547645" y="1420441"/>
            <a:ext cx="778896" cy="483990"/>
          </a:xfrm>
          <a:prstGeom prst="rect">
            <a:avLst/>
          </a:prstGeom>
          <a:solidFill>
            <a:schemeClr val="tx1">
              <a:lumMod val="20000"/>
              <a:lumOff val="80000"/>
            </a:schemeClr>
          </a:solidFill>
          <a:ln>
            <a:noFill/>
          </a:ln>
        </p:spPr>
        <p:txBody>
          <a:bodyPr wrap="square" lIns="0" rIns="0" rtlCol="0" anchor="ctr">
            <a:noAutofit/>
          </a:bodyPr>
          <a:lstStyle/>
          <a:p>
            <a:pPr lvl="0" algn="ctr">
              <a:defRPr/>
            </a:pPr>
            <a:r>
              <a:rPr lang="en-CA" sz="1000" kern="0" noProof="0">
                <a:solidFill>
                  <a:schemeClr val="bg2">
                    <a:lumMod val="10000"/>
                  </a:schemeClr>
                </a:solidFill>
              </a:rPr>
              <a:t>Query Federation &amp; Virtualization</a:t>
            </a:r>
          </a:p>
        </p:txBody>
      </p:sp>
      <p:sp>
        <p:nvSpPr>
          <p:cNvPr id="17" name="TextBox 16">
            <a:extLst>
              <a:ext uri="{FF2B5EF4-FFF2-40B4-BE49-F238E27FC236}">
                <a16:creationId xmlns:a16="http://schemas.microsoft.com/office/drawing/2014/main" id="{313CF0F6-B358-80F5-44A9-A7EE9069AD9C}"/>
              </a:ext>
            </a:extLst>
          </p:cNvPr>
          <p:cNvSpPr txBox="1"/>
          <p:nvPr/>
        </p:nvSpPr>
        <p:spPr>
          <a:xfrm>
            <a:off x="9547645" y="1988585"/>
            <a:ext cx="778896" cy="360000"/>
          </a:xfrm>
          <a:prstGeom prst="rect">
            <a:avLst/>
          </a:prstGeom>
          <a:solidFill>
            <a:schemeClr val="tx1">
              <a:lumMod val="20000"/>
              <a:lumOff val="80000"/>
            </a:schemeClr>
          </a:solidFill>
          <a:ln>
            <a:noFill/>
          </a:ln>
        </p:spPr>
        <p:txBody>
          <a:bodyPr wrap="square" rtlCol="0" anchor="ctr">
            <a:noAutofit/>
          </a:bodyPr>
          <a:lstStyle/>
          <a:p>
            <a:pPr lvl="0" algn="ctr">
              <a:defRPr/>
            </a:pPr>
            <a:r>
              <a:rPr lang="en-CA" sz="1000" kern="0" noProof="0">
                <a:solidFill>
                  <a:schemeClr val="bg2">
                    <a:lumMod val="10000"/>
                  </a:schemeClr>
                </a:solidFill>
              </a:rPr>
              <a:t>API</a:t>
            </a:r>
          </a:p>
        </p:txBody>
      </p:sp>
      <p:sp>
        <p:nvSpPr>
          <p:cNvPr id="18" name="TextBox 17">
            <a:extLst>
              <a:ext uri="{FF2B5EF4-FFF2-40B4-BE49-F238E27FC236}">
                <a16:creationId xmlns:a16="http://schemas.microsoft.com/office/drawing/2014/main" id="{DB5923AA-0841-6ABF-42FC-F3A050136663}"/>
              </a:ext>
            </a:extLst>
          </p:cNvPr>
          <p:cNvSpPr txBox="1"/>
          <p:nvPr/>
        </p:nvSpPr>
        <p:spPr>
          <a:xfrm>
            <a:off x="9547645" y="2450970"/>
            <a:ext cx="778896" cy="360000"/>
          </a:xfrm>
          <a:prstGeom prst="rect">
            <a:avLst/>
          </a:prstGeom>
          <a:solidFill>
            <a:schemeClr val="tx1">
              <a:lumMod val="20000"/>
              <a:lumOff val="80000"/>
            </a:schemeClr>
          </a:solidFill>
          <a:ln>
            <a:noFill/>
          </a:ln>
        </p:spPr>
        <p:txBody>
          <a:bodyPr wrap="square" rtlCol="0" anchor="ctr">
            <a:noAutofit/>
          </a:bodyPr>
          <a:lstStyle/>
          <a:p>
            <a:pPr lvl="0" algn="ctr">
              <a:defRPr/>
            </a:pPr>
            <a:r>
              <a:rPr lang="en-CA" sz="1000" kern="0" noProof="0">
                <a:solidFill>
                  <a:schemeClr val="bg2">
                    <a:lumMod val="10000"/>
                  </a:schemeClr>
                </a:solidFill>
              </a:rPr>
              <a:t>Files (Batch)</a:t>
            </a:r>
          </a:p>
        </p:txBody>
      </p:sp>
      <p:sp>
        <p:nvSpPr>
          <p:cNvPr id="19" name="TextBox 18">
            <a:extLst>
              <a:ext uri="{FF2B5EF4-FFF2-40B4-BE49-F238E27FC236}">
                <a16:creationId xmlns:a16="http://schemas.microsoft.com/office/drawing/2014/main" id="{ED292A77-1234-B38C-AE7B-CF1F56975CD9}"/>
              </a:ext>
            </a:extLst>
          </p:cNvPr>
          <p:cNvSpPr txBox="1"/>
          <p:nvPr/>
        </p:nvSpPr>
        <p:spPr>
          <a:xfrm>
            <a:off x="9547645" y="2921209"/>
            <a:ext cx="778896" cy="360000"/>
          </a:xfrm>
          <a:prstGeom prst="rect">
            <a:avLst/>
          </a:prstGeom>
          <a:solidFill>
            <a:schemeClr val="tx1">
              <a:lumMod val="20000"/>
              <a:lumOff val="80000"/>
            </a:schemeClr>
          </a:solidFill>
          <a:ln>
            <a:noFill/>
          </a:ln>
        </p:spPr>
        <p:txBody>
          <a:bodyPr wrap="square" lIns="0" rIns="0" rtlCol="0" anchor="ctr">
            <a:noAutofit/>
          </a:bodyPr>
          <a:lstStyle/>
          <a:p>
            <a:pPr lvl="0" algn="ctr">
              <a:defRPr/>
            </a:pPr>
            <a:r>
              <a:rPr lang="en-CA" sz="1000" kern="0" noProof="0">
                <a:solidFill>
                  <a:schemeClr val="bg2">
                    <a:lumMod val="10000"/>
                  </a:schemeClr>
                </a:solidFill>
              </a:rPr>
              <a:t>Pub / Sub</a:t>
            </a:r>
          </a:p>
        </p:txBody>
      </p:sp>
      <p:sp>
        <p:nvSpPr>
          <p:cNvPr id="20" name="TextBox 19">
            <a:extLst>
              <a:ext uri="{FF2B5EF4-FFF2-40B4-BE49-F238E27FC236}">
                <a16:creationId xmlns:a16="http://schemas.microsoft.com/office/drawing/2014/main" id="{81068A1E-9B24-6659-639D-B09B936795CF}"/>
              </a:ext>
            </a:extLst>
          </p:cNvPr>
          <p:cNvSpPr txBox="1"/>
          <p:nvPr/>
        </p:nvSpPr>
        <p:spPr>
          <a:xfrm>
            <a:off x="9547645" y="3405302"/>
            <a:ext cx="778896" cy="360000"/>
          </a:xfrm>
          <a:prstGeom prst="rect">
            <a:avLst/>
          </a:prstGeom>
          <a:solidFill>
            <a:schemeClr val="tx1">
              <a:lumMod val="20000"/>
              <a:lumOff val="80000"/>
            </a:schemeClr>
          </a:solidFill>
          <a:ln>
            <a:noFill/>
          </a:ln>
        </p:spPr>
        <p:txBody>
          <a:bodyPr wrap="square" rtlCol="0" anchor="ctr">
            <a:noAutofit/>
          </a:bodyPr>
          <a:lstStyle/>
          <a:p>
            <a:pPr lvl="0" algn="ctr">
              <a:defRPr/>
            </a:pPr>
            <a:r>
              <a:rPr lang="en-CA" sz="1000" kern="0" noProof="0">
                <a:solidFill>
                  <a:schemeClr val="bg2">
                    <a:lumMod val="10000"/>
                  </a:schemeClr>
                </a:solidFill>
              </a:rPr>
              <a:t>Tabular Views</a:t>
            </a:r>
          </a:p>
        </p:txBody>
      </p:sp>
      <p:sp>
        <p:nvSpPr>
          <p:cNvPr id="21" name="TextBox 20">
            <a:extLst>
              <a:ext uri="{FF2B5EF4-FFF2-40B4-BE49-F238E27FC236}">
                <a16:creationId xmlns:a16="http://schemas.microsoft.com/office/drawing/2014/main" id="{863971F3-003F-37EB-7CF1-61C2A7D14C7F}"/>
              </a:ext>
            </a:extLst>
          </p:cNvPr>
          <p:cNvSpPr txBox="1"/>
          <p:nvPr/>
        </p:nvSpPr>
        <p:spPr>
          <a:xfrm>
            <a:off x="9547645" y="3889395"/>
            <a:ext cx="778896" cy="360000"/>
          </a:xfrm>
          <a:prstGeom prst="rect">
            <a:avLst/>
          </a:prstGeom>
          <a:solidFill>
            <a:schemeClr val="tx1">
              <a:lumMod val="20000"/>
              <a:lumOff val="80000"/>
            </a:schemeClr>
          </a:solidFill>
          <a:ln>
            <a:noFill/>
          </a:ln>
        </p:spPr>
        <p:txBody>
          <a:bodyPr wrap="square" lIns="0" rIns="36000" rtlCol="0" anchor="ctr">
            <a:noAutofit/>
          </a:bodyPr>
          <a:lstStyle/>
          <a:p>
            <a:pPr lvl="0" algn="ctr">
              <a:defRPr/>
            </a:pPr>
            <a:r>
              <a:rPr lang="en-CA" sz="1000" kern="0" noProof="0">
                <a:solidFill>
                  <a:schemeClr val="bg2">
                    <a:lumMod val="10000"/>
                  </a:schemeClr>
                </a:solidFill>
              </a:rPr>
              <a:t>Graph</a:t>
            </a:r>
          </a:p>
        </p:txBody>
      </p:sp>
      <p:sp>
        <p:nvSpPr>
          <p:cNvPr id="22" name="TextBox 21">
            <a:extLst>
              <a:ext uri="{FF2B5EF4-FFF2-40B4-BE49-F238E27FC236}">
                <a16:creationId xmlns:a16="http://schemas.microsoft.com/office/drawing/2014/main" id="{1311930C-5169-0949-3111-59FD4CA5FC88}"/>
              </a:ext>
            </a:extLst>
          </p:cNvPr>
          <p:cNvSpPr txBox="1"/>
          <p:nvPr/>
        </p:nvSpPr>
        <p:spPr>
          <a:xfrm>
            <a:off x="9547645" y="4373488"/>
            <a:ext cx="778896" cy="360000"/>
          </a:xfrm>
          <a:prstGeom prst="rect">
            <a:avLst/>
          </a:prstGeom>
          <a:solidFill>
            <a:schemeClr val="tx1">
              <a:lumMod val="20000"/>
              <a:lumOff val="80000"/>
            </a:schemeClr>
          </a:solidFill>
          <a:ln>
            <a:noFill/>
          </a:ln>
        </p:spPr>
        <p:txBody>
          <a:bodyPr wrap="square" lIns="0" tIns="0" rIns="0" bIns="0" rtlCol="0" anchor="ctr">
            <a:noAutofit/>
          </a:bodyPr>
          <a:lstStyle/>
          <a:p>
            <a:pPr lvl="0" algn="ctr">
              <a:spcAft>
                <a:spcPts val="600"/>
              </a:spcAft>
              <a:tabLst>
                <a:tab pos="173736" algn="l"/>
                <a:tab pos="347472" algn="l"/>
                <a:tab pos="521208" algn="l"/>
                <a:tab pos="694944" algn="l"/>
              </a:tabLst>
              <a:defRPr/>
            </a:pPr>
            <a:r>
              <a:rPr lang="en-CA" sz="1000" kern="0" noProof="0">
                <a:solidFill>
                  <a:schemeClr val="bg2">
                    <a:lumMod val="10000"/>
                  </a:schemeClr>
                </a:solidFill>
              </a:rPr>
              <a:t>Database connection</a:t>
            </a:r>
          </a:p>
        </p:txBody>
      </p:sp>
      <p:sp>
        <p:nvSpPr>
          <p:cNvPr id="23" name="Rectangle 22">
            <a:extLst>
              <a:ext uri="{FF2B5EF4-FFF2-40B4-BE49-F238E27FC236}">
                <a16:creationId xmlns:a16="http://schemas.microsoft.com/office/drawing/2014/main" id="{A096149F-6B46-95BE-D82B-89EC986B71B3}"/>
              </a:ext>
            </a:extLst>
          </p:cNvPr>
          <p:cNvSpPr/>
          <p:nvPr/>
        </p:nvSpPr>
        <p:spPr>
          <a:xfrm>
            <a:off x="2228713" y="519096"/>
            <a:ext cx="8306068" cy="4856183"/>
          </a:xfrm>
          <a:prstGeom prst="rect">
            <a:avLst/>
          </a:prstGeom>
          <a:noFill/>
          <a:ln>
            <a:solidFill>
              <a:srgbClr val="C00000"/>
            </a:solidFill>
            <a:prstDash val="sysDash"/>
          </a:ln>
        </p:spPr>
        <p:style>
          <a:lnRef idx="2">
            <a:schemeClr val="accent4"/>
          </a:lnRef>
          <a:fillRef idx="1">
            <a:schemeClr val="lt1"/>
          </a:fillRef>
          <a:effectRef idx="0">
            <a:schemeClr val="accent4"/>
          </a:effectRef>
          <a:fontRef idx="minor">
            <a:schemeClr val="dk1"/>
          </a:fontRef>
        </p:style>
        <p:txBody>
          <a:bodyPr lIns="36000" tIns="36000" rIns="36000" bIns="36000" rtlCol="0" anchor="ctr">
            <a:noAutofit/>
          </a:bodyPr>
          <a:lstStyle/>
          <a:p>
            <a:pPr algn="l"/>
            <a:endParaRPr lang="en-CA" sz="1100" noProof="0"/>
          </a:p>
        </p:txBody>
      </p:sp>
      <p:sp>
        <p:nvSpPr>
          <p:cNvPr id="24" name="Rectangle 23">
            <a:extLst>
              <a:ext uri="{FF2B5EF4-FFF2-40B4-BE49-F238E27FC236}">
                <a16:creationId xmlns:a16="http://schemas.microsoft.com/office/drawing/2014/main" id="{CE4A3760-F0F1-2F06-FE31-700F55B66B28}"/>
              </a:ext>
            </a:extLst>
          </p:cNvPr>
          <p:cNvSpPr/>
          <p:nvPr/>
        </p:nvSpPr>
        <p:spPr>
          <a:xfrm>
            <a:off x="2284086" y="928730"/>
            <a:ext cx="969370" cy="4117184"/>
          </a:xfrm>
          <a:prstGeom prst="rect">
            <a:avLst/>
          </a:prstGeom>
          <a:solidFill>
            <a:schemeClr val="accent1"/>
          </a:solidFill>
          <a:ln w="19050" cap="flat" cmpd="sng" algn="ctr">
            <a:noFill/>
            <a:prstDash val="solid"/>
            <a:miter lim="800000"/>
          </a:ln>
          <a:effectLst/>
        </p:spPr>
        <p:txBody>
          <a:bodyPr lIns="0" tIns="45720" rIns="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800" b="1" i="0" u="none" strike="noStrike" kern="0" cap="none" spc="0" normalizeH="0" baseline="0" noProof="0">
              <a:ln>
                <a:noFill/>
              </a:ln>
              <a:solidFill>
                <a:srgbClr val="7030A0"/>
              </a:solidFill>
              <a:effectLst/>
              <a:uLnTx/>
              <a:uFillTx/>
              <a:cs typeface="Arial"/>
            </a:endParaRPr>
          </a:p>
        </p:txBody>
      </p:sp>
      <p:sp>
        <p:nvSpPr>
          <p:cNvPr id="25" name="TextBox 24">
            <a:extLst>
              <a:ext uri="{FF2B5EF4-FFF2-40B4-BE49-F238E27FC236}">
                <a16:creationId xmlns:a16="http://schemas.microsoft.com/office/drawing/2014/main" id="{C3EBAF84-50E2-A224-57A9-C345E60B3631}"/>
              </a:ext>
            </a:extLst>
          </p:cNvPr>
          <p:cNvSpPr txBox="1"/>
          <p:nvPr/>
        </p:nvSpPr>
        <p:spPr>
          <a:xfrm>
            <a:off x="2315984" y="998962"/>
            <a:ext cx="926013"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1200" b="1" noProof="0">
                <a:solidFill>
                  <a:schemeClr val="bg1"/>
                </a:solidFill>
              </a:rPr>
              <a:t>Data Integration</a:t>
            </a:r>
          </a:p>
        </p:txBody>
      </p:sp>
      <p:sp>
        <p:nvSpPr>
          <p:cNvPr id="26" name="Rectangle 25">
            <a:extLst>
              <a:ext uri="{FF2B5EF4-FFF2-40B4-BE49-F238E27FC236}">
                <a16:creationId xmlns:a16="http://schemas.microsoft.com/office/drawing/2014/main" id="{D20ABAB2-D35D-7317-F9EC-1497C37F5B6D}"/>
              </a:ext>
            </a:extLst>
          </p:cNvPr>
          <p:cNvSpPr/>
          <p:nvPr/>
        </p:nvSpPr>
        <p:spPr>
          <a:xfrm>
            <a:off x="3423253" y="980675"/>
            <a:ext cx="5919592" cy="3603573"/>
          </a:xfrm>
          <a:prstGeom prst="rect">
            <a:avLst/>
          </a:prstGeom>
          <a:noFill/>
          <a:ln w="9525">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28" name="TextBox 27">
            <a:extLst>
              <a:ext uri="{FF2B5EF4-FFF2-40B4-BE49-F238E27FC236}">
                <a16:creationId xmlns:a16="http://schemas.microsoft.com/office/drawing/2014/main" id="{4CF8270A-E5DA-69DD-0055-6486516D9894}"/>
              </a:ext>
            </a:extLst>
          </p:cNvPr>
          <p:cNvSpPr txBox="1"/>
          <p:nvPr/>
        </p:nvSpPr>
        <p:spPr>
          <a:xfrm>
            <a:off x="5377086" y="2074984"/>
            <a:ext cx="1944000" cy="230832"/>
          </a:xfrm>
          <a:prstGeom prst="rect">
            <a:avLst/>
          </a:prstGeom>
          <a:noFill/>
          <a:ln>
            <a:noFill/>
          </a:ln>
        </p:spPr>
        <p:txBody>
          <a:bodyPr wrap="square" lIns="72000" rIns="72000"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tx2"/>
                </a:solidFill>
                <a:effectLst/>
                <a:uLnTx/>
                <a:uFillTx/>
                <a:latin typeface="+mn-lt"/>
              </a:rPr>
              <a:t>Functional Areas </a:t>
            </a:r>
          </a:p>
        </p:txBody>
      </p:sp>
      <p:sp>
        <p:nvSpPr>
          <p:cNvPr id="98" name="Flowchart: Preparation 97">
            <a:extLst>
              <a:ext uri="{FF2B5EF4-FFF2-40B4-BE49-F238E27FC236}">
                <a16:creationId xmlns:a16="http://schemas.microsoft.com/office/drawing/2014/main" id="{F3D5403C-C480-2A35-E29F-EF35A87FF4BF}"/>
              </a:ext>
            </a:extLst>
          </p:cNvPr>
          <p:cNvSpPr>
            <a:spLocks/>
          </p:cNvSpPr>
          <p:nvPr/>
        </p:nvSpPr>
        <p:spPr>
          <a:xfrm>
            <a:off x="4658750" y="2340428"/>
            <a:ext cx="90000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Corp Strategy</a:t>
            </a:r>
          </a:p>
        </p:txBody>
      </p:sp>
      <p:sp>
        <p:nvSpPr>
          <p:cNvPr id="99" name="Flowchart: Preparation 98">
            <a:extLst>
              <a:ext uri="{FF2B5EF4-FFF2-40B4-BE49-F238E27FC236}">
                <a16:creationId xmlns:a16="http://schemas.microsoft.com/office/drawing/2014/main" id="{4FB8FC10-1A3A-F1EE-61FB-D76F3283FD38}"/>
              </a:ext>
            </a:extLst>
          </p:cNvPr>
          <p:cNvSpPr>
            <a:spLocks/>
          </p:cNvSpPr>
          <p:nvPr/>
        </p:nvSpPr>
        <p:spPr>
          <a:xfrm>
            <a:off x="5586505" y="2331266"/>
            <a:ext cx="90000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Canada Ops</a:t>
            </a:r>
          </a:p>
        </p:txBody>
      </p:sp>
      <p:sp>
        <p:nvSpPr>
          <p:cNvPr id="30" name="Flowchart: Preparation 29">
            <a:extLst>
              <a:ext uri="{FF2B5EF4-FFF2-40B4-BE49-F238E27FC236}">
                <a16:creationId xmlns:a16="http://schemas.microsoft.com/office/drawing/2014/main" id="{158C7B72-EC30-D1DF-FBF0-373690CB5912}"/>
              </a:ext>
            </a:extLst>
          </p:cNvPr>
          <p:cNvSpPr>
            <a:spLocks/>
          </p:cNvSpPr>
          <p:nvPr/>
        </p:nvSpPr>
        <p:spPr>
          <a:xfrm>
            <a:off x="5279170" y="2892413"/>
            <a:ext cx="834015" cy="574512"/>
          </a:xfrm>
          <a:prstGeom prst="flowChartPreparation">
            <a:avLst/>
          </a:prstGeom>
          <a:solidFill>
            <a:schemeClr val="accent1"/>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1"/>
                </a:solidFill>
              </a:rPr>
              <a:t>Enterprise Node (360 views)</a:t>
            </a:r>
          </a:p>
        </p:txBody>
      </p:sp>
      <p:sp>
        <p:nvSpPr>
          <p:cNvPr id="93" name="Flowchart: Preparation 92">
            <a:extLst>
              <a:ext uri="{FF2B5EF4-FFF2-40B4-BE49-F238E27FC236}">
                <a16:creationId xmlns:a16="http://schemas.microsoft.com/office/drawing/2014/main" id="{DBB3135E-CF7C-6312-2DA8-62D3D433E7D0}"/>
              </a:ext>
            </a:extLst>
          </p:cNvPr>
          <p:cNvSpPr>
            <a:spLocks/>
          </p:cNvSpPr>
          <p:nvPr/>
        </p:nvSpPr>
        <p:spPr>
          <a:xfrm>
            <a:off x="4394352" y="1587633"/>
            <a:ext cx="90000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Wealth</a:t>
            </a:r>
          </a:p>
        </p:txBody>
      </p:sp>
      <p:sp>
        <p:nvSpPr>
          <p:cNvPr id="94" name="Flowchart: Preparation 93">
            <a:extLst>
              <a:ext uri="{FF2B5EF4-FFF2-40B4-BE49-F238E27FC236}">
                <a16:creationId xmlns:a16="http://schemas.microsoft.com/office/drawing/2014/main" id="{8A695C0F-46F5-B083-B73F-CB17F6FC9B47}"/>
              </a:ext>
            </a:extLst>
          </p:cNvPr>
          <p:cNvSpPr>
            <a:spLocks/>
          </p:cNvSpPr>
          <p:nvPr/>
        </p:nvSpPr>
        <p:spPr>
          <a:xfrm>
            <a:off x="5634384" y="1564038"/>
            <a:ext cx="900000"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a:solidFill>
                  <a:schemeClr val="bg2">
                    <a:lumMod val="10000"/>
                  </a:schemeClr>
                </a:solidFill>
              </a:rPr>
              <a:t>BU (N)</a:t>
            </a:r>
            <a:endParaRPr lang="en-CA" sz="800" noProof="0">
              <a:solidFill>
                <a:schemeClr val="bg2">
                  <a:lumMod val="10000"/>
                </a:schemeClr>
              </a:solidFill>
            </a:endParaRPr>
          </a:p>
        </p:txBody>
      </p:sp>
      <p:sp>
        <p:nvSpPr>
          <p:cNvPr id="95" name="Flowchart: Preparation 94">
            <a:extLst>
              <a:ext uri="{FF2B5EF4-FFF2-40B4-BE49-F238E27FC236}">
                <a16:creationId xmlns:a16="http://schemas.microsoft.com/office/drawing/2014/main" id="{19BAB907-65ED-1ECE-1D03-705B03F6C3B7}"/>
              </a:ext>
            </a:extLst>
          </p:cNvPr>
          <p:cNvSpPr>
            <a:spLocks/>
          </p:cNvSpPr>
          <p:nvPr/>
        </p:nvSpPr>
        <p:spPr>
          <a:xfrm>
            <a:off x="3468670" y="1594336"/>
            <a:ext cx="90000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CA" sz="800" noProof="0">
                <a:solidFill>
                  <a:schemeClr val="bg2">
                    <a:lumMod val="10000"/>
                  </a:schemeClr>
                </a:solidFill>
              </a:rPr>
              <a:t>WBR</a:t>
            </a:r>
          </a:p>
        </p:txBody>
      </p:sp>
      <p:sp>
        <p:nvSpPr>
          <p:cNvPr id="32" name="TextBox 31">
            <a:extLst>
              <a:ext uri="{FF2B5EF4-FFF2-40B4-BE49-F238E27FC236}">
                <a16:creationId xmlns:a16="http://schemas.microsoft.com/office/drawing/2014/main" id="{719CB78C-F9B9-0CDA-E27F-CD3CBE2A4A02}"/>
              </a:ext>
            </a:extLst>
          </p:cNvPr>
          <p:cNvSpPr txBox="1"/>
          <p:nvPr/>
        </p:nvSpPr>
        <p:spPr>
          <a:xfrm>
            <a:off x="3897076" y="1238836"/>
            <a:ext cx="1187255" cy="230832"/>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tx2"/>
                </a:solidFill>
                <a:effectLst/>
                <a:uLnTx/>
                <a:uFillTx/>
                <a:latin typeface="+mn-lt"/>
              </a:rPr>
              <a:t>Business Units</a:t>
            </a:r>
          </a:p>
        </p:txBody>
      </p:sp>
      <p:sp>
        <p:nvSpPr>
          <p:cNvPr id="33" name="TextBox 32">
            <a:extLst>
              <a:ext uri="{FF2B5EF4-FFF2-40B4-BE49-F238E27FC236}">
                <a16:creationId xmlns:a16="http://schemas.microsoft.com/office/drawing/2014/main" id="{1A859EEE-B2E0-9F58-7E05-31CAAD130682}"/>
              </a:ext>
            </a:extLst>
          </p:cNvPr>
          <p:cNvSpPr txBox="1"/>
          <p:nvPr/>
        </p:nvSpPr>
        <p:spPr>
          <a:xfrm>
            <a:off x="6862725" y="1238836"/>
            <a:ext cx="1656000" cy="353943"/>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tx2"/>
                </a:solidFill>
                <a:effectLst/>
                <a:uLnTx/>
                <a:uFillTx/>
                <a:latin typeface="+mn-lt"/>
              </a:rPr>
              <a:t>Specialized Nodes </a:t>
            </a:r>
          </a:p>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800" i="0" u="none" strike="noStrike" kern="0" cap="none" spc="0" normalizeH="0" baseline="0" noProof="0">
                <a:ln>
                  <a:noFill/>
                </a:ln>
                <a:solidFill>
                  <a:schemeClr val="tx2"/>
                </a:solidFill>
                <a:effectLst/>
                <a:uLnTx/>
                <a:uFillTx/>
                <a:latin typeface="+mn-lt"/>
              </a:rPr>
              <a:t>(Segregated data)</a:t>
            </a:r>
          </a:p>
        </p:txBody>
      </p:sp>
      <p:cxnSp>
        <p:nvCxnSpPr>
          <p:cNvPr id="37" name="Straight Connector 36">
            <a:extLst>
              <a:ext uri="{FF2B5EF4-FFF2-40B4-BE49-F238E27FC236}">
                <a16:creationId xmlns:a16="http://schemas.microsoft.com/office/drawing/2014/main" id="{A3403FE9-9CCC-DBB3-FB83-ECA88A1F9B7D}"/>
              </a:ext>
            </a:extLst>
          </p:cNvPr>
          <p:cNvCxnSpPr>
            <a:cxnSpLocks/>
          </p:cNvCxnSpPr>
          <p:nvPr/>
        </p:nvCxnSpPr>
        <p:spPr>
          <a:xfrm flipH="1">
            <a:off x="3456745" y="2095463"/>
            <a:ext cx="5893860" cy="13232"/>
          </a:xfrm>
          <a:prstGeom prst="line">
            <a:avLst/>
          </a:prstGeom>
          <a:ln w="12700">
            <a:solidFill>
              <a:schemeClr val="accent1"/>
            </a:solidFill>
            <a:prstDash val="sysDash"/>
          </a:ln>
        </p:spPr>
        <p:style>
          <a:lnRef idx="1">
            <a:schemeClr val="accent2"/>
          </a:lnRef>
          <a:fillRef idx="0">
            <a:schemeClr val="accent2"/>
          </a:fillRef>
          <a:effectRef idx="0">
            <a:schemeClr val="accent2"/>
          </a:effectRef>
          <a:fontRef idx="minor">
            <a:schemeClr val="tx1"/>
          </a:fontRef>
        </p:style>
      </p:cxnSp>
      <p:sp>
        <p:nvSpPr>
          <p:cNvPr id="38" name="TextBox 37">
            <a:extLst>
              <a:ext uri="{FF2B5EF4-FFF2-40B4-BE49-F238E27FC236}">
                <a16:creationId xmlns:a16="http://schemas.microsoft.com/office/drawing/2014/main" id="{CC11ED51-A807-C932-581F-DAFEDB43B571}"/>
              </a:ext>
            </a:extLst>
          </p:cNvPr>
          <p:cNvSpPr txBox="1"/>
          <p:nvPr/>
        </p:nvSpPr>
        <p:spPr>
          <a:xfrm>
            <a:off x="5084331" y="990432"/>
            <a:ext cx="2301864"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ctr" anchorCtr="0">
            <a:spAutoFit/>
          </a:bodyPr>
          <a:lstStyle/>
          <a:p>
            <a:pPr algn="ctr"/>
            <a:r>
              <a:rPr lang="en-CA" sz="1100" b="1" noProof="0">
                <a:solidFill>
                  <a:schemeClr val="bg2">
                    <a:lumMod val="10000"/>
                  </a:schemeClr>
                </a:solidFill>
              </a:rPr>
              <a:t>Canada Life Data Nodes</a:t>
            </a:r>
            <a:endParaRPr lang="en-CA" sz="1100" noProof="0">
              <a:solidFill>
                <a:schemeClr val="bg2">
                  <a:lumMod val="10000"/>
                </a:schemeClr>
              </a:solidFill>
            </a:endParaRPr>
          </a:p>
        </p:txBody>
      </p:sp>
      <p:cxnSp>
        <p:nvCxnSpPr>
          <p:cNvPr id="39" name="Straight Connector 38">
            <a:extLst>
              <a:ext uri="{FF2B5EF4-FFF2-40B4-BE49-F238E27FC236}">
                <a16:creationId xmlns:a16="http://schemas.microsoft.com/office/drawing/2014/main" id="{C88536BE-916F-3536-F538-3BED2ABD68BC}"/>
              </a:ext>
            </a:extLst>
          </p:cNvPr>
          <p:cNvCxnSpPr>
            <a:cxnSpLocks/>
          </p:cNvCxnSpPr>
          <p:nvPr/>
        </p:nvCxnSpPr>
        <p:spPr>
          <a:xfrm>
            <a:off x="3438275" y="1238836"/>
            <a:ext cx="5912330" cy="0"/>
          </a:xfrm>
          <a:prstGeom prst="line">
            <a:avLst/>
          </a:prstGeom>
          <a:ln w="9525">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114B3035-312C-2E32-CD50-6A469EF0067F}"/>
              </a:ext>
            </a:extLst>
          </p:cNvPr>
          <p:cNvSpPr txBox="1"/>
          <p:nvPr/>
        </p:nvSpPr>
        <p:spPr>
          <a:xfrm>
            <a:off x="4679368" y="3545244"/>
            <a:ext cx="3497407"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ctr" anchorCtr="0">
            <a:spAutoFit/>
          </a:bodyPr>
          <a:lstStyle/>
          <a:p>
            <a:pPr algn="ctr"/>
            <a:r>
              <a:rPr lang="en-CA" sz="1100" b="1" noProof="0">
                <a:solidFill>
                  <a:schemeClr val="bg2">
                    <a:lumMod val="10000"/>
                  </a:schemeClr>
                </a:solidFill>
              </a:rPr>
              <a:t>Global </a:t>
            </a:r>
            <a:r>
              <a:rPr lang="en-CA" sz="1100" b="1" noProof="0" err="1">
                <a:solidFill>
                  <a:schemeClr val="bg2">
                    <a:lumMod val="10000"/>
                  </a:schemeClr>
                </a:solidFill>
              </a:rPr>
              <a:t>LifeCo</a:t>
            </a:r>
            <a:r>
              <a:rPr lang="en-CA" sz="1100" b="1" noProof="0">
                <a:solidFill>
                  <a:schemeClr val="bg2">
                    <a:lumMod val="10000"/>
                  </a:schemeClr>
                </a:solidFill>
              </a:rPr>
              <a:t>. Functional Areas</a:t>
            </a:r>
          </a:p>
        </p:txBody>
      </p:sp>
      <p:cxnSp>
        <p:nvCxnSpPr>
          <p:cNvPr id="42" name="Straight Connector 41">
            <a:extLst>
              <a:ext uri="{FF2B5EF4-FFF2-40B4-BE49-F238E27FC236}">
                <a16:creationId xmlns:a16="http://schemas.microsoft.com/office/drawing/2014/main" id="{35801CAF-FC5A-EEF6-48A8-578DD6337528}"/>
              </a:ext>
            </a:extLst>
          </p:cNvPr>
          <p:cNvCxnSpPr>
            <a:cxnSpLocks/>
          </p:cNvCxnSpPr>
          <p:nvPr/>
        </p:nvCxnSpPr>
        <p:spPr>
          <a:xfrm>
            <a:off x="3408509" y="3550738"/>
            <a:ext cx="5860633" cy="0"/>
          </a:xfrm>
          <a:prstGeom prst="line">
            <a:avLst/>
          </a:prstGeom>
          <a:ln w="9525">
            <a:solidFill>
              <a:schemeClr val="accent1"/>
            </a:solidFill>
            <a:prstDash val="sysDash"/>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B495D5F3-B5ED-87DB-B1FF-D8D08CCDE2ED}"/>
              </a:ext>
            </a:extLst>
          </p:cNvPr>
          <p:cNvSpPr/>
          <p:nvPr/>
        </p:nvSpPr>
        <p:spPr>
          <a:xfrm>
            <a:off x="10857725" y="1103428"/>
            <a:ext cx="1195149" cy="3863618"/>
          </a:xfrm>
          <a:prstGeom prst="rect">
            <a:avLst/>
          </a:prstGeom>
          <a:noFill/>
          <a:ln>
            <a:solidFill>
              <a:schemeClr val="tx2"/>
            </a:solidFill>
          </a:ln>
        </p:spPr>
        <p:style>
          <a:lnRef idx="2">
            <a:schemeClr val="dk1"/>
          </a:lnRef>
          <a:fillRef idx="1">
            <a:schemeClr val="lt1"/>
          </a:fillRef>
          <a:effectRef idx="0">
            <a:schemeClr val="dk1"/>
          </a:effectRef>
          <a:fontRef idx="minor">
            <a:schemeClr val="dk1"/>
          </a:fontRef>
        </p:style>
        <p:txBody>
          <a:bodyPr lIns="0" tIns="45720" rIns="0" bIns="45720" rtlCol="0" anchor="t"/>
          <a:lstStyle/>
          <a:p>
            <a:pPr algn="ctr"/>
            <a:endParaRPr lang="en-CA" sz="800" b="1" kern="0" noProof="0">
              <a:solidFill>
                <a:srgbClr val="7030A0"/>
              </a:solidFill>
              <a:cs typeface="Arial"/>
            </a:endParaRPr>
          </a:p>
        </p:txBody>
      </p:sp>
      <p:sp>
        <p:nvSpPr>
          <p:cNvPr id="45" name="TextBox 44">
            <a:extLst>
              <a:ext uri="{FF2B5EF4-FFF2-40B4-BE49-F238E27FC236}">
                <a16:creationId xmlns:a16="http://schemas.microsoft.com/office/drawing/2014/main" id="{3594FEE9-C1FA-43AC-DF66-CA1F3CDB5474}"/>
              </a:ext>
            </a:extLst>
          </p:cNvPr>
          <p:cNvSpPr txBox="1"/>
          <p:nvPr/>
        </p:nvSpPr>
        <p:spPr>
          <a:xfrm>
            <a:off x="10755190" y="599837"/>
            <a:ext cx="1464438"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1200" b="1" noProof="0">
                <a:solidFill>
                  <a:schemeClr val="tx2"/>
                </a:solidFill>
              </a:rPr>
              <a:t>CONSUMPTION LAYER</a:t>
            </a:r>
          </a:p>
        </p:txBody>
      </p:sp>
      <p:sp>
        <p:nvSpPr>
          <p:cNvPr id="46" name="TextBox 45">
            <a:extLst>
              <a:ext uri="{FF2B5EF4-FFF2-40B4-BE49-F238E27FC236}">
                <a16:creationId xmlns:a16="http://schemas.microsoft.com/office/drawing/2014/main" id="{4081A752-CF7C-F307-C192-AE06359CB935}"/>
              </a:ext>
            </a:extLst>
          </p:cNvPr>
          <p:cNvSpPr txBox="1"/>
          <p:nvPr/>
        </p:nvSpPr>
        <p:spPr>
          <a:xfrm>
            <a:off x="11042773" y="2192705"/>
            <a:ext cx="964981" cy="360000"/>
          </a:xfrm>
          <a:prstGeom prst="rect">
            <a:avLst/>
          </a:prstGeom>
          <a:solidFill>
            <a:schemeClr val="bg1"/>
          </a:solidFill>
          <a:ln>
            <a:noFill/>
          </a:ln>
        </p:spPr>
        <p:txBody>
          <a:bodyPr wrap="square" rtlCol="0" anchor="ctr">
            <a:noAutofit/>
          </a:bodyPr>
          <a:lstStyle/>
          <a:p>
            <a:pPr lvl="0" algn="ctr">
              <a:defRPr/>
            </a:pPr>
            <a:r>
              <a:rPr lang="en-CA" sz="1100" kern="0" noProof="0">
                <a:solidFill>
                  <a:schemeClr val="bg2">
                    <a:lumMod val="10000"/>
                  </a:schemeClr>
                </a:solidFill>
              </a:rPr>
              <a:t>Reports / Dashboards</a:t>
            </a:r>
          </a:p>
        </p:txBody>
      </p:sp>
      <p:sp>
        <p:nvSpPr>
          <p:cNvPr id="47" name="TextBox 46">
            <a:extLst>
              <a:ext uri="{FF2B5EF4-FFF2-40B4-BE49-F238E27FC236}">
                <a16:creationId xmlns:a16="http://schemas.microsoft.com/office/drawing/2014/main" id="{C8FA029F-8320-52DB-DD47-C017F403D369}"/>
              </a:ext>
            </a:extLst>
          </p:cNvPr>
          <p:cNvSpPr txBox="1"/>
          <p:nvPr/>
        </p:nvSpPr>
        <p:spPr>
          <a:xfrm>
            <a:off x="11022661" y="3500871"/>
            <a:ext cx="964981" cy="360000"/>
          </a:xfrm>
          <a:prstGeom prst="rect">
            <a:avLst/>
          </a:prstGeom>
          <a:solidFill>
            <a:schemeClr val="bg1"/>
          </a:solidFill>
          <a:ln>
            <a:noFill/>
          </a:ln>
        </p:spPr>
        <p:txBody>
          <a:bodyPr wrap="square" rtlCol="0" anchor="ctr">
            <a:noAutofit/>
          </a:bodyPr>
          <a:lstStyle/>
          <a:p>
            <a:pPr lvl="0" algn="ctr">
              <a:defRPr/>
            </a:pPr>
            <a:r>
              <a:rPr lang="en-CA" sz="1100" kern="0" noProof="0">
                <a:solidFill>
                  <a:schemeClr val="bg2">
                    <a:lumMod val="10000"/>
                  </a:schemeClr>
                </a:solidFill>
              </a:rPr>
              <a:t>ML Models</a:t>
            </a:r>
          </a:p>
        </p:txBody>
      </p:sp>
      <p:sp>
        <p:nvSpPr>
          <p:cNvPr id="48" name="TextBox 47">
            <a:extLst>
              <a:ext uri="{FF2B5EF4-FFF2-40B4-BE49-F238E27FC236}">
                <a16:creationId xmlns:a16="http://schemas.microsoft.com/office/drawing/2014/main" id="{ECE1183B-305E-97D3-6320-EFFE197A1C4C}"/>
              </a:ext>
            </a:extLst>
          </p:cNvPr>
          <p:cNvSpPr txBox="1"/>
          <p:nvPr/>
        </p:nvSpPr>
        <p:spPr>
          <a:xfrm>
            <a:off x="11022661" y="4154955"/>
            <a:ext cx="964981" cy="360000"/>
          </a:xfrm>
          <a:prstGeom prst="rect">
            <a:avLst/>
          </a:prstGeom>
          <a:solidFill>
            <a:schemeClr val="bg1"/>
          </a:solidFill>
          <a:ln>
            <a:noFill/>
          </a:ln>
        </p:spPr>
        <p:txBody>
          <a:bodyPr wrap="square" rtlCol="0" anchor="ctr">
            <a:noAutofit/>
          </a:bodyPr>
          <a:lstStyle/>
          <a:p>
            <a:pPr lvl="0" algn="ctr">
              <a:defRPr/>
            </a:pPr>
            <a:r>
              <a:rPr lang="en-CA" sz="1100" kern="0" noProof="0">
                <a:solidFill>
                  <a:schemeClr val="bg2">
                    <a:lumMod val="10000"/>
                  </a:schemeClr>
                </a:solidFill>
              </a:rPr>
              <a:t>AI Systems</a:t>
            </a:r>
          </a:p>
        </p:txBody>
      </p:sp>
      <p:sp>
        <p:nvSpPr>
          <p:cNvPr id="49" name="TextBox 48">
            <a:extLst>
              <a:ext uri="{FF2B5EF4-FFF2-40B4-BE49-F238E27FC236}">
                <a16:creationId xmlns:a16="http://schemas.microsoft.com/office/drawing/2014/main" id="{9EC27BA6-AAAE-5255-7220-747D8AA2AF7C}"/>
              </a:ext>
            </a:extLst>
          </p:cNvPr>
          <p:cNvSpPr txBox="1"/>
          <p:nvPr/>
        </p:nvSpPr>
        <p:spPr>
          <a:xfrm>
            <a:off x="11026902" y="2846788"/>
            <a:ext cx="964981" cy="360000"/>
          </a:xfrm>
          <a:prstGeom prst="rect">
            <a:avLst/>
          </a:prstGeom>
          <a:solidFill>
            <a:schemeClr val="bg1"/>
          </a:solidFill>
          <a:ln>
            <a:noFill/>
          </a:ln>
        </p:spPr>
        <p:txBody>
          <a:bodyPr wrap="square" rtlCol="0" anchor="ctr">
            <a:noAutofit/>
          </a:bodyPr>
          <a:lstStyle/>
          <a:p>
            <a:pPr lvl="0" algn="ctr">
              <a:defRPr/>
            </a:pPr>
            <a:r>
              <a:rPr lang="en-CA" sz="1100" kern="0" noProof="0">
                <a:solidFill>
                  <a:schemeClr val="bg2">
                    <a:lumMod val="10000"/>
                  </a:schemeClr>
                </a:solidFill>
              </a:rPr>
              <a:t>Applications</a:t>
            </a:r>
          </a:p>
        </p:txBody>
      </p:sp>
      <p:sp>
        <p:nvSpPr>
          <p:cNvPr id="50" name="TextBox 49">
            <a:extLst>
              <a:ext uri="{FF2B5EF4-FFF2-40B4-BE49-F238E27FC236}">
                <a16:creationId xmlns:a16="http://schemas.microsoft.com/office/drawing/2014/main" id="{2A11DEC4-D95B-CC93-977E-F85A64B6CDF1}"/>
              </a:ext>
            </a:extLst>
          </p:cNvPr>
          <p:cNvSpPr txBox="1"/>
          <p:nvPr/>
        </p:nvSpPr>
        <p:spPr>
          <a:xfrm>
            <a:off x="10965091" y="1293713"/>
            <a:ext cx="964981" cy="604909"/>
          </a:xfrm>
          <a:prstGeom prst="rect">
            <a:avLst/>
          </a:prstGeom>
          <a:solidFill>
            <a:schemeClr val="bg1"/>
          </a:solidFill>
          <a:ln>
            <a:noFill/>
          </a:ln>
        </p:spPr>
        <p:txBody>
          <a:bodyPr wrap="square" tIns="36000" bIns="36000" rtlCol="0" anchor="ctr">
            <a:noAutofit/>
          </a:bodyPr>
          <a:lstStyle/>
          <a:p>
            <a:pPr lvl="0" algn="ctr">
              <a:defRPr/>
            </a:pPr>
            <a:r>
              <a:rPr lang="en-CA" sz="1100" kern="0" noProof="0">
                <a:solidFill>
                  <a:schemeClr val="bg2">
                    <a:lumMod val="10000"/>
                  </a:schemeClr>
                </a:solidFill>
              </a:rPr>
              <a:t>Self-Serve Analytic Tools</a:t>
            </a:r>
          </a:p>
        </p:txBody>
      </p:sp>
      <p:sp>
        <p:nvSpPr>
          <p:cNvPr id="51" name="Rectangle 50">
            <a:extLst>
              <a:ext uri="{FF2B5EF4-FFF2-40B4-BE49-F238E27FC236}">
                <a16:creationId xmlns:a16="http://schemas.microsoft.com/office/drawing/2014/main" id="{CDCE4F08-8928-2315-2676-AF994196862A}"/>
              </a:ext>
            </a:extLst>
          </p:cNvPr>
          <p:cNvSpPr/>
          <p:nvPr/>
        </p:nvSpPr>
        <p:spPr>
          <a:xfrm>
            <a:off x="3191354" y="4620164"/>
            <a:ext cx="6315238" cy="425751"/>
          </a:xfrm>
          <a:prstGeom prst="rect">
            <a:avLst/>
          </a:prstGeom>
          <a:solidFill>
            <a:schemeClr val="accent1"/>
          </a:solidFill>
          <a:ln w="19050" cap="flat" cmpd="sng" algn="ctr">
            <a:noFill/>
            <a:prstDash val="solid"/>
            <a:miter lim="800000"/>
          </a:ln>
          <a:effectLst/>
        </p:spPr>
        <p:txBody>
          <a:bodyPr lIns="0" tIns="45720" rIns="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800" b="1" i="0" u="none" strike="noStrike" kern="0" cap="none" spc="0" normalizeH="0" baseline="0" noProof="0">
              <a:ln>
                <a:noFill/>
              </a:ln>
              <a:solidFill>
                <a:srgbClr val="7030A0"/>
              </a:solidFill>
              <a:effectLst/>
              <a:uLnTx/>
              <a:uFillTx/>
              <a:cs typeface="Arial"/>
            </a:endParaRPr>
          </a:p>
        </p:txBody>
      </p:sp>
      <p:sp>
        <p:nvSpPr>
          <p:cNvPr id="52" name="TextBox 51">
            <a:extLst>
              <a:ext uri="{FF2B5EF4-FFF2-40B4-BE49-F238E27FC236}">
                <a16:creationId xmlns:a16="http://schemas.microsoft.com/office/drawing/2014/main" id="{EE72D10A-4D32-76E9-57DF-D27B75475253}"/>
              </a:ext>
            </a:extLst>
          </p:cNvPr>
          <p:cNvSpPr txBox="1"/>
          <p:nvPr/>
        </p:nvSpPr>
        <p:spPr>
          <a:xfrm>
            <a:off x="3460107" y="4704834"/>
            <a:ext cx="2808000" cy="257369"/>
          </a:xfrm>
          <a:prstGeom prst="rect">
            <a:avLst/>
          </a:prstGeom>
          <a:solidFill>
            <a:schemeClr val="tx1">
              <a:lumMod val="20000"/>
              <a:lumOff val="80000"/>
            </a:schemeClr>
          </a:solid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100" b="1" noProof="0">
                <a:solidFill>
                  <a:schemeClr val="bg2">
                    <a:lumMod val="10000"/>
                  </a:schemeClr>
                </a:solidFill>
              </a:rPr>
              <a:t>Data Governance </a:t>
            </a:r>
            <a:r>
              <a:rPr lang="en-CA" sz="1200" b="1" noProof="0">
                <a:solidFill>
                  <a:schemeClr val="bg2">
                    <a:lumMod val="10000"/>
                  </a:schemeClr>
                </a:solidFill>
              </a:rPr>
              <a:t>| </a:t>
            </a:r>
            <a:r>
              <a:rPr lang="en-CA" sz="1000" noProof="0">
                <a:solidFill>
                  <a:schemeClr val="bg2">
                    <a:lumMod val="10000"/>
                  </a:schemeClr>
                </a:solidFill>
              </a:rPr>
              <a:t>Observability</a:t>
            </a:r>
            <a:endParaRPr lang="en-CA" sz="1200" b="1" noProof="0">
              <a:solidFill>
                <a:schemeClr val="bg2">
                  <a:lumMod val="10000"/>
                </a:schemeClr>
              </a:solidFill>
            </a:endParaRPr>
          </a:p>
        </p:txBody>
      </p:sp>
      <p:sp>
        <p:nvSpPr>
          <p:cNvPr id="53" name="TextBox 52">
            <a:extLst>
              <a:ext uri="{FF2B5EF4-FFF2-40B4-BE49-F238E27FC236}">
                <a16:creationId xmlns:a16="http://schemas.microsoft.com/office/drawing/2014/main" id="{D37A9648-2305-C719-A968-C16AB57D0478}"/>
              </a:ext>
            </a:extLst>
          </p:cNvPr>
          <p:cNvSpPr txBox="1"/>
          <p:nvPr/>
        </p:nvSpPr>
        <p:spPr>
          <a:xfrm>
            <a:off x="6518858" y="4705519"/>
            <a:ext cx="2808000" cy="257369"/>
          </a:xfrm>
          <a:prstGeom prst="rect">
            <a:avLst/>
          </a:prstGeom>
          <a:solidFill>
            <a:schemeClr val="tx1">
              <a:lumMod val="20000"/>
              <a:lumOff val="80000"/>
            </a:schemeClr>
          </a:solid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100" b="1" noProof="0">
                <a:solidFill>
                  <a:schemeClr val="bg2">
                    <a:lumMod val="10000"/>
                  </a:schemeClr>
                </a:solidFill>
              </a:rPr>
              <a:t>Marketplace</a:t>
            </a:r>
            <a:r>
              <a:rPr lang="en-CA" sz="1200" b="1" noProof="0">
                <a:solidFill>
                  <a:schemeClr val="bg2">
                    <a:lumMod val="10000"/>
                  </a:schemeClr>
                </a:solidFill>
              </a:rPr>
              <a:t> | </a:t>
            </a:r>
            <a:r>
              <a:rPr lang="en-CA" sz="1000" noProof="0">
                <a:solidFill>
                  <a:schemeClr val="bg2">
                    <a:lumMod val="10000"/>
                  </a:schemeClr>
                </a:solidFill>
              </a:rPr>
              <a:t>Data Discoverability</a:t>
            </a:r>
            <a:endParaRPr lang="en-CA" sz="1200" b="1" noProof="0">
              <a:solidFill>
                <a:schemeClr val="bg2">
                  <a:lumMod val="10000"/>
                </a:schemeClr>
              </a:solidFill>
            </a:endParaRPr>
          </a:p>
        </p:txBody>
      </p:sp>
      <p:grpSp>
        <p:nvGrpSpPr>
          <p:cNvPr id="54" name="Group 53">
            <a:extLst>
              <a:ext uri="{FF2B5EF4-FFF2-40B4-BE49-F238E27FC236}">
                <a16:creationId xmlns:a16="http://schemas.microsoft.com/office/drawing/2014/main" id="{811822C3-C6E8-468A-D2D4-AD6C79D367A4}"/>
              </a:ext>
            </a:extLst>
          </p:cNvPr>
          <p:cNvGrpSpPr/>
          <p:nvPr/>
        </p:nvGrpSpPr>
        <p:grpSpPr>
          <a:xfrm>
            <a:off x="3449280" y="3800900"/>
            <a:ext cx="1680319" cy="432000"/>
            <a:chOff x="6970637" y="2182214"/>
            <a:chExt cx="1680319" cy="432000"/>
          </a:xfrm>
          <a:solidFill>
            <a:srgbClr val="FFC000"/>
          </a:solidFill>
        </p:grpSpPr>
        <p:sp>
          <p:nvSpPr>
            <p:cNvPr id="87" name="Flowchart: Preparation 86">
              <a:extLst>
                <a:ext uri="{FF2B5EF4-FFF2-40B4-BE49-F238E27FC236}">
                  <a16:creationId xmlns:a16="http://schemas.microsoft.com/office/drawing/2014/main" id="{ECAF5721-7CD3-2F5E-F7A5-9E3B0F6137FD}"/>
                </a:ext>
              </a:extLst>
            </p:cNvPr>
            <p:cNvSpPr>
              <a:spLocks/>
            </p:cNvSpPr>
            <p:nvPr/>
          </p:nvSpPr>
          <p:spPr>
            <a:xfrm>
              <a:off x="6970637" y="2182214"/>
              <a:ext cx="900000"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Finance (Canada)</a:t>
              </a:r>
            </a:p>
          </p:txBody>
        </p:sp>
        <p:sp>
          <p:nvSpPr>
            <p:cNvPr id="88" name="Flowchart: Preparation 87">
              <a:extLst>
                <a:ext uri="{FF2B5EF4-FFF2-40B4-BE49-F238E27FC236}">
                  <a16:creationId xmlns:a16="http://schemas.microsoft.com/office/drawing/2014/main" id="{F3A7293A-D6FE-1A21-E06D-9F07D28A4506}"/>
                </a:ext>
              </a:extLst>
            </p:cNvPr>
            <p:cNvSpPr>
              <a:spLocks/>
            </p:cNvSpPr>
            <p:nvPr/>
          </p:nvSpPr>
          <p:spPr>
            <a:xfrm>
              <a:off x="7750956" y="2182214"/>
              <a:ext cx="900000"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Finance (LifeCo)</a:t>
              </a:r>
            </a:p>
          </p:txBody>
        </p:sp>
        <p:sp>
          <p:nvSpPr>
            <p:cNvPr id="89" name="Rectangle 88">
              <a:extLst>
                <a:ext uri="{FF2B5EF4-FFF2-40B4-BE49-F238E27FC236}">
                  <a16:creationId xmlns:a16="http://schemas.microsoft.com/office/drawing/2014/main" id="{59677277-F10E-6135-FBE0-A4B81846A787}"/>
                </a:ext>
              </a:extLst>
            </p:cNvPr>
            <p:cNvSpPr/>
            <p:nvPr/>
          </p:nvSpPr>
          <p:spPr>
            <a:xfrm>
              <a:off x="7692194" y="2182214"/>
              <a:ext cx="254855" cy="432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solidFill>
                  <a:schemeClr val="bg2">
                    <a:lumMod val="10000"/>
                  </a:schemeClr>
                </a:solidFill>
              </a:endParaRPr>
            </a:p>
          </p:txBody>
        </p:sp>
        <p:cxnSp>
          <p:nvCxnSpPr>
            <p:cNvPr id="90" name="Straight Connector 89">
              <a:extLst>
                <a:ext uri="{FF2B5EF4-FFF2-40B4-BE49-F238E27FC236}">
                  <a16:creationId xmlns:a16="http://schemas.microsoft.com/office/drawing/2014/main" id="{B9C548D5-9844-93C3-7C24-0A482C46E7D6}"/>
                </a:ext>
              </a:extLst>
            </p:cNvPr>
            <p:cNvCxnSpPr>
              <a:cxnSpLocks/>
            </p:cNvCxnSpPr>
            <p:nvPr/>
          </p:nvCxnSpPr>
          <p:spPr>
            <a:xfrm>
              <a:off x="7819621" y="2218214"/>
              <a:ext cx="0" cy="360000"/>
            </a:xfrm>
            <a:prstGeom prst="line">
              <a:avLst/>
            </a:prstGeom>
            <a:grpFill/>
            <a:ln w="63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0185D73C-92C0-64B2-3B5C-8EAC60ADA385}"/>
              </a:ext>
            </a:extLst>
          </p:cNvPr>
          <p:cNvGrpSpPr/>
          <p:nvPr/>
        </p:nvGrpSpPr>
        <p:grpSpPr>
          <a:xfrm>
            <a:off x="5151438" y="3805321"/>
            <a:ext cx="1692879" cy="432000"/>
            <a:chOff x="6970637" y="2680214"/>
            <a:chExt cx="1692879" cy="432000"/>
          </a:xfrm>
          <a:solidFill>
            <a:srgbClr val="FFC000"/>
          </a:solidFill>
        </p:grpSpPr>
        <p:sp>
          <p:nvSpPr>
            <p:cNvPr id="83" name="Flowchart: Preparation 82">
              <a:extLst>
                <a:ext uri="{FF2B5EF4-FFF2-40B4-BE49-F238E27FC236}">
                  <a16:creationId xmlns:a16="http://schemas.microsoft.com/office/drawing/2014/main" id="{CEFA9995-7C0B-9C26-86D1-868C038F2772}"/>
                </a:ext>
              </a:extLst>
            </p:cNvPr>
            <p:cNvSpPr>
              <a:spLocks/>
            </p:cNvSpPr>
            <p:nvPr/>
          </p:nvSpPr>
          <p:spPr>
            <a:xfrm>
              <a:off x="6970637" y="2680214"/>
              <a:ext cx="915114"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Investment (Canada)</a:t>
              </a:r>
            </a:p>
          </p:txBody>
        </p:sp>
        <p:sp>
          <p:nvSpPr>
            <p:cNvPr id="84" name="Flowchart: Preparation 83">
              <a:extLst>
                <a:ext uri="{FF2B5EF4-FFF2-40B4-BE49-F238E27FC236}">
                  <a16:creationId xmlns:a16="http://schemas.microsoft.com/office/drawing/2014/main" id="{C84E1C40-C829-9F25-5C2B-5E4E6ACE4340}"/>
                </a:ext>
              </a:extLst>
            </p:cNvPr>
            <p:cNvSpPr>
              <a:spLocks/>
            </p:cNvSpPr>
            <p:nvPr/>
          </p:nvSpPr>
          <p:spPr>
            <a:xfrm>
              <a:off x="7727811" y="2680214"/>
              <a:ext cx="935705"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0" rIns="0" bIns="0" rtlCol="0" anchor="ctr"/>
            <a:lstStyle/>
            <a:p>
              <a:pPr algn="ctr"/>
              <a:r>
                <a:rPr lang="en-CA" sz="800" noProof="0">
                  <a:solidFill>
                    <a:schemeClr val="bg2">
                      <a:lumMod val="10000"/>
                    </a:schemeClr>
                  </a:solidFill>
                </a:rPr>
                <a:t>Investment </a:t>
              </a:r>
            </a:p>
            <a:p>
              <a:pPr algn="ctr"/>
              <a:r>
                <a:rPr lang="en-CA" sz="800" noProof="0">
                  <a:solidFill>
                    <a:schemeClr val="bg2">
                      <a:lumMod val="10000"/>
                    </a:schemeClr>
                  </a:solidFill>
                </a:rPr>
                <a:t>(</a:t>
              </a:r>
              <a:r>
                <a:rPr lang="en-CA" sz="800" noProof="0" err="1">
                  <a:solidFill>
                    <a:schemeClr val="bg2">
                      <a:lumMod val="10000"/>
                    </a:schemeClr>
                  </a:solidFill>
                </a:rPr>
                <a:t>LifeCo</a:t>
              </a:r>
              <a:r>
                <a:rPr lang="en-CA" sz="800" noProof="0">
                  <a:solidFill>
                    <a:schemeClr val="bg2">
                      <a:lumMod val="10000"/>
                    </a:schemeClr>
                  </a:solidFill>
                </a:rPr>
                <a:t>)</a:t>
              </a:r>
            </a:p>
          </p:txBody>
        </p:sp>
        <p:sp>
          <p:nvSpPr>
            <p:cNvPr id="85" name="Rectangle 84">
              <a:extLst>
                <a:ext uri="{FF2B5EF4-FFF2-40B4-BE49-F238E27FC236}">
                  <a16:creationId xmlns:a16="http://schemas.microsoft.com/office/drawing/2014/main" id="{D7907935-A73D-B1C8-812C-A6C9528EDE7F}"/>
                </a:ext>
              </a:extLst>
            </p:cNvPr>
            <p:cNvSpPr/>
            <p:nvPr/>
          </p:nvSpPr>
          <p:spPr>
            <a:xfrm>
              <a:off x="7692194" y="2680214"/>
              <a:ext cx="254855" cy="432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solidFill>
                  <a:schemeClr val="bg2">
                    <a:lumMod val="10000"/>
                  </a:schemeClr>
                </a:solidFill>
              </a:endParaRPr>
            </a:p>
          </p:txBody>
        </p:sp>
        <p:cxnSp>
          <p:nvCxnSpPr>
            <p:cNvPr id="86" name="Straight Connector 85">
              <a:extLst>
                <a:ext uri="{FF2B5EF4-FFF2-40B4-BE49-F238E27FC236}">
                  <a16:creationId xmlns:a16="http://schemas.microsoft.com/office/drawing/2014/main" id="{05B8D8C4-B09D-F8D2-98CB-5DEF1B372616}"/>
                </a:ext>
              </a:extLst>
            </p:cNvPr>
            <p:cNvCxnSpPr>
              <a:cxnSpLocks/>
            </p:cNvCxnSpPr>
            <p:nvPr/>
          </p:nvCxnSpPr>
          <p:spPr>
            <a:xfrm>
              <a:off x="7819621" y="2716214"/>
              <a:ext cx="0" cy="360000"/>
            </a:xfrm>
            <a:prstGeom prst="line">
              <a:avLst/>
            </a:prstGeom>
            <a:grpFill/>
            <a:ln w="63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6" name="Rectangle 55">
            <a:extLst>
              <a:ext uri="{FF2B5EF4-FFF2-40B4-BE49-F238E27FC236}">
                <a16:creationId xmlns:a16="http://schemas.microsoft.com/office/drawing/2014/main" id="{1FF515B5-2D14-37CE-C5C1-4B79453AA6C1}"/>
              </a:ext>
            </a:extLst>
          </p:cNvPr>
          <p:cNvSpPr/>
          <p:nvPr/>
        </p:nvSpPr>
        <p:spPr>
          <a:xfrm>
            <a:off x="6322613" y="2625565"/>
            <a:ext cx="18000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8" name="TextBox 57">
            <a:extLst>
              <a:ext uri="{FF2B5EF4-FFF2-40B4-BE49-F238E27FC236}">
                <a16:creationId xmlns:a16="http://schemas.microsoft.com/office/drawing/2014/main" id="{BC6D42B3-E3CF-EFA1-C8ED-1CC65AE94BAA}"/>
              </a:ext>
            </a:extLst>
          </p:cNvPr>
          <p:cNvSpPr txBox="1"/>
          <p:nvPr/>
        </p:nvSpPr>
        <p:spPr>
          <a:xfrm>
            <a:off x="2367676" y="3894116"/>
            <a:ext cx="778525" cy="246221"/>
          </a:xfrm>
          <a:prstGeom prst="rect">
            <a:avLst/>
          </a:prstGeom>
          <a:solidFill>
            <a:schemeClr val="tx1">
              <a:lumMod val="20000"/>
              <a:lumOff val="80000"/>
            </a:schemeClr>
          </a:solidFill>
          <a:ln>
            <a:noFill/>
          </a:ln>
        </p:spPr>
        <p:txBody>
          <a:bodyPr wrap="square" rtlCol="0" anchor="ctr">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000" b="0" i="0" u="none" strike="noStrike" kern="0" cap="none" spc="0" normalizeH="0" baseline="0" noProof="0">
                <a:ln>
                  <a:noFill/>
                </a:ln>
                <a:solidFill>
                  <a:schemeClr val="bg2">
                    <a:lumMod val="10000"/>
                  </a:schemeClr>
                </a:solidFill>
                <a:effectLst/>
                <a:uLnTx/>
                <a:uFillTx/>
                <a:latin typeface="+mn-lt"/>
              </a:rPr>
              <a:t>Batch</a:t>
            </a:r>
          </a:p>
        </p:txBody>
      </p:sp>
      <p:sp>
        <p:nvSpPr>
          <p:cNvPr id="59" name="TextBox 58">
            <a:extLst>
              <a:ext uri="{FF2B5EF4-FFF2-40B4-BE49-F238E27FC236}">
                <a16:creationId xmlns:a16="http://schemas.microsoft.com/office/drawing/2014/main" id="{227399E8-C313-A501-82BF-267F1F53CC82}"/>
              </a:ext>
            </a:extLst>
          </p:cNvPr>
          <p:cNvSpPr txBox="1"/>
          <p:nvPr/>
        </p:nvSpPr>
        <p:spPr>
          <a:xfrm>
            <a:off x="2367676" y="2711998"/>
            <a:ext cx="778525" cy="246221"/>
          </a:xfrm>
          <a:prstGeom prst="rect">
            <a:avLst/>
          </a:prstGeom>
          <a:solidFill>
            <a:schemeClr val="tx1">
              <a:lumMod val="20000"/>
              <a:lumOff val="80000"/>
            </a:schemeClr>
          </a:solidFill>
          <a:ln>
            <a:noFill/>
          </a:ln>
        </p:spPr>
        <p:txBody>
          <a:bodyPr wrap="square" rtlCol="0" anchor="ctr">
            <a:spAutoFit/>
          </a:body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000" b="0" i="0" u="none" strike="noStrike" kern="0" cap="none" spc="0" normalizeH="0" baseline="0" noProof="0">
                <a:ln>
                  <a:noFill/>
                </a:ln>
                <a:solidFill>
                  <a:schemeClr val="bg2">
                    <a:lumMod val="10000"/>
                  </a:schemeClr>
                </a:solidFill>
                <a:effectLst/>
                <a:uLnTx/>
                <a:uFillTx/>
              </a:rPr>
              <a:t>Streaming</a:t>
            </a:r>
          </a:p>
        </p:txBody>
      </p:sp>
      <p:sp>
        <p:nvSpPr>
          <p:cNvPr id="60" name="TextBox 59">
            <a:extLst>
              <a:ext uri="{FF2B5EF4-FFF2-40B4-BE49-F238E27FC236}">
                <a16:creationId xmlns:a16="http://schemas.microsoft.com/office/drawing/2014/main" id="{6BE2BD1F-1778-60B6-CE87-4193DA82447E}"/>
              </a:ext>
            </a:extLst>
          </p:cNvPr>
          <p:cNvSpPr txBox="1"/>
          <p:nvPr/>
        </p:nvSpPr>
        <p:spPr>
          <a:xfrm>
            <a:off x="2367676" y="3228945"/>
            <a:ext cx="778525" cy="400110"/>
          </a:xfrm>
          <a:prstGeom prst="rect">
            <a:avLst/>
          </a:prstGeom>
          <a:solidFill>
            <a:schemeClr val="tx1">
              <a:lumMod val="20000"/>
              <a:lumOff val="80000"/>
            </a:schemeClr>
          </a:solidFill>
          <a:ln>
            <a:noFill/>
          </a:ln>
        </p:spPr>
        <p:txBody>
          <a:bodyPr wrap="square" rtlCol="0" anchor="ctr">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000" b="0" i="0" u="none" strike="noStrike" kern="0" cap="none" spc="0" normalizeH="0" baseline="0" noProof="0">
                <a:ln>
                  <a:noFill/>
                </a:ln>
                <a:solidFill>
                  <a:schemeClr val="bg2">
                    <a:lumMod val="10000"/>
                  </a:schemeClr>
                </a:solidFill>
                <a:effectLst/>
                <a:uLnTx/>
                <a:uFillTx/>
                <a:latin typeface="+mn-lt"/>
              </a:rPr>
              <a:t>Near Real Time</a:t>
            </a:r>
          </a:p>
        </p:txBody>
      </p:sp>
      <p:sp>
        <p:nvSpPr>
          <p:cNvPr id="61" name="Rectangle 60">
            <a:extLst>
              <a:ext uri="{FF2B5EF4-FFF2-40B4-BE49-F238E27FC236}">
                <a16:creationId xmlns:a16="http://schemas.microsoft.com/office/drawing/2014/main" id="{DA39D7CD-31EF-67F3-1856-830C03B51A0E}"/>
              </a:ext>
            </a:extLst>
          </p:cNvPr>
          <p:cNvSpPr/>
          <p:nvPr/>
        </p:nvSpPr>
        <p:spPr>
          <a:xfrm>
            <a:off x="185579" y="880494"/>
            <a:ext cx="1420421" cy="4188404"/>
          </a:xfrm>
          <a:prstGeom prst="rect">
            <a:avLst/>
          </a:prstGeom>
          <a:noFill/>
          <a:ln>
            <a:solidFill>
              <a:schemeClr val="tx2"/>
            </a:solidFill>
          </a:ln>
        </p:spPr>
        <p:style>
          <a:lnRef idx="2">
            <a:schemeClr val="dk1"/>
          </a:lnRef>
          <a:fillRef idx="1">
            <a:schemeClr val="lt1"/>
          </a:fillRef>
          <a:effectRef idx="0">
            <a:schemeClr val="dk1"/>
          </a:effectRef>
          <a:fontRef idx="minor">
            <a:schemeClr val="dk1"/>
          </a:fontRef>
        </p:style>
        <p:txBody>
          <a:bodyPr lIns="0" tIns="45720" rIns="0" bIns="45720" rtlCol="0" anchor="t"/>
          <a:lstStyle/>
          <a:p>
            <a:pPr algn="ctr"/>
            <a:endParaRPr lang="en-CA" sz="800" b="1" kern="0" noProof="0">
              <a:solidFill>
                <a:srgbClr val="7030A0"/>
              </a:solidFill>
              <a:cs typeface="Arial"/>
            </a:endParaRPr>
          </a:p>
        </p:txBody>
      </p:sp>
      <p:sp>
        <p:nvSpPr>
          <p:cNvPr id="62" name="TextBox 61">
            <a:extLst>
              <a:ext uri="{FF2B5EF4-FFF2-40B4-BE49-F238E27FC236}">
                <a16:creationId xmlns:a16="http://schemas.microsoft.com/office/drawing/2014/main" id="{EEC62B0B-8F1A-A723-329D-9A5A62FC944F}"/>
              </a:ext>
            </a:extLst>
          </p:cNvPr>
          <p:cNvSpPr txBox="1"/>
          <p:nvPr/>
        </p:nvSpPr>
        <p:spPr>
          <a:xfrm>
            <a:off x="2367676" y="1891295"/>
            <a:ext cx="778525" cy="491132"/>
          </a:xfrm>
          <a:prstGeom prst="rect">
            <a:avLst/>
          </a:prstGeom>
          <a:solidFill>
            <a:schemeClr val="tx1">
              <a:lumMod val="20000"/>
              <a:lumOff val="80000"/>
            </a:schemeClr>
          </a:solidFill>
          <a:ln>
            <a:noFill/>
          </a:ln>
        </p:spPr>
        <p:txBody>
          <a:bodyPr wrap="square" lIns="0" rIns="0" rtlCol="0" anchor="ctr">
            <a:noAutofit/>
          </a:bodyPr>
          <a:lstStyle/>
          <a:p>
            <a:pPr lvl="0" algn="ctr">
              <a:defRPr/>
            </a:pPr>
            <a:r>
              <a:rPr lang="en-CA" sz="1000" kern="0" noProof="0">
                <a:solidFill>
                  <a:schemeClr val="bg2">
                    <a:lumMod val="10000"/>
                  </a:schemeClr>
                </a:solidFill>
              </a:rPr>
              <a:t>Query Federation &amp; Virtualization</a:t>
            </a:r>
          </a:p>
        </p:txBody>
      </p:sp>
      <p:sp>
        <p:nvSpPr>
          <p:cNvPr id="63" name="TextBox 62">
            <a:extLst>
              <a:ext uri="{FF2B5EF4-FFF2-40B4-BE49-F238E27FC236}">
                <a16:creationId xmlns:a16="http://schemas.microsoft.com/office/drawing/2014/main" id="{20525BF4-3F53-22A2-439B-E5AD12805629}"/>
              </a:ext>
            </a:extLst>
          </p:cNvPr>
          <p:cNvSpPr txBox="1"/>
          <p:nvPr/>
        </p:nvSpPr>
        <p:spPr>
          <a:xfrm>
            <a:off x="5469018" y="534210"/>
            <a:ext cx="1805228" cy="184666"/>
          </a:xfrm>
          <a:prstGeom prst="rect">
            <a:avLst/>
          </a:prstGeom>
          <a:solidFill>
            <a:schemeClr val="bg1"/>
          </a:solid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0" tIns="0" rIns="0" bIns="0">
            <a:spAutoFit/>
          </a:bodyPr>
          <a:lstStyle/>
          <a:p>
            <a:pPr algn="ctr"/>
            <a:r>
              <a:rPr lang="en-CA" sz="1200" b="1" noProof="0">
                <a:solidFill>
                  <a:schemeClr val="tx2"/>
                </a:solidFill>
              </a:rPr>
              <a:t>NORTH PLATFORM</a:t>
            </a:r>
          </a:p>
        </p:txBody>
      </p:sp>
      <p:sp>
        <p:nvSpPr>
          <p:cNvPr id="64" name="Arrow: Right 63">
            <a:extLst>
              <a:ext uri="{FF2B5EF4-FFF2-40B4-BE49-F238E27FC236}">
                <a16:creationId xmlns:a16="http://schemas.microsoft.com/office/drawing/2014/main" id="{52432DB1-7BA7-AC56-DAAD-1D0CC6A5FCC0}"/>
              </a:ext>
            </a:extLst>
          </p:cNvPr>
          <p:cNvSpPr/>
          <p:nvPr/>
        </p:nvSpPr>
        <p:spPr>
          <a:xfrm>
            <a:off x="10583759" y="2517068"/>
            <a:ext cx="226805" cy="759325"/>
          </a:xfrm>
          <a:prstGeom prst="rightArrow">
            <a:avLst/>
          </a:prstGeom>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40000" lnSpcReduction="20000"/>
          </a:bodyPr>
          <a:lstStyle/>
          <a:p>
            <a:pPr algn="l"/>
            <a:endParaRPr lang="en-CA" noProof="0"/>
          </a:p>
        </p:txBody>
      </p:sp>
      <p:sp>
        <p:nvSpPr>
          <p:cNvPr id="65" name="TextBox 64">
            <a:extLst>
              <a:ext uri="{FF2B5EF4-FFF2-40B4-BE49-F238E27FC236}">
                <a16:creationId xmlns:a16="http://schemas.microsoft.com/office/drawing/2014/main" id="{9BE5B3E1-564B-24F8-E1F0-B139A3C4BC3B}"/>
              </a:ext>
            </a:extLst>
          </p:cNvPr>
          <p:cNvSpPr txBox="1"/>
          <p:nvPr/>
        </p:nvSpPr>
        <p:spPr>
          <a:xfrm>
            <a:off x="3463322" y="4288351"/>
            <a:ext cx="5823592" cy="246221"/>
          </a:xfrm>
          <a:prstGeom prst="rect">
            <a:avLst/>
          </a:prstGeom>
          <a:solidFill>
            <a:schemeClr val="accent1"/>
          </a:solidFill>
          <a:ln>
            <a:noFill/>
          </a:ln>
        </p:spPr>
        <p:txBody>
          <a:bodyPr wrap="square" rtlCol="0" anchor="ctr">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chemeClr val="bg1"/>
                </a:solidFill>
                <a:effectLst/>
                <a:uLnTx/>
                <a:uFillTx/>
                <a:latin typeface="+mn-lt"/>
              </a:rPr>
              <a:t>Master Data Management</a:t>
            </a:r>
          </a:p>
        </p:txBody>
      </p:sp>
      <p:sp>
        <p:nvSpPr>
          <p:cNvPr id="66" name="TextBox 65">
            <a:extLst>
              <a:ext uri="{FF2B5EF4-FFF2-40B4-BE49-F238E27FC236}">
                <a16:creationId xmlns:a16="http://schemas.microsoft.com/office/drawing/2014/main" id="{D8009DD9-B968-7341-06B4-363E1927D4B1}"/>
              </a:ext>
            </a:extLst>
          </p:cNvPr>
          <p:cNvSpPr txBox="1"/>
          <p:nvPr/>
        </p:nvSpPr>
        <p:spPr>
          <a:xfrm>
            <a:off x="-6825" y="588685"/>
            <a:ext cx="1805228" cy="184666"/>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0" tIns="0" rIns="0" bIns="0">
            <a:spAutoFit/>
          </a:bodyPr>
          <a:lstStyle/>
          <a:p>
            <a:pPr algn="ctr"/>
            <a:r>
              <a:rPr lang="en-CA" sz="1200" b="1" noProof="0">
                <a:solidFill>
                  <a:schemeClr val="tx2"/>
                </a:solidFill>
              </a:rPr>
              <a:t>DATA SOURCES</a:t>
            </a:r>
          </a:p>
        </p:txBody>
      </p:sp>
      <p:sp>
        <p:nvSpPr>
          <p:cNvPr id="68" name="Oval 67">
            <a:extLst>
              <a:ext uri="{FF2B5EF4-FFF2-40B4-BE49-F238E27FC236}">
                <a16:creationId xmlns:a16="http://schemas.microsoft.com/office/drawing/2014/main" id="{10BF1F34-8EAC-642E-EFFD-4442B24FBE41}"/>
              </a:ext>
            </a:extLst>
          </p:cNvPr>
          <p:cNvSpPr/>
          <p:nvPr/>
        </p:nvSpPr>
        <p:spPr>
          <a:xfrm>
            <a:off x="2536457" y="661541"/>
            <a:ext cx="274320" cy="274320"/>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1400" b="1" noProof="0">
                <a:solidFill>
                  <a:schemeClr val="bg2">
                    <a:lumMod val="10000"/>
                  </a:schemeClr>
                </a:solidFill>
              </a:rPr>
              <a:t>1</a:t>
            </a:r>
          </a:p>
        </p:txBody>
      </p:sp>
      <p:sp>
        <p:nvSpPr>
          <p:cNvPr id="69" name="Oval 68">
            <a:extLst>
              <a:ext uri="{FF2B5EF4-FFF2-40B4-BE49-F238E27FC236}">
                <a16:creationId xmlns:a16="http://schemas.microsoft.com/office/drawing/2014/main" id="{863EF812-1A76-841C-C84C-7B1642345103}"/>
              </a:ext>
            </a:extLst>
          </p:cNvPr>
          <p:cNvSpPr/>
          <p:nvPr/>
        </p:nvSpPr>
        <p:spPr>
          <a:xfrm>
            <a:off x="5024795" y="1250199"/>
            <a:ext cx="274320" cy="274320"/>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1400" b="1" noProof="0">
                <a:solidFill>
                  <a:schemeClr val="bg2">
                    <a:lumMod val="10000"/>
                  </a:schemeClr>
                </a:solidFill>
              </a:rPr>
              <a:t>2</a:t>
            </a:r>
          </a:p>
        </p:txBody>
      </p:sp>
      <p:sp>
        <p:nvSpPr>
          <p:cNvPr id="70" name="Oval 69">
            <a:extLst>
              <a:ext uri="{FF2B5EF4-FFF2-40B4-BE49-F238E27FC236}">
                <a16:creationId xmlns:a16="http://schemas.microsoft.com/office/drawing/2014/main" id="{3D855D76-B47A-5C64-D105-C00BD1724B79}"/>
              </a:ext>
            </a:extLst>
          </p:cNvPr>
          <p:cNvSpPr/>
          <p:nvPr/>
        </p:nvSpPr>
        <p:spPr>
          <a:xfrm>
            <a:off x="10573649" y="3298282"/>
            <a:ext cx="274320" cy="274320"/>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1400" b="1" noProof="0">
                <a:solidFill>
                  <a:schemeClr val="bg2">
                    <a:lumMod val="10000"/>
                  </a:schemeClr>
                </a:solidFill>
              </a:rPr>
              <a:t>5</a:t>
            </a:r>
          </a:p>
        </p:txBody>
      </p:sp>
      <p:sp>
        <p:nvSpPr>
          <p:cNvPr id="71" name="Oval 70">
            <a:extLst>
              <a:ext uri="{FF2B5EF4-FFF2-40B4-BE49-F238E27FC236}">
                <a16:creationId xmlns:a16="http://schemas.microsoft.com/office/drawing/2014/main" id="{74DB1335-99D7-C7F3-3214-AEEF91F80BF9}"/>
              </a:ext>
            </a:extLst>
          </p:cNvPr>
          <p:cNvSpPr/>
          <p:nvPr/>
        </p:nvSpPr>
        <p:spPr>
          <a:xfrm>
            <a:off x="6247718" y="4691408"/>
            <a:ext cx="276072" cy="257370"/>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1400" b="1" noProof="0">
                <a:solidFill>
                  <a:schemeClr val="bg2">
                    <a:lumMod val="10000"/>
                  </a:schemeClr>
                </a:solidFill>
              </a:rPr>
              <a:t>4</a:t>
            </a:r>
          </a:p>
        </p:txBody>
      </p:sp>
      <p:pic>
        <p:nvPicPr>
          <p:cNvPr id="73" name="Picture 72">
            <a:extLst>
              <a:ext uri="{FF2B5EF4-FFF2-40B4-BE49-F238E27FC236}">
                <a16:creationId xmlns:a16="http://schemas.microsoft.com/office/drawing/2014/main" id="{7C4D90F1-0A4C-A936-F84F-5D467D365F51}"/>
              </a:ext>
            </a:extLst>
          </p:cNvPr>
          <p:cNvPicPr>
            <a:picLocks noChangeAspect="1"/>
          </p:cNvPicPr>
          <p:nvPr/>
        </p:nvPicPr>
        <p:blipFill>
          <a:blip r:embed="rId3"/>
          <a:srcRect/>
          <a:stretch/>
        </p:blipFill>
        <p:spPr>
          <a:xfrm>
            <a:off x="507755" y="1498824"/>
            <a:ext cx="776068" cy="293576"/>
          </a:xfrm>
          <a:prstGeom prst="rect">
            <a:avLst/>
          </a:prstGeom>
        </p:spPr>
      </p:pic>
      <p:pic>
        <p:nvPicPr>
          <p:cNvPr id="74" name="Picture 73">
            <a:extLst>
              <a:ext uri="{FF2B5EF4-FFF2-40B4-BE49-F238E27FC236}">
                <a16:creationId xmlns:a16="http://schemas.microsoft.com/office/drawing/2014/main" id="{47DB38B0-7D64-98EF-7C23-1DFEA5D2D717}"/>
              </a:ext>
            </a:extLst>
          </p:cNvPr>
          <p:cNvPicPr>
            <a:picLocks noChangeAspect="1"/>
          </p:cNvPicPr>
          <p:nvPr/>
        </p:nvPicPr>
        <p:blipFill>
          <a:blip r:embed="rId4"/>
          <a:stretch>
            <a:fillRect/>
          </a:stretch>
        </p:blipFill>
        <p:spPr>
          <a:xfrm>
            <a:off x="440419" y="1035648"/>
            <a:ext cx="910741" cy="300838"/>
          </a:xfrm>
          <a:prstGeom prst="rect">
            <a:avLst/>
          </a:prstGeom>
        </p:spPr>
      </p:pic>
      <p:pic>
        <p:nvPicPr>
          <p:cNvPr id="75" name="Picture 2">
            <a:extLst>
              <a:ext uri="{FF2B5EF4-FFF2-40B4-BE49-F238E27FC236}">
                <a16:creationId xmlns:a16="http://schemas.microsoft.com/office/drawing/2014/main" id="{93DDE00D-3F0E-8BF3-1DA4-CF744380D0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1100" y="1985002"/>
            <a:ext cx="1089378" cy="269498"/>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 descr="Canada Life Re reports record earnings for 2023 - Reinsurance News">
            <a:extLst>
              <a:ext uri="{FF2B5EF4-FFF2-40B4-BE49-F238E27FC236}">
                <a16:creationId xmlns:a16="http://schemas.microsoft.com/office/drawing/2014/main" id="{D7FACE18-956E-F6B3-5AB8-8A161B30BAF6}"/>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0469" y="2290196"/>
            <a:ext cx="1010640" cy="565958"/>
          </a:xfrm>
          <a:prstGeom prst="rect">
            <a:avLst/>
          </a:prstGeom>
          <a:noFill/>
          <a:extLst>
            <a:ext uri="{909E8E84-426E-40DD-AFC4-6F175D3DCCD1}">
              <a14:hiddenFill xmlns:a14="http://schemas.microsoft.com/office/drawing/2010/main">
                <a:solidFill>
                  <a:srgbClr val="FFFFFF"/>
                </a:solidFill>
              </a14:hiddenFill>
            </a:ext>
          </a:extLst>
        </p:spPr>
      </p:pic>
      <p:sp>
        <p:nvSpPr>
          <p:cNvPr id="104" name="Oval 103">
            <a:extLst>
              <a:ext uri="{FF2B5EF4-FFF2-40B4-BE49-F238E27FC236}">
                <a16:creationId xmlns:a16="http://schemas.microsoft.com/office/drawing/2014/main" id="{6715381B-5A4D-0B1B-BFD1-7F3DFEBE3690}"/>
              </a:ext>
            </a:extLst>
          </p:cNvPr>
          <p:cNvSpPr/>
          <p:nvPr/>
        </p:nvSpPr>
        <p:spPr>
          <a:xfrm>
            <a:off x="854112" y="5677325"/>
            <a:ext cx="262120" cy="262120"/>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800" b="1" noProof="0">
                <a:solidFill>
                  <a:schemeClr val="bg2">
                    <a:lumMod val="10000"/>
                  </a:schemeClr>
                </a:solidFill>
              </a:rPr>
              <a:t>1</a:t>
            </a:r>
          </a:p>
        </p:txBody>
      </p:sp>
      <p:sp>
        <p:nvSpPr>
          <p:cNvPr id="106" name="TextBox 105">
            <a:extLst>
              <a:ext uri="{FF2B5EF4-FFF2-40B4-BE49-F238E27FC236}">
                <a16:creationId xmlns:a16="http://schemas.microsoft.com/office/drawing/2014/main" id="{A4BA6174-4A51-21D5-3DFB-0206F422D47A}"/>
              </a:ext>
            </a:extLst>
          </p:cNvPr>
          <p:cNvSpPr txBox="1"/>
          <p:nvPr/>
        </p:nvSpPr>
        <p:spPr>
          <a:xfrm>
            <a:off x="1116233" y="5613557"/>
            <a:ext cx="4496296" cy="4001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000" b="1" noProof="0">
                <a:solidFill>
                  <a:schemeClr val="bg2">
                    <a:lumMod val="10000"/>
                  </a:schemeClr>
                </a:solidFill>
                <a:effectLst/>
              </a:rPr>
              <a:t>Enterprise</a:t>
            </a:r>
            <a:r>
              <a:rPr lang="en-CA" sz="1000" noProof="0">
                <a:solidFill>
                  <a:schemeClr val="bg2">
                    <a:lumMod val="10000"/>
                  </a:schemeClr>
                </a:solidFill>
                <a:effectLst/>
              </a:rPr>
              <a:t> data integration layer supporting </a:t>
            </a:r>
            <a:r>
              <a:rPr lang="en-CA" sz="1000" b="1" noProof="0">
                <a:solidFill>
                  <a:schemeClr val="bg2">
                    <a:lumMod val="10000"/>
                  </a:schemeClr>
                </a:solidFill>
                <a:effectLst/>
              </a:rPr>
              <a:t>structured &amp; unstructured data </a:t>
            </a:r>
            <a:r>
              <a:rPr lang="en-CA" sz="1000" noProof="0">
                <a:solidFill>
                  <a:schemeClr val="bg2">
                    <a:lumMod val="10000"/>
                  </a:schemeClr>
                </a:solidFill>
                <a:effectLst/>
              </a:rPr>
              <a:t>with </a:t>
            </a:r>
            <a:r>
              <a:rPr lang="en-CA" sz="1000" b="1" noProof="0">
                <a:solidFill>
                  <a:schemeClr val="bg2">
                    <a:lumMod val="10000"/>
                  </a:schemeClr>
                </a:solidFill>
              </a:rPr>
              <a:t>segment data platforms interoperability </a:t>
            </a:r>
            <a:endParaRPr lang="en-CA" sz="1000" b="1" noProof="0">
              <a:solidFill>
                <a:schemeClr val="bg2">
                  <a:lumMod val="10000"/>
                </a:schemeClr>
              </a:solidFill>
              <a:highlight>
                <a:srgbClr val="FFFF00"/>
              </a:highlight>
            </a:endParaRPr>
          </a:p>
        </p:txBody>
      </p:sp>
      <p:sp>
        <p:nvSpPr>
          <p:cNvPr id="120" name="Oval 119">
            <a:extLst>
              <a:ext uri="{FF2B5EF4-FFF2-40B4-BE49-F238E27FC236}">
                <a16:creationId xmlns:a16="http://schemas.microsoft.com/office/drawing/2014/main" id="{D3AB69BB-1104-461B-08B4-00F99958936D}"/>
              </a:ext>
            </a:extLst>
          </p:cNvPr>
          <p:cNvSpPr/>
          <p:nvPr/>
        </p:nvSpPr>
        <p:spPr>
          <a:xfrm>
            <a:off x="854112" y="6148028"/>
            <a:ext cx="262120" cy="262120"/>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800" b="1" noProof="0">
                <a:solidFill>
                  <a:schemeClr val="bg2">
                    <a:lumMod val="10000"/>
                  </a:schemeClr>
                </a:solidFill>
              </a:rPr>
              <a:t>2</a:t>
            </a:r>
          </a:p>
        </p:txBody>
      </p:sp>
      <p:sp>
        <p:nvSpPr>
          <p:cNvPr id="121" name="TextBox 120">
            <a:extLst>
              <a:ext uri="{FF2B5EF4-FFF2-40B4-BE49-F238E27FC236}">
                <a16:creationId xmlns:a16="http://schemas.microsoft.com/office/drawing/2014/main" id="{F6704150-FCCD-C2C7-41BB-43AB3BBE0133}"/>
              </a:ext>
            </a:extLst>
          </p:cNvPr>
          <p:cNvSpPr txBox="1"/>
          <p:nvPr/>
        </p:nvSpPr>
        <p:spPr>
          <a:xfrm>
            <a:off x="1142453" y="6084393"/>
            <a:ext cx="4472052" cy="4001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000" b="1" noProof="0">
                <a:solidFill>
                  <a:schemeClr val="bg2">
                    <a:lumMod val="10000"/>
                  </a:schemeClr>
                </a:solidFill>
              </a:rPr>
              <a:t>De-centralized creation </a:t>
            </a:r>
            <a:r>
              <a:rPr lang="en-CA" sz="1000" noProof="0">
                <a:solidFill>
                  <a:schemeClr val="bg2">
                    <a:lumMod val="10000"/>
                  </a:schemeClr>
                </a:solidFill>
              </a:rPr>
              <a:t>of Business insight and AI-Ready data through standardized tools and patterns</a:t>
            </a:r>
          </a:p>
        </p:txBody>
      </p:sp>
      <p:sp>
        <p:nvSpPr>
          <p:cNvPr id="123" name="TextBox 122">
            <a:extLst>
              <a:ext uri="{FF2B5EF4-FFF2-40B4-BE49-F238E27FC236}">
                <a16:creationId xmlns:a16="http://schemas.microsoft.com/office/drawing/2014/main" id="{2836D3CF-DCEB-21F9-4B2A-CD84B30B0087}"/>
              </a:ext>
            </a:extLst>
          </p:cNvPr>
          <p:cNvSpPr txBox="1"/>
          <p:nvPr/>
        </p:nvSpPr>
        <p:spPr>
          <a:xfrm>
            <a:off x="7639237" y="5540424"/>
            <a:ext cx="4566384" cy="4001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000" b="1" noProof="0">
                <a:solidFill>
                  <a:schemeClr val="bg2">
                    <a:lumMod val="10000"/>
                  </a:schemeClr>
                </a:solidFill>
              </a:rPr>
              <a:t>Enterprise</a:t>
            </a:r>
            <a:r>
              <a:rPr lang="en-CA" sz="1000" noProof="0">
                <a:solidFill>
                  <a:schemeClr val="bg2">
                    <a:lumMod val="10000"/>
                  </a:schemeClr>
                </a:solidFill>
              </a:rPr>
              <a:t> insights including 360 views created by </a:t>
            </a:r>
            <a:r>
              <a:rPr lang="en-CA" sz="1000" b="1" noProof="0">
                <a:solidFill>
                  <a:schemeClr val="bg2">
                    <a:lumMod val="10000"/>
                  </a:schemeClr>
                </a:solidFill>
              </a:rPr>
              <a:t>connecting </a:t>
            </a:r>
            <a:r>
              <a:rPr lang="en-CA" sz="1000" noProof="0">
                <a:solidFill>
                  <a:schemeClr val="bg2">
                    <a:lumMod val="10000"/>
                  </a:schemeClr>
                </a:solidFill>
              </a:rPr>
              <a:t>and </a:t>
            </a:r>
            <a:r>
              <a:rPr lang="en-CA" sz="1000" b="1" noProof="0">
                <a:solidFill>
                  <a:schemeClr val="bg2">
                    <a:lumMod val="10000"/>
                  </a:schemeClr>
                </a:solidFill>
              </a:rPr>
              <a:t>reusing </a:t>
            </a:r>
            <a:r>
              <a:rPr lang="en-CA" sz="1000" noProof="0">
                <a:solidFill>
                  <a:schemeClr val="bg2">
                    <a:lumMod val="10000"/>
                  </a:schemeClr>
                </a:solidFill>
              </a:rPr>
              <a:t>data across nodes</a:t>
            </a:r>
          </a:p>
        </p:txBody>
      </p:sp>
      <p:sp>
        <p:nvSpPr>
          <p:cNvPr id="124" name="TextBox 123">
            <a:extLst>
              <a:ext uri="{FF2B5EF4-FFF2-40B4-BE49-F238E27FC236}">
                <a16:creationId xmlns:a16="http://schemas.microsoft.com/office/drawing/2014/main" id="{8F8F298E-7957-5B97-8FB4-84D79CD9D49C}"/>
              </a:ext>
            </a:extLst>
          </p:cNvPr>
          <p:cNvSpPr txBox="1"/>
          <p:nvPr/>
        </p:nvSpPr>
        <p:spPr>
          <a:xfrm>
            <a:off x="7639237" y="6138177"/>
            <a:ext cx="4508879" cy="4001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000" b="1" noProof="0">
                <a:solidFill>
                  <a:schemeClr val="bg2">
                    <a:lumMod val="10000"/>
                  </a:schemeClr>
                </a:solidFill>
              </a:rPr>
              <a:t>Enterprise </a:t>
            </a:r>
            <a:r>
              <a:rPr lang="en-CA" sz="1000" noProof="0">
                <a:solidFill>
                  <a:schemeClr val="bg2">
                    <a:lumMod val="10000"/>
                  </a:schemeClr>
                </a:solidFill>
              </a:rPr>
              <a:t>information access layer securely feeding data to support AI, analytics, and enterprise applications</a:t>
            </a:r>
          </a:p>
        </p:txBody>
      </p:sp>
      <p:sp>
        <p:nvSpPr>
          <p:cNvPr id="125" name="TextBox 124">
            <a:extLst>
              <a:ext uri="{FF2B5EF4-FFF2-40B4-BE49-F238E27FC236}">
                <a16:creationId xmlns:a16="http://schemas.microsoft.com/office/drawing/2014/main" id="{EF47ED72-0AA0-7A97-484B-E1805A229E8B}"/>
              </a:ext>
            </a:extLst>
          </p:cNvPr>
          <p:cNvSpPr txBox="1"/>
          <p:nvPr/>
        </p:nvSpPr>
        <p:spPr>
          <a:xfrm>
            <a:off x="7639237" y="5877769"/>
            <a:ext cx="4218132" cy="246221"/>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000" b="1" noProof="0">
                <a:solidFill>
                  <a:schemeClr val="bg2">
                    <a:lumMod val="10000"/>
                  </a:schemeClr>
                </a:solidFill>
              </a:rPr>
              <a:t>Enterprise </a:t>
            </a:r>
            <a:r>
              <a:rPr lang="en-CA" sz="1000" noProof="0">
                <a:solidFill>
                  <a:schemeClr val="bg2">
                    <a:lumMod val="10000"/>
                  </a:schemeClr>
                </a:solidFill>
              </a:rPr>
              <a:t>portal for </a:t>
            </a:r>
            <a:r>
              <a:rPr lang="en-CA" sz="1000" b="1" noProof="0">
                <a:solidFill>
                  <a:schemeClr val="bg2">
                    <a:lumMod val="10000"/>
                  </a:schemeClr>
                </a:solidFill>
              </a:rPr>
              <a:t>self-serve data </a:t>
            </a:r>
            <a:r>
              <a:rPr lang="en-CA" sz="1000" noProof="0">
                <a:solidFill>
                  <a:schemeClr val="bg2">
                    <a:lumMod val="10000"/>
                  </a:schemeClr>
                </a:solidFill>
              </a:rPr>
              <a:t>within the NORTH platform</a:t>
            </a:r>
          </a:p>
        </p:txBody>
      </p:sp>
      <p:sp>
        <p:nvSpPr>
          <p:cNvPr id="126" name="Oval 125">
            <a:extLst>
              <a:ext uri="{FF2B5EF4-FFF2-40B4-BE49-F238E27FC236}">
                <a16:creationId xmlns:a16="http://schemas.microsoft.com/office/drawing/2014/main" id="{F75FE3EF-91A3-54DE-20F2-5EA670F0B937}"/>
              </a:ext>
            </a:extLst>
          </p:cNvPr>
          <p:cNvSpPr/>
          <p:nvPr/>
        </p:nvSpPr>
        <p:spPr>
          <a:xfrm>
            <a:off x="7377116" y="5550994"/>
            <a:ext cx="262120" cy="262120"/>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800" b="1" noProof="0">
                <a:solidFill>
                  <a:schemeClr val="bg2">
                    <a:lumMod val="10000"/>
                  </a:schemeClr>
                </a:solidFill>
              </a:rPr>
              <a:t>3</a:t>
            </a:r>
          </a:p>
        </p:txBody>
      </p:sp>
      <p:sp>
        <p:nvSpPr>
          <p:cNvPr id="127" name="Oval 126">
            <a:extLst>
              <a:ext uri="{FF2B5EF4-FFF2-40B4-BE49-F238E27FC236}">
                <a16:creationId xmlns:a16="http://schemas.microsoft.com/office/drawing/2014/main" id="{F4C46544-5F75-36E4-30DC-42930BBEF77E}"/>
              </a:ext>
            </a:extLst>
          </p:cNvPr>
          <p:cNvSpPr/>
          <p:nvPr/>
        </p:nvSpPr>
        <p:spPr>
          <a:xfrm>
            <a:off x="7377116" y="5884357"/>
            <a:ext cx="262120" cy="262120"/>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800" b="1" noProof="0">
                <a:solidFill>
                  <a:schemeClr val="bg2">
                    <a:lumMod val="10000"/>
                  </a:schemeClr>
                </a:solidFill>
              </a:rPr>
              <a:t>4</a:t>
            </a:r>
          </a:p>
        </p:txBody>
      </p:sp>
      <p:sp>
        <p:nvSpPr>
          <p:cNvPr id="1024" name="Oval 1023">
            <a:extLst>
              <a:ext uri="{FF2B5EF4-FFF2-40B4-BE49-F238E27FC236}">
                <a16:creationId xmlns:a16="http://schemas.microsoft.com/office/drawing/2014/main" id="{216FB74E-C776-A9FA-701C-691C503F9558}"/>
              </a:ext>
            </a:extLst>
          </p:cNvPr>
          <p:cNvSpPr/>
          <p:nvPr/>
        </p:nvSpPr>
        <p:spPr>
          <a:xfrm>
            <a:off x="7377116" y="6197110"/>
            <a:ext cx="262120" cy="262120"/>
          </a:xfrm>
          <a:prstGeom prst="ellipse">
            <a:avLst/>
          </a:prstGeom>
          <a:solidFill>
            <a:schemeClr val="bg1"/>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800" b="1" noProof="0">
                <a:solidFill>
                  <a:schemeClr val="bg2">
                    <a:lumMod val="10000"/>
                  </a:schemeClr>
                </a:solidFill>
              </a:rPr>
              <a:t>5</a:t>
            </a:r>
          </a:p>
        </p:txBody>
      </p:sp>
      <p:sp>
        <p:nvSpPr>
          <p:cNvPr id="1031" name="Rectangle 1030">
            <a:extLst>
              <a:ext uri="{FF2B5EF4-FFF2-40B4-BE49-F238E27FC236}">
                <a16:creationId xmlns:a16="http://schemas.microsoft.com/office/drawing/2014/main" id="{B0EDD636-CF4A-CF3B-963B-9D3B7D2EE98A}"/>
              </a:ext>
            </a:extLst>
          </p:cNvPr>
          <p:cNvSpPr/>
          <p:nvPr/>
        </p:nvSpPr>
        <p:spPr>
          <a:xfrm>
            <a:off x="2273623" y="5068176"/>
            <a:ext cx="8159705" cy="253684"/>
          </a:xfrm>
          <a:prstGeom prst="rect">
            <a:avLst/>
          </a:prstGeom>
          <a:solidFill>
            <a:schemeClr val="accent6">
              <a:lumMod val="20000"/>
              <a:lumOff val="80000"/>
            </a:schemeClr>
          </a:solidFill>
          <a:ln w="19050" cap="flat" cmpd="sng" algn="ctr">
            <a:noFill/>
            <a:prstDash val="solid"/>
            <a:miter lim="800000"/>
          </a:ln>
          <a:effectLst/>
        </p:spPr>
        <p:txBody>
          <a:bodyPr lIns="0" tIns="45720" rIns="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800" b="1" i="0" u="none" strike="noStrike" kern="0" cap="none" spc="0" normalizeH="0" baseline="0" noProof="0">
              <a:ln>
                <a:noFill/>
              </a:ln>
              <a:solidFill>
                <a:srgbClr val="7030A0"/>
              </a:solidFill>
              <a:effectLst/>
              <a:uLnTx/>
              <a:uFillTx/>
              <a:cs typeface="Arial"/>
            </a:endParaRPr>
          </a:p>
        </p:txBody>
      </p:sp>
      <p:pic>
        <p:nvPicPr>
          <p:cNvPr id="1027" name="Picture 18" descr="What is AWS and how to get certified? | by Elena O | Towards AWS">
            <a:extLst>
              <a:ext uri="{FF2B5EF4-FFF2-40B4-BE49-F238E27FC236}">
                <a16:creationId xmlns:a16="http://schemas.microsoft.com/office/drawing/2014/main" id="{726078C4-AC70-D276-7DC7-FD0E302EF1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97708" y="4997222"/>
            <a:ext cx="552985" cy="36601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1028" descr="Azure Logo, Blue Mark, Tech Emblem, Cloud Symbol, Cloud Computing PNG">
            <a:extLst>
              <a:ext uri="{FF2B5EF4-FFF2-40B4-BE49-F238E27FC236}">
                <a16:creationId xmlns:a16="http://schemas.microsoft.com/office/drawing/2014/main" id="{DBBF2676-6957-CADA-1953-596DDCD2948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10303" y="5037537"/>
            <a:ext cx="330521" cy="310896"/>
          </a:xfrm>
          <a:prstGeom prst="rect">
            <a:avLst/>
          </a:prstGeom>
          <a:noFill/>
          <a:extLst>
            <a:ext uri="{909E8E84-426E-40DD-AFC4-6F175D3DCCD1}">
              <a14:hiddenFill xmlns:a14="http://schemas.microsoft.com/office/drawing/2010/main">
                <a:solidFill>
                  <a:srgbClr val="FFFFFF"/>
                </a:solidFill>
              </a14:hiddenFill>
            </a:ext>
          </a:extLst>
        </p:spPr>
      </p:pic>
      <p:sp>
        <p:nvSpPr>
          <p:cNvPr id="1035" name="TextBox 1034">
            <a:extLst>
              <a:ext uri="{FF2B5EF4-FFF2-40B4-BE49-F238E27FC236}">
                <a16:creationId xmlns:a16="http://schemas.microsoft.com/office/drawing/2014/main" id="{57CA170E-497D-DA54-DAFF-00A666EEE829}"/>
              </a:ext>
            </a:extLst>
          </p:cNvPr>
          <p:cNvSpPr txBox="1"/>
          <p:nvPr/>
        </p:nvSpPr>
        <p:spPr>
          <a:xfrm>
            <a:off x="5317030" y="5085828"/>
            <a:ext cx="2043622" cy="246221"/>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CA" sz="1000" kern="100" noProof="0">
                <a:solidFill>
                  <a:schemeClr val="tx1">
                    <a:lumMod val="50000"/>
                  </a:schemeClr>
                </a:solidFill>
              </a:rPr>
              <a:t>Multi‑Cloud Platform Architecture</a:t>
            </a:r>
            <a:endParaRPr lang="en-CA" sz="1000" noProof="0">
              <a:solidFill>
                <a:schemeClr val="tx1">
                  <a:lumMod val="50000"/>
                </a:schemeClr>
              </a:solidFill>
            </a:endParaRPr>
          </a:p>
        </p:txBody>
      </p:sp>
      <p:sp>
        <p:nvSpPr>
          <p:cNvPr id="1037" name="Arrow: Right 1036">
            <a:extLst>
              <a:ext uri="{FF2B5EF4-FFF2-40B4-BE49-F238E27FC236}">
                <a16:creationId xmlns:a16="http://schemas.microsoft.com/office/drawing/2014/main" id="{30CB0CE3-7664-4D5C-2EAF-EEF26CB8A240}"/>
              </a:ext>
            </a:extLst>
          </p:cNvPr>
          <p:cNvSpPr/>
          <p:nvPr/>
        </p:nvSpPr>
        <p:spPr>
          <a:xfrm>
            <a:off x="1688165" y="930316"/>
            <a:ext cx="510695" cy="759325"/>
          </a:xfrm>
          <a:prstGeom prst="rightArrow">
            <a:avLst/>
          </a:prstGeom>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40000" lnSpcReduction="20000"/>
          </a:bodyPr>
          <a:lstStyle/>
          <a:p>
            <a:pPr algn="l"/>
            <a:endParaRPr lang="en-CA" noProof="0"/>
          </a:p>
        </p:txBody>
      </p:sp>
      <p:grpSp>
        <p:nvGrpSpPr>
          <p:cNvPr id="1055" name="Group 1054">
            <a:extLst>
              <a:ext uri="{FF2B5EF4-FFF2-40B4-BE49-F238E27FC236}">
                <a16:creationId xmlns:a16="http://schemas.microsoft.com/office/drawing/2014/main" id="{99F010BB-D003-6149-6190-6E71344450B1}"/>
              </a:ext>
            </a:extLst>
          </p:cNvPr>
          <p:cNvGrpSpPr/>
          <p:nvPr/>
        </p:nvGrpSpPr>
        <p:grpSpPr>
          <a:xfrm>
            <a:off x="292530" y="3037932"/>
            <a:ext cx="1206518" cy="548640"/>
            <a:chOff x="323283" y="3223830"/>
            <a:chExt cx="1206518" cy="490035"/>
          </a:xfrm>
        </p:grpSpPr>
        <p:sp>
          <p:nvSpPr>
            <p:cNvPr id="3" name="Rectangle: Rounded Corners 2">
              <a:extLst>
                <a:ext uri="{FF2B5EF4-FFF2-40B4-BE49-F238E27FC236}">
                  <a16:creationId xmlns:a16="http://schemas.microsoft.com/office/drawing/2014/main" id="{719DFB05-E0C5-E92C-3C10-D9AB589802BE}"/>
                </a:ext>
              </a:extLst>
            </p:cNvPr>
            <p:cNvSpPr/>
            <p:nvPr/>
          </p:nvSpPr>
          <p:spPr>
            <a:xfrm>
              <a:off x="323283" y="3223830"/>
              <a:ext cx="1206518" cy="490035"/>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13" name="TextBox 12">
              <a:extLst>
                <a:ext uri="{FF2B5EF4-FFF2-40B4-BE49-F238E27FC236}">
                  <a16:creationId xmlns:a16="http://schemas.microsoft.com/office/drawing/2014/main" id="{532A7B39-AB37-0487-185E-42808D5D4098}"/>
                </a:ext>
              </a:extLst>
            </p:cNvPr>
            <p:cNvSpPr txBox="1"/>
            <p:nvPr/>
          </p:nvSpPr>
          <p:spPr>
            <a:xfrm>
              <a:off x="353829" y="3262058"/>
              <a:ext cx="1145426"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b="1" noProof="0">
                  <a:solidFill>
                    <a:schemeClr val="bg2">
                      <a:lumMod val="10000"/>
                    </a:schemeClr>
                  </a:solidFill>
                </a:rPr>
                <a:t>Structured  Data (e.g. transactional data)</a:t>
              </a:r>
            </a:p>
          </p:txBody>
        </p:sp>
      </p:grpSp>
      <p:sp>
        <p:nvSpPr>
          <p:cNvPr id="107" name="Rectangle 106">
            <a:extLst>
              <a:ext uri="{FF2B5EF4-FFF2-40B4-BE49-F238E27FC236}">
                <a16:creationId xmlns:a16="http://schemas.microsoft.com/office/drawing/2014/main" id="{20EA607B-A0CB-3557-64C3-4DD1DEEB47C7}"/>
              </a:ext>
            </a:extLst>
          </p:cNvPr>
          <p:cNvSpPr/>
          <p:nvPr/>
        </p:nvSpPr>
        <p:spPr>
          <a:xfrm>
            <a:off x="4028591" y="3902939"/>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8" name="Rectangle 107">
            <a:extLst>
              <a:ext uri="{FF2B5EF4-FFF2-40B4-BE49-F238E27FC236}">
                <a16:creationId xmlns:a16="http://schemas.microsoft.com/office/drawing/2014/main" id="{AC954971-504B-5F49-197D-B391F7588F9A}"/>
              </a:ext>
            </a:extLst>
          </p:cNvPr>
          <p:cNvSpPr/>
          <p:nvPr/>
        </p:nvSpPr>
        <p:spPr>
          <a:xfrm>
            <a:off x="4028591" y="4166939"/>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grpSp>
        <p:nvGrpSpPr>
          <p:cNvPr id="1053" name="Group 1052">
            <a:extLst>
              <a:ext uri="{FF2B5EF4-FFF2-40B4-BE49-F238E27FC236}">
                <a16:creationId xmlns:a16="http://schemas.microsoft.com/office/drawing/2014/main" id="{D54CE0A5-1463-51B8-142A-27E87E869C96}"/>
              </a:ext>
            </a:extLst>
          </p:cNvPr>
          <p:cNvGrpSpPr/>
          <p:nvPr/>
        </p:nvGrpSpPr>
        <p:grpSpPr>
          <a:xfrm>
            <a:off x="286503" y="4407532"/>
            <a:ext cx="1218573" cy="565958"/>
            <a:chOff x="317256" y="3939323"/>
            <a:chExt cx="1218573" cy="593480"/>
          </a:xfrm>
        </p:grpSpPr>
        <p:sp>
          <p:nvSpPr>
            <p:cNvPr id="110" name="Rectangle: Rounded Corners 109">
              <a:extLst>
                <a:ext uri="{FF2B5EF4-FFF2-40B4-BE49-F238E27FC236}">
                  <a16:creationId xmlns:a16="http://schemas.microsoft.com/office/drawing/2014/main" id="{6DD5094B-7E15-1723-5F2F-C2E918F9474C}"/>
                </a:ext>
              </a:extLst>
            </p:cNvPr>
            <p:cNvSpPr/>
            <p:nvPr/>
          </p:nvSpPr>
          <p:spPr>
            <a:xfrm>
              <a:off x="317256" y="3939323"/>
              <a:ext cx="1218573" cy="593480"/>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111" name="TextBox 110">
              <a:extLst>
                <a:ext uri="{FF2B5EF4-FFF2-40B4-BE49-F238E27FC236}">
                  <a16:creationId xmlns:a16="http://schemas.microsoft.com/office/drawing/2014/main" id="{CD3CA34D-0515-A31B-3F43-6B5F7ED70989}"/>
                </a:ext>
              </a:extLst>
            </p:cNvPr>
            <p:cNvSpPr txBox="1"/>
            <p:nvPr/>
          </p:nvSpPr>
          <p:spPr>
            <a:xfrm>
              <a:off x="410954" y="3967657"/>
              <a:ext cx="1031176" cy="56514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b="1" noProof="0">
                  <a:solidFill>
                    <a:schemeClr val="bg2">
                      <a:lumMod val="10000"/>
                    </a:schemeClr>
                  </a:solidFill>
                </a:rPr>
                <a:t>Unstructured Data (e.g. documents, audio)</a:t>
              </a:r>
            </a:p>
          </p:txBody>
        </p:sp>
      </p:grpSp>
      <p:sp>
        <p:nvSpPr>
          <p:cNvPr id="114" name="Rectangle 113">
            <a:extLst>
              <a:ext uri="{FF2B5EF4-FFF2-40B4-BE49-F238E27FC236}">
                <a16:creationId xmlns:a16="http://schemas.microsoft.com/office/drawing/2014/main" id="{4244C40B-DA88-2994-3CFA-407025459418}"/>
              </a:ext>
            </a:extLst>
          </p:cNvPr>
          <p:cNvSpPr/>
          <p:nvPr/>
        </p:nvSpPr>
        <p:spPr>
          <a:xfrm>
            <a:off x="4438369" y="5599337"/>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16" name="Rectangle 115">
            <a:extLst>
              <a:ext uri="{FF2B5EF4-FFF2-40B4-BE49-F238E27FC236}">
                <a16:creationId xmlns:a16="http://schemas.microsoft.com/office/drawing/2014/main" id="{EB71A304-220A-43B5-E854-3BA5A8E3950E}"/>
              </a:ext>
            </a:extLst>
          </p:cNvPr>
          <p:cNvSpPr/>
          <p:nvPr/>
        </p:nvSpPr>
        <p:spPr>
          <a:xfrm>
            <a:off x="4438369" y="5863337"/>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grpSp>
        <p:nvGrpSpPr>
          <p:cNvPr id="1054" name="Group 1053">
            <a:extLst>
              <a:ext uri="{FF2B5EF4-FFF2-40B4-BE49-F238E27FC236}">
                <a16:creationId xmlns:a16="http://schemas.microsoft.com/office/drawing/2014/main" id="{C39A2E00-CBFC-04E0-BE0F-699E7A8D7C5A}"/>
              </a:ext>
            </a:extLst>
          </p:cNvPr>
          <p:cNvGrpSpPr/>
          <p:nvPr/>
        </p:nvGrpSpPr>
        <p:grpSpPr>
          <a:xfrm>
            <a:off x="291571" y="3749486"/>
            <a:ext cx="1208436" cy="548640"/>
            <a:chOff x="322324" y="3554208"/>
            <a:chExt cx="1208436" cy="471476"/>
          </a:xfrm>
        </p:grpSpPr>
        <p:sp>
          <p:nvSpPr>
            <p:cNvPr id="1039" name="Rectangle: Rounded Corners 1038">
              <a:extLst>
                <a:ext uri="{FF2B5EF4-FFF2-40B4-BE49-F238E27FC236}">
                  <a16:creationId xmlns:a16="http://schemas.microsoft.com/office/drawing/2014/main" id="{B552E34E-405A-AA4B-05D8-77CEAF62C342}"/>
                </a:ext>
              </a:extLst>
            </p:cNvPr>
            <p:cNvSpPr/>
            <p:nvPr/>
          </p:nvSpPr>
          <p:spPr>
            <a:xfrm>
              <a:off x="322324" y="3554208"/>
              <a:ext cx="1208436" cy="471476"/>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1040" name="TextBox 1039">
              <a:extLst>
                <a:ext uri="{FF2B5EF4-FFF2-40B4-BE49-F238E27FC236}">
                  <a16:creationId xmlns:a16="http://schemas.microsoft.com/office/drawing/2014/main" id="{AB2CAA41-FDDF-38B8-08D3-9FA63502F834}"/>
                </a:ext>
              </a:extLst>
            </p:cNvPr>
            <p:cNvSpPr txBox="1"/>
            <p:nvPr/>
          </p:nvSpPr>
          <p:spPr>
            <a:xfrm>
              <a:off x="382557" y="3566207"/>
              <a:ext cx="1087971" cy="37986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b="1" noProof="0">
                  <a:solidFill>
                    <a:schemeClr val="bg2">
                      <a:lumMod val="10000"/>
                    </a:schemeClr>
                  </a:solidFill>
                </a:rPr>
                <a:t>Semi-structured Data (e.g. excel, logs)</a:t>
              </a:r>
            </a:p>
          </p:txBody>
        </p:sp>
      </p:grpSp>
      <p:cxnSp>
        <p:nvCxnSpPr>
          <p:cNvPr id="1052" name="Straight Connector 1051">
            <a:extLst>
              <a:ext uri="{FF2B5EF4-FFF2-40B4-BE49-F238E27FC236}">
                <a16:creationId xmlns:a16="http://schemas.microsoft.com/office/drawing/2014/main" id="{669F2957-2884-CA13-C523-1296A37B5680}"/>
              </a:ext>
            </a:extLst>
          </p:cNvPr>
          <p:cNvCxnSpPr>
            <a:cxnSpLocks/>
          </p:cNvCxnSpPr>
          <p:nvPr/>
        </p:nvCxnSpPr>
        <p:spPr>
          <a:xfrm flipH="1">
            <a:off x="349347" y="2868502"/>
            <a:ext cx="1092884" cy="0"/>
          </a:xfrm>
          <a:prstGeom prst="line">
            <a:avLst/>
          </a:prstGeom>
          <a:ln w="9525">
            <a:solidFill>
              <a:schemeClr val="bg2">
                <a:lumMod val="1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057" name="Group 1056">
            <a:extLst>
              <a:ext uri="{FF2B5EF4-FFF2-40B4-BE49-F238E27FC236}">
                <a16:creationId xmlns:a16="http://schemas.microsoft.com/office/drawing/2014/main" id="{1D4F4E60-BF52-1BA0-DC94-0414CDF4CB77}"/>
              </a:ext>
            </a:extLst>
          </p:cNvPr>
          <p:cNvGrpSpPr>
            <a:grpSpLocks noChangeAspect="1"/>
          </p:cNvGrpSpPr>
          <p:nvPr/>
        </p:nvGrpSpPr>
        <p:grpSpPr>
          <a:xfrm>
            <a:off x="220946" y="4370705"/>
            <a:ext cx="287151" cy="186984"/>
            <a:chOff x="2390127" y="5520196"/>
            <a:chExt cx="819150" cy="533400"/>
          </a:xfrm>
        </p:grpSpPr>
        <p:sp>
          <p:nvSpPr>
            <p:cNvPr id="1058" name="Freeform: Shape 1057">
              <a:extLst>
                <a:ext uri="{FF2B5EF4-FFF2-40B4-BE49-F238E27FC236}">
                  <a16:creationId xmlns:a16="http://schemas.microsoft.com/office/drawing/2014/main" id="{7C5DB8FC-7604-0ED7-CE26-EA2671F44476}"/>
                </a:ext>
              </a:extLst>
            </p:cNvPr>
            <p:cNvSpPr/>
            <p:nvPr/>
          </p:nvSpPr>
          <p:spPr>
            <a:xfrm>
              <a:off x="31521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1059" name="Freeform: Shape 1058">
              <a:extLst>
                <a:ext uri="{FF2B5EF4-FFF2-40B4-BE49-F238E27FC236}">
                  <a16:creationId xmlns:a16="http://schemas.microsoft.com/office/drawing/2014/main" id="{8A4D07F8-2221-512A-AADD-6D51C7CDB222}"/>
                </a:ext>
              </a:extLst>
            </p:cNvPr>
            <p:cNvSpPr/>
            <p:nvPr/>
          </p:nvSpPr>
          <p:spPr>
            <a:xfrm>
              <a:off x="29616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1060" name="Freeform: Shape 1059">
              <a:extLst>
                <a:ext uri="{FF2B5EF4-FFF2-40B4-BE49-F238E27FC236}">
                  <a16:creationId xmlns:a16="http://schemas.microsoft.com/office/drawing/2014/main" id="{DDA45E2B-8679-26C0-C7AD-541EAC6B05CC}"/>
                </a:ext>
              </a:extLst>
            </p:cNvPr>
            <p:cNvSpPr/>
            <p:nvPr/>
          </p:nvSpPr>
          <p:spPr>
            <a:xfrm>
              <a:off x="23901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1061" name="Freeform: Shape 1060">
              <a:extLst>
                <a:ext uri="{FF2B5EF4-FFF2-40B4-BE49-F238E27FC236}">
                  <a16:creationId xmlns:a16="http://schemas.microsoft.com/office/drawing/2014/main" id="{9F4FEC82-5B0C-A545-58D2-25008AD72CFB}"/>
                </a:ext>
              </a:extLst>
            </p:cNvPr>
            <p:cNvSpPr/>
            <p:nvPr/>
          </p:nvSpPr>
          <p:spPr>
            <a:xfrm>
              <a:off x="30568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1062" name="Freeform: Shape 1061">
              <a:extLst>
                <a:ext uri="{FF2B5EF4-FFF2-40B4-BE49-F238E27FC236}">
                  <a16:creationId xmlns:a16="http://schemas.microsoft.com/office/drawing/2014/main" id="{C24A6A9B-A9E5-7394-B740-80F55768D975}"/>
                </a:ext>
              </a:extLst>
            </p:cNvPr>
            <p:cNvSpPr/>
            <p:nvPr/>
          </p:nvSpPr>
          <p:spPr>
            <a:xfrm>
              <a:off x="28663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1063" name="Freeform: Shape 1062">
              <a:extLst>
                <a:ext uri="{FF2B5EF4-FFF2-40B4-BE49-F238E27FC236}">
                  <a16:creationId xmlns:a16="http://schemas.microsoft.com/office/drawing/2014/main" id="{08F25B29-FAED-21FC-F9B0-94858F6BB84A}"/>
                </a:ext>
              </a:extLst>
            </p:cNvPr>
            <p:cNvSpPr/>
            <p:nvPr/>
          </p:nvSpPr>
          <p:spPr>
            <a:xfrm>
              <a:off x="24853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1064" name="Freeform: Shape 1063">
              <a:extLst>
                <a:ext uri="{FF2B5EF4-FFF2-40B4-BE49-F238E27FC236}">
                  <a16:creationId xmlns:a16="http://schemas.microsoft.com/office/drawing/2014/main" id="{6C9BD204-9EB9-50E5-1097-C16CBF80A0D9}"/>
                </a:ext>
              </a:extLst>
            </p:cNvPr>
            <p:cNvSpPr/>
            <p:nvPr/>
          </p:nvSpPr>
          <p:spPr>
            <a:xfrm>
              <a:off x="2771127" y="5653546"/>
              <a:ext cx="57150" cy="266700"/>
            </a:xfrm>
            <a:custGeom>
              <a:avLst/>
              <a:gdLst>
                <a:gd name="csX0" fmla="*/ 0 w 57150"/>
                <a:gd name="csY0" fmla="*/ 0 h 266700"/>
                <a:gd name="csX1" fmla="*/ 57150 w 57150"/>
                <a:gd name="csY1" fmla="*/ 0 h 266700"/>
                <a:gd name="csX2" fmla="*/ 57150 w 57150"/>
                <a:gd name="csY2" fmla="*/ 266700 h 266700"/>
                <a:gd name="csX3" fmla="*/ 0 w 57150"/>
                <a:gd name="csY3" fmla="*/ 266700 h 266700"/>
              </a:gdLst>
              <a:ahLst/>
              <a:cxnLst>
                <a:cxn ang="0">
                  <a:pos x="csX0" y="csY0"/>
                </a:cxn>
                <a:cxn ang="0">
                  <a:pos x="csX1" y="csY1"/>
                </a:cxn>
                <a:cxn ang="0">
                  <a:pos x="csX2" y="csY2"/>
                </a:cxn>
                <a:cxn ang="0">
                  <a:pos x="csX3" y="csY3"/>
                </a:cxn>
              </a:cxnLst>
              <a:rect l="l" t="t" r="r" b="b"/>
              <a:pathLst>
                <a:path w="57150" h="266700">
                  <a:moveTo>
                    <a:pt x="0" y="0"/>
                  </a:moveTo>
                  <a:lnTo>
                    <a:pt x="57150" y="0"/>
                  </a:lnTo>
                  <a:lnTo>
                    <a:pt x="57150" y="266700"/>
                  </a:lnTo>
                  <a:lnTo>
                    <a:pt x="0" y="266700"/>
                  </a:lnTo>
                  <a:close/>
                </a:path>
              </a:pathLst>
            </a:custGeom>
            <a:solidFill>
              <a:srgbClr val="000000"/>
            </a:solidFill>
            <a:ln w="9525" cap="flat">
              <a:noFill/>
              <a:prstDash val="solid"/>
              <a:miter/>
            </a:ln>
          </p:spPr>
          <p:txBody>
            <a:bodyPr/>
            <a:lstStyle/>
            <a:p>
              <a:endParaRPr lang="en-CA" noProof="0"/>
            </a:p>
          </p:txBody>
        </p:sp>
        <p:sp>
          <p:nvSpPr>
            <p:cNvPr id="1065" name="Freeform: Shape 1064">
              <a:extLst>
                <a:ext uri="{FF2B5EF4-FFF2-40B4-BE49-F238E27FC236}">
                  <a16:creationId xmlns:a16="http://schemas.microsoft.com/office/drawing/2014/main" id="{02F35257-D2F5-9C40-23CA-F7402A4EE1E1}"/>
                </a:ext>
              </a:extLst>
            </p:cNvPr>
            <p:cNvSpPr/>
            <p:nvPr/>
          </p:nvSpPr>
          <p:spPr>
            <a:xfrm>
              <a:off x="2580627" y="5608778"/>
              <a:ext cx="57150" cy="355282"/>
            </a:xfrm>
            <a:custGeom>
              <a:avLst/>
              <a:gdLst>
                <a:gd name="csX0" fmla="*/ 0 w 57150"/>
                <a:gd name="csY0" fmla="*/ 0 h 355282"/>
                <a:gd name="csX1" fmla="*/ 57150 w 57150"/>
                <a:gd name="csY1" fmla="*/ 0 h 355282"/>
                <a:gd name="csX2" fmla="*/ 57150 w 57150"/>
                <a:gd name="csY2" fmla="*/ 355283 h 355282"/>
                <a:gd name="csX3" fmla="*/ 0 w 57150"/>
                <a:gd name="csY3" fmla="*/ 355283 h 355282"/>
              </a:gdLst>
              <a:ahLst/>
              <a:cxnLst>
                <a:cxn ang="0">
                  <a:pos x="csX0" y="csY0"/>
                </a:cxn>
                <a:cxn ang="0">
                  <a:pos x="csX1" y="csY1"/>
                </a:cxn>
                <a:cxn ang="0">
                  <a:pos x="csX2" y="csY2"/>
                </a:cxn>
                <a:cxn ang="0">
                  <a:pos x="csX3" y="csY3"/>
                </a:cxn>
              </a:cxnLst>
              <a:rect l="l" t="t" r="r" b="b"/>
              <a:pathLst>
                <a:path w="57150" h="355282">
                  <a:moveTo>
                    <a:pt x="0" y="0"/>
                  </a:moveTo>
                  <a:lnTo>
                    <a:pt x="57150" y="0"/>
                  </a:lnTo>
                  <a:lnTo>
                    <a:pt x="57150" y="355283"/>
                  </a:lnTo>
                  <a:lnTo>
                    <a:pt x="0" y="355283"/>
                  </a:lnTo>
                  <a:close/>
                </a:path>
              </a:pathLst>
            </a:custGeom>
            <a:solidFill>
              <a:srgbClr val="000000"/>
            </a:solidFill>
            <a:ln w="9525" cap="flat">
              <a:noFill/>
              <a:prstDash val="solid"/>
              <a:miter/>
            </a:ln>
          </p:spPr>
          <p:txBody>
            <a:bodyPr/>
            <a:lstStyle/>
            <a:p>
              <a:endParaRPr lang="en-CA" noProof="0"/>
            </a:p>
          </p:txBody>
        </p:sp>
        <p:sp>
          <p:nvSpPr>
            <p:cNvPr id="1066" name="Freeform: Shape 1065">
              <a:extLst>
                <a:ext uri="{FF2B5EF4-FFF2-40B4-BE49-F238E27FC236}">
                  <a16:creationId xmlns:a16="http://schemas.microsoft.com/office/drawing/2014/main" id="{C8EC46DE-AA3C-CF31-B30A-0FBA773BEEB2}"/>
                </a:ext>
              </a:extLst>
            </p:cNvPr>
            <p:cNvSpPr/>
            <p:nvPr/>
          </p:nvSpPr>
          <p:spPr>
            <a:xfrm>
              <a:off x="2675877" y="5520196"/>
              <a:ext cx="57150" cy="533400"/>
            </a:xfrm>
            <a:custGeom>
              <a:avLst/>
              <a:gdLst>
                <a:gd name="csX0" fmla="*/ 0 w 57150"/>
                <a:gd name="csY0" fmla="*/ 0 h 533400"/>
                <a:gd name="csX1" fmla="*/ 57150 w 57150"/>
                <a:gd name="csY1" fmla="*/ 0 h 533400"/>
                <a:gd name="csX2" fmla="*/ 57150 w 57150"/>
                <a:gd name="csY2" fmla="*/ 533400 h 533400"/>
                <a:gd name="csX3" fmla="*/ 0 w 57150"/>
                <a:gd name="csY3" fmla="*/ 533400 h 533400"/>
              </a:gdLst>
              <a:ahLst/>
              <a:cxnLst>
                <a:cxn ang="0">
                  <a:pos x="csX0" y="csY0"/>
                </a:cxn>
                <a:cxn ang="0">
                  <a:pos x="csX1" y="csY1"/>
                </a:cxn>
                <a:cxn ang="0">
                  <a:pos x="csX2" y="csY2"/>
                </a:cxn>
                <a:cxn ang="0">
                  <a:pos x="csX3" y="csY3"/>
                </a:cxn>
              </a:cxnLst>
              <a:rect l="l" t="t" r="r" b="b"/>
              <a:pathLst>
                <a:path w="57150" h="533400">
                  <a:moveTo>
                    <a:pt x="0" y="0"/>
                  </a:moveTo>
                  <a:lnTo>
                    <a:pt x="57150" y="0"/>
                  </a:lnTo>
                  <a:lnTo>
                    <a:pt x="57150" y="533400"/>
                  </a:lnTo>
                  <a:lnTo>
                    <a:pt x="0" y="533400"/>
                  </a:lnTo>
                  <a:close/>
                </a:path>
              </a:pathLst>
            </a:custGeom>
            <a:solidFill>
              <a:srgbClr val="000000"/>
            </a:solidFill>
            <a:ln w="9525" cap="flat">
              <a:noFill/>
              <a:prstDash val="solid"/>
              <a:miter/>
            </a:ln>
          </p:spPr>
          <p:txBody>
            <a:bodyPr/>
            <a:lstStyle/>
            <a:p>
              <a:endParaRPr lang="en-CA" noProof="0"/>
            </a:p>
          </p:txBody>
        </p:sp>
      </p:grpSp>
      <p:grpSp>
        <p:nvGrpSpPr>
          <p:cNvPr id="1077" name="Graphic 4153" descr="Contract with solid fill">
            <a:extLst>
              <a:ext uri="{FF2B5EF4-FFF2-40B4-BE49-F238E27FC236}">
                <a16:creationId xmlns:a16="http://schemas.microsoft.com/office/drawing/2014/main" id="{5A8D8E19-3B3F-5176-C350-50AD7E3C80EB}"/>
              </a:ext>
            </a:extLst>
          </p:cNvPr>
          <p:cNvGrpSpPr>
            <a:grpSpLocks noChangeAspect="1"/>
          </p:cNvGrpSpPr>
          <p:nvPr/>
        </p:nvGrpSpPr>
        <p:grpSpPr>
          <a:xfrm>
            <a:off x="249381" y="3656305"/>
            <a:ext cx="160844" cy="207540"/>
            <a:chOff x="1773197" y="5813549"/>
            <a:chExt cx="590550" cy="762000"/>
          </a:xfrm>
          <a:solidFill>
            <a:srgbClr val="000000"/>
          </a:solidFill>
        </p:grpSpPr>
        <p:sp>
          <p:nvSpPr>
            <p:cNvPr id="1078" name="Freeform: Shape 1077">
              <a:extLst>
                <a:ext uri="{FF2B5EF4-FFF2-40B4-BE49-F238E27FC236}">
                  <a16:creationId xmlns:a16="http://schemas.microsoft.com/office/drawing/2014/main" id="{2A772F4D-C418-3503-794A-D98E370AB454}"/>
                </a:ext>
              </a:extLst>
            </p:cNvPr>
            <p:cNvSpPr/>
            <p:nvPr/>
          </p:nvSpPr>
          <p:spPr>
            <a:xfrm>
              <a:off x="1773197" y="5813549"/>
              <a:ext cx="590550" cy="762000"/>
            </a:xfrm>
            <a:custGeom>
              <a:avLst/>
              <a:gdLst>
                <a:gd name="csX0" fmla="*/ 533400 w 590550"/>
                <a:gd name="csY0" fmla="*/ 704850 h 762000"/>
                <a:gd name="csX1" fmla="*/ 57150 w 590550"/>
                <a:gd name="csY1" fmla="*/ 704850 h 762000"/>
                <a:gd name="csX2" fmla="*/ 57150 w 590550"/>
                <a:gd name="csY2" fmla="*/ 57150 h 762000"/>
                <a:gd name="csX3" fmla="*/ 533400 w 590550"/>
                <a:gd name="csY3" fmla="*/ 57150 h 762000"/>
                <a:gd name="csX4" fmla="*/ 533400 w 590550"/>
                <a:gd name="csY4" fmla="*/ 704850 h 762000"/>
                <a:gd name="csX5" fmla="*/ 590550 w 590550"/>
                <a:gd name="csY5" fmla="*/ 0 h 762000"/>
                <a:gd name="csX6" fmla="*/ 0 w 590550"/>
                <a:gd name="csY6" fmla="*/ 0 h 762000"/>
                <a:gd name="csX7" fmla="*/ 0 w 590550"/>
                <a:gd name="csY7" fmla="*/ 762000 h 762000"/>
                <a:gd name="csX8" fmla="*/ 590550 w 590550"/>
                <a:gd name="csY8" fmla="*/ 762000 h 762000"/>
                <a:gd name="csX9" fmla="*/ 590550 w 590550"/>
                <a:gd name="csY9"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90550" h="762000">
                  <a:moveTo>
                    <a:pt x="533400" y="704850"/>
                  </a:moveTo>
                  <a:lnTo>
                    <a:pt x="57150" y="704850"/>
                  </a:lnTo>
                  <a:lnTo>
                    <a:pt x="57150" y="57150"/>
                  </a:lnTo>
                  <a:lnTo>
                    <a:pt x="533400" y="57150"/>
                  </a:lnTo>
                  <a:lnTo>
                    <a:pt x="533400" y="704850"/>
                  </a:lnTo>
                  <a:close/>
                  <a:moveTo>
                    <a:pt x="590550" y="0"/>
                  </a:moveTo>
                  <a:lnTo>
                    <a:pt x="0" y="0"/>
                  </a:lnTo>
                  <a:lnTo>
                    <a:pt x="0" y="762000"/>
                  </a:lnTo>
                  <a:lnTo>
                    <a:pt x="590550" y="762000"/>
                  </a:lnTo>
                  <a:lnTo>
                    <a:pt x="590550" y="0"/>
                  </a:lnTo>
                  <a:close/>
                </a:path>
              </a:pathLst>
            </a:custGeom>
            <a:solidFill>
              <a:srgbClr val="000000"/>
            </a:solidFill>
            <a:ln w="9525" cap="flat">
              <a:noFill/>
              <a:prstDash val="solid"/>
              <a:miter/>
            </a:ln>
          </p:spPr>
          <p:txBody>
            <a:bodyPr/>
            <a:lstStyle/>
            <a:p>
              <a:endParaRPr lang="en-CA" noProof="0"/>
            </a:p>
          </p:txBody>
        </p:sp>
        <p:sp>
          <p:nvSpPr>
            <p:cNvPr id="1079" name="Freeform: Shape 1078">
              <a:extLst>
                <a:ext uri="{FF2B5EF4-FFF2-40B4-BE49-F238E27FC236}">
                  <a16:creationId xmlns:a16="http://schemas.microsoft.com/office/drawing/2014/main" id="{7C59D785-CA49-A5D8-D8F5-821C576B4FDF}"/>
                </a:ext>
              </a:extLst>
            </p:cNvPr>
            <p:cNvSpPr/>
            <p:nvPr/>
          </p:nvSpPr>
          <p:spPr>
            <a:xfrm>
              <a:off x="1887497" y="6365999"/>
              <a:ext cx="171450" cy="38100"/>
            </a:xfrm>
            <a:custGeom>
              <a:avLst/>
              <a:gdLst>
                <a:gd name="csX0" fmla="*/ 0 w 171450"/>
                <a:gd name="csY0" fmla="*/ 0 h 38100"/>
                <a:gd name="csX1" fmla="*/ 171450 w 171450"/>
                <a:gd name="csY1" fmla="*/ 0 h 38100"/>
                <a:gd name="csX2" fmla="*/ 171450 w 171450"/>
                <a:gd name="csY2" fmla="*/ 38100 h 38100"/>
                <a:gd name="csX3" fmla="*/ 0 w 171450"/>
                <a:gd name="csY3" fmla="*/ 38100 h 38100"/>
              </a:gdLst>
              <a:ahLst/>
              <a:cxnLst>
                <a:cxn ang="0">
                  <a:pos x="csX0" y="csY0"/>
                </a:cxn>
                <a:cxn ang="0">
                  <a:pos x="csX1" y="csY1"/>
                </a:cxn>
                <a:cxn ang="0">
                  <a:pos x="csX2" y="csY2"/>
                </a:cxn>
                <a:cxn ang="0">
                  <a:pos x="csX3" y="csY3"/>
                </a:cxn>
              </a:cxnLst>
              <a:rect l="l" t="t" r="r" b="b"/>
              <a:pathLst>
                <a:path w="171450" h="38100">
                  <a:moveTo>
                    <a:pt x="0" y="0"/>
                  </a:moveTo>
                  <a:lnTo>
                    <a:pt x="171450" y="0"/>
                  </a:lnTo>
                  <a:lnTo>
                    <a:pt x="171450" y="38100"/>
                  </a:lnTo>
                  <a:lnTo>
                    <a:pt x="0" y="38100"/>
                  </a:lnTo>
                  <a:close/>
                </a:path>
              </a:pathLst>
            </a:custGeom>
            <a:solidFill>
              <a:srgbClr val="000000"/>
            </a:solidFill>
            <a:ln w="9525" cap="flat">
              <a:noFill/>
              <a:prstDash val="solid"/>
              <a:miter/>
            </a:ln>
          </p:spPr>
          <p:txBody>
            <a:bodyPr/>
            <a:lstStyle/>
            <a:p>
              <a:endParaRPr lang="en-CA" noProof="0"/>
            </a:p>
          </p:txBody>
        </p:sp>
        <p:sp>
          <p:nvSpPr>
            <p:cNvPr id="1080" name="Freeform: Shape 1079">
              <a:extLst>
                <a:ext uri="{FF2B5EF4-FFF2-40B4-BE49-F238E27FC236}">
                  <a16:creationId xmlns:a16="http://schemas.microsoft.com/office/drawing/2014/main" id="{A3368AAE-2A91-38BB-4950-D13581999395}"/>
                </a:ext>
              </a:extLst>
            </p:cNvPr>
            <p:cNvSpPr/>
            <p:nvPr/>
          </p:nvSpPr>
          <p:spPr>
            <a:xfrm>
              <a:off x="1887497" y="59468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81" name="Freeform: Shape 1080">
              <a:extLst>
                <a:ext uri="{FF2B5EF4-FFF2-40B4-BE49-F238E27FC236}">
                  <a16:creationId xmlns:a16="http://schemas.microsoft.com/office/drawing/2014/main" id="{4AFAB64D-D5A2-0944-50FC-416C22D22847}"/>
                </a:ext>
              </a:extLst>
            </p:cNvPr>
            <p:cNvSpPr/>
            <p:nvPr/>
          </p:nvSpPr>
          <p:spPr>
            <a:xfrm>
              <a:off x="1887497" y="60230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82" name="Freeform: Shape 1081">
              <a:extLst>
                <a:ext uri="{FF2B5EF4-FFF2-40B4-BE49-F238E27FC236}">
                  <a16:creationId xmlns:a16="http://schemas.microsoft.com/office/drawing/2014/main" id="{4B926166-71D0-5363-8AF0-BB6D4B7AA565}"/>
                </a:ext>
              </a:extLst>
            </p:cNvPr>
            <p:cNvSpPr/>
            <p:nvPr/>
          </p:nvSpPr>
          <p:spPr>
            <a:xfrm>
              <a:off x="1887497" y="60992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83" name="Freeform: Shape 1082">
              <a:extLst>
                <a:ext uri="{FF2B5EF4-FFF2-40B4-BE49-F238E27FC236}">
                  <a16:creationId xmlns:a16="http://schemas.microsoft.com/office/drawing/2014/main" id="{36005526-6E35-77A5-1784-37A528906336}"/>
                </a:ext>
              </a:extLst>
            </p:cNvPr>
            <p:cNvSpPr/>
            <p:nvPr/>
          </p:nvSpPr>
          <p:spPr>
            <a:xfrm>
              <a:off x="2068472" y="6175499"/>
              <a:ext cx="180975" cy="38100"/>
            </a:xfrm>
            <a:custGeom>
              <a:avLst/>
              <a:gdLst>
                <a:gd name="csX0" fmla="*/ 0 w 180975"/>
                <a:gd name="csY0" fmla="*/ 0 h 38100"/>
                <a:gd name="csX1" fmla="*/ 180975 w 180975"/>
                <a:gd name="csY1" fmla="*/ 0 h 38100"/>
                <a:gd name="csX2" fmla="*/ 180975 w 180975"/>
                <a:gd name="csY2" fmla="*/ 38100 h 38100"/>
                <a:gd name="csX3" fmla="*/ 0 w 180975"/>
                <a:gd name="csY3" fmla="*/ 38100 h 38100"/>
              </a:gdLst>
              <a:ahLst/>
              <a:cxnLst>
                <a:cxn ang="0">
                  <a:pos x="csX0" y="csY0"/>
                </a:cxn>
                <a:cxn ang="0">
                  <a:pos x="csX1" y="csY1"/>
                </a:cxn>
                <a:cxn ang="0">
                  <a:pos x="csX2" y="csY2"/>
                </a:cxn>
                <a:cxn ang="0">
                  <a:pos x="csX3" y="csY3"/>
                </a:cxn>
              </a:cxnLst>
              <a:rect l="l" t="t" r="r" b="b"/>
              <a:pathLst>
                <a:path w="180975" h="38100">
                  <a:moveTo>
                    <a:pt x="0" y="0"/>
                  </a:moveTo>
                  <a:lnTo>
                    <a:pt x="180975" y="0"/>
                  </a:lnTo>
                  <a:lnTo>
                    <a:pt x="180975" y="38100"/>
                  </a:lnTo>
                  <a:lnTo>
                    <a:pt x="0" y="38100"/>
                  </a:lnTo>
                  <a:close/>
                </a:path>
              </a:pathLst>
            </a:custGeom>
            <a:solidFill>
              <a:srgbClr val="000000"/>
            </a:solidFill>
            <a:ln w="9525" cap="flat">
              <a:noFill/>
              <a:prstDash val="solid"/>
              <a:miter/>
            </a:ln>
          </p:spPr>
          <p:txBody>
            <a:bodyPr/>
            <a:lstStyle/>
            <a:p>
              <a:endParaRPr lang="en-CA" noProof="0"/>
            </a:p>
          </p:txBody>
        </p:sp>
        <p:sp>
          <p:nvSpPr>
            <p:cNvPr id="1084" name="Freeform: Shape 1083">
              <a:extLst>
                <a:ext uri="{FF2B5EF4-FFF2-40B4-BE49-F238E27FC236}">
                  <a16:creationId xmlns:a16="http://schemas.microsoft.com/office/drawing/2014/main" id="{5D7E2F33-B83C-51EF-697E-BCBDF6E6A3AA}"/>
                </a:ext>
              </a:extLst>
            </p:cNvPr>
            <p:cNvSpPr/>
            <p:nvPr/>
          </p:nvSpPr>
          <p:spPr>
            <a:xfrm>
              <a:off x="2116097" y="6318374"/>
              <a:ext cx="133350" cy="133350"/>
            </a:xfrm>
            <a:custGeom>
              <a:avLst/>
              <a:gdLst>
                <a:gd name="csX0" fmla="*/ 103823 w 133350"/>
                <a:gd name="csY0" fmla="*/ 133350 h 133350"/>
                <a:gd name="csX1" fmla="*/ 66675 w 133350"/>
                <a:gd name="csY1" fmla="*/ 96202 h 133350"/>
                <a:gd name="csX2" fmla="*/ 29527 w 133350"/>
                <a:gd name="csY2" fmla="*/ 133350 h 133350"/>
                <a:gd name="csX3" fmla="*/ 0 w 133350"/>
                <a:gd name="csY3" fmla="*/ 103823 h 133350"/>
                <a:gd name="csX4" fmla="*/ 37148 w 133350"/>
                <a:gd name="csY4" fmla="*/ 66675 h 133350"/>
                <a:gd name="csX5" fmla="*/ 0 w 133350"/>
                <a:gd name="csY5" fmla="*/ 29527 h 133350"/>
                <a:gd name="csX6" fmla="*/ 29527 w 133350"/>
                <a:gd name="csY6" fmla="*/ 0 h 133350"/>
                <a:gd name="csX7" fmla="*/ 66675 w 133350"/>
                <a:gd name="csY7" fmla="*/ 37148 h 133350"/>
                <a:gd name="csX8" fmla="*/ 103823 w 133350"/>
                <a:gd name="csY8" fmla="*/ 0 h 133350"/>
                <a:gd name="csX9" fmla="*/ 133350 w 133350"/>
                <a:gd name="csY9" fmla="*/ 29527 h 133350"/>
                <a:gd name="csX10" fmla="*/ 96202 w 133350"/>
                <a:gd name="csY10" fmla="*/ 66675 h 133350"/>
                <a:gd name="csX11" fmla="*/ 133350 w 133350"/>
                <a:gd name="csY11" fmla="*/ 103823 h 133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33350" h="133350">
                  <a:moveTo>
                    <a:pt x="103823" y="133350"/>
                  </a:moveTo>
                  <a:lnTo>
                    <a:pt x="66675" y="96202"/>
                  </a:lnTo>
                  <a:lnTo>
                    <a:pt x="29527" y="133350"/>
                  </a:lnTo>
                  <a:lnTo>
                    <a:pt x="0" y="103823"/>
                  </a:lnTo>
                  <a:lnTo>
                    <a:pt x="37148" y="66675"/>
                  </a:lnTo>
                  <a:lnTo>
                    <a:pt x="0" y="29527"/>
                  </a:lnTo>
                  <a:lnTo>
                    <a:pt x="29527" y="0"/>
                  </a:lnTo>
                  <a:lnTo>
                    <a:pt x="66675" y="37148"/>
                  </a:lnTo>
                  <a:lnTo>
                    <a:pt x="103823" y="0"/>
                  </a:lnTo>
                  <a:lnTo>
                    <a:pt x="133350" y="29527"/>
                  </a:lnTo>
                  <a:lnTo>
                    <a:pt x="96202" y="66675"/>
                  </a:lnTo>
                  <a:lnTo>
                    <a:pt x="133350" y="103823"/>
                  </a:lnTo>
                  <a:close/>
                </a:path>
              </a:pathLst>
            </a:custGeom>
            <a:solidFill>
              <a:srgbClr val="000000"/>
            </a:solidFill>
            <a:ln w="9525" cap="flat">
              <a:noFill/>
              <a:prstDash val="solid"/>
              <a:miter/>
            </a:ln>
          </p:spPr>
          <p:txBody>
            <a:bodyPr/>
            <a:lstStyle/>
            <a:p>
              <a:endParaRPr lang="en-CA" noProof="0"/>
            </a:p>
          </p:txBody>
        </p:sp>
      </p:grpSp>
      <p:sp>
        <p:nvSpPr>
          <p:cNvPr id="1085" name="Flowchart: Preparation 1084">
            <a:extLst>
              <a:ext uri="{FF2B5EF4-FFF2-40B4-BE49-F238E27FC236}">
                <a16:creationId xmlns:a16="http://schemas.microsoft.com/office/drawing/2014/main" id="{4BB73CE8-3093-331B-E121-EE895323BBEC}"/>
              </a:ext>
            </a:extLst>
          </p:cNvPr>
          <p:cNvSpPr>
            <a:spLocks/>
          </p:cNvSpPr>
          <p:nvPr/>
        </p:nvSpPr>
        <p:spPr>
          <a:xfrm>
            <a:off x="6735898" y="2904074"/>
            <a:ext cx="834015" cy="574512"/>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tx1"/>
                </a:solidFill>
              </a:rPr>
              <a:t>Enterprise Node (</a:t>
            </a:r>
            <a:r>
              <a:rPr lang="en-CA" sz="800">
                <a:solidFill>
                  <a:schemeClr val="tx1"/>
                </a:solidFill>
              </a:rPr>
              <a:t>N)</a:t>
            </a:r>
            <a:endParaRPr lang="en-CA" sz="800" noProof="0">
              <a:solidFill>
                <a:schemeClr val="tx1"/>
              </a:solidFill>
            </a:endParaRPr>
          </a:p>
        </p:txBody>
      </p:sp>
      <p:sp>
        <p:nvSpPr>
          <p:cNvPr id="67" name="Oval 66">
            <a:extLst>
              <a:ext uri="{FF2B5EF4-FFF2-40B4-BE49-F238E27FC236}">
                <a16:creationId xmlns:a16="http://schemas.microsoft.com/office/drawing/2014/main" id="{10D21C12-F38D-D4E6-7079-DE24B000E138}"/>
              </a:ext>
            </a:extLst>
          </p:cNvPr>
          <p:cNvSpPr/>
          <p:nvPr/>
        </p:nvSpPr>
        <p:spPr>
          <a:xfrm>
            <a:off x="7547811" y="2920098"/>
            <a:ext cx="274320" cy="274320"/>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algn="ctr"/>
            <a:r>
              <a:rPr lang="en-CA" sz="1400" b="1" noProof="0">
                <a:solidFill>
                  <a:schemeClr val="bg2">
                    <a:lumMod val="10000"/>
                  </a:schemeClr>
                </a:solidFill>
              </a:rPr>
              <a:t>3</a:t>
            </a:r>
          </a:p>
        </p:txBody>
      </p:sp>
      <p:cxnSp>
        <p:nvCxnSpPr>
          <p:cNvPr id="1030" name="Connector: Elbow 1029">
            <a:extLst>
              <a:ext uri="{FF2B5EF4-FFF2-40B4-BE49-F238E27FC236}">
                <a16:creationId xmlns:a16="http://schemas.microsoft.com/office/drawing/2014/main" id="{8C8D958F-C7F3-F993-9BE2-F53C10C51E65}"/>
              </a:ext>
            </a:extLst>
          </p:cNvPr>
          <p:cNvCxnSpPr>
            <a:cxnSpLocks/>
            <a:stCxn id="61" idx="2"/>
            <a:endCxn id="44" idx="2"/>
          </p:cNvCxnSpPr>
          <p:nvPr/>
        </p:nvCxnSpPr>
        <p:spPr>
          <a:xfrm rot="5400000" flipH="1" flipV="1">
            <a:off x="6124619" y="-261783"/>
            <a:ext cx="101852" cy="10559510"/>
          </a:xfrm>
          <a:prstGeom prst="bentConnector3">
            <a:avLst>
              <a:gd name="adj1" fmla="val -361489"/>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90" name="Arrow: Left-Right 1089">
            <a:extLst>
              <a:ext uri="{FF2B5EF4-FFF2-40B4-BE49-F238E27FC236}">
                <a16:creationId xmlns:a16="http://schemas.microsoft.com/office/drawing/2014/main" id="{D1FF39BE-E0A2-862A-0216-AE94658373AA}"/>
              </a:ext>
            </a:extLst>
          </p:cNvPr>
          <p:cNvSpPr/>
          <p:nvPr/>
        </p:nvSpPr>
        <p:spPr>
          <a:xfrm>
            <a:off x="3416145" y="651702"/>
            <a:ext cx="5868000" cy="364704"/>
          </a:xfrm>
          <a:prstGeom prst="leftRight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91" name="TextBox 1090">
            <a:extLst>
              <a:ext uri="{FF2B5EF4-FFF2-40B4-BE49-F238E27FC236}">
                <a16:creationId xmlns:a16="http://schemas.microsoft.com/office/drawing/2014/main" id="{81558700-6213-D0F8-FA16-EE785297EF04}"/>
              </a:ext>
            </a:extLst>
          </p:cNvPr>
          <p:cNvSpPr txBox="1"/>
          <p:nvPr/>
        </p:nvSpPr>
        <p:spPr>
          <a:xfrm>
            <a:off x="4788828" y="720223"/>
            <a:ext cx="3251300" cy="23753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1"/>
                </a:solidFill>
              </a:rPr>
              <a:t>Extendable/Contractable</a:t>
            </a:r>
          </a:p>
        </p:txBody>
      </p:sp>
      <p:cxnSp>
        <p:nvCxnSpPr>
          <p:cNvPr id="1095" name="Straight Connector 1094">
            <a:extLst>
              <a:ext uri="{FF2B5EF4-FFF2-40B4-BE49-F238E27FC236}">
                <a16:creationId xmlns:a16="http://schemas.microsoft.com/office/drawing/2014/main" id="{9D8981AE-5DC5-9242-C0BF-8F7E690D7721}"/>
              </a:ext>
            </a:extLst>
          </p:cNvPr>
          <p:cNvCxnSpPr>
            <a:cxnSpLocks/>
          </p:cNvCxnSpPr>
          <p:nvPr/>
        </p:nvCxnSpPr>
        <p:spPr>
          <a:xfrm>
            <a:off x="4746996" y="5198578"/>
            <a:ext cx="0" cy="108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01" name="Arrow: Right 1100">
            <a:extLst>
              <a:ext uri="{FF2B5EF4-FFF2-40B4-BE49-F238E27FC236}">
                <a16:creationId xmlns:a16="http://schemas.microsoft.com/office/drawing/2014/main" id="{737AD9CF-9260-42F3-2746-EB1E10524D76}"/>
              </a:ext>
            </a:extLst>
          </p:cNvPr>
          <p:cNvSpPr/>
          <p:nvPr/>
        </p:nvSpPr>
        <p:spPr>
          <a:xfrm>
            <a:off x="1688165" y="2278896"/>
            <a:ext cx="510695" cy="759325"/>
          </a:xfrm>
          <a:prstGeom prst="rightArrow">
            <a:avLst/>
          </a:prstGeom>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40000" lnSpcReduction="20000"/>
          </a:bodyPr>
          <a:lstStyle/>
          <a:p>
            <a:pPr algn="l"/>
            <a:endParaRPr lang="en-CA" noProof="0"/>
          </a:p>
        </p:txBody>
      </p:sp>
      <p:sp>
        <p:nvSpPr>
          <p:cNvPr id="1102" name="Arrow: Right 1101">
            <a:extLst>
              <a:ext uri="{FF2B5EF4-FFF2-40B4-BE49-F238E27FC236}">
                <a16:creationId xmlns:a16="http://schemas.microsoft.com/office/drawing/2014/main" id="{56C98F40-7BD6-1103-B928-3D9483A24484}"/>
              </a:ext>
            </a:extLst>
          </p:cNvPr>
          <p:cNvSpPr/>
          <p:nvPr/>
        </p:nvSpPr>
        <p:spPr>
          <a:xfrm>
            <a:off x="1688165" y="3898282"/>
            <a:ext cx="510695" cy="759325"/>
          </a:xfrm>
          <a:prstGeom prst="rightArrow">
            <a:avLst/>
          </a:prstGeom>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normAutofit fontScale="40000" lnSpcReduction="20000"/>
          </a:bodyPr>
          <a:lstStyle/>
          <a:p>
            <a:pPr algn="l"/>
            <a:endParaRPr lang="en-CA" noProof="0"/>
          </a:p>
        </p:txBody>
      </p:sp>
      <p:cxnSp>
        <p:nvCxnSpPr>
          <p:cNvPr id="2" name="Straight Connector 1">
            <a:extLst>
              <a:ext uri="{FF2B5EF4-FFF2-40B4-BE49-F238E27FC236}">
                <a16:creationId xmlns:a16="http://schemas.microsoft.com/office/drawing/2014/main" id="{8CBAD695-2148-5C68-34B2-6E414473FBCB}"/>
              </a:ext>
            </a:extLst>
          </p:cNvPr>
          <p:cNvCxnSpPr>
            <a:cxnSpLocks/>
          </p:cNvCxnSpPr>
          <p:nvPr/>
        </p:nvCxnSpPr>
        <p:spPr>
          <a:xfrm flipH="1">
            <a:off x="3652812" y="6558213"/>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81" name="Graphic 80" descr="Database outline">
            <a:extLst>
              <a:ext uri="{FF2B5EF4-FFF2-40B4-BE49-F238E27FC236}">
                <a16:creationId xmlns:a16="http://schemas.microsoft.com/office/drawing/2014/main" id="{71C80C95-EE18-5019-95D4-74785E2EC77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19800" y="2882670"/>
            <a:ext cx="306982" cy="306982"/>
          </a:xfrm>
          <a:prstGeom prst="rect">
            <a:avLst/>
          </a:prstGeom>
        </p:spPr>
      </p:pic>
      <p:grpSp>
        <p:nvGrpSpPr>
          <p:cNvPr id="80" name="Group 79">
            <a:extLst>
              <a:ext uri="{FF2B5EF4-FFF2-40B4-BE49-F238E27FC236}">
                <a16:creationId xmlns:a16="http://schemas.microsoft.com/office/drawing/2014/main" id="{C572F9AB-EA49-7CC4-A036-FB1C202C9C86}"/>
              </a:ext>
            </a:extLst>
          </p:cNvPr>
          <p:cNvGrpSpPr/>
          <p:nvPr/>
        </p:nvGrpSpPr>
        <p:grpSpPr>
          <a:xfrm>
            <a:off x="7311117" y="3507245"/>
            <a:ext cx="1859275" cy="751796"/>
            <a:chOff x="6875993" y="2313994"/>
            <a:chExt cx="1859275" cy="751796"/>
          </a:xfrm>
          <a:solidFill>
            <a:srgbClr val="FFC000"/>
          </a:solidFill>
        </p:grpSpPr>
        <p:sp>
          <p:nvSpPr>
            <p:cNvPr id="82" name="Flowchart: Preparation 81">
              <a:extLst>
                <a:ext uri="{FF2B5EF4-FFF2-40B4-BE49-F238E27FC236}">
                  <a16:creationId xmlns:a16="http://schemas.microsoft.com/office/drawing/2014/main" id="{525B857C-5B62-449F-95C6-B4C18B4EDEFF}"/>
                </a:ext>
              </a:extLst>
            </p:cNvPr>
            <p:cNvSpPr>
              <a:spLocks/>
            </p:cNvSpPr>
            <p:nvPr/>
          </p:nvSpPr>
          <p:spPr>
            <a:xfrm>
              <a:off x="6875993" y="2633790"/>
              <a:ext cx="915114"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Functional Area (N) (Canada)</a:t>
              </a:r>
            </a:p>
          </p:txBody>
        </p:sp>
        <p:sp>
          <p:nvSpPr>
            <p:cNvPr id="105" name="Flowchart: Preparation 104">
              <a:extLst>
                <a:ext uri="{FF2B5EF4-FFF2-40B4-BE49-F238E27FC236}">
                  <a16:creationId xmlns:a16="http://schemas.microsoft.com/office/drawing/2014/main" id="{115BAC3C-ACDC-CBC1-137F-2FF5976FE53E}"/>
                </a:ext>
              </a:extLst>
            </p:cNvPr>
            <p:cNvSpPr>
              <a:spLocks/>
            </p:cNvSpPr>
            <p:nvPr/>
          </p:nvSpPr>
          <p:spPr>
            <a:xfrm>
              <a:off x="7799563" y="2631965"/>
              <a:ext cx="935705"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0" rIns="0" bIns="0" rtlCol="0" anchor="ctr"/>
            <a:lstStyle/>
            <a:p>
              <a:pPr algn="ctr"/>
              <a:r>
                <a:rPr lang="en-CA" sz="800" noProof="0">
                  <a:solidFill>
                    <a:schemeClr val="bg2">
                      <a:lumMod val="10000"/>
                    </a:schemeClr>
                  </a:solidFill>
                </a:rPr>
                <a:t>Functional  </a:t>
              </a:r>
            </a:p>
            <a:p>
              <a:pPr algn="ctr"/>
              <a:r>
                <a:rPr lang="en-CA" sz="800" noProof="0">
                  <a:solidFill>
                    <a:schemeClr val="bg2">
                      <a:lumMod val="10000"/>
                    </a:schemeClr>
                  </a:solidFill>
                </a:rPr>
                <a:t>Area (N)</a:t>
              </a:r>
            </a:p>
            <a:p>
              <a:pPr algn="ctr"/>
              <a:r>
                <a:rPr lang="en-CA" sz="800">
                  <a:solidFill>
                    <a:schemeClr val="bg2">
                      <a:lumMod val="10000"/>
                    </a:schemeClr>
                  </a:solidFill>
                </a:rPr>
                <a:t>(</a:t>
              </a:r>
              <a:r>
                <a:rPr lang="en-CA" sz="800" err="1">
                  <a:solidFill>
                    <a:schemeClr val="bg2">
                      <a:lumMod val="10000"/>
                    </a:schemeClr>
                  </a:solidFill>
                </a:rPr>
                <a:t>LifeCo</a:t>
              </a:r>
              <a:r>
                <a:rPr lang="en-CA" sz="800">
                  <a:solidFill>
                    <a:schemeClr val="bg2">
                      <a:lumMod val="10000"/>
                    </a:schemeClr>
                  </a:solidFill>
                </a:rPr>
                <a:t>)</a:t>
              </a:r>
              <a:endParaRPr lang="en-CA" sz="800" noProof="0">
                <a:solidFill>
                  <a:schemeClr val="bg2">
                    <a:lumMod val="10000"/>
                  </a:schemeClr>
                </a:solidFill>
              </a:endParaRPr>
            </a:p>
          </p:txBody>
        </p:sp>
        <p:cxnSp>
          <p:nvCxnSpPr>
            <p:cNvPr id="112" name="Straight Connector 111">
              <a:extLst>
                <a:ext uri="{FF2B5EF4-FFF2-40B4-BE49-F238E27FC236}">
                  <a16:creationId xmlns:a16="http://schemas.microsoft.com/office/drawing/2014/main" id="{2B755358-520E-1CFE-F088-4C841D7151D0}"/>
                </a:ext>
              </a:extLst>
            </p:cNvPr>
            <p:cNvCxnSpPr>
              <a:cxnSpLocks/>
            </p:cNvCxnSpPr>
            <p:nvPr/>
          </p:nvCxnSpPr>
          <p:spPr>
            <a:xfrm>
              <a:off x="7783276" y="2313994"/>
              <a:ext cx="0" cy="360000"/>
            </a:xfrm>
            <a:prstGeom prst="line">
              <a:avLst/>
            </a:prstGeom>
            <a:grpFill/>
            <a:ln w="63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8" name="Flowchart: Preparation 117">
            <a:extLst>
              <a:ext uri="{FF2B5EF4-FFF2-40B4-BE49-F238E27FC236}">
                <a16:creationId xmlns:a16="http://schemas.microsoft.com/office/drawing/2014/main" id="{40D3CB7E-8271-B2F8-2B42-6FA7DF16E505}"/>
              </a:ext>
            </a:extLst>
          </p:cNvPr>
          <p:cNvSpPr>
            <a:spLocks/>
          </p:cNvSpPr>
          <p:nvPr/>
        </p:nvSpPr>
        <p:spPr>
          <a:xfrm>
            <a:off x="7217232" y="2359272"/>
            <a:ext cx="900000"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Functional Area (N)</a:t>
            </a:r>
          </a:p>
        </p:txBody>
      </p:sp>
      <p:sp>
        <p:nvSpPr>
          <p:cNvPr id="119" name="TextBox 118">
            <a:extLst>
              <a:ext uri="{FF2B5EF4-FFF2-40B4-BE49-F238E27FC236}">
                <a16:creationId xmlns:a16="http://schemas.microsoft.com/office/drawing/2014/main" id="{80D3D3E6-1387-AC0A-1590-D88368C19804}"/>
              </a:ext>
            </a:extLst>
          </p:cNvPr>
          <p:cNvSpPr txBox="1"/>
          <p:nvPr/>
        </p:nvSpPr>
        <p:spPr>
          <a:xfrm>
            <a:off x="6392898" y="2424413"/>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122" name="TextBox 121">
            <a:extLst>
              <a:ext uri="{FF2B5EF4-FFF2-40B4-BE49-F238E27FC236}">
                <a16:creationId xmlns:a16="http://schemas.microsoft.com/office/drawing/2014/main" id="{2097447D-4713-EB5C-C7EB-DEE375720083}"/>
              </a:ext>
            </a:extLst>
          </p:cNvPr>
          <p:cNvSpPr txBox="1"/>
          <p:nvPr/>
        </p:nvSpPr>
        <p:spPr>
          <a:xfrm>
            <a:off x="5250878" y="1642613"/>
            <a:ext cx="429505"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1026" name="TextBox 1025">
            <a:extLst>
              <a:ext uri="{FF2B5EF4-FFF2-40B4-BE49-F238E27FC236}">
                <a16:creationId xmlns:a16="http://schemas.microsoft.com/office/drawing/2014/main" id="{E88E41E8-A628-8AD1-2F7E-31DB46EB0D36}"/>
              </a:ext>
            </a:extLst>
          </p:cNvPr>
          <p:cNvSpPr txBox="1"/>
          <p:nvPr/>
        </p:nvSpPr>
        <p:spPr>
          <a:xfrm>
            <a:off x="7405423" y="1648361"/>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1033" name="Flowchart: Preparation 1032">
            <a:extLst>
              <a:ext uri="{FF2B5EF4-FFF2-40B4-BE49-F238E27FC236}">
                <a16:creationId xmlns:a16="http://schemas.microsoft.com/office/drawing/2014/main" id="{1000512A-4E8F-502B-4E80-E02AA6E01606}"/>
              </a:ext>
            </a:extLst>
          </p:cNvPr>
          <p:cNvSpPr>
            <a:spLocks/>
          </p:cNvSpPr>
          <p:nvPr/>
        </p:nvSpPr>
        <p:spPr>
          <a:xfrm>
            <a:off x="8161748" y="1587521"/>
            <a:ext cx="900000" cy="432000"/>
          </a:xfrm>
          <a:prstGeom prst="flowChartPreparation">
            <a:avLst/>
          </a:prstGeom>
          <a:noFill/>
          <a:ln w="9525">
            <a:solidFill>
              <a:schemeClr val="accent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a:solidFill>
                  <a:schemeClr val="tx1"/>
                </a:solidFill>
              </a:rPr>
              <a:t>Specialized Node (N</a:t>
            </a:r>
            <a:r>
              <a:rPr lang="en-CA" sz="800">
                <a:solidFill>
                  <a:schemeClr val="bg2">
                    <a:lumMod val="10000"/>
                  </a:schemeClr>
                </a:solidFill>
              </a:rPr>
              <a:t>)</a:t>
            </a:r>
            <a:endParaRPr lang="en-CA" sz="800" noProof="0">
              <a:solidFill>
                <a:schemeClr val="bg2">
                  <a:lumMod val="10000"/>
                </a:schemeClr>
              </a:solidFill>
            </a:endParaRPr>
          </a:p>
        </p:txBody>
      </p:sp>
      <p:sp>
        <p:nvSpPr>
          <p:cNvPr id="1034" name="Flowchart: Preparation 1033">
            <a:extLst>
              <a:ext uri="{FF2B5EF4-FFF2-40B4-BE49-F238E27FC236}">
                <a16:creationId xmlns:a16="http://schemas.microsoft.com/office/drawing/2014/main" id="{18433A97-D46F-0858-6BE0-F39F6055E4DD}"/>
              </a:ext>
            </a:extLst>
          </p:cNvPr>
          <p:cNvSpPr>
            <a:spLocks/>
          </p:cNvSpPr>
          <p:nvPr/>
        </p:nvSpPr>
        <p:spPr>
          <a:xfrm>
            <a:off x="6656754" y="1566750"/>
            <a:ext cx="90000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CA" sz="800" noProof="0">
                <a:solidFill>
                  <a:schemeClr val="bg2">
                    <a:lumMod val="10000"/>
                  </a:schemeClr>
                </a:solidFill>
              </a:rPr>
              <a:t>PSHCP</a:t>
            </a:r>
          </a:p>
        </p:txBody>
      </p:sp>
      <p:cxnSp>
        <p:nvCxnSpPr>
          <p:cNvPr id="1042" name="Straight Connector 1041">
            <a:extLst>
              <a:ext uri="{FF2B5EF4-FFF2-40B4-BE49-F238E27FC236}">
                <a16:creationId xmlns:a16="http://schemas.microsoft.com/office/drawing/2014/main" id="{0B20FA9A-5C59-7776-90E4-00314ED48E54}"/>
              </a:ext>
            </a:extLst>
          </p:cNvPr>
          <p:cNvCxnSpPr>
            <a:cxnSpLocks/>
          </p:cNvCxnSpPr>
          <p:nvPr/>
        </p:nvCxnSpPr>
        <p:spPr>
          <a:xfrm flipH="1">
            <a:off x="3423253" y="2849117"/>
            <a:ext cx="5919592" cy="0"/>
          </a:xfrm>
          <a:prstGeom prst="line">
            <a:avLst/>
          </a:prstGeom>
          <a:ln w="12700">
            <a:solidFill>
              <a:schemeClr val="accent1"/>
            </a:solidFill>
            <a:prstDash val="sysDash"/>
          </a:ln>
        </p:spPr>
        <p:style>
          <a:lnRef idx="1">
            <a:schemeClr val="accent2"/>
          </a:lnRef>
          <a:fillRef idx="0">
            <a:schemeClr val="accent2"/>
          </a:fillRef>
          <a:effectRef idx="0">
            <a:schemeClr val="accent2"/>
          </a:effectRef>
          <a:fontRef idx="minor">
            <a:schemeClr val="tx1"/>
          </a:fontRef>
        </p:style>
      </p:cxnSp>
      <p:sp>
        <p:nvSpPr>
          <p:cNvPr id="1045" name="TextBox 1044">
            <a:extLst>
              <a:ext uri="{FF2B5EF4-FFF2-40B4-BE49-F238E27FC236}">
                <a16:creationId xmlns:a16="http://schemas.microsoft.com/office/drawing/2014/main" id="{F3E8EEF5-0555-3162-EDF4-346A5B68ECB7}"/>
              </a:ext>
            </a:extLst>
          </p:cNvPr>
          <p:cNvSpPr txBox="1"/>
          <p:nvPr/>
        </p:nvSpPr>
        <p:spPr>
          <a:xfrm>
            <a:off x="6705399" y="3863806"/>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12" name="TextBox 11">
            <a:extLst>
              <a:ext uri="{FF2B5EF4-FFF2-40B4-BE49-F238E27FC236}">
                <a16:creationId xmlns:a16="http://schemas.microsoft.com/office/drawing/2014/main" id="{67D8E11E-BAA0-7C16-2742-16EDABB82C98}"/>
              </a:ext>
            </a:extLst>
          </p:cNvPr>
          <p:cNvSpPr txBox="1"/>
          <p:nvPr/>
        </p:nvSpPr>
        <p:spPr>
          <a:xfrm>
            <a:off x="5979753" y="3047064"/>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Tree>
    <p:extLst>
      <p:ext uri="{BB962C8B-B14F-4D97-AF65-F5344CB8AC3E}">
        <p14:creationId xmlns:p14="http://schemas.microsoft.com/office/powerpoint/2010/main" val="2325154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C13BC-D1E4-A2E3-B494-8C970FBC36B2}"/>
              </a:ext>
            </a:extLst>
          </p:cNvPr>
          <p:cNvSpPr>
            <a:spLocks noGrp="1"/>
          </p:cNvSpPr>
          <p:nvPr>
            <p:ph type="title"/>
          </p:nvPr>
        </p:nvSpPr>
        <p:spPr>
          <a:xfrm>
            <a:off x="390000" y="219724"/>
            <a:ext cx="11412000" cy="349702"/>
          </a:xfrm>
        </p:spPr>
        <p:txBody>
          <a:bodyPr/>
          <a:lstStyle/>
          <a:p>
            <a:r>
              <a:rPr lang="en-CA" sz="2000" b="1" noProof="0">
                <a:latin typeface="+mj-lt"/>
              </a:rPr>
              <a:t>1.2 NORTH Platform Data Node FAQ</a:t>
            </a:r>
          </a:p>
        </p:txBody>
      </p:sp>
      <p:sp>
        <p:nvSpPr>
          <p:cNvPr id="3" name="Slide Number Placeholder 2">
            <a:extLst>
              <a:ext uri="{FF2B5EF4-FFF2-40B4-BE49-F238E27FC236}">
                <a16:creationId xmlns:a16="http://schemas.microsoft.com/office/drawing/2014/main" id="{509DC7EE-067B-66BF-FBCB-4D0FC67577D3}"/>
              </a:ext>
            </a:extLst>
          </p:cNvPr>
          <p:cNvSpPr>
            <a:spLocks noGrp="1"/>
          </p:cNvSpPr>
          <p:nvPr>
            <p:ph type="sldNum" sz="quarter" idx="12"/>
          </p:nvPr>
        </p:nvSpPr>
        <p:spPr/>
        <p:txBody>
          <a:bodyPr/>
          <a:lstStyle/>
          <a:p>
            <a:fld id="{3CBD822F-ED39-4FC2-B5B5-D2EAB6238DC3}" type="slidenum">
              <a:rPr lang="en-CA" noProof="0" smtClean="0">
                <a:latin typeface="+mn-lt"/>
              </a:rPr>
              <a:pPr/>
              <a:t>8</a:t>
            </a:fld>
            <a:endParaRPr lang="en-CA" noProof="0">
              <a:latin typeface="+mn-lt"/>
            </a:endParaRPr>
          </a:p>
        </p:txBody>
      </p:sp>
      <p:sp>
        <p:nvSpPr>
          <p:cNvPr id="4" name="Text Placeholder 3">
            <a:extLst>
              <a:ext uri="{FF2B5EF4-FFF2-40B4-BE49-F238E27FC236}">
                <a16:creationId xmlns:a16="http://schemas.microsoft.com/office/drawing/2014/main" id="{D3FDCF08-31BA-610E-02DE-685959183593}"/>
              </a:ext>
            </a:extLst>
          </p:cNvPr>
          <p:cNvSpPr>
            <a:spLocks noGrp="1"/>
          </p:cNvSpPr>
          <p:nvPr>
            <p:ph type="body" sz="quarter" idx="13"/>
          </p:nvPr>
        </p:nvSpPr>
        <p:spPr>
          <a:xfrm>
            <a:off x="390000" y="658013"/>
            <a:ext cx="11412000" cy="288147"/>
          </a:xfrm>
        </p:spPr>
        <p:txBody>
          <a:bodyPr/>
          <a:lstStyle/>
          <a:p>
            <a:r>
              <a:rPr lang="en-CA" noProof="0">
                <a:latin typeface="+mn-lt"/>
              </a:rPr>
              <a:t>Clarifying data ownership, accountability, and impact.</a:t>
            </a:r>
          </a:p>
        </p:txBody>
      </p:sp>
      <p:grpSp>
        <p:nvGrpSpPr>
          <p:cNvPr id="18" name="Group 17">
            <a:extLst>
              <a:ext uri="{FF2B5EF4-FFF2-40B4-BE49-F238E27FC236}">
                <a16:creationId xmlns:a16="http://schemas.microsoft.com/office/drawing/2014/main" id="{90E5BE37-100C-80FD-67F6-FEB7F05ED3AB}"/>
              </a:ext>
            </a:extLst>
          </p:cNvPr>
          <p:cNvGrpSpPr/>
          <p:nvPr/>
        </p:nvGrpSpPr>
        <p:grpSpPr>
          <a:xfrm>
            <a:off x="390000" y="1557650"/>
            <a:ext cx="11412000" cy="1008000"/>
            <a:chOff x="390000" y="1211824"/>
            <a:chExt cx="11412000" cy="1008000"/>
          </a:xfrm>
        </p:grpSpPr>
        <p:sp>
          <p:nvSpPr>
            <p:cNvPr id="14" name="Rectangle: Rounded Corners 13">
              <a:extLst>
                <a:ext uri="{FF2B5EF4-FFF2-40B4-BE49-F238E27FC236}">
                  <a16:creationId xmlns:a16="http://schemas.microsoft.com/office/drawing/2014/main" id="{515D9A67-32D0-3A9A-EEBC-37A87E2A3C63}"/>
                </a:ext>
              </a:extLst>
            </p:cNvPr>
            <p:cNvSpPr/>
            <p:nvPr/>
          </p:nvSpPr>
          <p:spPr>
            <a:xfrm>
              <a:off x="390000" y="1211824"/>
              <a:ext cx="2880000" cy="1008000"/>
            </a:xfrm>
            <a:prstGeom prst="roundRect">
              <a:avLst>
                <a:gd name="adj" fmla="val 8395"/>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r>
                <a:rPr lang="en-CA" sz="1400" noProof="0"/>
                <a:t>Why did we organize the North platform this way?</a:t>
              </a:r>
            </a:p>
          </p:txBody>
        </p:sp>
        <p:sp>
          <p:nvSpPr>
            <p:cNvPr id="13" name="Rectangle: Rounded Corners 12">
              <a:extLst>
                <a:ext uri="{FF2B5EF4-FFF2-40B4-BE49-F238E27FC236}">
                  <a16:creationId xmlns:a16="http://schemas.microsoft.com/office/drawing/2014/main" id="{99DCCBFA-CAB0-A58C-D97A-7CC3430F7A72}"/>
                </a:ext>
              </a:extLst>
            </p:cNvPr>
            <p:cNvSpPr/>
            <p:nvPr/>
          </p:nvSpPr>
          <p:spPr>
            <a:xfrm>
              <a:off x="3702000" y="1211824"/>
              <a:ext cx="8100000" cy="1008000"/>
            </a:xfrm>
            <a:prstGeom prst="roundRect">
              <a:avLst>
                <a:gd name="adj" fmla="val 6317"/>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5" name="TextBox 14">
              <a:extLst>
                <a:ext uri="{FF2B5EF4-FFF2-40B4-BE49-F238E27FC236}">
                  <a16:creationId xmlns:a16="http://schemas.microsoft.com/office/drawing/2014/main" id="{42B9046F-0205-E19B-C6CE-787FF5F08F9F}"/>
                </a:ext>
              </a:extLst>
            </p:cNvPr>
            <p:cNvSpPr txBox="1"/>
            <p:nvPr/>
          </p:nvSpPr>
          <p:spPr>
            <a:xfrm>
              <a:off x="3702000" y="1364002"/>
              <a:ext cx="8100000" cy="70364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171450" indent="-171450">
                <a:spcBef>
                  <a:spcPts val="300"/>
                </a:spcBef>
                <a:spcAft>
                  <a:spcPts val="300"/>
                </a:spcAft>
                <a:buFont typeface="Arial" panose="020B0604020202020204" pitchFamily="34" charset="0"/>
                <a:buChar char="•"/>
              </a:pPr>
              <a:r>
                <a:rPr lang="en-CA" sz="1200" b="1" noProof="0">
                  <a:solidFill>
                    <a:schemeClr val="bg2">
                      <a:lumMod val="10000"/>
                    </a:schemeClr>
                  </a:solidFill>
                </a:rPr>
                <a:t>This is how Canada Life operates, funds (including chargeback), and sets accountability for its data</a:t>
              </a:r>
              <a:r>
                <a:rPr lang="en-CA" sz="1200" noProof="0">
                  <a:solidFill>
                    <a:schemeClr val="bg2">
                      <a:lumMod val="10000"/>
                    </a:schemeClr>
                  </a:solidFill>
                </a:rPr>
                <a:t>.</a:t>
              </a:r>
            </a:p>
            <a:p>
              <a:pPr marL="171450" indent="-171450">
                <a:spcBef>
                  <a:spcPts val="300"/>
                </a:spcBef>
                <a:spcAft>
                  <a:spcPts val="300"/>
                </a:spcAft>
                <a:buFont typeface="Arial" panose="020B0604020202020204" pitchFamily="34" charset="0"/>
                <a:buChar char="•"/>
              </a:pPr>
              <a:r>
                <a:rPr lang="en-CA" sz="1200" noProof="0">
                  <a:solidFill>
                    <a:schemeClr val="bg2">
                      <a:lumMod val="10000"/>
                    </a:schemeClr>
                  </a:solidFill>
                </a:rPr>
                <a:t>Teams closest to the data own it end-to-end, enabling them to manage, improve, and share trusted data products while maintaining enterprise-wide consistency.</a:t>
              </a:r>
            </a:p>
          </p:txBody>
        </p:sp>
        <p:cxnSp>
          <p:nvCxnSpPr>
            <p:cNvPr id="9" name="Straight Connector 8">
              <a:extLst>
                <a:ext uri="{FF2B5EF4-FFF2-40B4-BE49-F238E27FC236}">
                  <a16:creationId xmlns:a16="http://schemas.microsoft.com/office/drawing/2014/main" id="{DBCF8E0F-D7D0-F1AF-390E-329DD79FC062}"/>
                </a:ext>
              </a:extLst>
            </p:cNvPr>
            <p:cNvCxnSpPr>
              <a:cxnSpLocks/>
            </p:cNvCxnSpPr>
            <p:nvPr/>
          </p:nvCxnSpPr>
          <p:spPr>
            <a:xfrm>
              <a:off x="3486000" y="1355824"/>
              <a:ext cx="0" cy="72000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8770B29E-6436-BFF6-5F59-0BA70AE72D37}"/>
              </a:ext>
            </a:extLst>
          </p:cNvPr>
          <p:cNvGrpSpPr/>
          <p:nvPr/>
        </p:nvGrpSpPr>
        <p:grpSpPr>
          <a:xfrm>
            <a:off x="390000" y="3099035"/>
            <a:ext cx="11411999" cy="1008000"/>
            <a:chOff x="390000" y="3144076"/>
            <a:chExt cx="11411999" cy="1008000"/>
          </a:xfrm>
        </p:grpSpPr>
        <p:sp>
          <p:nvSpPr>
            <p:cNvPr id="34" name="Rectangle: Rounded Corners 33">
              <a:extLst>
                <a:ext uri="{FF2B5EF4-FFF2-40B4-BE49-F238E27FC236}">
                  <a16:creationId xmlns:a16="http://schemas.microsoft.com/office/drawing/2014/main" id="{A2DAFAF5-6CA2-BC2C-3343-605593158F47}"/>
                </a:ext>
              </a:extLst>
            </p:cNvPr>
            <p:cNvSpPr/>
            <p:nvPr/>
          </p:nvSpPr>
          <p:spPr>
            <a:xfrm>
              <a:off x="390000" y="3144076"/>
              <a:ext cx="2880000" cy="1008000"/>
            </a:xfrm>
            <a:prstGeom prst="roundRect">
              <a:avLst>
                <a:gd name="adj" fmla="val 8395"/>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r>
                <a:rPr lang="en-CA" sz="1400" noProof="0"/>
                <a:t>When an application contains data from multiple data domains, how do we decide which node the data should land in?</a:t>
              </a:r>
            </a:p>
          </p:txBody>
        </p:sp>
        <p:sp>
          <p:nvSpPr>
            <p:cNvPr id="36" name="Rectangle: Rounded Corners 35">
              <a:extLst>
                <a:ext uri="{FF2B5EF4-FFF2-40B4-BE49-F238E27FC236}">
                  <a16:creationId xmlns:a16="http://schemas.microsoft.com/office/drawing/2014/main" id="{E8D44707-20E0-1B33-E33B-E69501159FD7}"/>
                </a:ext>
              </a:extLst>
            </p:cNvPr>
            <p:cNvSpPr/>
            <p:nvPr/>
          </p:nvSpPr>
          <p:spPr>
            <a:xfrm>
              <a:off x="3701999" y="3144076"/>
              <a:ext cx="8100000" cy="1008000"/>
            </a:xfrm>
            <a:prstGeom prst="roundRect">
              <a:avLst>
                <a:gd name="adj" fmla="val 6317"/>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37" name="TextBox 36">
              <a:extLst>
                <a:ext uri="{FF2B5EF4-FFF2-40B4-BE49-F238E27FC236}">
                  <a16:creationId xmlns:a16="http://schemas.microsoft.com/office/drawing/2014/main" id="{C93EA413-BE3E-F7AB-4A56-EC068CF79AD4}"/>
                </a:ext>
              </a:extLst>
            </p:cNvPr>
            <p:cNvSpPr txBox="1"/>
            <p:nvPr/>
          </p:nvSpPr>
          <p:spPr>
            <a:xfrm>
              <a:off x="3701999" y="3203921"/>
              <a:ext cx="8100000" cy="88831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171450" indent="-171450">
                <a:spcBef>
                  <a:spcPts val="300"/>
                </a:spcBef>
                <a:spcAft>
                  <a:spcPts val="300"/>
                </a:spcAft>
                <a:buFont typeface="Arial" panose="020B0604020202020204" pitchFamily="34" charset="0"/>
                <a:buChar char="•"/>
              </a:pPr>
              <a:r>
                <a:rPr lang="en-CA" sz="1200" b="1" noProof="0">
                  <a:solidFill>
                    <a:schemeClr val="bg2">
                      <a:lumMod val="10000"/>
                    </a:schemeClr>
                  </a:solidFill>
                </a:rPr>
                <a:t>Data from a source application lands in the node of the business unit or functional area it primarily serves</a:t>
              </a:r>
              <a:r>
                <a:rPr lang="en-CA" sz="1200" noProof="0">
                  <a:solidFill>
                    <a:schemeClr val="bg2">
                      <a:lumMod val="10000"/>
                    </a:schemeClr>
                  </a:solidFill>
                </a:rPr>
                <a:t>.  Based on the Enterprise Architecture repository, our technology landscape has very few situations where an application will supply different nodes.</a:t>
              </a:r>
            </a:p>
            <a:p>
              <a:pPr marL="171450" indent="-171450">
                <a:spcBef>
                  <a:spcPts val="300"/>
                </a:spcBef>
                <a:spcAft>
                  <a:spcPts val="300"/>
                </a:spcAft>
                <a:buFont typeface="Arial" panose="020B0604020202020204" pitchFamily="34" charset="0"/>
                <a:buChar char="•"/>
              </a:pPr>
              <a:r>
                <a:rPr lang="en-CA" sz="1200" noProof="0">
                  <a:solidFill>
                    <a:schemeClr val="bg2">
                      <a:lumMod val="10000"/>
                    </a:schemeClr>
                  </a:solidFill>
                </a:rPr>
                <a:t>The North Platform is designed for data to be shared and accessed across nodes to satisfy business needs.</a:t>
              </a:r>
            </a:p>
          </p:txBody>
        </p:sp>
        <p:cxnSp>
          <p:nvCxnSpPr>
            <p:cNvPr id="10" name="Straight Connector 9">
              <a:extLst>
                <a:ext uri="{FF2B5EF4-FFF2-40B4-BE49-F238E27FC236}">
                  <a16:creationId xmlns:a16="http://schemas.microsoft.com/office/drawing/2014/main" id="{98D5E850-70D6-8E06-FB71-107D7CDC268E}"/>
                </a:ext>
              </a:extLst>
            </p:cNvPr>
            <p:cNvCxnSpPr>
              <a:cxnSpLocks/>
            </p:cNvCxnSpPr>
            <p:nvPr/>
          </p:nvCxnSpPr>
          <p:spPr>
            <a:xfrm>
              <a:off x="3486000" y="3288076"/>
              <a:ext cx="0" cy="72000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3E312DE9-D9A1-549F-13DC-DEC831823547}"/>
              </a:ext>
            </a:extLst>
          </p:cNvPr>
          <p:cNvGrpSpPr/>
          <p:nvPr/>
        </p:nvGrpSpPr>
        <p:grpSpPr>
          <a:xfrm>
            <a:off x="390000" y="4640420"/>
            <a:ext cx="11411998" cy="1008000"/>
            <a:chOff x="390000" y="4686713"/>
            <a:chExt cx="11411998" cy="1008000"/>
          </a:xfrm>
        </p:grpSpPr>
        <p:sp>
          <p:nvSpPr>
            <p:cNvPr id="35" name="Rectangle: Rounded Corners 34">
              <a:extLst>
                <a:ext uri="{FF2B5EF4-FFF2-40B4-BE49-F238E27FC236}">
                  <a16:creationId xmlns:a16="http://schemas.microsoft.com/office/drawing/2014/main" id="{E5D18236-83DD-6B77-5387-156D7C87620D}"/>
                </a:ext>
              </a:extLst>
            </p:cNvPr>
            <p:cNvSpPr/>
            <p:nvPr/>
          </p:nvSpPr>
          <p:spPr>
            <a:xfrm>
              <a:off x="390000" y="4686713"/>
              <a:ext cx="2880000" cy="1008000"/>
            </a:xfrm>
            <a:prstGeom prst="roundRect">
              <a:avLst>
                <a:gd name="adj" fmla="val 8395"/>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r>
                <a:rPr lang="en-CA" sz="1400" noProof="0"/>
                <a:t>If there is a reorganization, how does that impact what has already been set up on the North platform?</a:t>
              </a:r>
            </a:p>
          </p:txBody>
        </p:sp>
        <p:sp>
          <p:nvSpPr>
            <p:cNvPr id="5" name="Rectangle: Rounded Corners 4">
              <a:extLst>
                <a:ext uri="{FF2B5EF4-FFF2-40B4-BE49-F238E27FC236}">
                  <a16:creationId xmlns:a16="http://schemas.microsoft.com/office/drawing/2014/main" id="{322FA872-A0BB-6FF9-27C0-B1E93DA4714A}"/>
                </a:ext>
              </a:extLst>
            </p:cNvPr>
            <p:cNvSpPr/>
            <p:nvPr/>
          </p:nvSpPr>
          <p:spPr>
            <a:xfrm>
              <a:off x="3701998" y="4686713"/>
              <a:ext cx="8100000" cy="1008000"/>
            </a:xfrm>
            <a:prstGeom prst="roundRect">
              <a:avLst>
                <a:gd name="adj" fmla="val 6317"/>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6" name="TextBox 5">
              <a:extLst>
                <a:ext uri="{FF2B5EF4-FFF2-40B4-BE49-F238E27FC236}">
                  <a16:creationId xmlns:a16="http://schemas.microsoft.com/office/drawing/2014/main" id="{64DA7B14-F3B6-101E-FC33-392BE995427A}"/>
                </a:ext>
              </a:extLst>
            </p:cNvPr>
            <p:cNvSpPr txBox="1"/>
            <p:nvPr/>
          </p:nvSpPr>
          <p:spPr>
            <a:xfrm>
              <a:off x="3701998" y="4746558"/>
              <a:ext cx="8100000" cy="88831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171450" indent="-171450">
                <a:spcBef>
                  <a:spcPts val="300"/>
                </a:spcBef>
                <a:spcAft>
                  <a:spcPts val="300"/>
                </a:spcAft>
                <a:buFont typeface="Arial" panose="020B0604020202020204" pitchFamily="34" charset="0"/>
                <a:buChar char="•"/>
              </a:pPr>
              <a:r>
                <a:rPr lang="en-CA" sz="1200" b="1" noProof="0">
                  <a:solidFill>
                    <a:schemeClr val="bg2">
                      <a:lumMod val="10000"/>
                    </a:schemeClr>
                  </a:solidFill>
                </a:rPr>
                <a:t>The North platform is designed to be flexible</a:t>
              </a:r>
              <a:r>
                <a:rPr lang="en-CA" sz="1200" noProof="0">
                  <a:solidFill>
                    <a:schemeClr val="bg2">
                      <a:lumMod val="10000"/>
                    </a:schemeClr>
                  </a:solidFill>
                </a:rPr>
                <a:t>. This means that if there is a need to reorganise nodes, it can be achieved. </a:t>
              </a:r>
            </a:p>
            <a:p>
              <a:pPr marL="171450" indent="-171450">
                <a:spcBef>
                  <a:spcPts val="300"/>
                </a:spcBef>
                <a:spcAft>
                  <a:spcPts val="300"/>
                </a:spcAft>
                <a:buFont typeface="Arial" panose="020B0604020202020204" pitchFamily="34" charset="0"/>
                <a:buChar char="•"/>
              </a:pPr>
              <a:r>
                <a:rPr lang="en-CA" sz="1200" noProof="0">
                  <a:solidFill>
                    <a:schemeClr val="bg2">
                      <a:lumMod val="10000"/>
                    </a:schemeClr>
                  </a:solidFill>
                </a:rPr>
                <a:t>Depending on the re-organization, it can be achieved by re-assigning data ownership to an existing data node, or the data can be split into separate nodes or merged into a new node if required.</a:t>
              </a:r>
            </a:p>
          </p:txBody>
        </p:sp>
        <p:cxnSp>
          <p:nvCxnSpPr>
            <p:cNvPr id="11" name="Straight Connector 10">
              <a:extLst>
                <a:ext uri="{FF2B5EF4-FFF2-40B4-BE49-F238E27FC236}">
                  <a16:creationId xmlns:a16="http://schemas.microsoft.com/office/drawing/2014/main" id="{E2D29B71-4428-E256-2F69-B49B1C4050B4}"/>
                </a:ext>
              </a:extLst>
            </p:cNvPr>
            <p:cNvCxnSpPr>
              <a:cxnSpLocks/>
            </p:cNvCxnSpPr>
            <p:nvPr/>
          </p:nvCxnSpPr>
          <p:spPr>
            <a:xfrm>
              <a:off x="3486000" y="4830713"/>
              <a:ext cx="0" cy="72000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78268464"/>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0132E-D087-D4D4-33FB-0A0F72C9E089}"/>
            </a:ext>
          </a:extLst>
        </p:cNvPr>
        <p:cNvGrpSpPr/>
        <p:nvPr/>
      </p:nvGrpSpPr>
      <p:grpSpPr>
        <a:xfrm>
          <a:off x="0" y="0"/>
          <a:ext cx="0" cy="0"/>
          <a:chOff x="0" y="0"/>
          <a:chExt cx="0" cy="0"/>
        </a:xfrm>
      </p:grpSpPr>
      <p:sp>
        <p:nvSpPr>
          <p:cNvPr id="16" name="Trapezoid 184">
            <a:extLst>
              <a:ext uri="{FF2B5EF4-FFF2-40B4-BE49-F238E27FC236}">
                <a16:creationId xmlns:a16="http://schemas.microsoft.com/office/drawing/2014/main" id="{C5B3EEE6-1867-57CB-2DDE-D0F12E0192BA}"/>
              </a:ext>
            </a:extLst>
          </p:cNvPr>
          <p:cNvSpPr/>
          <p:nvPr/>
        </p:nvSpPr>
        <p:spPr>
          <a:xfrm rot="5400000">
            <a:off x="3868539" y="1192590"/>
            <a:ext cx="1552550" cy="833334"/>
          </a:xfrm>
          <a:custGeom>
            <a:avLst/>
            <a:gdLst>
              <a:gd name="connsiteX0" fmla="*/ 0 w 754377"/>
              <a:gd name="connsiteY0" fmla="*/ 1114918 h 1114918"/>
              <a:gd name="connsiteX1" fmla="*/ 188594 w 754377"/>
              <a:gd name="connsiteY1" fmla="*/ 0 h 1114918"/>
              <a:gd name="connsiteX2" fmla="*/ 565783 w 754377"/>
              <a:gd name="connsiteY2" fmla="*/ 0 h 1114918"/>
              <a:gd name="connsiteX3" fmla="*/ 754377 w 754377"/>
              <a:gd name="connsiteY3" fmla="*/ 1114918 h 1114918"/>
              <a:gd name="connsiteX4" fmla="*/ 0 w 754377"/>
              <a:gd name="connsiteY4" fmla="*/ 1114918 h 1114918"/>
              <a:gd name="connsiteX0" fmla="*/ 1054417 w 1808794"/>
              <a:gd name="connsiteY0" fmla="*/ 1438769 h 1438769"/>
              <a:gd name="connsiteX1" fmla="*/ 0 w 1808794"/>
              <a:gd name="connsiteY1" fmla="*/ 0 h 1438769"/>
              <a:gd name="connsiteX2" fmla="*/ 1620200 w 1808794"/>
              <a:gd name="connsiteY2" fmla="*/ 323851 h 1438769"/>
              <a:gd name="connsiteX3" fmla="*/ 1808794 w 1808794"/>
              <a:gd name="connsiteY3" fmla="*/ 1438769 h 1438769"/>
              <a:gd name="connsiteX4" fmla="*/ 1054417 w 1808794"/>
              <a:gd name="connsiteY4" fmla="*/ 1438769 h 1438769"/>
              <a:gd name="connsiteX0" fmla="*/ 1044889 w 1799266"/>
              <a:gd name="connsiteY0" fmla="*/ 1429244 h 1429244"/>
              <a:gd name="connsiteX1" fmla="*/ 0 w 1799266"/>
              <a:gd name="connsiteY1" fmla="*/ 0 h 1429244"/>
              <a:gd name="connsiteX2" fmla="*/ 1610672 w 1799266"/>
              <a:gd name="connsiteY2" fmla="*/ 314326 h 1429244"/>
              <a:gd name="connsiteX3" fmla="*/ 1799266 w 1799266"/>
              <a:gd name="connsiteY3" fmla="*/ 1429244 h 1429244"/>
              <a:gd name="connsiteX4" fmla="*/ 1044889 w 1799266"/>
              <a:gd name="connsiteY4" fmla="*/ 1429244 h 1429244"/>
              <a:gd name="connsiteX0" fmla="*/ 1044889 w 2848922"/>
              <a:gd name="connsiteY0" fmla="*/ 1429244 h 1429244"/>
              <a:gd name="connsiteX1" fmla="*/ 0 w 2848922"/>
              <a:gd name="connsiteY1" fmla="*/ 0 h 1429244"/>
              <a:gd name="connsiteX2" fmla="*/ 2848922 w 2848922"/>
              <a:gd name="connsiteY2" fmla="*/ 2382 h 1429244"/>
              <a:gd name="connsiteX3" fmla="*/ 1799266 w 2848922"/>
              <a:gd name="connsiteY3" fmla="*/ 1429244 h 1429244"/>
              <a:gd name="connsiteX4" fmla="*/ 1044889 w 2848922"/>
              <a:gd name="connsiteY4" fmla="*/ 1429244 h 1429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8922" h="1429244">
                <a:moveTo>
                  <a:pt x="1044889" y="1429244"/>
                </a:moveTo>
                <a:lnTo>
                  <a:pt x="0" y="0"/>
                </a:lnTo>
                <a:lnTo>
                  <a:pt x="2848922" y="2382"/>
                </a:lnTo>
                <a:lnTo>
                  <a:pt x="1799266" y="1429244"/>
                </a:lnTo>
                <a:lnTo>
                  <a:pt x="1044889" y="1429244"/>
                </a:lnTo>
                <a:close/>
              </a:path>
            </a:pathLst>
          </a:custGeom>
          <a:gradFill>
            <a:gsLst>
              <a:gs pos="0">
                <a:srgbClr val="FFFBFC"/>
              </a:gs>
              <a:gs pos="66000">
                <a:srgbClr val="BB6475"/>
              </a:gs>
              <a:gs pos="36000">
                <a:schemeClr val="tx2">
                  <a:lumMod val="20000"/>
                  <a:lumOff val="80000"/>
                </a:schemeClr>
              </a:gs>
              <a:gs pos="100000">
                <a:schemeClr val="tx2">
                  <a:lumMod val="75000"/>
                </a:schemeClr>
              </a:gs>
            </a:gsLst>
            <a:lin ang="5400000" scaled="1"/>
          </a:gradFill>
          <a:ln w="63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CA" noProof="0"/>
          </a:p>
        </p:txBody>
      </p:sp>
      <p:sp>
        <p:nvSpPr>
          <p:cNvPr id="227" name="Rectangle: Rounded Corners 226">
            <a:extLst>
              <a:ext uri="{FF2B5EF4-FFF2-40B4-BE49-F238E27FC236}">
                <a16:creationId xmlns:a16="http://schemas.microsoft.com/office/drawing/2014/main" id="{F5E21FF4-12BF-846B-932D-39FCBD5B5AE4}"/>
              </a:ext>
            </a:extLst>
          </p:cNvPr>
          <p:cNvSpPr/>
          <p:nvPr/>
        </p:nvSpPr>
        <p:spPr>
          <a:xfrm>
            <a:off x="9246849" y="1428241"/>
            <a:ext cx="2880000" cy="1008000"/>
          </a:xfrm>
          <a:prstGeom prst="roundRect">
            <a:avLst>
              <a:gd name="adj" fmla="val 7142"/>
            </a:avLst>
          </a:prstGeom>
          <a:solidFill>
            <a:srgbClr val="F0F6F6"/>
          </a:solidFill>
          <a:ln w="9525">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4" name="Title 2">
            <a:extLst>
              <a:ext uri="{FF2B5EF4-FFF2-40B4-BE49-F238E27FC236}">
                <a16:creationId xmlns:a16="http://schemas.microsoft.com/office/drawing/2014/main" id="{9A0C5EE2-F725-3288-4D85-FE263A7AE90D}"/>
              </a:ext>
            </a:extLst>
          </p:cNvPr>
          <p:cNvSpPr txBox="1">
            <a:spLocks/>
          </p:cNvSpPr>
          <p:nvPr/>
        </p:nvSpPr>
        <p:spPr>
          <a:xfrm>
            <a:off x="210312" y="120782"/>
            <a:ext cx="11412000" cy="405102"/>
          </a:xfrm>
          <a:prstGeom prst="rect">
            <a:avLst/>
          </a:prstGeom>
        </p:spPr>
        <p:txBody>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000" b="1" noProof="0"/>
              <a:t>1.3. NORTH Data Node Blueprint</a:t>
            </a:r>
            <a:endParaRPr lang="en-CA" sz="2000" noProof="0"/>
          </a:p>
        </p:txBody>
      </p:sp>
      <p:sp>
        <p:nvSpPr>
          <p:cNvPr id="823" name="Text Placeholder 3">
            <a:extLst>
              <a:ext uri="{FF2B5EF4-FFF2-40B4-BE49-F238E27FC236}">
                <a16:creationId xmlns:a16="http://schemas.microsoft.com/office/drawing/2014/main" id="{27229998-3E8D-DE80-441C-65117FA14302}"/>
              </a:ext>
            </a:extLst>
          </p:cNvPr>
          <p:cNvSpPr txBox="1">
            <a:spLocks/>
          </p:cNvSpPr>
          <p:nvPr/>
        </p:nvSpPr>
        <p:spPr>
          <a:xfrm>
            <a:off x="210312" y="418588"/>
            <a:ext cx="11883922" cy="261610"/>
          </a:xfrm>
          <a:prstGeom prst="rect">
            <a:avLst/>
          </a:prstGeom>
        </p:spPr>
        <p:txBody>
          <a:bodyPr wrap="square">
            <a:spAutoFit/>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1100" noProof="0">
                <a:solidFill>
                  <a:schemeClr val="bg2">
                    <a:lumMod val="10000"/>
                  </a:schemeClr>
                </a:solidFill>
              </a:rPr>
              <a:t>Each Node is a dedicated space where data is managed and shared for reuse within a Business Area and across the enterprise.</a:t>
            </a:r>
            <a:endParaRPr lang="en-CA" sz="1100" b="1" noProof="0">
              <a:solidFill>
                <a:schemeClr val="bg2">
                  <a:lumMod val="10000"/>
                </a:schemeClr>
              </a:solidFill>
            </a:endParaRPr>
          </a:p>
        </p:txBody>
      </p:sp>
      <p:grpSp>
        <p:nvGrpSpPr>
          <p:cNvPr id="202" name="Group 201">
            <a:extLst>
              <a:ext uri="{FF2B5EF4-FFF2-40B4-BE49-F238E27FC236}">
                <a16:creationId xmlns:a16="http://schemas.microsoft.com/office/drawing/2014/main" id="{043536A1-707B-0FFA-7B2E-4E68BAA4A150}"/>
              </a:ext>
            </a:extLst>
          </p:cNvPr>
          <p:cNvGrpSpPr/>
          <p:nvPr/>
        </p:nvGrpSpPr>
        <p:grpSpPr>
          <a:xfrm>
            <a:off x="2757052" y="6365930"/>
            <a:ext cx="6782356" cy="440374"/>
            <a:chOff x="4073077" y="6325649"/>
            <a:chExt cx="6208022" cy="440374"/>
          </a:xfrm>
        </p:grpSpPr>
        <p:sp>
          <p:nvSpPr>
            <p:cNvPr id="49" name="Rectangle: Rounded Corners 48">
              <a:extLst>
                <a:ext uri="{FF2B5EF4-FFF2-40B4-BE49-F238E27FC236}">
                  <a16:creationId xmlns:a16="http://schemas.microsoft.com/office/drawing/2014/main" id="{98FCE104-AC84-9C7A-6D13-5AB1EB8CB883}"/>
                </a:ext>
              </a:extLst>
            </p:cNvPr>
            <p:cNvSpPr/>
            <p:nvPr/>
          </p:nvSpPr>
          <p:spPr>
            <a:xfrm>
              <a:off x="4073077" y="6325649"/>
              <a:ext cx="6193759" cy="408350"/>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l"/>
              <a:endParaRPr lang="en-CA" sz="900" noProof="0"/>
            </a:p>
          </p:txBody>
        </p:sp>
        <p:sp>
          <p:nvSpPr>
            <p:cNvPr id="50" name="TextBox 49">
              <a:extLst>
                <a:ext uri="{FF2B5EF4-FFF2-40B4-BE49-F238E27FC236}">
                  <a16:creationId xmlns:a16="http://schemas.microsoft.com/office/drawing/2014/main" id="{28048029-F260-9F49-ED59-85BD16E79A54}"/>
                </a:ext>
              </a:extLst>
            </p:cNvPr>
            <p:cNvSpPr txBox="1"/>
            <p:nvPr/>
          </p:nvSpPr>
          <p:spPr>
            <a:xfrm>
              <a:off x="4141133" y="6442858"/>
              <a:ext cx="573352"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Legend</a:t>
              </a:r>
            </a:p>
          </p:txBody>
        </p:sp>
        <p:cxnSp>
          <p:nvCxnSpPr>
            <p:cNvPr id="53" name="Straight Connector 52">
              <a:extLst>
                <a:ext uri="{FF2B5EF4-FFF2-40B4-BE49-F238E27FC236}">
                  <a16:creationId xmlns:a16="http://schemas.microsoft.com/office/drawing/2014/main" id="{388D1DC7-1E96-F1BE-8436-02F1BD6C7F88}"/>
                </a:ext>
              </a:extLst>
            </p:cNvPr>
            <p:cNvCxnSpPr>
              <a:cxnSpLocks/>
            </p:cNvCxnSpPr>
            <p:nvPr/>
          </p:nvCxnSpPr>
          <p:spPr>
            <a:xfrm flipH="1">
              <a:off x="4721904" y="6379649"/>
              <a:ext cx="0" cy="288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5B5C4FCE-E684-440D-EF33-141BAA3C2F0A}"/>
                </a:ext>
              </a:extLst>
            </p:cNvPr>
            <p:cNvSpPr txBox="1"/>
            <p:nvPr/>
          </p:nvSpPr>
          <p:spPr>
            <a:xfrm>
              <a:off x="5538312" y="6442858"/>
              <a:ext cx="756000"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Data Flow</a:t>
              </a:r>
            </a:p>
          </p:txBody>
        </p:sp>
        <p:sp>
          <p:nvSpPr>
            <p:cNvPr id="60" name="Hexagon 59">
              <a:extLst>
                <a:ext uri="{FF2B5EF4-FFF2-40B4-BE49-F238E27FC236}">
                  <a16:creationId xmlns:a16="http://schemas.microsoft.com/office/drawing/2014/main" id="{61407374-048D-D93D-3938-FD848470B2A9}"/>
                </a:ext>
              </a:extLst>
            </p:cNvPr>
            <p:cNvSpPr>
              <a:spLocks noChangeAspect="1"/>
            </p:cNvSpPr>
            <p:nvPr/>
          </p:nvSpPr>
          <p:spPr>
            <a:xfrm rot="5400000">
              <a:off x="6440329" y="6406853"/>
              <a:ext cx="216000" cy="233593"/>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0" tIns="0" rIns="0" bIns="0" rtlCol="0" anchor="ctr"/>
            <a:lstStyle/>
            <a:p>
              <a:pPr algn="ctr"/>
              <a:endParaRPr lang="en-CA" sz="800" noProof="0">
                <a:solidFill>
                  <a:srgbClr val="298B68"/>
                </a:solidFill>
              </a:endParaRPr>
            </a:p>
          </p:txBody>
        </p:sp>
        <p:sp>
          <p:nvSpPr>
            <p:cNvPr id="4096" name="TextBox 4095">
              <a:extLst>
                <a:ext uri="{FF2B5EF4-FFF2-40B4-BE49-F238E27FC236}">
                  <a16:creationId xmlns:a16="http://schemas.microsoft.com/office/drawing/2014/main" id="{4E4ED652-80AE-EF96-9B3E-DFCB162A2CA9}"/>
                </a:ext>
              </a:extLst>
            </p:cNvPr>
            <p:cNvSpPr txBox="1"/>
            <p:nvPr/>
          </p:nvSpPr>
          <p:spPr>
            <a:xfrm>
              <a:off x="6703054" y="6442858"/>
              <a:ext cx="3578045" cy="32316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r>
                <a:rPr lang="en-CA" sz="1050" b="1">
                  <a:solidFill>
                    <a:schemeClr val="bg2">
                      <a:lumMod val="10000"/>
                    </a:schemeClr>
                  </a:solidFill>
                </a:rPr>
                <a:t>Data Product-</a:t>
              </a:r>
              <a:r>
                <a:rPr lang="en-CA" sz="1050">
                  <a:solidFill>
                    <a:schemeClr val="bg2">
                      <a:lumMod val="10000"/>
                    </a:schemeClr>
                  </a:solidFill>
                </a:rPr>
                <a:t>Trusted, </a:t>
              </a:r>
              <a:r>
                <a:rPr lang="en-CA" sz="1050" b="1">
                  <a:solidFill>
                    <a:schemeClr val="bg2">
                      <a:lumMod val="10000"/>
                    </a:schemeClr>
                  </a:solidFill>
                </a:rPr>
                <a:t>governed</a:t>
              </a:r>
              <a:r>
                <a:rPr lang="en-CA" sz="1050">
                  <a:solidFill>
                    <a:schemeClr val="bg2">
                      <a:lumMod val="10000"/>
                    </a:schemeClr>
                  </a:solidFill>
                </a:rPr>
                <a:t> data owned by business units</a:t>
              </a:r>
            </a:p>
          </p:txBody>
        </p:sp>
        <p:grpSp>
          <p:nvGrpSpPr>
            <p:cNvPr id="201" name="Group 200">
              <a:extLst>
                <a:ext uri="{FF2B5EF4-FFF2-40B4-BE49-F238E27FC236}">
                  <a16:creationId xmlns:a16="http://schemas.microsoft.com/office/drawing/2014/main" id="{10C506DB-3D3B-C68C-AE53-28D29A48A7ED}"/>
                </a:ext>
              </a:extLst>
            </p:cNvPr>
            <p:cNvGrpSpPr/>
            <p:nvPr/>
          </p:nvGrpSpPr>
          <p:grpSpPr>
            <a:xfrm>
              <a:off x="4801756" y="6443126"/>
              <a:ext cx="743100" cy="161047"/>
              <a:chOff x="4801756" y="6461345"/>
              <a:chExt cx="743100" cy="161047"/>
            </a:xfrm>
          </p:grpSpPr>
          <p:cxnSp>
            <p:nvCxnSpPr>
              <p:cNvPr id="54" name="Straight Arrow Connector 53">
                <a:extLst>
                  <a:ext uri="{FF2B5EF4-FFF2-40B4-BE49-F238E27FC236}">
                    <a16:creationId xmlns:a16="http://schemas.microsoft.com/office/drawing/2014/main" id="{2C2282EF-A4D7-0A28-1E99-C8D2127C8D25}"/>
                  </a:ext>
                </a:extLst>
              </p:cNvPr>
              <p:cNvCxnSpPr>
                <a:cxnSpLocks/>
              </p:cNvCxnSpPr>
              <p:nvPr/>
            </p:nvCxnSpPr>
            <p:spPr>
              <a:xfrm>
                <a:off x="5220856" y="6461345"/>
                <a:ext cx="324000" cy="0"/>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78" name="Straight Arrow Connector 2077">
                <a:extLst>
                  <a:ext uri="{FF2B5EF4-FFF2-40B4-BE49-F238E27FC236}">
                    <a16:creationId xmlns:a16="http://schemas.microsoft.com/office/drawing/2014/main" id="{A93B55D8-59ED-6B43-F61B-94EFC79B6CB7}"/>
                  </a:ext>
                </a:extLst>
              </p:cNvPr>
              <p:cNvCxnSpPr>
                <a:cxnSpLocks/>
              </p:cNvCxnSpPr>
              <p:nvPr/>
            </p:nvCxnSpPr>
            <p:spPr>
              <a:xfrm>
                <a:off x="4801756" y="6622392"/>
                <a:ext cx="324000" cy="0"/>
              </a:xfrm>
              <a:prstGeom prst="straightConnector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cxnSp>
            <p:nvCxnSpPr>
              <p:cNvPr id="2079" name="Straight Arrow Connector 2078">
                <a:extLst>
                  <a:ext uri="{FF2B5EF4-FFF2-40B4-BE49-F238E27FC236}">
                    <a16:creationId xmlns:a16="http://schemas.microsoft.com/office/drawing/2014/main" id="{3FCA91E7-6448-AB4E-B906-8E914A6EF5F0}"/>
                  </a:ext>
                </a:extLst>
              </p:cNvPr>
              <p:cNvCxnSpPr>
                <a:cxnSpLocks/>
              </p:cNvCxnSpPr>
              <p:nvPr/>
            </p:nvCxnSpPr>
            <p:spPr>
              <a:xfrm>
                <a:off x="4801756" y="6461345"/>
                <a:ext cx="324000"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58" name="Straight Arrow Connector 4157">
                <a:extLst>
                  <a:ext uri="{FF2B5EF4-FFF2-40B4-BE49-F238E27FC236}">
                    <a16:creationId xmlns:a16="http://schemas.microsoft.com/office/drawing/2014/main" id="{DFE009AF-9CE2-B2F0-9AAD-921FE1D66618}"/>
                  </a:ext>
                </a:extLst>
              </p:cNvPr>
              <p:cNvCxnSpPr>
                <a:cxnSpLocks/>
              </p:cNvCxnSpPr>
              <p:nvPr/>
            </p:nvCxnSpPr>
            <p:spPr>
              <a:xfrm>
                <a:off x="5220856" y="6622392"/>
                <a:ext cx="3240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211" name="Slide Number Placeholder 2">
            <a:extLst>
              <a:ext uri="{FF2B5EF4-FFF2-40B4-BE49-F238E27FC236}">
                <a16:creationId xmlns:a16="http://schemas.microsoft.com/office/drawing/2014/main" id="{C2483BF9-E921-3BF6-2576-A5A168A885CC}"/>
              </a:ext>
            </a:extLst>
          </p:cNvPr>
          <p:cNvSpPr>
            <a:spLocks noGrp="1"/>
          </p:cNvSpPr>
          <p:nvPr>
            <p:ph type="sldNum" sz="quarter" idx="12"/>
          </p:nvPr>
        </p:nvSpPr>
        <p:spPr>
          <a:xfrm>
            <a:off x="87852" y="6286624"/>
            <a:ext cx="201619" cy="365125"/>
          </a:xfrm>
        </p:spPr>
        <p:txBody>
          <a:bodyPr/>
          <a:lstStyle/>
          <a:p>
            <a:fld id="{3CBD822F-ED39-4FC2-B5B5-D2EAB6238DC3}" type="slidenum">
              <a:rPr lang="en-CA" noProof="0" smtClean="0">
                <a:latin typeface="+mn-lt"/>
              </a:rPr>
              <a:pPr/>
              <a:t>9</a:t>
            </a:fld>
            <a:endParaRPr lang="en-CA" noProof="0">
              <a:latin typeface="+mn-lt"/>
            </a:endParaRPr>
          </a:p>
        </p:txBody>
      </p:sp>
      <p:sp>
        <p:nvSpPr>
          <p:cNvPr id="40" name="Rectangle: Rounded Corners 39">
            <a:extLst>
              <a:ext uri="{FF2B5EF4-FFF2-40B4-BE49-F238E27FC236}">
                <a16:creationId xmlns:a16="http://schemas.microsoft.com/office/drawing/2014/main" id="{7C2CD3D9-AB5A-9381-5D0C-06556D4CFAA1}"/>
              </a:ext>
            </a:extLst>
          </p:cNvPr>
          <p:cNvSpPr/>
          <p:nvPr/>
        </p:nvSpPr>
        <p:spPr>
          <a:xfrm>
            <a:off x="91051" y="2641018"/>
            <a:ext cx="4320000" cy="3384000"/>
          </a:xfrm>
          <a:prstGeom prst="roundRect">
            <a:avLst>
              <a:gd name="adj" fmla="val 2002"/>
            </a:avLst>
          </a:prstGeom>
          <a:solidFill>
            <a:schemeClr val="bg1">
              <a:lumMod val="95000"/>
            </a:schemeClr>
          </a:solidFill>
          <a:ln w="25400">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61" name="TextBox 60">
            <a:extLst>
              <a:ext uri="{FF2B5EF4-FFF2-40B4-BE49-F238E27FC236}">
                <a16:creationId xmlns:a16="http://schemas.microsoft.com/office/drawing/2014/main" id="{FDA6504F-5ECB-3C4A-848A-8443B4EAB1A1}"/>
              </a:ext>
            </a:extLst>
          </p:cNvPr>
          <p:cNvSpPr txBox="1"/>
          <p:nvPr/>
        </p:nvSpPr>
        <p:spPr>
          <a:xfrm>
            <a:off x="5069325" y="5626371"/>
            <a:ext cx="3924000" cy="659455"/>
          </a:xfrm>
          <a:prstGeom prst="rect">
            <a:avLst/>
          </a:prstGeom>
          <a:solidFill>
            <a:srgbClr val="F2F2F2"/>
          </a:solidFill>
          <a:ln w="9525">
            <a:solidFill>
              <a:srgbClr val="A5A5A5"/>
            </a:solid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ctr" anchorCtr="0">
            <a:noAutofit/>
          </a:bodyPr>
          <a:lstStyle/>
          <a:p>
            <a:pPr algn="ctr"/>
            <a:r>
              <a:rPr lang="en-CA" sz="1100" b="1" u="sng" noProof="0">
                <a:solidFill>
                  <a:schemeClr val="tx2"/>
                </a:solidFill>
              </a:rPr>
              <a:t>Path 4</a:t>
            </a:r>
            <a:r>
              <a:rPr lang="en-CA" sz="1100" b="1" noProof="0">
                <a:solidFill>
                  <a:schemeClr val="tx1">
                    <a:lumMod val="50000"/>
                  </a:schemeClr>
                </a:solidFill>
              </a:rPr>
              <a:t>: Pass-through for Un-structured Data</a:t>
            </a:r>
          </a:p>
        </p:txBody>
      </p:sp>
      <p:sp>
        <p:nvSpPr>
          <p:cNvPr id="321" name="Rectangle 320">
            <a:extLst>
              <a:ext uri="{FF2B5EF4-FFF2-40B4-BE49-F238E27FC236}">
                <a16:creationId xmlns:a16="http://schemas.microsoft.com/office/drawing/2014/main" id="{12C71245-950F-0FA3-BB72-E22E9ACFCCA0}"/>
              </a:ext>
            </a:extLst>
          </p:cNvPr>
          <p:cNvSpPr/>
          <p:nvPr/>
        </p:nvSpPr>
        <p:spPr>
          <a:xfrm>
            <a:off x="5069325" y="758196"/>
            <a:ext cx="3924000" cy="4788000"/>
          </a:xfrm>
          <a:prstGeom prst="rect">
            <a:avLst/>
          </a:prstGeom>
          <a:solidFill>
            <a:srgbClr val="FDE7EB"/>
          </a:solid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745" name="TextBox 744">
            <a:extLst>
              <a:ext uri="{FF2B5EF4-FFF2-40B4-BE49-F238E27FC236}">
                <a16:creationId xmlns:a16="http://schemas.microsoft.com/office/drawing/2014/main" id="{D3934E89-452C-AFF6-CF03-0C095764C990}"/>
              </a:ext>
            </a:extLst>
          </p:cNvPr>
          <p:cNvSpPr txBox="1"/>
          <p:nvPr/>
        </p:nvSpPr>
        <p:spPr>
          <a:xfrm>
            <a:off x="5488270" y="758196"/>
            <a:ext cx="308611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defTabSz="228600">
              <a:spcAft>
                <a:spcPts val="1200"/>
              </a:spcAft>
            </a:pPr>
            <a:r>
              <a:rPr lang="en-CA" sz="1400" b="1" noProof="0">
                <a:solidFill>
                  <a:schemeClr val="tx2"/>
                </a:solidFill>
              </a:rPr>
              <a:t>Node XYZ</a:t>
            </a:r>
          </a:p>
        </p:txBody>
      </p:sp>
      <p:sp>
        <p:nvSpPr>
          <p:cNvPr id="37" name="Rectangle: Rounded Corners 36">
            <a:extLst>
              <a:ext uri="{FF2B5EF4-FFF2-40B4-BE49-F238E27FC236}">
                <a16:creationId xmlns:a16="http://schemas.microsoft.com/office/drawing/2014/main" id="{55751218-0C5B-F118-13AE-0940B7557520}"/>
              </a:ext>
            </a:extLst>
          </p:cNvPr>
          <p:cNvSpPr/>
          <p:nvPr/>
        </p:nvSpPr>
        <p:spPr>
          <a:xfrm>
            <a:off x="5159325" y="1145183"/>
            <a:ext cx="3744000" cy="1332000"/>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CA" noProof="0"/>
          </a:p>
        </p:txBody>
      </p:sp>
      <p:sp>
        <p:nvSpPr>
          <p:cNvPr id="339" name="TextBox 338">
            <a:extLst>
              <a:ext uri="{FF2B5EF4-FFF2-40B4-BE49-F238E27FC236}">
                <a16:creationId xmlns:a16="http://schemas.microsoft.com/office/drawing/2014/main" id="{229CD65C-3162-0FD2-881C-356EDF33D7C2}"/>
              </a:ext>
            </a:extLst>
          </p:cNvPr>
          <p:cNvSpPr txBox="1"/>
          <p:nvPr/>
        </p:nvSpPr>
        <p:spPr>
          <a:xfrm>
            <a:off x="5910274" y="1145183"/>
            <a:ext cx="2242102"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100" b="1" u="sng" noProof="0">
                <a:solidFill>
                  <a:schemeClr val="tx2"/>
                </a:solidFill>
              </a:rPr>
              <a:t>Path 1</a:t>
            </a:r>
            <a:r>
              <a:rPr lang="en-CA" sz="1100" b="1" noProof="0">
                <a:solidFill>
                  <a:schemeClr val="bg2">
                    <a:lumMod val="10000"/>
                  </a:schemeClr>
                </a:solidFill>
              </a:rPr>
              <a:t>: Analytical Data</a:t>
            </a:r>
          </a:p>
        </p:txBody>
      </p:sp>
      <p:sp>
        <p:nvSpPr>
          <p:cNvPr id="761" name="Rectangle 760">
            <a:extLst>
              <a:ext uri="{FF2B5EF4-FFF2-40B4-BE49-F238E27FC236}">
                <a16:creationId xmlns:a16="http://schemas.microsoft.com/office/drawing/2014/main" id="{F5AAF3C2-6A4A-A89A-43B2-FE6F7DADFEC3}"/>
              </a:ext>
            </a:extLst>
          </p:cNvPr>
          <p:cNvSpPr/>
          <p:nvPr/>
        </p:nvSpPr>
        <p:spPr>
          <a:xfrm>
            <a:off x="6587243" y="1428241"/>
            <a:ext cx="900000" cy="1008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grpSp>
        <p:nvGrpSpPr>
          <p:cNvPr id="763" name="Group 156">
            <a:extLst>
              <a:ext uri="{FF2B5EF4-FFF2-40B4-BE49-F238E27FC236}">
                <a16:creationId xmlns:a16="http://schemas.microsoft.com/office/drawing/2014/main" id="{DD6FC709-9412-F7F7-290D-E378A997EF7B}"/>
              </a:ext>
            </a:extLst>
          </p:cNvPr>
          <p:cNvGrpSpPr>
            <a:grpSpLocks noChangeAspect="1"/>
          </p:cNvGrpSpPr>
          <p:nvPr/>
        </p:nvGrpSpPr>
        <p:grpSpPr bwMode="auto">
          <a:xfrm>
            <a:off x="6928987" y="2154840"/>
            <a:ext cx="216513" cy="216000"/>
            <a:chOff x="1373" y="1718"/>
            <a:chExt cx="427" cy="426"/>
          </a:xfrm>
          <a:solidFill>
            <a:srgbClr val="C0C0C0"/>
          </a:solidFill>
        </p:grpSpPr>
        <p:sp>
          <p:nvSpPr>
            <p:cNvPr id="764" name="Freeform 157">
              <a:extLst>
                <a:ext uri="{FF2B5EF4-FFF2-40B4-BE49-F238E27FC236}">
                  <a16:creationId xmlns:a16="http://schemas.microsoft.com/office/drawing/2014/main" id="{D9B902EB-5DE7-6F3A-F30C-F1608AFDC743}"/>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4" name="Freeform 158">
              <a:extLst>
                <a:ext uri="{FF2B5EF4-FFF2-40B4-BE49-F238E27FC236}">
                  <a16:creationId xmlns:a16="http://schemas.microsoft.com/office/drawing/2014/main" id="{F99E4393-BB49-99EA-8016-EAFE59D26149}"/>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5" name="Freeform 159">
              <a:extLst>
                <a:ext uri="{FF2B5EF4-FFF2-40B4-BE49-F238E27FC236}">
                  <a16:creationId xmlns:a16="http://schemas.microsoft.com/office/drawing/2014/main" id="{DD479EBF-E11A-45F0-CA4C-6194A74E630C}"/>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6" name="Freeform 160">
              <a:extLst>
                <a:ext uri="{FF2B5EF4-FFF2-40B4-BE49-F238E27FC236}">
                  <a16:creationId xmlns:a16="http://schemas.microsoft.com/office/drawing/2014/main" id="{B4F84E93-B26A-8938-A461-685D6F2F8388}"/>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9" name="Freeform 161">
              <a:extLst>
                <a:ext uri="{FF2B5EF4-FFF2-40B4-BE49-F238E27FC236}">
                  <a16:creationId xmlns:a16="http://schemas.microsoft.com/office/drawing/2014/main" id="{05526C16-D910-8250-2662-151052D65401}"/>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32" name="Freeform 162">
              <a:extLst>
                <a:ext uri="{FF2B5EF4-FFF2-40B4-BE49-F238E27FC236}">
                  <a16:creationId xmlns:a16="http://schemas.microsoft.com/office/drawing/2014/main" id="{602D5E4D-28E8-C78B-199B-9A64EDD50FD2}"/>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33" name="Freeform 163">
              <a:extLst>
                <a:ext uri="{FF2B5EF4-FFF2-40B4-BE49-F238E27FC236}">
                  <a16:creationId xmlns:a16="http://schemas.microsoft.com/office/drawing/2014/main" id="{6CA06F9B-9E8C-F2EA-ABEB-E53A6EEBD6FE}"/>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334" name="TextBox 333">
            <a:extLst>
              <a:ext uri="{FF2B5EF4-FFF2-40B4-BE49-F238E27FC236}">
                <a16:creationId xmlns:a16="http://schemas.microsoft.com/office/drawing/2014/main" id="{3C216A62-A3F4-B01A-DA6C-07B65F5D6032}"/>
              </a:ext>
            </a:extLst>
          </p:cNvPr>
          <p:cNvSpPr txBox="1"/>
          <p:nvPr/>
        </p:nvSpPr>
        <p:spPr>
          <a:xfrm>
            <a:off x="6587243" y="1428844"/>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Standardized Data storage</a:t>
            </a:r>
          </a:p>
        </p:txBody>
      </p:sp>
      <p:sp>
        <p:nvSpPr>
          <p:cNvPr id="746" name="Rectangle 745">
            <a:extLst>
              <a:ext uri="{FF2B5EF4-FFF2-40B4-BE49-F238E27FC236}">
                <a16:creationId xmlns:a16="http://schemas.microsoft.com/office/drawing/2014/main" id="{995CE596-3707-E2A8-2A2B-B55AA2DCA05B}"/>
              </a:ext>
            </a:extLst>
          </p:cNvPr>
          <p:cNvSpPr/>
          <p:nvPr/>
        </p:nvSpPr>
        <p:spPr>
          <a:xfrm>
            <a:off x="5343717" y="1428241"/>
            <a:ext cx="900000" cy="1008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cxnSp>
        <p:nvCxnSpPr>
          <p:cNvPr id="747" name="Straight Connector 746">
            <a:extLst>
              <a:ext uri="{FF2B5EF4-FFF2-40B4-BE49-F238E27FC236}">
                <a16:creationId xmlns:a16="http://schemas.microsoft.com/office/drawing/2014/main" id="{5C4ECB27-2F98-62B3-E760-AE3BF225B1F9}"/>
              </a:ext>
            </a:extLst>
          </p:cNvPr>
          <p:cNvCxnSpPr>
            <a:cxnSpLocks/>
          </p:cNvCxnSpPr>
          <p:nvPr/>
        </p:nvCxnSpPr>
        <p:spPr>
          <a:xfrm flipV="1">
            <a:off x="5433717" y="174716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748" name="Group 156">
            <a:extLst>
              <a:ext uri="{FF2B5EF4-FFF2-40B4-BE49-F238E27FC236}">
                <a16:creationId xmlns:a16="http://schemas.microsoft.com/office/drawing/2014/main" id="{C3BDF793-C118-78AE-A2FE-5C4CCC4397F4}"/>
              </a:ext>
            </a:extLst>
          </p:cNvPr>
          <p:cNvGrpSpPr>
            <a:grpSpLocks noChangeAspect="1"/>
          </p:cNvGrpSpPr>
          <p:nvPr/>
        </p:nvGrpSpPr>
        <p:grpSpPr bwMode="auto">
          <a:xfrm>
            <a:off x="5685461" y="2154840"/>
            <a:ext cx="216513" cy="216000"/>
            <a:chOff x="1373" y="1718"/>
            <a:chExt cx="427" cy="426"/>
          </a:xfrm>
          <a:solidFill>
            <a:srgbClr val="A97142"/>
          </a:solidFill>
        </p:grpSpPr>
        <p:sp>
          <p:nvSpPr>
            <p:cNvPr id="749" name="Freeform 157">
              <a:extLst>
                <a:ext uri="{FF2B5EF4-FFF2-40B4-BE49-F238E27FC236}">
                  <a16:creationId xmlns:a16="http://schemas.microsoft.com/office/drawing/2014/main" id="{3DE7DFDE-81A4-8E6C-447C-3B110E2A8651}"/>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0" name="Freeform 158">
              <a:extLst>
                <a:ext uri="{FF2B5EF4-FFF2-40B4-BE49-F238E27FC236}">
                  <a16:creationId xmlns:a16="http://schemas.microsoft.com/office/drawing/2014/main" id="{79ECBCB4-C58F-B065-629A-4472628C5044}"/>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4" name="Freeform 159">
              <a:extLst>
                <a:ext uri="{FF2B5EF4-FFF2-40B4-BE49-F238E27FC236}">
                  <a16:creationId xmlns:a16="http://schemas.microsoft.com/office/drawing/2014/main" id="{C4C303BD-7D08-B585-130A-E38E9D836DF0}"/>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5" name="Freeform 160">
              <a:extLst>
                <a:ext uri="{FF2B5EF4-FFF2-40B4-BE49-F238E27FC236}">
                  <a16:creationId xmlns:a16="http://schemas.microsoft.com/office/drawing/2014/main" id="{5A3E6266-45BE-ABC1-5459-57B704E91E06}"/>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6" name="Freeform 161">
              <a:extLst>
                <a:ext uri="{FF2B5EF4-FFF2-40B4-BE49-F238E27FC236}">
                  <a16:creationId xmlns:a16="http://schemas.microsoft.com/office/drawing/2014/main" id="{D1415CFC-6A0A-E035-A472-AEB17A2A61A8}"/>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7" name="Freeform 162">
              <a:extLst>
                <a:ext uri="{FF2B5EF4-FFF2-40B4-BE49-F238E27FC236}">
                  <a16:creationId xmlns:a16="http://schemas.microsoft.com/office/drawing/2014/main" id="{84F79F15-2256-D7A9-0CC8-0B00746456EF}"/>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8" name="Freeform 163">
              <a:extLst>
                <a:ext uri="{FF2B5EF4-FFF2-40B4-BE49-F238E27FC236}">
                  <a16:creationId xmlns:a16="http://schemas.microsoft.com/office/drawing/2014/main" id="{9048A9D1-358A-8530-EEA5-45A8C3372361}"/>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759" name="TextBox 758">
            <a:extLst>
              <a:ext uri="{FF2B5EF4-FFF2-40B4-BE49-F238E27FC236}">
                <a16:creationId xmlns:a16="http://schemas.microsoft.com/office/drawing/2014/main" id="{AEC8DD98-89D9-AD66-1760-B0EEA118CAA8}"/>
              </a:ext>
            </a:extLst>
          </p:cNvPr>
          <p:cNvSpPr txBox="1"/>
          <p:nvPr/>
        </p:nvSpPr>
        <p:spPr>
          <a:xfrm>
            <a:off x="5343717" y="1428844"/>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Raw Data storage</a:t>
            </a:r>
          </a:p>
        </p:txBody>
      </p:sp>
      <p:sp>
        <p:nvSpPr>
          <p:cNvPr id="736" name="Rectangle 735">
            <a:extLst>
              <a:ext uri="{FF2B5EF4-FFF2-40B4-BE49-F238E27FC236}">
                <a16:creationId xmlns:a16="http://schemas.microsoft.com/office/drawing/2014/main" id="{B8F3471C-DEFD-BE68-A399-162531763525}"/>
              </a:ext>
            </a:extLst>
          </p:cNvPr>
          <p:cNvSpPr/>
          <p:nvPr/>
        </p:nvSpPr>
        <p:spPr>
          <a:xfrm>
            <a:off x="7830770" y="1428241"/>
            <a:ext cx="900000" cy="1008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336" name="TextBox 335">
            <a:extLst>
              <a:ext uri="{FF2B5EF4-FFF2-40B4-BE49-F238E27FC236}">
                <a16:creationId xmlns:a16="http://schemas.microsoft.com/office/drawing/2014/main" id="{F38B8FE2-221F-386B-4B47-5BE6DB511FE9}"/>
              </a:ext>
            </a:extLst>
          </p:cNvPr>
          <p:cNvSpPr txBox="1"/>
          <p:nvPr/>
        </p:nvSpPr>
        <p:spPr>
          <a:xfrm>
            <a:off x="7830770" y="1428241"/>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Curated Data Storage</a:t>
            </a:r>
          </a:p>
        </p:txBody>
      </p:sp>
      <p:grpSp>
        <p:nvGrpSpPr>
          <p:cNvPr id="200" name="Group 199">
            <a:extLst>
              <a:ext uri="{FF2B5EF4-FFF2-40B4-BE49-F238E27FC236}">
                <a16:creationId xmlns:a16="http://schemas.microsoft.com/office/drawing/2014/main" id="{74EF7FB2-F391-B495-F207-3321AB3C0B6D}"/>
              </a:ext>
            </a:extLst>
          </p:cNvPr>
          <p:cNvGrpSpPr/>
          <p:nvPr/>
        </p:nvGrpSpPr>
        <p:grpSpPr>
          <a:xfrm>
            <a:off x="7909772" y="2237823"/>
            <a:ext cx="741996" cy="180000"/>
            <a:chOff x="5696206" y="3021971"/>
            <a:chExt cx="741996" cy="180000"/>
          </a:xfrm>
        </p:grpSpPr>
        <p:sp>
          <p:nvSpPr>
            <p:cNvPr id="62" name="Hexagon 61">
              <a:extLst>
                <a:ext uri="{FF2B5EF4-FFF2-40B4-BE49-F238E27FC236}">
                  <a16:creationId xmlns:a16="http://schemas.microsoft.com/office/drawing/2014/main" id="{92129918-E161-C4C9-9D6F-E63967F16FCA}"/>
                </a:ext>
              </a:extLst>
            </p:cNvPr>
            <p:cNvSpPr>
              <a:spLocks noChangeAspect="1"/>
            </p:cNvSpPr>
            <p:nvPr/>
          </p:nvSpPr>
          <p:spPr>
            <a:xfrm rot="5400000">
              <a:off x="5703538"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63" name="Hexagon 62">
              <a:extLst>
                <a:ext uri="{FF2B5EF4-FFF2-40B4-BE49-F238E27FC236}">
                  <a16:creationId xmlns:a16="http://schemas.microsoft.com/office/drawing/2014/main" id="{6ECB7285-2D68-BBE6-65F7-FD67A86A2889}"/>
                </a:ext>
              </a:extLst>
            </p:cNvPr>
            <p:cNvSpPr>
              <a:spLocks noChangeAspect="1"/>
            </p:cNvSpPr>
            <p:nvPr/>
          </p:nvSpPr>
          <p:spPr>
            <a:xfrm rot="5400000">
              <a:off x="5977204"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192" name="Hexagon 191">
              <a:extLst>
                <a:ext uri="{FF2B5EF4-FFF2-40B4-BE49-F238E27FC236}">
                  <a16:creationId xmlns:a16="http://schemas.microsoft.com/office/drawing/2014/main" id="{E9FA75BC-3FBD-A68E-9E4D-B590200909DD}"/>
                </a:ext>
              </a:extLst>
            </p:cNvPr>
            <p:cNvSpPr>
              <a:spLocks noChangeAspect="1"/>
            </p:cNvSpPr>
            <p:nvPr/>
          </p:nvSpPr>
          <p:spPr>
            <a:xfrm rot="5400000">
              <a:off x="6250870"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grpSp>
      <p:cxnSp>
        <p:nvCxnSpPr>
          <p:cNvPr id="737" name="Straight Connector 736">
            <a:extLst>
              <a:ext uri="{FF2B5EF4-FFF2-40B4-BE49-F238E27FC236}">
                <a16:creationId xmlns:a16="http://schemas.microsoft.com/office/drawing/2014/main" id="{5E95440B-FD5E-6319-38D8-D93AE02CC00D}"/>
              </a:ext>
            </a:extLst>
          </p:cNvPr>
          <p:cNvCxnSpPr>
            <a:cxnSpLocks/>
          </p:cNvCxnSpPr>
          <p:nvPr/>
        </p:nvCxnSpPr>
        <p:spPr>
          <a:xfrm flipV="1">
            <a:off x="7920770" y="1747165"/>
            <a:ext cx="720000" cy="0"/>
          </a:xfrm>
          <a:prstGeom prst="line">
            <a:avLst/>
          </a:prstGeom>
          <a:solidFill>
            <a:srgbClr val="FFFFC1"/>
          </a:solidFill>
        </p:spPr>
        <p:style>
          <a:lnRef idx="1">
            <a:schemeClr val="accent1"/>
          </a:lnRef>
          <a:fillRef idx="0">
            <a:schemeClr val="accent1"/>
          </a:fillRef>
          <a:effectRef idx="0">
            <a:schemeClr val="accent1"/>
          </a:effectRef>
          <a:fontRef idx="minor">
            <a:schemeClr val="tx1"/>
          </a:fontRef>
        </p:style>
      </p:cxnSp>
      <p:sp>
        <p:nvSpPr>
          <p:cNvPr id="206" name="Rectangle: Rounded Corners 205">
            <a:extLst>
              <a:ext uri="{FF2B5EF4-FFF2-40B4-BE49-F238E27FC236}">
                <a16:creationId xmlns:a16="http://schemas.microsoft.com/office/drawing/2014/main" id="{3711D0EB-D3BB-AFCA-70DA-8A6147BBB726}"/>
              </a:ext>
            </a:extLst>
          </p:cNvPr>
          <p:cNvSpPr/>
          <p:nvPr/>
        </p:nvSpPr>
        <p:spPr>
          <a:xfrm>
            <a:off x="5159325" y="2576230"/>
            <a:ext cx="3744000" cy="1440000"/>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CA" noProof="0"/>
          </a:p>
        </p:txBody>
      </p:sp>
      <p:sp>
        <p:nvSpPr>
          <p:cNvPr id="207" name="TextBox 206">
            <a:extLst>
              <a:ext uri="{FF2B5EF4-FFF2-40B4-BE49-F238E27FC236}">
                <a16:creationId xmlns:a16="http://schemas.microsoft.com/office/drawing/2014/main" id="{D537E28F-805F-BFDC-26A8-C711CA7582E2}"/>
              </a:ext>
            </a:extLst>
          </p:cNvPr>
          <p:cNvSpPr txBox="1"/>
          <p:nvPr/>
        </p:nvSpPr>
        <p:spPr>
          <a:xfrm>
            <a:off x="5934377" y="2576023"/>
            <a:ext cx="2193896"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100" b="1" u="sng" noProof="0">
                <a:solidFill>
                  <a:schemeClr val="tx2"/>
                </a:solidFill>
              </a:rPr>
              <a:t>Path 2</a:t>
            </a:r>
            <a:r>
              <a:rPr lang="en-CA" sz="1100" b="1" noProof="0">
                <a:solidFill>
                  <a:schemeClr val="bg2">
                    <a:lumMod val="10000"/>
                  </a:schemeClr>
                </a:solidFill>
              </a:rPr>
              <a:t>: Operational Data</a:t>
            </a:r>
          </a:p>
        </p:txBody>
      </p:sp>
      <p:sp>
        <p:nvSpPr>
          <p:cNvPr id="4104" name="Rectangle 4103">
            <a:extLst>
              <a:ext uri="{FF2B5EF4-FFF2-40B4-BE49-F238E27FC236}">
                <a16:creationId xmlns:a16="http://schemas.microsoft.com/office/drawing/2014/main" id="{478EAB5A-8667-C582-EBF1-52E3D1C0642B}"/>
              </a:ext>
            </a:extLst>
          </p:cNvPr>
          <p:cNvSpPr/>
          <p:nvPr/>
        </p:nvSpPr>
        <p:spPr>
          <a:xfrm>
            <a:off x="6587243" y="2858230"/>
            <a:ext cx="900000" cy="1116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4107" name="TextBox 4106">
            <a:extLst>
              <a:ext uri="{FF2B5EF4-FFF2-40B4-BE49-F238E27FC236}">
                <a16:creationId xmlns:a16="http://schemas.microsoft.com/office/drawing/2014/main" id="{B637678B-792A-C0BD-6D4A-D1830A8E21C5}"/>
              </a:ext>
            </a:extLst>
          </p:cNvPr>
          <p:cNvSpPr txBox="1"/>
          <p:nvPr/>
        </p:nvSpPr>
        <p:spPr>
          <a:xfrm>
            <a:off x="6587243" y="2858833"/>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Standardized Data storage</a:t>
            </a:r>
          </a:p>
        </p:txBody>
      </p:sp>
      <p:grpSp>
        <p:nvGrpSpPr>
          <p:cNvPr id="4105" name="Group 156">
            <a:extLst>
              <a:ext uri="{FF2B5EF4-FFF2-40B4-BE49-F238E27FC236}">
                <a16:creationId xmlns:a16="http://schemas.microsoft.com/office/drawing/2014/main" id="{EF0A0AC4-6C25-DC1D-61F7-B1135600A14E}"/>
              </a:ext>
            </a:extLst>
          </p:cNvPr>
          <p:cNvGrpSpPr>
            <a:grpSpLocks noChangeAspect="1"/>
          </p:cNvGrpSpPr>
          <p:nvPr/>
        </p:nvGrpSpPr>
        <p:grpSpPr bwMode="auto">
          <a:xfrm>
            <a:off x="6928987" y="3694370"/>
            <a:ext cx="216513" cy="216000"/>
            <a:chOff x="1373" y="1718"/>
            <a:chExt cx="427" cy="426"/>
          </a:xfrm>
          <a:solidFill>
            <a:srgbClr val="C0C0C0"/>
          </a:solidFill>
        </p:grpSpPr>
        <p:sp>
          <p:nvSpPr>
            <p:cNvPr id="4111" name="Freeform 157">
              <a:extLst>
                <a:ext uri="{FF2B5EF4-FFF2-40B4-BE49-F238E27FC236}">
                  <a16:creationId xmlns:a16="http://schemas.microsoft.com/office/drawing/2014/main" id="{EF180B8B-3F22-2B31-AB79-DC15C780B13D}"/>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2" name="Freeform 158">
              <a:extLst>
                <a:ext uri="{FF2B5EF4-FFF2-40B4-BE49-F238E27FC236}">
                  <a16:creationId xmlns:a16="http://schemas.microsoft.com/office/drawing/2014/main" id="{7B7644C7-EFF1-8C45-240A-63C557265786}"/>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3" name="Freeform 159">
              <a:extLst>
                <a:ext uri="{FF2B5EF4-FFF2-40B4-BE49-F238E27FC236}">
                  <a16:creationId xmlns:a16="http://schemas.microsoft.com/office/drawing/2014/main" id="{36D71F22-3B05-3AA0-CE7F-E69A7FC4BD24}"/>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5" name="Freeform 160">
              <a:extLst>
                <a:ext uri="{FF2B5EF4-FFF2-40B4-BE49-F238E27FC236}">
                  <a16:creationId xmlns:a16="http://schemas.microsoft.com/office/drawing/2014/main" id="{926804EB-580B-5344-D2FC-C10CC91D69E9}"/>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6" name="Freeform 161">
              <a:extLst>
                <a:ext uri="{FF2B5EF4-FFF2-40B4-BE49-F238E27FC236}">
                  <a16:creationId xmlns:a16="http://schemas.microsoft.com/office/drawing/2014/main" id="{021CCB1C-12AA-A766-CE6C-B6A5181FB31E}"/>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7" name="Freeform 162">
              <a:extLst>
                <a:ext uri="{FF2B5EF4-FFF2-40B4-BE49-F238E27FC236}">
                  <a16:creationId xmlns:a16="http://schemas.microsoft.com/office/drawing/2014/main" id="{1BBC704E-55F1-DB2E-B372-BEE404956FE4}"/>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8" name="Freeform 163">
              <a:extLst>
                <a:ext uri="{FF2B5EF4-FFF2-40B4-BE49-F238E27FC236}">
                  <a16:creationId xmlns:a16="http://schemas.microsoft.com/office/drawing/2014/main" id="{3AC356C5-F792-1866-AB81-F2DE1FF1343A}"/>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cxnSp>
        <p:nvCxnSpPr>
          <p:cNvPr id="4110" name="Straight Connector 4109">
            <a:extLst>
              <a:ext uri="{FF2B5EF4-FFF2-40B4-BE49-F238E27FC236}">
                <a16:creationId xmlns:a16="http://schemas.microsoft.com/office/drawing/2014/main" id="{01970A91-CF59-98FB-BD0D-016F3533C4B3}"/>
              </a:ext>
            </a:extLst>
          </p:cNvPr>
          <p:cNvCxnSpPr>
            <a:cxnSpLocks/>
          </p:cNvCxnSpPr>
          <p:nvPr/>
        </p:nvCxnSpPr>
        <p:spPr>
          <a:xfrm flipV="1">
            <a:off x="6677243" y="329269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36" name="Rectangle 235">
            <a:extLst>
              <a:ext uri="{FF2B5EF4-FFF2-40B4-BE49-F238E27FC236}">
                <a16:creationId xmlns:a16="http://schemas.microsoft.com/office/drawing/2014/main" id="{1B541942-E383-ACDE-387C-CBA2838E960D}"/>
              </a:ext>
            </a:extLst>
          </p:cNvPr>
          <p:cNvSpPr/>
          <p:nvPr/>
        </p:nvSpPr>
        <p:spPr>
          <a:xfrm>
            <a:off x="5338230" y="2858230"/>
            <a:ext cx="900000" cy="1116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239" name="TextBox 238">
            <a:extLst>
              <a:ext uri="{FF2B5EF4-FFF2-40B4-BE49-F238E27FC236}">
                <a16:creationId xmlns:a16="http://schemas.microsoft.com/office/drawing/2014/main" id="{9047A152-374A-8928-F243-E79DBBF3FE3A}"/>
              </a:ext>
            </a:extLst>
          </p:cNvPr>
          <p:cNvSpPr txBox="1"/>
          <p:nvPr/>
        </p:nvSpPr>
        <p:spPr>
          <a:xfrm>
            <a:off x="5338230" y="2858833"/>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Operational Data Store (ODS)</a:t>
            </a:r>
          </a:p>
        </p:txBody>
      </p:sp>
      <p:cxnSp>
        <p:nvCxnSpPr>
          <p:cNvPr id="237" name="Straight Connector 236">
            <a:extLst>
              <a:ext uri="{FF2B5EF4-FFF2-40B4-BE49-F238E27FC236}">
                <a16:creationId xmlns:a16="http://schemas.microsoft.com/office/drawing/2014/main" id="{4C29E301-D085-C1E5-8E71-DC9D121FD48F}"/>
              </a:ext>
            </a:extLst>
          </p:cNvPr>
          <p:cNvCxnSpPr>
            <a:cxnSpLocks/>
          </p:cNvCxnSpPr>
          <p:nvPr/>
        </p:nvCxnSpPr>
        <p:spPr>
          <a:xfrm flipV="1">
            <a:off x="5428230" y="329269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41" name="Freeform 157">
            <a:extLst>
              <a:ext uri="{FF2B5EF4-FFF2-40B4-BE49-F238E27FC236}">
                <a16:creationId xmlns:a16="http://schemas.microsoft.com/office/drawing/2014/main" id="{B45085D5-8FEC-DE96-C188-7C84BD833F34}"/>
              </a:ext>
            </a:extLst>
          </p:cNvPr>
          <p:cNvSpPr>
            <a:spLocks noEditPoints="1"/>
          </p:cNvSpPr>
          <p:nvPr/>
        </p:nvSpPr>
        <p:spPr bwMode="auto">
          <a:xfrm>
            <a:off x="5779357" y="3793243"/>
            <a:ext cx="117130" cy="117127"/>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2" name="Freeform 158">
            <a:extLst>
              <a:ext uri="{FF2B5EF4-FFF2-40B4-BE49-F238E27FC236}">
                <a16:creationId xmlns:a16="http://schemas.microsoft.com/office/drawing/2014/main" id="{17BECED4-72DC-36BC-97B1-271F021E72EA}"/>
              </a:ext>
            </a:extLst>
          </p:cNvPr>
          <p:cNvSpPr>
            <a:spLocks/>
          </p:cNvSpPr>
          <p:nvPr/>
        </p:nvSpPr>
        <p:spPr bwMode="auto">
          <a:xfrm>
            <a:off x="5805724" y="3833300"/>
            <a:ext cx="64396" cy="44113"/>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3" name="Freeform 159">
            <a:extLst>
              <a:ext uri="{FF2B5EF4-FFF2-40B4-BE49-F238E27FC236}">
                <a16:creationId xmlns:a16="http://schemas.microsoft.com/office/drawing/2014/main" id="{7F053082-B1A9-A494-571C-84884A862FD1}"/>
              </a:ext>
            </a:extLst>
          </p:cNvPr>
          <p:cNvSpPr>
            <a:spLocks noEditPoints="1"/>
          </p:cNvSpPr>
          <p:nvPr/>
        </p:nvSpPr>
        <p:spPr bwMode="auto">
          <a:xfrm>
            <a:off x="5679974" y="3694370"/>
            <a:ext cx="180512" cy="81127"/>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4" name="Freeform 160">
            <a:extLst>
              <a:ext uri="{FF2B5EF4-FFF2-40B4-BE49-F238E27FC236}">
                <a16:creationId xmlns:a16="http://schemas.microsoft.com/office/drawing/2014/main" id="{2B669ACF-857B-20FC-0794-1C4F62CFAB2F}"/>
              </a:ext>
            </a:extLst>
          </p:cNvPr>
          <p:cNvSpPr>
            <a:spLocks/>
          </p:cNvSpPr>
          <p:nvPr/>
        </p:nvSpPr>
        <p:spPr bwMode="auto">
          <a:xfrm>
            <a:off x="5679974" y="3766370"/>
            <a:ext cx="94820" cy="45127"/>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5" name="Freeform 161">
            <a:extLst>
              <a:ext uri="{FF2B5EF4-FFF2-40B4-BE49-F238E27FC236}">
                <a16:creationId xmlns:a16="http://schemas.microsoft.com/office/drawing/2014/main" id="{02FF1882-A189-6C98-F200-36B2A7761E6C}"/>
              </a:ext>
            </a:extLst>
          </p:cNvPr>
          <p:cNvSpPr>
            <a:spLocks/>
          </p:cNvSpPr>
          <p:nvPr/>
        </p:nvSpPr>
        <p:spPr bwMode="auto">
          <a:xfrm>
            <a:off x="5679974" y="3806933"/>
            <a:ext cx="81129" cy="44113"/>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6" name="Freeform 162">
            <a:extLst>
              <a:ext uri="{FF2B5EF4-FFF2-40B4-BE49-F238E27FC236}">
                <a16:creationId xmlns:a16="http://schemas.microsoft.com/office/drawing/2014/main" id="{09203B1A-79F6-BCE4-6881-C898C4D34A5D}"/>
              </a:ext>
            </a:extLst>
          </p:cNvPr>
          <p:cNvSpPr>
            <a:spLocks/>
          </p:cNvSpPr>
          <p:nvPr/>
        </p:nvSpPr>
        <p:spPr bwMode="auto">
          <a:xfrm>
            <a:off x="5679974" y="3730370"/>
            <a:ext cx="85692" cy="161239"/>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7" name="Freeform 163">
            <a:extLst>
              <a:ext uri="{FF2B5EF4-FFF2-40B4-BE49-F238E27FC236}">
                <a16:creationId xmlns:a16="http://schemas.microsoft.com/office/drawing/2014/main" id="{841B1B26-F6B9-39E6-D654-298A85F7F772}"/>
              </a:ext>
            </a:extLst>
          </p:cNvPr>
          <p:cNvSpPr>
            <a:spLocks/>
          </p:cNvSpPr>
          <p:nvPr/>
        </p:nvSpPr>
        <p:spPr bwMode="auto">
          <a:xfrm>
            <a:off x="5851359" y="3730370"/>
            <a:ext cx="9127" cy="49690"/>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15" name="Rectangle 214">
            <a:extLst>
              <a:ext uri="{FF2B5EF4-FFF2-40B4-BE49-F238E27FC236}">
                <a16:creationId xmlns:a16="http://schemas.microsoft.com/office/drawing/2014/main" id="{DEE88D37-AE19-91CF-3357-80C7E6B201D8}"/>
              </a:ext>
            </a:extLst>
          </p:cNvPr>
          <p:cNvSpPr/>
          <p:nvPr/>
        </p:nvSpPr>
        <p:spPr>
          <a:xfrm>
            <a:off x="7830770" y="2858230"/>
            <a:ext cx="900000" cy="1116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216" name="TextBox 215">
            <a:extLst>
              <a:ext uri="{FF2B5EF4-FFF2-40B4-BE49-F238E27FC236}">
                <a16:creationId xmlns:a16="http://schemas.microsoft.com/office/drawing/2014/main" id="{C52D41FA-5EC7-2A0B-EB2F-3B41BBBE9C28}"/>
              </a:ext>
            </a:extLst>
          </p:cNvPr>
          <p:cNvSpPr txBox="1"/>
          <p:nvPr/>
        </p:nvSpPr>
        <p:spPr>
          <a:xfrm>
            <a:off x="7830770" y="2858230"/>
            <a:ext cx="900000"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Curated Operational Storage</a:t>
            </a:r>
          </a:p>
        </p:txBody>
      </p:sp>
      <p:cxnSp>
        <p:nvCxnSpPr>
          <p:cNvPr id="218" name="Straight Connector 217">
            <a:extLst>
              <a:ext uri="{FF2B5EF4-FFF2-40B4-BE49-F238E27FC236}">
                <a16:creationId xmlns:a16="http://schemas.microsoft.com/office/drawing/2014/main" id="{C370AFDA-6DBC-0914-94B7-8A7096ADD456}"/>
              </a:ext>
            </a:extLst>
          </p:cNvPr>
          <p:cNvCxnSpPr>
            <a:cxnSpLocks/>
          </p:cNvCxnSpPr>
          <p:nvPr/>
        </p:nvCxnSpPr>
        <p:spPr>
          <a:xfrm flipV="1">
            <a:off x="7920770" y="329269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219" name="Group 218">
            <a:extLst>
              <a:ext uri="{FF2B5EF4-FFF2-40B4-BE49-F238E27FC236}">
                <a16:creationId xmlns:a16="http://schemas.microsoft.com/office/drawing/2014/main" id="{544D274C-9783-C59A-DC47-D630B0000ABB}"/>
              </a:ext>
            </a:extLst>
          </p:cNvPr>
          <p:cNvGrpSpPr/>
          <p:nvPr/>
        </p:nvGrpSpPr>
        <p:grpSpPr>
          <a:xfrm>
            <a:off x="7909772" y="3743617"/>
            <a:ext cx="741996" cy="180000"/>
            <a:chOff x="5696206" y="3021971"/>
            <a:chExt cx="741996" cy="180000"/>
          </a:xfrm>
        </p:grpSpPr>
        <p:sp>
          <p:nvSpPr>
            <p:cNvPr id="220" name="Hexagon 219">
              <a:extLst>
                <a:ext uri="{FF2B5EF4-FFF2-40B4-BE49-F238E27FC236}">
                  <a16:creationId xmlns:a16="http://schemas.microsoft.com/office/drawing/2014/main" id="{51A33889-9E9D-AA2B-CB40-9FBA38D5D7E5}"/>
                </a:ext>
              </a:extLst>
            </p:cNvPr>
            <p:cNvSpPr>
              <a:spLocks noChangeAspect="1"/>
            </p:cNvSpPr>
            <p:nvPr/>
          </p:nvSpPr>
          <p:spPr>
            <a:xfrm rot="5400000">
              <a:off x="5703538"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221" name="Hexagon 220">
              <a:extLst>
                <a:ext uri="{FF2B5EF4-FFF2-40B4-BE49-F238E27FC236}">
                  <a16:creationId xmlns:a16="http://schemas.microsoft.com/office/drawing/2014/main" id="{14392789-88D9-6B1E-DABE-307602307DBA}"/>
                </a:ext>
              </a:extLst>
            </p:cNvPr>
            <p:cNvSpPr>
              <a:spLocks noChangeAspect="1"/>
            </p:cNvSpPr>
            <p:nvPr/>
          </p:nvSpPr>
          <p:spPr>
            <a:xfrm rot="5400000">
              <a:off x="5977204"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222" name="Hexagon 221">
              <a:extLst>
                <a:ext uri="{FF2B5EF4-FFF2-40B4-BE49-F238E27FC236}">
                  <a16:creationId xmlns:a16="http://schemas.microsoft.com/office/drawing/2014/main" id="{5D458DF7-E700-4C94-AE00-FDA93DB5EB39}"/>
                </a:ext>
              </a:extLst>
            </p:cNvPr>
            <p:cNvSpPr>
              <a:spLocks noChangeAspect="1"/>
            </p:cNvSpPr>
            <p:nvPr/>
          </p:nvSpPr>
          <p:spPr>
            <a:xfrm rot="5400000">
              <a:off x="6250870"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grpSp>
      <p:sp>
        <p:nvSpPr>
          <p:cNvPr id="252" name="Rectangle: Rounded Corners 251">
            <a:extLst>
              <a:ext uri="{FF2B5EF4-FFF2-40B4-BE49-F238E27FC236}">
                <a16:creationId xmlns:a16="http://schemas.microsoft.com/office/drawing/2014/main" id="{3FC275AE-D34F-719F-CC38-1455BA5BA2B1}"/>
              </a:ext>
            </a:extLst>
          </p:cNvPr>
          <p:cNvSpPr/>
          <p:nvPr/>
        </p:nvSpPr>
        <p:spPr>
          <a:xfrm>
            <a:off x="5159325" y="4115070"/>
            <a:ext cx="3744000" cy="1332000"/>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CA" noProof="0"/>
          </a:p>
        </p:txBody>
      </p:sp>
      <p:sp>
        <p:nvSpPr>
          <p:cNvPr id="253" name="TextBox 252">
            <a:extLst>
              <a:ext uri="{FF2B5EF4-FFF2-40B4-BE49-F238E27FC236}">
                <a16:creationId xmlns:a16="http://schemas.microsoft.com/office/drawing/2014/main" id="{02F87A6F-99A9-F0B3-5BAC-1B57F0C61F7C}"/>
              </a:ext>
            </a:extLst>
          </p:cNvPr>
          <p:cNvSpPr txBox="1"/>
          <p:nvPr/>
        </p:nvSpPr>
        <p:spPr>
          <a:xfrm>
            <a:off x="5894307" y="4115070"/>
            <a:ext cx="2274036"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100" b="1" u="sng" noProof="0">
                <a:solidFill>
                  <a:schemeClr val="tx2"/>
                </a:solidFill>
              </a:rPr>
              <a:t>Path 3</a:t>
            </a:r>
            <a:r>
              <a:rPr lang="en-CA" sz="1100" b="1" noProof="0">
                <a:solidFill>
                  <a:schemeClr val="bg2">
                    <a:lumMod val="10000"/>
                  </a:schemeClr>
                </a:solidFill>
              </a:rPr>
              <a:t>: AI-Ready Data</a:t>
            </a:r>
          </a:p>
        </p:txBody>
      </p:sp>
      <p:sp>
        <p:nvSpPr>
          <p:cNvPr id="717" name="Rectangle 716">
            <a:extLst>
              <a:ext uri="{FF2B5EF4-FFF2-40B4-BE49-F238E27FC236}">
                <a16:creationId xmlns:a16="http://schemas.microsoft.com/office/drawing/2014/main" id="{B9D8BAB7-739C-AF28-F740-287539127CF5}"/>
              </a:ext>
            </a:extLst>
          </p:cNvPr>
          <p:cNvSpPr/>
          <p:nvPr/>
        </p:nvSpPr>
        <p:spPr>
          <a:xfrm>
            <a:off x="6587243" y="4399883"/>
            <a:ext cx="900000" cy="1008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grpSp>
        <p:nvGrpSpPr>
          <p:cNvPr id="718" name="Group 156">
            <a:extLst>
              <a:ext uri="{FF2B5EF4-FFF2-40B4-BE49-F238E27FC236}">
                <a16:creationId xmlns:a16="http://schemas.microsoft.com/office/drawing/2014/main" id="{B4BD3C94-ED07-9ECA-346A-70620DBBD9B7}"/>
              </a:ext>
            </a:extLst>
          </p:cNvPr>
          <p:cNvGrpSpPr>
            <a:grpSpLocks noChangeAspect="1"/>
          </p:cNvGrpSpPr>
          <p:nvPr/>
        </p:nvGrpSpPr>
        <p:grpSpPr bwMode="auto">
          <a:xfrm>
            <a:off x="6928987" y="5126482"/>
            <a:ext cx="216513" cy="216000"/>
            <a:chOff x="1373" y="1718"/>
            <a:chExt cx="427" cy="426"/>
          </a:xfrm>
          <a:solidFill>
            <a:srgbClr val="C0C0C0"/>
          </a:solidFill>
        </p:grpSpPr>
        <p:sp>
          <p:nvSpPr>
            <p:cNvPr id="722" name="Freeform 157">
              <a:extLst>
                <a:ext uri="{FF2B5EF4-FFF2-40B4-BE49-F238E27FC236}">
                  <a16:creationId xmlns:a16="http://schemas.microsoft.com/office/drawing/2014/main" id="{78DD01B9-FD54-A3CD-B4BE-D2CB06B85A75}"/>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3" name="Freeform 158">
              <a:extLst>
                <a:ext uri="{FF2B5EF4-FFF2-40B4-BE49-F238E27FC236}">
                  <a16:creationId xmlns:a16="http://schemas.microsoft.com/office/drawing/2014/main" id="{0CFB8DDD-C559-379E-24FE-3A04DD8FE730}"/>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4" name="Freeform 159">
              <a:extLst>
                <a:ext uri="{FF2B5EF4-FFF2-40B4-BE49-F238E27FC236}">
                  <a16:creationId xmlns:a16="http://schemas.microsoft.com/office/drawing/2014/main" id="{AECBEF51-08AA-AABC-A831-B2674240713C}"/>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5" name="Freeform 160">
              <a:extLst>
                <a:ext uri="{FF2B5EF4-FFF2-40B4-BE49-F238E27FC236}">
                  <a16:creationId xmlns:a16="http://schemas.microsoft.com/office/drawing/2014/main" id="{B6C7A1E8-BD21-BFF5-154C-1EACDC46B895}"/>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6" name="Freeform 161">
              <a:extLst>
                <a:ext uri="{FF2B5EF4-FFF2-40B4-BE49-F238E27FC236}">
                  <a16:creationId xmlns:a16="http://schemas.microsoft.com/office/drawing/2014/main" id="{0973191D-7BB2-8673-A2E5-4E5765C919EF}"/>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7" name="Freeform 162">
              <a:extLst>
                <a:ext uri="{FF2B5EF4-FFF2-40B4-BE49-F238E27FC236}">
                  <a16:creationId xmlns:a16="http://schemas.microsoft.com/office/drawing/2014/main" id="{545EA875-6E83-818F-0951-17ACC6E29ADD}"/>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8" name="Freeform 163">
              <a:extLst>
                <a:ext uri="{FF2B5EF4-FFF2-40B4-BE49-F238E27FC236}">
                  <a16:creationId xmlns:a16="http://schemas.microsoft.com/office/drawing/2014/main" id="{8718D82E-BAC4-B11A-D2FB-A9372EF48AF0}"/>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719" name="TextBox 718">
            <a:extLst>
              <a:ext uri="{FF2B5EF4-FFF2-40B4-BE49-F238E27FC236}">
                <a16:creationId xmlns:a16="http://schemas.microsoft.com/office/drawing/2014/main" id="{3629FF74-5D4F-1C92-2AD3-E4AE3A28E454}"/>
              </a:ext>
            </a:extLst>
          </p:cNvPr>
          <p:cNvSpPr txBox="1"/>
          <p:nvPr/>
        </p:nvSpPr>
        <p:spPr>
          <a:xfrm>
            <a:off x="6587243" y="4400486"/>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Standardized Data storage</a:t>
            </a:r>
          </a:p>
        </p:txBody>
      </p:sp>
      <p:cxnSp>
        <p:nvCxnSpPr>
          <p:cNvPr id="721" name="Straight Connector 720">
            <a:extLst>
              <a:ext uri="{FF2B5EF4-FFF2-40B4-BE49-F238E27FC236}">
                <a16:creationId xmlns:a16="http://schemas.microsoft.com/office/drawing/2014/main" id="{B3B5B22E-9177-5F2D-837B-EAE320573C1F}"/>
              </a:ext>
            </a:extLst>
          </p:cNvPr>
          <p:cNvCxnSpPr>
            <a:cxnSpLocks/>
          </p:cNvCxnSpPr>
          <p:nvPr/>
        </p:nvCxnSpPr>
        <p:spPr>
          <a:xfrm flipV="1">
            <a:off x="6677243" y="4718807"/>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729" name="Rectangle 728">
            <a:extLst>
              <a:ext uri="{FF2B5EF4-FFF2-40B4-BE49-F238E27FC236}">
                <a16:creationId xmlns:a16="http://schemas.microsoft.com/office/drawing/2014/main" id="{44074D21-6300-D682-60B7-46BE728F67FB}"/>
              </a:ext>
            </a:extLst>
          </p:cNvPr>
          <p:cNvSpPr/>
          <p:nvPr/>
        </p:nvSpPr>
        <p:spPr>
          <a:xfrm>
            <a:off x="5353440" y="4399883"/>
            <a:ext cx="900000" cy="1008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cxnSp>
        <p:nvCxnSpPr>
          <p:cNvPr id="730" name="Straight Connector 729">
            <a:extLst>
              <a:ext uri="{FF2B5EF4-FFF2-40B4-BE49-F238E27FC236}">
                <a16:creationId xmlns:a16="http://schemas.microsoft.com/office/drawing/2014/main" id="{ECC7E98B-EA09-3642-F49F-C57658403475}"/>
              </a:ext>
            </a:extLst>
          </p:cNvPr>
          <p:cNvCxnSpPr>
            <a:cxnSpLocks/>
          </p:cNvCxnSpPr>
          <p:nvPr/>
        </p:nvCxnSpPr>
        <p:spPr>
          <a:xfrm flipV="1">
            <a:off x="5443440" y="4718807"/>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731" name="Group 156">
            <a:extLst>
              <a:ext uri="{FF2B5EF4-FFF2-40B4-BE49-F238E27FC236}">
                <a16:creationId xmlns:a16="http://schemas.microsoft.com/office/drawing/2014/main" id="{143BBD1C-9A01-FFDF-55B9-9C43C17C309E}"/>
              </a:ext>
            </a:extLst>
          </p:cNvPr>
          <p:cNvGrpSpPr>
            <a:grpSpLocks noChangeAspect="1"/>
          </p:cNvGrpSpPr>
          <p:nvPr/>
        </p:nvGrpSpPr>
        <p:grpSpPr bwMode="auto">
          <a:xfrm>
            <a:off x="5695184" y="5126482"/>
            <a:ext cx="216513" cy="216000"/>
            <a:chOff x="1373" y="1718"/>
            <a:chExt cx="427" cy="426"/>
          </a:xfrm>
          <a:solidFill>
            <a:srgbClr val="A97142"/>
          </a:solidFill>
        </p:grpSpPr>
        <p:sp>
          <p:nvSpPr>
            <p:cNvPr id="734" name="Freeform 157">
              <a:extLst>
                <a:ext uri="{FF2B5EF4-FFF2-40B4-BE49-F238E27FC236}">
                  <a16:creationId xmlns:a16="http://schemas.microsoft.com/office/drawing/2014/main" id="{621A2DBE-B05A-E21B-FCDF-8AC733BA3125}"/>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35" name="Freeform 158">
              <a:extLst>
                <a:ext uri="{FF2B5EF4-FFF2-40B4-BE49-F238E27FC236}">
                  <a16:creationId xmlns:a16="http://schemas.microsoft.com/office/drawing/2014/main" id="{17DEB02D-5FB1-8D11-49CE-5613986DC589}"/>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1" name="Freeform 159">
              <a:extLst>
                <a:ext uri="{FF2B5EF4-FFF2-40B4-BE49-F238E27FC236}">
                  <a16:creationId xmlns:a16="http://schemas.microsoft.com/office/drawing/2014/main" id="{5D863FD2-7269-9FF5-1F17-98372FDA4AE1}"/>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2" name="Freeform 160">
              <a:extLst>
                <a:ext uri="{FF2B5EF4-FFF2-40B4-BE49-F238E27FC236}">
                  <a16:creationId xmlns:a16="http://schemas.microsoft.com/office/drawing/2014/main" id="{E33FCAB8-7120-AB64-2D0F-69F47C33C9DD}"/>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3" name="Freeform 161">
              <a:extLst>
                <a:ext uri="{FF2B5EF4-FFF2-40B4-BE49-F238E27FC236}">
                  <a16:creationId xmlns:a16="http://schemas.microsoft.com/office/drawing/2014/main" id="{16C05488-7C47-FC71-85F4-DB613E584C2B}"/>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65" name="Freeform 162">
              <a:extLst>
                <a:ext uri="{FF2B5EF4-FFF2-40B4-BE49-F238E27FC236}">
                  <a16:creationId xmlns:a16="http://schemas.microsoft.com/office/drawing/2014/main" id="{6256F294-EFEA-6D89-BE13-329263EFAE13}"/>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66" name="Freeform 163">
              <a:extLst>
                <a:ext uri="{FF2B5EF4-FFF2-40B4-BE49-F238E27FC236}">
                  <a16:creationId xmlns:a16="http://schemas.microsoft.com/office/drawing/2014/main" id="{670756ED-4A1F-66CB-2FE5-E76B0DB38315}"/>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732" name="TextBox 731">
            <a:extLst>
              <a:ext uri="{FF2B5EF4-FFF2-40B4-BE49-F238E27FC236}">
                <a16:creationId xmlns:a16="http://schemas.microsoft.com/office/drawing/2014/main" id="{1AF8179B-0F41-88A9-009A-D55E22917707}"/>
              </a:ext>
            </a:extLst>
          </p:cNvPr>
          <p:cNvSpPr txBox="1"/>
          <p:nvPr/>
        </p:nvSpPr>
        <p:spPr>
          <a:xfrm>
            <a:off x="5353440" y="4400486"/>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Raw Data storage</a:t>
            </a:r>
          </a:p>
        </p:txBody>
      </p:sp>
      <p:sp>
        <p:nvSpPr>
          <p:cNvPr id="708" name="Rectangle 707">
            <a:extLst>
              <a:ext uri="{FF2B5EF4-FFF2-40B4-BE49-F238E27FC236}">
                <a16:creationId xmlns:a16="http://schemas.microsoft.com/office/drawing/2014/main" id="{CC2AAEF5-29F3-9CB1-E3DA-3FD8E2D7004E}"/>
              </a:ext>
            </a:extLst>
          </p:cNvPr>
          <p:cNvSpPr/>
          <p:nvPr/>
        </p:nvSpPr>
        <p:spPr>
          <a:xfrm>
            <a:off x="7833894" y="4400254"/>
            <a:ext cx="900000" cy="1008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709" name="TextBox 708">
            <a:extLst>
              <a:ext uri="{FF2B5EF4-FFF2-40B4-BE49-F238E27FC236}">
                <a16:creationId xmlns:a16="http://schemas.microsoft.com/office/drawing/2014/main" id="{71E2BE31-CD74-92CF-15FF-29C916C9A804}"/>
              </a:ext>
            </a:extLst>
          </p:cNvPr>
          <p:cNvSpPr txBox="1"/>
          <p:nvPr/>
        </p:nvSpPr>
        <p:spPr>
          <a:xfrm>
            <a:off x="7833894" y="4399883"/>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Curated Data Storage</a:t>
            </a:r>
          </a:p>
        </p:txBody>
      </p:sp>
      <p:cxnSp>
        <p:nvCxnSpPr>
          <p:cNvPr id="711" name="Straight Connector 710">
            <a:extLst>
              <a:ext uri="{FF2B5EF4-FFF2-40B4-BE49-F238E27FC236}">
                <a16:creationId xmlns:a16="http://schemas.microsoft.com/office/drawing/2014/main" id="{7BFC8641-FA19-B984-9380-153A00E73CCD}"/>
              </a:ext>
            </a:extLst>
          </p:cNvPr>
          <p:cNvCxnSpPr>
            <a:cxnSpLocks/>
          </p:cNvCxnSpPr>
          <p:nvPr/>
        </p:nvCxnSpPr>
        <p:spPr>
          <a:xfrm flipV="1">
            <a:off x="7923894" y="4718807"/>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4149" name="Group 4148">
            <a:extLst>
              <a:ext uri="{FF2B5EF4-FFF2-40B4-BE49-F238E27FC236}">
                <a16:creationId xmlns:a16="http://schemas.microsoft.com/office/drawing/2014/main" id="{652A6B9F-015A-F32A-F43C-E981BA5AADBD}"/>
              </a:ext>
            </a:extLst>
          </p:cNvPr>
          <p:cNvGrpSpPr/>
          <p:nvPr/>
        </p:nvGrpSpPr>
        <p:grpSpPr>
          <a:xfrm>
            <a:off x="7909298" y="5199586"/>
            <a:ext cx="741996" cy="180000"/>
            <a:chOff x="6451973" y="5199586"/>
            <a:chExt cx="741996" cy="180000"/>
          </a:xfrm>
        </p:grpSpPr>
        <p:sp>
          <p:nvSpPr>
            <p:cNvPr id="713" name="Hexagon 712">
              <a:extLst>
                <a:ext uri="{FF2B5EF4-FFF2-40B4-BE49-F238E27FC236}">
                  <a16:creationId xmlns:a16="http://schemas.microsoft.com/office/drawing/2014/main" id="{A3955035-7B3C-26BB-CBCD-C42B09D39AD4}"/>
                </a:ext>
              </a:extLst>
            </p:cNvPr>
            <p:cNvSpPr>
              <a:spLocks noChangeAspect="1"/>
            </p:cNvSpPr>
            <p:nvPr/>
          </p:nvSpPr>
          <p:spPr>
            <a:xfrm rot="5400000">
              <a:off x="6459305" y="5192254"/>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714" name="Hexagon 713">
              <a:extLst>
                <a:ext uri="{FF2B5EF4-FFF2-40B4-BE49-F238E27FC236}">
                  <a16:creationId xmlns:a16="http://schemas.microsoft.com/office/drawing/2014/main" id="{3248C950-FA41-847E-9411-E7838FE607BF}"/>
                </a:ext>
              </a:extLst>
            </p:cNvPr>
            <p:cNvSpPr>
              <a:spLocks noChangeAspect="1"/>
            </p:cNvSpPr>
            <p:nvPr/>
          </p:nvSpPr>
          <p:spPr>
            <a:xfrm rot="5400000">
              <a:off x="6732971" y="5192254"/>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715" name="Hexagon 714">
              <a:extLst>
                <a:ext uri="{FF2B5EF4-FFF2-40B4-BE49-F238E27FC236}">
                  <a16:creationId xmlns:a16="http://schemas.microsoft.com/office/drawing/2014/main" id="{22ABDE40-64D0-FD94-8657-26845953011C}"/>
                </a:ext>
              </a:extLst>
            </p:cNvPr>
            <p:cNvSpPr>
              <a:spLocks noChangeAspect="1"/>
            </p:cNvSpPr>
            <p:nvPr/>
          </p:nvSpPr>
          <p:spPr>
            <a:xfrm rot="5400000">
              <a:off x="7006637" y="5192254"/>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grpSp>
      <p:cxnSp>
        <p:nvCxnSpPr>
          <p:cNvPr id="24" name="Straight Arrow Connector 23">
            <a:extLst>
              <a:ext uri="{FF2B5EF4-FFF2-40B4-BE49-F238E27FC236}">
                <a16:creationId xmlns:a16="http://schemas.microsoft.com/office/drawing/2014/main" id="{6FBD5332-437F-ECA1-CCC8-D319CB8E1BC2}"/>
              </a:ext>
            </a:extLst>
          </p:cNvPr>
          <p:cNvCxnSpPr>
            <a:cxnSpLocks/>
            <a:stCxn id="746" idx="3"/>
            <a:endCxn id="761" idx="1"/>
          </p:cNvCxnSpPr>
          <p:nvPr/>
        </p:nvCxnSpPr>
        <p:spPr>
          <a:xfrm>
            <a:off x="6243717" y="1932241"/>
            <a:ext cx="343526"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818147E-1043-63AC-6C28-A57DCD079D79}"/>
              </a:ext>
            </a:extLst>
          </p:cNvPr>
          <p:cNvCxnSpPr>
            <a:cxnSpLocks/>
            <a:stCxn id="761" idx="3"/>
            <a:endCxn id="736" idx="1"/>
          </p:cNvCxnSpPr>
          <p:nvPr/>
        </p:nvCxnSpPr>
        <p:spPr>
          <a:xfrm>
            <a:off x="7487243" y="1932241"/>
            <a:ext cx="343527"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894A588-929F-0751-D510-16903FF950C6}"/>
              </a:ext>
            </a:extLst>
          </p:cNvPr>
          <p:cNvCxnSpPr>
            <a:cxnSpLocks/>
            <a:stCxn id="236" idx="3"/>
            <a:endCxn id="4104" idx="1"/>
          </p:cNvCxnSpPr>
          <p:nvPr/>
        </p:nvCxnSpPr>
        <p:spPr>
          <a:xfrm>
            <a:off x="6238230" y="3416230"/>
            <a:ext cx="349013" cy="0"/>
          </a:xfrm>
          <a:prstGeom prst="straightConnector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A87E16-FEAE-A624-8967-3DC5DE4F3ECA}"/>
              </a:ext>
            </a:extLst>
          </p:cNvPr>
          <p:cNvCxnSpPr>
            <a:cxnSpLocks/>
            <a:stCxn id="4104" idx="3"/>
            <a:endCxn id="215" idx="1"/>
          </p:cNvCxnSpPr>
          <p:nvPr/>
        </p:nvCxnSpPr>
        <p:spPr>
          <a:xfrm>
            <a:off x="7487243" y="3416230"/>
            <a:ext cx="343527" cy="0"/>
          </a:xfrm>
          <a:prstGeom prst="straightConnector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A3B278C-E48B-D551-BE30-7B9396440525}"/>
              </a:ext>
            </a:extLst>
          </p:cNvPr>
          <p:cNvCxnSpPr>
            <a:cxnSpLocks/>
            <a:stCxn id="729" idx="3"/>
            <a:endCxn id="717" idx="1"/>
          </p:cNvCxnSpPr>
          <p:nvPr/>
        </p:nvCxnSpPr>
        <p:spPr>
          <a:xfrm>
            <a:off x="6253440" y="4903883"/>
            <a:ext cx="333803" cy="0"/>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8294230-9CF5-C11E-5F95-908B4293973B}"/>
              </a:ext>
            </a:extLst>
          </p:cNvPr>
          <p:cNvCxnSpPr>
            <a:cxnSpLocks/>
            <a:stCxn id="717" idx="3"/>
            <a:endCxn id="708" idx="1"/>
          </p:cNvCxnSpPr>
          <p:nvPr/>
        </p:nvCxnSpPr>
        <p:spPr>
          <a:xfrm>
            <a:off x="7487243" y="4903883"/>
            <a:ext cx="346651" cy="371"/>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B82BFD5-4D7B-E6E3-BB7E-01CFF9A70C42}"/>
              </a:ext>
            </a:extLst>
          </p:cNvPr>
          <p:cNvSpPr txBox="1"/>
          <p:nvPr/>
        </p:nvSpPr>
        <p:spPr>
          <a:xfrm>
            <a:off x="6587243" y="1747768"/>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9F9F9F"/>
                </a:solidFill>
              </a:rPr>
              <a:t>Silver layer</a:t>
            </a:r>
            <a:r>
              <a:rPr lang="en-CA" sz="700" noProof="0">
                <a:solidFill>
                  <a:srgbClr val="9F9F9F"/>
                </a:solidFill>
              </a:rPr>
              <a:t> </a:t>
            </a:r>
          </a:p>
          <a:p>
            <a:pPr algn="ctr"/>
            <a:r>
              <a:rPr lang="en-CA" sz="700" noProof="0">
                <a:solidFill>
                  <a:schemeClr val="bg2">
                    <a:lumMod val="10000"/>
                  </a:schemeClr>
                </a:solidFill>
              </a:rPr>
              <a:t>(Cleansed &amp; conformed data)</a:t>
            </a:r>
          </a:p>
        </p:txBody>
      </p:sp>
      <p:cxnSp>
        <p:nvCxnSpPr>
          <p:cNvPr id="55" name="Straight Connector 54">
            <a:extLst>
              <a:ext uri="{FF2B5EF4-FFF2-40B4-BE49-F238E27FC236}">
                <a16:creationId xmlns:a16="http://schemas.microsoft.com/office/drawing/2014/main" id="{0511358E-A193-05BC-49E5-729220265E21}"/>
              </a:ext>
            </a:extLst>
          </p:cNvPr>
          <p:cNvCxnSpPr>
            <a:cxnSpLocks/>
          </p:cNvCxnSpPr>
          <p:nvPr/>
        </p:nvCxnSpPr>
        <p:spPr>
          <a:xfrm flipV="1">
            <a:off x="6677243" y="174716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4108" name="TextBox 4107">
            <a:extLst>
              <a:ext uri="{FF2B5EF4-FFF2-40B4-BE49-F238E27FC236}">
                <a16:creationId xmlns:a16="http://schemas.microsoft.com/office/drawing/2014/main" id="{979E2141-5503-A5C3-25E8-EEDA6045B7AB}"/>
              </a:ext>
            </a:extLst>
          </p:cNvPr>
          <p:cNvSpPr txBox="1"/>
          <p:nvPr/>
        </p:nvSpPr>
        <p:spPr>
          <a:xfrm>
            <a:off x="6587243" y="3307935"/>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9F9F9F"/>
                </a:solidFill>
              </a:rPr>
              <a:t>Silver layer</a:t>
            </a:r>
            <a:r>
              <a:rPr lang="en-CA" sz="700" noProof="0">
                <a:solidFill>
                  <a:srgbClr val="9F9F9F"/>
                </a:solidFill>
              </a:rPr>
              <a:t> </a:t>
            </a:r>
          </a:p>
          <a:p>
            <a:pPr algn="ctr"/>
            <a:r>
              <a:rPr lang="en-CA" sz="700" noProof="0">
                <a:solidFill>
                  <a:schemeClr val="bg2">
                    <a:lumMod val="10000"/>
                  </a:schemeClr>
                </a:solidFill>
              </a:rPr>
              <a:t>(Cleansed &amp; conformed data)</a:t>
            </a:r>
          </a:p>
        </p:txBody>
      </p:sp>
      <p:sp>
        <p:nvSpPr>
          <p:cNvPr id="4144" name="TextBox 4143">
            <a:extLst>
              <a:ext uri="{FF2B5EF4-FFF2-40B4-BE49-F238E27FC236}">
                <a16:creationId xmlns:a16="http://schemas.microsoft.com/office/drawing/2014/main" id="{C230B935-2485-BB30-9289-16FB8D0021AE}"/>
              </a:ext>
            </a:extLst>
          </p:cNvPr>
          <p:cNvSpPr txBox="1"/>
          <p:nvPr/>
        </p:nvSpPr>
        <p:spPr>
          <a:xfrm>
            <a:off x="6587243" y="4719410"/>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9F9F9F"/>
                </a:solidFill>
              </a:rPr>
              <a:t>Silver layer</a:t>
            </a:r>
            <a:r>
              <a:rPr lang="en-CA" sz="700" noProof="0">
                <a:solidFill>
                  <a:srgbClr val="9F9F9F"/>
                </a:solidFill>
              </a:rPr>
              <a:t> </a:t>
            </a:r>
          </a:p>
          <a:p>
            <a:pPr algn="ctr"/>
            <a:r>
              <a:rPr lang="en-CA" sz="700" noProof="0">
                <a:solidFill>
                  <a:schemeClr val="bg2">
                    <a:lumMod val="10000"/>
                  </a:schemeClr>
                </a:solidFill>
              </a:rPr>
              <a:t>(Embeddings)</a:t>
            </a:r>
          </a:p>
        </p:txBody>
      </p:sp>
      <p:pic>
        <p:nvPicPr>
          <p:cNvPr id="11" name="Picture 10">
            <a:extLst>
              <a:ext uri="{FF2B5EF4-FFF2-40B4-BE49-F238E27FC236}">
                <a16:creationId xmlns:a16="http://schemas.microsoft.com/office/drawing/2014/main" id="{85A13351-7B21-FC9C-FCBD-96A9BBFABF2E}"/>
              </a:ext>
            </a:extLst>
          </p:cNvPr>
          <p:cNvPicPr>
            <a:picLocks noChangeAspect="1"/>
          </p:cNvPicPr>
          <p:nvPr/>
        </p:nvPicPr>
        <p:blipFill>
          <a:blip r:embed="rId3"/>
          <a:stretch>
            <a:fillRect/>
          </a:stretch>
        </p:blipFill>
        <p:spPr>
          <a:xfrm>
            <a:off x="5123497" y="5773685"/>
            <a:ext cx="364773" cy="344815"/>
          </a:xfrm>
          <a:prstGeom prst="rect">
            <a:avLst/>
          </a:prstGeom>
        </p:spPr>
      </p:pic>
      <p:pic>
        <p:nvPicPr>
          <p:cNvPr id="15" name="Picture 14">
            <a:extLst>
              <a:ext uri="{FF2B5EF4-FFF2-40B4-BE49-F238E27FC236}">
                <a16:creationId xmlns:a16="http://schemas.microsoft.com/office/drawing/2014/main" id="{BB46288C-9844-5ACC-A41C-59453E42C48F}"/>
              </a:ext>
            </a:extLst>
          </p:cNvPr>
          <p:cNvPicPr>
            <a:picLocks noChangeAspect="1"/>
          </p:cNvPicPr>
          <p:nvPr/>
        </p:nvPicPr>
        <p:blipFill>
          <a:blip r:embed="rId4"/>
          <a:stretch>
            <a:fillRect/>
          </a:stretch>
        </p:blipFill>
        <p:spPr>
          <a:xfrm>
            <a:off x="8548383" y="5784252"/>
            <a:ext cx="364773" cy="334248"/>
          </a:xfrm>
          <a:prstGeom prst="rect">
            <a:avLst/>
          </a:prstGeom>
        </p:spPr>
      </p:pic>
      <p:pic>
        <p:nvPicPr>
          <p:cNvPr id="4" name="Picture 3">
            <a:extLst>
              <a:ext uri="{FF2B5EF4-FFF2-40B4-BE49-F238E27FC236}">
                <a16:creationId xmlns:a16="http://schemas.microsoft.com/office/drawing/2014/main" id="{04C70DD6-A2E2-6775-651A-92CDBC1333CC}"/>
              </a:ext>
            </a:extLst>
          </p:cNvPr>
          <p:cNvPicPr>
            <a:picLocks noChangeAspect="1"/>
          </p:cNvPicPr>
          <p:nvPr/>
        </p:nvPicPr>
        <p:blipFill>
          <a:blip r:embed="rId5"/>
          <a:stretch>
            <a:fillRect/>
          </a:stretch>
        </p:blipFill>
        <p:spPr>
          <a:xfrm>
            <a:off x="454135" y="976319"/>
            <a:ext cx="2467294" cy="1274436"/>
          </a:xfrm>
          <a:prstGeom prst="rect">
            <a:avLst/>
          </a:prstGeom>
        </p:spPr>
      </p:pic>
      <p:sp>
        <p:nvSpPr>
          <p:cNvPr id="17" name="TextBox 16">
            <a:extLst>
              <a:ext uri="{FF2B5EF4-FFF2-40B4-BE49-F238E27FC236}">
                <a16:creationId xmlns:a16="http://schemas.microsoft.com/office/drawing/2014/main" id="{23E473AE-28FA-DA53-84EC-6D3482C7730F}"/>
              </a:ext>
            </a:extLst>
          </p:cNvPr>
          <p:cNvSpPr txBox="1"/>
          <p:nvPr/>
        </p:nvSpPr>
        <p:spPr>
          <a:xfrm>
            <a:off x="3449738" y="1001394"/>
            <a:ext cx="1008000" cy="276999"/>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chemeClr val="tx2"/>
                </a:solidFill>
                <a:effectLst/>
                <a:uLnTx/>
                <a:uFillTx/>
                <a:latin typeface="+mn-lt"/>
              </a:rPr>
              <a:t>Any nodes</a:t>
            </a:r>
          </a:p>
        </p:txBody>
      </p:sp>
      <p:sp>
        <p:nvSpPr>
          <p:cNvPr id="31" name="Flowchart: Preparation 30">
            <a:extLst>
              <a:ext uri="{FF2B5EF4-FFF2-40B4-BE49-F238E27FC236}">
                <a16:creationId xmlns:a16="http://schemas.microsoft.com/office/drawing/2014/main" id="{27D372CF-D1A9-387C-439D-DC54F110FEF5}"/>
              </a:ext>
            </a:extLst>
          </p:cNvPr>
          <p:cNvSpPr>
            <a:spLocks/>
          </p:cNvSpPr>
          <p:nvPr/>
        </p:nvSpPr>
        <p:spPr>
          <a:xfrm>
            <a:off x="3503738" y="1392359"/>
            <a:ext cx="900000" cy="432000"/>
          </a:xfrm>
          <a:prstGeom prst="flowChartPreparation">
            <a:avLst/>
          </a:prstGeom>
          <a:solidFill>
            <a:schemeClr val="tx2">
              <a:lumMod val="75000"/>
            </a:schemeClr>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1"/>
                </a:solidFill>
              </a:rPr>
              <a:t>Node XYZ</a:t>
            </a:r>
          </a:p>
        </p:txBody>
      </p:sp>
      <p:cxnSp>
        <p:nvCxnSpPr>
          <p:cNvPr id="35" name="Straight Arrow Connector 34">
            <a:extLst>
              <a:ext uri="{FF2B5EF4-FFF2-40B4-BE49-F238E27FC236}">
                <a16:creationId xmlns:a16="http://schemas.microsoft.com/office/drawing/2014/main" id="{D2F2C457-8B87-2B88-BBCA-79303D31B03F}"/>
              </a:ext>
            </a:extLst>
          </p:cNvPr>
          <p:cNvCxnSpPr>
            <a:cxnSpLocks/>
            <a:endCxn id="31" idx="1"/>
          </p:cNvCxnSpPr>
          <p:nvPr/>
        </p:nvCxnSpPr>
        <p:spPr>
          <a:xfrm>
            <a:off x="2538033" y="1608359"/>
            <a:ext cx="965705" cy="0"/>
          </a:xfrm>
          <a:prstGeom prst="straightConnector1">
            <a:avLst/>
          </a:prstGeom>
          <a:ln w="539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ADF697F-2C53-3C35-745F-8E876BB17BBF}"/>
              </a:ext>
            </a:extLst>
          </p:cNvPr>
          <p:cNvSpPr txBox="1"/>
          <p:nvPr/>
        </p:nvSpPr>
        <p:spPr>
          <a:xfrm>
            <a:off x="86487" y="2707860"/>
            <a:ext cx="4320000"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200" b="1" noProof="0">
                <a:solidFill>
                  <a:schemeClr val="bg2">
                    <a:lumMod val="10000"/>
                  </a:schemeClr>
                </a:solidFill>
              </a:rPr>
              <a:t>3 categories of data for complete coverage</a:t>
            </a:r>
          </a:p>
        </p:txBody>
      </p:sp>
      <p:sp>
        <p:nvSpPr>
          <p:cNvPr id="41" name="TextBox 40">
            <a:extLst>
              <a:ext uri="{FF2B5EF4-FFF2-40B4-BE49-F238E27FC236}">
                <a16:creationId xmlns:a16="http://schemas.microsoft.com/office/drawing/2014/main" id="{001DD65B-58BA-69AA-FD9D-0D70C871FED4}"/>
              </a:ext>
            </a:extLst>
          </p:cNvPr>
          <p:cNvSpPr txBox="1"/>
          <p:nvPr/>
        </p:nvSpPr>
        <p:spPr>
          <a:xfrm>
            <a:off x="86487" y="2965229"/>
            <a:ext cx="432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The following categories of data sets will follow either of the </a:t>
            </a:r>
            <a:r>
              <a:rPr lang="en-CA" sz="1000" b="1" u="sng" noProof="0">
                <a:solidFill>
                  <a:schemeClr val="tx2"/>
                </a:solidFill>
              </a:rPr>
              <a:t>four path</a:t>
            </a:r>
            <a:r>
              <a:rPr lang="en-CA" sz="1000" noProof="0">
                <a:solidFill>
                  <a:schemeClr val="bg2">
                    <a:lumMod val="10000"/>
                  </a:schemeClr>
                </a:solidFill>
              </a:rPr>
              <a:t>. Together, </a:t>
            </a:r>
            <a:r>
              <a:rPr lang="en-CA" sz="1000" b="1" noProof="0">
                <a:solidFill>
                  <a:schemeClr val="bg2">
                    <a:lumMod val="10000"/>
                  </a:schemeClr>
                </a:solidFill>
              </a:rPr>
              <a:t>they form the construct of a Node </a:t>
            </a:r>
            <a:r>
              <a:rPr lang="en-CA" sz="1000" noProof="0">
                <a:solidFill>
                  <a:schemeClr val="bg2">
                    <a:lumMod val="10000"/>
                  </a:schemeClr>
                </a:solidFill>
              </a:rPr>
              <a:t>in the North platform, ensuring that any business need can be satisfied.</a:t>
            </a:r>
          </a:p>
        </p:txBody>
      </p:sp>
      <p:cxnSp>
        <p:nvCxnSpPr>
          <p:cNvPr id="4097" name="Straight Connector 4096">
            <a:extLst>
              <a:ext uri="{FF2B5EF4-FFF2-40B4-BE49-F238E27FC236}">
                <a16:creationId xmlns:a16="http://schemas.microsoft.com/office/drawing/2014/main" id="{92CB2F73-186A-815A-0DDA-41474E0EBE65}"/>
              </a:ext>
            </a:extLst>
          </p:cNvPr>
          <p:cNvCxnSpPr>
            <a:cxnSpLocks/>
          </p:cNvCxnSpPr>
          <p:nvPr/>
        </p:nvCxnSpPr>
        <p:spPr>
          <a:xfrm>
            <a:off x="446487" y="3514995"/>
            <a:ext cx="3600000" cy="0"/>
          </a:xfrm>
          <a:prstGeom prst="lin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nvGrpSpPr>
          <p:cNvPr id="4102" name="Group 4101">
            <a:extLst>
              <a:ext uri="{FF2B5EF4-FFF2-40B4-BE49-F238E27FC236}">
                <a16:creationId xmlns:a16="http://schemas.microsoft.com/office/drawing/2014/main" id="{678BF525-CC04-5DD2-CE92-3B32B390036B}"/>
              </a:ext>
            </a:extLst>
          </p:cNvPr>
          <p:cNvGrpSpPr/>
          <p:nvPr/>
        </p:nvGrpSpPr>
        <p:grpSpPr>
          <a:xfrm>
            <a:off x="154345" y="3631971"/>
            <a:ext cx="4176000" cy="648000"/>
            <a:chOff x="154345" y="3631971"/>
            <a:chExt cx="4176000" cy="648000"/>
          </a:xfrm>
        </p:grpSpPr>
        <p:sp>
          <p:nvSpPr>
            <p:cNvPr id="51" name="Rectangle: Rounded Corners 50">
              <a:extLst>
                <a:ext uri="{FF2B5EF4-FFF2-40B4-BE49-F238E27FC236}">
                  <a16:creationId xmlns:a16="http://schemas.microsoft.com/office/drawing/2014/main" id="{5AB2E81C-1E2D-2101-4010-52AF6DA08529}"/>
                </a:ext>
              </a:extLst>
            </p:cNvPr>
            <p:cNvSpPr/>
            <p:nvPr/>
          </p:nvSpPr>
          <p:spPr>
            <a:xfrm>
              <a:off x="154345" y="3631971"/>
              <a:ext cx="4176000" cy="648000"/>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46" name="TextBox 45">
              <a:extLst>
                <a:ext uri="{FF2B5EF4-FFF2-40B4-BE49-F238E27FC236}">
                  <a16:creationId xmlns:a16="http://schemas.microsoft.com/office/drawing/2014/main" id="{9EAE028E-1071-9123-3A30-025750027A73}"/>
                </a:ext>
              </a:extLst>
            </p:cNvPr>
            <p:cNvSpPr txBox="1"/>
            <p:nvPr/>
          </p:nvSpPr>
          <p:spPr>
            <a:xfrm>
              <a:off x="1004474" y="3631971"/>
              <a:ext cx="2428064"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200" b="1" noProof="0">
                  <a:solidFill>
                    <a:schemeClr val="bg2">
                      <a:lumMod val="10000"/>
                    </a:schemeClr>
                  </a:solidFill>
                </a:rPr>
                <a:t>Structured Data</a:t>
              </a:r>
            </a:p>
          </p:txBody>
        </p:sp>
        <p:sp>
          <p:nvSpPr>
            <p:cNvPr id="58" name="TextBox 57">
              <a:extLst>
                <a:ext uri="{FF2B5EF4-FFF2-40B4-BE49-F238E27FC236}">
                  <a16:creationId xmlns:a16="http://schemas.microsoft.com/office/drawing/2014/main" id="{645692E4-E16A-27B2-A44B-7B0B90781FAC}"/>
                </a:ext>
              </a:extLst>
            </p:cNvPr>
            <p:cNvSpPr txBox="1"/>
            <p:nvPr/>
          </p:nvSpPr>
          <p:spPr>
            <a:xfrm>
              <a:off x="598506" y="3899491"/>
              <a:ext cx="3708000"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E.g. : Transactional database, </a:t>
              </a:r>
              <a:r>
                <a:rPr lang="en-CA" sz="1000" noProof="0" err="1">
                  <a:solidFill>
                    <a:schemeClr val="bg2">
                      <a:lumMod val="10000"/>
                    </a:schemeClr>
                  </a:solidFill>
                </a:rPr>
                <a:t>datamart</a:t>
              </a:r>
              <a:r>
                <a:rPr lang="en-CA" sz="1000" noProof="0">
                  <a:solidFill>
                    <a:schemeClr val="bg2">
                      <a:lumMod val="10000"/>
                    </a:schemeClr>
                  </a:solidFill>
                </a:rPr>
                <a:t>, structured flat files  </a:t>
              </a:r>
            </a:p>
          </p:txBody>
        </p:sp>
      </p:grpSp>
      <p:sp>
        <p:nvSpPr>
          <p:cNvPr id="1047" name="Rectangle 1046">
            <a:extLst>
              <a:ext uri="{FF2B5EF4-FFF2-40B4-BE49-F238E27FC236}">
                <a16:creationId xmlns:a16="http://schemas.microsoft.com/office/drawing/2014/main" id="{9E09BA1C-8B88-B560-3158-A3121523B93E}"/>
              </a:ext>
            </a:extLst>
          </p:cNvPr>
          <p:cNvSpPr/>
          <p:nvPr/>
        </p:nvSpPr>
        <p:spPr>
          <a:xfrm>
            <a:off x="4234506" y="3751971"/>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52" name="Rectangle 1051">
            <a:extLst>
              <a:ext uri="{FF2B5EF4-FFF2-40B4-BE49-F238E27FC236}">
                <a16:creationId xmlns:a16="http://schemas.microsoft.com/office/drawing/2014/main" id="{4627802C-0D6C-70AE-E354-3D5967FB90D3}"/>
              </a:ext>
            </a:extLst>
          </p:cNvPr>
          <p:cNvSpPr/>
          <p:nvPr/>
        </p:nvSpPr>
        <p:spPr>
          <a:xfrm>
            <a:off x="4234506" y="4015971"/>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cxnSp>
        <p:nvCxnSpPr>
          <p:cNvPr id="1062" name="Connector: Elbow 1061">
            <a:extLst>
              <a:ext uri="{FF2B5EF4-FFF2-40B4-BE49-F238E27FC236}">
                <a16:creationId xmlns:a16="http://schemas.microsoft.com/office/drawing/2014/main" id="{603030FE-D4E2-B76B-1812-4CF9D30FC3BE}"/>
              </a:ext>
            </a:extLst>
          </p:cNvPr>
          <p:cNvCxnSpPr>
            <a:cxnSpLocks/>
            <a:endCxn id="746" idx="1"/>
          </p:cNvCxnSpPr>
          <p:nvPr/>
        </p:nvCxnSpPr>
        <p:spPr>
          <a:xfrm flipV="1">
            <a:off x="4323240" y="1932241"/>
            <a:ext cx="1020477" cy="1931262"/>
          </a:xfrm>
          <a:prstGeom prst="bentConnector3">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63" name="Connector: Elbow 1062">
            <a:extLst>
              <a:ext uri="{FF2B5EF4-FFF2-40B4-BE49-F238E27FC236}">
                <a16:creationId xmlns:a16="http://schemas.microsoft.com/office/drawing/2014/main" id="{E3EA530A-203C-29B3-EE3F-E83E23CAF6D2}"/>
              </a:ext>
            </a:extLst>
          </p:cNvPr>
          <p:cNvCxnSpPr>
            <a:cxnSpLocks/>
            <a:endCxn id="236" idx="1"/>
          </p:cNvCxnSpPr>
          <p:nvPr/>
        </p:nvCxnSpPr>
        <p:spPr>
          <a:xfrm flipV="1">
            <a:off x="4323240" y="3416230"/>
            <a:ext cx="1014990" cy="711273"/>
          </a:xfrm>
          <a:prstGeom prst="bentConnector3">
            <a:avLst>
              <a:gd name="adj1" fmla="val 6417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cxnSp>
        <p:nvCxnSpPr>
          <p:cNvPr id="1064" name="Connector: Elbow 1063">
            <a:extLst>
              <a:ext uri="{FF2B5EF4-FFF2-40B4-BE49-F238E27FC236}">
                <a16:creationId xmlns:a16="http://schemas.microsoft.com/office/drawing/2014/main" id="{2ACBF398-3E24-D845-2647-A5EFCEC18075}"/>
              </a:ext>
            </a:extLst>
          </p:cNvPr>
          <p:cNvCxnSpPr>
            <a:cxnSpLocks/>
            <a:endCxn id="729" idx="1"/>
          </p:cNvCxnSpPr>
          <p:nvPr/>
        </p:nvCxnSpPr>
        <p:spPr>
          <a:xfrm>
            <a:off x="4334487" y="4800011"/>
            <a:ext cx="1018953" cy="103872"/>
          </a:xfrm>
          <a:prstGeom prst="bentConnector3">
            <a:avLst>
              <a:gd name="adj1" fmla="val 50000"/>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85" name="Connector: Elbow 1084">
            <a:extLst>
              <a:ext uri="{FF2B5EF4-FFF2-40B4-BE49-F238E27FC236}">
                <a16:creationId xmlns:a16="http://schemas.microsoft.com/office/drawing/2014/main" id="{288E5778-A534-5C20-CF0A-C057A9122702}"/>
              </a:ext>
            </a:extLst>
          </p:cNvPr>
          <p:cNvCxnSpPr>
            <a:cxnSpLocks/>
            <a:endCxn id="729" idx="1"/>
          </p:cNvCxnSpPr>
          <p:nvPr/>
        </p:nvCxnSpPr>
        <p:spPr>
          <a:xfrm flipV="1">
            <a:off x="4334487" y="4903883"/>
            <a:ext cx="1018953" cy="568636"/>
          </a:xfrm>
          <a:prstGeom prst="bentConnector3">
            <a:avLst>
              <a:gd name="adj1" fmla="val 50000"/>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4109" name="Group 4108">
            <a:extLst>
              <a:ext uri="{FF2B5EF4-FFF2-40B4-BE49-F238E27FC236}">
                <a16:creationId xmlns:a16="http://schemas.microsoft.com/office/drawing/2014/main" id="{A43084F6-E06C-80E7-049C-C2F05484E3A5}"/>
              </a:ext>
            </a:extLst>
          </p:cNvPr>
          <p:cNvGrpSpPr/>
          <p:nvPr/>
        </p:nvGrpSpPr>
        <p:grpSpPr>
          <a:xfrm>
            <a:off x="153128" y="5218770"/>
            <a:ext cx="4180142" cy="662149"/>
            <a:chOff x="154345" y="5266370"/>
            <a:chExt cx="4180142" cy="662149"/>
          </a:xfrm>
        </p:grpSpPr>
        <p:sp>
          <p:nvSpPr>
            <p:cNvPr id="4136" name="Rectangle: Rounded Corners 4135">
              <a:extLst>
                <a:ext uri="{FF2B5EF4-FFF2-40B4-BE49-F238E27FC236}">
                  <a16:creationId xmlns:a16="http://schemas.microsoft.com/office/drawing/2014/main" id="{455A41A1-51D1-DA59-F050-DE16E14AE84B}"/>
                </a:ext>
              </a:extLst>
            </p:cNvPr>
            <p:cNvSpPr/>
            <p:nvPr/>
          </p:nvSpPr>
          <p:spPr>
            <a:xfrm>
              <a:off x="154345" y="5266370"/>
              <a:ext cx="4176000" cy="648000"/>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4137" name="TextBox 4136">
              <a:extLst>
                <a:ext uri="{FF2B5EF4-FFF2-40B4-BE49-F238E27FC236}">
                  <a16:creationId xmlns:a16="http://schemas.microsoft.com/office/drawing/2014/main" id="{92525D33-836D-C873-A4E2-E0D3DCE6EB01}"/>
                </a:ext>
              </a:extLst>
            </p:cNvPr>
            <p:cNvSpPr txBox="1"/>
            <p:nvPr/>
          </p:nvSpPr>
          <p:spPr>
            <a:xfrm>
              <a:off x="392487" y="5280519"/>
              <a:ext cx="3708000"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200" b="1" noProof="0">
                  <a:solidFill>
                    <a:schemeClr val="bg2">
                      <a:lumMod val="10000"/>
                    </a:schemeClr>
                  </a:solidFill>
                </a:rPr>
                <a:t>Unstructured Data</a:t>
              </a:r>
            </a:p>
          </p:txBody>
        </p:sp>
        <p:sp>
          <p:nvSpPr>
            <p:cNvPr id="4138" name="TextBox 4137">
              <a:extLst>
                <a:ext uri="{FF2B5EF4-FFF2-40B4-BE49-F238E27FC236}">
                  <a16:creationId xmlns:a16="http://schemas.microsoft.com/office/drawing/2014/main" id="{3D39C622-E84D-DEC0-B4A7-07D58FFBBAAC}"/>
                </a:ext>
              </a:extLst>
            </p:cNvPr>
            <p:cNvSpPr txBox="1"/>
            <p:nvPr/>
          </p:nvSpPr>
          <p:spPr>
            <a:xfrm>
              <a:off x="615240" y="5548039"/>
              <a:ext cx="3708000"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E.g. : Audio recordings, photos, unstructured flat files, word documents</a:t>
              </a:r>
            </a:p>
          </p:txBody>
        </p:sp>
        <p:sp>
          <p:nvSpPr>
            <p:cNvPr id="1056" name="Rectangle 1055">
              <a:extLst>
                <a:ext uri="{FF2B5EF4-FFF2-40B4-BE49-F238E27FC236}">
                  <a16:creationId xmlns:a16="http://schemas.microsoft.com/office/drawing/2014/main" id="{D8A1D562-8B3B-DA01-3056-8D730C01C290}"/>
                </a:ext>
              </a:extLst>
            </p:cNvPr>
            <p:cNvSpPr/>
            <p:nvPr/>
          </p:nvSpPr>
          <p:spPr>
            <a:xfrm>
              <a:off x="4262487" y="5400519"/>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57" name="Rectangle 1056">
              <a:extLst>
                <a:ext uri="{FF2B5EF4-FFF2-40B4-BE49-F238E27FC236}">
                  <a16:creationId xmlns:a16="http://schemas.microsoft.com/office/drawing/2014/main" id="{90355909-9D39-4642-79F9-EDD16822083E}"/>
                </a:ext>
              </a:extLst>
            </p:cNvPr>
            <p:cNvSpPr/>
            <p:nvPr/>
          </p:nvSpPr>
          <p:spPr>
            <a:xfrm>
              <a:off x="4262487" y="5664519"/>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grpSp>
          <p:nvGrpSpPr>
            <p:cNvPr id="4135" name="Group 4134">
              <a:extLst>
                <a:ext uri="{FF2B5EF4-FFF2-40B4-BE49-F238E27FC236}">
                  <a16:creationId xmlns:a16="http://schemas.microsoft.com/office/drawing/2014/main" id="{12268AB2-E6EF-FF40-657B-2EA5991FA305}"/>
                </a:ext>
              </a:extLst>
            </p:cNvPr>
            <p:cNvGrpSpPr>
              <a:grpSpLocks noChangeAspect="1"/>
            </p:cNvGrpSpPr>
            <p:nvPr/>
          </p:nvGrpSpPr>
          <p:grpSpPr>
            <a:xfrm>
              <a:off x="232622" y="5500256"/>
              <a:ext cx="387000" cy="252000"/>
              <a:chOff x="2390127" y="5520196"/>
              <a:chExt cx="819150" cy="533400"/>
            </a:xfrm>
          </p:grpSpPr>
          <p:sp>
            <p:nvSpPr>
              <p:cNvPr id="4123" name="Freeform: Shape 4122">
                <a:extLst>
                  <a:ext uri="{FF2B5EF4-FFF2-40B4-BE49-F238E27FC236}">
                    <a16:creationId xmlns:a16="http://schemas.microsoft.com/office/drawing/2014/main" id="{F32A2B08-C928-3D90-C46D-F7B197055BC1}"/>
                  </a:ext>
                </a:extLst>
              </p:cNvPr>
              <p:cNvSpPr/>
              <p:nvPr/>
            </p:nvSpPr>
            <p:spPr>
              <a:xfrm>
                <a:off x="31521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4124" name="Freeform: Shape 4123">
                <a:extLst>
                  <a:ext uri="{FF2B5EF4-FFF2-40B4-BE49-F238E27FC236}">
                    <a16:creationId xmlns:a16="http://schemas.microsoft.com/office/drawing/2014/main" id="{193A3CB2-2E70-FB64-5D22-0D212640DD68}"/>
                  </a:ext>
                </a:extLst>
              </p:cNvPr>
              <p:cNvSpPr/>
              <p:nvPr/>
            </p:nvSpPr>
            <p:spPr>
              <a:xfrm>
                <a:off x="29616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4125" name="Freeform: Shape 4124">
                <a:extLst>
                  <a:ext uri="{FF2B5EF4-FFF2-40B4-BE49-F238E27FC236}">
                    <a16:creationId xmlns:a16="http://schemas.microsoft.com/office/drawing/2014/main" id="{25427410-CB58-AA24-2417-F9C553937700}"/>
                  </a:ext>
                </a:extLst>
              </p:cNvPr>
              <p:cNvSpPr/>
              <p:nvPr/>
            </p:nvSpPr>
            <p:spPr>
              <a:xfrm>
                <a:off x="23901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4127" name="Freeform: Shape 4126">
                <a:extLst>
                  <a:ext uri="{FF2B5EF4-FFF2-40B4-BE49-F238E27FC236}">
                    <a16:creationId xmlns:a16="http://schemas.microsoft.com/office/drawing/2014/main" id="{36C81020-86A5-3D95-CA3E-BB655809AF0D}"/>
                  </a:ext>
                </a:extLst>
              </p:cNvPr>
              <p:cNvSpPr/>
              <p:nvPr/>
            </p:nvSpPr>
            <p:spPr>
              <a:xfrm>
                <a:off x="30568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4128" name="Freeform: Shape 4127">
                <a:extLst>
                  <a:ext uri="{FF2B5EF4-FFF2-40B4-BE49-F238E27FC236}">
                    <a16:creationId xmlns:a16="http://schemas.microsoft.com/office/drawing/2014/main" id="{E40465DA-D91E-71B9-E895-59A852597ECA}"/>
                  </a:ext>
                </a:extLst>
              </p:cNvPr>
              <p:cNvSpPr/>
              <p:nvPr/>
            </p:nvSpPr>
            <p:spPr>
              <a:xfrm>
                <a:off x="28663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4129" name="Freeform: Shape 4128">
                <a:extLst>
                  <a:ext uri="{FF2B5EF4-FFF2-40B4-BE49-F238E27FC236}">
                    <a16:creationId xmlns:a16="http://schemas.microsoft.com/office/drawing/2014/main" id="{22DA83DD-D981-A2D8-525A-97559BA1042D}"/>
                  </a:ext>
                </a:extLst>
              </p:cNvPr>
              <p:cNvSpPr/>
              <p:nvPr/>
            </p:nvSpPr>
            <p:spPr>
              <a:xfrm>
                <a:off x="24853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4131" name="Freeform: Shape 4130">
                <a:extLst>
                  <a:ext uri="{FF2B5EF4-FFF2-40B4-BE49-F238E27FC236}">
                    <a16:creationId xmlns:a16="http://schemas.microsoft.com/office/drawing/2014/main" id="{C82BC96A-B157-2515-412B-C8FD8A8D0D63}"/>
                  </a:ext>
                </a:extLst>
              </p:cNvPr>
              <p:cNvSpPr/>
              <p:nvPr/>
            </p:nvSpPr>
            <p:spPr>
              <a:xfrm>
                <a:off x="2771127" y="5653546"/>
                <a:ext cx="57150" cy="266700"/>
              </a:xfrm>
              <a:custGeom>
                <a:avLst/>
                <a:gdLst>
                  <a:gd name="csX0" fmla="*/ 0 w 57150"/>
                  <a:gd name="csY0" fmla="*/ 0 h 266700"/>
                  <a:gd name="csX1" fmla="*/ 57150 w 57150"/>
                  <a:gd name="csY1" fmla="*/ 0 h 266700"/>
                  <a:gd name="csX2" fmla="*/ 57150 w 57150"/>
                  <a:gd name="csY2" fmla="*/ 266700 h 266700"/>
                  <a:gd name="csX3" fmla="*/ 0 w 57150"/>
                  <a:gd name="csY3" fmla="*/ 266700 h 266700"/>
                </a:gdLst>
                <a:ahLst/>
                <a:cxnLst>
                  <a:cxn ang="0">
                    <a:pos x="csX0" y="csY0"/>
                  </a:cxn>
                  <a:cxn ang="0">
                    <a:pos x="csX1" y="csY1"/>
                  </a:cxn>
                  <a:cxn ang="0">
                    <a:pos x="csX2" y="csY2"/>
                  </a:cxn>
                  <a:cxn ang="0">
                    <a:pos x="csX3" y="csY3"/>
                  </a:cxn>
                </a:cxnLst>
                <a:rect l="l" t="t" r="r" b="b"/>
                <a:pathLst>
                  <a:path w="57150" h="266700">
                    <a:moveTo>
                      <a:pt x="0" y="0"/>
                    </a:moveTo>
                    <a:lnTo>
                      <a:pt x="57150" y="0"/>
                    </a:lnTo>
                    <a:lnTo>
                      <a:pt x="57150" y="266700"/>
                    </a:lnTo>
                    <a:lnTo>
                      <a:pt x="0" y="266700"/>
                    </a:lnTo>
                    <a:close/>
                  </a:path>
                </a:pathLst>
              </a:custGeom>
              <a:solidFill>
                <a:srgbClr val="000000"/>
              </a:solidFill>
              <a:ln w="9525" cap="flat">
                <a:noFill/>
                <a:prstDash val="solid"/>
                <a:miter/>
              </a:ln>
            </p:spPr>
            <p:txBody>
              <a:bodyPr/>
              <a:lstStyle/>
              <a:p>
                <a:endParaRPr lang="en-CA" noProof="0"/>
              </a:p>
            </p:txBody>
          </p:sp>
          <p:sp>
            <p:nvSpPr>
              <p:cNvPr id="4132" name="Freeform: Shape 4131">
                <a:extLst>
                  <a:ext uri="{FF2B5EF4-FFF2-40B4-BE49-F238E27FC236}">
                    <a16:creationId xmlns:a16="http://schemas.microsoft.com/office/drawing/2014/main" id="{35AFCA07-EEEC-C1EC-E0CF-FFBB7FCA7F6F}"/>
                  </a:ext>
                </a:extLst>
              </p:cNvPr>
              <p:cNvSpPr/>
              <p:nvPr/>
            </p:nvSpPr>
            <p:spPr>
              <a:xfrm>
                <a:off x="2580627" y="5608778"/>
                <a:ext cx="57150" cy="355282"/>
              </a:xfrm>
              <a:custGeom>
                <a:avLst/>
                <a:gdLst>
                  <a:gd name="csX0" fmla="*/ 0 w 57150"/>
                  <a:gd name="csY0" fmla="*/ 0 h 355282"/>
                  <a:gd name="csX1" fmla="*/ 57150 w 57150"/>
                  <a:gd name="csY1" fmla="*/ 0 h 355282"/>
                  <a:gd name="csX2" fmla="*/ 57150 w 57150"/>
                  <a:gd name="csY2" fmla="*/ 355283 h 355282"/>
                  <a:gd name="csX3" fmla="*/ 0 w 57150"/>
                  <a:gd name="csY3" fmla="*/ 355283 h 355282"/>
                </a:gdLst>
                <a:ahLst/>
                <a:cxnLst>
                  <a:cxn ang="0">
                    <a:pos x="csX0" y="csY0"/>
                  </a:cxn>
                  <a:cxn ang="0">
                    <a:pos x="csX1" y="csY1"/>
                  </a:cxn>
                  <a:cxn ang="0">
                    <a:pos x="csX2" y="csY2"/>
                  </a:cxn>
                  <a:cxn ang="0">
                    <a:pos x="csX3" y="csY3"/>
                  </a:cxn>
                </a:cxnLst>
                <a:rect l="l" t="t" r="r" b="b"/>
                <a:pathLst>
                  <a:path w="57150" h="355282">
                    <a:moveTo>
                      <a:pt x="0" y="0"/>
                    </a:moveTo>
                    <a:lnTo>
                      <a:pt x="57150" y="0"/>
                    </a:lnTo>
                    <a:lnTo>
                      <a:pt x="57150" y="355283"/>
                    </a:lnTo>
                    <a:lnTo>
                      <a:pt x="0" y="355283"/>
                    </a:lnTo>
                    <a:close/>
                  </a:path>
                </a:pathLst>
              </a:custGeom>
              <a:solidFill>
                <a:srgbClr val="000000"/>
              </a:solidFill>
              <a:ln w="9525" cap="flat">
                <a:noFill/>
                <a:prstDash val="solid"/>
                <a:miter/>
              </a:ln>
            </p:spPr>
            <p:txBody>
              <a:bodyPr/>
              <a:lstStyle/>
              <a:p>
                <a:endParaRPr lang="en-CA" noProof="0"/>
              </a:p>
            </p:txBody>
          </p:sp>
          <p:sp>
            <p:nvSpPr>
              <p:cNvPr id="4134" name="Freeform: Shape 4133">
                <a:extLst>
                  <a:ext uri="{FF2B5EF4-FFF2-40B4-BE49-F238E27FC236}">
                    <a16:creationId xmlns:a16="http://schemas.microsoft.com/office/drawing/2014/main" id="{9069FF17-2311-86C0-98EB-6B517219919F}"/>
                  </a:ext>
                </a:extLst>
              </p:cNvPr>
              <p:cNvSpPr/>
              <p:nvPr/>
            </p:nvSpPr>
            <p:spPr>
              <a:xfrm>
                <a:off x="2675877" y="5520196"/>
                <a:ext cx="57150" cy="533400"/>
              </a:xfrm>
              <a:custGeom>
                <a:avLst/>
                <a:gdLst>
                  <a:gd name="csX0" fmla="*/ 0 w 57150"/>
                  <a:gd name="csY0" fmla="*/ 0 h 533400"/>
                  <a:gd name="csX1" fmla="*/ 57150 w 57150"/>
                  <a:gd name="csY1" fmla="*/ 0 h 533400"/>
                  <a:gd name="csX2" fmla="*/ 57150 w 57150"/>
                  <a:gd name="csY2" fmla="*/ 533400 h 533400"/>
                  <a:gd name="csX3" fmla="*/ 0 w 57150"/>
                  <a:gd name="csY3" fmla="*/ 533400 h 533400"/>
                </a:gdLst>
                <a:ahLst/>
                <a:cxnLst>
                  <a:cxn ang="0">
                    <a:pos x="csX0" y="csY0"/>
                  </a:cxn>
                  <a:cxn ang="0">
                    <a:pos x="csX1" y="csY1"/>
                  </a:cxn>
                  <a:cxn ang="0">
                    <a:pos x="csX2" y="csY2"/>
                  </a:cxn>
                  <a:cxn ang="0">
                    <a:pos x="csX3" y="csY3"/>
                  </a:cxn>
                </a:cxnLst>
                <a:rect l="l" t="t" r="r" b="b"/>
                <a:pathLst>
                  <a:path w="57150" h="533400">
                    <a:moveTo>
                      <a:pt x="0" y="0"/>
                    </a:moveTo>
                    <a:lnTo>
                      <a:pt x="57150" y="0"/>
                    </a:lnTo>
                    <a:lnTo>
                      <a:pt x="57150" y="533400"/>
                    </a:lnTo>
                    <a:lnTo>
                      <a:pt x="0" y="533400"/>
                    </a:lnTo>
                    <a:close/>
                  </a:path>
                </a:pathLst>
              </a:custGeom>
              <a:solidFill>
                <a:srgbClr val="000000"/>
              </a:solidFill>
              <a:ln w="9525" cap="flat">
                <a:noFill/>
                <a:prstDash val="solid"/>
                <a:miter/>
              </a:ln>
            </p:spPr>
            <p:txBody>
              <a:bodyPr/>
              <a:lstStyle/>
              <a:p>
                <a:endParaRPr lang="en-CA" noProof="0"/>
              </a:p>
            </p:txBody>
          </p:sp>
        </p:grpSp>
      </p:grpSp>
      <p:sp>
        <p:nvSpPr>
          <p:cNvPr id="205" name="TextBox 204">
            <a:extLst>
              <a:ext uri="{FF2B5EF4-FFF2-40B4-BE49-F238E27FC236}">
                <a16:creationId xmlns:a16="http://schemas.microsoft.com/office/drawing/2014/main" id="{74AC35F5-E8E3-7BE2-F0EE-9C870047FAD6}"/>
              </a:ext>
            </a:extLst>
          </p:cNvPr>
          <p:cNvSpPr txBox="1"/>
          <p:nvPr/>
        </p:nvSpPr>
        <p:spPr>
          <a:xfrm>
            <a:off x="5343717" y="1747768"/>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A97142"/>
                </a:solidFill>
              </a:rPr>
              <a:t>Bronze layer</a:t>
            </a:r>
            <a:endParaRPr lang="en-CA" sz="700" noProof="0">
              <a:solidFill>
                <a:srgbClr val="A97142"/>
              </a:solidFill>
            </a:endParaRPr>
          </a:p>
          <a:p>
            <a:pPr algn="ctr"/>
            <a:r>
              <a:rPr lang="en-CA" sz="700" noProof="0">
                <a:solidFill>
                  <a:schemeClr val="bg2">
                    <a:lumMod val="10000"/>
                  </a:schemeClr>
                </a:solidFill>
              </a:rPr>
              <a:t>(Data landing zone)</a:t>
            </a:r>
          </a:p>
        </p:txBody>
      </p:sp>
      <p:sp>
        <p:nvSpPr>
          <p:cNvPr id="208" name="TextBox 207">
            <a:extLst>
              <a:ext uri="{FF2B5EF4-FFF2-40B4-BE49-F238E27FC236}">
                <a16:creationId xmlns:a16="http://schemas.microsoft.com/office/drawing/2014/main" id="{C6276547-D962-5931-8951-82C6092EE7D3}"/>
              </a:ext>
            </a:extLst>
          </p:cNvPr>
          <p:cNvSpPr txBox="1"/>
          <p:nvPr/>
        </p:nvSpPr>
        <p:spPr>
          <a:xfrm>
            <a:off x="5338230" y="3307935"/>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A97142"/>
                </a:solidFill>
              </a:rPr>
              <a:t>Bronze layer</a:t>
            </a:r>
            <a:endParaRPr lang="en-CA" sz="700" noProof="0">
              <a:solidFill>
                <a:srgbClr val="A97142"/>
              </a:solidFill>
            </a:endParaRPr>
          </a:p>
          <a:p>
            <a:pPr algn="ctr"/>
            <a:r>
              <a:rPr lang="en-CA" sz="700" noProof="0">
                <a:solidFill>
                  <a:schemeClr val="bg2">
                    <a:lumMod val="10000"/>
                  </a:schemeClr>
                </a:solidFill>
              </a:rPr>
              <a:t>(Low latency operational data)</a:t>
            </a:r>
          </a:p>
        </p:txBody>
      </p:sp>
      <p:sp>
        <p:nvSpPr>
          <p:cNvPr id="209" name="TextBox 208">
            <a:extLst>
              <a:ext uri="{FF2B5EF4-FFF2-40B4-BE49-F238E27FC236}">
                <a16:creationId xmlns:a16="http://schemas.microsoft.com/office/drawing/2014/main" id="{9BAC21D4-3D27-23C5-B605-F31441616BFB}"/>
              </a:ext>
            </a:extLst>
          </p:cNvPr>
          <p:cNvSpPr txBox="1"/>
          <p:nvPr/>
        </p:nvSpPr>
        <p:spPr>
          <a:xfrm>
            <a:off x="5353440" y="4719410"/>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A97142"/>
                </a:solidFill>
              </a:rPr>
              <a:t>Bronze layer</a:t>
            </a:r>
            <a:endParaRPr lang="en-CA" sz="700" noProof="0">
              <a:solidFill>
                <a:srgbClr val="A97142"/>
              </a:solidFill>
            </a:endParaRPr>
          </a:p>
          <a:p>
            <a:pPr algn="ctr"/>
            <a:r>
              <a:rPr lang="en-CA" sz="700" noProof="0">
                <a:solidFill>
                  <a:schemeClr val="bg2">
                    <a:lumMod val="10000"/>
                  </a:schemeClr>
                </a:solidFill>
              </a:rPr>
              <a:t>(Data landing zone)</a:t>
            </a:r>
          </a:p>
        </p:txBody>
      </p:sp>
      <p:cxnSp>
        <p:nvCxnSpPr>
          <p:cNvPr id="210" name="Connector: Elbow 209">
            <a:extLst>
              <a:ext uri="{FF2B5EF4-FFF2-40B4-BE49-F238E27FC236}">
                <a16:creationId xmlns:a16="http://schemas.microsoft.com/office/drawing/2014/main" id="{C9CD7AE2-829A-047E-D263-A3AEF1815EA2}"/>
              </a:ext>
            </a:extLst>
          </p:cNvPr>
          <p:cNvCxnSpPr>
            <a:cxnSpLocks/>
            <a:endCxn id="61" idx="1"/>
          </p:cNvCxnSpPr>
          <p:nvPr/>
        </p:nvCxnSpPr>
        <p:spPr>
          <a:xfrm>
            <a:off x="4334487" y="5736519"/>
            <a:ext cx="734838" cy="219580"/>
          </a:xfrm>
          <a:prstGeom prst="bentConnector3">
            <a:avLst>
              <a:gd name="adj1" fmla="val 50000"/>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4" name="TextBox 223">
            <a:extLst>
              <a:ext uri="{FF2B5EF4-FFF2-40B4-BE49-F238E27FC236}">
                <a16:creationId xmlns:a16="http://schemas.microsoft.com/office/drawing/2014/main" id="{C63B32B2-4E61-E138-F576-B3F17BE4906C}"/>
              </a:ext>
            </a:extLst>
          </p:cNvPr>
          <p:cNvSpPr txBox="1"/>
          <p:nvPr/>
        </p:nvSpPr>
        <p:spPr>
          <a:xfrm>
            <a:off x="9246849" y="1428241"/>
            <a:ext cx="2880000"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200" b="1" noProof="0">
                <a:solidFill>
                  <a:schemeClr val="bg2">
                    <a:lumMod val="10000"/>
                  </a:schemeClr>
                </a:solidFill>
              </a:rPr>
              <a:t>Reporting and Classical AI</a:t>
            </a:r>
          </a:p>
        </p:txBody>
      </p:sp>
      <p:cxnSp>
        <p:nvCxnSpPr>
          <p:cNvPr id="228" name="Straight Arrow Connector 227">
            <a:extLst>
              <a:ext uri="{FF2B5EF4-FFF2-40B4-BE49-F238E27FC236}">
                <a16:creationId xmlns:a16="http://schemas.microsoft.com/office/drawing/2014/main" id="{9212A0D0-34B3-62DD-FDFE-F18D02BBD7B5}"/>
              </a:ext>
            </a:extLst>
          </p:cNvPr>
          <p:cNvCxnSpPr>
            <a:cxnSpLocks/>
            <a:stCxn id="736" idx="3"/>
            <a:endCxn id="227" idx="1"/>
          </p:cNvCxnSpPr>
          <p:nvPr/>
        </p:nvCxnSpPr>
        <p:spPr>
          <a:xfrm>
            <a:off x="8730770" y="1932241"/>
            <a:ext cx="516079"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231" name="TextBox 230">
            <a:extLst>
              <a:ext uri="{FF2B5EF4-FFF2-40B4-BE49-F238E27FC236}">
                <a16:creationId xmlns:a16="http://schemas.microsoft.com/office/drawing/2014/main" id="{14E8CC80-D4DE-DF56-1CE5-E0DCF42AAC18}"/>
              </a:ext>
            </a:extLst>
          </p:cNvPr>
          <p:cNvSpPr txBox="1"/>
          <p:nvPr/>
        </p:nvSpPr>
        <p:spPr>
          <a:xfrm>
            <a:off x="7830770" y="1747165"/>
            <a:ext cx="900000" cy="50359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E2AC00"/>
                </a:solidFill>
              </a:rPr>
              <a:t>Gold Layer</a:t>
            </a:r>
            <a:endParaRPr lang="en-CA" sz="700" noProof="0">
              <a:solidFill>
                <a:srgbClr val="E2AC00"/>
              </a:solidFill>
            </a:endParaRPr>
          </a:p>
          <a:p>
            <a:pPr algn="ctr"/>
            <a:r>
              <a:rPr lang="en-CA" sz="700" noProof="0">
                <a:solidFill>
                  <a:schemeClr val="tx1">
                    <a:lumMod val="50000"/>
                  </a:schemeClr>
                </a:solidFill>
              </a:rPr>
              <a:t>Curated data products for analytical use</a:t>
            </a:r>
          </a:p>
        </p:txBody>
      </p:sp>
      <p:sp>
        <p:nvSpPr>
          <p:cNvPr id="234" name="TextBox 233">
            <a:extLst>
              <a:ext uri="{FF2B5EF4-FFF2-40B4-BE49-F238E27FC236}">
                <a16:creationId xmlns:a16="http://schemas.microsoft.com/office/drawing/2014/main" id="{B9DD5117-6F77-F248-8517-843D9E4855A2}"/>
              </a:ext>
            </a:extLst>
          </p:cNvPr>
          <p:cNvSpPr txBox="1"/>
          <p:nvPr/>
        </p:nvSpPr>
        <p:spPr>
          <a:xfrm>
            <a:off x="9246849" y="1685610"/>
            <a:ext cx="2880000" cy="68825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spcBef>
                <a:spcPts val="300"/>
              </a:spcBef>
              <a:spcAft>
                <a:spcPts val="300"/>
              </a:spcAft>
            </a:pPr>
            <a:r>
              <a:rPr lang="en-CA" sz="1000" noProof="0">
                <a:solidFill>
                  <a:schemeClr val="bg2">
                    <a:lumMod val="10000"/>
                  </a:schemeClr>
                </a:solidFill>
              </a:rPr>
              <a:t>The most common path of all. The preferred way for analytical needs, including Machine Learning. This path usually leverage tools such as PowerBI.</a:t>
            </a:r>
          </a:p>
        </p:txBody>
      </p:sp>
      <p:cxnSp>
        <p:nvCxnSpPr>
          <p:cNvPr id="235" name="Straight Connector 234">
            <a:extLst>
              <a:ext uri="{FF2B5EF4-FFF2-40B4-BE49-F238E27FC236}">
                <a16:creationId xmlns:a16="http://schemas.microsoft.com/office/drawing/2014/main" id="{811A3C1A-A5C2-C6D2-9B4D-81DF0B9880CE}"/>
              </a:ext>
            </a:extLst>
          </p:cNvPr>
          <p:cNvCxnSpPr>
            <a:cxnSpLocks/>
          </p:cNvCxnSpPr>
          <p:nvPr/>
        </p:nvCxnSpPr>
        <p:spPr>
          <a:xfrm>
            <a:off x="9606849" y="1685610"/>
            <a:ext cx="2160000" cy="0"/>
          </a:xfrm>
          <a:prstGeom prst="lin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40" name="Rectangle: Rounded Corners 239">
            <a:extLst>
              <a:ext uri="{FF2B5EF4-FFF2-40B4-BE49-F238E27FC236}">
                <a16:creationId xmlns:a16="http://schemas.microsoft.com/office/drawing/2014/main" id="{981279B8-93DC-978A-1B4E-21DCB5B24EDF}"/>
              </a:ext>
            </a:extLst>
          </p:cNvPr>
          <p:cNvSpPr/>
          <p:nvPr/>
        </p:nvSpPr>
        <p:spPr>
          <a:xfrm>
            <a:off x="9252338" y="2912230"/>
            <a:ext cx="2880000" cy="1008000"/>
          </a:xfrm>
          <a:prstGeom prst="roundRect">
            <a:avLst>
              <a:gd name="adj" fmla="val 7142"/>
            </a:avLst>
          </a:prstGeom>
          <a:solidFill>
            <a:srgbClr val="FCF7FF"/>
          </a:solidFill>
          <a:ln w="9525">
            <a:solidFill>
              <a:srgbClr val="A100FF"/>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248" name="TextBox 247">
            <a:extLst>
              <a:ext uri="{FF2B5EF4-FFF2-40B4-BE49-F238E27FC236}">
                <a16:creationId xmlns:a16="http://schemas.microsoft.com/office/drawing/2014/main" id="{6E0874BF-6249-3E44-FA09-A900DCCCE31A}"/>
              </a:ext>
            </a:extLst>
          </p:cNvPr>
          <p:cNvSpPr txBox="1"/>
          <p:nvPr/>
        </p:nvSpPr>
        <p:spPr>
          <a:xfrm>
            <a:off x="9252338" y="2912230"/>
            <a:ext cx="2880000"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200" b="1" noProof="0">
                <a:solidFill>
                  <a:schemeClr val="bg2">
                    <a:lumMod val="10000"/>
                  </a:schemeClr>
                </a:solidFill>
              </a:rPr>
              <a:t>Day-to-Day Operational Reporting and Applications</a:t>
            </a:r>
          </a:p>
        </p:txBody>
      </p:sp>
      <p:sp>
        <p:nvSpPr>
          <p:cNvPr id="249" name="TextBox 248">
            <a:extLst>
              <a:ext uri="{FF2B5EF4-FFF2-40B4-BE49-F238E27FC236}">
                <a16:creationId xmlns:a16="http://schemas.microsoft.com/office/drawing/2014/main" id="{BB6BD806-CCD8-4951-F0AF-91336ADD3508}"/>
              </a:ext>
            </a:extLst>
          </p:cNvPr>
          <p:cNvSpPr txBox="1"/>
          <p:nvPr/>
        </p:nvSpPr>
        <p:spPr>
          <a:xfrm>
            <a:off x="9252338" y="3354265"/>
            <a:ext cx="2880000"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spcBef>
                <a:spcPts val="300"/>
              </a:spcBef>
              <a:spcAft>
                <a:spcPts val="300"/>
              </a:spcAft>
            </a:pPr>
            <a:r>
              <a:rPr lang="en-US" sz="1000">
                <a:solidFill>
                  <a:schemeClr val="bg2">
                    <a:lumMod val="10000"/>
                  </a:schemeClr>
                </a:solidFill>
              </a:rPr>
              <a:t>Low‑latency data to run operations and support real‑time decisions.</a:t>
            </a:r>
            <a:endParaRPr lang="en-CA" sz="1000" noProof="0">
              <a:solidFill>
                <a:schemeClr val="bg2">
                  <a:lumMod val="10000"/>
                </a:schemeClr>
              </a:solidFill>
            </a:endParaRPr>
          </a:p>
        </p:txBody>
      </p:sp>
      <p:cxnSp>
        <p:nvCxnSpPr>
          <p:cNvPr id="250" name="Straight Connector 249">
            <a:extLst>
              <a:ext uri="{FF2B5EF4-FFF2-40B4-BE49-F238E27FC236}">
                <a16:creationId xmlns:a16="http://schemas.microsoft.com/office/drawing/2014/main" id="{4E29901B-B271-D984-3642-EBAA6FD766F7}"/>
              </a:ext>
            </a:extLst>
          </p:cNvPr>
          <p:cNvCxnSpPr>
            <a:cxnSpLocks/>
          </p:cNvCxnSpPr>
          <p:nvPr/>
        </p:nvCxnSpPr>
        <p:spPr>
          <a:xfrm>
            <a:off x="9612338" y="3354265"/>
            <a:ext cx="2160000" cy="0"/>
          </a:xfrm>
          <a:prstGeom prst="lin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Arrow Connector 253">
            <a:extLst>
              <a:ext uri="{FF2B5EF4-FFF2-40B4-BE49-F238E27FC236}">
                <a16:creationId xmlns:a16="http://schemas.microsoft.com/office/drawing/2014/main" id="{F69FEF73-F9C6-813E-AF23-1CE86C66D6B9}"/>
              </a:ext>
            </a:extLst>
          </p:cNvPr>
          <p:cNvCxnSpPr>
            <a:cxnSpLocks/>
            <a:stCxn id="215" idx="3"/>
            <a:endCxn id="240" idx="1"/>
          </p:cNvCxnSpPr>
          <p:nvPr/>
        </p:nvCxnSpPr>
        <p:spPr>
          <a:xfrm>
            <a:off x="8730770" y="3416230"/>
            <a:ext cx="521568" cy="0"/>
          </a:xfrm>
          <a:prstGeom prst="straightConnector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sp>
        <p:nvSpPr>
          <p:cNvPr id="2052" name="Rectangle: Rounded Corners 2051">
            <a:extLst>
              <a:ext uri="{FF2B5EF4-FFF2-40B4-BE49-F238E27FC236}">
                <a16:creationId xmlns:a16="http://schemas.microsoft.com/office/drawing/2014/main" id="{BE2513CB-562E-7A14-F233-35640BBFB4F6}"/>
              </a:ext>
            </a:extLst>
          </p:cNvPr>
          <p:cNvSpPr/>
          <p:nvPr/>
        </p:nvSpPr>
        <p:spPr>
          <a:xfrm>
            <a:off x="9246849" y="4400254"/>
            <a:ext cx="2880000" cy="1008000"/>
          </a:xfrm>
          <a:prstGeom prst="roundRect">
            <a:avLst>
              <a:gd name="adj" fmla="val 7142"/>
            </a:avLst>
          </a:prstGeom>
          <a:solidFill>
            <a:srgbClr val="F3FBFF"/>
          </a:solidFill>
          <a:ln w="9525">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2053" name="TextBox 2052">
            <a:extLst>
              <a:ext uri="{FF2B5EF4-FFF2-40B4-BE49-F238E27FC236}">
                <a16:creationId xmlns:a16="http://schemas.microsoft.com/office/drawing/2014/main" id="{D671BE20-242A-DB6A-A825-E2C35D9B9EC1}"/>
              </a:ext>
            </a:extLst>
          </p:cNvPr>
          <p:cNvSpPr txBox="1"/>
          <p:nvPr/>
        </p:nvSpPr>
        <p:spPr>
          <a:xfrm>
            <a:off x="9246849" y="4400254"/>
            <a:ext cx="2880000"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200" b="1" noProof="0">
                <a:solidFill>
                  <a:schemeClr val="bg2">
                    <a:lumMod val="10000"/>
                  </a:schemeClr>
                </a:solidFill>
              </a:rPr>
              <a:t>Generative AI and Agentic AI</a:t>
            </a:r>
          </a:p>
        </p:txBody>
      </p:sp>
      <p:sp>
        <p:nvSpPr>
          <p:cNvPr id="2054" name="TextBox 2053">
            <a:extLst>
              <a:ext uri="{FF2B5EF4-FFF2-40B4-BE49-F238E27FC236}">
                <a16:creationId xmlns:a16="http://schemas.microsoft.com/office/drawing/2014/main" id="{AB010085-19B7-B6EC-614E-76D12F5083A4}"/>
              </a:ext>
            </a:extLst>
          </p:cNvPr>
          <p:cNvSpPr txBox="1"/>
          <p:nvPr/>
        </p:nvSpPr>
        <p:spPr>
          <a:xfrm>
            <a:off x="9246849" y="4657623"/>
            <a:ext cx="288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spcBef>
                <a:spcPts val="300"/>
              </a:spcBef>
              <a:spcAft>
                <a:spcPts val="300"/>
              </a:spcAft>
            </a:pPr>
            <a:r>
              <a:rPr lang="en-CA" sz="1000" noProof="0">
                <a:solidFill>
                  <a:schemeClr val="bg2">
                    <a:lumMod val="10000"/>
                  </a:schemeClr>
                </a:solidFill>
              </a:rPr>
              <a:t>Everything that you need to support generative AI and Agentic workflows. To be used when enterprise data needs to power AI products.</a:t>
            </a:r>
          </a:p>
        </p:txBody>
      </p:sp>
      <p:cxnSp>
        <p:nvCxnSpPr>
          <p:cNvPr id="2055" name="Straight Connector 2054">
            <a:extLst>
              <a:ext uri="{FF2B5EF4-FFF2-40B4-BE49-F238E27FC236}">
                <a16:creationId xmlns:a16="http://schemas.microsoft.com/office/drawing/2014/main" id="{636386B9-29EB-3518-8F94-588936B47A0D}"/>
              </a:ext>
            </a:extLst>
          </p:cNvPr>
          <p:cNvCxnSpPr>
            <a:cxnSpLocks/>
          </p:cNvCxnSpPr>
          <p:nvPr/>
        </p:nvCxnSpPr>
        <p:spPr>
          <a:xfrm>
            <a:off x="9606849" y="4657623"/>
            <a:ext cx="2160000" cy="0"/>
          </a:xfrm>
          <a:prstGeom prst="lin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2058" name="Straight Arrow Connector 2057">
            <a:extLst>
              <a:ext uri="{FF2B5EF4-FFF2-40B4-BE49-F238E27FC236}">
                <a16:creationId xmlns:a16="http://schemas.microsoft.com/office/drawing/2014/main" id="{36036D08-C26D-AB92-C475-BF2DC8C8BC60}"/>
              </a:ext>
            </a:extLst>
          </p:cNvPr>
          <p:cNvCxnSpPr>
            <a:cxnSpLocks/>
            <a:stCxn id="708" idx="3"/>
            <a:endCxn id="2052" idx="1"/>
          </p:cNvCxnSpPr>
          <p:nvPr/>
        </p:nvCxnSpPr>
        <p:spPr>
          <a:xfrm>
            <a:off x="8733894" y="4904254"/>
            <a:ext cx="512955" cy="0"/>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61" name="TextBox 2060">
            <a:extLst>
              <a:ext uri="{FF2B5EF4-FFF2-40B4-BE49-F238E27FC236}">
                <a16:creationId xmlns:a16="http://schemas.microsoft.com/office/drawing/2014/main" id="{882C98AC-7A23-100B-DCFE-6A23E5DBB824}"/>
              </a:ext>
            </a:extLst>
          </p:cNvPr>
          <p:cNvSpPr txBox="1"/>
          <p:nvPr/>
        </p:nvSpPr>
        <p:spPr>
          <a:xfrm>
            <a:off x="7830770" y="4711740"/>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E2AC00"/>
                </a:solidFill>
              </a:rPr>
              <a:t>Gold Layer</a:t>
            </a:r>
            <a:endParaRPr lang="en-CA" sz="700" noProof="0">
              <a:solidFill>
                <a:srgbClr val="9F9F9F"/>
              </a:solidFill>
            </a:endParaRPr>
          </a:p>
          <a:p>
            <a:pPr algn="ctr"/>
            <a:r>
              <a:rPr lang="en-CA" sz="700" noProof="0">
                <a:solidFill>
                  <a:schemeClr val="tx1">
                    <a:lumMod val="50000"/>
                  </a:schemeClr>
                </a:solidFill>
              </a:rPr>
              <a:t>AI and search‑ready data products</a:t>
            </a:r>
          </a:p>
        </p:txBody>
      </p:sp>
      <p:cxnSp>
        <p:nvCxnSpPr>
          <p:cNvPr id="2070" name="Straight Arrow Connector 2069">
            <a:extLst>
              <a:ext uri="{FF2B5EF4-FFF2-40B4-BE49-F238E27FC236}">
                <a16:creationId xmlns:a16="http://schemas.microsoft.com/office/drawing/2014/main" id="{682CC158-A735-BADE-38F1-592E1B1CF817}"/>
              </a:ext>
            </a:extLst>
          </p:cNvPr>
          <p:cNvCxnSpPr>
            <a:cxnSpLocks/>
            <a:stCxn id="61" idx="3"/>
          </p:cNvCxnSpPr>
          <p:nvPr/>
        </p:nvCxnSpPr>
        <p:spPr>
          <a:xfrm flipV="1">
            <a:off x="8993325" y="5956098"/>
            <a:ext cx="253524"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200DD0A-3876-26A3-A3C7-6E7CD8DD7564}"/>
              </a:ext>
            </a:extLst>
          </p:cNvPr>
          <p:cNvGrpSpPr/>
          <p:nvPr/>
        </p:nvGrpSpPr>
        <p:grpSpPr>
          <a:xfrm>
            <a:off x="9246849" y="5668098"/>
            <a:ext cx="2880000" cy="576000"/>
            <a:chOff x="9246849" y="5625572"/>
            <a:chExt cx="2880000" cy="576000"/>
          </a:xfrm>
        </p:grpSpPr>
        <p:sp>
          <p:nvSpPr>
            <p:cNvPr id="2065" name="Rectangle: Rounded Corners 2064">
              <a:extLst>
                <a:ext uri="{FF2B5EF4-FFF2-40B4-BE49-F238E27FC236}">
                  <a16:creationId xmlns:a16="http://schemas.microsoft.com/office/drawing/2014/main" id="{EC7B71F0-FA31-C31E-5E95-5CDDC50CD6DA}"/>
                </a:ext>
              </a:extLst>
            </p:cNvPr>
            <p:cNvSpPr/>
            <p:nvPr/>
          </p:nvSpPr>
          <p:spPr>
            <a:xfrm>
              <a:off x="9246849" y="5625572"/>
              <a:ext cx="2880000" cy="576000"/>
            </a:xfrm>
            <a:prstGeom prst="roundRect">
              <a:avLst>
                <a:gd name="adj" fmla="val 7142"/>
              </a:avLst>
            </a:prstGeom>
            <a:solidFill>
              <a:srgbClr val="F1F1EF"/>
            </a:solidFill>
            <a:ln w="952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2066" name="TextBox 2065">
              <a:extLst>
                <a:ext uri="{FF2B5EF4-FFF2-40B4-BE49-F238E27FC236}">
                  <a16:creationId xmlns:a16="http://schemas.microsoft.com/office/drawing/2014/main" id="{808F951C-21D2-10AF-1404-4DBEA3C9B7F0}"/>
                </a:ext>
              </a:extLst>
            </p:cNvPr>
            <p:cNvSpPr txBox="1"/>
            <p:nvPr/>
          </p:nvSpPr>
          <p:spPr>
            <a:xfrm>
              <a:off x="9246849" y="5625572"/>
              <a:ext cx="2880000" cy="22101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0" rtlCol="0" anchor="t" anchorCtr="0">
              <a:spAutoFit/>
            </a:bodyPr>
            <a:lstStyle/>
            <a:p>
              <a:pPr algn="ctr"/>
              <a:r>
                <a:rPr lang="en-CA" sz="1200" b="1" noProof="0">
                  <a:solidFill>
                    <a:schemeClr val="bg2">
                      <a:lumMod val="10000"/>
                    </a:schemeClr>
                  </a:solidFill>
                </a:rPr>
                <a:t>AI Search and Standard Copilots</a:t>
              </a:r>
            </a:p>
          </p:txBody>
        </p:sp>
        <p:cxnSp>
          <p:nvCxnSpPr>
            <p:cNvPr id="2068" name="Straight Connector 2067">
              <a:extLst>
                <a:ext uri="{FF2B5EF4-FFF2-40B4-BE49-F238E27FC236}">
                  <a16:creationId xmlns:a16="http://schemas.microsoft.com/office/drawing/2014/main" id="{B506B0AD-7A32-80D2-44B8-88F82ED92B0D}"/>
                </a:ext>
              </a:extLst>
            </p:cNvPr>
            <p:cNvCxnSpPr>
              <a:cxnSpLocks/>
            </p:cNvCxnSpPr>
            <p:nvPr/>
          </p:nvCxnSpPr>
          <p:spPr>
            <a:xfrm>
              <a:off x="9606849" y="5870192"/>
              <a:ext cx="2160000" cy="0"/>
            </a:xfrm>
            <a:prstGeom prst="line">
              <a:avLst/>
            </a:prstGeom>
            <a:ln w="127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073" name="TextBox 2072">
              <a:extLst>
                <a:ext uri="{FF2B5EF4-FFF2-40B4-BE49-F238E27FC236}">
                  <a16:creationId xmlns:a16="http://schemas.microsoft.com/office/drawing/2014/main" id="{FEA798A7-8D43-D11F-6D5E-B5B718C83C05}"/>
                </a:ext>
              </a:extLst>
            </p:cNvPr>
            <p:cNvSpPr txBox="1"/>
            <p:nvPr/>
          </p:nvSpPr>
          <p:spPr>
            <a:xfrm>
              <a:off x="9246849" y="5893795"/>
              <a:ext cx="2880000" cy="30777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0" rIns="36000" bIns="0" rtlCol="0" anchor="t" anchorCtr="0">
              <a:spAutoFit/>
            </a:bodyPr>
            <a:lstStyle/>
            <a:p>
              <a:pPr>
                <a:spcBef>
                  <a:spcPts val="300"/>
                </a:spcBef>
                <a:spcAft>
                  <a:spcPts val="300"/>
                </a:spcAft>
              </a:pPr>
              <a:r>
                <a:rPr lang="en-CA" sz="1000" noProof="0">
                  <a:solidFill>
                    <a:schemeClr val="bg2">
                      <a:lumMod val="10000"/>
                    </a:schemeClr>
                  </a:solidFill>
                </a:rPr>
                <a:t>Leverage documents as-is. Used to feed tools like Microsoft Copilot and enterprise search.</a:t>
              </a:r>
            </a:p>
          </p:txBody>
        </p:sp>
      </p:grpSp>
      <p:sp>
        <p:nvSpPr>
          <p:cNvPr id="6" name="TextBox 5">
            <a:extLst>
              <a:ext uri="{FF2B5EF4-FFF2-40B4-BE49-F238E27FC236}">
                <a16:creationId xmlns:a16="http://schemas.microsoft.com/office/drawing/2014/main" id="{7362AFE4-1A2B-06DB-849E-596D1E120A88}"/>
              </a:ext>
            </a:extLst>
          </p:cNvPr>
          <p:cNvSpPr txBox="1"/>
          <p:nvPr/>
        </p:nvSpPr>
        <p:spPr>
          <a:xfrm>
            <a:off x="7830770" y="3285654"/>
            <a:ext cx="900000" cy="50359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E2AC00"/>
                </a:solidFill>
              </a:rPr>
              <a:t>Gold Layer</a:t>
            </a:r>
            <a:endParaRPr lang="en-CA" sz="700" noProof="0">
              <a:solidFill>
                <a:srgbClr val="E2AC00"/>
              </a:solidFill>
            </a:endParaRPr>
          </a:p>
          <a:p>
            <a:pPr algn="ctr"/>
            <a:r>
              <a:rPr lang="en-CA" sz="700" noProof="0">
                <a:solidFill>
                  <a:schemeClr val="tx1">
                    <a:lumMod val="50000"/>
                  </a:schemeClr>
                </a:solidFill>
              </a:rPr>
              <a:t>Curated data products for operational usage</a:t>
            </a:r>
          </a:p>
        </p:txBody>
      </p:sp>
      <p:grpSp>
        <p:nvGrpSpPr>
          <p:cNvPr id="4106" name="Group 4105">
            <a:extLst>
              <a:ext uri="{FF2B5EF4-FFF2-40B4-BE49-F238E27FC236}">
                <a16:creationId xmlns:a16="http://schemas.microsoft.com/office/drawing/2014/main" id="{581CDC44-6E6C-A805-1413-58B54C6D7C56}"/>
              </a:ext>
            </a:extLst>
          </p:cNvPr>
          <p:cNvGrpSpPr/>
          <p:nvPr/>
        </p:nvGrpSpPr>
        <p:grpSpPr>
          <a:xfrm>
            <a:off x="154345" y="4395773"/>
            <a:ext cx="4176000" cy="648000"/>
            <a:chOff x="154345" y="4395773"/>
            <a:chExt cx="4176000" cy="648000"/>
          </a:xfrm>
        </p:grpSpPr>
        <p:sp>
          <p:nvSpPr>
            <p:cNvPr id="4098" name="Rectangle: Rounded Corners 4097">
              <a:extLst>
                <a:ext uri="{FF2B5EF4-FFF2-40B4-BE49-F238E27FC236}">
                  <a16:creationId xmlns:a16="http://schemas.microsoft.com/office/drawing/2014/main" id="{D433A48E-5D83-478E-0BAB-D9032C725262}"/>
                </a:ext>
              </a:extLst>
            </p:cNvPr>
            <p:cNvSpPr/>
            <p:nvPr/>
          </p:nvSpPr>
          <p:spPr>
            <a:xfrm>
              <a:off x="154345" y="4395773"/>
              <a:ext cx="4176000" cy="648000"/>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4103" name="TextBox 4102">
              <a:extLst>
                <a:ext uri="{FF2B5EF4-FFF2-40B4-BE49-F238E27FC236}">
                  <a16:creationId xmlns:a16="http://schemas.microsoft.com/office/drawing/2014/main" id="{7799DD01-2C62-D669-2C73-E814DD3ED13E}"/>
                </a:ext>
              </a:extLst>
            </p:cNvPr>
            <p:cNvSpPr txBox="1"/>
            <p:nvPr/>
          </p:nvSpPr>
          <p:spPr>
            <a:xfrm>
              <a:off x="1055819" y="4438644"/>
              <a:ext cx="2428064"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200" b="1" noProof="0">
                  <a:solidFill>
                    <a:schemeClr val="bg2">
                      <a:lumMod val="10000"/>
                    </a:schemeClr>
                  </a:solidFill>
                </a:rPr>
                <a:t>Semi-structured Data</a:t>
              </a:r>
            </a:p>
          </p:txBody>
        </p:sp>
        <p:sp>
          <p:nvSpPr>
            <p:cNvPr id="204" name="TextBox 203">
              <a:extLst>
                <a:ext uri="{FF2B5EF4-FFF2-40B4-BE49-F238E27FC236}">
                  <a16:creationId xmlns:a16="http://schemas.microsoft.com/office/drawing/2014/main" id="{75245035-ED04-EA17-ED56-1A05324A5CCE}"/>
                </a:ext>
              </a:extLst>
            </p:cNvPr>
            <p:cNvSpPr txBox="1"/>
            <p:nvPr/>
          </p:nvSpPr>
          <p:spPr>
            <a:xfrm>
              <a:off x="1039699" y="4706164"/>
              <a:ext cx="2405292"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E.g. : Excel, JSON, XML</a:t>
              </a:r>
            </a:p>
          </p:txBody>
        </p:sp>
        <p:grpSp>
          <p:nvGrpSpPr>
            <p:cNvPr id="4157" name="Graphic 4153" descr="Contract with solid fill">
              <a:extLst>
                <a:ext uri="{FF2B5EF4-FFF2-40B4-BE49-F238E27FC236}">
                  <a16:creationId xmlns:a16="http://schemas.microsoft.com/office/drawing/2014/main" id="{262517E1-A590-5DA1-6013-180EBF399BD2}"/>
                </a:ext>
              </a:extLst>
            </p:cNvPr>
            <p:cNvGrpSpPr>
              <a:grpSpLocks noChangeAspect="1"/>
            </p:cNvGrpSpPr>
            <p:nvPr/>
          </p:nvGrpSpPr>
          <p:grpSpPr>
            <a:xfrm>
              <a:off x="300568" y="4557410"/>
              <a:ext cx="251100" cy="324000"/>
              <a:chOff x="1773197" y="5813549"/>
              <a:chExt cx="590550" cy="762000"/>
            </a:xfrm>
            <a:solidFill>
              <a:srgbClr val="000000"/>
            </a:solidFill>
          </p:grpSpPr>
          <p:sp>
            <p:nvSpPr>
              <p:cNvPr id="4159" name="Freeform: Shape 4158">
                <a:extLst>
                  <a:ext uri="{FF2B5EF4-FFF2-40B4-BE49-F238E27FC236}">
                    <a16:creationId xmlns:a16="http://schemas.microsoft.com/office/drawing/2014/main" id="{390B9C78-14D6-9B51-EF54-F1B0035A756A}"/>
                  </a:ext>
                </a:extLst>
              </p:cNvPr>
              <p:cNvSpPr/>
              <p:nvPr/>
            </p:nvSpPr>
            <p:spPr>
              <a:xfrm>
                <a:off x="1773197" y="5813549"/>
                <a:ext cx="590550" cy="762000"/>
              </a:xfrm>
              <a:custGeom>
                <a:avLst/>
                <a:gdLst>
                  <a:gd name="csX0" fmla="*/ 533400 w 590550"/>
                  <a:gd name="csY0" fmla="*/ 704850 h 762000"/>
                  <a:gd name="csX1" fmla="*/ 57150 w 590550"/>
                  <a:gd name="csY1" fmla="*/ 704850 h 762000"/>
                  <a:gd name="csX2" fmla="*/ 57150 w 590550"/>
                  <a:gd name="csY2" fmla="*/ 57150 h 762000"/>
                  <a:gd name="csX3" fmla="*/ 533400 w 590550"/>
                  <a:gd name="csY3" fmla="*/ 57150 h 762000"/>
                  <a:gd name="csX4" fmla="*/ 533400 w 590550"/>
                  <a:gd name="csY4" fmla="*/ 704850 h 762000"/>
                  <a:gd name="csX5" fmla="*/ 590550 w 590550"/>
                  <a:gd name="csY5" fmla="*/ 0 h 762000"/>
                  <a:gd name="csX6" fmla="*/ 0 w 590550"/>
                  <a:gd name="csY6" fmla="*/ 0 h 762000"/>
                  <a:gd name="csX7" fmla="*/ 0 w 590550"/>
                  <a:gd name="csY7" fmla="*/ 762000 h 762000"/>
                  <a:gd name="csX8" fmla="*/ 590550 w 590550"/>
                  <a:gd name="csY8" fmla="*/ 762000 h 762000"/>
                  <a:gd name="csX9" fmla="*/ 590550 w 590550"/>
                  <a:gd name="csY9"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90550" h="762000">
                    <a:moveTo>
                      <a:pt x="533400" y="704850"/>
                    </a:moveTo>
                    <a:lnTo>
                      <a:pt x="57150" y="704850"/>
                    </a:lnTo>
                    <a:lnTo>
                      <a:pt x="57150" y="57150"/>
                    </a:lnTo>
                    <a:lnTo>
                      <a:pt x="533400" y="57150"/>
                    </a:lnTo>
                    <a:lnTo>
                      <a:pt x="533400" y="704850"/>
                    </a:lnTo>
                    <a:close/>
                    <a:moveTo>
                      <a:pt x="590550" y="0"/>
                    </a:moveTo>
                    <a:lnTo>
                      <a:pt x="0" y="0"/>
                    </a:lnTo>
                    <a:lnTo>
                      <a:pt x="0" y="762000"/>
                    </a:lnTo>
                    <a:lnTo>
                      <a:pt x="590550" y="762000"/>
                    </a:lnTo>
                    <a:lnTo>
                      <a:pt x="590550" y="0"/>
                    </a:lnTo>
                    <a:close/>
                  </a:path>
                </a:pathLst>
              </a:custGeom>
              <a:solidFill>
                <a:srgbClr val="000000"/>
              </a:solidFill>
              <a:ln w="9525" cap="flat">
                <a:noFill/>
                <a:prstDash val="solid"/>
                <a:miter/>
              </a:ln>
            </p:spPr>
            <p:txBody>
              <a:bodyPr/>
              <a:lstStyle/>
              <a:p>
                <a:endParaRPr lang="en-CA" noProof="0"/>
              </a:p>
            </p:txBody>
          </p:sp>
          <p:sp>
            <p:nvSpPr>
              <p:cNvPr id="1025" name="Freeform: Shape 1024">
                <a:extLst>
                  <a:ext uri="{FF2B5EF4-FFF2-40B4-BE49-F238E27FC236}">
                    <a16:creationId xmlns:a16="http://schemas.microsoft.com/office/drawing/2014/main" id="{C3656392-EBFE-4F85-7689-92889A63C02F}"/>
                  </a:ext>
                </a:extLst>
              </p:cNvPr>
              <p:cNvSpPr/>
              <p:nvPr/>
            </p:nvSpPr>
            <p:spPr>
              <a:xfrm>
                <a:off x="1887497" y="6365999"/>
                <a:ext cx="171450" cy="38100"/>
              </a:xfrm>
              <a:custGeom>
                <a:avLst/>
                <a:gdLst>
                  <a:gd name="csX0" fmla="*/ 0 w 171450"/>
                  <a:gd name="csY0" fmla="*/ 0 h 38100"/>
                  <a:gd name="csX1" fmla="*/ 171450 w 171450"/>
                  <a:gd name="csY1" fmla="*/ 0 h 38100"/>
                  <a:gd name="csX2" fmla="*/ 171450 w 171450"/>
                  <a:gd name="csY2" fmla="*/ 38100 h 38100"/>
                  <a:gd name="csX3" fmla="*/ 0 w 171450"/>
                  <a:gd name="csY3" fmla="*/ 38100 h 38100"/>
                </a:gdLst>
                <a:ahLst/>
                <a:cxnLst>
                  <a:cxn ang="0">
                    <a:pos x="csX0" y="csY0"/>
                  </a:cxn>
                  <a:cxn ang="0">
                    <a:pos x="csX1" y="csY1"/>
                  </a:cxn>
                  <a:cxn ang="0">
                    <a:pos x="csX2" y="csY2"/>
                  </a:cxn>
                  <a:cxn ang="0">
                    <a:pos x="csX3" y="csY3"/>
                  </a:cxn>
                </a:cxnLst>
                <a:rect l="l" t="t" r="r" b="b"/>
                <a:pathLst>
                  <a:path w="171450" h="38100">
                    <a:moveTo>
                      <a:pt x="0" y="0"/>
                    </a:moveTo>
                    <a:lnTo>
                      <a:pt x="171450" y="0"/>
                    </a:lnTo>
                    <a:lnTo>
                      <a:pt x="171450" y="38100"/>
                    </a:lnTo>
                    <a:lnTo>
                      <a:pt x="0" y="38100"/>
                    </a:lnTo>
                    <a:close/>
                  </a:path>
                </a:pathLst>
              </a:custGeom>
              <a:solidFill>
                <a:srgbClr val="000000"/>
              </a:solidFill>
              <a:ln w="9525" cap="flat">
                <a:noFill/>
                <a:prstDash val="solid"/>
                <a:miter/>
              </a:ln>
            </p:spPr>
            <p:txBody>
              <a:bodyPr/>
              <a:lstStyle/>
              <a:p>
                <a:endParaRPr lang="en-CA" noProof="0"/>
              </a:p>
            </p:txBody>
          </p:sp>
          <p:sp>
            <p:nvSpPr>
              <p:cNvPr id="1028" name="Freeform: Shape 1027">
                <a:extLst>
                  <a:ext uri="{FF2B5EF4-FFF2-40B4-BE49-F238E27FC236}">
                    <a16:creationId xmlns:a16="http://schemas.microsoft.com/office/drawing/2014/main" id="{02E6B34A-1796-2EAE-4A8E-5DE81F83F549}"/>
                  </a:ext>
                </a:extLst>
              </p:cNvPr>
              <p:cNvSpPr/>
              <p:nvPr/>
            </p:nvSpPr>
            <p:spPr>
              <a:xfrm>
                <a:off x="1887497" y="59468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32" name="Freeform: Shape 1031">
                <a:extLst>
                  <a:ext uri="{FF2B5EF4-FFF2-40B4-BE49-F238E27FC236}">
                    <a16:creationId xmlns:a16="http://schemas.microsoft.com/office/drawing/2014/main" id="{7EF659D9-6BD9-FC09-35D8-CA07637B7A6E}"/>
                  </a:ext>
                </a:extLst>
              </p:cNvPr>
              <p:cNvSpPr/>
              <p:nvPr/>
            </p:nvSpPr>
            <p:spPr>
              <a:xfrm>
                <a:off x="1887497" y="60230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36" name="Freeform: Shape 1035">
                <a:extLst>
                  <a:ext uri="{FF2B5EF4-FFF2-40B4-BE49-F238E27FC236}">
                    <a16:creationId xmlns:a16="http://schemas.microsoft.com/office/drawing/2014/main" id="{6723609D-43A4-8EDD-09E5-5C622DE00FBF}"/>
                  </a:ext>
                </a:extLst>
              </p:cNvPr>
              <p:cNvSpPr/>
              <p:nvPr/>
            </p:nvSpPr>
            <p:spPr>
              <a:xfrm>
                <a:off x="1887497" y="60992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40" name="Freeform: Shape 1039">
                <a:extLst>
                  <a:ext uri="{FF2B5EF4-FFF2-40B4-BE49-F238E27FC236}">
                    <a16:creationId xmlns:a16="http://schemas.microsoft.com/office/drawing/2014/main" id="{941DE81A-7019-62C9-BC0E-A002A07E4685}"/>
                  </a:ext>
                </a:extLst>
              </p:cNvPr>
              <p:cNvSpPr/>
              <p:nvPr/>
            </p:nvSpPr>
            <p:spPr>
              <a:xfrm>
                <a:off x="2068472" y="6175499"/>
                <a:ext cx="180975" cy="38100"/>
              </a:xfrm>
              <a:custGeom>
                <a:avLst/>
                <a:gdLst>
                  <a:gd name="csX0" fmla="*/ 0 w 180975"/>
                  <a:gd name="csY0" fmla="*/ 0 h 38100"/>
                  <a:gd name="csX1" fmla="*/ 180975 w 180975"/>
                  <a:gd name="csY1" fmla="*/ 0 h 38100"/>
                  <a:gd name="csX2" fmla="*/ 180975 w 180975"/>
                  <a:gd name="csY2" fmla="*/ 38100 h 38100"/>
                  <a:gd name="csX3" fmla="*/ 0 w 180975"/>
                  <a:gd name="csY3" fmla="*/ 38100 h 38100"/>
                </a:gdLst>
                <a:ahLst/>
                <a:cxnLst>
                  <a:cxn ang="0">
                    <a:pos x="csX0" y="csY0"/>
                  </a:cxn>
                  <a:cxn ang="0">
                    <a:pos x="csX1" y="csY1"/>
                  </a:cxn>
                  <a:cxn ang="0">
                    <a:pos x="csX2" y="csY2"/>
                  </a:cxn>
                  <a:cxn ang="0">
                    <a:pos x="csX3" y="csY3"/>
                  </a:cxn>
                </a:cxnLst>
                <a:rect l="l" t="t" r="r" b="b"/>
                <a:pathLst>
                  <a:path w="180975" h="38100">
                    <a:moveTo>
                      <a:pt x="0" y="0"/>
                    </a:moveTo>
                    <a:lnTo>
                      <a:pt x="180975" y="0"/>
                    </a:lnTo>
                    <a:lnTo>
                      <a:pt x="180975" y="38100"/>
                    </a:lnTo>
                    <a:lnTo>
                      <a:pt x="0" y="38100"/>
                    </a:lnTo>
                    <a:close/>
                  </a:path>
                </a:pathLst>
              </a:custGeom>
              <a:solidFill>
                <a:srgbClr val="000000"/>
              </a:solidFill>
              <a:ln w="9525" cap="flat">
                <a:noFill/>
                <a:prstDash val="solid"/>
                <a:miter/>
              </a:ln>
            </p:spPr>
            <p:txBody>
              <a:bodyPr/>
              <a:lstStyle/>
              <a:p>
                <a:endParaRPr lang="en-CA" noProof="0"/>
              </a:p>
            </p:txBody>
          </p:sp>
          <p:sp>
            <p:nvSpPr>
              <p:cNvPr id="1041" name="Freeform: Shape 1040">
                <a:extLst>
                  <a:ext uri="{FF2B5EF4-FFF2-40B4-BE49-F238E27FC236}">
                    <a16:creationId xmlns:a16="http://schemas.microsoft.com/office/drawing/2014/main" id="{AA4D06E6-C650-12AB-0AFB-5AEE9F683F34}"/>
                  </a:ext>
                </a:extLst>
              </p:cNvPr>
              <p:cNvSpPr/>
              <p:nvPr/>
            </p:nvSpPr>
            <p:spPr>
              <a:xfrm>
                <a:off x="2116097" y="6318374"/>
                <a:ext cx="133350" cy="133350"/>
              </a:xfrm>
              <a:custGeom>
                <a:avLst/>
                <a:gdLst>
                  <a:gd name="csX0" fmla="*/ 103823 w 133350"/>
                  <a:gd name="csY0" fmla="*/ 133350 h 133350"/>
                  <a:gd name="csX1" fmla="*/ 66675 w 133350"/>
                  <a:gd name="csY1" fmla="*/ 96202 h 133350"/>
                  <a:gd name="csX2" fmla="*/ 29527 w 133350"/>
                  <a:gd name="csY2" fmla="*/ 133350 h 133350"/>
                  <a:gd name="csX3" fmla="*/ 0 w 133350"/>
                  <a:gd name="csY3" fmla="*/ 103823 h 133350"/>
                  <a:gd name="csX4" fmla="*/ 37148 w 133350"/>
                  <a:gd name="csY4" fmla="*/ 66675 h 133350"/>
                  <a:gd name="csX5" fmla="*/ 0 w 133350"/>
                  <a:gd name="csY5" fmla="*/ 29527 h 133350"/>
                  <a:gd name="csX6" fmla="*/ 29527 w 133350"/>
                  <a:gd name="csY6" fmla="*/ 0 h 133350"/>
                  <a:gd name="csX7" fmla="*/ 66675 w 133350"/>
                  <a:gd name="csY7" fmla="*/ 37148 h 133350"/>
                  <a:gd name="csX8" fmla="*/ 103823 w 133350"/>
                  <a:gd name="csY8" fmla="*/ 0 h 133350"/>
                  <a:gd name="csX9" fmla="*/ 133350 w 133350"/>
                  <a:gd name="csY9" fmla="*/ 29527 h 133350"/>
                  <a:gd name="csX10" fmla="*/ 96202 w 133350"/>
                  <a:gd name="csY10" fmla="*/ 66675 h 133350"/>
                  <a:gd name="csX11" fmla="*/ 133350 w 133350"/>
                  <a:gd name="csY11" fmla="*/ 103823 h 133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33350" h="133350">
                    <a:moveTo>
                      <a:pt x="103823" y="133350"/>
                    </a:moveTo>
                    <a:lnTo>
                      <a:pt x="66675" y="96202"/>
                    </a:lnTo>
                    <a:lnTo>
                      <a:pt x="29527" y="133350"/>
                    </a:lnTo>
                    <a:lnTo>
                      <a:pt x="0" y="103823"/>
                    </a:lnTo>
                    <a:lnTo>
                      <a:pt x="37148" y="66675"/>
                    </a:lnTo>
                    <a:lnTo>
                      <a:pt x="0" y="29527"/>
                    </a:lnTo>
                    <a:lnTo>
                      <a:pt x="29527" y="0"/>
                    </a:lnTo>
                    <a:lnTo>
                      <a:pt x="66675" y="37148"/>
                    </a:lnTo>
                    <a:lnTo>
                      <a:pt x="103823" y="0"/>
                    </a:lnTo>
                    <a:lnTo>
                      <a:pt x="133350" y="29527"/>
                    </a:lnTo>
                    <a:lnTo>
                      <a:pt x="96202" y="66675"/>
                    </a:lnTo>
                    <a:lnTo>
                      <a:pt x="133350" y="103823"/>
                    </a:lnTo>
                    <a:close/>
                  </a:path>
                </a:pathLst>
              </a:custGeom>
              <a:solidFill>
                <a:srgbClr val="000000"/>
              </a:solidFill>
              <a:ln w="9525" cap="flat">
                <a:noFill/>
                <a:prstDash val="solid"/>
                <a:miter/>
              </a:ln>
            </p:spPr>
            <p:txBody>
              <a:bodyPr/>
              <a:lstStyle/>
              <a:p>
                <a:endParaRPr lang="en-CA" noProof="0"/>
              </a:p>
            </p:txBody>
          </p:sp>
        </p:grpSp>
      </p:grpSp>
      <p:pic>
        <p:nvPicPr>
          <p:cNvPr id="2" name="Graphic 1" descr="Database outline">
            <a:extLst>
              <a:ext uri="{FF2B5EF4-FFF2-40B4-BE49-F238E27FC236}">
                <a16:creationId xmlns:a16="http://schemas.microsoft.com/office/drawing/2014/main" id="{F53FBCB6-327B-CE47-DFBB-7675EA3527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1182" y="3767465"/>
            <a:ext cx="360037" cy="360037"/>
          </a:xfrm>
          <a:prstGeom prst="rect">
            <a:avLst/>
          </a:prstGeom>
        </p:spPr>
      </p:pic>
      <p:sp>
        <p:nvSpPr>
          <p:cNvPr id="5" name="TextBox 4">
            <a:extLst>
              <a:ext uri="{FF2B5EF4-FFF2-40B4-BE49-F238E27FC236}">
                <a16:creationId xmlns:a16="http://schemas.microsoft.com/office/drawing/2014/main" id="{7F205391-69DF-9ED6-AB64-E0849387A16D}"/>
              </a:ext>
            </a:extLst>
          </p:cNvPr>
          <p:cNvSpPr txBox="1"/>
          <p:nvPr/>
        </p:nvSpPr>
        <p:spPr>
          <a:xfrm>
            <a:off x="3972440" y="937517"/>
            <a:ext cx="6117770" cy="2616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CA" sz="1100" b="1" noProof="0">
                <a:solidFill>
                  <a:schemeClr val="accent1"/>
                </a:solidFill>
              </a:rPr>
              <a:t>Illustrative example</a:t>
            </a:r>
          </a:p>
        </p:txBody>
      </p:sp>
      <p:sp>
        <p:nvSpPr>
          <p:cNvPr id="3" name="TextBox 2">
            <a:extLst>
              <a:ext uri="{FF2B5EF4-FFF2-40B4-BE49-F238E27FC236}">
                <a16:creationId xmlns:a16="http://schemas.microsoft.com/office/drawing/2014/main" id="{296A4A61-9C63-B3AE-8F22-71689C5CFC62}"/>
              </a:ext>
            </a:extLst>
          </p:cNvPr>
          <p:cNvSpPr txBox="1"/>
          <p:nvPr/>
        </p:nvSpPr>
        <p:spPr>
          <a:xfrm>
            <a:off x="4885082" y="6076619"/>
            <a:ext cx="1086296"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noProof="0">
                <a:solidFill>
                  <a:schemeClr val="bg2">
                    <a:lumMod val="10000"/>
                  </a:schemeClr>
                </a:solidFill>
              </a:rPr>
              <a:t>SharePoint</a:t>
            </a:r>
          </a:p>
        </p:txBody>
      </p:sp>
      <p:sp>
        <p:nvSpPr>
          <p:cNvPr id="7" name="TextBox 6">
            <a:extLst>
              <a:ext uri="{FF2B5EF4-FFF2-40B4-BE49-F238E27FC236}">
                <a16:creationId xmlns:a16="http://schemas.microsoft.com/office/drawing/2014/main" id="{3F8D01DC-1889-4FA3-4AEC-9CD4DE19B6A0}"/>
              </a:ext>
            </a:extLst>
          </p:cNvPr>
          <p:cNvSpPr txBox="1"/>
          <p:nvPr/>
        </p:nvSpPr>
        <p:spPr>
          <a:xfrm>
            <a:off x="8187621" y="6068635"/>
            <a:ext cx="1086296"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noProof="0">
                <a:solidFill>
                  <a:schemeClr val="bg2">
                    <a:lumMod val="10000"/>
                  </a:schemeClr>
                </a:solidFill>
              </a:rPr>
              <a:t>Copilot</a:t>
            </a:r>
          </a:p>
        </p:txBody>
      </p:sp>
    </p:spTree>
    <p:extLst>
      <p:ext uri="{BB962C8B-B14F-4D97-AF65-F5344CB8AC3E}">
        <p14:creationId xmlns:p14="http://schemas.microsoft.com/office/powerpoint/2010/main" val="3222808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C636B-14AE-ACF3-20C7-F5AAEA78DFF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7E62DE25-0209-649A-67B9-5E537DA801BD}"/>
              </a:ext>
            </a:extLst>
          </p:cNvPr>
          <p:cNvSpPr/>
          <p:nvPr/>
        </p:nvSpPr>
        <p:spPr>
          <a:xfrm>
            <a:off x="321214" y="1138481"/>
            <a:ext cx="3314531" cy="4032849"/>
          </a:xfrm>
          <a:prstGeom prst="rect">
            <a:avLst/>
          </a:prstGeom>
          <a:noFill/>
          <a:ln w="9525">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36" name="Rectangle 35">
            <a:extLst>
              <a:ext uri="{FF2B5EF4-FFF2-40B4-BE49-F238E27FC236}">
                <a16:creationId xmlns:a16="http://schemas.microsoft.com/office/drawing/2014/main" id="{1ABA51A3-3044-012A-BA75-F20E70FEEFDC}"/>
              </a:ext>
            </a:extLst>
          </p:cNvPr>
          <p:cNvSpPr/>
          <p:nvPr/>
        </p:nvSpPr>
        <p:spPr>
          <a:xfrm>
            <a:off x="281933" y="874210"/>
            <a:ext cx="7000139" cy="5004554"/>
          </a:xfrm>
          <a:prstGeom prst="rect">
            <a:avLst/>
          </a:prstGeom>
          <a:noFill/>
          <a:ln>
            <a:solidFill>
              <a:srgbClr val="C00000"/>
            </a:solidFill>
            <a:prstDash val="sysDash"/>
          </a:ln>
        </p:spPr>
        <p:style>
          <a:lnRef idx="2">
            <a:schemeClr val="accent4"/>
          </a:lnRef>
          <a:fillRef idx="1">
            <a:schemeClr val="lt1"/>
          </a:fillRef>
          <a:effectRef idx="0">
            <a:schemeClr val="accent4"/>
          </a:effectRef>
          <a:fontRef idx="minor">
            <a:schemeClr val="dk1"/>
          </a:fontRef>
        </p:style>
        <p:txBody>
          <a:bodyPr lIns="36000" tIns="36000" rIns="36000" bIns="36000" rtlCol="0" anchor="ctr">
            <a:noAutofit/>
          </a:bodyPr>
          <a:lstStyle/>
          <a:p>
            <a:pPr algn="l"/>
            <a:endParaRPr lang="en-CA" sz="1100" noProof="0"/>
          </a:p>
        </p:txBody>
      </p:sp>
      <p:sp>
        <p:nvSpPr>
          <p:cNvPr id="5" name="Title 2">
            <a:extLst>
              <a:ext uri="{FF2B5EF4-FFF2-40B4-BE49-F238E27FC236}">
                <a16:creationId xmlns:a16="http://schemas.microsoft.com/office/drawing/2014/main" id="{EC8502EC-F61B-F8E7-2D6E-C7F755939DFE}"/>
              </a:ext>
            </a:extLst>
          </p:cNvPr>
          <p:cNvSpPr txBox="1">
            <a:spLocks/>
          </p:cNvSpPr>
          <p:nvPr/>
        </p:nvSpPr>
        <p:spPr>
          <a:xfrm>
            <a:off x="210312" y="120782"/>
            <a:ext cx="11412000" cy="405102"/>
          </a:xfrm>
          <a:prstGeom prst="rect">
            <a:avLst/>
          </a:prstGeom>
        </p:spPr>
        <p:txBody>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000" b="1" noProof="0"/>
              <a:t>1.4. Shared Services and Connectivity: </a:t>
            </a:r>
            <a:r>
              <a:rPr lang="en-CA" sz="2000" noProof="0"/>
              <a:t>Accessing Data Products </a:t>
            </a:r>
            <a:r>
              <a:rPr lang="en-CA" sz="2000" b="1" noProof="0"/>
              <a:t>Across Nodes</a:t>
            </a:r>
          </a:p>
        </p:txBody>
      </p:sp>
      <p:sp>
        <p:nvSpPr>
          <p:cNvPr id="28" name="Text Placeholder 3">
            <a:extLst>
              <a:ext uri="{FF2B5EF4-FFF2-40B4-BE49-F238E27FC236}">
                <a16:creationId xmlns:a16="http://schemas.microsoft.com/office/drawing/2014/main" id="{6C881517-DF2F-A9B8-A5A8-1ED37FFCC3A7}"/>
              </a:ext>
            </a:extLst>
          </p:cNvPr>
          <p:cNvSpPr txBox="1">
            <a:spLocks/>
          </p:cNvSpPr>
          <p:nvPr/>
        </p:nvSpPr>
        <p:spPr>
          <a:xfrm>
            <a:off x="210312" y="418588"/>
            <a:ext cx="11834978" cy="345950"/>
          </a:xfrm>
          <a:prstGeom prst="rect">
            <a:avLst/>
          </a:prstGeom>
        </p:spPr>
        <p:txBody>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1100" noProof="0">
                <a:solidFill>
                  <a:schemeClr val="tx1">
                    <a:lumMod val="50000"/>
                  </a:schemeClr>
                </a:solidFill>
              </a:rPr>
              <a:t>The NORTH platform provides secure, standardized connectivity that enables teams to discover and access data products across business data nodes, supporting enterprise reuse without creating silos.</a:t>
            </a:r>
          </a:p>
        </p:txBody>
      </p:sp>
      <p:sp>
        <p:nvSpPr>
          <p:cNvPr id="2" name="Slide Number Placeholder 2">
            <a:extLst>
              <a:ext uri="{FF2B5EF4-FFF2-40B4-BE49-F238E27FC236}">
                <a16:creationId xmlns:a16="http://schemas.microsoft.com/office/drawing/2014/main" id="{C93EC7A0-84C6-AC0E-E429-C4BCCD834F3B}"/>
              </a:ext>
            </a:extLst>
          </p:cNvPr>
          <p:cNvSpPr>
            <a:spLocks noGrp="1"/>
          </p:cNvSpPr>
          <p:nvPr>
            <p:ph type="sldNum" sz="quarter" idx="12"/>
          </p:nvPr>
        </p:nvSpPr>
        <p:spPr>
          <a:xfrm>
            <a:off x="87852" y="6286624"/>
            <a:ext cx="201619" cy="365125"/>
          </a:xfrm>
        </p:spPr>
        <p:txBody>
          <a:bodyPr/>
          <a:lstStyle/>
          <a:p>
            <a:fld id="{3CBD822F-ED39-4FC2-B5B5-D2EAB6238DC3}" type="slidenum">
              <a:rPr lang="en-CA" noProof="0" smtClean="0">
                <a:latin typeface="+mn-lt"/>
              </a:rPr>
              <a:pPr/>
              <a:t>10</a:t>
            </a:fld>
            <a:endParaRPr lang="en-CA" noProof="0">
              <a:latin typeface="+mn-lt"/>
            </a:endParaRPr>
          </a:p>
        </p:txBody>
      </p:sp>
      <p:sp>
        <p:nvSpPr>
          <p:cNvPr id="17" name="TextBox 16">
            <a:extLst>
              <a:ext uri="{FF2B5EF4-FFF2-40B4-BE49-F238E27FC236}">
                <a16:creationId xmlns:a16="http://schemas.microsoft.com/office/drawing/2014/main" id="{53ACB9AE-9960-80B5-4890-63B511FDB7C5}"/>
              </a:ext>
            </a:extLst>
          </p:cNvPr>
          <p:cNvSpPr txBox="1"/>
          <p:nvPr/>
        </p:nvSpPr>
        <p:spPr>
          <a:xfrm>
            <a:off x="281934" y="5878862"/>
            <a:ext cx="7000138" cy="349702"/>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ctr" anchorCtr="0">
            <a:spAutoFit/>
          </a:bodyPr>
          <a:lstStyle/>
          <a:p>
            <a:r>
              <a:rPr lang="en-CA" sz="900" noProof="0">
                <a:solidFill>
                  <a:schemeClr val="bg2">
                    <a:lumMod val="10000"/>
                  </a:schemeClr>
                </a:solidFill>
              </a:rPr>
              <a:t>*Note: Simplified representation of the North Platform. An End User can access and leverage data from single or multiple nodes according to roles and access policies.</a:t>
            </a:r>
          </a:p>
        </p:txBody>
      </p:sp>
      <p:grpSp>
        <p:nvGrpSpPr>
          <p:cNvPr id="52" name="Group 51">
            <a:extLst>
              <a:ext uri="{FF2B5EF4-FFF2-40B4-BE49-F238E27FC236}">
                <a16:creationId xmlns:a16="http://schemas.microsoft.com/office/drawing/2014/main" id="{5B731C40-89E2-AF71-FF69-7E792F84CBD2}"/>
              </a:ext>
            </a:extLst>
          </p:cNvPr>
          <p:cNvGrpSpPr/>
          <p:nvPr/>
        </p:nvGrpSpPr>
        <p:grpSpPr>
          <a:xfrm>
            <a:off x="7408927" y="925433"/>
            <a:ext cx="4624086" cy="5112000"/>
            <a:chOff x="7093106" y="979281"/>
            <a:chExt cx="4680000" cy="5112000"/>
          </a:xfrm>
        </p:grpSpPr>
        <p:sp>
          <p:nvSpPr>
            <p:cNvPr id="24" name="Rectangle: Rounded Corners 23">
              <a:extLst>
                <a:ext uri="{FF2B5EF4-FFF2-40B4-BE49-F238E27FC236}">
                  <a16:creationId xmlns:a16="http://schemas.microsoft.com/office/drawing/2014/main" id="{92ABE684-A850-A5CD-24AA-1C75E2800436}"/>
                </a:ext>
              </a:extLst>
            </p:cNvPr>
            <p:cNvSpPr/>
            <p:nvPr/>
          </p:nvSpPr>
          <p:spPr>
            <a:xfrm>
              <a:off x="7093106" y="979281"/>
              <a:ext cx="4680000" cy="5112000"/>
            </a:xfrm>
            <a:prstGeom prst="roundRect">
              <a:avLst>
                <a:gd name="adj" fmla="val 1860"/>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cxnSp>
          <p:nvCxnSpPr>
            <p:cNvPr id="27" name="Straight Connector 26">
              <a:extLst>
                <a:ext uri="{FF2B5EF4-FFF2-40B4-BE49-F238E27FC236}">
                  <a16:creationId xmlns:a16="http://schemas.microsoft.com/office/drawing/2014/main" id="{8364F092-9B96-6853-82FE-70CBD482EDE7}"/>
                </a:ext>
              </a:extLst>
            </p:cNvPr>
            <p:cNvCxnSpPr>
              <a:cxnSpLocks/>
            </p:cNvCxnSpPr>
            <p:nvPr/>
          </p:nvCxnSpPr>
          <p:spPr>
            <a:xfrm>
              <a:off x="7614023" y="1340131"/>
              <a:ext cx="3598108" cy="0"/>
            </a:xfrm>
            <a:prstGeom prst="line">
              <a:avLst/>
            </a:prstGeom>
            <a:ln w="0">
              <a:solidFill>
                <a:schemeClr val="tx2"/>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A253B9F-AD7F-F85A-7DFF-CE77276E84F8}"/>
                </a:ext>
              </a:extLst>
            </p:cNvPr>
            <p:cNvSpPr txBox="1"/>
            <p:nvPr/>
          </p:nvSpPr>
          <p:spPr>
            <a:xfrm>
              <a:off x="7093106" y="979281"/>
              <a:ext cx="4680000" cy="36085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72000" rIns="36000" bIns="72000" rtlCol="0" anchor="t" anchorCtr="0">
              <a:spAutoFit/>
            </a:bodyPr>
            <a:lstStyle/>
            <a:p>
              <a:pPr algn="ctr"/>
              <a:r>
                <a:rPr lang="en-CA" sz="1400" b="1" noProof="0">
                  <a:solidFill>
                    <a:schemeClr val="tx2"/>
                  </a:solidFill>
                </a:rPr>
                <a:t>How Cross-Nodes Data Sharing Works</a:t>
              </a:r>
            </a:p>
          </p:txBody>
        </p:sp>
        <p:sp>
          <p:nvSpPr>
            <p:cNvPr id="38" name="Rectangle 3">
              <a:extLst>
                <a:ext uri="{FF2B5EF4-FFF2-40B4-BE49-F238E27FC236}">
                  <a16:creationId xmlns:a16="http://schemas.microsoft.com/office/drawing/2014/main" id="{A3893587-666A-AFC5-C424-0374D89C4431}"/>
                </a:ext>
              </a:extLst>
            </p:cNvPr>
            <p:cNvSpPr>
              <a:spLocks noChangeArrowheads="1"/>
            </p:cNvSpPr>
            <p:nvPr/>
          </p:nvSpPr>
          <p:spPr bwMode="auto">
            <a:xfrm>
              <a:off x="7093106" y="1358306"/>
              <a:ext cx="4680000" cy="4654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44000" rIns="91440" bIns="45720" numCol="1" anchor="ctr"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CA" sz="1000" b="1" i="0" u="none" strike="noStrike" cap="none" normalizeH="0" baseline="0" noProof="0">
                  <a:ln>
                    <a:noFill/>
                  </a:ln>
                  <a:solidFill>
                    <a:schemeClr val="tx1">
                      <a:lumMod val="50000"/>
                    </a:schemeClr>
                  </a:solidFill>
                  <a:effectLst/>
                </a:rPr>
                <a:t>Data is published by each business unit as governed data products</a:t>
              </a:r>
              <a:br>
                <a:rPr kumimoji="0" lang="en-CA" sz="1000" b="0" i="0" u="none" strike="noStrike" cap="none" normalizeH="0" baseline="0" noProof="0">
                  <a:ln>
                    <a:noFill/>
                  </a:ln>
                  <a:solidFill>
                    <a:schemeClr val="tx1">
                      <a:lumMod val="50000"/>
                    </a:schemeClr>
                  </a:solidFill>
                  <a:effectLst/>
                </a:rPr>
              </a:br>
              <a:r>
                <a:rPr kumimoji="0" lang="en-CA" sz="1000" b="0" i="0" u="none" strike="noStrike" cap="none" normalizeH="0" baseline="0" noProof="0">
                  <a:ln>
                    <a:noFill/>
                  </a:ln>
                  <a:solidFill>
                    <a:schemeClr val="tx1">
                      <a:lumMod val="50000"/>
                    </a:schemeClr>
                  </a:solidFill>
                  <a:effectLst/>
                </a:rPr>
                <a:t>Each business unit creates and owns its data products with clear definitions and quality standards.</a:t>
              </a:r>
              <a:br>
                <a:rPr kumimoji="0" lang="en-CA" sz="1000" b="0" i="0" u="none" strike="noStrike" cap="none" normalizeH="0" baseline="0" noProof="0">
                  <a:ln>
                    <a:noFill/>
                  </a:ln>
                  <a:solidFill>
                    <a:schemeClr val="tx1">
                      <a:lumMod val="50000"/>
                    </a:schemeClr>
                  </a:solidFill>
                  <a:effectLst/>
                </a:rPr>
              </a:br>
              <a:br>
                <a:rPr kumimoji="0" lang="en-CA" sz="1000" b="0" i="0" u="none" strike="noStrike" cap="none" normalizeH="0" baseline="0" noProof="0">
                  <a:ln>
                    <a:noFill/>
                  </a:ln>
                  <a:solidFill>
                    <a:schemeClr val="tx1">
                      <a:lumMod val="50000"/>
                    </a:schemeClr>
                  </a:solidFill>
                  <a:effectLst/>
                </a:rPr>
              </a:br>
              <a:r>
                <a:rPr kumimoji="0" lang="en-CA" sz="1000" b="0" i="1" u="sng" strike="noStrike" cap="none" normalizeH="0" baseline="0" noProof="0">
                  <a:ln>
                    <a:noFill/>
                  </a:ln>
                  <a:solidFill>
                    <a:schemeClr val="tx1">
                      <a:lumMod val="50000"/>
                    </a:schemeClr>
                  </a:solidFill>
                  <a:effectLst/>
                </a:rPr>
                <a:t>Why it matters</a:t>
              </a:r>
              <a:r>
                <a:rPr kumimoji="0" lang="en-CA" sz="1000" b="0" i="1" u="none" strike="noStrike" cap="none" normalizeH="0" baseline="0" noProof="0">
                  <a:ln>
                    <a:noFill/>
                  </a:ln>
                  <a:solidFill>
                    <a:schemeClr val="tx1">
                      <a:lumMod val="50000"/>
                    </a:schemeClr>
                  </a:solidFill>
                  <a:effectLst/>
                </a:rPr>
                <a:t>: Ensures everyone is using the same trusted data, eliminating conflicting numbers.</a:t>
              </a:r>
              <a:r>
                <a:rPr kumimoji="0" lang="en-CA" sz="1000" b="0" i="0" u="none" strike="noStrike" cap="none" normalizeH="0" baseline="0" noProof="0">
                  <a:ln>
                    <a:noFill/>
                  </a:ln>
                  <a:solidFill>
                    <a:schemeClr val="tx1">
                      <a:lumMod val="50000"/>
                    </a:schemeClr>
                  </a:solidFill>
                  <a:effectLst/>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kumimoji="0" lang="en-CA" sz="1000" b="0" i="0" u="none" strike="noStrike" cap="none" normalizeH="0" baseline="0" noProof="0">
                <a:ln>
                  <a:noFill/>
                </a:ln>
                <a:solidFill>
                  <a:schemeClr val="tx1">
                    <a:lumMod val="50000"/>
                  </a:schemeClr>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CA" sz="1000" b="1" i="0" u="none" strike="noStrike" cap="none" normalizeH="0" baseline="0" noProof="0">
                  <a:ln>
                    <a:noFill/>
                  </a:ln>
                  <a:solidFill>
                    <a:schemeClr val="tx1">
                      <a:lumMod val="50000"/>
                    </a:schemeClr>
                  </a:solidFill>
                  <a:effectLst/>
                </a:rPr>
                <a:t>Data products are made </a:t>
              </a:r>
              <a:r>
                <a:rPr lang="en-CA" sz="1000" b="1" noProof="0">
                  <a:solidFill>
                    <a:schemeClr val="tx1">
                      <a:lumMod val="50000"/>
                    </a:schemeClr>
                  </a:solidFill>
                </a:rPr>
                <a:t>accessible</a:t>
              </a:r>
              <a:r>
                <a:rPr kumimoji="0" lang="en-CA" sz="1000" b="1" i="0" u="none" strike="noStrike" cap="none" normalizeH="0" baseline="0" noProof="0">
                  <a:ln>
                    <a:noFill/>
                  </a:ln>
                  <a:solidFill>
                    <a:schemeClr val="tx1">
                      <a:lumMod val="50000"/>
                    </a:schemeClr>
                  </a:solidFill>
                  <a:effectLst/>
                </a:rPr>
                <a:t> through a shared </a:t>
              </a:r>
              <a:r>
                <a:rPr lang="en-CA" sz="1000" b="1" noProof="0">
                  <a:solidFill>
                    <a:schemeClr val="tx1">
                      <a:lumMod val="50000"/>
                    </a:schemeClr>
                  </a:solidFill>
                </a:rPr>
                <a:t>information access</a:t>
              </a:r>
              <a:r>
                <a:rPr kumimoji="0" lang="en-CA" sz="1000" b="1" i="0" u="none" strike="noStrike" cap="none" normalizeH="0" baseline="0" noProof="0">
                  <a:ln>
                    <a:noFill/>
                  </a:ln>
                  <a:solidFill>
                    <a:schemeClr val="tx1">
                      <a:lumMod val="50000"/>
                    </a:schemeClr>
                  </a:solidFill>
                  <a:effectLst/>
                </a:rPr>
                <a:t> layer</a:t>
              </a:r>
              <a:br>
                <a:rPr kumimoji="0" lang="en-CA" sz="1000" b="0" i="0" u="none" strike="noStrike" cap="none" normalizeH="0" baseline="0" noProof="0">
                  <a:ln>
                    <a:noFill/>
                  </a:ln>
                  <a:solidFill>
                    <a:schemeClr val="tx1">
                      <a:lumMod val="50000"/>
                    </a:schemeClr>
                  </a:solidFill>
                  <a:effectLst/>
                </a:rPr>
              </a:br>
              <a:r>
                <a:rPr kumimoji="0" lang="en-CA" sz="1000" b="0" i="0" u="none" strike="noStrike" cap="none" normalizeH="0" baseline="0" noProof="0">
                  <a:ln>
                    <a:noFill/>
                  </a:ln>
                  <a:solidFill>
                    <a:schemeClr val="tx1">
                      <a:lumMod val="50000"/>
                    </a:schemeClr>
                  </a:solidFill>
                  <a:effectLst/>
                </a:rPr>
                <a:t>The NORTH platform provides a common layer where data products across nodes can be securely found and accessed.</a:t>
              </a:r>
              <a:br>
                <a:rPr kumimoji="0" lang="en-CA" sz="1000" b="0" i="0" u="none" strike="noStrike" cap="none" normalizeH="0" baseline="0" noProof="0">
                  <a:ln>
                    <a:noFill/>
                  </a:ln>
                  <a:solidFill>
                    <a:schemeClr val="tx1">
                      <a:lumMod val="50000"/>
                    </a:schemeClr>
                  </a:solidFill>
                  <a:effectLst/>
                </a:rPr>
              </a:br>
              <a:br>
                <a:rPr kumimoji="0" lang="en-CA" sz="1000" b="0" i="0" u="none" strike="noStrike" cap="none" normalizeH="0" baseline="0" noProof="0">
                  <a:ln>
                    <a:noFill/>
                  </a:ln>
                  <a:solidFill>
                    <a:schemeClr val="tx1">
                      <a:lumMod val="50000"/>
                    </a:schemeClr>
                  </a:solidFill>
                  <a:effectLst/>
                </a:rPr>
              </a:br>
              <a:r>
                <a:rPr kumimoji="0" lang="en-CA" sz="1000" b="0" i="1" u="sng" strike="noStrike" cap="none" normalizeH="0" baseline="0" noProof="0">
                  <a:ln>
                    <a:noFill/>
                  </a:ln>
                  <a:solidFill>
                    <a:schemeClr val="tx1">
                      <a:lumMod val="50000"/>
                    </a:schemeClr>
                  </a:solidFill>
                  <a:effectLst/>
                </a:rPr>
                <a:t>Why it matters</a:t>
              </a:r>
              <a:r>
                <a:rPr kumimoji="0" lang="en-CA" sz="1000" b="0" i="1" u="none" strike="noStrike" cap="none" normalizeH="0" baseline="0" noProof="0">
                  <a:ln>
                    <a:noFill/>
                  </a:ln>
                  <a:solidFill>
                    <a:schemeClr val="tx1">
                      <a:lumMod val="50000"/>
                    </a:schemeClr>
                  </a:solidFill>
                  <a:effectLst/>
                </a:rPr>
                <a:t>: Teams can easily find and use data beyond their own area to answer broader business questions.</a:t>
              </a:r>
              <a:r>
                <a:rPr kumimoji="0" lang="en-CA" sz="1000" b="0" i="0" u="none" strike="noStrike" cap="none" normalizeH="0" baseline="0" noProof="0">
                  <a:ln>
                    <a:noFill/>
                  </a:ln>
                  <a:solidFill>
                    <a:schemeClr val="tx1">
                      <a:lumMod val="50000"/>
                    </a:schemeClr>
                  </a:solidFill>
                  <a:effectLst/>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kumimoji="0" lang="en-CA" sz="1000" b="0" i="0" u="none" strike="noStrike" cap="none" normalizeH="0" baseline="0" noProof="0">
                <a:ln>
                  <a:noFill/>
                </a:ln>
                <a:solidFill>
                  <a:schemeClr val="tx1">
                    <a:lumMod val="50000"/>
                  </a:schemeClr>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CA" sz="1000" b="1" i="0" u="none" strike="noStrike" cap="none" normalizeH="0" baseline="0" noProof="0">
                  <a:ln>
                    <a:noFill/>
                  </a:ln>
                  <a:solidFill>
                    <a:schemeClr val="tx1">
                      <a:lumMod val="50000"/>
                    </a:schemeClr>
                  </a:solidFill>
                  <a:effectLst/>
                </a:rPr>
                <a:t>Access is granted based on roles and policies</a:t>
              </a:r>
              <a:br>
                <a:rPr kumimoji="0" lang="en-CA" sz="1000" b="0" i="0" u="none" strike="noStrike" cap="none" normalizeH="0" baseline="0" noProof="0">
                  <a:ln>
                    <a:noFill/>
                  </a:ln>
                  <a:solidFill>
                    <a:schemeClr val="tx1">
                      <a:lumMod val="50000"/>
                    </a:schemeClr>
                  </a:solidFill>
                  <a:effectLst/>
                </a:rPr>
              </a:br>
              <a:r>
                <a:rPr kumimoji="0" lang="en-CA" sz="1000" b="0" i="0" u="none" strike="noStrike" cap="none" normalizeH="0" baseline="0" noProof="0">
                  <a:ln>
                    <a:noFill/>
                  </a:ln>
                  <a:solidFill>
                    <a:schemeClr val="tx1">
                      <a:lumMod val="50000"/>
                    </a:schemeClr>
                  </a:solidFill>
                  <a:effectLst/>
                </a:rPr>
                <a:t>Users request access, and permissions are enforced consistently across all nodes using enterprise governance controls.</a:t>
              </a:r>
              <a:br>
                <a:rPr kumimoji="0" lang="en-CA" sz="1000" b="0" i="0" u="none" strike="noStrike" cap="none" normalizeH="0" baseline="0" noProof="0">
                  <a:ln>
                    <a:noFill/>
                  </a:ln>
                  <a:solidFill>
                    <a:schemeClr val="tx1">
                      <a:lumMod val="50000"/>
                    </a:schemeClr>
                  </a:solidFill>
                  <a:effectLst/>
                </a:rPr>
              </a:br>
              <a:br>
                <a:rPr kumimoji="0" lang="en-CA" sz="1000" b="0" i="0" u="none" strike="noStrike" cap="none" normalizeH="0" baseline="0" noProof="0">
                  <a:ln>
                    <a:noFill/>
                  </a:ln>
                  <a:solidFill>
                    <a:schemeClr val="tx1">
                      <a:lumMod val="50000"/>
                    </a:schemeClr>
                  </a:solidFill>
                  <a:effectLst/>
                </a:rPr>
              </a:br>
              <a:r>
                <a:rPr kumimoji="0" lang="en-CA" sz="1000" b="0" i="1" u="sng" strike="noStrike" cap="none" normalizeH="0" baseline="0" noProof="0">
                  <a:ln>
                    <a:noFill/>
                  </a:ln>
                  <a:solidFill>
                    <a:schemeClr val="tx1">
                      <a:lumMod val="50000"/>
                    </a:schemeClr>
                  </a:solidFill>
                  <a:effectLst/>
                </a:rPr>
                <a:t>Why it matters</a:t>
              </a:r>
              <a:r>
                <a:rPr kumimoji="0" lang="en-CA" sz="1000" b="0" i="1" u="none" strike="noStrike" cap="none" normalizeH="0" baseline="0" noProof="0">
                  <a:ln>
                    <a:noFill/>
                  </a:ln>
                  <a:solidFill>
                    <a:schemeClr val="tx1">
                      <a:lumMod val="50000"/>
                    </a:schemeClr>
                  </a:solidFill>
                  <a:effectLst/>
                </a:rPr>
                <a:t>: Enables secure, compliant data sharing without slowing down access.</a:t>
              </a:r>
              <a:r>
                <a:rPr kumimoji="0" lang="en-CA" sz="1000" b="0" i="0" u="none" strike="noStrike" cap="none" normalizeH="0" baseline="0" noProof="0">
                  <a:ln>
                    <a:noFill/>
                  </a:ln>
                  <a:solidFill>
                    <a:schemeClr val="tx1">
                      <a:lumMod val="50000"/>
                    </a:schemeClr>
                  </a:solidFill>
                  <a:effectLst/>
                </a:rPr>
                <a:t>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endParaRPr kumimoji="0" lang="en-CA" sz="1000" b="0" i="0" u="none" strike="noStrike" cap="none" normalizeH="0" baseline="0" noProof="0">
                <a:ln>
                  <a:noFill/>
                </a:ln>
                <a:solidFill>
                  <a:schemeClr val="tx1">
                    <a:lumMod val="50000"/>
                  </a:schemeClr>
                </a:solidFill>
                <a:effectLst/>
              </a:endParaRP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CA" sz="1000" b="1" i="0" u="none" strike="noStrike" cap="none" normalizeH="0" baseline="0" noProof="0">
                  <a:ln>
                    <a:noFill/>
                  </a:ln>
                  <a:solidFill>
                    <a:schemeClr val="tx1">
                      <a:lumMod val="50000"/>
                    </a:schemeClr>
                  </a:solidFill>
                  <a:effectLst/>
                </a:rPr>
                <a:t>Data is accessed and combined without duplication</a:t>
              </a:r>
              <a:br>
                <a:rPr kumimoji="0" lang="en-CA" sz="1000" b="0" i="0" u="none" strike="noStrike" cap="none" normalizeH="0" baseline="0" noProof="0">
                  <a:ln>
                    <a:noFill/>
                  </a:ln>
                  <a:solidFill>
                    <a:schemeClr val="tx1">
                      <a:lumMod val="50000"/>
                    </a:schemeClr>
                  </a:solidFill>
                  <a:effectLst/>
                </a:rPr>
              </a:br>
              <a:r>
                <a:rPr kumimoji="0" lang="en-CA" sz="1000" b="0" i="0" u="none" strike="noStrike" cap="none" normalizeH="0" baseline="0" noProof="0">
                  <a:ln>
                    <a:noFill/>
                  </a:ln>
                  <a:solidFill>
                    <a:schemeClr val="tx1">
                      <a:lumMod val="50000"/>
                    </a:schemeClr>
                  </a:solidFill>
                  <a:effectLst/>
                </a:rPr>
                <a:t>Data products remain in their source nodes and are accessed through standardized methods (e.g., query), enabling cross-domain insights without moving or copying data.</a:t>
              </a:r>
              <a:br>
                <a:rPr kumimoji="0" lang="en-CA" sz="1000" b="0" i="0" u="none" strike="noStrike" cap="none" normalizeH="0" baseline="0" noProof="0">
                  <a:ln>
                    <a:noFill/>
                  </a:ln>
                  <a:solidFill>
                    <a:schemeClr val="tx1">
                      <a:lumMod val="50000"/>
                    </a:schemeClr>
                  </a:solidFill>
                  <a:effectLst/>
                </a:rPr>
              </a:br>
              <a:br>
                <a:rPr kumimoji="0" lang="en-CA" sz="1000" b="0" i="0" u="none" strike="noStrike" cap="none" normalizeH="0" baseline="0" noProof="0">
                  <a:ln>
                    <a:noFill/>
                  </a:ln>
                  <a:solidFill>
                    <a:schemeClr val="tx1">
                      <a:lumMod val="50000"/>
                    </a:schemeClr>
                  </a:solidFill>
                  <a:effectLst/>
                </a:rPr>
              </a:br>
              <a:r>
                <a:rPr kumimoji="0" lang="en-CA" sz="1000" b="0" i="1" u="sng" strike="noStrike" cap="none" normalizeH="0" baseline="0" noProof="0">
                  <a:ln>
                    <a:noFill/>
                  </a:ln>
                  <a:solidFill>
                    <a:schemeClr val="tx1">
                      <a:lumMod val="50000"/>
                    </a:schemeClr>
                  </a:solidFill>
                  <a:effectLst/>
                </a:rPr>
                <a:t>Why it matters</a:t>
              </a:r>
              <a:r>
                <a:rPr kumimoji="0" lang="en-CA" sz="1000" b="0" i="1" u="none" strike="noStrike" cap="none" normalizeH="0" baseline="0" noProof="0">
                  <a:ln>
                    <a:noFill/>
                  </a:ln>
                  <a:solidFill>
                    <a:schemeClr val="tx1">
                      <a:lumMod val="50000"/>
                    </a:schemeClr>
                  </a:solidFill>
                  <a:effectLst/>
                </a:rPr>
                <a:t>: Reduces duplication and speeds up access to real-time, reliable insights.</a:t>
              </a:r>
              <a:r>
                <a:rPr kumimoji="0" lang="en-CA" sz="1000" b="0" i="0" u="none" strike="noStrike" cap="none" normalizeH="0" baseline="0" noProof="0">
                  <a:ln>
                    <a:noFill/>
                  </a:ln>
                  <a:solidFill>
                    <a:schemeClr val="tx1">
                      <a:lumMod val="50000"/>
                    </a:schemeClr>
                  </a:solidFill>
                  <a:effectLst/>
                </a:rPr>
                <a:t> </a:t>
              </a:r>
            </a:p>
          </p:txBody>
        </p:sp>
      </p:grpSp>
      <p:sp>
        <p:nvSpPr>
          <p:cNvPr id="9" name="TextBox 8">
            <a:extLst>
              <a:ext uri="{FF2B5EF4-FFF2-40B4-BE49-F238E27FC236}">
                <a16:creationId xmlns:a16="http://schemas.microsoft.com/office/drawing/2014/main" id="{C9B6C5EC-25FF-1AE4-3E5D-ED30627D7264}"/>
              </a:ext>
            </a:extLst>
          </p:cNvPr>
          <p:cNvSpPr txBox="1"/>
          <p:nvPr/>
        </p:nvSpPr>
        <p:spPr>
          <a:xfrm>
            <a:off x="757820" y="1098159"/>
            <a:ext cx="2475980" cy="276999"/>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chemeClr val="tx2"/>
                </a:solidFill>
                <a:effectLst/>
                <a:uLnTx/>
                <a:uFillTx/>
                <a:latin typeface="+mn-lt"/>
              </a:rPr>
              <a:t>Business Units Nodes</a:t>
            </a:r>
          </a:p>
        </p:txBody>
      </p:sp>
      <p:sp>
        <p:nvSpPr>
          <p:cNvPr id="14" name="Flowchart: Preparation 13">
            <a:extLst>
              <a:ext uri="{FF2B5EF4-FFF2-40B4-BE49-F238E27FC236}">
                <a16:creationId xmlns:a16="http://schemas.microsoft.com/office/drawing/2014/main" id="{12C7821C-C91F-A719-5750-ECA9D7F5334F}"/>
              </a:ext>
            </a:extLst>
          </p:cNvPr>
          <p:cNvSpPr>
            <a:spLocks noChangeAspect="1"/>
          </p:cNvSpPr>
          <p:nvPr/>
        </p:nvSpPr>
        <p:spPr>
          <a:xfrm>
            <a:off x="477340" y="1432909"/>
            <a:ext cx="1145275" cy="778788"/>
          </a:xfrm>
          <a:prstGeom prst="flowChartPreparation">
            <a:avLst/>
          </a:prstGeom>
          <a:solidFill>
            <a:schemeClr val="tx2">
              <a:lumMod val="75000"/>
            </a:schemeClr>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180000" rIns="0" bIns="0" rtlCol="0" anchor="t"/>
          <a:lstStyle/>
          <a:p>
            <a:pPr algn="ctr"/>
            <a:r>
              <a:rPr lang="en-CA" sz="1050" noProof="0">
                <a:solidFill>
                  <a:schemeClr val="bg1"/>
                </a:solidFill>
              </a:rPr>
              <a:t>WBR</a:t>
            </a:r>
          </a:p>
        </p:txBody>
      </p:sp>
      <p:sp>
        <p:nvSpPr>
          <p:cNvPr id="21" name="Hexagon 20">
            <a:extLst>
              <a:ext uri="{FF2B5EF4-FFF2-40B4-BE49-F238E27FC236}">
                <a16:creationId xmlns:a16="http://schemas.microsoft.com/office/drawing/2014/main" id="{49F3A0C1-DBFA-701A-3F04-52587AE44435}"/>
              </a:ext>
            </a:extLst>
          </p:cNvPr>
          <p:cNvSpPr>
            <a:spLocks noChangeAspect="1"/>
          </p:cNvSpPr>
          <p:nvPr/>
        </p:nvSpPr>
        <p:spPr>
          <a:xfrm rot="5400000">
            <a:off x="842168" y="1741743"/>
            <a:ext cx="422509" cy="456919"/>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CA" sz="900" noProof="0">
                <a:solidFill>
                  <a:srgbClr val="298B68"/>
                </a:solidFill>
              </a:rPr>
              <a:t>Premium</a:t>
            </a:r>
          </a:p>
        </p:txBody>
      </p:sp>
      <p:sp>
        <p:nvSpPr>
          <p:cNvPr id="56" name="Rectangle 55">
            <a:extLst>
              <a:ext uri="{FF2B5EF4-FFF2-40B4-BE49-F238E27FC236}">
                <a16:creationId xmlns:a16="http://schemas.microsoft.com/office/drawing/2014/main" id="{8B33888C-356C-C62D-E38F-DBB03528FE12}"/>
              </a:ext>
            </a:extLst>
          </p:cNvPr>
          <p:cNvSpPr/>
          <p:nvPr/>
        </p:nvSpPr>
        <p:spPr>
          <a:xfrm>
            <a:off x="1488515" y="2028802"/>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7" name="Rectangle 56">
            <a:extLst>
              <a:ext uri="{FF2B5EF4-FFF2-40B4-BE49-F238E27FC236}">
                <a16:creationId xmlns:a16="http://schemas.microsoft.com/office/drawing/2014/main" id="{C506AA9C-123B-3171-3638-493A8E1A4EAD}"/>
              </a:ext>
            </a:extLst>
          </p:cNvPr>
          <p:cNvSpPr/>
          <p:nvPr/>
        </p:nvSpPr>
        <p:spPr>
          <a:xfrm>
            <a:off x="3004388" y="2679523"/>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5" name="Flowchart: Preparation 14">
            <a:extLst>
              <a:ext uri="{FF2B5EF4-FFF2-40B4-BE49-F238E27FC236}">
                <a16:creationId xmlns:a16="http://schemas.microsoft.com/office/drawing/2014/main" id="{E4E38CE0-30D1-50FF-D340-B6B7BFC22A92}"/>
              </a:ext>
            </a:extLst>
          </p:cNvPr>
          <p:cNvSpPr>
            <a:spLocks noChangeAspect="1"/>
          </p:cNvSpPr>
          <p:nvPr/>
        </p:nvSpPr>
        <p:spPr>
          <a:xfrm>
            <a:off x="473688" y="2870072"/>
            <a:ext cx="1083471" cy="736761"/>
          </a:xfrm>
          <a:prstGeom prst="flowChartPreparation">
            <a:avLst/>
          </a:prstGeom>
          <a:solidFill>
            <a:schemeClr val="tx2">
              <a:lumMod val="75000"/>
            </a:schemeClr>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72000" rIns="0" bIns="0" rtlCol="0" anchor="t"/>
          <a:lstStyle/>
          <a:p>
            <a:pPr algn="ctr"/>
            <a:r>
              <a:rPr lang="en-CA" sz="1050" noProof="0">
                <a:solidFill>
                  <a:schemeClr val="bg1"/>
                </a:solidFill>
              </a:rPr>
              <a:t>Corp Strategy</a:t>
            </a:r>
          </a:p>
        </p:txBody>
      </p:sp>
      <p:sp>
        <p:nvSpPr>
          <p:cNvPr id="19" name="Hexagon 18">
            <a:extLst>
              <a:ext uri="{FF2B5EF4-FFF2-40B4-BE49-F238E27FC236}">
                <a16:creationId xmlns:a16="http://schemas.microsoft.com/office/drawing/2014/main" id="{8C006E54-FD8F-6B36-1ADE-E5155425FB2A}"/>
              </a:ext>
            </a:extLst>
          </p:cNvPr>
          <p:cNvSpPr>
            <a:spLocks noChangeAspect="1"/>
          </p:cNvSpPr>
          <p:nvPr/>
        </p:nvSpPr>
        <p:spPr>
          <a:xfrm rot="5400000">
            <a:off x="786699" y="3060521"/>
            <a:ext cx="446863" cy="483256"/>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CA" sz="900" noProof="0">
                <a:solidFill>
                  <a:srgbClr val="298B68"/>
                </a:solidFill>
              </a:rPr>
              <a:t>Prospect</a:t>
            </a:r>
          </a:p>
        </p:txBody>
      </p:sp>
      <p:sp>
        <p:nvSpPr>
          <p:cNvPr id="58" name="Rectangle 57">
            <a:extLst>
              <a:ext uri="{FF2B5EF4-FFF2-40B4-BE49-F238E27FC236}">
                <a16:creationId xmlns:a16="http://schemas.microsoft.com/office/drawing/2014/main" id="{601AEC05-DA99-38AD-9C22-290F2478804A}"/>
              </a:ext>
            </a:extLst>
          </p:cNvPr>
          <p:cNvSpPr/>
          <p:nvPr/>
        </p:nvSpPr>
        <p:spPr>
          <a:xfrm>
            <a:off x="1456958" y="3555523"/>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9" name="Rectangle 58">
            <a:extLst>
              <a:ext uri="{FF2B5EF4-FFF2-40B4-BE49-F238E27FC236}">
                <a16:creationId xmlns:a16="http://schemas.microsoft.com/office/drawing/2014/main" id="{89FF1E45-0233-FA01-AE18-D3DCA30C7481}"/>
              </a:ext>
            </a:extLst>
          </p:cNvPr>
          <p:cNvSpPr/>
          <p:nvPr/>
        </p:nvSpPr>
        <p:spPr>
          <a:xfrm>
            <a:off x="2981208" y="4548187"/>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32" name="Rectangle 31">
            <a:extLst>
              <a:ext uri="{FF2B5EF4-FFF2-40B4-BE49-F238E27FC236}">
                <a16:creationId xmlns:a16="http://schemas.microsoft.com/office/drawing/2014/main" id="{B3DB2313-C179-2423-0E93-7E76134DDFDC}"/>
              </a:ext>
            </a:extLst>
          </p:cNvPr>
          <p:cNvSpPr/>
          <p:nvPr/>
        </p:nvSpPr>
        <p:spPr>
          <a:xfrm>
            <a:off x="4187117" y="1375158"/>
            <a:ext cx="828000" cy="3693749"/>
          </a:xfrm>
          <a:prstGeom prst="rect">
            <a:avLst/>
          </a:prstGeom>
          <a:solidFill>
            <a:schemeClr val="bg1">
              <a:lumMod val="95000"/>
            </a:schemeClr>
          </a:solidFill>
          <a:ln w="19050" cap="flat" cmpd="sng" algn="ctr">
            <a:solidFill>
              <a:schemeClr val="bg1">
                <a:lumMod val="65000"/>
              </a:schemeClr>
            </a:solidFill>
            <a:prstDash val="solid"/>
            <a:miter lim="800000"/>
          </a:ln>
          <a:effectLst/>
        </p:spPr>
        <p:txBody>
          <a:bodyPr lIns="0" tIns="45720" rIns="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800" b="1" i="0" u="none" strike="noStrike" kern="0" cap="none" spc="0" normalizeH="0" baseline="0" noProof="0">
              <a:ln>
                <a:noFill/>
              </a:ln>
              <a:solidFill>
                <a:srgbClr val="7030A0"/>
              </a:solidFill>
              <a:effectLst/>
              <a:uLnTx/>
              <a:uFillTx/>
              <a:cs typeface="Arial"/>
            </a:endParaRPr>
          </a:p>
        </p:txBody>
      </p:sp>
      <p:sp>
        <p:nvSpPr>
          <p:cNvPr id="35" name="TextBox 34">
            <a:extLst>
              <a:ext uri="{FF2B5EF4-FFF2-40B4-BE49-F238E27FC236}">
                <a16:creationId xmlns:a16="http://schemas.microsoft.com/office/drawing/2014/main" id="{6AA114F1-34F3-42D7-F6CF-0F5546661BDF}"/>
              </a:ext>
            </a:extLst>
          </p:cNvPr>
          <p:cNvSpPr txBox="1"/>
          <p:nvPr/>
        </p:nvSpPr>
        <p:spPr>
          <a:xfrm>
            <a:off x="4187117" y="1375158"/>
            <a:ext cx="828000"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1000" b="1" noProof="0">
                <a:solidFill>
                  <a:schemeClr val="bg2">
                    <a:lumMod val="10000"/>
                  </a:schemeClr>
                </a:solidFill>
              </a:rPr>
              <a:t>Information Access</a:t>
            </a:r>
          </a:p>
        </p:txBody>
      </p:sp>
      <p:sp>
        <p:nvSpPr>
          <p:cNvPr id="39" name="TextBox 38">
            <a:extLst>
              <a:ext uri="{FF2B5EF4-FFF2-40B4-BE49-F238E27FC236}">
                <a16:creationId xmlns:a16="http://schemas.microsoft.com/office/drawing/2014/main" id="{7EB3264F-22B7-CAF0-2795-03651D59EA48}"/>
              </a:ext>
            </a:extLst>
          </p:cNvPr>
          <p:cNvSpPr txBox="1"/>
          <p:nvPr/>
        </p:nvSpPr>
        <p:spPr>
          <a:xfrm>
            <a:off x="4241117" y="1905328"/>
            <a:ext cx="720000" cy="360000"/>
          </a:xfrm>
          <a:prstGeom prst="rect">
            <a:avLst/>
          </a:prstGeom>
          <a:solidFill>
            <a:schemeClr val="bg1">
              <a:lumMod val="50000"/>
            </a:schemeClr>
          </a:solidFill>
          <a:ln>
            <a:noFill/>
          </a:ln>
        </p:spPr>
        <p:txBody>
          <a:bodyPr wrap="square" lIns="0" rIns="0" rtlCol="0" anchor="ctr">
            <a:noAutofit/>
          </a:bodyPr>
          <a:lstStyle/>
          <a:p>
            <a:pPr lvl="0" algn="ctr">
              <a:defRPr/>
            </a:pPr>
            <a:r>
              <a:rPr lang="en-CA" sz="800" kern="0" noProof="0">
                <a:solidFill>
                  <a:schemeClr val="bg1"/>
                </a:solidFill>
              </a:rPr>
              <a:t>Query Federation &amp; Virtualization</a:t>
            </a:r>
          </a:p>
        </p:txBody>
      </p:sp>
      <p:sp>
        <p:nvSpPr>
          <p:cNvPr id="40" name="TextBox 39">
            <a:extLst>
              <a:ext uri="{FF2B5EF4-FFF2-40B4-BE49-F238E27FC236}">
                <a16:creationId xmlns:a16="http://schemas.microsoft.com/office/drawing/2014/main" id="{085FD454-727D-13E5-4B5A-C0E12E28298C}"/>
              </a:ext>
            </a:extLst>
          </p:cNvPr>
          <p:cNvSpPr txBox="1"/>
          <p:nvPr/>
        </p:nvSpPr>
        <p:spPr>
          <a:xfrm>
            <a:off x="4241117" y="2357268"/>
            <a:ext cx="720000" cy="360000"/>
          </a:xfrm>
          <a:prstGeom prst="rect">
            <a:avLst/>
          </a:prstGeom>
          <a:solidFill>
            <a:schemeClr val="bg1">
              <a:lumMod val="50000"/>
            </a:schemeClr>
          </a:solidFill>
          <a:ln>
            <a:noFill/>
          </a:ln>
        </p:spPr>
        <p:txBody>
          <a:bodyPr wrap="square" rtlCol="0" anchor="ctr">
            <a:noAutofit/>
          </a:bodyPr>
          <a:lstStyle/>
          <a:p>
            <a:pPr lvl="0" algn="ctr">
              <a:defRPr/>
            </a:pPr>
            <a:r>
              <a:rPr lang="en-CA" sz="800" kern="0" noProof="0">
                <a:solidFill>
                  <a:schemeClr val="bg1"/>
                </a:solidFill>
              </a:rPr>
              <a:t>API</a:t>
            </a:r>
          </a:p>
        </p:txBody>
      </p:sp>
      <p:sp>
        <p:nvSpPr>
          <p:cNvPr id="41" name="TextBox 40">
            <a:extLst>
              <a:ext uri="{FF2B5EF4-FFF2-40B4-BE49-F238E27FC236}">
                <a16:creationId xmlns:a16="http://schemas.microsoft.com/office/drawing/2014/main" id="{F16E112B-02F9-894D-72AB-F17F6CDC1CE8}"/>
              </a:ext>
            </a:extLst>
          </p:cNvPr>
          <p:cNvSpPr txBox="1"/>
          <p:nvPr/>
        </p:nvSpPr>
        <p:spPr>
          <a:xfrm>
            <a:off x="4241117" y="2809208"/>
            <a:ext cx="720000" cy="360000"/>
          </a:xfrm>
          <a:prstGeom prst="rect">
            <a:avLst/>
          </a:prstGeom>
          <a:solidFill>
            <a:schemeClr val="bg1">
              <a:lumMod val="50000"/>
            </a:schemeClr>
          </a:solidFill>
          <a:ln>
            <a:noFill/>
          </a:ln>
        </p:spPr>
        <p:txBody>
          <a:bodyPr wrap="square" rtlCol="0" anchor="ctr">
            <a:noAutofit/>
          </a:bodyPr>
          <a:lstStyle/>
          <a:p>
            <a:pPr lvl="0" algn="ctr">
              <a:defRPr/>
            </a:pPr>
            <a:r>
              <a:rPr lang="en-CA" sz="800" kern="0" noProof="0">
                <a:solidFill>
                  <a:schemeClr val="bg1"/>
                </a:solidFill>
              </a:rPr>
              <a:t>Files (Batch)</a:t>
            </a:r>
          </a:p>
        </p:txBody>
      </p:sp>
      <p:sp>
        <p:nvSpPr>
          <p:cNvPr id="42" name="TextBox 41">
            <a:extLst>
              <a:ext uri="{FF2B5EF4-FFF2-40B4-BE49-F238E27FC236}">
                <a16:creationId xmlns:a16="http://schemas.microsoft.com/office/drawing/2014/main" id="{BC0CB7A0-6B07-350D-9208-7ED4DCC83A21}"/>
              </a:ext>
            </a:extLst>
          </p:cNvPr>
          <p:cNvSpPr txBox="1"/>
          <p:nvPr/>
        </p:nvSpPr>
        <p:spPr>
          <a:xfrm>
            <a:off x="4241117" y="3261148"/>
            <a:ext cx="720000" cy="360000"/>
          </a:xfrm>
          <a:prstGeom prst="rect">
            <a:avLst/>
          </a:prstGeom>
          <a:solidFill>
            <a:schemeClr val="bg1">
              <a:lumMod val="50000"/>
            </a:schemeClr>
          </a:solidFill>
          <a:ln>
            <a:noFill/>
          </a:ln>
        </p:spPr>
        <p:txBody>
          <a:bodyPr wrap="square" lIns="0" rIns="0" rtlCol="0" anchor="ctr">
            <a:noAutofit/>
          </a:bodyPr>
          <a:lstStyle/>
          <a:p>
            <a:pPr lvl="0" algn="ctr">
              <a:defRPr/>
            </a:pPr>
            <a:r>
              <a:rPr lang="en-CA" sz="800" kern="0" noProof="0">
                <a:solidFill>
                  <a:schemeClr val="bg1"/>
                </a:solidFill>
              </a:rPr>
              <a:t>Pub/Sub</a:t>
            </a:r>
          </a:p>
        </p:txBody>
      </p:sp>
      <p:sp>
        <p:nvSpPr>
          <p:cNvPr id="43" name="TextBox 42">
            <a:extLst>
              <a:ext uri="{FF2B5EF4-FFF2-40B4-BE49-F238E27FC236}">
                <a16:creationId xmlns:a16="http://schemas.microsoft.com/office/drawing/2014/main" id="{46B537E5-7AFA-0771-29F4-076E959A507F}"/>
              </a:ext>
            </a:extLst>
          </p:cNvPr>
          <p:cNvSpPr txBox="1"/>
          <p:nvPr/>
        </p:nvSpPr>
        <p:spPr>
          <a:xfrm>
            <a:off x="4241117" y="3713088"/>
            <a:ext cx="720000" cy="360000"/>
          </a:xfrm>
          <a:prstGeom prst="rect">
            <a:avLst/>
          </a:prstGeom>
          <a:solidFill>
            <a:schemeClr val="bg1">
              <a:lumMod val="50000"/>
            </a:schemeClr>
          </a:solidFill>
          <a:ln>
            <a:noFill/>
          </a:ln>
        </p:spPr>
        <p:txBody>
          <a:bodyPr wrap="square" rtlCol="0" anchor="ctr">
            <a:noAutofit/>
          </a:bodyPr>
          <a:lstStyle/>
          <a:p>
            <a:pPr lvl="0" algn="ctr">
              <a:defRPr/>
            </a:pPr>
            <a:r>
              <a:rPr lang="en-CA" sz="800" kern="0" noProof="0">
                <a:solidFill>
                  <a:schemeClr val="bg1"/>
                </a:solidFill>
              </a:rPr>
              <a:t>Tabular Views</a:t>
            </a:r>
          </a:p>
        </p:txBody>
      </p:sp>
      <p:sp>
        <p:nvSpPr>
          <p:cNvPr id="44" name="TextBox 43">
            <a:extLst>
              <a:ext uri="{FF2B5EF4-FFF2-40B4-BE49-F238E27FC236}">
                <a16:creationId xmlns:a16="http://schemas.microsoft.com/office/drawing/2014/main" id="{20A3EA13-CD05-30B3-ACB5-D287D38DABCA}"/>
              </a:ext>
            </a:extLst>
          </p:cNvPr>
          <p:cNvSpPr txBox="1"/>
          <p:nvPr/>
        </p:nvSpPr>
        <p:spPr>
          <a:xfrm>
            <a:off x="4241117" y="4165028"/>
            <a:ext cx="720000" cy="360000"/>
          </a:xfrm>
          <a:prstGeom prst="rect">
            <a:avLst/>
          </a:prstGeom>
          <a:solidFill>
            <a:schemeClr val="bg1">
              <a:lumMod val="50000"/>
            </a:schemeClr>
          </a:solidFill>
          <a:ln>
            <a:noFill/>
          </a:ln>
        </p:spPr>
        <p:txBody>
          <a:bodyPr wrap="square" lIns="0" rIns="36000" rtlCol="0" anchor="ctr">
            <a:noAutofit/>
          </a:bodyPr>
          <a:lstStyle/>
          <a:p>
            <a:pPr lvl="0" algn="ctr">
              <a:defRPr/>
            </a:pPr>
            <a:r>
              <a:rPr lang="en-CA" sz="800" kern="0" noProof="0">
                <a:solidFill>
                  <a:schemeClr val="bg1"/>
                </a:solidFill>
              </a:rPr>
              <a:t>Graphs</a:t>
            </a:r>
          </a:p>
        </p:txBody>
      </p:sp>
      <p:sp>
        <p:nvSpPr>
          <p:cNvPr id="45" name="TextBox 44">
            <a:extLst>
              <a:ext uri="{FF2B5EF4-FFF2-40B4-BE49-F238E27FC236}">
                <a16:creationId xmlns:a16="http://schemas.microsoft.com/office/drawing/2014/main" id="{7F67C9F6-8214-FB20-6208-FC477FF50C37}"/>
              </a:ext>
            </a:extLst>
          </p:cNvPr>
          <p:cNvSpPr txBox="1"/>
          <p:nvPr/>
        </p:nvSpPr>
        <p:spPr>
          <a:xfrm>
            <a:off x="4241117" y="4616968"/>
            <a:ext cx="720000" cy="360000"/>
          </a:xfrm>
          <a:prstGeom prst="rect">
            <a:avLst/>
          </a:prstGeom>
          <a:solidFill>
            <a:schemeClr val="bg1">
              <a:lumMod val="50000"/>
            </a:schemeClr>
          </a:solidFill>
          <a:ln>
            <a:noFill/>
          </a:ln>
        </p:spPr>
        <p:txBody>
          <a:bodyPr wrap="square" lIns="36000" rIns="36000" rtlCol="0" anchor="ctr">
            <a:noAutofit/>
          </a:bodyPr>
          <a:lstStyle/>
          <a:p>
            <a:pPr lvl="0" algn="ctr">
              <a:spcAft>
                <a:spcPts val="600"/>
              </a:spcAft>
              <a:tabLst>
                <a:tab pos="173736" algn="l"/>
                <a:tab pos="347472" algn="l"/>
                <a:tab pos="521208" algn="l"/>
                <a:tab pos="694944" algn="l"/>
              </a:tabLst>
              <a:defRPr/>
            </a:pPr>
            <a:r>
              <a:rPr lang="en-CA" sz="800" kern="0" noProof="0">
                <a:solidFill>
                  <a:schemeClr val="bg1"/>
                </a:solidFill>
              </a:rPr>
              <a:t>Database connection</a:t>
            </a:r>
          </a:p>
        </p:txBody>
      </p:sp>
      <p:sp>
        <p:nvSpPr>
          <p:cNvPr id="60" name="Rectangle 59">
            <a:extLst>
              <a:ext uri="{FF2B5EF4-FFF2-40B4-BE49-F238E27FC236}">
                <a16:creationId xmlns:a16="http://schemas.microsoft.com/office/drawing/2014/main" id="{550FB511-113E-74EE-59C4-3DE14042208B}"/>
              </a:ext>
            </a:extLst>
          </p:cNvPr>
          <p:cNvSpPr/>
          <p:nvPr/>
        </p:nvSpPr>
        <p:spPr>
          <a:xfrm>
            <a:off x="4187117" y="2028802"/>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61" name="Rectangle 60">
            <a:extLst>
              <a:ext uri="{FF2B5EF4-FFF2-40B4-BE49-F238E27FC236}">
                <a16:creationId xmlns:a16="http://schemas.microsoft.com/office/drawing/2014/main" id="{F255EBF6-40B6-5341-CDCF-DD409CDA0B9B}"/>
              </a:ext>
            </a:extLst>
          </p:cNvPr>
          <p:cNvSpPr/>
          <p:nvPr/>
        </p:nvSpPr>
        <p:spPr>
          <a:xfrm>
            <a:off x="4188120" y="2679523"/>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62" name="Rectangle 61">
            <a:extLst>
              <a:ext uri="{FF2B5EF4-FFF2-40B4-BE49-F238E27FC236}">
                <a16:creationId xmlns:a16="http://schemas.microsoft.com/office/drawing/2014/main" id="{C3929661-97B4-FBB5-BADA-3107E046D73A}"/>
              </a:ext>
            </a:extLst>
          </p:cNvPr>
          <p:cNvSpPr/>
          <p:nvPr/>
        </p:nvSpPr>
        <p:spPr>
          <a:xfrm>
            <a:off x="4188120" y="3555523"/>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63" name="Rectangle 62">
            <a:extLst>
              <a:ext uri="{FF2B5EF4-FFF2-40B4-BE49-F238E27FC236}">
                <a16:creationId xmlns:a16="http://schemas.microsoft.com/office/drawing/2014/main" id="{9645AE07-2A8F-9C0B-902A-18919C91BD00}"/>
              </a:ext>
            </a:extLst>
          </p:cNvPr>
          <p:cNvSpPr/>
          <p:nvPr/>
        </p:nvSpPr>
        <p:spPr>
          <a:xfrm>
            <a:off x="4187117" y="4548187"/>
            <a:ext cx="36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cxnSp>
        <p:nvCxnSpPr>
          <p:cNvPr id="516" name="Straight Arrow Connector 515">
            <a:extLst>
              <a:ext uri="{FF2B5EF4-FFF2-40B4-BE49-F238E27FC236}">
                <a16:creationId xmlns:a16="http://schemas.microsoft.com/office/drawing/2014/main" id="{7FF60520-662E-B13A-0F66-DF6566CC17FA}"/>
              </a:ext>
            </a:extLst>
          </p:cNvPr>
          <p:cNvCxnSpPr>
            <a:cxnSpLocks/>
            <a:stCxn id="31" idx="3"/>
          </p:cNvCxnSpPr>
          <p:nvPr/>
        </p:nvCxnSpPr>
        <p:spPr>
          <a:xfrm flipV="1">
            <a:off x="2872243" y="2217067"/>
            <a:ext cx="1336076" cy="4712"/>
          </a:xfrm>
          <a:prstGeom prst="straightConnector1">
            <a:avLst/>
          </a:prstGeom>
          <a:ln w="2222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19" name="Straight Arrow Connector 518">
            <a:extLst>
              <a:ext uri="{FF2B5EF4-FFF2-40B4-BE49-F238E27FC236}">
                <a16:creationId xmlns:a16="http://schemas.microsoft.com/office/drawing/2014/main" id="{1189BC9C-F02C-1407-4901-1F6E3F949B18}"/>
              </a:ext>
            </a:extLst>
          </p:cNvPr>
          <p:cNvCxnSpPr>
            <a:cxnSpLocks/>
          </p:cNvCxnSpPr>
          <p:nvPr/>
        </p:nvCxnSpPr>
        <p:spPr>
          <a:xfrm>
            <a:off x="1571365" y="3238452"/>
            <a:ext cx="2651760" cy="0"/>
          </a:xfrm>
          <a:prstGeom prst="straightConnector1">
            <a:avLst/>
          </a:prstGeom>
          <a:ln w="2222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24" name="Straight Arrow Connector 523">
            <a:extLst>
              <a:ext uri="{FF2B5EF4-FFF2-40B4-BE49-F238E27FC236}">
                <a16:creationId xmlns:a16="http://schemas.microsoft.com/office/drawing/2014/main" id="{CD253077-78EC-83FD-D8D5-6AE1062B89F8}"/>
              </a:ext>
            </a:extLst>
          </p:cNvPr>
          <p:cNvCxnSpPr>
            <a:cxnSpLocks/>
          </p:cNvCxnSpPr>
          <p:nvPr/>
        </p:nvCxnSpPr>
        <p:spPr>
          <a:xfrm>
            <a:off x="2523174" y="3614301"/>
            <a:ext cx="1645920" cy="0"/>
          </a:xfrm>
          <a:prstGeom prst="straightConnector1">
            <a:avLst/>
          </a:prstGeom>
          <a:ln w="2222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FB4239B9-FC4C-C932-E89D-87E5F0BDF34E}"/>
              </a:ext>
            </a:extLst>
          </p:cNvPr>
          <p:cNvCxnSpPr>
            <a:cxnSpLocks/>
            <a:stCxn id="14" idx="3"/>
          </p:cNvCxnSpPr>
          <p:nvPr/>
        </p:nvCxnSpPr>
        <p:spPr>
          <a:xfrm>
            <a:off x="1622615" y="1822303"/>
            <a:ext cx="2582502" cy="7018"/>
          </a:xfrm>
          <a:prstGeom prst="straightConnector1">
            <a:avLst/>
          </a:prstGeom>
          <a:ln w="2222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2E317B6-1EA7-8785-9B6A-31D6D80FBEDE}"/>
              </a:ext>
            </a:extLst>
          </p:cNvPr>
          <p:cNvSpPr txBox="1"/>
          <p:nvPr/>
        </p:nvSpPr>
        <p:spPr>
          <a:xfrm>
            <a:off x="3331416" y="746521"/>
            <a:ext cx="873701" cy="215444"/>
          </a:xfrm>
          <a:prstGeom prst="rect">
            <a:avLst/>
          </a:prstGeom>
          <a:solidFill>
            <a:schemeClr val="bg1"/>
          </a:solid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0" tIns="0" rIns="0" bIns="0">
            <a:spAutoFit/>
          </a:bodyPr>
          <a:lstStyle/>
          <a:p>
            <a:pPr algn="ctr"/>
            <a:r>
              <a:rPr lang="en-CA" sz="1400" b="1" noProof="0">
                <a:solidFill>
                  <a:schemeClr val="tx2"/>
                </a:solidFill>
              </a:rPr>
              <a:t>NORTH*</a:t>
            </a:r>
          </a:p>
        </p:txBody>
      </p:sp>
      <p:cxnSp>
        <p:nvCxnSpPr>
          <p:cNvPr id="526" name="Straight Arrow Connector 525">
            <a:extLst>
              <a:ext uri="{FF2B5EF4-FFF2-40B4-BE49-F238E27FC236}">
                <a16:creationId xmlns:a16="http://schemas.microsoft.com/office/drawing/2014/main" id="{6777A801-3DA6-EFC8-2657-95E982A70AF1}"/>
              </a:ext>
            </a:extLst>
          </p:cNvPr>
          <p:cNvCxnSpPr>
            <a:cxnSpLocks/>
          </p:cNvCxnSpPr>
          <p:nvPr/>
        </p:nvCxnSpPr>
        <p:spPr>
          <a:xfrm flipV="1">
            <a:off x="1995810" y="5126878"/>
            <a:ext cx="0" cy="245682"/>
          </a:xfrm>
          <a:prstGeom prst="straightConnector1">
            <a:avLst/>
          </a:prstGeom>
          <a:ln w="22225">
            <a:solidFill>
              <a:schemeClr val="accent1">
                <a:lumMod val="90000"/>
                <a:lumOff val="10000"/>
              </a:schemeClr>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544" name="Group 543">
            <a:extLst>
              <a:ext uri="{FF2B5EF4-FFF2-40B4-BE49-F238E27FC236}">
                <a16:creationId xmlns:a16="http://schemas.microsoft.com/office/drawing/2014/main" id="{7D5F3C28-DBC2-D9A4-160E-61B435E552FF}"/>
              </a:ext>
            </a:extLst>
          </p:cNvPr>
          <p:cNvGrpSpPr/>
          <p:nvPr/>
        </p:nvGrpSpPr>
        <p:grpSpPr>
          <a:xfrm>
            <a:off x="338545" y="5362965"/>
            <a:ext cx="6780491" cy="468000"/>
            <a:chOff x="309984" y="5538817"/>
            <a:chExt cx="4676571" cy="468000"/>
          </a:xfrm>
        </p:grpSpPr>
        <p:sp>
          <p:nvSpPr>
            <p:cNvPr id="518" name="Rectangle 517">
              <a:extLst>
                <a:ext uri="{FF2B5EF4-FFF2-40B4-BE49-F238E27FC236}">
                  <a16:creationId xmlns:a16="http://schemas.microsoft.com/office/drawing/2014/main" id="{02BF5504-B6A9-BA0D-FF01-9A8D94F30EBA}"/>
                </a:ext>
              </a:extLst>
            </p:cNvPr>
            <p:cNvSpPr/>
            <p:nvPr/>
          </p:nvSpPr>
          <p:spPr>
            <a:xfrm>
              <a:off x="309984" y="5538817"/>
              <a:ext cx="4676571" cy="468000"/>
            </a:xfrm>
            <a:prstGeom prst="rect">
              <a:avLst/>
            </a:prstGeom>
            <a:solidFill>
              <a:schemeClr val="bg1">
                <a:lumMod val="95000"/>
              </a:schemeClr>
            </a:solidFill>
            <a:ln w="19050" cap="flat" cmpd="sng" algn="ctr">
              <a:solidFill>
                <a:schemeClr val="bg1">
                  <a:lumMod val="65000"/>
                </a:schemeClr>
              </a:solidFill>
              <a:prstDash val="solid"/>
              <a:miter lim="800000"/>
            </a:ln>
            <a:effectLst/>
          </p:spPr>
          <p:txBody>
            <a:bodyPr lIns="0" tIns="0" rIns="0" bIns="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800" b="1" i="0" u="none" strike="noStrike" kern="0" cap="none" spc="0" normalizeH="0" baseline="0" noProof="0">
                <a:ln>
                  <a:noFill/>
                </a:ln>
                <a:solidFill>
                  <a:srgbClr val="7030A0"/>
                </a:solidFill>
                <a:effectLst/>
                <a:uLnTx/>
                <a:uFillTx/>
                <a:cs typeface="Arial"/>
              </a:endParaRPr>
            </a:p>
          </p:txBody>
        </p:sp>
        <p:sp>
          <p:nvSpPr>
            <p:cNvPr id="520" name="TextBox 519">
              <a:extLst>
                <a:ext uri="{FF2B5EF4-FFF2-40B4-BE49-F238E27FC236}">
                  <a16:creationId xmlns:a16="http://schemas.microsoft.com/office/drawing/2014/main" id="{18EEAFBD-C4AF-6279-705F-7A2ACAFD33D1}"/>
                </a:ext>
              </a:extLst>
            </p:cNvPr>
            <p:cNvSpPr txBox="1"/>
            <p:nvPr/>
          </p:nvSpPr>
          <p:spPr>
            <a:xfrm>
              <a:off x="309984" y="5538817"/>
              <a:ext cx="2276341"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b="1" noProof="0">
                  <a:solidFill>
                    <a:schemeClr val="bg2">
                      <a:lumMod val="10000"/>
                    </a:schemeClr>
                  </a:solidFill>
                </a:rPr>
                <a:t>Marketplace | </a:t>
              </a:r>
              <a:r>
                <a:rPr lang="en-CA" sz="900" noProof="0">
                  <a:solidFill>
                    <a:schemeClr val="bg2">
                      <a:lumMod val="10000"/>
                    </a:schemeClr>
                  </a:solidFill>
                </a:rPr>
                <a:t>Data discoverability</a:t>
              </a:r>
              <a:endParaRPr lang="en-CA" sz="1050" b="1" noProof="0">
                <a:solidFill>
                  <a:schemeClr val="bg2">
                    <a:lumMod val="10000"/>
                  </a:schemeClr>
                </a:solidFill>
              </a:endParaRPr>
            </a:p>
          </p:txBody>
        </p:sp>
        <p:sp>
          <p:nvSpPr>
            <p:cNvPr id="522" name="TextBox 521">
              <a:extLst>
                <a:ext uri="{FF2B5EF4-FFF2-40B4-BE49-F238E27FC236}">
                  <a16:creationId xmlns:a16="http://schemas.microsoft.com/office/drawing/2014/main" id="{4E635F82-6D4C-1D9C-E6F1-F337CEB8FF2E}"/>
                </a:ext>
              </a:extLst>
            </p:cNvPr>
            <p:cNvSpPr txBox="1"/>
            <p:nvPr/>
          </p:nvSpPr>
          <p:spPr>
            <a:xfrm>
              <a:off x="642325" y="5762165"/>
              <a:ext cx="1944000" cy="138499"/>
            </a:xfrm>
            <a:prstGeom prst="rect">
              <a:avLst/>
            </a:prstGeom>
            <a:noFill/>
            <a:ln>
              <a:noFill/>
            </a:ln>
          </p:spPr>
          <p:txBody>
            <a:bodyPr wrap="square" lIns="0" tIns="0" rIns="0" bIns="0" rtlCol="0">
              <a:spAutoFit/>
            </a:bodyPr>
            <a:lstStyle>
              <a:defPPr>
                <a:defRPr lang="en-US"/>
              </a:defPPr>
              <a:lvl1pPr algn="ctr" defTabSz="913851">
                <a:defRPr sz="700">
                  <a:solidFill>
                    <a:prstClr val="black"/>
                  </a:solidFill>
                  <a:latin typeface="+mj-lt"/>
                </a:defRPr>
              </a:lvl1pPr>
            </a:lstStyle>
            <a:p>
              <a:pPr>
                <a:defRPr/>
              </a:pPr>
              <a:r>
                <a:rPr lang="en-CA" sz="900" b="1" kern="0" noProof="0">
                  <a:solidFill>
                    <a:schemeClr val="accent6"/>
                  </a:solidFill>
                  <a:latin typeface="+mn-lt"/>
                </a:rPr>
                <a:t>E.g. Risk Analyst/ Data Scientist</a:t>
              </a:r>
            </a:p>
          </p:txBody>
        </p:sp>
        <p:cxnSp>
          <p:nvCxnSpPr>
            <p:cNvPr id="541" name="Straight Connector 540">
              <a:extLst>
                <a:ext uri="{FF2B5EF4-FFF2-40B4-BE49-F238E27FC236}">
                  <a16:creationId xmlns:a16="http://schemas.microsoft.com/office/drawing/2014/main" id="{6654F1C5-5552-1052-D503-643E5A20E434}"/>
                </a:ext>
              </a:extLst>
            </p:cNvPr>
            <p:cNvCxnSpPr/>
            <p:nvPr/>
          </p:nvCxnSpPr>
          <p:spPr>
            <a:xfrm flipH="1">
              <a:off x="2616973" y="5580042"/>
              <a:ext cx="0" cy="374855"/>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543" name="TextBox 542">
              <a:extLst>
                <a:ext uri="{FF2B5EF4-FFF2-40B4-BE49-F238E27FC236}">
                  <a16:creationId xmlns:a16="http://schemas.microsoft.com/office/drawing/2014/main" id="{4835A7D3-0148-273C-7C93-5F1D4624B56F}"/>
                </a:ext>
              </a:extLst>
            </p:cNvPr>
            <p:cNvSpPr txBox="1"/>
            <p:nvPr/>
          </p:nvSpPr>
          <p:spPr>
            <a:xfrm>
              <a:off x="2673585" y="5597966"/>
              <a:ext cx="2304900" cy="26161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r>
                <a:rPr lang="en-CA" sz="850" noProof="0">
                  <a:solidFill>
                    <a:schemeClr val="bg2">
                      <a:lumMod val="10000"/>
                    </a:schemeClr>
                  </a:solidFill>
                </a:rPr>
                <a:t>An End User will </a:t>
              </a:r>
              <a:r>
                <a:rPr lang="en-CA" sz="850" b="1" noProof="0">
                  <a:solidFill>
                    <a:schemeClr val="bg2">
                      <a:lumMod val="10000"/>
                    </a:schemeClr>
                  </a:solidFill>
                </a:rPr>
                <a:t>discover and find the right sets of data through the Marketplace.</a:t>
              </a:r>
            </a:p>
          </p:txBody>
        </p:sp>
      </p:grpSp>
      <p:cxnSp>
        <p:nvCxnSpPr>
          <p:cNvPr id="8" name="Straight Arrow Connector 7">
            <a:extLst>
              <a:ext uri="{FF2B5EF4-FFF2-40B4-BE49-F238E27FC236}">
                <a16:creationId xmlns:a16="http://schemas.microsoft.com/office/drawing/2014/main" id="{D0E77C60-FC9A-7727-AAB0-AEE514BD9C03}"/>
              </a:ext>
            </a:extLst>
          </p:cNvPr>
          <p:cNvCxnSpPr>
            <a:cxnSpLocks/>
          </p:cNvCxnSpPr>
          <p:nvPr/>
        </p:nvCxnSpPr>
        <p:spPr>
          <a:xfrm>
            <a:off x="5027792" y="3114583"/>
            <a:ext cx="619921" cy="0"/>
          </a:xfrm>
          <a:prstGeom prst="straightConnector1">
            <a:avLst/>
          </a:prstGeom>
          <a:ln w="2222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536" name="TextBox 535">
            <a:extLst>
              <a:ext uri="{FF2B5EF4-FFF2-40B4-BE49-F238E27FC236}">
                <a16:creationId xmlns:a16="http://schemas.microsoft.com/office/drawing/2014/main" id="{6F4D01B7-1C5D-255A-607F-16092746E40E}"/>
              </a:ext>
            </a:extLst>
          </p:cNvPr>
          <p:cNvSpPr txBox="1"/>
          <p:nvPr/>
        </p:nvSpPr>
        <p:spPr>
          <a:xfrm>
            <a:off x="6929401" y="6433254"/>
            <a:ext cx="1901211" cy="22679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b="1" noProof="0">
                <a:solidFill>
                  <a:schemeClr val="accent6"/>
                </a:solidFill>
              </a:rPr>
              <a:t>Business Personas</a:t>
            </a:r>
          </a:p>
        </p:txBody>
      </p:sp>
      <p:sp>
        <p:nvSpPr>
          <p:cNvPr id="531" name="Rectangle: Rounded Corners 530">
            <a:extLst>
              <a:ext uri="{FF2B5EF4-FFF2-40B4-BE49-F238E27FC236}">
                <a16:creationId xmlns:a16="http://schemas.microsoft.com/office/drawing/2014/main" id="{060ACD5F-66F0-F23B-3165-418124D51B2B}"/>
              </a:ext>
            </a:extLst>
          </p:cNvPr>
          <p:cNvSpPr/>
          <p:nvPr/>
        </p:nvSpPr>
        <p:spPr>
          <a:xfrm>
            <a:off x="527254" y="6403103"/>
            <a:ext cx="9312071" cy="287092"/>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32" name="TextBox 531">
            <a:extLst>
              <a:ext uri="{FF2B5EF4-FFF2-40B4-BE49-F238E27FC236}">
                <a16:creationId xmlns:a16="http://schemas.microsoft.com/office/drawing/2014/main" id="{4EE682F7-32F1-66A4-81CA-E37D5F80B3F3}"/>
              </a:ext>
            </a:extLst>
          </p:cNvPr>
          <p:cNvSpPr txBox="1"/>
          <p:nvPr/>
        </p:nvSpPr>
        <p:spPr>
          <a:xfrm>
            <a:off x="588423" y="6436978"/>
            <a:ext cx="633737" cy="219342"/>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000" noProof="0">
                <a:solidFill>
                  <a:schemeClr val="bg2">
                    <a:lumMod val="10000"/>
                  </a:schemeClr>
                </a:solidFill>
              </a:rPr>
              <a:t>Legend</a:t>
            </a:r>
          </a:p>
        </p:txBody>
      </p:sp>
      <p:cxnSp>
        <p:nvCxnSpPr>
          <p:cNvPr id="533" name="Straight Connector 532">
            <a:extLst>
              <a:ext uri="{FF2B5EF4-FFF2-40B4-BE49-F238E27FC236}">
                <a16:creationId xmlns:a16="http://schemas.microsoft.com/office/drawing/2014/main" id="{D32588B3-7441-B41D-75E5-C7BB52DAE5D2}"/>
              </a:ext>
            </a:extLst>
          </p:cNvPr>
          <p:cNvCxnSpPr>
            <a:cxnSpLocks/>
          </p:cNvCxnSpPr>
          <p:nvPr/>
        </p:nvCxnSpPr>
        <p:spPr>
          <a:xfrm>
            <a:off x="1251759" y="6442105"/>
            <a:ext cx="0" cy="209089"/>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Arrow Connector 533">
            <a:extLst>
              <a:ext uri="{FF2B5EF4-FFF2-40B4-BE49-F238E27FC236}">
                <a16:creationId xmlns:a16="http://schemas.microsoft.com/office/drawing/2014/main" id="{8415134F-5350-2BC1-5317-46E03C974D66}"/>
              </a:ext>
            </a:extLst>
          </p:cNvPr>
          <p:cNvCxnSpPr>
            <a:cxnSpLocks/>
          </p:cNvCxnSpPr>
          <p:nvPr/>
        </p:nvCxnSpPr>
        <p:spPr>
          <a:xfrm>
            <a:off x="1336728" y="6546649"/>
            <a:ext cx="438741"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535" name="TextBox 534">
            <a:extLst>
              <a:ext uri="{FF2B5EF4-FFF2-40B4-BE49-F238E27FC236}">
                <a16:creationId xmlns:a16="http://schemas.microsoft.com/office/drawing/2014/main" id="{02D828E0-21DA-A0D6-2120-DC9E28EB990B}"/>
              </a:ext>
            </a:extLst>
          </p:cNvPr>
          <p:cNvSpPr txBox="1"/>
          <p:nvPr/>
        </p:nvSpPr>
        <p:spPr>
          <a:xfrm>
            <a:off x="1775469" y="6436978"/>
            <a:ext cx="1023729" cy="219342"/>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Data Flow</a:t>
            </a:r>
          </a:p>
        </p:txBody>
      </p:sp>
      <p:cxnSp>
        <p:nvCxnSpPr>
          <p:cNvPr id="537" name="Straight Connector 536">
            <a:extLst>
              <a:ext uri="{FF2B5EF4-FFF2-40B4-BE49-F238E27FC236}">
                <a16:creationId xmlns:a16="http://schemas.microsoft.com/office/drawing/2014/main" id="{2DB302A9-4C11-1CC4-3A0B-38C2BFA4BADA}"/>
              </a:ext>
            </a:extLst>
          </p:cNvPr>
          <p:cNvCxnSpPr>
            <a:cxnSpLocks/>
          </p:cNvCxnSpPr>
          <p:nvPr/>
        </p:nvCxnSpPr>
        <p:spPr>
          <a:xfrm>
            <a:off x="7203972" y="6442105"/>
            <a:ext cx="0" cy="209089"/>
          </a:xfrm>
          <a:prstGeom prst="line">
            <a:avLst/>
          </a:prstGeom>
          <a:ln w="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63FD5CE-6845-D99D-EF10-F896E52D28C2}"/>
              </a:ext>
            </a:extLst>
          </p:cNvPr>
          <p:cNvSpPr txBox="1"/>
          <p:nvPr/>
        </p:nvSpPr>
        <p:spPr>
          <a:xfrm>
            <a:off x="3115456" y="6433354"/>
            <a:ext cx="4279105"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b="1" noProof="0">
                <a:solidFill>
                  <a:schemeClr val="bg2">
                    <a:lumMod val="10000"/>
                  </a:schemeClr>
                </a:solidFill>
              </a:rPr>
              <a:t>Data Product-</a:t>
            </a:r>
            <a:r>
              <a:rPr lang="en-CA" sz="1000" noProof="0">
                <a:solidFill>
                  <a:schemeClr val="bg2">
                    <a:lumMod val="10000"/>
                  </a:schemeClr>
                </a:solidFill>
              </a:rPr>
              <a:t>Trusted, </a:t>
            </a:r>
            <a:r>
              <a:rPr lang="en-CA" sz="1000" b="1" noProof="0">
                <a:solidFill>
                  <a:schemeClr val="bg2">
                    <a:lumMod val="10000"/>
                  </a:schemeClr>
                </a:solidFill>
              </a:rPr>
              <a:t>governed</a:t>
            </a:r>
            <a:r>
              <a:rPr lang="en-CA" sz="1000" noProof="0">
                <a:solidFill>
                  <a:schemeClr val="bg2">
                    <a:lumMod val="10000"/>
                  </a:schemeClr>
                </a:solidFill>
              </a:rPr>
              <a:t> data owned by </a:t>
            </a:r>
            <a:r>
              <a:rPr lang="en-CA" sz="1000">
                <a:solidFill>
                  <a:schemeClr val="bg2">
                    <a:lumMod val="10000"/>
                  </a:schemeClr>
                </a:solidFill>
              </a:rPr>
              <a:t>business units</a:t>
            </a:r>
            <a:endParaRPr lang="en-CA" sz="1000" noProof="0">
              <a:solidFill>
                <a:schemeClr val="bg2">
                  <a:lumMod val="10000"/>
                </a:schemeClr>
              </a:solidFill>
            </a:endParaRPr>
          </a:p>
        </p:txBody>
      </p:sp>
      <p:sp>
        <p:nvSpPr>
          <p:cNvPr id="26" name="Hexagon 25">
            <a:extLst>
              <a:ext uri="{FF2B5EF4-FFF2-40B4-BE49-F238E27FC236}">
                <a16:creationId xmlns:a16="http://schemas.microsoft.com/office/drawing/2014/main" id="{95BC54A9-0A0D-C9FB-41E7-AEA96F1E7113}"/>
              </a:ext>
            </a:extLst>
          </p:cNvPr>
          <p:cNvSpPr>
            <a:spLocks noChangeAspect="1"/>
          </p:cNvSpPr>
          <p:nvPr/>
        </p:nvSpPr>
        <p:spPr>
          <a:xfrm rot="5400000">
            <a:off x="2849327" y="6429853"/>
            <a:ext cx="216000" cy="233593"/>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0" tIns="0" rIns="0" bIns="0" rtlCol="0" anchor="ctr"/>
          <a:lstStyle/>
          <a:p>
            <a:pPr algn="ctr"/>
            <a:endParaRPr lang="en-CA" sz="800" noProof="0">
              <a:solidFill>
                <a:srgbClr val="298B68"/>
              </a:solidFill>
            </a:endParaRPr>
          </a:p>
        </p:txBody>
      </p:sp>
      <p:cxnSp>
        <p:nvCxnSpPr>
          <p:cNvPr id="30" name="Straight Connector 29">
            <a:extLst>
              <a:ext uri="{FF2B5EF4-FFF2-40B4-BE49-F238E27FC236}">
                <a16:creationId xmlns:a16="http://schemas.microsoft.com/office/drawing/2014/main" id="{DC88003D-1DA9-1C9F-3B35-80F67AFB0AE7}"/>
              </a:ext>
            </a:extLst>
          </p:cNvPr>
          <p:cNvCxnSpPr>
            <a:cxnSpLocks/>
          </p:cNvCxnSpPr>
          <p:nvPr/>
        </p:nvCxnSpPr>
        <p:spPr>
          <a:xfrm>
            <a:off x="2691815" y="6438649"/>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pic>
        <p:nvPicPr>
          <p:cNvPr id="259" name="Graphic 258" descr="User with solid fill">
            <a:extLst>
              <a:ext uri="{FF2B5EF4-FFF2-40B4-BE49-F238E27FC236}">
                <a16:creationId xmlns:a16="http://schemas.microsoft.com/office/drawing/2014/main" id="{AB50B9E7-6F9F-6E41-1E3C-538607997B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8178" y="5379061"/>
            <a:ext cx="443917" cy="412531"/>
          </a:xfrm>
          <a:prstGeom prst="rect">
            <a:avLst/>
          </a:prstGeom>
        </p:spPr>
      </p:pic>
      <p:sp>
        <p:nvSpPr>
          <p:cNvPr id="262" name="TextBox 261">
            <a:extLst>
              <a:ext uri="{FF2B5EF4-FFF2-40B4-BE49-F238E27FC236}">
                <a16:creationId xmlns:a16="http://schemas.microsoft.com/office/drawing/2014/main" id="{F98392BD-2DCE-2453-DE52-51271BC1D4CE}"/>
              </a:ext>
            </a:extLst>
          </p:cNvPr>
          <p:cNvSpPr txBox="1"/>
          <p:nvPr/>
        </p:nvSpPr>
        <p:spPr>
          <a:xfrm>
            <a:off x="8415399" y="6429506"/>
            <a:ext cx="1469395"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accent2">
                    <a:lumMod val="75000"/>
                  </a:schemeClr>
                </a:solidFill>
              </a:rPr>
              <a:t>Technical Personas</a:t>
            </a:r>
          </a:p>
        </p:txBody>
      </p:sp>
      <p:pic>
        <p:nvPicPr>
          <p:cNvPr id="268" name="Graphic 267" descr="User with solid fill">
            <a:extLst>
              <a:ext uri="{FF2B5EF4-FFF2-40B4-BE49-F238E27FC236}">
                <a16:creationId xmlns:a16="http://schemas.microsoft.com/office/drawing/2014/main" id="{6EB641CB-C2A4-2069-BD73-60416ACDAD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4954" y="5376532"/>
            <a:ext cx="443917" cy="412531"/>
          </a:xfrm>
          <a:prstGeom prst="rect">
            <a:avLst/>
          </a:prstGeom>
        </p:spPr>
      </p:pic>
      <p:grpSp>
        <p:nvGrpSpPr>
          <p:cNvPr id="4" name="Group 3">
            <a:extLst>
              <a:ext uri="{FF2B5EF4-FFF2-40B4-BE49-F238E27FC236}">
                <a16:creationId xmlns:a16="http://schemas.microsoft.com/office/drawing/2014/main" id="{7B46C06C-8342-8BE4-EA09-C81FAEE953A7}"/>
              </a:ext>
            </a:extLst>
          </p:cNvPr>
          <p:cNvGrpSpPr/>
          <p:nvPr/>
        </p:nvGrpSpPr>
        <p:grpSpPr>
          <a:xfrm>
            <a:off x="5647713" y="2137340"/>
            <a:ext cx="1149078" cy="2462450"/>
            <a:chOff x="5647713" y="2657124"/>
            <a:chExt cx="1149078" cy="2462450"/>
          </a:xfrm>
        </p:grpSpPr>
        <p:sp>
          <p:nvSpPr>
            <p:cNvPr id="529" name="Text 45">
              <a:extLst>
                <a:ext uri="{FF2B5EF4-FFF2-40B4-BE49-F238E27FC236}">
                  <a16:creationId xmlns:a16="http://schemas.microsoft.com/office/drawing/2014/main" id="{233BBD36-274E-E65A-84A0-F23A666A3803}"/>
                </a:ext>
              </a:extLst>
            </p:cNvPr>
            <p:cNvSpPr/>
            <p:nvPr/>
          </p:nvSpPr>
          <p:spPr>
            <a:xfrm>
              <a:off x="5647713" y="2657124"/>
              <a:ext cx="1149078" cy="274319"/>
            </a:xfrm>
            <a:prstGeom prst="rect">
              <a:avLst/>
            </a:prstGeom>
            <a:noFill/>
            <a:ln>
              <a:solidFill>
                <a:schemeClr val="bg2">
                  <a:lumMod val="90000"/>
                </a:schemeClr>
              </a:solidFill>
            </a:ln>
          </p:spPr>
          <p:txBody>
            <a:bodyPr wrap="square" lIns="0" tIns="0" rIns="0" bIns="0" rtlCol="0" anchor="ctr"/>
            <a:lstStyle/>
            <a:p>
              <a:pPr marL="0" indent="0" algn="ctr">
                <a:buNone/>
              </a:pPr>
              <a:r>
                <a:rPr lang="en-CA" sz="1000" b="1" noProof="0">
                  <a:solidFill>
                    <a:schemeClr val="accent5"/>
                  </a:solidFill>
                  <a:ea typeface="Calibri" pitchFamily="34" charset="-122"/>
                  <a:cs typeface="Calibri" pitchFamily="34" charset="-120"/>
                </a:rPr>
                <a:t>Find · Trust- Use</a:t>
              </a:r>
              <a:endParaRPr lang="en-CA" sz="1000" b="1" noProof="0">
                <a:solidFill>
                  <a:schemeClr val="accent5"/>
                </a:solidFill>
              </a:endParaRPr>
            </a:p>
          </p:txBody>
        </p:sp>
        <p:sp>
          <p:nvSpPr>
            <p:cNvPr id="530" name="Text 46">
              <a:extLst>
                <a:ext uri="{FF2B5EF4-FFF2-40B4-BE49-F238E27FC236}">
                  <a16:creationId xmlns:a16="http://schemas.microsoft.com/office/drawing/2014/main" id="{20C88E70-4AB3-8A46-2856-E2F7B8F486D2}"/>
                </a:ext>
              </a:extLst>
            </p:cNvPr>
            <p:cNvSpPr/>
            <p:nvPr/>
          </p:nvSpPr>
          <p:spPr>
            <a:xfrm>
              <a:off x="5726827" y="2904802"/>
              <a:ext cx="978884" cy="336397"/>
            </a:xfrm>
            <a:prstGeom prst="rect">
              <a:avLst/>
            </a:prstGeom>
            <a:noFill/>
            <a:ln/>
          </p:spPr>
          <p:txBody>
            <a:bodyPr wrap="square" lIns="0" tIns="0" rIns="0" bIns="0" rtlCol="0" anchor="ctr"/>
            <a:lstStyle/>
            <a:p>
              <a:pPr marL="0" indent="0" algn="ctr">
                <a:buNone/>
              </a:pPr>
              <a:r>
                <a:rPr lang="en-CA" sz="1000" i="1" noProof="0">
                  <a:solidFill>
                    <a:srgbClr val="666680"/>
                  </a:solidFill>
                  <a:ea typeface="Calibri" pitchFamily="34" charset="-122"/>
                  <a:cs typeface="Calibri" pitchFamily="34" charset="-120"/>
                </a:rPr>
                <a:t>without waiting on central IT</a:t>
              </a:r>
              <a:endParaRPr lang="en-CA" sz="1000" noProof="0"/>
            </a:p>
          </p:txBody>
        </p:sp>
        <p:sp>
          <p:nvSpPr>
            <p:cNvPr id="563" name="Text 49">
              <a:extLst>
                <a:ext uri="{FF2B5EF4-FFF2-40B4-BE49-F238E27FC236}">
                  <a16:creationId xmlns:a16="http://schemas.microsoft.com/office/drawing/2014/main" id="{FBC46536-F8A3-F547-C665-8BAACFEFDDA2}"/>
                </a:ext>
              </a:extLst>
            </p:cNvPr>
            <p:cNvSpPr/>
            <p:nvPr/>
          </p:nvSpPr>
          <p:spPr>
            <a:xfrm>
              <a:off x="5687201" y="3479328"/>
              <a:ext cx="437017" cy="384047"/>
            </a:xfrm>
            <a:prstGeom prst="rect">
              <a:avLst/>
            </a:prstGeom>
            <a:noFill/>
            <a:ln/>
          </p:spPr>
          <p:txBody>
            <a:bodyPr wrap="square" lIns="0" tIns="0" rIns="0" bIns="0" rtlCol="0" anchor="ctr"/>
            <a:lstStyle/>
            <a:p>
              <a:pPr marL="0" indent="0" algn="ctr">
                <a:buNone/>
              </a:pPr>
              <a:r>
                <a:rPr lang="en-CA" sz="700" noProof="0">
                  <a:solidFill>
                    <a:srgbClr val="1A1A2E"/>
                  </a:solidFill>
                  <a:ea typeface="Calibri" pitchFamily="34" charset="-122"/>
                  <a:cs typeface="Calibri" pitchFamily="34" charset="-120"/>
                </a:rPr>
                <a:t>Business</a:t>
              </a:r>
              <a:endParaRPr lang="en-CA" sz="700" noProof="0"/>
            </a:p>
            <a:p>
              <a:pPr marL="0" indent="0" algn="ctr">
                <a:buNone/>
              </a:pPr>
              <a:r>
                <a:rPr lang="en-CA" sz="700" noProof="0">
                  <a:solidFill>
                    <a:srgbClr val="1A1A2E"/>
                  </a:solidFill>
                  <a:ea typeface="Calibri" pitchFamily="34" charset="-122"/>
                  <a:cs typeface="Calibri" pitchFamily="34" charset="-120"/>
                </a:rPr>
                <a:t>User</a:t>
              </a:r>
              <a:endParaRPr lang="en-CA" sz="700" noProof="0"/>
            </a:p>
          </p:txBody>
        </p:sp>
        <p:sp>
          <p:nvSpPr>
            <p:cNvPr id="566" name="Text 52">
              <a:extLst>
                <a:ext uri="{FF2B5EF4-FFF2-40B4-BE49-F238E27FC236}">
                  <a16:creationId xmlns:a16="http://schemas.microsoft.com/office/drawing/2014/main" id="{18E98E65-6766-709D-9138-FA64844FE1F4}"/>
                </a:ext>
              </a:extLst>
            </p:cNvPr>
            <p:cNvSpPr/>
            <p:nvPr/>
          </p:nvSpPr>
          <p:spPr>
            <a:xfrm>
              <a:off x="6248348" y="3475715"/>
              <a:ext cx="437017" cy="391273"/>
            </a:xfrm>
            <a:prstGeom prst="rect">
              <a:avLst/>
            </a:prstGeom>
            <a:noFill/>
            <a:ln/>
          </p:spPr>
          <p:txBody>
            <a:bodyPr wrap="square" lIns="0" tIns="0" rIns="0" bIns="0" rtlCol="0" anchor="ctr"/>
            <a:lstStyle/>
            <a:p>
              <a:pPr marL="0" indent="0" algn="ctr">
                <a:buNone/>
              </a:pPr>
              <a:r>
                <a:rPr lang="en-CA" sz="700" noProof="0">
                  <a:solidFill>
                    <a:srgbClr val="1A1A2E"/>
                  </a:solidFill>
                  <a:ea typeface="Calibri" pitchFamily="34" charset="-122"/>
                  <a:cs typeface="Calibri" pitchFamily="34" charset="-120"/>
                </a:rPr>
                <a:t>Data</a:t>
              </a:r>
              <a:endParaRPr lang="en-CA" sz="700" noProof="0"/>
            </a:p>
            <a:p>
              <a:pPr marL="0" indent="0" algn="ctr">
                <a:buNone/>
              </a:pPr>
              <a:r>
                <a:rPr lang="en-CA" sz="700" noProof="0">
                  <a:solidFill>
                    <a:srgbClr val="1A1A2E"/>
                  </a:solidFill>
                  <a:ea typeface="Calibri" pitchFamily="34" charset="-122"/>
                  <a:cs typeface="Calibri" pitchFamily="34" charset="-120"/>
                </a:rPr>
                <a:t>Scientist</a:t>
              </a:r>
              <a:endParaRPr lang="en-CA" sz="700" noProof="0"/>
            </a:p>
          </p:txBody>
        </p:sp>
        <p:sp>
          <p:nvSpPr>
            <p:cNvPr id="569" name="Text 55">
              <a:extLst>
                <a:ext uri="{FF2B5EF4-FFF2-40B4-BE49-F238E27FC236}">
                  <a16:creationId xmlns:a16="http://schemas.microsoft.com/office/drawing/2014/main" id="{7F05580B-2852-E191-7FAF-C07880CFAA45}"/>
                </a:ext>
              </a:extLst>
            </p:cNvPr>
            <p:cNvSpPr/>
            <p:nvPr/>
          </p:nvSpPr>
          <p:spPr>
            <a:xfrm>
              <a:off x="5687201" y="4077506"/>
              <a:ext cx="437017" cy="384047"/>
            </a:xfrm>
            <a:prstGeom prst="rect">
              <a:avLst/>
            </a:prstGeom>
            <a:noFill/>
            <a:ln/>
          </p:spPr>
          <p:txBody>
            <a:bodyPr wrap="square" lIns="0" tIns="0" rIns="0" bIns="0" rtlCol="0" anchor="ctr"/>
            <a:lstStyle/>
            <a:p>
              <a:pPr marL="0" indent="0" algn="ctr">
                <a:buNone/>
              </a:pPr>
              <a:r>
                <a:rPr lang="en-CA" sz="700" noProof="0">
                  <a:solidFill>
                    <a:srgbClr val="1A1A2E"/>
                  </a:solidFill>
                  <a:ea typeface="Calibri" pitchFamily="34" charset="-122"/>
                  <a:cs typeface="Calibri" pitchFamily="34" charset="-120"/>
                </a:rPr>
                <a:t>Functional Analyst</a:t>
              </a:r>
              <a:endParaRPr lang="en-CA" sz="700" noProof="0"/>
            </a:p>
          </p:txBody>
        </p:sp>
        <p:sp>
          <p:nvSpPr>
            <p:cNvPr id="572" name="Text 58">
              <a:extLst>
                <a:ext uri="{FF2B5EF4-FFF2-40B4-BE49-F238E27FC236}">
                  <a16:creationId xmlns:a16="http://schemas.microsoft.com/office/drawing/2014/main" id="{F9BB7E7D-14CD-1006-E81D-4C4DE30BB918}"/>
                </a:ext>
              </a:extLst>
            </p:cNvPr>
            <p:cNvSpPr/>
            <p:nvPr/>
          </p:nvSpPr>
          <p:spPr>
            <a:xfrm>
              <a:off x="6248348" y="4073893"/>
              <a:ext cx="437017" cy="391273"/>
            </a:xfrm>
            <a:prstGeom prst="rect">
              <a:avLst/>
            </a:prstGeom>
            <a:noFill/>
            <a:ln/>
          </p:spPr>
          <p:txBody>
            <a:bodyPr wrap="square" lIns="0" tIns="0" rIns="0" bIns="0" rtlCol="0" anchor="ctr"/>
            <a:lstStyle/>
            <a:p>
              <a:pPr marL="0" indent="0" algn="ctr">
                <a:buNone/>
              </a:pPr>
              <a:r>
                <a:rPr lang="en-CA" sz="700" noProof="0">
                  <a:solidFill>
                    <a:srgbClr val="1A1A2E"/>
                  </a:solidFill>
                  <a:ea typeface="Calibri" pitchFamily="34" charset="-122"/>
                  <a:cs typeface="Calibri" pitchFamily="34" charset="-120"/>
                </a:rPr>
                <a:t>App</a:t>
              </a:r>
              <a:endParaRPr lang="en-CA" sz="700" noProof="0"/>
            </a:p>
            <a:p>
              <a:pPr marL="0" indent="0" algn="ctr">
                <a:buNone/>
              </a:pPr>
              <a:r>
                <a:rPr lang="en-CA" sz="700" noProof="0">
                  <a:solidFill>
                    <a:srgbClr val="1A1A2E"/>
                  </a:solidFill>
                  <a:ea typeface="Calibri" pitchFamily="34" charset="-122"/>
                  <a:cs typeface="Calibri" pitchFamily="34" charset="-120"/>
                </a:rPr>
                <a:t>Developer</a:t>
              </a:r>
              <a:endParaRPr lang="en-CA" sz="700" noProof="0"/>
            </a:p>
          </p:txBody>
        </p:sp>
        <p:sp>
          <p:nvSpPr>
            <p:cNvPr id="575" name="Text 61">
              <a:extLst>
                <a:ext uri="{FF2B5EF4-FFF2-40B4-BE49-F238E27FC236}">
                  <a16:creationId xmlns:a16="http://schemas.microsoft.com/office/drawing/2014/main" id="{3C672B41-796C-4002-3F79-D5DCD1A14DE6}"/>
                </a:ext>
              </a:extLst>
            </p:cNvPr>
            <p:cNvSpPr/>
            <p:nvPr/>
          </p:nvSpPr>
          <p:spPr>
            <a:xfrm>
              <a:off x="5682389" y="4731914"/>
              <a:ext cx="437017" cy="384047"/>
            </a:xfrm>
            <a:prstGeom prst="rect">
              <a:avLst/>
            </a:prstGeom>
            <a:noFill/>
            <a:ln/>
          </p:spPr>
          <p:txBody>
            <a:bodyPr wrap="square" lIns="0" tIns="0" rIns="0" bIns="0" rtlCol="0" anchor="ctr"/>
            <a:lstStyle/>
            <a:p>
              <a:pPr marL="0" indent="0" algn="ctr">
                <a:buNone/>
              </a:pPr>
              <a:r>
                <a:rPr lang="en-CA" sz="700" noProof="0">
                  <a:solidFill>
                    <a:srgbClr val="1A1A2E"/>
                  </a:solidFill>
                  <a:ea typeface="Calibri" pitchFamily="34" charset="-122"/>
                  <a:cs typeface="Calibri" pitchFamily="34" charset="-120"/>
                </a:rPr>
                <a:t>Risk Analyst</a:t>
              </a:r>
              <a:endParaRPr lang="en-CA" sz="700" noProof="0"/>
            </a:p>
          </p:txBody>
        </p:sp>
        <p:sp>
          <p:nvSpPr>
            <p:cNvPr id="258" name="Text 64">
              <a:extLst>
                <a:ext uri="{FF2B5EF4-FFF2-40B4-BE49-F238E27FC236}">
                  <a16:creationId xmlns:a16="http://schemas.microsoft.com/office/drawing/2014/main" id="{97692FA2-A1C3-3C6F-4F73-0A93E354A6F2}"/>
                </a:ext>
              </a:extLst>
            </p:cNvPr>
            <p:cNvSpPr/>
            <p:nvPr/>
          </p:nvSpPr>
          <p:spPr>
            <a:xfrm>
              <a:off x="6243536" y="4728301"/>
              <a:ext cx="437017" cy="391273"/>
            </a:xfrm>
            <a:prstGeom prst="rect">
              <a:avLst/>
            </a:prstGeom>
            <a:noFill/>
            <a:ln/>
          </p:spPr>
          <p:txBody>
            <a:bodyPr wrap="square" lIns="0" tIns="0" rIns="0" bIns="0" rtlCol="0" anchor="ctr"/>
            <a:lstStyle/>
            <a:p>
              <a:pPr marL="0" indent="0" algn="ctr">
                <a:buNone/>
              </a:pPr>
              <a:r>
                <a:rPr lang="en-CA" sz="700" noProof="0">
                  <a:solidFill>
                    <a:srgbClr val="1A1A2E"/>
                  </a:solidFill>
                  <a:ea typeface="Calibri" pitchFamily="34" charset="-122"/>
                  <a:cs typeface="Calibri" pitchFamily="34" charset="-120"/>
                </a:rPr>
                <a:t>Business</a:t>
              </a:r>
              <a:endParaRPr lang="en-CA" sz="700" noProof="0"/>
            </a:p>
            <a:p>
              <a:pPr marL="0" indent="0" algn="ctr">
                <a:buNone/>
              </a:pPr>
              <a:r>
                <a:rPr lang="en-CA" sz="700" noProof="0">
                  <a:solidFill>
                    <a:srgbClr val="1A1A2E"/>
                  </a:solidFill>
                  <a:ea typeface="Calibri" pitchFamily="34" charset="-122"/>
                  <a:cs typeface="Calibri" pitchFamily="34" charset="-120"/>
                </a:rPr>
                <a:t>Analyst</a:t>
              </a:r>
              <a:endParaRPr lang="en-CA" sz="700" noProof="0"/>
            </a:p>
          </p:txBody>
        </p:sp>
        <p:pic>
          <p:nvPicPr>
            <p:cNvPr id="3" name="Graphic 2" descr="User with solid fill">
              <a:extLst>
                <a:ext uri="{FF2B5EF4-FFF2-40B4-BE49-F238E27FC236}">
                  <a16:creationId xmlns:a16="http://schemas.microsoft.com/office/drawing/2014/main" id="{B8807BE5-2142-CAE7-2DE2-F01902568A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83751" y="3174069"/>
              <a:ext cx="443917" cy="412531"/>
            </a:xfrm>
            <a:prstGeom prst="rect">
              <a:avLst/>
            </a:prstGeom>
          </p:spPr>
        </p:pic>
        <p:pic>
          <p:nvPicPr>
            <p:cNvPr id="6" name="Graphic 5" descr="User with solid fill">
              <a:extLst>
                <a:ext uri="{FF2B5EF4-FFF2-40B4-BE49-F238E27FC236}">
                  <a16:creationId xmlns:a16="http://schemas.microsoft.com/office/drawing/2014/main" id="{48D93CED-AA2E-9224-3591-EABEB46D03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4898" y="3174069"/>
              <a:ext cx="443917" cy="412531"/>
            </a:xfrm>
            <a:prstGeom prst="rect">
              <a:avLst/>
            </a:prstGeom>
          </p:spPr>
        </p:pic>
        <p:pic>
          <p:nvPicPr>
            <p:cNvPr id="10" name="Graphic 9" descr="User with solid fill">
              <a:extLst>
                <a:ext uri="{FF2B5EF4-FFF2-40B4-BE49-F238E27FC236}">
                  <a16:creationId xmlns:a16="http://schemas.microsoft.com/office/drawing/2014/main" id="{A7F61784-56FA-505C-FE4C-E020E3F0B3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83751" y="3772323"/>
              <a:ext cx="443917" cy="412531"/>
            </a:xfrm>
            <a:prstGeom prst="rect">
              <a:avLst/>
            </a:prstGeom>
          </p:spPr>
        </p:pic>
        <p:pic>
          <p:nvPicPr>
            <p:cNvPr id="11" name="Graphic 10" descr="User with solid fill">
              <a:extLst>
                <a:ext uri="{FF2B5EF4-FFF2-40B4-BE49-F238E27FC236}">
                  <a16:creationId xmlns:a16="http://schemas.microsoft.com/office/drawing/2014/main" id="{9D3813C6-1855-95F2-B498-AD48E7A281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4898" y="3772323"/>
              <a:ext cx="443917" cy="412531"/>
            </a:xfrm>
            <a:prstGeom prst="rect">
              <a:avLst/>
            </a:prstGeom>
          </p:spPr>
        </p:pic>
        <p:pic>
          <p:nvPicPr>
            <p:cNvPr id="13" name="Graphic 12" descr="User with solid fill">
              <a:extLst>
                <a:ext uri="{FF2B5EF4-FFF2-40B4-BE49-F238E27FC236}">
                  <a16:creationId xmlns:a16="http://schemas.microsoft.com/office/drawing/2014/main" id="{57DB88F2-8024-76BA-5381-BC3E8B9EA9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83751" y="4404047"/>
              <a:ext cx="443917" cy="412531"/>
            </a:xfrm>
            <a:prstGeom prst="rect">
              <a:avLst/>
            </a:prstGeom>
          </p:spPr>
        </p:pic>
        <p:pic>
          <p:nvPicPr>
            <p:cNvPr id="18" name="Graphic 17" descr="User with solid fill">
              <a:extLst>
                <a:ext uri="{FF2B5EF4-FFF2-40B4-BE49-F238E27FC236}">
                  <a16:creationId xmlns:a16="http://schemas.microsoft.com/office/drawing/2014/main" id="{99999FE1-94D5-6333-CB18-BBC726A13F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4898" y="4404047"/>
              <a:ext cx="443917" cy="412531"/>
            </a:xfrm>
            <a:prstGeom prst="rect">
              <a:avLst/>
            </a:prstGeom>
          </p:spPr>
        </p:pic>
      </p:grpSp>
      <p:sp>
        <p:nvSpPr>
          <p:cNvPr id="29" name="TextBox 28">
            <a:extLst>
              <a:ext uri="{FF2B5EF4-FFF2-40B4-BE49-F238E27FC236}">
                <a16:creationId xmlns:a16="http://schemas.microsoft.com/office/drawing/2014/main" id="{FD406855-2D5B-FE4D-5690-4AA557021B96}"/>
              </a:ext>
            </a:extLst>
          </p:cNvPr>
          <p:cNvSpPr txBox="1"/>
          <p:nvPr/>
        </p:nvSpPr>
        <p:spPr>
          <a:xfrm>
            <a:off x="757820" y="2606901"/>
            <a:ext cx="2475980" cy="276999"/>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1200" b="1" kern="0">
                <a:solidFill>
                  <a:schemeClr val="tx2"/>
                </a:solidFill>
                <a:latin typeface="+mn-lt"/>
              </a:rPr>
              <a:t>Functional Nodes</a:t>
            </a:r>
            <a:endParaRPr kumimoji="0" lang="en-CA" sz="1200" b="1" i="0" u="none" strike="noStrike" kern="0" cap="none" spc="0" normalizeH="0" baseline="0" noProof="0">
              <a:ln>
                <a:noFill/>
              </a:ln>
              <a:solidFill>
                <a:schemeClr val="tx2"/>
              </a:solidFill>
              <a:effectLst/>
              <a:uLnTx/>
              <a:uFillTx/>
              <a:latin typeface="+mn-lt"/>
            </a:endParaRPr>
          </a:p>
        </p:txBody>
      </p:sp>
      <p:sp>
        <p:nvSpPr>
          <p:cNvPr id="31" name="Flowchart: Preparation 30">
            <a:extLst>
              <a:ext uri="{FF2B5EF4-FFF2-40B4-BE49-F238E27FC236}">
                <a16:creationId xmlns:a16="http://schemas.microsoft.com/office/drawing/2014/main" id="{AE29547A-E770-F32B-9BA4-14B0C5293746}"/>
              </a:ext>
            </a:extLst>
          </p:cNvPr>
          <p:cNvSpPr>
            <a:spLocks/>
          </p:cNvSpPr>
          <p:nvPr/>
        </p:nvSpPr>
        <p:spPr>
          <a:xfrm>
            <a:off x="1792994" y="1916723"/>
            <a:ext cx="1079249" cy="610112"/>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a:solidFill>
                  <a:schemeClr val="bg2">
                    <a:lumMod val="10000"/>
                  </a:schemeClr>
                </a:solidFill>
              </a:rPr>
              <a:t>Business Units (N)</a:t>
            </a:r>
            <a:endParaRPr lang="en-CA" sz="800" noProof="0">
              <a:solidFill>
                <a:schemeClr val="bg2">
                  <a:lumMod val="10000"/>
                </a:schemeClr>
              </a:solidFill>
            </a:endParaRPr>
          </a:p>
        </p:txBody>
      </p:sp>
      <p:sp>
        <p:nvSpPr>
          <p:cNvPr id="33" name="Flowchart: Preparation 32">
            <a:extLst>
              <a:ext uri="{FF2B5EF4-FFF2-40B4-BE49-F238E27FC236}">
                <a16:creationId xmlns:a16="http://schemas.microsoft.com/office/drawing/2014/main" id="{0043D58C-BA0B-9EA3-7BC7-08BF0FEBCAED}"/>
              </a:ext>
            </a:extLst>
          </p:cNvPr>
          <p:cNvSpPr>
            <a:spLocks/>
          </p:cNvSpPr>
          <p:nvPr/>
        </p:nvSpPr>
        <p:spPr>
          <a:xfrm>
            <a:off x="1483886" y="3325855"/>
            <a:ext cx="1010494" cy="574513"/>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Functional Areas (N)</a:t>
            </a:r>
          </a:p>
        </p:txBody>
      </p:sp>
      <p:sp>
        <p:nvSpPr>
          <p:cNvPr id="46" name="TextBox 45">
            <a:extLst>
              <a:ext uri="{FF2B5EF4-FFF2-40B4-BE49-F238E27FC236}">
                <a16:creationId xmlns:a16="http://schemas.microsoft.com/office/drawing/2014/main" id="{E94FBFA7-0CEE-34F8-653B-8A94115F3804}"/>
              </a:ext>
            </a:extLst>
          </p:cNvPr>
          <p:cNvSpPr txBox="1"/>
          <p:nvPr/>
        </p:nvSpPr>
        <p:spPr>
          <a:xfrm>
            <a:off x="1030949" y="2170104"/>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47" name="TextBox 46">
            <a:extLst>
              <a:ext uri="{FF2B5EF4-FFF2-40B4-BE49-F238E27FC236}">
                <a16:creationId xmlns:a16="http://schemas.microsoft.com/office/drawing/2014/main" id="{E45597EB-BE2A-8937-5F30-2C9F4B325921}"/>
              </a:ext>
            </a:extLst>
          </p:cNvPr>
          <p:cNvSpPr txBox="1"/>
          <p:nvPr/>
        </p:nvSpPr>
        <p:spPr>
          <a:xfrm>
            <a:off x="739476" y="3617535"/>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48" name="TextBox 47">
            <a:extLst>
              <a:ext uri="{FF2B5EF4-FFF2-40B4-BE49-F238E27FC236}">
                <a16:creationId xmlns:a16="http://schemas.microsoft.com/office/drawing/2014/main" id="{5E222AD0-14EC-129C-00BE-8C5E0198B860}"/>
              </a:ext>
            </a:extLst>
          </p:cNvPr>
          <p:cNvSpPr txBox="1"/>
          <p:nvPr/>
        </p:nvSpPr>
        <p:spPr>
          <a:xfrm>
            <a:off x="1281883" y="902583"/>
            <a:ext cx="1404000" cy="16927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100" b="1" noProof="0">
                <a:solidFill>
                  <a:schemeClr val="accent1"/>
                </a:solidFill>
              </a:rPr>
              <a:t>Illustrative example</a:t>
            </a:r>
          </a:p>
        </p:txBody>
      </p:sp>
      <p:sp>
        <p:nvSpPr>
          <p:cNvPr id="12" name="Flowchart: Preparation 11">
            <a:extLst>
              <a:ext uri="{FF2B5EF4-FFF2-40B4-BE49-F238E27FC236}">
                <a16:creationId xmlns:a16="http://schemas.microsoft.com/office/drawing/2014/main" id="{7848B52C-4EF8-DFB5-76AF-DEAEBCF14DED}"/>
              </a:ext>
            </a:extLst>
          </p:cNvPr>
          <p:cNvSpPr>
            <a:spLocks/>
          </p:cNvSpPr>
          <p:nvPr/>
        </p:nvSpPr>
        <p:spPr>
          <a:xfrm>
            <a:off x="636993" y="4087252"/>
            <a:ext cx="1028827" cy="656011"/>
          </a:xfrm>
          <a:prstGeom prst="flowChartPreparation">
            <a:avLst/>
          </a:prstGeom>
          <a:solidFill>
            <a:schemeClr val="accent1"/>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1050" noProof="0">
                <a:solidFill>
                  <a:schemeClr val="bg1"/>
                </a:solidFill>
              </a:rPr>
              <a:t>Enterprise Node (360 views)</a:t>
            </a:r>
          </a:p>
        </p:txBody>
      </p:sp>
      <p:sp>
        <p:nvSpPr>
          <p:cNvPr id="16" name="Flowchart: Preparation 15">
            <a:extLst>
              <a:ext uri="{FF2B5EF4-FFF2-40B4-BE49-F238E27FC236}">
                <a16:creationId xmlns:a16="http://schemas.microsoft.com/office/drawing/2014/main" id="{41C485DF-28F2-66ED-E1B5-A746FFD7D420}"/>
              </a:ext>
            </a:extLst>
          </p:cNvPr>
          <p:cNvSpPr>
            <a:spLocks/>
          </p:cNvSpPr>
          <p:nvPr/>
        </p:nvSpPr>
        <p:spPr>
          <a:xfrm>
            <a:off x="1636888" y="4446456"/>
            <a:ext cx="1028827" cy="656011"/>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tx1"/>
                </a:solidFill>
              </a:rPr>
              <a:t>Enterprise Node (</a:t>
            </a:r>
            <a:r>
              <a:rPr lang="en-CA" sz="800">
                <a:solidFill>
                  <a:schemeClr val="tx1"/>
                </a:solidFill>
              </a:rPr>
              <a:t>N)</a:t>
            </a:r>
            <a:endParaRPr lang="en-CA" sz="800" noProof="0">
              <a:solidFill>
                <a:schemeClr val="tx1"/>
              </a:solidFill>
            </a:endParaRPr>
          </a:p>
        </p:txBody>
      </p:sp>
      <p:cxnSp>
        <p:nvCxnSpPr>
          <p:cNvPr id="22" name="Straight Arrow Connector 21">
            <a:extLst>
              <a:ext uri="{FF2B5EF4-FFF2-40B4-BE49-F238E27FC236}">
                <a16:creationId xmlns:a16="http://schemas.microsoft.com/office/drawing/2014/main" id="{E59C345C-3164-3266-472A-0F97A6F81BBD}"/>
              </a:ext>
            </a:extLst>
          </p:cNvPr>
          <p:cNvCxnSpPr>
            <a:cxnSpLocks/>
          </p:cNvCxnSpPr>
          <p:nvPr/>
        </p:nvCxnSpPr>
        <p:spPr>
          <a:xfrm>
            <a:off x="2663173" y="4748429"/>
            <a:ext cx="1554480" cy="0"/>
          </a:xfrm>
          <a:prstGeom prst="straightConnector1">
            <a:avLst/>
          </a:prstGeom>
          <a:ln w="2222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614EB0A-7F94-4548-1208-2867EFD2BDFC}"/>
              </a:ext>
            </a:extLst>
          </p:cNvPr>
          <p:cNvCxnSpPr>
            <a:cxnSpLocks/>
          </p:cNvCxnSpPr>
          <p:nvPr/>
        </p:nvCxnSpPr>
        <p:spPr>
          <a:xfrm>
            <a:off x="1591051" y="4291857"/>
            <a:ext cx="2651760" cy="0"/>
          </a:xfrm>
          <a:prstGeom prst="straightConnector1">
            <a:avLst/>
          </a:prstGeom>
          <a:ln w="2222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B79A6DA-6215-4EEA-C385-126D65B2FA18}"/>
              </a:ext>
            </a:extLst>
          </p:cNvPr>
          <p:cNvSpPr txBox="1"/>
          <p:nvPr/>
        </p:nvSpPr>
        <p:spPr>
          <a:xfrm>
            <a:off x="879576" y="4720052"/>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cxnSp>
        <p:nvCxnSpPr>
          <p:cNvPr id="53" name="Straight Connector 52">
            <a:extLst>
              <a:ext uri="{FF2B5EF4-FFF2-40B4-BE49-F238E27FC236}">
                <a16:creationId xmlns:a16="http://schemas.microsoft.com/office/drawing/2014/main" id="{EA0BEA66-2F0C-F09D-8AAA-615EFDF45AF1}"/>
              </a:ext>
            </a:extLst>
          </p:cNvPr>
          <p:cNvCxnSpPr>
            <a:cxnSpLocks/>
          </p:cNvCxnSpPr>
          <p:nvPr/>
        </p:nvCxnSpPr>
        <p:spPr>
          <a:xfrm flipH="1">
            <a:off x="330847" y="2602711"/>
            <a:ext cx="3304898" cy="0"/>
          </a:xfrm>
          <a:prstGeom prst="line">
            <a:avLst/>
          </a:prstGeom>
          <a:ln w="12700">
            <a:solidFill>
              <a:schemeClr val="accent1"/>
            </a:solidFill>
            <a:prstDash val="sysDash"/>
          </a:ln>
        </p:spPr>
        <p:style>
          <a:lnRef idx="1">
            <a:schemeClr val="accent2"/>
          </a:lnRef>
          <a:fillRef idx="0">
            <a:schemeClr val="accent2"/>
          </a:fillRef>
          <a:effectRef idx="0">
            <a:schemeClr val="accent2"/>
          </a:effectRef>
          <a:fontRef idx="minor">
            <a:schemeClr val="tx1"/>
          </a:fontRef>
        </p:style>
      </p:cxnSp>
      <p:cxnSp>
        <p:nvCxnSpPr>
          <p:cNvPr id="512" name="Straight Connector 511">
            <a:extLst>
              <a:ext uri="{FF2B5EF4-FFF2-40B4-BE49-F238E27FC236}">
                <a16:creationId xmlns:a16="http://schemas.microsoft.com/office/drawing/2014/main" id="{7D5103A1-93EE-633A-4578-EA844EFB7EDC}"/>
              </a:ext>
            </a:extLst>
          </p:cNvPr>
          <p:cNvCxnSpPr>
            <a:cxnSpLocks/>
          </p:cNvCxnSpPr>
          <p:nvPr/>
        </p:nvCxnSpPr>
        <p:spPr>
          <a:xfrm flipH="1">
            <a:off x="348178" y="4009763"/>
            <a:ext cx="3304898" cy="0"/>
          </a:xfrm>
          <a:prstGeom prst="line">
            <a:avLst/>
          </a:prstGeom>
          <a:ln w="12700">
            <a:solidFill>
              <a:schemeClr val="accent1"/>
            </a:solidFill>
            <a:prstDash val="sysDash"/>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26626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59856-7276-28AD-2777-22827FE28A86}"/>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3E934E13-3625-335B-6F5A-1A80891DF025}"/>
              </a:ext>
            </a:extLst>
          </p:cNvPr>
          <p:cNvSpPr txBox="1">
            <a:spLocks/>
          </p:cNvSpPr>
          <p:nvPr/>
        </p:nvSpPr>
        <p:spPr>
          <a:xfrm>
            <a:off x="210312" y="120782"/>
            <a:ext cx="11412000" cy="405102"/>
          </a:xfrm>
          <a:prstGeom prst="rect">
            <a:avLst/>
          </a:prstGeom>
        </p:spPr>
        <p:txBody>
          <a:bodyPr lIns="91440" tIns="45720" rIns="91440" bIns="45720" anchor="t"/>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000" b="1" noProof="0"/>
              <a:t>1.5 “360 Views Blueprint</a:t>
            </a:r>
            <a:r>
              <a:rPr lang="en-CA" sz="2000" b="1"/>
              <a:t>”</a:t>
            </a:r>
            <a:endParaRPr lang="en-CA" sz="2000" noProof="0"/>
          </a:p>
        </p:txBody>
      </p:sp>
      <p:sp>
        <p:nvSpPr>
          <p:cNvPr id="28" name="Text Placeholder 3">
            <a:extLst>
              <a:ext uri="{FF2B5EF4-FFF2-40B4-BE49-F238E27FC236}">
                <a16:creationId xmlns:a16="http://schemas.microsoft.com/office/drawing/2014/main" id="{3B53BEB9-E326-F4C6-E1CC-2D3E6CF4E5F7}"/>
              </a:ext>
            </a:extLst>
          </p:cNvPr>
          <p:cNvSpPr txBox="1">
            <a:spLocks/>
          </p:cNvSpPr>
          <p:nvPr/>
        </p:nvSpPr>
        <p:spPr>
          <a:xfrm>
            <a:off x="210312" y="418588"/>
            <a:ext cx="11834978" cy="345950"/>
          </a:xfrm>
          <a:prstGeom prst="rect">
            <a:avLst/>
          </a:prstGeom>
        </p:spPr>
        <p:txBody>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1100" noProof="0">
                <a:solidFill>
                  <a:schemeClr val="tx1">
                    <a:lumMod val="50000"/>
                  </a:schemeClr>
                </a:solidFill>
              </a:rPr>
              <a:t>360 views are assembled by combining mastered data from MDM with relevant business data nodes to support enterprise reuse and decision‑making.</a:t>
            </a:r>
          </a:p>
        </p:txBody>
      </p:sp>
      <p:grpSp>
        <p:nvGrpSpPr>
          <p:cNvPr id="21" name="Group 20">
            <a:extLst>
              <a:ext uri="{FF2B5EF4-FFF2-40B4-BE49-F238E27FC236}">
                <a16:creationId xmlns:a16="http://schemas.microsoft.com/office/drawing/2014/main" id="{7800A132-AAF5-2091-CE1D-F388F9E704A5}"/>
              </a:ext>
            </a:extLst>
          </p:cNvPr>
          <p:cNvGrpSpPr/>
          <p:nvPr/>
        </p:nvGrpSpPr>
        <p:grpSpPr>
          <a:xfrm>
            <a:off x="5094248" y="6277725"/>
            <a:ext cx="4855718" cy="534368"/>
            <a:chOff x="5094248" y="6304620"/>
            <a:chExt cx="4855718" cy="534368"/>
          </a:xfrm>
        </p:grpSpPr>
        <p:sp>
          <p:nvSpPr>
            <p:cNvPr id="229" name="TextBox 228">
              <a:extLst>
                <a:ext uri="{FF2B5EF4-FFF2-40B4-BE49-F238E27FC236}">
                  <a16:creationId xmlns:a16="http://schemas.microsoft.com/office/drawing/2014/main" id="{ACE979AB-091E-6CFC-7333-F810C7B6FF95}"/>
                </a:ext>
              </a:extLst>
            </p:cNvPr>
            <p:cNvSpPr txBox="1"/>
            <p:nvPr/>
          </p:nvSpPr>
          <p:spPr>
            <a:xfrm>
              <a:off x="5526248" y="6304620"/>
              <a:ext cx="4423718"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00" b="1" noProof="0">
                  <a:solidFill>
                    <a:schemeClr val="bg2">
                      <a:lumMod val="10000"/>
                    </a:schemeClr>
                  </a:solidFill>
                </a:rPr>
                <a:t>Different nomenclature </a:t>
              </a:r>
              <a:r>
                <a:rPr lang="en-CA" sz="1000" noProof="0">
                  <a:solidFill>
                    <a:schemeClr val="bg2">
                      <a:lumMod val="10000"/>
                    </a:schemeClr>
                  </a:solidFill>
                </a:rPr>
                <a:t>(e.g. human, prospect) </a:t>
              </a:r>
              <a:r>
                <a:rPr lang="en-CA" sz="1000" b="1" noProof="0">
                  <a:solidFill>
                    <a:schemeClr val="bg2">
                      <a:lumMod val="10000"/>
                    </a:schemeClr>
                  </a:solidFill>
                </a:rPr>
                <a:t>can point to the </a:t>
              </a:r>
              <a:r>
                <a:rPr lang="en-CA" sz="1000" b="1" u="sng" noProof="0">
                  <a:solidFill>
                    <a:schemeClr val="bg2">
                      <a:lumMod val="10000"/>
                    </a:schemeClr>
                  </a:solidFill>
                </a:rPr>
                <a:t>same definition</a:t>
              </a:r>
              <a:r>
                <a:rPr lang="en-CA" sz="1000" b="1" noProof="0">
                  <a:solidFill>
                    <a:schemeClr val="bg2">
                      <a:lumMod val="10000"/>
                    </a:schemeClr>
                  </a:solidFill>
                </a:rPr>
                <a:t> </a:t>
              </a:r>
              <a:r>
                <a:rPr lang="en-CA" sz="1000" noProof="0">
                  <a:solidFill>
                    <a:schemeClr val="bg2">
                      <a:lumMod val="10000"/>
                    </a:schemeClr>
                  </a:solidFill>
                </a:rPr>
                <a:t>(e.g. Dependent, policy holder, customer) </a:t>
              </a:r>
              <a:r>
                <a:rPr lang="en-CA" sz="1000" b="1" noProof="0">
                  <a:solidFill>
                    <a:schemeClr val="bg2">
                      <a:lumMod val="10000"/>
                    </a:schemeClr>
                  </a:solidFill>
                </a:rPr>
                <a:t>and can create together the 360 View </a:t>
              </a:r>
              <a:r>
                <a:rPr lang="en-CA" sz="1000" noProof="0">
                  <a:solidFill>
                    <a:schemeClr val="bg2">
                      <a:lumMod val="10000"/>
                    </a:schemeClr>
                  </a:solidFill>
                </a:rPr>
                <a:t>to satisfy a business or technical needs.</a:t>
              </a:r>
            </a:p>
          </p:txBody>
        </p:sp>
        <p:grpSp>
          <p:nvGrpSpPr>
            <p:cNvPr id="252" name="Group 251">
              <a:extLst>
                <a:ext uri="{FF2B5EF4-FFF2-40B4-BE49-F238E27FC236}">
                  <a16:creationId xmlns:a16="http://schemas.microsoft.com/office/drawing/2014/main" id="{66F67A88-34A4-22D0-659C-2D5BF65F9E4B}"/>
                </a:ext>
              </a:extLst>
            </p:cNvPr>
            <p:cNvGrpSpPr/>
            <p:nvPr/>
          </p:nvGrpSpPr>
          <p:grpSpPr>
            <a:xfrm>
              <a:off x="5094248" y="6367345"/>
              <a:ext cx="432000" cy="432000"/>
              <a:chOff x="2508400" y="6269582"/>
              <a:chExt cx="432000" cy="432000"/>
            </a:xfrm>
          </p:grpSpPr>
          <p:sp>
            <p:nvSpPr>
              <p:cNvPr id="232" name="Oval 231">
                <a:extLst>
                  <a:ext uri="{FF2B5EF4-FFF2-40B4-BE49-F238E27FC236}">
                    <a16:creationId xmlns:a16="http://schemas.microsoft.com/office/drawing/2014/main" id="{EC4083DF-6A21-73FE-7567-D6CB3BB5E151}"/>
                  </a:ext>
                </a:extLst>
              </p:cNvPr>
              <p:cNvSpPr/>
              <p:nvPr/>
            </p:nvSpPr>
            <p:spPr>
              <a:xfrm>
                <a:off x="2508400" y="6269582"/>
                <a:ext cx="432000" cy="432000"/>
              </a:xfrm>
              <a:prstGeom prst="ellipse">
                <a:avLst/>
              </a:prstGeom>
              <a:solidFill>
                <a:schemeClr val="bg1">
                  <a:lumMod val="95000"/>
                </a:schemeClr>
              </a:solidFill>
              <a:ln w="9525">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pic>
            <p:nvPicPr>
              <p:cNvPr id="231" name="Graphic 230" descr="Lights On with solid fill">
                <a:extLst>
                  <a:ext uri="{FF2B5EF4-FFF2-40B4-BE49-F238E27FC236}">
                    <a16:creationId xmlns:a16="http://schemas.microsoft.com/office/drawing/2014/main" id="{647B68E4-E58C-F95D-94F2-FF97E9CF6A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44400" y="6305582"/>
                <a:ext cx="360000" cy="360000"/>
              </a:xfrm>
              <a:prstGeom prst="rect">
                <a:avLst/>
              </a:prstGeom>
            </p:spPr>
          </p:pic>
        </p:grpSp>
      </p:grpSp>
      <p:sp>
        <p:nvSpPr>
          <p:cNvPr id="195" name="TextBox 194">
            <a:extLst>
              <a:ext uri="{FF2B5EF4-FFF2-40B4-BE49-F238E27FC236}">
                <a16:creationId xmlns:a16="http://schemas.microsoft.com/office/drawing/2014/main" id="{013F9121-0BE7-7560-F8ED-0E75371AB0C8}"/>
              </a:ext>
            </a:extLst>
          </p:cNvPr>
          <p:cNvSpPr txBox="1"/>
          <p:nvPr/>
        </p:nvSpPr>
        <p:spPr>
          <a:xfrm>
            <a:off x="4627583" y="799818"/>
            <a:ext cx="432000" cy="234286"/>
          </a:xfrm>
          <a:prstGeom prst="rect">
            <a:avLst/>
          </a:prstGeom>
          <a:solidFill>
            <a:schemeClr val="tx2">
              <a:lumMod val="75000"/>
            </a:schemeClr>
          </a:solid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1000" noProof="0">
                <a:solidFill>
                  <a:schemeClr val="bg1"/>
                </a:solidFill>
              </a:rPr>
              <a:t>CIAM</a:t>
            </a:r>
          </a:p>
        </p:txBody>
      </p:sp>
      <p:grpSp>
        <p:nvGrpSpPr>
          <p:cNvPr id="221" name="Group 220">
            <a:extLst>
              <a:ext uri="{FF2B5EF4-FFF2-40B4-BE49-F238E27FC236}">
                <a16:creationId xmlns:a16="http://schemas.microsoft.com/office/drawing/2014/main" id="{3828CD5A-BE48-44DE-886E-0E549029D078}"/>
              </a:ext>
            </a:extLst>
          </p:cNvPr>
          <p:cNvGrpSpPr/>
          <p:nvPr/>
        </p:nvGrpSpPr>
        <p:grpSpPr>
          <a:xfrm>
            <a:off x="4357583" y="1552910"/>
            <a:ext cx="972000" cy="900000"/>
            <a:chOff x="3465321" y="2196253"/>
            <a:chExt cx="972000" cy="900000"/>
          </a:xfrm>
        </p:grpSpPr>
        <p:sp>
          <p:nvSpPr>
            <p:cNvPr id="207" name="Rectangle: Rounded Corners 206">
              <a:extLst>
                <a:ext uri="{FF2B5EF4-FFF2-40B4-BE49-F238E27FC236}">
                  <a16:creationId xmlns:a16="http://schemas.microsoft.com/office/drawing/2014/main" id="{49C6D3B0-CFBE-20B5-E331-710D4A0F6FAA}"/>
                </a:ext>
              </a:extLst>
            </p:cNvPr>
            <p:cNvSpPr/>
            <p:nvPr/>
          </p:nvSpPr>
          <p:spPr>
            <a:xfrm>
              <a:off x="3465321" y="2196253"/>
              <a:ext cx="972000" cy="900000"/>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36000" bIns="91440" rtlCol="0" anchor="t"/>
            <a:lstStyle/>
            <a:p>
              <a:pPr algn="ctr"/>
              <a:r>
                <a:rPr lang="en-CA" sz="1100" b="1" noProof="0">
                  <a:solidFill>
                    <a:schemeClr val="accent5">
                      <a:lumMod val="50000"/>
                    </a:schemeClr>
                  </a:solidFill>
                </a:rPr>
                <a:t>MDM</a:t>
              </a:r>
              <a:endParaRPr lang="en-CA" sz="1200" b="1" noProof="0">
                <a:solidFill>
                  <a:schemeClr val="accent5">
                    <a:lumMod val="50000"/>
                  </a:schemeClr>
                </a:solidFill>
              </a:endParaRPr>
            </a:p>
          </p:txBody>
        </p:sp>
        <p:grpSp>
          <p:nvGrpSpPr>
            <p:cNvPr id="217" name="Group 216">
              <a:extLst>
                <a:ext uri="{FF2B5EF4-FFF2-40B4-BE49-F238E27FC236}">
                  <a16:creationId xmlns:a16="http://schemas.microsoft.com/office/drawing/2014/main" id="{8AB82C13-2083-AA0C-D6EF-5FB3A08A1D65}"/>
                </a:ext>
              </a:extLst>
            </p:cNvPr>
            <p:cNvGrpSpPr/>
            <p:nvPr/>
          </p:nvGrpSpPr>
          <p:grpSpPr>
            <a:xfrm>
              <a:off x="3555321" y="2482078"/>
              <a:ext cx="792000" cy="576000"/>
              <a:chOff x="3385090" y="2042221"/>
              <a:chExt cx="792000" cy="576000"/>
            </a:xfrm>
          </p:grpSpPr>
          <p:sp>
            <p:nvSpPr>
              <p:cNvPr id="209" name="Rectangle: Rounded Corners 208">
                <a:extLst>
                  <a:ext uri="{FF2B5EF4-FFF2-40B4-BE49-F238E27FC236}">
                    <a16:creationId xmlns:a16="http://schemas.microsoft.com/office/drawing/2014/main" id="{3FD7C3F0-04FA-FEDB-0436-F5C4CD149201}"/>
                  </a:ext>
                </a:extLst>
              </p:cNvPr>
              <p:cNvSpPr/>
              <p:nvPr/>
            </p:nvSpPr>
            <p:spPr>
              <a:xfrm>
                <a:off x="3385090" y="2042221"/>
                <a:ext cx="792000" cy="576000"/>
              </a:xfrm>
              <a:prstGeom prst="roundRect">
                <a:avLst>
                  <a:gd name="adj" fmla="val 4786"/>
                </a:avLst>
              </a:prstGeom>
              <a:ln/>
            </p:spPr>
            <p:style>
              <a:lnRef idx="2">
                <a:schemeClr val="dk1"/>
              </a:lnRef>
              <a:fillRef idx="1">
                <a:schemeClr val="lt1"/>
              </a:fillRef>
              <a:effectRef idx="0">
                <a:schemeClr val="dk1"/>
              </a:effectRef>
              <a:fontRef idx="minor">
                <a:schemeClr val="dk1"/>
              </a:fontRef>
            </p:style>
            <p:txBody>
              <a:bodyPr lIns="91383" tIns="45691" rIns="91383"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endParaRPr kumimoji="0" lang="en-CA" sz="800" i="0" u="none" strike="noStrike" kern="0" cap="none" spc="0" normalizeH="0" baseline="0" noProof="0">
                  <a:ln>
                    <a:noFill/>
                  </a:ln>
                  <a:solidFill>
                    <a:schemeClr val="tx1">
                      <a:lumMod val="50000"/>
                    </a:schemeClr>
                  </a:solidFill>
                  <a:effectLst/>
                  <a:uLnTx/>
                  <a:uFillTx/>
                </a:endParaRPr>
              </a:p>
            </p:txBody>
          </p:sp>
          <p:grpSp>
            <p:nvGrpSpPr>
              <p:cNvPr id="216" name="Group 215">
                <a:extLst>
                  <a:ext uri="{FF2B5EF4-FFF2-40B4-BE49-F238E27FC236}">
                    <a16:creationId xmlns:a16="http://schemas.microsoft.com/office/drawing/2014/main" id="{89B76158-03D2-91A1-175D-C1C7A26AF066}"/>
                  </a:ext>
                </a:extLst>
              </p:cNvPr>
              <p:cNvGrpSpPr/>
              <p:nvPr/>
            </p:nvGrpSpPr>
            <p:grpSpPr>
              <a:xfrm>
                <a:off x="3421090" y="2086413"/>
                <a:ext cx="720000" cy="487616"/>
                <a:chOff x="3385090" y="2864154"/>
                <a:chExt cx="720000" cy="487616"/>
              </a:xfrm>
            </p:grpSpPr>
            <p:sp>
              <p:nvSpPr>
                <p:cNvPr id="211" name="Rectangle 210">
                  <a:extLst>
                    <a:ext uri="{FF2B5EF4-FFF2-40B4-BE49-F238E27FC236}">
                      <a16:creationId xmlns:a16="http://schemas.microsoft.com/office/drawing/2014/main" id="{F9BD89ED-A54F-DEE4-9DDB-D8A86795D576}"/>
                    </a:ext>
                  </a:extLst>
                </p:cNvPr>
                <p:cNvSpPr/>
                <p:nvPr/>
              </p:nvSpPr>
              <p:spPr>
                <a:xfrm>
                  <a:off x="3385090" y="2864154"/>
                  <a:ext cx="720000" cy="144000"/>
                </a:xfrm>
                <a:prstGeom prst="rect">
                  <a:avLst/>
                </a:prstGeom>
                <a:ln/>
              </p:spPr>
              <p:style>
                <a:lnRef idx="2">
                  <a:schemeClr val="dk1"/>
                </a:lnRef>
                <a:fillRef idx="1">
                  <a:schemeClr val="lt1"/>
                </a:fillRef>
                <a:effectRef idx="0">
                  <a:schemeClr val="dk1"/>
                </a:effectRef>
                <a:fontRef idx="minor">
                  <a:schemeClr val="dk1"/>
                </a:fontRef>
              </p:style>
              <p:txBody>
                <a:bodyPr lIns="36000" tIns="45691" rIns="36000"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800" kern="0" noProof="0">
                      <a:solidFill>
                        <a:schemeClr val="tx1">
                          <a:lumMod val="50000"/>
                        </a:schemeClr>
                      </a:solidFill>
                      <a:cs typeface="Arial"/>
                    </a:rPr>
                    <a:t>Match</a:t>
                  </a:r>
                  <a:endParaRPr kumimoji="0" lang="en-CA" sz="800" i="0" u="none" strike="noStrike" kern="0" cap="none" spc="0" normalizeH="0" baseline="0" noProof="0">
                    <a:ln>
                      <a:noFill/>
                    </a:ln>
                    <a:solidFill>
                      <a:schemeClr val="tx1">
                        <a:lumMod val="50000"/>
                      </a:schemeClr>
                    </a:solidFill>
                    <a:effectLst/>
                    <a:uLnTx/>
                    <a:uFillTx/>
                  </a:endParaRPr>
                </a:p>
              </p:txBody>
            </p:sp>
            <p:sp>
              <p:nvSpPr>
                <p:cNvPr id="212" name="Rectangle 211">
                  <a:extLst>
                    <a:ext uri="{FF2B5EF4-FFF2-40B4-BE49-F238E27FC236}">
                      <a16:creationId xmlns:a16="http://schemas.microsoft.com/office/drawing/2014/main" id="{90AE47C8-A2E9-C9CB-B676-2C03ECE07CC7}"/>
                    </a:ext>
                  </a:extLst>
                </p:cNvPr>
                <p:cNvSpPr/>
                <p:nvPr/>
              </p:nvSpPr>
              <p:spPr>
                <a:xfrm>
                  <a:off x="3385090" y="3035962"/>
                  <a:ext cx="720000" cy="144000"/>
                </a:xfrm>
                <a:prstGeom prst="rect">
                  <a:avLst/>
                </a:prstGeom>
                <a:ln/>
              </p:spPr>
              <p:style>
                <a:lnRef idx="2">
                  <a:schemeClr val="dk1"/>
                </a:lnRef>
                <a:fillRef idx="1">
                  <a:schemeClr val="lt1"/>
                </a:fillRef>
                <a:effectRef idx="0">
                  <a:schemeClr val="dk1"/>
                </a:effectRef>
                <a:fontRef idx="minor">
                  <a:schemeClr val="dk1"/>
                </a:fontRef>
              </p:style>
              <p:txBody>
                <a:bodyPr lIns="36000" tIns="45691" rIns="36000"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800" kern="0" noProof="0">
                      <a:solidFill>
                        <a:schemeClr val="tx1">
                          <a:lumMod val="50000"/>
                        </a:schemeClr>
                      </a:solidFill>
                      <a:cs typeface="Arial"/>
                    </a:rPr>
                    <a:t>Merge</a:t>
                  </a:r>
                  <a:endParaRPr kumimoji="0" lang="en-CA" sz="800" i="0" u="none" strike="noStrike" kern="0" cap="none" spc="0" normalizeH="0" baseline="0" noProof="0">
                    <a:ln>
                      <a:noFill/>
                    </a:ln>
                    <a:solidFill>
                      <a:schemeClr val="tx1">
                        <a:lumMod val="50000"/>
                      </a:schemeClr>
                    </a:solidFill>
                    <a:effectLst/>
                    <a:uLnTx/>
                    <a:uFillTx/>
                  </a:endParaRPr>
                </a:p>
              </p:txBody>
            </p:sp>
            <p:sp>
              <p:nvSpPr>
                <p:cNvPr id="213" name="Rectangle 212">
                  <a:extLst>
                    <a:ext uri="{FF2B5EF4-FFF2-40B4-BE49-F238E27FC236}">
                      <a16:creationId xmlns:a16="http://schemas.microsoft.com/office/drawing/2014/main" id="{822F0DD8-6FE8-049C-F6EB-8A5A77BD79A5}"/>
                    </a:ext>
                  </a:extLst>
                </p:cNvPr>
                <p:cNvSpPr/>
                <p:nvPr/>
              </p:nvSpPr>
              <p:spPr>
                <a:xfrm>
                  <a:off x="3385090" y="3207770"/>
                  <a:ext cx="720000" cy="144000"/>
                </a:xfrm>
                <a:prstGeom prst="rect">
                  <a:avLst/>
                </a:prstGeom>
                <a:ln/>
              </p:spPr>
              <p:style>
                <a:lnRef idx="2">
                  <a:schemeClr val="dk1"/>
                </a:lnRef>
                <a:fillRef idx="1">
                  <a:schemeClr val="lt1"/>
                </a:fillRef>
                <a:effectRef idx="0">
                  <a:schemeClr val="dk1"/>
                </a:effectRef>
                <a:fontRef idx="minor">
                  <a:schemeClr val="dk1"/>
                </a:fontRef>
              </p:style>
              <p:txBody>
                <a:bodyPr lIns="36000" tIns="45691" rIns="36000"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800" kern="0" noProof="0">
                      <a:solidFill>
                        <a:schemeClr val="tx1">
                          <a:lumMod val="50000"/>
                        </a:schemeClr>
                      </a:solidFill>
                      <a:cs typeface="Arial"/>
                    </a:rPr>
                    <a:t>De-duplicate</a:t>
                  </a:r>
                  <a:endParaRPr kumimoji="0" lang="en-CA" sz="800" i="0" u="none" strike="noStrike" kern="0" cap="none" spc="0" normalizeH="0" baseline="0" noProof="0">
                    <a:ln>
                      <a:noFill/>
                    </a:ln>
                    <a:solidFill>
                      <a:schemeClr val="tx1">
                        <a:lumMod val="50000"/>
                      </a:schemeClr>
                    </a:solidFill>
                    <a:effectLst/>
                    <a:uLnTx/>
                    <a:uFillTx/>
                  </a:endParaRPr>
                </a:p>
              </p:txBody>
            </p:sp>
          </p:grpSp>
        </p:grpSp>
      </p:grpSp>
      <p:sp>
        <p:nvSpPr>
          <p:cNvPr id="5148" name="TextBox 5147">
            <a:extLst>
              <a:ext uri="{FF2B5EF4-FFF2-40B4-BE49-F238E27FC236}">
                <a16:creationId xmlns:a16="http://schemas.microsoft.com/office/drawing/2014/main" id="{889F8ABA-74D3-A2AB-FEA7-D3478D1D1751}"/>
              </a:ext>
            </a:extLst>
          </p:cNvPr>
          <p:cNvSpPr txBox="1"/>
          <p:nvPr/>
        </p:nvSpPr>
        <p:spPr>
          <a:xfrm>
            <a:off x="7944875" y="780528"/>
            <a:ext cx="1404000" cy="16927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100" b="1" noProof="0">
                <a:solidFill>
                  <a:schemeClr val="accent1"/>
                </a:solidFill>
              </a:rPr>
              <a:t>Illustrative example</a:t>
            </a:r>
          </a:p>
        </p:txBody>
      </p:sp>
      <p:cxnSp>
        <p:nvCxnSpPr>
          <p:cNvPr id="2" name="Connector: Elbow 1">
            <a:extLst>
              <a:ext uri="{FF2B5EF4-FFF2-40B4-BE49-F238E27FC236}">
                <a16:creationId xmlns:a16="http://schemas.microsoft.com/office/drawing/2014/main" id="{6D69A1D4-A5BE-5E6E-D52B-56CA4E5FFF32}"/>
              </a:ext>
            </a:extLst>
          </p:cNvPr>
          <p:cNvCxnSpPr>
            <a:cxnSpLocks/>
          </p:cNvCxnSpPr>
          <p:nvPr/>
        </p:nvCxnSpPr>
        <p:spPr>
          <a:xfrm>
            <a:off x="5927165" y="2079859"/>
            <a:ext cx="1766554" cy="1167621"/>
          </a:xfrm>
          <a:prstGeom prst="bentConnector3">
            <a:avLst>
              <a:gd name="adj1" fmla="val 3288"/>
            </a:avLst>
          </a:prstGeom>
          <a:ln w="25400">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5172" name="Straight Arrow Connector 5171">
            <a:extLst>
              <a:ext uri="{FF2B5EF4-FFF2-40B4-BE49-F238E27FC236}">
                <a16:creationId xmlns:a16="http://schemas.microsoft.com/office/drawing/2014/main" id="{C8F291AB-D9CB-4A34-87D7-1AC1D24397C7}"/>
              </a:ext>
            </a:extLst>
          </p:cNvPr>
          <p:cNvCxnSpPr>
            <a:cxnSpLocks/>
          </p:cNvCxnSpPr>
          <p:nvPr/>
        </p:nvCxnSpPr>
        <p:spPr>
          <a:xfrm>
            <a:off x="3707592" y="2095809"/>
            <a:ext cx="649991" cy="0"/>
          </a:xfrm>
          <a:prstGeom prst="straightConnector1">
            <a:avLst/>
          </a:prstGeom>
          <a:ln w="2540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5120" name="Rectangle: Rounded Corners 5119">
            <a:extLst>
              <a:ext uri="{FF2B5EF4-FFF2-40B4-BE49-F238E27FC236}">
                <a16:creationId xmlns:a16="http://schemas.microsoft.com/office/drawing/2014/main" id="{802993CC-600B-B013-74E3-78A59D27D31E}"/>
              </a:ext>
            </a:extLst>
          </p:cNvPr>
          <p:cNvSpPr/>
          <p:nvPr/>
        </p:nvSpPr>
        <p:spPr>
          <a:xfrm>
            <a:off x="5712875" y="4623931"/>
            <a:ext cx="5868000" cy="1394601"/>
          </a:xfrm>
          <a:prstGeom prst="roundRect">
            <a:avLst>
              <a:gd name="adj" fmla="val 5619"/>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8" name="TextBox 7">
            <a:extLst>
              <a:ext uri="{FF2B5EF4-FFF2-40B4-BE49-F238E27FC236}">
                <a16:creationId xmlns:a16="http://schemas.microsoft.com/office/drawing/2014/main" id="{BCCCFB26-43D5-1266-C270-63850036F4AC}"/>
              </a:ext>
            </a:extLst>
          </p:cNvPr>
          <p:cNvSpPr txBox="1"/>
          <p:nvPr/>
        </p:nvSpPr>
        <p:spPr>
          <a:xfrm>
            <a:off x="5993975" y="4746254"/>
            <a:ext cx="5562062" cy="1107996"/>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a:spcBef>
                <a:spcPts val="200"/>
              </a:spcBef>
              <a:spcAft>
                <a:spcPts val="200"/>
              </a:spcAft>
              <a:buNone/>
            </a:pPr>
            <a:r>
              <a:rPr lang="en-CA" sz="800" b="1" noProof="0">
                <a:solidFill>
                  <a:schemeClr val="tx1">
                    <a:lumMod val="50000"/>
                  </a:schemeClr>
                </a:solidFill>
              </a:rPr>
              <a:t>Align and Consolidate Data (MDM): </a:t>
            </a:r>
            <a:r>
              <a:rPr lang="en-CA" sz="800" noProof="0">
                <a:solidFill>
                  <a:schemeClr val="tx1">
                    <a:lumMod val="50000"/>
                  </a:schemeClr>
                </a:solidFill>
              </a:rPr>
              <a:t>Data from multiple source systems is matched, de-duplicated, and consolidated in MDM to create consistent business-level records</a:t>
            </a:r>
          </a:p>
          <a:p>
            <a:pPr>
              <a:spcBef>
                <a:spcPts val="200"/>
              </a:spcBef>
              <a:spcAft>
                <a:spcPts val="200"/>
              </a:spcAft>
              <a:buNone/>
            </a:pPr>
            <a:r>
              <a:rPr lang="en-CA" sz="800" b="1" noProof="0">
                <a:solidFill>
                  <a:schemeClr val="tx1">
                    <a:lumMod val="50000"/>
                  </a:schemeClr>
                </a:solidFill>
              </a:rPr>
              <a:t>Create a Single Enterprise Identifier: </a:t>
            </a:r>
            <a:r>
              <a:rPr lang="en-CA" sz="800" noProof="0">
                <a:solidFill>
                  <a:schemeClr val="tx1">
                    <a:lumMod val="50000"/>
                  </a:schemeClr>
                </a:solidFill>
              </a:rPr>
              <a:t>These business records are linked under one enterprise identifier, connecting all related data for the same entity (Human) across the organization.</a:t>
            </a:r>
          </a:p>
          <a:p>
            <a:pPr>
              <a:spcBef>
                <a:spcPts val="200"/>
              </a:spcBef>
              <a:spcAft>
                <a:spcPts val="200"/>
              </a:spcAft>
              <a:buNone/>
            </a:pPr>
            <a:r>
              <a:rPr lang="en-CA" sz="800" b="1" noProof="0">
                <a:solidFill>
                  <a:schemeClr val="tx1">
                    <a:lumMod val="50000"/>
                  </a:schemeClr>
                </a:solidFill>
              </a:rPr>
              <a:t>Assemble the 360 View: </a:t>
            </a:r>
            <a:r>
              <a:rPr lang="en-CA" sz="800" noProof="0">
                <a:solidFill>
                  <a:schemeClr val="tx1">
                    <a:lumMod val="50000"/>
                  </a:schemeClr>
                </a:solidFill>
              </a:rPr>
              <a:t>The enterprise record is combined with data from across business units and functions to deliver a complete, consistent 360 view</a:t>
            </a:r>
            <a:r>
              <a:rPr lang="en-CA" sz="800" b="1" noProof="0">
                <a:solidFill>
                  <a:schemeClr val="tx1">
                    <a:lumMod val="50000"/>
                  </a:schemeClr>
                </a:solidFill>
              </a:rPr>
              <a:t>.</a:t>
            </a:r>
          </a:p>
          <a:p>
            <a:pPr>
              <a:spcBef>
                <a:spcPts val="200"/>
              </a:spcBef>
              <a:spcAft>
                <a:spcPts val="200"/>
              </a:spcAft>
              <a:buNone/>
            </a:pPr>
            <a:r>
              <a:rPr lang="en-US" sz="800">
                <a:solidFill>
                  <a:schemeClr val="tx1">
                    <a:lumMod val="50000"/>
                  </a:schemeClr>
                </a:solidFill>
              </a:rPr>
              <a:t>CIAM authenticates the human identity that anchors MDM's Enterprise Unique Identifier.</a:t>
            </a:r>
            <a:endParaRPr lang="en-CA" sz="800" noProof="0">
              <a:solidFill>
                <a:schemeClr val="tx1">
                  <a:lumMod val="50000"/>
                </a:schemeClr>
              </a:solidFill>
            </a:endParaRPr>
          </a:p>
        </p:txBody>
      </p:sp>
      <p:cxnSp>
        <p:nvCxnSpPr>
          <p:cNvPr id="5267" name="Connector: Elbow 5266">
            <a:extLst>
              <a:ext uri="{FF2B5EF4-FFF2-40B4-BE49-F238E27FC236}">
                <a16:creationId xmlns:a16="http://schemas.microsoft.com/office/drawing/2014/main" id="{01E296FF-BCEF-00EA-EB3C-F4D9807BF00F}"/>
              </a:ext>
            </a:extLst>
          </p:cNvPr>
          <p:cNvCxnSpPr>
            <a:cxnSpLocks/>
            <a:stCxn id="207" idx="2"/>
            <a:endCxn id="60" idx="1"/>
          </p:cNvCxnSpPr>
          <p:nvPr/>
        </p:nvCxnSpPr>
        <p:spPr>
          <a:xfrm rot="16200000" flipH="1">
            <a:off x="5752447" y="1544045"/>
            <a:ext cx="915560" cy="2733289"/>
          </a:xfrm>
          <a:prstGeom prst="bentConnector2">
            <a:avLst/>
          </a:prstGeom>
          <a:ln w="25400">
            <a:solidFill>
              <a:schemeClr val="accent1">
                <a:lumMod val="90000"/>
                <a:lumOff val="10000"/>
              </a:schemeClr>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7962CBC7-4115-59D4-0F85-B41E41E80E8A}"/>
              </a:ext>
            </a:extLst>
          </p:cNvPr>
          <p:cNvSpPr txBox="1"/>
          <p:nvPr/>
        </p:nvSpPr>
        <p:spPr>
          <a:xfrm>
            <a:off x="1457358" y="908149"/>
            <a:ext cx="1404000"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b="1" noProof="0">
                <a:solidFill>
                  <a:schemeClr val="bg2">
                    <a:lumMod val="10000"/>
                  </a:schemeClr>
                </a:solidFill>
              </a:rPr>
              <a:t>Illustrative example</a:t>
            </a:r>
          </a:p>
        </p:txBody>
      </p:sp>
      <p:sp>
        <p:nvSpPr>
          <p:cNvPr id="5127" name="Rectangle: Rounded Corners 5126">
            <a:extLst>
              <a:ext uri="{FF2B5EF4-FFF2-40B4-BE49-F238E27FC236}">
                <a16:creationId xmlns:a16="http://schemas.microsoft.com/office/drawing/2014/main" id="{EA9A584B-011E-9366-D2EC-433C339C883E}"/>
              </a:ext>
            </a:extLst>
          </p:cNvPr>
          <p:cNvSpPr/>
          <p:nvPr/>
        </p:nvSpPr>
        <p:spPr>
          <a:xfrm>
            <a:off x="611124" y="1142435"/>
            <a:ext cx="3096468" cy="5040000"/>
          </a:xfrm>
          <a:prstGeom prst="roundRect">
            <a:avLst>
              <a:gd name="adj" fmla="val 4335"/>
            </a:avLst>
          </a:prstGeom>
          <a:no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pic>
        <p:nvPicPr>
          <p:cNvPr id="16" name="Graphic 15" descr="Man with solid fill">
            <a:extLst>
              <a:ext uri="{FF2B5EF4-FFF2-40B4-BE49-F238E27FC236}">
                <a16:creationId xmlns:a16="http://schemas.microsoft.com/office/drawing/2014/main" id="{1CB2A0C7-0259-4165-EC88-C714731702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81624" y="1280167"/>
            <a:ext cx="288000" cy="288000"/>
          </a:xfrm>
          <a:prstGeom prst="rect">
            <a:avLst/>
          </a:prstGeom>
        </p:spPr>
      </p:pic>
      <p:sp>
        <p:nvSpPr>
          <p:cNvPr id="17" name="TextBox 16">
            <a:extLst>
              <a:ext uri="{FF2B5EF4-FFF2-40B4-BE49-F238E27FC236}">
                <a16:creationId xmlns:a16="http://schemas.microsoft.com/office/drawing/2014/main" id="{B65E3808-D8CC-0A8D-DD24-43CDD72267ED}"/>
              </a:ext>
            </a:extLst>
          </p:cNvPr>
          <p:cNvSpPr txBox="1"/>
          <p:nvPr/>
        </p:nvSpPr>
        <p:spPr>
          <a:xfrm>
            <a:off x="694145" y="1295483"/>
            <a:ext cx="3096468"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200" b="1" noProof="0">
                <a:solidFill>
                  <a:schemeClr val="bg2">
                    <a:lumMod val="10000"/>
                  </a:schemeClr>
                </a:solidFill>
              </a:rPr>
              <a:t>A </a:t>
            </a:r>
            <a:r>
              <a:rPr lang="en-CA" sz="1200" b="1" u="sng" noProof="0">
                <a:solidFill>
                  <a:schemeClr val="accent6">
                    <a:lumMod val="60000"/>
                    <a:lumOff val="40000"/>
                  </a:schemeClr>
                </a:solidFill>
              </a:rPr>
              <a:t>human</a:t>
            </a:r>
            <a:r>
              <a:rPr lang="en-CA" sz="1200" b="1" noProof="0">
                <a:solidFill>
                  <a:schemeClr val="bg2">
                    <a:lumMod val="10000"/>
                  </a:schemeClr>
                </a:solidFill>
              </a:rPr>
              <a:t>      can be many things…</a:t>
            </a:r>
          </a:p>
        </p:txBody>
      </p:sp>
      <p:sp>
        <p:nvSpPr>
          <p:cNvPr id="249" name="TextBox 248">
            <a:extLst>
              <a:ext uri="{FF2B5EF4-FFF2-40B4-BE49-F238E27FC236}">
                <a16:creationId xmlns:a16="http://schemas.microsoft.com/office/drawing/2014/main" id="{CA40821D-0AE8-4D41-A357-5157CC026643}"/>
              </a:ext>
            </a:extLst>
          </p:cNvPr>
          <p:cNvSpPr txBox="1"/>
          <p:nvPr/>
        </p:nvSpPr>
        <p:spPr>
          <a:xfrm>
            <a:off x="611124" y="5663400"/>
            <a:ext cx="3096468" cy="51473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108000" rtlCol="0" anchor="t" anchorCtr="0">
            <a:spAutoFit/>
          </a:bodyPr>
          <a:lstStyle/>
          <a:p>
            <a:pPr algn="l"/>
            <a:r>
              <a:rPr lang="en-CA" sz="1200" b="1" noProof="0">
                <a:solidFill>
                  <a:schemeClr val="bg2">
                    <a:lumMod val="10000"/>
                  </a:schemeClr>
                </a:solidFill>
              </a:rPr>
              <a:t>… But they can all be used to generate a </a:t>
            </a:r>
            <a:r>
              <a:rPr lang="en-CA" sz="1200" b="1" u="sng" noProof="0">
                <a:solidFill>
                  <a:schemeClr val="bg2">
                    <a:lumMod val="10000"/>
                  </a:schemeClr>
                </a:solidFill>
              </a:rPr>
              <a:t>360 View</a:t>
            </a:r>
            <a:r>
              <a:rPr lang="en-CA" sz="1200" b="1" noProof="0">
                <a:solidFill>
                  <a:schemeClr val="bg2">
                    <a:lumMod val="10000"/>
                  </a:schemeClr>
                </a:solidFill>
              </a:rPr>
              <a:t> as needed</a:t>
            </a:r>
          </a:p>
        </p:txBody>
      </p:sp>
      <p:grpSp>
        <p:nvGrpSpPr>
          <p:cNvPr id="5388" name="Group 5387">
            <a:extLst>
              <a:ext uri="{FF2B5EF4-FFF2-40B4-BE49-F238E27FC236}">
                <a16:creationId xmlns:a16="http://schemas.microsoft.com/office/drawing/2014/main" id="{884EFF73-AB6D-7A5C-43E7-C31F3D901595}"/>
              </a:ext>
            </a:extLst>
          </p:cNvPr>
          <p:cNvGrpSpPr/>
          <p:nvPr/>
        </p:nvGrpSpPr>
        <p:grpSpPr>
          <a:xfrm>
            <a:off x="662685" y="1721215"/>
            <a:ext cx="2841721" cy="695951"/>
            <a:chOff x="664432" y="1394720"/>
            <a:chExt cx="2841721" cy="695951"/>
          </a:xfrm>
        </p:grpSpPr>
        <p:sp>
          <p:nvSpPr>
            <p:cNvPr id="46" name="TextBox 45">
              <a:extLst>
                <a:ext uri="{FF2B5EF4-FFF2-40B4-BE49-F238E27FC236}">
                  <a16:creationId xmlns:a16="http://schemas.microsoft.com/office/drawing/2014/main" id="{DE4839AE-C263-1FCB-8E42-4F937D880EF0}"/>
                </a:ext>
              </a:extLst>
            </p:cNvPr>
            <p:cNvSpPr txBox="1"/>
            <p:nvPr/>
          </p:nvSpPr>
          <p:spPr>
            <a:xfrm>
              <a:off x="1526153" y="1394720"/>
              <a:ext cx="1980000" cy="69595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bg2">
                      <a:lumMod val="10000"/>
                    </a:schemeClr>
                  </a:solidFill>
                </a:rPr>
                <a:t>Group Benefits (WBR)</a:t>
              </a: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Advisor / Agent / Broker</a:t>
              </a:r>
              <a:endParaRPr lang="en-CA" sz="1000" b="0" i="0" u="none" strike="noStrike" noProof="0">
                <a:effectLst/>
              </a:endParaRP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Dependent</a:t>
              </a:r>
              <a:endParaRPr lang="en-CA" sz="1000" b="0" i="0" u="none" strike="noStrike" noProof="0">
                <a:effectLst/>
              </a:endParaRP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Member / Participant</a:t>
              </a:r>
              <a:endParaRPr lang="en-CA" sz="1000" b="0" i="0" u="none" strike="noStrike" noProof="0">
                <a:effectLst/>
              </a:endParaRPr>
            </a:p>
          </p:txBody>
        </p:sp>
        <p:grpSp>
          <p:nvGrpSpPr>
            <p:cNvPr id="5307" name="Group 5306">
              <a:extLst>
                <a:ext uri="{FF2B5EF4-FFF2-40B4-BE49-F238E27FC236}">
                  <a16:creationId xmlns:a16="http://schemas.microsoft.com/office/drawing/2014/main" id="{CBB8E5CE-11ED-AFF2-A762-2037260AFFC7}"/>
                </a:ext>
              </a:extLst>
            </p:cNvPr>
            <p:cNvGrpSpPr/>
            <p:nvPr/>
          </p:nvGrpSpPr>
          <p:grpSpPr>
            <a:xfrm>
              <a:off x="664432" y="1394720"/>
              <a:ext cx="799778" cy="612000"/>
              <a:chOff x="698261" y="1414804"/>
              <a:chExt cx="799778" cy="612000"/>
            </a:xfrm>
          </p:grpSpPr>
          <p:grpSp>
            <p:nvGrpSpPr>
              <p:cNvPr id="5184" name="Graphic 5179" descr="Database with solid fill">
                <a:extLst>
                  <a:ext uri="{FF2B5EF4-FFF2-40B4-BE49-F238E27FC236}">
                    <a16:creationId xmlns:a16="http://schemas.microsoft.com/office/drawing/2014/main" id="{FF444084-0175-6B1A-BB03-50B3C9F9DA00}"/>
                  </a:ext>
                </a:extLst>
              </p:cNvPr>
              <p:cNvGrpSpPr>
                <a:grpSpLocks noChangeAspect="1"/>
              </p:cNvGrpSpPr>
              <p:nvPr/>
            </p:nvGrpSpPr>
            <p:grpSpPr>
              <a:xfrm>
                <a:off x="784642" y="1612826"/>
                <a:ext cx="159159" cy="216003"/>
                <a:chOff x="4198684" y="5377000"/>
                <a:chExt cx="533400" cy="723900"/>
              </a:xfrm>
              <a:solidFill>
                <a:schemeClr val="tx2">
                  <a:lumMod val="75000"/>
                </a:schemeClr>
              </a:solidFill>
            </p:grpSpPr>
            <p:sp>
              <p:nvSpPr>
                <p:cNvPr id="5185" name="Oval 5184">
                  <a:extLst>
                    <a:ext uri="{FF2B5EF4-FFF2-40B4-BE49-F238E27FC236}">
                      <a16:creationId xmlns:a16="http://schemas.microsoft.com/office/drawing/2014/main" id="{7843BD9E-B6E9-F3A2-7393-A2437D721B6F}"/>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186" name="Freeform: Shape 5185">
                  <a:extLst>
                    <a:ext uri="{FF2B5EF4-FFF2-40B4-BE49-F238E27FC236}">
                      <a16:creationId xmlns:a16="http://schemas.microsoft.com/office/drawing/2014/main" id="{53A65B16-BC3F-443C-ECC3-B9EBCC8844B1}"/>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187" name="Freeform: Shape 5186">
                  <a:extLst>
                    <a:ext uri="{FF2B5EF4-FFF2-40B4-BE49-F238E27FC236}">
                      <a16:creationId xmlns:a16="http://schemas.microsoft.com/office/drawing/2014/main" id="{29F3F779-0049-C6B3-95A6-B680286F58D5}"/>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188" name="Freeform: Shape 5187">
                  <a:extLst>
                    <a:ext uri="{FF2B5EF4-FFF2-40B4-BE49-F238E27FC236}">
                      <a16:creationId xmlns:a16="http://schemas.microsoft.com/office/drawing/2014/main" id="{99AE2F91-DC7E-5B80-CD8D-F5FF531B0093}"/>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sp>
            <p:nvSpPr>
              <p:cNvPr id="5291" name="Rectangle: Rounded Corners 5290">
                <a:extLst>
                  <a:ext uri="{FF2B5EF4-FFF2-40B4-BE49-F238E27FC236}">
                    <a16:creationId xmlns:a16="http://schemas.microsoft.com/office/drawing/2014/main" id="{4CE0DC81-6502-DE6A-7A68-A4DBC9EBA2DC}"/>
                  </a:ext>
                </a:extLst>
              </p:cNvPr>
              <p:cNvSpPr/>
              <p:nvPr/>
            </p:nvSpPr>
            <p:spPr>
              <a:xfrm>
                <a:off x="706011" y="1414804"/>
                <a:ext cx="792000" cy="612000"/>
              </a:xfrm>
              <a:prstGeom prst="roundRect">
                <a:avLst>
                  <a:gd name="adj" fmla="val 8187"/>
                </a:avLst>
              </a:prstGeom>
              <a:noFill/>
              <a:ln w="9525">
                <a:solidFill>
                  <a:schemeClr val="bg2">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292" name="TextBox 5291">
                <a:extLst>
                  <a:ext uri="{FF2B5EF4-FFF2-40B4-BE49-F238E27FC236}">
                    <a16:creationId xmlns:a16="http://schemas.microsoft.com/office/drawing/2014/main" id="{498A9210-2FF1-53BA-36DC-B2F6729B26AF}"/>
                  </a:ext>
                </a:extLst>
              </p:cNvPr>
              <p:cNvSpPr txBox="1"/>
              <p:nvPr/>
            </p:nvSpPr>
            <p:spPr>
              <a:xfrm>
                <a:off x="705983" y="1414804"/>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WBR</a:t>
                </a:r>
              </a:p>
            </p:txBody>
          </p:sp>
          <p:sp>
            <p:nvSpPr>
              <p:cNvPr id="5293" name="TextBox 5292">
                <a:extLst>
                  <a:ext uri="{FF2B5EF4-FFF2-40B4-BE49-F238E27FC236}">
                    <a16:creationId xmlns:a16="http://schemas.microsoft.com/office/drawing/2014/main" id="{ABD681D8-2402-051E-82AC-48EFC96678B8}"/>
                  </a:ext>
                </a:extLst>
              </p:cNvPr>
              <p:cNvSpPr txBox="1"/>
              <p:nvPr/>
            </p:nvSpPr>
            <p:spPr>
              <a:xfrm>
                <a:off x="698261" y="1815601"/>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Data source</a:t>
                </a:r>
              </a:p>
            </p:txBody>
          </p:sp>
          <p:grpSp>
            <p:nvGrpSpPr>
              <p:cNvPr id="5294" name="Graphic 5179" descr="Database with solid fill">
                <a:extLst>
                  <a:ext uri="{FF2B5EF4-FFF2-40B4-BE49-F238E27FC236}">
                    <a16:creationId xmlns:a16="http://schemas.microsoft.com/office/drawing/2014/main" id="{F1A0111A-FD09-3EB0-E46D-6B94F9EA6976}"/>
                  </a:ext>
                </a:extLst>
              </p:cNvPr>
              <p:cNvGrpSpPr>
                <a:grpSpLocks noChangeAspect="1"/>
              </p:cNvGrpSpPr>
              <p:nvPr/>
            </p:nvGrpSpPr>
            <p:grpSpPr>
              <a:xfrm>
                <a:off x="1022432" y="1612826"/>
                <a:ext cx="159159" cy="216003"/>
                <a:chOff x="4198684" y="5377000"/>
                <a:chExt cx="533400" cy="723900"/>
              </a:xfrm>
              <a:solidFill>
                <a:schemeClr val="tx2">
                  <a:lumMod val="75000"/>
                </a:schemeClr>
              </a:solidFill>
            </p:grpSpPr>
            <p:sp>
              <p:nvSpPr>
                <p:cNvPr id="5295" name="Oval 5294">
                  <a:extLst>
                    <a:ext uri="{FF2B5EF4-FFF2-40B4-BE49-F238E27FC236}">
                      <a16:creationId xmlns:a16="http://schemas.microsoft.com/office/drawing/2014/main" id="{D0D738BE-B663-2505-06A9-7D52952C2BB0}"/>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296" name="Freeform: Shape 5295">
                  <a:extLst>
                    <a:ext uri="{FF2B5EF4-FFF2-40B4-BE49-F238E27FC236}">
                      <a16:creationId xmlns:a16="http://schemas.microsoft.com/office/drawing/2014/main" id="{72D57CE7-835F-A3B6-8E8E-C25F1199B111}"/>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297" name="Freeform: Shape 5296">
                  <a:extLst>
                    <a:ext uri="{FF2B5EF4-FFF2-40B4-BE49-F238E27FC236}">
                      <a16:creationId xmlns:a16="http://schemas.microsoft.com/office/drawing/2014/main" id="{C8C29D2E-E59E-5FFF-F7F2-A636847B638D}"/>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298" name="Freeform: Shape 5297">
                  <a:extLst>
                    <a:ext uri="{FF2B5EF4-FFF2-40B4-BE49-F238E27FC236}">
                      <a16:creationId xmlns:a16="http://schemas.microsoft.com/office/drawing/2014/main" id="{482D2FF5-3CF6-26DD-D8B2-EC62CEB7FD27}"/>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nvGrpSpPr>
              <p:cNvPr id="5299" name="Graphic 5179" descr="Database with solid fill">
                <a:extLst>
                  <a:ext uri="{FF2B5EF4-FFF2-40B4-BE49-F238E27FC236}">
                    <a16:creationId xmlns:a16="http://schemas.microsoft.com/office/drawing/2014/main" id="{2E069D2C-F1A4-A3D0-978A-81FEA1404775}"/>
                  </a:ext>
                </a:extLst>
              </p:cNvPr>
              <p:cNvGrpSpPr>
                <a:grpSpLocks noChangeAspect="1"/>
              </p:cNvGrpSpPr>
              <p:nvPr/>
            </p:nvGrpSpPr>
            <p:grpSpPr>
              <a:xfrm>
                <a:off x="1260222" y="1612826"/>
                <a:ext cx="159159" cy="216003"/>
                <a:chOff x="4198684" y="5377000"/>
                <a:chExt cx="533400" cy="723900"/>
              </a:xfrm>
              <a:solidFill>
                <a:schemeClr val="tx2">
                  <a:lumMod val="75000"/>
                </a:schemeClr>
              </a:solidFill>
            </p:grpSpPr>
            <p:sp>
              <p:nvSpPr>
                <p:cNvPr id="5300" name="Oval 5299">
                  <a:extLst>
                    <a:ext uri="{FF2B5EF4-FFF2-40B4-BE49-F238E27FC236}">
                      <a16:creationId xmlns:a16="http://schemas.microsoft.com/office/drawing/2014/main" id="{66F795D9-B621-C28B-9249-51D45E539010}"/>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01" name="Freeform: Shape 5300">
                  <a:extLst>
                    <a:ext uri="{FF2B5EF4-FFF2-40B4-BE49-F238E27FC236}">
                      <a16:creationId xmlns:a16="http://schemas.microsoft.com/office/drawing/2014/main" id="{5BA86F65-9F3D-7E08-7DDF-F426A159CA03}"/>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02" name="Freeform: Shape 5301">
                  <a:extLst>
                    <a:ext uri="{FF2B5EF4-FFF2-40B4-BE49-F238E27FC236}">
                      <a16:creationId xmlns:a16="http://schemas.microsoft.com/office/drawing/2014/main" id="{C1EB8AA3-88D0-BE4D-5B4B-5629EC3E3301}"/>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03" name="Freeform: Shape 5302">
                  <a:extLst>
                    <a:ext uri="{FF2B5EF4-FFF2-40B4-BE49-F238E27FC236}">
                      <a16:creationId xmlns:a16="http://schemas.microsoft.com/office/drawing/2014/main" id="{89F1F92D-0D42-4E54-5BD4-1D42B6C3E7F7}"/>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grpSp>
      <p:grpSp>
        <p:nvGrpSpPr>
          <p:cNvPr id="5389" name="Group 5388">
            <a:extLst>
              <a:ext uri="{FF2B5EF4-FFF2-40B4-BE49-F238E27FC236}">
                <a16:creationId xmlns:a16="http://schemas.microsoft.com/office/drawing/2014/main" id="{438FA1B2-49A8-9F61-A21A-C4BD07B4C926}"/>
              </a:ext>
            </a:extLst>
          </p:cNvPr>
          <p:cNvGrpSpPr/>
          <p:nvPr/>
        </p:nvGrpSpPr>
        <p:grpSpPr>
          <a:xfrm>
            <a:off x="662685" y="2490994"/>
            <a:ext cx="2841721" cy="849839"/>
            <a:chOff x="664432" y="2185447"/>
            <a:chExt cx="2841721" cy="849839"/>
          </a:xfrm>
        </p:grpSpPr>
        <p:sp>
          <p:nvSpPr>
            <p:cNvPr id="59" name="TextBox 58">
              <a:extLst>
                <a:ext uri="{FF2B5EF4-FFF2-40B4-BE49-F238E27FC236}">
                  <a16:creationId xmlns:a16="http://schemas.microsoft.com/office/drawing/2014/main" id="{465FE180-C5D7-5086-E6B6-E0C2664621D5}"/>
                </a:ext>
              </a:extLst>
            </p:cNvPr>
            <p:cNvSpPr txBox="1"/>
            <p:nvPr/>
          </p:nvSpPr>
          <p:spPr>
            <a:xfrm>
              <a:off x="1526153" y="2185447"/>
              <a:ext cx="1980000" cy="84983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bg2">
                      <a:lumMod val="10000"/>
                    </a:schemeClr>
                  </a:solidFill>
                </a:rPr>
                <a:t>Insurance Solution</a:t>
              </a: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Advisor / Agent / Broker</a:t>
              </a:r>
              <a:endParaRPr lang="en-CA" sz="1000" b="0" i="0" u="none" strike="noStrike" noProof="0">
                <a:effectLst/>
              </a:endParaRP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Insured</a:t>
              </a:r>
              <a:endParaRPr lang="en-CA" sz="1000" b="0" i="0" u="none" strike="noStrike" noProof="0">
                <a:effectLst/>
              </a:endParaRP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Policyholder</a:t>
              </a:r>
              <a:endParaRPr lang="en-CA" sz="1000" b="0" i="0" u="none" strike="noStrike" noProof="0">
                <a:effectLst/>
              </a:endParaRP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Prospect</a:t>
              </a:r>
              <a:endParaRPr lang="en-CA" sz="1000" b="0" i="0" u="none" strike="noStrike" noProof="0">
                <a:effectLst/>
              </a:endParaRPr>
            </a:p>
          </p:txBody>
        </p:sp>
        <p:grpSp>
          <p:nvGrpSpPr>
            <p:cNvPr id="5308" name="Group 5307">
              <a:extLst>
                <a:ext uri="{FF2B5EF4-FFF2-40B4-BE49-F238E27FC236}">
                  <a16:creationId xmlns:a16="http://schemas.microsoft.com/office/drawing/2014/main" id="{7FD3D02A-1BB1-CE2B-C829-4C11592A7C11}"/>
                </a:ext>
              </a:extLst>
            </p:cNvPr>
            <p:cNvGrpSpPr/>
            <p:nvPr/>
          </p:nvGrpSpPr>
          <p:grpSpPr>
            <a:xfrm>
              <a:off x="664432" y="2185447"/>
              <a:ext cx="799778" cy="612000"/>
              <a:chOff x="698261" y="1414804"/>
              <a:chExt cx="799778" cy="612000"/>
            </a:xfrm>
          </p:grpSpPr>
          <p:grpSp>
            <p:nvGrpSpPr>
              <p:cNvPr id="5309" name="Graphic 5179" descr="Database with solid fill">
                <a:extLst>
                  <a:ext uri="{FF2B5EF4-FFF2-40B4-BE49-F238E27FC236}">
                    <a16:creationId xmlns:a16="http://schemas.microsoft.com/office/drawing/2014/main" id="{B0CB13E8-F82A-3D8D-50EE-8D14DB8D12CA}"/>
                  </a:ext>
                </a:extLst>
              </p:cNvPr>
              <p:cNvGrpSpPr>
                <a:grpSpLocks noChangeAspect="1"/>
              </p:cNvGrpSpPr>
              <p:nvPr/>
            </p:nvGrpSpPr>
            <p:grpSpPr>
              <a:xfrm>
                <a:off x="784642" y="1612826"/>
                <a:ext cx="159159" cy="216003"/>
                <a:chOff x="4198684" y="5377000"/>
                <a:chExt cx="533400" cy="723900"/>
              </a:xfrm>
              <a:solidFill>
                <a:schemeClr val="tx2">
                  <a:lumMod val="75000"/>
                </a:schemeClr>
              </a:solidFill>
            </p:grpSpPr>
            <p:sp>
              <p:nvSpPr>
                <p:cNvPr id="5323" name="Oval 5322">
                  <a:extLst>
                    <a:ext uri="{FF2B5EF4-FFF2-40B4-BE49-F238E27FC236}">
                      <a16:creationId xmlns:a16="http://schemas.microsoft.com/office/drawing/2014/main" id="{4C397325-B49E-8E5A-7778-572F001FF249}"/>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24" name="Freeform: Shape 5323">
                  <a:extLst>
                    <a:ext uri="{FF2B5EF4-FFF2-40B4-BE49-F238E27FC236}">
                      <a16:creationId xmlns:a16="http://schemas.microsoft.com/office/drawing/2014/main" id="{44C6D321-4155-D155-7440-1E4E6C0A29AF}"/>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25" name="Freeform: Shape 5324">
                  <a:extLst>
                    <a:ext uri="{FF2B5EF4-FFF2-40B4-BE49-F238E27FC236}">
                      <a16:creationId xmlns:a16="http://schemas.microsoft.com/office/drawing/2014/main" id="{DE055591-1220-D357-AD5D-65BE24E808F0}"/>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26" name="Freeform: Shape 5325">
                  <a:extLst>
                    <a:ext uri="{FF2B5EF4-FFF2-40B4-BE49-F238E27FC236}">
                      <a16:creationId xmlns:a16="http://schemas.microsoft.com/office/drawing/2014/main" id="{00F571B6-8D70-AA9A-8AB8-02EA5EF85ACA}"/>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sp>
            <p:nvSpPr>
              <p:cNvPr id="5310" name="Rectangle: Rounded Corners 5309">
                <a:extLst>
                  <a:ext uri="{FF2B5EF4-FFF2-40B4-BE49-F238E27FC236}">
                    <a16:creationId xmlns:a16="http://schemas.microsoft.com/office/drawing/2014/main" id="{BC9DAB17-4CF9-BAF9-43BA-7F266257418A}"/>
                  </a:ext>
                </a:extLst>
              </p:cNvPr>
              <p:cNvSpPr/>
              <p:nvPr/>
            </p:nvSpPr>
            <p:spPr>
              <a:xfrm>
                <a:off x="706011" y="1414804"/>
                <a:ext cx="792000" cy="612000"/>
              </a:xfrm>
              <a:prstGeom prst="roundRect">
                <a:avLst>
                  <a:gd name="adj" fmla="val 8187"/>
                </a:avLst>
              </a:prstGeom>
              <a:noFill/>
              <a:ln w="9525">
                <a:solidFill>
                  <a:schemeClr val="bg2">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311" name="TextBox 5310">
                <a:extLst>
                  <a:ext uri="{FF2B5EF4-FFF2-40B4-BE49-F238E27FC236}">
                    <a16:creationId xmlns:a16="http://schemas.microsoft.com/office/drawing/2014/main" id="{62514BAA-C404-9BCE-D4D9-26B6BE934CAC}"/>
                  </a:ext>
                </a:extLst>
              </p:cNvPr>
              <p:cNvSpPr txBox="1"/>
              <p:nvPr/>
            </p:nvSpPr>
            <p:spPr>
              <a:xfrm>
                <a:off x="705983" y="1414804"/>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900" noProof="0">
                    <a:solidFill>
                      <a:schemeClr val="bg2">
                        <a:lumMod val="10000"/>
                      </a:schemeClr>
                    </a:solidFill>
                  </a:rPr>
                  <a:t>Insurance Sol.</a:t>
                </a:r>
              </a:p>
            </p:txBody>
          </p:sp>
          <p:sp>
            <p:nvSpPr>
              <p:cNvPr id="5312" name="TextBox 5311">
                <a:extLst>
                  <a:ext uri="{FF2B5EF4-FFF2-40B4-BE49-F238E27FC236}">
                    <a16:creationId xmlns:a16="http://schemas.microsoft.com/office/drawing/2014/main" id="{57D6F10E-8260-0DD8-ABE2-57B5E0473A42}"/>
                  </a:ext>
                </a:extLst>
              </p:cNvPr>
              <p:cNvSpPr txBox="1"/>
              <p:nvPr/>
            </p:nvSpPr>
            <p:spPr>
              <a:xfrm>
                <a:off x="698261" y="1815601"/>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Data source</a:t>
                </a:r>
              </a:p>
            </p:txBody>
          </p:sp>
          <p:grpSp>
            <p:nvGrpSpPr>
              <p:cNvPr id="5313" name="Graphic 5179" descr="Database with solid fill">
                <a:extLst>
                  <a:ext uri="{FF2B5EF4-FFF2-40B4-BE49-F238E27FC236}">
                    <a16:creationId xmlns:a16="http://schemas.microsoft.com/office/drawing/2014/main" id="{63BBB5AB-6D9B-B753-0751-DBC0D42D0BC4}"/>
                  </a:ext>
                </a:extLst>
              </p:cNvPr>
              <p:cNvGrpSpPr>
                <a:grpSpLocks noChangeAspect="1"/>
              </p:cNvGrpSpPr>
              <p:nvPr/>
            </p:nvGrpSpPr>
            <p:grpSpPr>
              <a:xfrm>
                <a:off x="1022432" y="1612826"/>
                <a:ext cx="159159" cy="216003"/>
                <a:chOff x="4198684" y="5377000"/>
                <a:chExt cx="533400" cy="723900"/>
              </a:xfrm>
              <a:solidFill>
                <a:schemeClr val="tx2">
                  <a:lumMod val="75000"/>
                </a:schemeClr>
              </a:solidFill>
            </p:grpSpPr>
            <p:sp>
              <p:nvSpPr>
                <p:cNvPr id="5319" name="Oval 5318">
                  <a:extLst>
                    <a:ext uri="{FF2B5EF4-FFF2-40B4-BE49-F238E27FC236}">
                      <a16:creationId xmlns:a16="http://schemas.microsoft.com/office/drawing/2014/main" id="{461AACDF-E3CC-2FE7-BEB1-8F0292F9BB31}"/>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20" name="Freeform: Shape 5319">
                  <a:extLst>
                    <a:ext uri="{FF2B5EF4-FFF2-40B4-BE49-F238E27FC236}">
                      <a16:creationId xmlns:a16="http://schemas.microsoft.com/office/drawing/2014/main" id="{45B747C8-D53A-12EB-D98C-A2D8CF290C64}"/>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21" name="Freeform: Shape 5320">
                  <a:extLst>
                    <a:ext uri="{FF2B5EF4-FFF2-40B4-BE49-F238E27FC236}">
                      <a16:creationId xmlns:a16="http://schemas.microsoft.com/office/drawing/2014/main" id="{EC4696DF-5577-1AB8-8D7A-EB3F27FB2BF7}"/>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22" name="Freeform: Shape 5321">
                  <a:extLst>
                    <a:ext uri="{FF2B5EF4-FFF2-40B4-BE49-F238E27FC236}">
                      <a16:creationId xmlns:a16="http://schemas.microsoft.com/office/drawing/2014/main" id="{FFFF242B-2F72-26F0-8DBC-FB9C04E048D3}"/>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nvGrpSpPr>
              <p:cNvPr id="5314" name="Graphic 5179" descr="Database with solid fill">
                <a:extLst>
                  <a:ext uri="{FF2B5EF4-FFF2-40B4-BE49-F238E27FC236}">
                    <a16:creationId xmlns:a16="http://schemas.microsoft.com/office/drawing/2014/main" id="{10200B12-7C1D-DD9C-71B7-686092446BC5}"/>
                  </a:ext>
                </a:extLst>
              </p:cNvPr>
              <p:cNvGrpSpPr>
                <a:grpSpLocks noChangeAspect="1"/>
              </p:cNvGrpSpPr>
              <p:nvPr/>
            </p:nvGrpSpPr>
            <p:grpSpPr>
              <a:xfrm>
                <a:off x="1260222" y="1612826"/>
                <a:ext cx="159159" cy="216003"/>
                <a:chOff x="4198684" y="5377000"/>
                <a:chExt cx="533400" cy="723900"/>
              </a:xfrm>
              <a:solidFill>
                <a:schemeClr val="tx2">
                  <a:lumMod val="75000"/>
                </a:schemeClr>
              </a:solidFill>
            </p:grpSpPr>
            <p:sp>
              <p:nvSpPr>
                <p:cNvPr id="5315" name="Oval 5314">
                  <a:extLst>
                    <a:ext uri="{FF2B5EF4-FFF2-40B4-BE49-F238E27FC236}">
                      <a16:creationId xmlns:a16="http://schemas.microsoft.com/office/drawing/2014/main" id="{BD28D02A-0269-AEF9-8DB7-7795B1A456BF}"/>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16" name="Freeform: Shape 5315">
                  <a:extLst>
                    <a:ext uri="{FF2B5EF4-FFF2-40B4-BE49-F238E27FC236}">
                      <a16:creationId xmlns:a16="http://schemas.microsoft.com/office/drawing/2014/main" id="{0F265064-869D-3D14-880A-90E6C6AFBA01}"/>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17" name="Freeform: Shape 5316">
                  <a:extLst>
                    <a:ext uri="{FF2B5EF4-FFF2-40B4-BE49-F238E27FC236}">
                      <a16:creationId xmlns:a16="http://schemas.microsoft.com/office/drawing/2014/main" id="{0A335638-1F5A-7911-70FF-84F97D0E1FA0}"/>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18" name="Freeform: Shape 5317">
                  <a:extLst>
                    <a:ext uri="{FF2B5EF4-FFF2-40B4-BE49-F238E27FC236}">
                      <a16:creationId xmlns:a16="http://schemas.microsoft.com/office/drawing/2014/main" id="{51618F67-B403-A2BB-6BD6-057747B20864}"/>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grpSp>
      <p:grpSp>
        <p:nvGrpSpPr>
          <p:cNvPr id="5390" name="Group 5389">
            <a:extLst>
              <a:ext uri="{FF2B5EF4-FFF2-40B4-BE49-F238E27FC236}">
                <a16:creationId xmlns:a16="http://schemas.microsoft.com/office/drawing/2014/main" id="{B78F87C4-6848-3748-9D40-F422E39DA50B}"/>
              </a:ext>
            </a:extLst>
          </p:cNvPr>
          <p:cNvGrpSpPr/>
          <p:nvPr/>
        </p:nvGrpSpPr>
        <p:grpSpPr>
          <a:xfrm>
            <a:off x="662685" y="3439749"/>
            <a:ext cx="2995730" cy="695951"/>
            <a:chOff x="664432" y="3066023"/>
            <a:chExt cx="2995730" cy="695951"/>
          </a:xfrm>
        </p:grpSpPr>
        <p:sp>
          <p:nvSpPr>
            <p:cNvPr id="89" name="TextBox 88">
              <a:extLst>
                <a:ext uri="{FF2B5EF4-FFF2-40B4-BE49-F238E27FC236}">
                  <a16:creationId xmlns:a16="http://schemas.microsoft.com/office/drawing/2014/main" id="{DE951E98-B91D-D7A1-A2EC-550B6E9FDB4B}"/>
                </a:ext>
              </a:extLst>
            </p:cNvPr>
            <p:cNvSpPr txBox="1"/>
            <p:nvPr/>
          </p:nvSpPr>
          <p:spPr>
            <a:xfrm>
              <a:off x="1526152" y="3066023"/>
              <a:ext cx="2134010" cy="69595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bg2">
                      <a:lumMod val="10000"/>
                    </a:schemeClr>
                  </a:solidFill>
                </a:rPr>
                <a:t>Wealth</a:t>
              </a: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Account Holder / Joint Holder</a:t>
              </a:r>
              <a:endParaRPr lang="en-CA" sz="1000" b="0" i="0" u="none" strike="noStrike" noProof="0">
                <a:effectLst/>
              </a:endParaRP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Advisor / Agent / Broker</a:t>
              </a:r>
            </a:p>
            <a:p>
              <a:pPr marL="171450" indent="-171450" fontAlgn="b">
                <a:buFont typeface="Arial" panose="020B0604020202020204" pitchFamily="34" charset="0"/>
                <a:buChar char="•"/>
              </a:pPr>
              <a:r>
                <a:rPr lang="en-CA" sz="1000" noProof="0">
                  <a:solidFill>
                    <a:srgbClr val="000000"/>
                  </a:solidFill>
                </a:rPr>
                <a:t>Household Member</a:t>
              </a:r>
            </a:p>
          </p:txBody>
        </p:sp>
        <p:grpSp>
          <p:nvGrpSpPr>
            <p:cNvPr id="5327" name="Group 5326">
              <a:extLst>
                <a:ext uri="{FF2B5EF4-FFF2-40B4-BE49-F238E27FC236}">
                  <a16:creationId xmlns:a16="http://schemas.microsoft.com/office/drawing/2014/main" id="{7A43B890-4F45-6A4F-1C08-64B8F4644B51}"/>
                </a:ext>
              </a:extLst>
            </p:cNvPr>
            <p:cNvGrpSpPr/>
            <p:nvPr/>
          </p:nvGrpSpPr>
          <p:grpSpPr>
            <a:xfrm>
              <a:off x="664432" y="3066023"/>
              <a:ext cx="799778" cy="612000"/>
              <a:chOff x="698261" y="1414804"/>
              <a:chExt cx="799778" cy="612000"/>
            </a:xfrm>
          </p:grpSpPr>
          <p:grpSp>
            <p:nvGrpSpPr>
              <p:cNvPr id="5328" name="Graphic 5179" descr="Database with solid fill">
                <a:extLst>
                  <a:ext uri="{FF2B5EF4-FFF2-40B4-BE49-F238E27FC236}">
                    <a16:creationId xmlns:a16="http://schemas.microsoft.com/office/drawing/2014/main" id="{5CFED777-4FC7-6D98-8995-69DF80349E62}"/>
                  </a:ext>
                </a:extLst>
              </p:cNvPr>
              <p:cNvGrpSpPr>
                <a:grpSpLocks noChangeAspect="1"/>
              </p:cNvGrpSpPr>
              <p:nvPr/>
            </p:nvGrpSpPr>
            <p:grpSpPr>
              <a:xfrm>
                <a:off x="784642" y="1612826"/>
                <a:ext cx="159159" cy="216003"/>
                <a:chOff x="4198684" y="5377000"/>
                <a:chExt cx="533400" cy="723900"/>
              </a:xfrm>
              <a:solidFill>
                <a:schemeClr val="tx2">
                  <a:lumMod val="75000"/>
                </a:schemeClr>
              </a:solidFill>
            </p:grpSpPr>
            <p:sp>
              <p:nvSpPr>
                <p:cNvPr id="5342" name="Oval 5341">
                  <a:extLst>
                    <a:ext uri="{FF2B5EF4-FFF2-40B4-BE49-F238E27FC236}">
                      <a16:creationId xmlns:a16="http://schemas.microsoft.com/office/drawing/2014/main" id="{FC047269-A69C-461F-4408-E880FF107689}"/>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43" name="Freeform: Shape 5342">
                  <a:extLst>
                    <a:ext uri="{FF2B5EF4-FFF2-40B4-BE49-F238E27FC236}">
                      <a16:creationId xmlns:a16="http://schemas.microsoft.com/office/drawing/2014/main" id="{1E9935DD-36E2-DAA8-B475-A61F8CC52129}"/>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44" name="Freeform: Shape 5343">
                  <a:extLst>
                    <a:ext uri="{FF2B5EF4-FFF2-40B4-BE49-F238E27FC236}">
                      <a16:creationId xmlns:a16="http://schemas.microsoft.com/office/drawing/2014/main" id="{08734AE5-93A5-E2EA-454D-8DD82C86E697}"/>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45" name="Freeform: Shape 5344">
                  <a:extLst>
                    <a:ext uri="{FF2B5EF4-FFF2-40B4-BE49-F238E27FC236}">
                      <a16:creationId xmlns:a16="http://schemas.microsoft.com/office/drawing/2014/main" id="{E56DBB3F-17A0-EB4C-388D-9A116C3EADCE}"/>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sp>
            <p:nvSpPr>
              <p:cNvPr id="5329" name="Rectangle: Rounded Corners 5328">
                <a:extLst>
                  <a:ext uri="{FF2B5EF4-FFF2-40B4-BE49-F238E27FC236}">
                    <a16:creationId xmlns:a16="http://schemas.microsoft.com/office/drawing/2014/main" id="{72BE7B7C-6E7A-4C89-72F7-3D3F417A352E}"/>
                  </a:ext>
                </a:extLst>
              </p:cNvPr>
              <p:cNvSpPr/>
              <p:nvPr/>
            </p:nvSpPr>
            <p:spPr>
              <a:xfrm>
                <a:off x="706011" y="1414804"/>
                <a:ext cx="792000" cy="612000"/>
              </a:xfrm>
              <a:prstGeom prst="roundRect">
                <a:avLst>
                  <a:gd name="adj" fmla="val 8187"/>
                </a:avLst>
              </a:prstGeom>
              <a:noFill/>
              <a:ln w="9525">
                <a:solidFill>
                  <a:schemeClr val="bg2">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330" name="TextBox 5329">
                <a:extLst>
                  <a:ext uri="{FF2B5EF4-FFF2-40B4-BE49-F238E27FC236}">
                    <a16:creationId xmlns:a16="http://schemas.microsoft.com/office/drawing/2014/main" id="{E5F64AB3-5EA6-DCFF-1A4B-501CD783B665}"/>
                  </a:ext>
                </a:extLst>
              </p:cNvPr>
              <p:cNvSpPr txBox="1"/>
              <p:nvPr/>
            </p:nvSpPr>
            <p:spPr>
              <a:xfrm>
                <a:off x="705983" y="1414804"/>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Wealth</a:t>
                </a:r>
              </a:p>
            </p:txBody>
          </p:sp>
          <p:sp>
            <p:nvSpPr>
              <p:cNvPr id="5331" name="TextBox 5330">
                <a:extLst>
                  <a:ext uri="{FF2B5EF4-FFF2-40B4-BE49-F238E27FC236}">
                    <a16:creationId xmlns:a16="http://schemas.microsoft.com/office/drawing/2014/main" id="{403EF90D-8BBE-6E69-1CF3-8CFFD33D7F45}"/>
                  </a:ext>
                </a:extLst>
              </p:cNvPr>
              <p:cNvSpPr txBox="1"/>
              <p:nvPr/>
            </p:nvSpPr>
            <p:spPr>
              <a:xfrm>
                <a:off x="698261" y="1815601"/>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Data source</a:t>
                </a:r>
              </a:p>
            </p:txBody>
          </p:sp>
          <p:grpSp>
            <p:nvGrpSpPr>
              <p:cNvPr id="5332" name="Graphic 5179" descr="Database with solid fill">
                <a:extLst>
                  <a:ext uri="{FF2B5EF4-FFF2-40B4-BE49-F238E27FC236}">
                    <a16:creationId xmlns:a16="http://schemas.microsoft.com/office/drawing/2014/main" id="{A53406CD-33A9-4707-3AF7-DFA2518A23CA}"/>
                  </a:ext>
                </a:extLst>
              </p:cNvPr>
              <p:cNvGrpSpPr>
                <a:grpSpLocks noChangeAspect="1"/>
              </p:cNvGrpSpPr>
              <p:nvPr/>
            </p:nvGrpSpPr>
            <p:grpSpPr>
              <a:xfrm>
                <a:off x="1022432" y="1612826"/>
                <a:ext cx="159159" cy="216003"/>
                <a:chOff x="4198684" y="5377000"/>
                <a:chExt cx="533400" cy="723900"/>
              </a:xfrm>
              <a:solidFill>
                <a:schemeClr val="tx2">
                  <a:lumMod val="75000"/>
                </a:schemeClr>
              </a:solidFill>
            </p:grpSpPr>
            <p:sp>
              <p:nvSpPr>
                <p:cNvPr id="5338" name="Oval 5337">
                  <a:extLst>
                    <a:ext uri="{FF2B5EF4-FFF2-40B4-BE49-F238E27FC236}">
                      <a16:creationId xmlns:a16="http://schemas.microsoft.com/office/drawing/2014/main" id="{9B04C9BC-124A-AA92-F6E0-38F777CD4655}"/>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39" name="Freeform: Shape 5338">
                  <a:extLst>
                    <a:ext uri="{FF2B5EF4-FFF2-40B4-BE49-F238E27FC236}">
                      <a16:creationId xmlns:a16="http://schemas.microsoft.com/office/drawing/2014/main" id="{43627A4F-E424-53FA-DC30-7FCEED8304BC}"/>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40" name="Freeform: Shape 5339">
                  <a:extLst>
                    <a:ext uri="{FF2B5EF4-FFF2-40B4-BE49-F238E27FC236}">
                      <a16:creationId xmlns:a16="http://schemas.microsoft.com/office/drawing/2014/main" id="{5BA4F894-6F63-C545-9CB5-0E926AE4ED88}"/>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41" name="Freeform: Shape 5340">
                  <a:extLst>
                    <a:ext uri="{FF2B5EF4-FFF2-40B4-BE49-F238E27FC236}">
                      <a16:creationId xmlns:a16="http://schemas.microsoft.com/office/drawing/2014/main" id="{F2EF9382-3C7C-BA0A-88A0-CD65A1F01A40}"/>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nvGrpSpPr>
              <p:cNvPr id="5333" name="Graphic 5179" descr="Database with solid fill">
                <a:extLst>
                  <a:ext uri="{FF2B5EF4-FFF2-40B4-BE49-F238E27FC236}">
                    <a16:creationId xmlns:a16="http://schemas.microsoft.com/office/drawing/2014/main" id="{DBE5BDCE-F6BD-ABA1-92B7-47E273F1D091}"/>
                  </a:ext>
                </a:extLst>
              </p:cNvPr>
              <p:cNvGrpSpPr>
                <a:grpSpLocks noChangeAspect="1"/>
              </p:cNvGrpSpPr>
              <p:nvPr/>
            </p:nvGrpSpPr>
            <p:grpSpPr>
              <a:xfrm>
                <a:off x="1260222" y="1612826"/>
                <a:ext cx="159159" cy="216003"/>
                <a:chOff x="4198684" y="5377000"/>
                <a:chExt cx="533400" cy="723900"/>
              </a:xfrm>
              <a:solidFill>
                <a:schemeClr val="tx2">
                  <a:lumMod val="75000"/>
                </a:schemeClr>
              </a:solidFill>
            </p:grpSpPr>
            <p:sp>
              <p:nvSpPr>
                <p:cNvPr id="5334" name="Oval 5333">
                  <a:extLst>
                    <a:ext uri="{FF2B5EF4-FFF2-40B4-BE49-F238E27FC236}">
                      <a16:creationId xmlns:a16="http://schemas.microsoft.com/office/drawing/2014/main" id="{CD450E2B-3F00-C3A4-82C3-3CCB491C211E}"/>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35" name="Freeform: Shape 5334">
                  <a:extLst>
                    <a:ext uri="{FF2B5EF4-FFF2-40B4-BE49-F238E27FC236}">
                      <a16:creationId xmlns:a16="http://schemas.microsoft.com/office/drawing/2014/main" id="{4FA3C47F-8BA7-4135-5546-AA82D57400AF}"/>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36" name="Freeform: Shape 5335">
                  <a:extLst>
                    <a:ext uri="{FF2B5EF4-FFF2-40B4-BE49-F238E27FC236}">
                      <a16:creationId xmlns:a16="http://schemas.microsoft.com/office/drawing/2014/main" id="{4A201FA7-8E3E-BF08-FE06-381DE1B8A222}"/>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37" name="Freeform: Shape 5336">
                  <a:extLst>
                    <a:ext uri="{FF2B5EF4-FFF2-40B4-BE49-F238E27FC236}">
                      <a16:creationId xmlns:a16="http://schemas.microsoft.com/office/drawing/2014/main" id="{0487A73B-2ABE-AD49-5D5A-A54A1C2BA127}"/>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grpSp>
      <p:grpSp>
        <p:nvGrpSpPr>
          <p:cNvPr id="5391" name="Group 5390">
            <a:extLst>
              <a:ext uri="{FF2B5EF4-FFF2-40B4-BE49-F238E27FC236}">
                <a16:creationId xmlns:a16="http://schemas.microsoft.com/office/drawing/2014/main" id="{7B4AF4D0-0AFB-49EC-9660-7500412B5E1C}"/>
              </a:ext>
            </a:extLst>
          </p:cNvPr>
          <p:cNvGrpSpPr/>
          <p:nvPr/>
        </p:nvGrpSpPr>
        <p:grpSpPr>
          <a:xfrm>
            <a:off x="662685" y="4234616"/>
            <a:ext cx="2841721" cy="612000"/>
            <a:chOff x="664432" y="3910467"/>
            <a:chExt cx="2841721" cy="612000"/>
          </a:xfrm>
        </p:grpSpPr>
        <p:sp>
          <p:nvSpPr>
            <p:cNvPr id="87" name="TextBox 86">
              <a:extLst>
                <a:ext uri="{FF2B5EF4-FFF2-40B4-BE49-F238E27FC236}">
                  <a16:creationId xmlns:a16="http://schemas.microsoft.com/office/drawing/2014/main" id="{DAE3459B-CE75-6143-C46B-7C278822ABC2}"/>
                </a:ext>
              </a:extLst>
            </p:cNvPr>
            <p:cNvSpPr txBox="1"/>
            <p:nvPr/>
          </p:nvSpPr>
          <p:spPr>
            <a:xfrm>
              <a:off x="1526153" y="3910467"/>
              <a:ext cx="1980000" cy="38817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bg2">
                      <a:lumMod val="10000"/>
                    </a:schemeClr>
                  </a:solidFill>
                </a:rPr>
                <a:t>Human Resources (HR)</a:t>
              </a:r>
            </a:p>
            <a:p>
              <a:pPr marL="171450" indent="-171450" algn="l" rtl="0" eaLnBrk="1" fontAlgn="b" latinLnBrk="0" hangingPunct="1">
                <a:buFont typeface="Arial" panose="020B0604020202020204" pitchFamily="34" charset="0"/>
                <a:buChar char="•"/>
              </a:pPr>
              <a:r>
                <a:rPr lang="en-CA" sz="1000" b="0" i="0" u="none" strike="noStrike" kern="1200" noProof="0">
                  <a:solidFill>
                    <a:srgbClr val="000000"/>
                  </a:solidFill>
                  <a:effectLst/>
                </a:rPr>
                <a:t>Employee</a:t>
              </a:r>
              <a:endParaRPr lang="en-CA" sz="1000" b="0" i="0" u="none" strike="noStrike" noProof="0">
                <a:effectLst/>
              </a:endParaRPr>
            </a:p>
          </p:txBody>
        </p:sp>
        <p:grpSp>
          <p:nvGrpSpPr>
            <p:cNvPr id="5346" name="Group 5345">
              <a:extLst>
                <a:ext uri="{FF2B5EF4-FFF2-40B4-BE49-F238E27FC236}">
                  <a16:creationId xmlns:a16="http://schemas.microsoft.com/office/drawing/2014/main" id="{2620F058-9A0A-FF28-582F-7AC67BAD931E}"/>
                </a:ext>
              </a:extLst>
            </p:cNvPr>
            <p:cNvGrpSpPr/>
            <p:nvPr/>
          </p:nvGrpSpPr>
          <p:grpSpPr>
            <a:xfrm>
              <a:off x="664432" y="3910467"/>
              <a:ext cx="799778" cy="612000"/>
              <a:chOff x="698261" y="1414804"/>
              <a:chExt cx="799778" cy="612000"/>
            </a:xfrm>
          </p:grpSpPr>
          <p:grpSp>
            <p:nvGrpSpPr>
              <p:cNvPr id="5347" name="Graphic 5179" descr="Database with solid fill">
                <a:extLst>
                  <a:ext uri="{FF2B5EF4-FFF2-40B4-BE49-F238E27FC236}">
                    <a16:creationId xmlns:a16="http://schemas.microsoft.com/office/drawing/2014/main" id="{3CF8F1EB-3959-C7E0-F6B3-45580AB3809D}"/>
                  </a:ext>
                </a:extLst>
              </p:cNvPr>
              <p:cNvGrpSpPr>
                <a:grpSpLocks noChangeAspect="1"/>
              </p:cNvGrpSpPr>
              <p:nvPr/>
            </p:nvGrpSpPr>
            <p:grpSpPr>
              <a:xfrm>
                <a:off x="784642" y="1612826"/>
                <a:ext cx="159159" cy="216003"/>
                <a:chOff x="4198684" y="5377000"/>
                <a:chExt cx="533400" cy="723900"/>
              </a:xfrm>
              <a:solidFill>
                <a:schemeClr val="tx2">
                  <a:lumMod val="75000"/>
                </a:schemeClr>
              </a:solidFill>
            </p:grpSpPr>
            <p:sp>
              <p:nvSpPr>
                <p:cNvPr id="5361" name="Oval 5360">
                  <a:extLst>
                    <a:ext uri="{FF2B5EF4-FFF2-40B4-BE49-F238E27FC236}">
                      <a16:creationId xmlns:a16="http://schemas.microsoft.com/office/drawing/2014/main" id="{396C6EBE-20B1-7511-3642-550571DC253D}"/>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62" name="Freeform: Shape 5361">
                  <a:extLst>
                    <a:ext uri="{FF2B5EF4-FFF2-40B4-BE49-F238E27FC236}">
                      <a16:creationId xmlns:a16="http://schemas.microsoft.com/office/drawing/2014/main" id="{42878EA4-7CD8-FFD2-8238-B19B36D3E089}"/>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63" name="Freeform: Shape 5362">
                  <a:extLst>
                    <a:ext uri="{FF2B5EF4-FFF2-40B4-BE49-F238E27FC236}">
                      <a16:creationId xmlns:a16="http://schemas.microsoft.com/office/drawing/2014/main" id="{9AFC2801-78A7-8139-D800-4C99A11275C3}"/>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64" name="Freeform: Shape 5363">
                  <a:extLst>
                    <a:ext uri="{FF2B5EF4-FFF2-40B4-BE49-F238E27FC236}">
                      <a16:creationId xmlns:a16="http://schemas.microsoft.com/office/drawing/2014/main" id="{4151F997-7A65-2583-FC00-C6BC2D5A6A41}"/>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sp>
            <p:nvSpPr>
              <p:cNvPr id="5348" name="Rectangle: Rounded Corners 5347">
                <a:extLst>
                  <a:ext uri="{FF2B5EF4-FFF2-40B4-BE49-F238E27FC236}">
                    <a16:creationId xmlns:a16="http://schemas.microsoft.com/office/drawing/2014/main" id="{48FB0716-6ED1-0D7A-C423-8FF4193F9E5D}"/>
                  </a:ext>
                </a:extLst>
              </p:cNvPr>
              <p:cNvSpPr/>
              <p:nvPr/>
            </p:nvSpPr>
            <p:spPr>
              <a:xfrm>
                <a:off x="706011" y="1414804"/>
                <a:ext cx="792000" cy="612000"/>
              </a:xfrm>
              <a:prstGeom prst="roundRect">
                <a:avLst>
                  <a:gd name="adj" fmla="val 8187"/>
                </a:avLst>
              </a:prstGeom>
              <a:noFill/>
              <a:ln w="9525">
                <a:solidFill>
                  <a:schemeClr val="bg2">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349" name="TextBox 5348">
                <a:extLst>
                  <a:ext uri="{FF2B5EF4-FFF2-40B4-BE49-F238E27FC236}">
                    <a16:creationId xmlns:a16="http://schemas.microsoft.com/office/drawing/2014/main" id="{AB4C444D-6149-356B-048D-F662A6274CDE}"/>
                  </a:ext>
                </a:extLst>
              </p:cNvPr>
              <p:cNvSpPr txBox="1"/>
              <p:nvPr/>
            </p:nvSpPr>
            <p:spPr>
              <a:xfrm>
                <a:off x="705983" y="1414804"/>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HR</a:t>
                </a:r>
              </a:p>
            </p:txBody>
          </p:sp>
          <p:sp>
            <p:nvSpPr>
              <p:cNvPr id="5350" name="TextBox 5349">
                <a:extLst>
                  <a:ext uri="{FF2B5EF4-FFF2-40B4-BE49-F238E27FC236}">
                    <a16:creationId xmlns:a16="http://schemas.microsoft.com/office/drawing/2014/main" id="{6330DC25-7ED4-F112-E417-63A6F22796B9}"/>
                  </a:ext>
                </a:extLst>
              </p:cNvPr>
              <p:cNvSpPr txBox="1"/>
              <p:nvPr/>
            </p:nvSpPr>
            <p:spPr>
              <a:xfrm>
                <a:off x="698261" y="1815601"/>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Data source</a:t>
                </a:r>
              </a:p>
            </p:txBody>
          </p:sp>
          <p:grpSp>
            <p:nvGrpSpPr>
              <p:cNvPr id="5351" name="Graphic 5179" descr="Database with solid fill">
                <a:extLst>
                  <a:ext uri="{FF2B5EF4-FFF2-40B4-BE49-F238E27FC236}">
                    <a16:creationId xmlns:a16="http://schemas.microsoft.com/office/drawing/2014/main" id="{E066C468-6517-F71E-1355-CDA2CFBA0640}"/>
                  </a:ext>
                </a:extLst>
              </p:cNvPr>
              <p:cNvGrpSpPr>
                <a:grpSpLocks noChangeAspect="1"/>
              </p:cNvGrpSpPr>
              <p:nvPr/>
            </p:nvGrpSpPr>
            <p:grpSpPr>
              <a:xfrm>
                <a:off x="1022432" y="1612826"/>
                <a:ext cx="159159" cy="216003"/>
                <a:chOff x="4198684" y="5377000"/>
                <a:chExt cx="533400" cy="723900"/>
              </a:xfrm>
              <a:solidFill>
                <a:schemeClr val="tx2">
                  <a:lumMod val="75000"/>
                </a:schemeClr>
              </a:solidFill>
            </p:grpSpPr>
            <p:sp>
              <p:nvSpPr>
                <p:cNvPr id="5357" name="Oval 5356">
                  <a:extLst>
                    <a:ext uri="{FF2B5EF4-FFF2-40B4-BE49-F238E27FC236}">
                      <a16:creationId xmlns:a16="http://schemas.microsoft.com/office/drawing/2014/main" id="{7F55B0C9-6968-5ACF-F2E9-38D729C4F58D}"/>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58" name="Freeform: Shape 5357">
                  <a:extLst>
                    <a:ext uri="{FF2B5EF4-FFF2-40B4-BE49-F238E27FC236}">
                      <a16:creationId xmlns:a16="http://schemas.microsoft.com/office/drawing/2014/main" id="{48E6EB2B-1EA5-8A05-0BFE-746E78F0D130}"/>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59" name="Freeform: Shape 5358">
                  <a:extLst>
                    <a:ext uri="{FF2B5EF4-FFF2-40B4-BE49-F238E27FC236}">
                      <a16:creationId xmlns:a16="http://schemas.microsoft.com/office/drawing/2014/main" id="{3DF45FB8-3E12-5E2E-1115-ED95EFCD78C9}"/>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60" name="Freeform: Shape 5359">
                  <a:extLst>
                    <a:ext uri="{FF2B5EF4-FFF2-40B4-BE49-F238E27FC236}">
                      <a16:creationId xmlns:a16="http://schemas.microsoft.com/office/drawing/2014/main" id="{B8066CA5-4B82-480B-3218-46DF2AB5040C}"/>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nvGrpSpPr>
              <p:cNvPr id="5352" name="Graphic 5179" descr="Database with solid fill">
                <a:extLst>
                  <a:ext uri="{FF2B5EF4-FFF2-40B4-BE49-F238E27FC236}">
                    <a16:creationId xmlns:a16="http://schemas.microsoft.com/office/drawing/2014/main" id="{4D07243E-5066-8965-6038-5DFC5AAB6E29}"/>
                  </a:ext>
                </a:extLst>
              </p:cNvPr>
              <p:cNvGrpSpPr>
                <a:grpSpLocks noChangeAspect="1"/>
              </p:cNvGrpSpPr>
              <p:nvPr/>
            </p:nvGrpSpPr>
            <p:grpSpPr>
              <a:xfrm>
                <a:off x="1260222" y="1612826"/>
                <a:ext cx="159159" cy="216003"/>
                <a:chOff x="4198684" y="5377000"/>
                <a:chExt cx="533400" cy="723900"/>
              </a:xfrm>
              <a:solidFill>
                <a:schemeClr val="tx2">
                  <a:lumMod val="75000"/>
                </a:schemeClr>
              </a:solidFill>
            </p:grpSpPr>
            <p:sp>
              <p:nvSpPr>
                <p:cNvPr id="5353" name="Oval 5352">
                  <a:extLst>
                    <a:ext uri="{FF2B5EF4-FFF2-40B4-BE49-F238E27FC236}">
                      <a16:creationId xmlns:a16="http://schemas.microsoft.com/office/drawing/2014/main" id="{1DBB6A0F-3FAF-BA02-D726-1CF7ADE450D8}"/>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54" name="Freeform: Shape 5353">
                  <a:extLst>
                    <a:ext uri="{FF2B5EF4-FFF2-40B4-BE49-F238E27FC236}">
                      <a16:creationId xmlns:a16="http://schemas.microsoft.com/office/drawing/2014/main" id="{F877A80B-281C-E51F-8BDD-A4B44009CD35}"/>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55" name="Freeform: Shape 5354">
                  <a:extLst>
                    <a:ext uri="{FF2B5EF4-FFF2-40B4-BE49-F238E27FC236}">
                      <a16:creationId xmlns:a16="http://schemas.microsoft.com/office/drawing/2014/main" id="{B30A43D3-0375-24E4-B2A2-9CDC55B07EBD}"/>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56" name="Freeform: Shape 5355">
                  <a:extLst>
                    <a:ext uri="{FF2B5EF4-FFF2-40B4-BE49-F238E27FC236}">
                      <a16:creationId xmlns:a16="http://schemas.microsoft.com/office/drawing/2014/main" id="{EA2E29F7-33A6-2DEA-DAF2-1DFC8093EFD2}"/>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grpSp>
      <p:grpSp>
        <p:nvGrpSpPr>
          <p:cNvPr id="5392" name="Group 5391">
            <a:extLst>
              <a:ext uri="{FF2B5EF4-FFF2-40B4-BE49-F238E27FC236}">
                <a16:creationId xmlns:a16="http://schemas.microsoft.com/office/drawing/2014/main" id="{2231B459-D8A4-222D-D1DE-25A09E6C7FF3}"/>
              </a:ext>
            </a:extLst>
          </p:cNvPr>
          <p:cNvGrpSpPr/>
          <p:nvPr/>
        </p:nvGrpSpPr>
        <p:grpSpPr>
          <a:xfrm>
            <a:off x="662685" y="4945532"/>
            <a:ext cx="2841721" cy="695951"/>
            <a:chOff x="664432" y="4403739"/>
            <a:chExt cx="2841721" cy="695951"/>
          </a:xfrm>
        </p:grpSpPr>
        <p:sp>
          <p:nvSpPr>
            <p:cNvPr id="225" name="TextBox 224">
              <a:extLst>
                <a:ext uri="{FF2B5EF4-FFF2-40B4-BE49-F238E27FC236}">
                  <a16:creationId xmlns:a16="http://schemas.microsoft.com/office/drawing/2014/main" id="{83B1A690-EE89-482B-3FA6-5BC21BFB2395}"/>
                </a:ext>
              </a:extLst>
            </p:cNvPr>
            <p:cNvSpPr txBox="1"/>
            <p:nvPr/>
          </p:nvSpPr>
          <p:spPr>
            <a:xfrm>
              <a:off x="1526153" y="4403739"/>
              <a:ext cx="1980000" cy="69595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b="1" noProof="0">
                  <a:solidFill>
                    <a:schemeClr val="bg2">
                      <a:lumMod val="10000"/>
                    </a:schemeClr>
                  </a:solidFill>
                </a:rPr>
                <a:t>Other BU and Functions</a:t>
              </a:r>
            </a:p>
            <a:p>
              <a:pPr marL="171450" indent="-171450" fontAlgn="b">
                <a:buFont typeface="Arial" panose="020B0604020202020204" pitchFamily="34" charset="0"/>
                <a:buChar char="•"/>
              </a:pPr>
              <a:r>
                <a:rPr lang="en-CA" sz="1000" noProof="0">
                  <a:solidFill>
                    <a:srgbClr val="000000"/>
                  </a:solidFill>
                </a:rPr>
                <a:t>Annuitant</a:t>
              </a:r>
            </a:p>
            <a:p>
              <a:pPr marL="171450" indent="-171450" fontAlgn="b">
                <a:buFont typeface="Arial" panose="020B0604020202020204" pitchFamily="34" charset="0"/>
                <a:buChar char="•"/>
              </a:pPr>
              <a:r>
                <a:rPr lang="en-CA" sz="1000" noProof="0">
                  <a:solidFill>
                    <a:srgbClr val="000000"/>
                  </a:solidFill>
                </a:rPr>
                <a:t>Beneficiary</a:t>
              </a:r>
            </a:p>
            <a:p>
              <a:pPr marL="171450" indent="-171450" fontAlgn="b">
                <a:buFont typeface="Arial" panose="020B0604020202020204" pitchFamily="34" charset="0"/>
                <a:buChar char="•"/>
              </a:pPr>
              <a:r>
                <a:rPr lang="en-CA" sz="1000" noProof="0">
                  <a:solidFill>
                    <a:srgbClr val="000000"/>
                  </a:solidFill>
                </a:rPr>
                <a:t>Cedant, Etc. </a:t>
              </a:r>
            </a:p>
          </p:txBody>
        </p:sp>
        <p:grpSp>
          <p:nvGrpSpPr>
            <p:cNvPr id="5365" name="Group 5364">
              <a:extLst>
                <a:ext uri="{FF2B5EF4-FFF2-40B4-BE49-F238E27FC236}">
                  <a16:creationId xmlns:a16="http://schemas.microsoft.com/office/drawing/2014/main" id="{7C4AB44E-AE8A-1B14-01F3-452E59876F74}"/>
                </a:ext>
              </a:extLst>
            </p:cNvPr>
            <p:cNvGrpSpPr/>
            <p:nvPr/>
          </p:nvGrpSpPr>
          <p:grpSpPr>
            <a:xfrm>
              <a:off x="664432" y="4403739"/>
              <a:ext cx="799778" cy="612000"/>
              <a:chOff x="698261" y="1414804"/>
              <a:chExt cx="799778" cy="612000"/>
            </a:xfrm>
          </p:grpSpPr>
          <p:grpSp>
            <p:nvGrpSpPr>
              <p:cNvPr id="5366" name="Graphic 5179" descr="Database with solid fill">
                <a:extLst>
                  <a:ext uri="{FF2B5EF4-FFF2-40B4-BE49-F238E27FC236}">
                    <a16:creationId xmlns:a16="http://schemas.microsoft.com/office/drawing/2014/main" id="{8B41A948-FD2C-2217-CAA2-68217CF461D1}"/>
                  </a:ext>
                </a:extLst>
              </p:cNvPr>
              <p:cNvGrpSpPr>
                <a:grpSpLocks noChangeAspect="1"/>
              </p:cNvGrpSpPr>
              <p:nvPr/>
            </p:nvGrpSpPr>
            <p:grpSpPr>
              <a:xfrm>
                <a:off x="784642" y="1612826"/>
                <a:ext cx="159159" cy="216003"/>
                <a:chOff x="4198684" y="5377000"/>
                <a:chExt cx="533400" cy="723900"/>
              </a:xfrm>
              <a:solidFill>
                <a:schemeClr val="tx2">
                  <a:lumMod val="75000"/>
                </a:schemeClr>
              </a:solidFill>
            </p:grpSpPr>
            <p:sp>
              <p:nvSpPr>
                <p:cNvPr id="5380" name="Oval 5379">
                  <a:extLst>
                    <a:ext uri="{FF2B5EF4-FFF2-40B4-BE49-F238E27FC236}">
                      <a16:creationId xmlns:a16="http://schemas.microsoft.com/office/drawing/2014/main" id="{F1E10D90-412A-EF73-BD97-A814DCE231D7}"/>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81" name="Freeform: Shape 5380">
                  <a:extLst>
                    <a:ext uri="{FF2B5EF4-FFF2-40B4-BE49-F238E27FC236}">
                      <a16:creationId xmlns:a16="http://schemas.microsoft.com/office/drawing/2014/main" id="{722A6814-D291-3554-5907-E3046F1A9D95}"/>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82" name="Freeform: Shape 5381">
                  <a:extLst>
                    <a:ext uri="{FF2B5EF4-FFF2-40B4-BE49-F238E27FC236}">
                      <a16:creationId xmlns:a16="http://schemas.microsoft.com/office/drawing/2014/main" id="{EA01A8D5-2FDB-33C7-46D4-C1AB2E2D2E6D}"/>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83" name="Freeform: Shape 5382">
                  <a:extLst>
                    <a:ext uri="{FF2B5EF4-FFF2-40B4-BE49-F238E27FC236}">
                      <a16:creationId xmlns:a16="http://schemas.microsoft.com/office/drawing/2014/main" id="{E0F8EF65-47E9-1EC3-AD23-169D86DEA04E}"/>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sp>
            <p:nvSpPr>
              <p:cNvPr id="5367" name="Rectangle: Rounded Corners 5366">
                <a:extLst>
                  <a:ext uri="{FF2B5EF4-FFF2-40B4-BE49-F238E27FC236}">
                    <a16:creationId xmlns:a16="http://schemas.microsoft.com/office/drawing/2014/main" id="{A14B1DE6-F8AD-B41F-E62D-1780AAA4F464}"/>
                  </a:ext>
                </a:extLst>
              </p:cNvPr>
              <p:cNvSpPr/>
              <p:nvPr/>
            </p:nvSpPr>
            <p:spPr>
              <a:xfrm>
                <a:off x="706011" y="1414804"/>
                <a:ext cx="792000" cy="612000"/>
              </a:xfrm>
              <a:prstGeom prst="roundRect">
                <a:avLst>
                  <a:gd name="adj" fmla="val 8187"/>
                </a:avLst>
              </a:prstGeom>
              <a:noFill/>
              <a:ln w="9525">
                <a:solidFill>
                  <a:schemeClr val="bg2">
                    <a:lumMod val="1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368" name="TextBox 5367">
                <a:extLst>
                  <a:ext uri="{FF2B5EF4-FFF2-40B4-BE49-F238E27FC236}">
                    <a16:creationId xmlns:a16="http://schemas.microsoft.com/office/drawing/2014/main" id="{82312FE9-1B55-3EFC-2DC3-DF31A9A26CBE}"/>
                  </a:ext>
                </a:extLst>
              </p:cNvPr>
              <p:cNvSpPr txBox="1"/>
              <p:nvPr/>
            </p:nvSpPr>
            <p:spPr>
              <a:xfrm>
                <a:off x="705983" y="1414804"/>
                <a:ext cx="792056"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Other BU &amp; Func.</a:t>
                </a:r>
              </a:p>
            </p:txBody>
          </p:sp>
          <p:sp>
            <p:nvSpPr>
              <p:cNvPr id="5369" name="TextBox 5368">
                <a:extLst>
                  <a:ext uri="{FF2B5EF4-FFF2-40B4-BE49-F238E27FC236}">
                    <a16:creationId xmlns:a16="http://schemas.microsoft.com/office/drawing/2014/main" id="{4DF868ED-B2B7-8D46-E75B-4B7F9725CB5D}"/>
                  </a:ext>
                </a:extLst>
              </p:cNvPr>
              <p:cNvSpPr txBox="1"/>
              <p:nvPr/>
            </p:nvSpPr>
            <p:spPr>
              <a:xfrm>
                <a:off x="698261" y="1815601"/>
                <a:ext cx="792056"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900" noProof="0">
                    <a:solidFill>
                      <a:schemeClr val="bg2">
                        <a:lumMod val="10000"/>
                      </a:schemeClr>
                    </a:solidFill>
                  </a:rPr>
                  <a:t>Data source</a:t>
                </a:r>
              </a:p>
            </p:txBody>
          </p:sp>
          <p:grpSp>
            <p:nvGrpSpPr>
              <p:cNvPr id="5370" name="Graphic 5179" descr="Database with solid fill">
                <a:extLst>
                  <a:ext uri="{FF2B5EF4-FFF2-40B4-BE49-F238E27FC236}">
                    <a16:creationId xmlns:a16="http://schemas.microsoft.com/office/drawing/2014/main" id="{DBD7318B-F86D-1CF3-2715-03213EFA5AD5}"/>
                  </a:ext>
                </a:extLst>
              </p:cNvPr>
              <p:cNvGrpSpPr>
                <a:grpSpLocks noChangeAspect="1"/>
              </p:cNvGrpSpPr>
              <p:nvPr/>
            </p:nvGrpSpPr>
            <p:grpSpPr>
              <a:xfrm>
                <a:off x="1022432" y="1612826"/>
                <a:ext cx="159159" cy="216003"/>
                <a:chOff x="4198684" y="5377000"/>
                <a:chExt cx="533400" cy="723900"/>
              </a:xfrm>
              <a:solidFill>
                <a:schemeClr val="tx2">
                  <a:lumMod val="75000"/>
                </a:schemeClr>
              </a:solidFill>
            </p:grpSpPr>
            <p:sp>
              <p:nvSpPr>
                <p:cNvPr id="5376" name="Oval 5375">
                  <a:extLst>
                    <a:ext uri="{FF2B5EF4-FFF2-40B4-BE49-F238E27FC236}">
                      <a16:creationId xmlns:a16="http://schemas.microsoft.com/office/drawing/2014/main" id="{FF4C3A88-EF25-115D-65B6-1AECAF4AD67A}"/>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77" name="Freeform: Shape 5376">
                  <a:extLst>
                    <a:ext uri="{FF2B5EF4-FFF2-40B4-BE49-F238E27FC236}">
                      <a16:creationId xmlns:a16="http://schemas.microsoft.com/office/drawing/2014/main" id="{8519716E-3BC5-EAC6-37D6-2065AF1A4DF0}"/>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78" name="Freeform: Shape 5377">
                  <a:extLst>
                    <a:ext uri="{FF2B5EF4-FFF2-40B4-BE49-F238E27FC236}">
                      <a16:creationId xmlns:a16="http://schemas.microsoft.com/office/drawing/2014/main" id="{4F114D57-D951-4D74-17F5-B5B958DA3267}"/>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79" name="Freeform: Shape 5378">
                  <a:extLst>
                    <a:ext uri="{FF2B5EF4-FFF2-40B4-BE49-F238E27FC236}">
                      <a16:creationId xmlns:a16="http://schemas.microsoft.com/office/drawing/2014/main" id="{BB275EF1-AA2C-C8BB-C9DB-5803A9D97EFB}"/>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nvGrpSpPr>
              <p:cNvPr id="5371" name="Graphic 5179" descr="Database with solid fill">
                <a:extLst>
                  <a:ext uri="{FF2B5EF4-FFF2-40B4-BE49-F238E27FC236}">
                    <a16:creationId xmlns:a16="http://schemas.microsoft.com/office/drawing/2014/main" id="{9C15EEE5-3EA2-F023-CC8C-0E6C45A631DE}"/>
                  </a:ext>
                </a:extLst>
              </p:cNvPr>
              <p:cNvGrpSpPr>
                <a:grpSpLocks noChangeAspect="1"/>
              </p:cNvGrpSpPr>
              <p:nvPr/>
            </p:nvGrpSpPr>
            <p:grpSpPr>
              <a:xfrm>
                <a:off x="1260222" y="1612826"/>
                <a:ext cx="159159" cy="216003"/>
                <a:chOff x="4198684" y="5377000"/>
                <a:chExt cx="533400" cy="723900"/>
              </a:xfrm>
              <a:solidFill>
                <a:schemeClr val="tx2">
                  <a:lumMod val="75000"/>
                </a:schemeClr>
              </a:solidFill>
            </p:grpSpPr>
            <p:sp>
              <p:nvSpPr>
                <p:cNvPr id="5372" name="Oval 5371">
                  <a:extLst>
                    <a:ext uri="{FF2B5EF4-FFF2-40B4-BE49-F238E27FC236}">
                      <a16:creationId xmlns:a16="http://schemas.microsoft.com/office/drawing/2014/main" id="{DE22C6B4-99BB-8E2A-6640-0CE5C6F1C66C}"/>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5373" name="Freeform: Shape 5372">
                  <a:extLst>
                    <a:ext uri="{FF2B5EF4-FFF2-40B4-BE49-F238E27FC236}">
                      <a16:creationId xmlns:a16="http://schemas.microsoft.com/office/drawing/2014/main" id="{7202177A-CB42-7226-1A9D-BA7039961A74}"/>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74" name="Freeform: Shape 5373">
                  <a:extLst>
                    <a:ext uri="{FF2B5EF4-FFF2-40B4-BE49-F238E27FC236}">
                      <a16:creationId xmlns:a16="http://schemas.microsoft.com/office/drawing/2014/main" id="{A4AF8B3B-BF56-9C7F-0CB6-74FFF3793B68}"/>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5375" name="Freeform: Shape 5374">
                  <a:extLst>
                    <a:ext uri="{FF2B5EF4-FFF2-40B4-BE49-F238E27FC236}">
                      <a16:creationId xmlns:a16="http://schemas.microsoft.com/office/drawing/2014/main" id="{4E6445C2-0B7D-08F5-4D30-C79E29C23111}"/>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grpSp>
      </p:grpSp>
      <p:sp>
        <p:nvSpPr>
          <p:cNvPr id="3" name="Slide Number Placeholder 2">
            <a:extLst>
              <a:ext uri="{FF2B5EF4-FFF2-40B4-BE49-F238E27FC236}">
                <a16:creationId xmlns:a16="http://schemas.microsoft.com/office/drawing/2014/main" id="{9D6B17F4-846B-931A-8DBE-9919F3146E9F}"/>
              </a:ext>
            </a:extLst>
          </p:cNvPr>
          <p:cNvSpPr>
            <a:spLocks noGrp="1"/>
          </p:cNvSpPr>
          <p:nvPr>
            <p:ph type="sldNum" sz="quarter" idx="12"/>
          </p:nvPr>
        </p:nvSpPr>
        <p:spPr>
          <a:xfrm>
            <a:off x="87852" y="6286624"/>
            <a:ext cx="201619" cy="365125"/>
          </a:xfrm>
        </p:spPr>
        <p:txBody>
          <a:bodyPr/>
          <a:lstStyle/>
          <a:p>
            <a:fld id="{3CBD822F-ED39-4FC2-B5B5-D2EAB6238DC3}" type="slidenum">
              <a:rPr lang="en-CA" noProof="0" smtClean="0">
                <a:latin typeface="+mn-lt"/>
              </a:rPr>
              <a:pPr/>
              <a:t>11</a:t>
            </a:fld>
            <a:endParaRPr lang="en-CA" noProof="0">
              <a:latin typeface="+mn-lt"/>
            </a:endParaRPr>
          </a:p>
        </p:txBody>
      </p:sp>
      <p:sp>
        <p:nvSpPr>
          <p:cNvPr id="13" name="Oval 12">
            <a:extLst>
              <a:ext uri="{FF2B5EF4-FFF2-40B4-BE49-F238E27FC236}">
                <a16:creationId xmlns:a16="http://schemas.microsoft.com/office/drawing/2014/main" id="{A70B2F03-5F0B-369C-9F8D-30174D0800FB}"/>
              </a:ext>
            </a:extLst>
          </p:cNvPr>
          <p:cNvSpPr/>
          <p:nvPr/>
        </p:nvSpPr>
        <p:spPr>
          <a:xfrm>
            <a:off x="5768085" y="4748050"/>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1</a:t>
            </a:r>
          </a:p>
        </p:txBody>
      </p:sp>
      <p:sp>
        <p:nvSpPr>
          <p:cNvPr id="14" name="Oval 13">
            <a:extLst>
              <a:ext uri="{FF2B5EF4-FFF2-40B4-BE49-F238E27FC236}">
                <a16:creationId xmlns:a16="http://schemas.microsoft.com/office/drawing/2014/main" id="{85EE960F-54AD-BF7E-2CF8-F4183AD3F203}"/>
              </a:ext>
            </a:extLst>
          </p:cNvPr>
          <p:cNvSpPr/>
          <p:nvPr/>
        </p:nvSpPr>
        <p:spPr>
          <a:xfrm>
            <a:off x="5759002" y="5071713"/>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2</a:t>
            </a:r>
          </a:p>
        </p:txBody>
      </p:sp>
      <p:sp>
        <p:nvSpPr>
          <p:cNvPr id="15" name="Oval 14">
            <a:extLst>
              <a:ext uri="{FF2B5EF4-FFF2-40B4-BE49-F238E27FC236}">
                <a16:creationId xmlns:a16="http://schemas.microsoft.com/office/drawing/2014/main" id="{2FE90C8A-EEAF-490A-5B2C-924EEA5AEB41}"/>
              </a:ext>
            </a:extLst>
          </p:cNvPr>
          <p:cNvSpPr/>
          <p:nvPr/>
        </p:nvSpPr>
        <p:spPr>
          <a:xfrm>
            <a:off x="5768085" y="5375576"/>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3</a:t>
            </a:r>
          </a:p>
        </p:txBody>
      </p:sp>
      <p:sp>
        <p:nvSpPr>
          <p:cNvPr id="18" name="Oval 17">
            <a:extLst>
              <a:ext uri="{FF2B5EF4-FFF2-40B4-BE49-F238E27FC236}">
                <a16:creationId xmlns:a16="http://schemas.microsoft.com/office/drawing/2014/main" id="{CE131C40-62C2-B272-4076-40E33E89AE81}"/>
              </a:ext>
            </a:extLst>
          </p:cNvPr>
          <p:cNvSpPr/>
          <p:nvPr/>
        </p:nvSpPr>
        <p:spPr>
          <a:xfrm>
            <a:off x="3879334" y="1985319"/>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1</a:t>
            </a:r>
          </a:p>
        </p:txBody>
      </p:sp>
      <p:sp>
        <p:nvSpPr>
          <p:cNvPr id="19" name="Oval 18">
            <a:extLst>
              <a:ext uri="{FF2B5EF4-FFF2-40B4-BE49-F238E27FC236}">
                <a16:creationId xmlns:a16="http://schemas.microsoft.com/office/drawing/2014/main" id="{87C7A7FD-F961-78A2-DCC1-9ED0135025FA}"/>
              </a:ext>
            </a:extLst>
          </p:cNvPr>
          <p:cNvSpPr/>
          <p:nvPr/>
        </p:nvSpPr>
        <p:spPr>
          <a:xfrm>
            <a:off x="4735583" y="2493080"/>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2</a:t>
            </a:r>
          </a:p>
        </p:txBody>
      </p:sp>
      <p:sp>
        <p:nvSpPr>
          <p:cNvPr id="27" name="Oval 26">
            <a:extLst>
              <a:ext uri="{FF2B5EF4-FFF2-40B4-BE49-F238E27FC236}">
                <a16:creationId xmlns:a16="http://schemas.microsoft.com/office/drawing/2014/main" id="{10659F4F-0CCD-EB1A-6AB8-C71AA0D80A0C}"/>
              </a:ext>
            </a:extLst>
          </p:cNvPr>
          <p:cNvSpPr/>
          <p:nvPr/>
        </p:nvSpPr>
        <p:spPr>
          <a:xfrm>
            <a:off x="5862788" y="2495071"/>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3</a:t>
            </a:r>
          </a:p>
        </p:txBody>
      </p:sp>
      <p:sp>
        <p:nvSpPr>
          <p:cNvPr id="20" name="TextBox 19">
            <a:extLst>
              <a:ext uri="{FF2B5EF4-FFF2-40B4-BE49-F238E27FC236}">
                <a16:creationId xmlns:a16="http://schemas.microsoft.com/office/drawing/2014/main" id="{27F0EA8B-1EFF-ADD9-7D08-EDB4DE6AA1A7}"/>
              </a:ext>
            </a:extLst>
          </p:cNvPr>
          <p:cNvSpPr txBox="1"/>
          <p:nvPr/>
        </p:nvSpPr>
        <p:spPr>
          <a:xfrm>
            <a:off x="4863371" y="2469366"/>
            <a:ext cx="795224"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noProof="0">
                <a:solidFill>
                  <a:schemeClr val="bg2">
                    <a:lumMod val="10000"/>
                  </a:schemeClr>
                </a:solidFill>
              </a:rPr>
              <a:t>Enterprise Unique Identifier</a:t>
            </a:r>
          </a:p>
        </p:txBody>
      </p:sp>
      <p:grpSp>
        <p:nvGrpSpPr>
          <p:cNvPr id="22" name="Group 21">
            <a:extLst>
              <a:ext uri="{FF2B5EF4-FFF2-40B4-BE49-F238E27FC236}">
                <a16:creationId xmlns:a16="http://schemas.microsoft.com/office/drawing/2014/main" id="{5120A340-A572-FDB7-B9D7-917789DF3476}"/>
              </a:ext>
            </a:extLst>
          </p:cNvPr>
          <p:cNvGrpSpPr/>
          <p:nvPr/>
        </p:nvGrpSpPr>
        <p:grpSpPr>
          <a:xfrm>
            <a:off x="338259" y="6371935"/>
            <a:ext cx="4521397" cy="345949"/>
            <a:chOff x="338259" y="6408759"/>
            <a:chExt cx="4521397" cy="345949"/>
          </a:xfrm>
        </p:grpSpPr>
        <p:sp>
          <p:nvSpPr>
            <p:cNvPr id="5163" name="Rectangle: Rounded Corners 5162">
              <a:extLst>
                <a:ext uri="{FF2B5EF4-FFF2-40B4-BE49-F238E27FC236}">
                  <a16:creationId xmlns:a16="http://schemas.microsoft.com/office/drawing/2014/main" id="{24946996-F649-7D4E-50DA-A47F5B1E8D3F}"/>
                </a:ext>
              </a:extLst>
            </p:cNvPr>
            <p:cNvSpPr/>
            <p:nvPr/>
          </p:nvSpPr>
          <p:spPr>
            <a:xfrm>
              <a:off x="338259" y="6408759"/>
              <a:ext cx="4521397" cy="345949"/>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165" name="TextBox 5164">
              <a:extLst>
                <a:ext uri="{FF2B5EF4-FFF2-40B4-BE49-F238E27FC236}">
                  <a16:creationId xmlns:a16="http://schemas.microsoft.com/office/drawing/2014/main" id="{2E5E3A74-5E52-B26E-FDA9-A53C1E246D2F}"/>
                </a:ext>
              </a:extLst>
            </p:cNvPr>
            <p:cNvSpPr txBox="1"/>
            <p:nvPr/>
          </p:nvSpPr>
          <p:spPr>
            <a:xfrm>
              <a:off x="431739" y="6464590"/>
              <a:ext cx="468000"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000" noProof="0">
                  <a:solidFill>
                    <a:schemeClr val="bg2">
                      <a:lumMod val="10000"/>
                    </a:schemeClr>
                  </a:solidFill>
                </a:rPr>
                <a:t>Legend</a:t>
              </a:r>
            </a:p>
          </p:txBody>
        </p:sp>
        <p:cxnSp>
          <p:nvCxnSpPr>
            <p:cNvPr id="5166" name="Straight Connector 5165">
              <a:extLst>
                <a:ext uri="{FF2B5EF4-FFF2-40B4-BE49-F238E27FC236}">
                  <a16:creationId xmlns:a16="http://schemas.microsoft.com/office/drawing/2014/main" id="{113492DD-2D0F-EEFC-5CE2-CD107BD9BDF5}"/>
                </a:ext>
              </a:extLst>
            </p:cNvPr>
            <p:cNvCxnSpPr>
              <a:cxnSpLocks/>
            </p:cNvCxnSpPr>
            <p:nvPr/>
          </p:nvCxnSpPr>
          <p:spPr>
            <a:xfrm>
              <a:off x="951736" y="6473733"/>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67" name="Straight Arrow Connector 5166">
              <a:extLst>
                <a:ext uri="{FF2B5EF4-FFF2-40B4-BE49-F238E27FC236}">
                  <a16:creationId xmlns:a16="http://schemas.microsoft.com/office/drawing/2014/main" id="{6AA66581-0AEB-8B91-76F9-D6979457E52F}"/>
                </a:ext>
              </a:extLst>
            </p:cNvPr>
            <p:cNvCxnSpPr>
              <a:cxnSpLocks/>
            </p:cNvCxnSpPr>
            <p:nvPr/>
          </p:nvCxnSpPr>
          <p:spPr>
            <a:xfrm>
              <a:off x="1003734" y="6581733"/>
              <a:ext cx="324000"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5168" name="TextBox 5167">
              <a:extLst>
                <a:ext uri="{FF2B5EF4-FFF2-40B4-BE49-F238E27FC236}">
                  <a16:creationId xmlns:a16="http://schemas.microsoft.com/office/drawing/2014/main" id="{A80B53F1-0996-AA24-FED5-2B80DAF37D65}"/>
                </a:ext>
              </a:extLst>
            </p:cNvPr>
            <p:cNvSpPr txBox="1"/>
            <p:nvPr/>
          </p:nvSpPr>
          <p:spPr>
            <a:xfrm>
              <a:off x="1327733" y="6468438"/>
              <a:ext cx="1238956"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Enterprise ID flow</a:t>
              </a:r>
            </a:p>
          </p:txBody>
        </p:sp>
        <p:cxnSp>
          <p:nvCxnSpPr>
            <p:cNvPr id="23" name="Straight Arrow Connector 22">
              <a:extLst>
                <a:ext uri="{FF2B5EF4-FFF2-40B4-BE49-F238E27FC236}">
                  <a16:creationId xmlns:a16="http://schemas.microsoft.com/office/drawing/2014/main" id="{BECD3CE4-BB33-036C-603B-333F55E8D440}"/>
                </a:ext>
              </a:extLst>
            </p:cNvPr>
            <p:cNvCxnSpPr>
              <a:cxnSpLocks/>
            </p:cNvCxnSpPr>
            <p:nvPr/>
          </p:nvCxnSpPr>
          <p:spPr>
            <a:xfrm>
              <a:off x="2570239" y="6581733"/>
              <a:ext cx="324000" cy="0"/>
            </a:xfrm>
            <a:prstGeom prst="straightConnector1">
              <a:avLst/>
            </a:prstGeom>
            <a:ln w="19050">
              <a:solidFill>
                <a:srgbClr val="A1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142A1DD-937A-5D1A-DC49-381C9DE9F217}"/>
                </a:ext>
              </a:extLst>
            </p:cNvPr>
            <p:cNvSpPr txBox="1"/>
            <p:nvPr/>
          </p:nvSpPr>
          <p:spPr>
            <a:xfrm>
              <a:off x="2869277" y="6468438"/>
              <a:ext cx="1990379"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Business/Functional data flow</a:t>
              </a:r>
            </a:p>
          </p:txBody>
        </p:sp>
      </p:grpSp>
      <p:grpSp>
        <p:nvGrpSpPr>
          <p:cNvPr id="41" name="Graphic 5179" descr="Database with solid fill">
            <a:extLst>
              <a:ext uri="{FF2B5EF4-FFF2-40B4-BE49-F238E27FC236}">
                <a16:creationId xmlns:a16="http://schemas.microsoft.com/office/drawing/2014/main" id="{276381F6-0E8B-ED9E-CE7C-E235068E0D64}"/>
              </a:ext>
            </a:extLst>
          </p:cNvPr>
          <p:cNvGrpSpPr>
            <a:grpSpLocks noChangeAspect="1"/>
          </p:cNvGrpSpPr>
          <p:nvPr/>
        </p:nvGrpSpPr>
        <p:grpSpPr>
          <a:xfrm>
            <a:off x="4373382" y="2484592"/>
            <a:ext cx="268591" cy="364526"/>
            <a:chOff x="4198684" y="5377000"/>
            <a:chExt cx="533400" cy="723900"/>
          </a:xfrm>
          <a:solidFill>
            <a:schemeClr val="tx2">
              <a:lumMod val="75000"/>
            </a:schemeClr>
          </a:solidFill>
        </p:grpSpPr>
        <p:sp>
          <p:nvSpPr>
            <p:cNvPr id="42" name="Oval 41">
              <a:extLst>
                <a:ext uri="{FF2B5EF4-FFF2-40B4-BE49-F238E27FC236}">
                  <a16:creationId xmlns:a16="http://schemas.microsoft.com/office/drawing/2014/main" id="{BC4F6229-4985-AD7E-B30B-291F97C1D4BE}"/>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43" name="Freeform: Shape 42">
              <a:extLst>
                <a:ext uri="{FF2B5EF4-FFF2-40B4-BE49-F238E27FC236}">
                  <a16:creationId xmlns:a16="http://schemas.microsoft.com/office/drawing/2014/main" id="{3D5C5D1B-CA56-EE33-DDB0-79AB0EFD815D}"/>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44" name="Freeform: Shape 43">
              <a:extLst>
                <a:ext uri="{FF2B5EF4-FFF2-40B4-BE49-F238E27FC236}">
                  <a16:creationId xmlns:a16="http://schemas.microsoft.com/office/drawing/2014/main" id="{E8525DFA-9E42-0345-EA40-F4D7E600C7BB}"/>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45" name="Freeform: Shape 44">
              <a:extLst>
                <a:ext uri="{FF2B5EF4-FFF2-40B4-BE49-F238E27FC236}">
                  <a16:creationId xmlns:a16="http://schemas.microsoft.com/office/drawing/2014/main" id="{82262F45-2E0A-117B-3D27-2FAE08315646}"/>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cxnSp>
        <p:nvCxnSpPr>
          <p:cNvPr id="32" name="Straight Arrow Connector 31">
            <a:extLst>
              <a:ext uri="{FF2B5EF4-FFF2-40B4-BE49-F238E27FC236}">
                <a16:creationId xmlns:a16="http://schemas.microsoft.com/office/drawing/2014/main" id="{C6B4861E-D984-0EAE-41CA-386C9A9E333E}"/>
              </a:ext>
            </a:extLst>
          </p:cNvPr>
          <p:cNvCxnSpPr>
            <a:cxnSpLocks/>
            <a:stCxn id="207" idx="0"/>
            <a:endCxn id="195" idx="2"/>
          </p:cNvCxnSpPr>
          <p:nvPr/>
        </p:nvCxnSpPr>
        <p:spPr>
          <a:xfrm flipV="1">
            <a:off x="4843583" y="1034104"/>
            <a:ext cx="0" cy="518806"/>
          </a:xfrm>
          <a:prstGeom prst="straightConnector1">
            <a:avLst/>
          </a:prstGeom>
          <a:ln w="2540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EFF274A-9AE5-5849-2392-0123259C4CDE}"/>
              </a:ext>
            </a:extLst>
          </p:cNvPr>
          <p:cNvSpPr/>
          <p:nvPr/>
        </p:nvSpPr>
        <p:spPr>
          <a:xfrm>
            <a:off x="4871210" y="1204834"/>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a:solidFill>
                  <a:schemeClr val="tx2">
                    <a:lumMod val="75000"/>
                  </a:schemeClr>
                </a:solidFill>
              </a:rPr>
              <a:t>4</a:t>
            </a:r>
            <a:endParaRPr lang="en-CA" sz="800" noProof="0">
              <a:solidFill>
                <a:schemeClr val="tx2">
                  <a:lumMod val="75000"/>
                </a:schemeClr>
              </a:solidFill>
            </a:endParaRPr>
          </a:p>
        </p:txBody>
      </p:sp>
      <p:sp>
        <p:nvSpPr>
          <p:cNvPr id="11" name="Oval 10">
            <a:extLst>
              <a:ext uri="{FF2B5EF4-FFF2-40B4-BE49-F238E27FC236}">
                <a16:creationId xmlns:a16="http://schemas.microsoft.com/office/drawing/2014/main" id="{2C71C589-2C0A-2091-9D24-F385A3187D92}"/>
              </a:ext>
            </a:extLst>
          </p:cNvPr>
          <p:cNvSpPr/>
          <p:nvPr/>
        </p:nvSpPr>
        <p:spPr>
          <a:xfrm>
            <a:off x="5768085" y="5626338"/>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a:solidFill>
                  <a:schemeClr val="tx2">
                    <a:lumMod val="75000"/>
                  </a:schemeClr>
                </a:solidFill>
              </a:rPr>
              <a:t>4</a:t>
            </a:r>
            <a:endParaRPr lang="en-CA" sz="800" noProof="0">
              <a:solidFill>
                <a:schemeClr val="tx2">
                  <a:lumMod val="75000"/>
                </a:schemeClr>
              </a:solidFill>
            </a:endParaRPr>
          </a:p>
        </p:txBody>
      </p:sp>
      <p:sp>
        <p:nvSpPr>
          <p:cNvPr id="33" name="TextBox 32">
            <a:extLst>
              <a:ext uri="{FF2B5EF4-FFF2-40B4-BE49-F238E27FC236}">
                <a16:creationId xmlns:a16="http://schemas.microsoft.com/office/drawing/2014/main" id="{5CEAFAE6-65A6-8915-18DB-D32F234D22B5}"/>
              </a:ext>
            </a:extLst>
          </p:cNvPr>
          <p:cNvSpPr txBox="1"/>
          <p:nvPr/>
        </p:nvSpPr>
        <p:spPr>
          <a:xfrm>
            <a:off x="4111887" y="2831339"/>
            <a:ext cx="795224"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noProof="0">
                <a:solidFill>
                  <a:schemeClr val="bg2">
                    <a:lumMod val="10000"/>
                  </a:schemeClr>
                </a:solidFill>
              </a:rPr>
              <a:t>MDM Repository</a:t>
            </a:r>
          </a:p>
        </p:txBody>
      </p:sp>
      <p:sp>
        <p:nvSpPr>
          <p:cNvPr id="55" name="Rectangle 54">
            <a:extLst>
              <a:ext uri="{FF2B5EF4-FFF2-40B4-BE49-F238E27FC236}">
                <a16:creationId xmlns:a16="http://schemas.microsoft.com/office/drawing/2014/main" id="{DF48EC58-8685-A632-4AAC-BBE212D498CD}"/>
              </a:ext>
            </a:extLst>
          </p:cNvPr>
          <p:cNvSpPr/>
          <p:nvPr/>
        </p:nvSpPr>
        <p:spPr>
          <a:xfrm>
            <a:off x="5672632" y="1003750"/>
            <a:ext cx="5919592" cy="3512518"/>
          </a:xfrm>
          <a:prstGeom prst="rect">
            <a:avLst/>
          </a:prstGeom>
          <a:noFill/>
          <a:ln w="9525">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6" name="TextBox 55">
            <a:extLst>
              <a:ext uri="{FF2B5EF4-FFF2-40B4-BE49-F238E27FC236}">
                <a16:creationId xmlns:a16="http://schemas.microsoft.com/office/drawing/2014/main" id="{658C4275-D3AD-004A-8F2D-C7AC3AF7533B}"/>
              </a:ext>
            </a:extLst>
          </p:cNvPr>
          <p:cNvSpPr txBox="1"/>
          <p:nvPr/>
        </p:nvSpPr>
        <p:spPr>
          <a:xfrm>
            <a:off x="7656823" y="2095157"/>
            <a:ext cx="1944000" cy="230832"/>
          </a:xfrm>
          <a:prstGeom prst="rect">
            <a:avLst/>
          </a:prstGeom>
          <a:noFill/>
          <a:ln>
            <a:noFill/>
          </a:ln>
        </p:spPr>
        <p:txBody>
          <a:bodyPr wrap="square" lIns="72000" rIns="72000"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tx2"/>
                </a:solidFill>
                <a:effectLst/>
                <a:uLnTx/>
                <a:uFillTx/>
                <a:latin typeface="+mn-lt"/>
              </a:rPr>
              <a:t>Canada Life Functional Areas </a:t>
            </a:r>
          </a:p>
        </p:txBody>
      </p:sp>
      <p:sp>
        <p:nvSpPr>
          <p:cNvPr id="57" name="Flowchart: Preparation 56">
            <a:extLst>
              <a:ext uri="{FF2B5EF4-FFF2-40B4-BE49-F238E27FC236}">
                <a16:creationId xmlns:a16="http://schemas.microsoft.com/office/drawing/2014/main" id="{B6FC7E07-95D7-5D29-8C15-90299365600F}"/>
              </a:ext>
            </a:extLst>
          </p:cNvPr>
          <p:cNvSpPr>
            <a:spLocks/>
          </p:cNvSpPr>
          <p:nvPr/>
        </p:nvSpPr>
        <p:spPr>
          <a:xfrm>
            <a:off x="6861107" y="2372461"/>
            <a:ext cx="90000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Corp Strategy</a:t>
            </a:r>
          </a:p>
        </p:txBody>
      </p:sp>
      <p:sp>
        <p:nvSpPr>
          <p:cNvPr id="58" name="Flowchart: Preparation 57">
            <a:extLst>
              <a:ext uri="{FF2B5EF4-FFF2-40B4-BE49-F238E27FC236}">
                <a16:creationId xmlns:a16="http://schemas.microsoft.com/office/drawing/2014/main" id="{B847C5D1-CFA4-2443-682F-59299DBA0F54}"/>
              </a:ext>
            </a:extLst>
          </p:cNvPr>
          <p:cNvSpPr>
            <a:spLocks/>
          </p:cNvSpPr>
          <p:nvPr/>
        </p:nvSpPr>
        <p:spPr>
          <a:xfrm>
            <a:off x="7808268" y="2364847"/>
            <a:ext cx="90000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Canada Ops</a:t>
            </a:r>
          </a:p>
        </p:txBody>
      </p:sp>
      <p:sp>
        <p:nvSpPr>
          <p:cNvPr id="60" name="Flowchart: Preparation 59">
            <a:extLst>
              <a:ext uri="{FF2B5EF4-FFF2-40B4-BE49-F238E27FC236}">
                <a16:creationId xmlns:a16="http://schemas.microsoft.com/office/drawing/2014/main" id="{2D5B6CCA-AD08-8B56-D299-4B2CE1D1D87B}"/>
              </a:ext>
            </a:extLst>
          </p:cNvPr>
          <p:cNvSpPr>
            <a:spLocks/>
          </p:cNvSpPr>
          <p:nvPr/>
        </p:nvSpPr>
        <p:spPr>
          <a:xfrm>
            <a:off x="7576872" y="3081214"/>
            <a:ext cx="834015" cy="574512"/>
          </a:xfrm>
          <a:prstGeom prst="flowChartPreparation">
            <a:avLst/>
          </a:prstGeom>
          <a:solidFill>
            <a:schemeClr val="accent1"/>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1"/>
                </a:solidFill>
              </a:rPr>
              <a:t>Enterprise Node (360 views)</a:t>
            </a:r>
          </a:p>
        </p:txBody>
      </p:sp>
      <p:sp>
        <p:nvSpPr>
          <p:cNvPr id="61" name="Flowchart: Preparation 60">
            <a:extLst>
              <a:ext uri="{FF2B5EF4-FFF2-40B4-BE49-F238E27FC236}">
                <a16:creationId xmlns:a16="http://schemas.microsoft.com/office/drawing/2014/main" id="{27C77114-6CAA-852E-0110-FBCE6AE979E9}"/>
              </a:ext>
            </a:extLst>
          </p:cNvPr>
          <p:cNvSpPr>
            <a:spLocks/>
          </p:cNvSpPr>
          <p:nvPr/>
        </p:nvSpPr>
        <p:spPr>
          <a:xfrm>
            <a:off x="6677180" y="1567531"/>
            <a:ext cx="822310"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Wealth</a:t>
            </a:r>
          </a:p>
        </p:txBody>
      </p:sp>
      <p:sp>
        <p:nvSpPr>
          <p:cNvPr id="62" name="Flowchart: Preparation 61">
            <a:extLst>
              <a:ext uri="{FF2B5EF4-FFF2-40B4-BE49-F238E27FC236}">
                <a16:creationId xmlns:a16="http://schemas.microsoft.com/office/drawing/2014/main" id="{EDA41DBF-36DE-7419-4A68-D221A6B2EE94}"/>
              </a:ext>
            </a:extLst>
          </p:cNvPr>
          <p:cNvSpPr>
            <a:spLocks/>
          </p:cNvSpPr>
          <p:nvPr/>
        </p:nvSpPr>
        <p:spPr>
          <a:xfrm>
            <a:off x="7839522" y="1543936"/>
            <a:ext cx="900000"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a:solidFill>
                  <a:schemeClr val="bg2">
                    <a:lumMod val="10000"/>
                  </a:schemeClr>
                </a:solidFill>
              </a:rPr>
              <a:t>BU (N)</a:t>
            </a:r>
            <a:endParaRPr lang="en-CA" sz="800" noProof="0">
              <a:solidFill>
                <a:schemeClr val="bg2">
                  <a:lumMod val="10000"/>
                </a:schemeClr>
              </a:solidFill>
            </a:endParaRPr>
          </a:p>
        </p:txBody>
      </p:sp>
      <p:sp>
        <p:nvSpPr>
          <p:cNvPr id="63" name="Flowchart: Preparation 62">
            <a:extLst>
              <a:ext uri="{FF2B5EF4-FFF2-40B4-BE49-F238E27FC236}">
                <a16:creationId xmlns:a16="http://schemas.microsoft.com/office/drawing/2014/main" id="{45EB5DD4-F249-7A64-838B-E2146279442B}"/>
              </a:ext>
            </a:extLst>
          </p:cNvPr>
          <p:cNvSpPr>
            <a:spLocks/>
          </p:cNvSpPr>
          <p:nvPr/>
        </p:nvSpPr>
        <p:spPr>
          <a:xfrm>
            <a:off x="5745138" y="1574234"/>
            <a:ext cx="828669"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CA" sz="800" noProof="0">
                <a:solidFill>
                  <a:schemeClr val="bg2">
                    <a:lumMod val="10000"/>
                  </a:schemeClr>
                </a:solidFill>
              </a:rPr>
              <a:t>WBR</a:t>
            </a:r>
          </a:p>
        </p:txBody>
      </p:sp>
      <p:sp>
        <p:nvSpPr>
          <p:cNvPr id="5384" name="TextBox 5383">
            <a:extLst>
              <a:ext uri="{FF2B5EF4-FFF2-40B4-BE49-F238E27FC236}">
                <a16:creationId xmlns:a16="http://schemas.microsoft.com/office/drawing/2014/main" id="{EE4C9DC2-4A1F-E7E7-A38E-972CB7485CC1}"/>
              </a:ext>
            </a:extLst>
          </p:cNvPr>
          <p:cNvSpPr txBox="1"/>
          <p:nvPr/>
        </p:nvSpPr>
        <p:spPr>
          <a:xfrm>
            <a:off x="6168049" y="1228792"/>
            <a:ext cx="1187255" cy="230832"/>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tx2"/>
                </a:solidFill>
                <a:effectLst/>
                <a:uLnTx/>
                <a:uFillTx/>
                <a:latin typeface="+mn-lt"/>
              </a:rPr>
              <a:t>Business Units</a:t>
            </a:r>
          </a:p>
        </p:txBody>
      </p:sp>
      <p:sp>
        <p:nvSpPr>
          <p:cNvPr id="5385" name="TextBox 5384">
            <a:extLst>
              <a:ext uri="{FF2B5EF4-FFF2-40B4-BE49-F238E27FC236}">
                <a16:creationId xmlns:a16="http://schemas.microsoft.com/office/drawing/2014/main" id="{A3CE2AA5-8DF1-6AE0-6C3A-0FC23708213E}"/>
              </a:ext>
            </a:extLst>
          </p:cNvPr>
          <p:cNvSpPr txBox="1"/>
          <p:nvPr/>
        </p:nvSpPr>
        <p:spPr>
          <a:xfrm>
            <a:off x="9068331" y="1250080"/>
            <a:ext cx="1656000" cy="353943"/>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tx2"/>
                </a:solidFill>
                <a:effectLst/>
                <a:uLnTx/>
                <a:uFillTx/>
                <a:latin typeface="+mn-lt"/>
              </a:rPr>
              <a:t>Specialized Nodes </a:t>
            </a:r>
          </a:p>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800" i="0" u="none" strike="noStrike" kern="0" cap="none" spc="0" normalizeH="0" baseline="0" noProof="0">
                <a:ln>
                  <a:noFill/>
                </a:ln>
                <a:solidFill>
                  <a:schemeClr val="tx2"/>
                </a:solidFill>
                <a:effectLst/>
                <a:uLnTx/>
                <a:uFillTx/>
                <a:latin typeface="+mn-lt"/>
              </a:rPr>
              <a:t>(Segregated data)</a:t>
            </a:r>
          </a:p>
        </p:txBody>
      </p:sp>
      <p:cxnSp>
        <p:nvCxnSpPr>
          <p:cNvPr id="5386" name="Straight Connector 5385">
            <a:extLst>
              <a:ext uri="{FF2B5EF4-FFF2-40B4-BE49-F238E27FC236}">
                <a16:creationId xmlns:a16="http://schemas.microsoft.com/office/drawing/2014/main" id="{C938596E-EFA4-E17C-D8EF-BEEAC74BC8AE}"/>
              </a:ext>
            </a:extLst>
          </p:cNvPr>
          <p:cNvCxnSpPr>
            <a:cxnSpLocks/>
          </p:cNvCxnSpPr>
          <p:nvPr/>
        </p:nvCxnSpPr>
        <p:spPr>
          <a:xfrm flipH="1">
            <a:off x="5662177" y="2155249"/>
            <a:ext cx="5893860" cy="13232"/>
          </a:xfrm>
          <a:prstGeom prst="line">
            <a:avLst/>
          </a:prstGeom>
          <a:ln w="12700">
            <a:solidFill>
              <a:schemeClr val="accent1"/>
            </a:solidFill>
            <a:prstDash val="sysDash"/>
          </a:ln>
        </p:spPr>
        <p:style>
          <a:lnRef idx="1">
            <a:schemeClr val="accent2"/>
          </a:lnRef>
          <a:fillRef idx="0">
            <a:schemeClr val="accent2"/>
          </a:fillRef>
          <a:effectRef idx="0">
            <a:schemeClr val="accent2"/>
          </a:effectRef>
          <a:fontRef idx="minor">
            <a:schemeClr val="tx1"/>
          </a:fontRef>
        </p:style>
      </p:cxnSp>
      <p:sp>
        <p:nvSpPr>
          <p:cNvPr id="5387" name="TextBox 5386">
            <a:extLst>
              <a:ext uri="{FF2B5EF4-FFF2-40B4-BE49-F238E27FC236}">
                <a16:creationId xmlns:a16="http://schemas.microsoft.com/office/drawing/2014/main" id="{76AE730C-60FA-2A1B-C7FA-CEFECD9477AB}"/>
              </a:ext>
            </a:extLst>
          </p:cNvPr>
          <p:cNvSpPr txBox="1"/>
          <p:nvPr/>
        </p:nvSpPr>
        <p:spPr>
          <a:xfrm>
            <a:off x="7466103" y="1046527"/>
            <a:ext cx="2301864"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ctr" anchorCtr="0">
            <a:spAutoFit/>
          </a:bodyPr>
          <a:lstStyle/>
          <a:p>
            <a:pPr algn="ctr"/>
            <a:r>
              <a:rPr lang="en-CA" sz="1100" b="1" noProof="0">
                <a:solidFill>
                  <a:schemeClr val="bg2">
                    <a:lumMod val="10000"/>
                  </a:schemeClr>
                </a:solidFill>
              </a:rPr>
              <a:t>Canada Life Data Nodes</a:t>
            </a:r>
            <a:endParaRPr lang="en-CA" sz="1100" noProof="0">
              <a:solidFill>
                <a:schemeClr val="bg2">
                  <a:lumMod val="10000"/>
                </a:schemeClr>
              </a:solidFill>
            </a:endParaRPr>
          </a:p>
        </p:txBody>
      </p:sp>
      <p:cxnSp>
        <p:nvCxnSpPr>
          <p:cNvPr id="5393" name="Straight Connector 5392">
            <a:extLst>
              <a:ext uri="{FF2B5EF4-FFF2-40B4-BE49-F238E27FC236}">
                <a16:creationId xmlns:a16="http://schemas.microsoft.com/office/drawing/2014/main" id="{2278F1DA-1D36-4F49-CF79-5467CECDD2EF}"/>
              </a:ext>
            </a:extLst>
          </p:cNvPr>
          <p:cNvCxnSpPr>
            <a:cxnSpLocks/>
          </p:cNvCxnSpPr>
          <p:nvPr/>
        </p:nvCxnSpPr>
        <p:spPr>
          <a:xfrm>
            <a:off x="5687654" y="1261911"/>
            <a:ext cx="5912330" cy="0"/>
          </a:xfrm>
          <a:prstGeom prst="line">
            <a:avLst/>
          </a:prstGeom>
          <a:ln w="9525">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394" name="TextBox 5393">
            <a:extLst>
              <a:ext uri="{FF2B5EF4-FFF2-40B4-BE49-F238E27FC236}">
                <a16:creationId xmlns:a16="http://schemas.microsoft.com/office/drawing/2014/main" id="{7407E91A-1897-6C05-2CBC-B2BED35170D6}"/>
              </a:ext>
            </a:extLst>
          </p:cNvPr>
          <p:cNvSpPr txBox="1"/>
          <p:nvPr/>
        </p:nvSpPr>
        <p:spPr>
          <a:xfrm>
            <a:off x="6957578" y="3678251"/>
            <a:ext cx="3497407"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ctr" anchorCtr="0">
            <a:spAutoFit/>
          </a:bodyPr>
          <a:lstStyle/>
          <a:p>
            <a:pPr algn="ctr"/>
            <a:r>
              <a:rPr lang="en-CA" sz="1100" b="1" noProof="0">
                <a:solidFill>
                  <a:schemeClr val="bg2">
                    <a:lumMod val="10000"/>
                  </a:schemeClr>
                </a:solidFill>
              </a:rPr>
              <a:t>Global </a:t>
            </a:r>
            <a:r>
              <a:rPr lang="en-CA" sz="1100" b="1" noProof="0" err="1">
                <a:solidFill>
                  <a:schemeClr val="bg2">
                    <a:lumMod val="10000"/>
                  </a:schemeClr>
                </a:solidFill>
              </a:rPr>
              <a:t>LifeCo</a:t>
            </a:r>
            <a:r>
              <a:rPr lang="en-CA" sz="1100" b="1" noProof="0">
                <a:solidFill>
                  <a:schemeClr val="bg2">
                    <a:lumMod val="10000"/>
                  </a:schemeClr>
                </a:solidFill>
              </a:rPr>
              <a:t> Functional Areas</a:t>
            </a:r>
          </a:p>
        </p:txBody>
      </p:sp>
      <p:cxnSp>
        <p:nvCxnSpPr>
          <p:cNvPr id="5395" name="Straight Connector 5394">
            <a:extLst>
              <a:ext uri="{FF2B5EF4-FFF2-40B4-BE49-F238E27FC236}">
                <a16:creationId xmlns:a16="http://schemas.microsoft.com/office/drawing/2014/main" id="{669E4FF7-0F29-8D9E-ED35-A77D4F440190}"/>
              </a:ext>
            </a:extLst>
          </p:cNvPr>
          <p:cNvCxnSpPr>
            <a:cxnSpLocks/>
          </p:cNvCxnSpPr>
          <p:nvPr/>
        </p:nvCxnSpPr>
        <p:spPr>
          <a:xfrm>
            <a:off x="5686719" y="3683745"/>
            <a:ext cx="5860633" cy="0"/>
          </a:xfrm>
          <a:prstGeom prst="line">
            <a:avLst/>
          </a:prstGeom>
          <a:ln w="9525">
            <a:solidFill>
              <a:schemeClr val="accent1"/>
            </a:solidFill>
            <a:prstDash val="sysDash"/>
          </a:ln>
        </p:spPr>
        <p:style>
          <a:lnRef idx="1">
            <a:schemeClr val="accent1"/>
          </a:lnRef>
          <a:fillRef idx="0">
            <a:schemeClr val="accent1"/>
          </a:fillRef>
          <a:effectRef idx="0">
            <a:schemeClr val="accent1"/>
          </a:effectRef>
          <a:fontRef idx="minor">
            <a:schemeClr val="tx1"/>
          </a:fontRef>
        </p:style>
      </p:cxnSp>
      <p:grpSp>
        <p:nvGrpSpPr>
          <p:cNvPr id="5396" name="Group 5395">
            <a:extLst>
              <a:ext uri="{FF2B5EF4-FFF2-40B4-BE49-F238E27FC236}">
                <a16:creationId xmlns:a16="http://schemas.microsoft.com/office/drawing/2014/main" id="{AA476C56-C937-B05F-59C1-A6E2A34A8D4E}"/>
              </a:ext>
            </a:extLst>
          </p:cNvPr>
          <p:cNvGrpSpPr/>
          <p:nvPr/>
        </p:nvGrpSpPr>
        <p:grpSpPr>
          <a:xfrm>
            <a:off x="5727490" y="3933907"/>
            <a:ext cx="1680319" cy="432000"/>
            <a:chOff x="6970637" y="2182214"/>
            <a:chExt cx="1680319" cy="432000"/>
          </a:xfrm>
          <a:solidFill>
            <a:srgbClr val="FFC000"/>
          </a:solidFill>
        </p:grpSpPr>
        <p:sp>
          <p:nvSpPr>
            <p:cNvPr id="5397" name="Flowchart: Preparation 5396">
              <a:extLst>
                <a:ext uri="{FF2B5EF4-FFF2-40B4-BE49-F238E27FC236}">
                  <a16:creationId xmlns:a16="http://schemas.microsoft.com/office/drawing/2014/main" id="{5ABF7572-6482-90DE-961A-9B762F0A407E}"/>
                </a:ext>
              </a:extLst>
            </p:cNvPr>
            <p:cNvSpPr>
              <a:spLocks/>
            </p:cNvSpPr>
            <p:nvPr/>
          </p:nvSpPr>
          <p:spPr>
            <a:xfrm>
              <a:off x="6970637" y="2182214"/>
              <a:ext cx="900000"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Finance (Canada)</a:t>
              </a:r>
            </a:p>
          </p:txBody>
        </p:sp>
        <p:sp>
          <p:nvSpPr>
            <p:cNvPr id="5398" name="Flowchart: Preparation 5397">
              <a:extLst>
                <a:ext uri="{FF2B5EF4-FFF2-40B4-BE49-F238E27FC236}">
                  <a16:creationId xmlns:a16="http://schemas.microsoft.com/office/drawing/2014/main" id="{90328632-C3C7-B14F-10A2-44904C015C5C}"/>
                </a:ext>
              </a:extLst>
            </p:cNvPr>
            <p:cNvSpPr>
              <a:spLocks/>
            </p:cNvSpPr>
            <p:nvPr/>
          </p:nvSpPr>
          <p:spPr>
            <a:xfrm>
              <a:off x="7750956" y="2182214"/>
              <a:ext cx="900000"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Finance (LifeCo)</a:t>
              </a:r>
            </a:p>
          </p:txBody>
        </p:sp>
        <p:sp>
          <p:nvSpPr>
            <p:cNvPr id="5399" name="Rectangle 5398">
              <a:extLst>
                <a:ext uri="{FF2B5EF4-FFF2-40B4-BE49-F238E27FC236}">
                  <a16:creationId xmlns:a16="http://schemas.microsoft.com/office/drawing/2014/main" id="{15479591-814C-5B5C-B509-2EC5B5CCE55F}"/>
                </a:ext>
              </a:extLst>
            </p:cNvPr>
            <p:cNvSpPr/>
            <p:nvPr/>
          </p:nvSpPr>
          <p:spPr>
            <a:xfrm>
              <a:off x="7692194" y="2182214"/>
              <a:ext cx="254855" cy="432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solidFill>
                  <a:schemeClr val="bg2">
                    <a:lumMod val="10000"/>
                  </a:schemeClr>
                </a:solidFill>
              </a:endParaRPr>
            </a:p>
          </p:txBody>
        </p:sp>
        <p:cxnSp>
          <p:nvCxnSpPr>
            <p:cNvPr id="5400" name="Straight Connector 5399">
              <a:extLst>
                <a:ext uri="{FF2B5EF4-FFF2-40B4-BE49-F238E27FC236}">
                  <a16:creationId xmlns:a16="http://schemas.microsoft.com/office/drawing/2014/main" id="{7B2A23D4-6A44-DCFA-0E4A-9E381487727C}"/>
                </a:ext>
              </a:extLst>
            </p:cNvPr>
            <p:cNvCxnSpPr>
              <a:cxnSpLocks/>
            </p:cNvCxnSpPr>
            <p:nvPr/>
          </p:nvCxnSpPr>
          <p:spPr>
            <a:xfrm>
              <a:off x="7819621" y="2218214"/>
              <a:ext cx="0" cy="360000"/>
            </a:xfrm>
            <a:prstGeom prst="line">
              <a:avLst/>
            </a:prstGeom>
            <a:grpFill/>
            <a:ln w="63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401" name="Group 5400">
            <a:extLst>
              <a:ext uri="{FF2B5EF4-FFF2-40B4-BE49-F238E27FC236}">
                <a16:creationId xmlns:a16="http://schemas.microsoft.com/office/drawing/2014/main" id="{27C2545B-21BC-5950-3AA0-9F9DC86535C0}"/>
              </a:ext>
            </a:extLst>
          </p:cNvPr>
          <p:cNvGrpSpPr/>
          <p:nvPr/>
        </p:nvGrpSpPr>
        <p:grpSpPr>
          <a:xfrm>
            <a:off x="7429648" y="3938328"/>
            <a:ext cx="1692879" cy="432000"/>
            <a:chOff x="6970637" y="2680214"/>
            <a:chExt cx="1692879" cy="432000"/>
          </a:xfrm>
          <a:solidFill>
            <a:srgbClr val="FFC000"/>
          </a:solidFill>
        </p:grpSpPr>
        <p:sp>
          <p:nvSpPr>
            <p:cNvPr id="5402" name="Flowchart: Preparation 5401">
              <a:extLst>
                <a:ext uri="{FF2B5EF4-FFF2-40B4-BE49-F238E27FC236}">
                  <a16:creationId xmlns:a16="http://schemas.microsoft.com/office/drawing/2014/main" id="{A9C69C8D-565B-58D3-1F0F-7C49B8862E9A}"/>
                </a:ext>
              </a:extLst>
            </p:cNvPr>
            <p:cNvSpPr>
              <a:spLocks/>
            </p:cNvSpPr>
            <p:nvPr/>
          </p:nvSpPr>
          <p:spPr>
            <a:xfrm>
              <a:off x="6970637" y="2680214"/>
              <a:ext cx="915114"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Investment (Canada)</a:t>
              </a:r>
            </a:p>
          </p:txBody>
        </p:sp>
        <p:sp>
          <p:nvSpPr>
            <p:cNvPr id="5403" name="Flowchart: Preparation 5402">
              <a:extLst>
                <a:ext uri="{FF2B5EF4-FFF2-40B4-BE49-F238E27FC236}">
                  <a16:creationId xmlns:a16="http://schemas.microsoft.com/office/drawing/2014/main" id="{6FCA8FC0-DEB0-EA85-B057-C18FDEE169B9}"/>
                </a:ext>
              </a:extLst>
            </p:cNvPr>
            <p:cNvSpPr>
              <a:spLocks/>
            </p:cNvSpPr>
            <p:nvPr/>
          </p:nvSpPr>
          <p:spPr>
            <a:xfrm>
              <a:off x="7727811" y="2680214"/>
              <a:ext cx="935705" cy="432000"/>
            </a:xfrm>
            <a:prstGeom prst="flowChartPreparation">
              <a:avLst/>
            </a:prstGeom>
            <a:grp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0" rIns="0" bIns="0" rtlCol="0" anchor="ctr"/>
            <a:lstStyle/>
            <a:p>
              <a:pPr algn="ctr"/>
              <a:r>
                <a:rPr lang="en-CA" sz="800" noProof="0">
                  <a:solidFill>
                    <a:schemeClr val="bg2">
                      <a:lumMod val="10000"/>
                    </a:schemeClr>
                  </a:solidFill>
                </a:rPr>
                <a:t>Investment </a:t>
              </a:r>
            </a:p>
            <a:p>
              <a:pPr algn="ctr"/>
              <a:r>
                <a:rPr lang="en-CA" sz="800" noProof="0">
                  <a:solidFill>
                    <a:schemeClr val="bg2">
                      <a:lumMod val="10000"/>
                    </a:schemeClr>
                  </a:solidFill>
                </a:rPr>
                <a:t>(</a:t>
              </a:r>
              <a:r>
                <a:rPr lang="en-CA" sz="800" noProof="0" err="1">
                  <a:solidFill>
                    <a:schemeClr val="bg2">
                      <a:lumMod val="10000"/>
                    </a:schemeClr>
                  </a:solidFill>
                </a:rPr>
                <a:t>LifeCo</a:t>
              </a:r>
              <a:r>
                <a:rPr lang="en-CA" sz="800" noProof="0">
                  <a:solidFill>
                    <a:schemeClr val="bg2">
                      <a:lumMod val="10000"/>
                    </a:schemeClr>
                  </a:solidFill>
                </a:rPr>
                <a:t>)</a:t>
              </a:r>
            </a:p>
          </p:txBody>
        </p:sp>
        <p:sp>
          <p:nvSpPr>
            <p:cNvPr id="5404" name="Rectangle 5403">
              <a:extLst>
                <a:ext uri="{FF2B5EF4-FFF2-40B4-BE49-F238E27FC236}">
                  <a16:creationId xmlns:a16="http://schemas.microsoft.com/office/drawing/2014/main" id="{078F4CB6-E882-0476-D44F-D68BD370560A}"/>
                </a:ext>
              </a:extLst>
            </p:cNvPr>
            <p:cNvSpPr/>
            <p:nvPr/>
          </p:nvSpPr>
          <p:spPr>
            <a:xfrm>
              <a:off x="7692194" y="2680214"/>
              <a:ext cx="254855" cy="43200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solidFill>
                  <a:schemeClr val="bg2">
                    <a:lumMod val="10000"/>
                  </a:schemeClr>
                </a:solidFill>
              </a:endParaRPr>
            </a:p>
          </p:txBody>
        </p:sp>
        <p:cxnSp>
          <p:nvCxnSpPr>
            <p:cNvPr id="5405" name="Straight Connector 5404">
              <a:extLst>
                <a:ext uri="{FF2B5EF4-FFF2-40B4-BE49-F238E27FC236}">
                  <a16:creationId xmlns:a16="http://schemas.microsoft.com/office/drawing/2014/main" id="{7AF77F97-09B1-902B-5587-5FD869B7E9E9}"/>
                </a:ext>
              </a:extLst>
            </p:cNvPr>
            <p:cNvCxnSpPr>
              <a:cxnSpLocks/>
            </p:cNvCxnSpPr>
            <p:nvPr/>
          </p:nvCxnSpPr>
          <p:spPr>
            <a:xfrm>
              <a:off x="7819621" y="2716214"/>
              <a:ext cx="0" cy="360000"/>
            </a:xfrm>
            <a:prstGeom prst="line">
              <a:avLst/>
            </a:prstGeom>
            <a:grpFill/>
            <a:ln w="63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406" name="Rectangle 5405">
            <a:extLst>
              <a:ext uri="{FF2B5EF4-FFF2-40B4-BE49-F238E27FC236}">
                <a16:creationId xmlns:a16="http://schemas.microsoft.com/office/drawing/2014/main" id="{CD64CB45-3279-74B7-53BC-65F3D785CD53}"/>
              </a:ext>
            </a:extLst>
          </p:cNvPr>
          <p:cNvSpPr/>
          <p:nvPr/>
        </p:nvSpPr>
        <p:spPr>
          <a:xfrm>
            <a:off x="8023446" y="2647531"/>
            <a:ext cx="18000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410" name="Rectangle 5409">
            <a:extLst>
              <a:ext uri="{FF2B5EF4-FFF2-40B4-BE49-F238E27FC236}">
                <a16:creationId xmlns:a16="http://schemas.microsoft.com/office/drawing/2014/main" id="{4A8B9A47-D971-0216-353B-2A29031093E8}"/>
              </a:ext>
            </a:extLst>
          </p:cNvPr>
          <p:cNvSpPr/>
          <p:nvPr/>
        </p:nvSpPr>
        <p:spPr>
          <a:xfrm>
            <a:off x="6306801" y="4035946"/>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5411" name="Rectangle 5410">
            <a:extLst>
              <a:ext uri="{FF2B5EF4-FFF2-40B4-BE49-F238E27FC236}">
                <a16:creationId xmlns:a16="http://schemas.microsoft.com/office/drawing/2014/main" id="{209F3501-11DA-1A50-74E1-11206E499AB6}"/>
              </a:ext>
            </a:extLst>
          </p:cNvPr>
          <p:cNvSpPr/>
          <p:nvPr/>
        </p:nvSpPr>
        <p:spPr>
          <a:xfrm>
            <a:off x="6306801" y="4299946"/>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5412" name="Flowchart: Preparation 5411">
            <a:extLst>
              <a:ext uri="{FF2B5EF4-FFF2-40B4-BE49-F238E27FC236}">
                <a16:creationId xmlns:a16="http://schemas.microsoft.com/office/drawing/2014/main" id="{0F7662CE-A8E1-3FD8-E948-02765ACB33AF}"/>
              </a:ext>
            </a:extLst>
          </p:cNvPr>
          <p:cNvSpPr>
            <a:spLocks/>
          </p:cNvSpPr>
          <p:nvPr/>
        </p:nvSpPr>
        <p:spPr>
          <a:xfrm>
            <a:off x="8702231" y="3081214"/>
            <a:ext cx="834015" cy="574512"/>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tx1"/>
                </a:solidFill>
              </a:rPr>
              <a:t>Enterprise Node (</a:t>
            </a:r>
            <a:r>
              <a:rPr lang="en-CA" sz="800">
                <a:solidFill>
                  <a:schemeClr val="tx1"/>
                </a:solidFill>
              </a:rPr>
              <a:t>N)</a:t>
            </a:r>
            <a:endParaRPr lang="en-CA" sz="800" noProof="0">
              <a:solidFill>
                <a:schemeClr val="tx1"/>
              </a:solidFill>
            </a:endParaRPr>
          </a:p>
        </p:txBody>
      </p:sp>
      <p:grpSp>
        <p:nvGrpSpPr>
          <p:cNvPr id="5416" name="Group 5415">
            <a:extLst>
              <a:ext uri="{FF2B5EF4-FFF2-40B4-BE49-F238E27FC236}">
                <a16:creationId xmlns:a16="http://schemas.microsoft.com/office/drawing/2014/main" id="{5E28F18C-9E74-E372-351F-25A436EFBA7F}"/>
              </a:ext>
            </a:extLst>
          </p:cNvPr>
          <p:cNvGrpSpPr/>
          <p:nvPr/>
        </p:nvGrpSpPr>
        <p:grpSpPr>
          <a:xfrm>
            <a:off x="9589327" y="3640252"/>
            <a:ext cx="1859275" cy="751796"/>
            <a:chOff x="6875993" y="2313994"/>
            <a:chExt cx="1859275" cy="751796"/>
          </a:xfrm>
          <a:solidFill>
            <a:srgbClr val="FFC000"/>
          </a:solidFill>
        </p:grpSpPr>
        <p:sp>
          <p:nvSpPr>
            <p:cNvPr id="5417" name="Flowchart: Preparation 5416">
              <a:extLst>
                <a:ext uri="{FF2B5EF4-FFF2-40B4-BE49-F238E27FC236}">
                  <a16:creationId xmlns:a16="http://schemas.microsoft.com/office/drawing/2014/main" id="{B2CB5B4B-66F8-475E-FF8E-6F1D4F6FBD20}"/>
                </a:ext>
              </a:extLst>
            </p:cNvPr>
            <p:cNvSpPr>
              <a:spLocks/>
            </p:cNvSpPr>
            <p:nvPr/>
          </p:nvSpPr>
          <p:spPr>
            <a:xfrm>
              <a:off x="6875993" y="2633790"/>
              <a:ext cx="915114"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r>
                <a:rPr lang="en-CA" sz="800" noProof="0">
                  <a:solidFill>
                    <a:schemeClr val="bg2">
                      <a:lumMod val="10000"/>
                    </a:schemeClr>
                  </a:solidFill>
                </a:rPr>
                <a:t>Functional Area (N) (Canada)</a:t>
              </a:r>
            </a:p>
          </p:txBody>
        </p:sp>
        <p:sp>
          <p:nvSpPr>
            <p:cNvPr id="5418" name="Flowchart: Preparation 5417">
              <a:extLst>
                <a:ext uri="{FF2B5EF4-FFF2-40B4-BE49-F238E27FC236}">
                  <a16:creationId xmlns:a16="http://schemas.microsoft.com/office/drawing/2014/main" id="{FCE6147C-59C5-DCC7-1598-67393A34341A}"/>
                </a:ext>
              </a:extLst>
            </p:cNvPr>
            <p:cNvSpPr>
              <a:spLocks/>
            </p:cNvSpPr>
            <p:nvPr/>
          </p:nvSpPr>
          <p:spPr>
            <a:xfrm>
              <a:off x="7799563" y="2631965"/>
              <a:ext cx="935705"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72000" tIns="0" rIns="0" bIns="0" rtlCol="0" anchor="ctr"/>
            <a:lstStyle/>
            <a:p>
              <a:pPr algn="ctr"/>
              <a:r>
                <a:rPr lang="en-CA" sz="800" noProof="0">
                  <a:solidFill>
                    <a:schemeClr val="bg2">
                      <a:lumMod val="10000"/>
                    </a:schemeClr>
                  </a:solidFill>
                </a:rPr>
                <a:t>Functional  </a:t>
              </a:r>
            </a:p>
            <a:p>
              <a:pPr algn="ctr"/>
              <a:r>
                <a:rPr lang="en-CA" sz="800" noProof="0">
                  <a:solidFill>
                    <a:schemeClr val="bg2">
                      <a:lumMod val="10000"/>
                    </a:schemeClr>
                  </a:solidFill>
                </a:rPr>
                <a:t>Area (N)</a:t>
              </a:r>
            </a:p>
            <a:p>
              <a:pPr algn="ctr"/>
              <a:r>
                <a:rPr lang="en-CA" sz="800">
                  <a:solidFill>
                    <a:schemeClr val="bg2">
                      <a:lumMod val="10000"/>
                    </a:schemeClr>
                  </a:solidFill>
                </a:rPr>
                <a:t>(</a:t>
              </a:r>
              <a:r>
                <a:rPr lang="en-CA" sz="800" err="1">
                  <a:solidFill>
                    <a:schemeClr val="bg2">
                      <a:lumMod val="10000"/>
                    </a:schemeClr>
                  </a:solidFill>
                </a:rPr>
                <a:t>LifeCo</a:t>
              </a:r>
              <a:r>
                <a:rPr lang="en-CA" sz="800">
                  <a:solidFill>
                    <a:schemeClr val="bg2">
                      <a:lumMod val="10000"/>
                    </a:schemeClr>
                  </a:solidFill>
                </a:rPr>
                <a:t>)</a:t>
              </a:r>
              <a:endParaRPr lang="en-CA" sz="800" noProof="0">
                <a:solidFill>
                  <a:schemeClr val="bg2">
                    <a:lumMod val="10000"/>
                  </a:schemeClr>
                </a:solidFill>
              </a:endParaRPr>
            </a:p>
          </p:txBody>
        </p:sp>
        <p:cxnSp>
          <p:nvCxnSpPr>
            <p:cNvPr id="5419" name="Straight Connector 5418">
              <a:extLst>
                <a:ext uri="{FF2B5EF4-FFF2-40B4-BE49-F238E27FC236}">
                  <a16:creationId xmlns:a16="http://schemas.microsoft.com/office/drawing/2014/main" id="{C2734990-5339-0DCD-A247-14DA3DE23935}"/>
                </a:ext>
              </a:extLst>
            </p:cNvPr>
            <p:cNvCxnSpPr>
              <a:cxnSpLocks/>
            </p:cNvCxnSpPr>
            <p:nvPr/>
          </p:nvCxnSpPr>
          <p:spPr>
            <a:xfrm>
              <a:off x="7783276" y="2313994"/>
              <a:ext cx="0" cy="360000"/>
            </a:xfrm>
            <a:prstGeom prst="line">
              <a:avLst/>
            </a:prstGeom>
            <a:grpFill/>
            <a:ln w="63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420" name="TextBox 5419">
            <a:extLst>
              <a:ext uri="{FF2B5EF4-FFF2-40B4-BE49-F238E27FC236}">
                <a16:creationId xmlns:a16="http://schemas.microsoft.com/office/drawing/2014/main" id="{00D03891-49BE-88CB-A340-237D4D6958B1}"/>
              </a:ext>
            </a:extLst>
          </p:cNvPr>
          <p:cNvSpPr txBox="1"/>
          <p:nvPr/>
        </p:nvSpPr>
        <p:spPr>
          <a:xfrm>
            <a:off x="8111631" y="3247480"/>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5421" name="Flowchart: Preparation 5420">
            <a:extLst>
              <a:ext uri="{FF2B5EF4-FFF2-40B4-BE49-F238E27FC236}">
                <a16:creationId xmlns:a16="http://schemas.microsoft.com/office/drawing/2014/main" id="{8BCA9AAC-FD48-C8DC-961E-39E005A2F7C0}"/>
              </a:ext>
            </a:extLst>
          </p:cNvPr>
          <p:cNvSpPr>
            <a:spLocks/>
          </p:cNvSpPr>
          <p:nvPr/>
        </p:nvSpPr>
        <p:spPr>
          <a:xfrm>
            <a:off x="9417772" y="2347540"/>
            <a:ext cx="900000" cy="432000"/>
          </a:xfrm>
          <a:prstGeom prst="flowChartPreparation">
            <a:avLst/>
          </a:prstGeom>
          <a:noFill/>
          <a:ln w="9525">
            <a:solidFill>
              <a:schemeClr val="tx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noProof="0">
                <a:solidFill>
                  <a:schemeClr val="bg2">
                    <a:lumMod val="10000"/>
                  </a:schemeClr>
                </a:solidFill>
              </a:rPr>
              <a:t>Functional Area (N)</a:t>
            </a:r>
          </a:p>
        </p:txBody>
      </p:sp>
      <p:sp>
        <p:nvSpPr>
          <p:cNvPr id="5422" name="TextBox 5421">
            <a:extLst>
              <a:ext uri="{FF2B5EF4-FFF2-40B4-BE49-F238E27FC236}">
                <a16:creationId xmlns:a16="http://schemas.microsoft.com/office/drawing/2014/main" id="{9E541AF7-9C72-68E9-A756-82625533F21A}"/>
              </a:ext>
            </a:extLst>
          </p:cNvPr>
          <p:cNvSpPr txBox="1"/>
          <p:nvPr/>
        </p:nvSpPr>
        <p:spPr>
          <a:xfrm>
            <a:off x="8611709" y="2447462"/>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5423" name="TextBox 5422">
            <a:extLst>
              <a:ext uri="{FF2B5EF4-FFF2-40B4-BE49-F238E27FC236}">
                <a16:creationId xmlns:a16="http://schemas.microsoft.com/office/drawing/2014/main" id="{A5807481-A4FA-BD6E-4CC6-60A98EF123CD}"/>
              </a:ext>
            </a:extLst>
          </p:cNvPr>
          <p:cNvSpPr txBox="1"/>
          <p:nvPr/>
        </p:nvSpPr>
        <p:spPr>
          <a:xfrm>
            <a:off x="7456016" y="1622511"/>
            <a:ext cx="429505"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5424" name="TextBox 5423">
            <a:extLst>
              <a:ext uri="{FF2B5EF4-FFF2-40B4-BE49-F238E27FC236}">
                <a16:creationId xmlns:a16="http://schemas.microsoft.com/office/drawing/2014/main" id="{89CBB08E-2B6A-E8E8-65B3-9D70489FA13A}"/>
              </a:ext>
            </a:extLst>
          </p:cNvPr>
          <p:cNvSpPr txBox="1"/>
          <p:nvPr/>
        </p:nvSpPr>
        <p:spPr>
          <a:xfrm>
            <a:off x="9579082" y="1651160"/>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5425" name="Flowchart: Preparation 5424">
            <a:extLst>
              <a:ext uri="{FF2B5EF4-FFF2-40B4-BE49-F238E27FC236}">
                <a16:creationId xmlns:a16="http://schemas.microsoft.com/office/drawing/2014/main" id="{7477698E-BAB0-3457-D1F7-EDD55348A6BF}"/>
              </a:ext>
            </a:extLst>
          </p:cNvPr>
          <p:cNvSpPr>
            <a:spLocks/>
          </p:cNvSpPr>
          <p:nvPr/>
        </p:nvSpPr>
        <p:spPr>
          <a:xfrm>
            <a:off x="10335407" y="1590320"/>
            <a:ext cx="900000" cy="432000"/>
          </a:xfrm>
          <a:prstGeom prst="flowChartPreparation">
            <a:avLst/>
          </a:prstGeom>
          <a:noFill/>
          <a:ln w="9525">
            <a:solidFill>
              <a:schemeClr val="accent1"/>
            </a:solidFill>
            <a:prstDash val="dash"/>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CA" sz="800">
                <a:solidFill>
                  <a:schemeClr val="tx1"/>
                </a:solidFill>
              </a:rPr>
              <a:t>Specialized Node (N</a:t>
            </a:r>
            <a:r>
              <a:rPr lang="en-CA" sz="800">
                <a:solidFill>
                  <a:schemeClr val="bg2">
                    <a:lumMod val="10000"/>
                  </a:schemeClr>
                </a:solidFill>
              </a:rPr>
              <a:t>)</a:t>
            </a:r>
            <a:endParaRPr lang="en-CA" sz="800" noProof="0">
              <a:solidFill>
                <a:schemeClr val="bg2">
                  <a:lumMod val="10000"/>
                </a:schemeClr>
              </a:solidFill>
            </a:endParaRPr>
          </a:p>
        </p:txBody>
      </p:sp>
      <p:sp>
        <p:nvSpPr>
          <p:cNvPr id="5426" name="Flowchart: Preparation 5425">
            <a:extLst>
              <a:ext uri="{FF2B5EF4-FFF2-40B4-BE49-F238E27FC236}">
                <a16:creationId xmlns:a16="http://schemas.microsoft.com/office/drawing/2014/main" id="{307916C0-4AAB-7384-FF6B-56BA70912FEF}"/>
              </a:ext>
            </a:extLst>
          </p:cNvPr>
          <p:cNvSpPr>
            <a:spLocks/>
          </p:cNvSpPr>
          <p:nvPr/>
        </p:nvSpPr>
        <p:spPr>
          <a:xfrm>
            <a:off x="8919475" y="1569549"/>
            <a:ext cx="810938" cy="432000"/>
          </a:xfrm>
          <a:prstGeom prst="flowChartPreparation">
            <a:avLst/>
          </a:prstGeom>
          <a:solidFill>
            <a:srgbClr val="FFC000"/>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CA" sz="800" noProof="0">
                <a:solidFill>
                  <a:schemeClr val="bg2">
                    <a:lumMod val="10000"/>
                  </a:schemeClr>
                </a:solidFill>
              </a:rPr>
              <a:t>PSHCP</a:t>
            </a:r>
          </a:p>
        </p:txBody>
      </p:sp>
      <p:cxnSp>
        <p:nvCxnSpPr>
          <p:cNvPr id="5427" name="Straight Connector 5426">
            <a:extLst>
              <a:ext uri="{FF2B5EF4-FFF2-40B4-BE49-F238E27FC236}">
                <a16:creationId xmlns:a16="http://schemas.microsoft.com/office/drawing/2014/main" id="{D44A2501-0B48-33BE-4852-AE65E7E8820F}"/>
              </a:ext>
            </a:extLst>
          </p:cNvPr>
          <p:cNvCxnSpPr>
            <a:cxnSpLocks/>
          </p:cNvCxnSpPr>
          <p:nvPr/>
        </p:nvCxnSpPr>
        <p:spPr>
          <a:xfrm flipH="1">
            <a:off x="5672632" y="2985978"/>
            <a:ext cx="5919592" cy="0"/>
          </a:xfrm>
          <a:prstGeom prst="line">
            <a:avLst/>
          </a:prstGeom>
          <a:ln w="12700">
            <a:solidFill>
              <a:schemeClr val="accent1"/>
            </a:solidFill>
            <a:prstDash val="sysDash"/>
          </a:ln>
        </p:spPr>
        <p:style>
          <a:lnRef idx="1">
            <a:schemeClr val="accent2"/>
          </a:lnRef>
          <a:fillRef idx="0">
            <a:schemeClr val="accent2"/>
          </a:fillRef>
          <a:effectRef idx="0">
            <a:schemeClr val="accent2"/>
          </a:effectRef>
          <a:fontRef idx="minor">
            <a:schemeClr val="tx1"/>
          </a:fontRef>
        </p:style>
      </p:cxnSp>
      <p:sp>
        <p:nvSpPr>
          <p:cNvPr id="5428" name="TextBox 5427">
            <a:extLst>
              <a:ext uri="{FF2B5EF4-FFF2-40B4-BE49-F238E27FC236}">
                <a16:creationId xmlns:a16="http://schemas.microsoft.com/office/drawing/2014/main" id="{287B91A8-0C71-02AD-C33E-7C8A6176F059}"/>
              </a:ext>
            </a:extLst>
          </p:cNvPr>
          <p:cNvSpPr txBox="1"/>
          <p:nvPr/>
        </p:nvSpPr>
        <p:spPr>
          <a:xfrm>
            <a:off x="8983609" y="3996813"/>
            <a:ext cx="896013"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
        <p:nvSpPr>
          <p:cNvPr id="5435" name="Rectangle: Rounded Corners 5434">
            <a:extLst>
              <a:ext uri="{FF2B5EF4-FFF2-40B4-BE49-F238E27FC236}">
                <a16:creationId xmlns:a16="http://schemas.microsoft.com/office/drawing/2014/main" id="{7BBFFB3E-F6C3-0D29-7F6E-4FBAC285DD46}"/>
              </a:ext>
            </a:extLst>
          </p:cNvPr>
          <p:cNvSpPr/>
          <p:nvPr/>
        </p:nvSpPr>
        <p:spPr>
          <a:xfrm>
            <a:off x="5734408" y="1503324"/>
            <a:ext cx="3080131" cy="570211"/>
          </a:xfrm>
          <a:prstGeom prst="roundRect">
            <a:avLst>
              <a:gd name="adj" fmla="val 8187"/>
            </a:avLst>
          </a:prstGeom>
          <a:noFill/>
          <a:ln w="25400">
            <a:solidFill>
              <a:srgbClr val="A1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65" name="Rectangle: Rounded Corners 64">
            <a:extLst>
              <a:ext uri="{FF2B5EF4-FFF2-40B4-BE49-F238E27FC236}">
                <a16:creationId xmlns:a16="http://schemas.microsoft.com/office/drawing/2014/main" id="{7EAC7838-86E1-70F2-5D2B-5D2711D7DF83}"/>
              </a:ext>
            </a:extLst>
          </p:cNvPr>
          <p:cNvSpPr/>
          <p:nvPr/>
        </p:nvSpPr>
        <p:spPr>
          <a:xfrm>
            <a:off x="6769582" y="2314991"/>
            <a:ext cx="3740231" cy="570211"/>
          </a:xfrm>
          <a:prstGeom prst="roundRect">
            <a:avLst>
              <a:gd name="adj" fmla="val 8187"/>
            </a:avLst>
          </a:prstGeom>
          <a:noFill/>
          <a:ln w="25400">
            <a:solidFill>
              <a:srgbClr val="A1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cxnSp>
        <p:nvCxnSpPr>
          <p:cNvPr id="66" name="Connector: Elbow 65">
            <a:extLst>
              <a:ext uri="{FF2B5EF4-FFF2-40B4-BE49-F238E27FC236}">
                <a16:creationId xmlns:a16="http://schemas.microsoft.com/office/drawing/2014/main" id="{0806A4CF-48C8-F3BC-9A1A-080161475C5D}"/>
              </a:ext>
            </a:extLst>
          </p:cNvPr>
          <p:cNvCxnSpPr>
            <a:cxnSpLocks/>
            <a:stCxn id="65" idx="1"/>
          </p:cNvCxnSpPr>
          <p:nvPr/>
        </p:nvCxnSpPr>
        <p:spPr>
          <a:xfrm rot="10800000" flipH="1" flipV="1">
            <a:off x="6769582" y="2600096"/>
            <a:ext cx="971298" cy="541363"/>
          </a:xfrm>
          <a:prstGeom prst="bentConnector3">
            <a:avLst>
              <a:gd name="adj1" fmla="val -23536"/>
            </a:avLst>
          </a:prstGeom>
          <a:ln w="25400">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74" name="Rectangle: Rounded Corners 73">
            <a:extLst>
              <a:ext uri="{FF2B5EF4-FFF2-40B4-BE49-F238E27FC236}">
                <a16:creationId xmlns:a16="http://schemas.microsoft.com/office/drawing/2014/main" id="{8C05BC08-37EE-2B3E-5B0F-F8843D1E208A}"/>
              </a:ext>
            </a:extLst>
          </p:cNvPr>
          <p:cNvSpPr/>
          <p:nvPr/>
        </p:nvSpPr>
        <p:spPr>
          <a:xfrm>
            <a:off x="5712875" y="3871686"/>
            <a:ext cx="5821860" cy="572259"/>
          </a:xfrm>
          <a:prstGeom prst="roundRect">
            <a:avLst>
              <a:gd name="adj" fmla="val 8187"/>
            </a:avLst>
          </a:prstGeom>
          <a:noFill/>
          <a:ln w="25400">
            <a:solidFill>
              <a:srgbClr val="A1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cxnSp>
        <p:nvCxnSpPr>
          <p:cNvPr id="75" name="Connector: Elbow 74">
            <a:extLst>
              <a:ext uri="{FF2B5EF4-FFF2-40B4-BE49-F238E27FC236}">
                <a16:creationId xmlns:a16="http://schemas.microsoft.com/office/drawing/2014/main" id="{10591350-3F34-E165-92CC-B0B148D9FC71}"/>
              </a:ext>
            </a:extLst>
          </p:cNvPr>
          <p:cNvCxnSpPr>
            <a:cxnSpLocks/>
          </p:cNvCxnSpPr>
          <p:nvPr/>
        </p:nvCxnSpPr>
        <p:spPr>
          <a:xfrm rot="10800000">
            <a:off x="8228479" y="3157298"/>
            <a:ext cx="3055555" cy="730358"/>
          </a:xfrm>
          <a:prstGeom prst="bentConnector3">
            <a:avLst>
              <a:gd name="adj1" fmla="val 35402"/>
            </a:avLst>
          </a:prstGeom>
          <a:ln w="25400">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20A86C20-EAEF-225E-47E4-174186DEF783}"/>
              </a:ext>
            </a:extLst>
          </p:cNvPr>
          <p:cNvSpPr/>
          <p:nvPr/>
        </p:nvSpPr>
        <p:spPr>
          <a:xfrm>
            <a:off x="10106693" y="3378295"/>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3</a:t>
            </a:r>
          </a:p>
        </p:txBody>
      </p:sp>
      <p:sp>
        <p:nvSpPr>
          <p:cNvPr id="83" name="Oval 82">
            <a:extLst>
              <a:ext uri="{FF2B5EF4-FFF2-40B4-BE49-F238E27FC236}">
                <a16:creationId xmlns:a16="http://schemas.microsoft.com/office/drawing/2014/main" id="{BC598A8A-03DF-3364-2EC8-61A8A9542BE6}"/>
              </a:ext>
            </a:extLst>
          </p:cNvPr>
          <p:cNvSpPr/>
          <p:nvPr/>
        </p:nvSpPr>
        <p:spPr>
          <a:xfrm>
            <a:off x="6440296" y="2714161"/>
            <a:ext cx="216000" cy="216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3</a:t>
            </a:r>
          </a:p>
        </p:txBody>
      </p:sp>
    </p:spTree>
    <p:extLst>
      <p:ext uri="{BB962C8B-B14F-4D97-AF65-F5344CB8AC3E}">
        <p14:creationId xmlns:p14="http://schemas.microsoft.com/office/powerpoint/2010/main" val="117645401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FA39C-E4E4-5DA4-644F-40B43A71CF51}"/>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9E4E6171-4E55-5CBC-7A73-16834FDFBB04}"/>
              </a:ext>
            </a:extLst>
          </p:cNvPr>
          <p:cNvSpPr txBox="1">
            <a:spLocks/>
          </p:cNvSpPr>
          <p:nvPr/>
        </p:nvSpPr>
        <p:spPr>
          <a:xfrm>
            <a:off x="210312" y="120782"/>
            <a:ext cx="11412000" cy="405102"/>
          </a:xfrm>
          <a:prstGeom prst="rect">
            <a:avLst/>
          </a:prstGeom>
        </p:spPr>
        <p:txBody>
          <a:bodyPr lIns="91440" tIns="45720" rIns="91440" bIns="45720" anchor="t"/>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000" b="1" noProof="0"/>
              <a:t>1.6. 360 Views — Illustrative Data Sourcing</a:t>
            </a:r>
            <a:endParaRPr lang="en-CA" sz="2000" noProof="0"/>
          </a:p>
        </p:txBody>
      </p:sp>
      <p:sp>
        <p:nvSpPr>
          <p:cNvPr id="28" name="Text Placeholder 3">
            <a:extLst>
              <a:ext uri="{FF2B5EF4-FFF2-40B4-BE49-F238E27FC236}">
                <a16:creationId xmlns:a16="http://schemas.microsoft.com/office/drawing/2014/main" id="{225BA274-5A87-2B34-2F02-EC88BB7EBC24}"/>
              </a:ext>
            </a:extLst>
          </p:cNvPr>
          <p:cNvSpPr txBox="1">
            <a:spLocks/>
          </p:cNvSpPr>
          <p:nvPr/>
        </p:nvSpPr>
        <p:spPr>
          <a:xfrm>
            <a:off x="210312" y="418588"/>
            <a:ext cx="11834978" cy="345950"/>
          </a:xfrm>
          <a:prstGeom prst="rect">
            <a:avLst/>
          </a:prstGeom>
        </p:spPr>
        <p:txBody>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1100" noProof="0">
                <a:solidFill>
                  <a:schemeClr val="tx1">
                    <a:lumMod val="50000"/>
                  </a:schemeClr>
                </a:solidFill>
              </a:rPr>
              <a:t>360 views are assembled by combining mastered data from MDM with relevant business data nodes to support enterprise reuse and decision‑making.</a:t>
            </a:r>
          </a:p>
        </p:txBody>
      </p:sp>
      <p:grpSp>
        <p:nvGrpSpPr>
          <p:cNvPr id="32" name="Group 31">
            <a:extLst>
              <a:ext uri="{FF2B5EF4-FFF2-40B4-BE49-F238E27FC236}">
                <a16:creationId xmlns:a16="http://schemas.microsoft.com/office/drawing/2014/main" id="{373A725A-4B53-EB3D-821E-CCD3DE44AD39}"/>
              </a:ext>
            </a:extLst>
          </p:cNvPr>
          <p:cNvGrpSpPr/>
          <p:nvPr/>
        </p:nvGrpSpPr>
        <p:grpSpPr>
          <a:xfrm>
            <a:off x="2496000" y="6371935"/>
            <a:ext cx="7200000" cy="345949"/>
            <a:chOff x="1223550" y="6371935"/>
            <a:chExt cx="7200000" cy="345949"/>
          </a:xfrm>
        </p:grpSpPr>
        <p:sp>
          <p:nvSpPr>
            <p:cNvPr id="5163" name="Rectangle: Rounded Corners 5162">
              <a:extLst>
                <a:ext uri="{FF2B5EF4-FFF2-40B4-BE49-F238E27FC236}">
                  <a16:creationId xmlns:a16="http://schemas.microsoft.com/office/drawing/2014/main" id="{614437AF-048A-624E-C084-244A7524744A}"/>
                </a:ext>
              </a:extLst>
            </p:cNvPr>
            <p:cNvSpPr/>
            <p:nvPr/>
          </p:nvSpPr>
          <p:spPr>
            <a:xfrm>
              <a:off x="1223550" y="6371935"/>
              <a:ext cx="7200000" cy="345949"/>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165" name="TextBox 5164">
              <a:extLst>
                <a:ext uri="{FF2B5EF4-FFF2-40B4-BE49-F238E27FC236}">
                  <a16:creationId xmlns:a16="http://schemas.microsoft.com/office/drawing/2014/main" id="{31D741AE-C9DA-B071-D513-8EF4D8467C4F}"/>
                </a:ext>
              </a:extLst>
            </p:cNvPr>
            <p:cNvSpPr txBox="1"/>
            <p:nvPr/>
          </p:nvSpPr>
          <p:spPr>
            <a:xfrm>
              <a:off x="1317031" y="6431614"/>
              <a:ext cx="468000"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000" noProof="0">
                  <a:solidFill>
                    <a:schemeClr val="bg2">
                      <a:lumMod val="10000"/>
                    </a:schemeClr>
                  </a:solidFill>
                </a:rPr>
                <a:t>Legend</a:t>
              </a:r>
            </a:p>
          </p:txBody>
        </p:sp>
        <p:cxnSp>
          <p:nvCxnSpPr>
            <p:cNvPr id="5166" name="Straight Connector 5165">
              <a:extLst>
                <a:ext uri="{FF2B5EF4-FFF2-40B4-BE49-F238E27FC236}">
                  <a16:creationId xmlns:a16="http://schemas.microsoft.com/office/drawing/2014/main" id="{E4611331-4FDF-0639-7E12-4BBF31C8537D}"/>
                </a:ext>
              </a:extLst>
            </p:cNvPr>
            <p:cNvCxnSpPr>
              <a:cxnSpLocks/>
            </p:cNvCxnSpPr>
            <p:nvPr/>
          </p:nvCxnSpPr>
          <p:spPr>
            <a:xfrm>
              <a:off x="1837028" y="6436909"/>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67" name="Straight Arrow Connector 5166">
              <a:extLst>
                <a:ext uri="{FF2B5EF4-FFF2-40B4-BE49-F238E27FC236}">
                  <a16:creationId xmlns:a16="http://schemas.microsoft.com/office/drawing/2014/main" id="{E39F8641-4395-F478-A95F-B4017965A638}"/>
                </a:ext>
              </a:extLst>
            </p:cNvPr>
            <p:cNvCxnSpPr>
              <a:cxnSpLocks/>
            </p:cNvCxnSpPr>
            <p:nvPr/>
          </p:nvCxnSpPr>
          <p:spPr>
            <a:xfrm>
              <a:off x="1889026" y="6544909"/>
              <a:ext cx="324000"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5168" name="TextBox 5167">
              <a:extLst>
                <a:ext uri="{FF2B5EF4-FFF2-40B4-BE49-F238E27FC236}">
                  <a16:creationId xmlns:a16="http://schemas.microsoft.com/office/drawing/2014/main" id="{DA4BBC52-1D38-0EE8-F639-1B66BB770BF8}"/>
                </a:ext>
              </a:extLst>
            </p:cNvPr>
            <p:cNvSpPr txBox="1"/>
            <p:nvPr/>
          </p:nvSpPr>
          <p:spPr>
            <a:xfrm>
              <a:off x="2213024" y="6431614"/>
              <a:ext cx="1728000"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Enterprise/ Person ID flow</a:t>
              </a:r>
            </a:p>
          </p:txBody>
        </p:sp>
        <p:cxnSp>
          <p:nvCxnSpPr>
            <p:cNvPr id="23" name="Straight Arrow Connector 22">
              <a:extLst>
                <a:ext uri="{FF2B5EF4-FFF2-40B4-BE49-F238E27FC236}">
                  <a16:creationId xmlns:a16="http://schemas.microsoft.com/office/drawing/2014/main" id="{CABD5C86-E4CE-AE10-52E7-89C645623272}"/>
                </a:ext>
              </a:extLst>
            </p:cNvPr>
            <p:cNvCxnSpPr>
              <a:cxnSpLocks/>
            </p:cNvCxnSpPr>
            <p:nvPr/>
          </p:nvCxnSpPr>
          <p:spPr>
            <a:xfrm>
              <a:off x="3984729" y="6544909"/>
              <a:ext cx="324000" cy="0"/>
            </a:xfrm>
            <a:prstGeom prst="straightConnector1">
              <a:avLst/>
            </a:prstGeom>
            <a:ln w="19050">
              <a:solidFill>
                <a:srgbClr val="A100FF"/>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5E971A2-85C2-1E86-B4C6-29F0767E4E83}"/>
                </a:ext>
              </a:extLst>
            </p:cNvPr>
            <p:cNvSpPr txBox="1"/>
            <p:nvPr/>
          </p:nvSpPr>
          <p:spPr>
            <a:xfrm>
              <a:off x="4246059" y="6431614"/>
              <a:ext cx="1429145"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Business data flow</a:t>
              </a:r>
            </a:p>
          </p:txBody>
        </p:sp>
        <p:cxnSp>
          <p:nvCxnSpPr>
            <p:cNvPr id="5143" name="Straight Arrow Connector 5142">
              <a:extLst>
                <a:ext uri="{FF2B5EF4-FFF2-40B4-BE49-F238E27FC236}">
                  <a16:creationId xmlns:a16="http://schemas.microsoft.com/office/drawing/2014/main" id="{AC97D035-A9C0-8061-F2A9-2FCF43830B9F}"/>
                </a:ext>
              </a:extLst>
            </p:cNvPr>
            <p:cNvCxnSpPr>
              <a:cxnSpLocks/>
            </p:cNvCxnSpPr>
            <p:nvPr/>
          </p:nvCxnSpPr>
          <p:spPr>
            <a:xfrm>
              <a:off x="5576848" y="6544909"/>
              <a:ext cx="324000" cy="0"/>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5144" name="TextBox 5143">
              <a:extLst>
                <a:ext uri="{FF2B5EF4-FFF2-40B4-BE49-F238E27FC236}">
                  <a16:creationId xmlns:a16="http://schemas.microsoft.com/office/drawing/2014/main" id="{ED826AB4-5F9D-0756-A7AF-B564EFDFA678}"/>
                </a:ext>
              </a:extLst>
            </p:cNvPr>
            <p:cNvSpPr txBox="1"/>
            <p:nvPr/>
          </p:nvSpPr>
          <p:spPr>
            <a:xfrm>
              <a:off x="5900847" y="6431614"/>
              <a:ext cx="1238956"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Curated Data flow</a:t>
              </a:r>
            </a:p>
          </p:txBody>
        </p:sp>
        <p:sp>
          <p:nvSpPr>
            <p:cNvPr id="30" name="Hexagon 29">
              <a:extLst>
                <a:ext uri="{FF2B5EF4-FFF2-40B4-BE49-F238E27FC236}">
                  <a16:creationId xmlns:a16="http://schemas.microsoft.com/office/drawing/2014/main" id="{A9CA8249-A9D5-C084-E39E-1D447CB29200}"/>
                </a:ext>
              </a:extLst>
            </p:cNvPr>
            <p:cNvSpPr>
              <a:spLocks noChangeAspect="1"/>
            </p:cNvSpPr>
            <p:nvPr/>
          </p:nvSpPr>
          <p:spPr>
            <a:xfrm rot="5400000">
              <a:off x="7213544" y="6428113"/>
              <a:ext cx="216000" cy="233593"/>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0" tIns="0" rIns="0" bIns="0" rtlCol="0" anchor="ctr"/>
            <a:lstStyle/>
            <a:p>
              <a:pPr algn="ctr"/>
              <a:endParaRPr lang="en-CA" sz="800" noProof="0">
                <a:solidFill>
                  <a:srgbClr val="298B68"/>
                </a:solidFill>
              </a:endParaRPr>
            </a:p>
          </p:txBody>
        </p:sp>
        <p:sp>
          <p:nvSpPr>
            <p:cNvPr id="31" name="TextBox 30">
              <a:extLst>
                <a:ext uri="{FF2B5EF4-FFF2-40B4-BE49-F238E27FC236}">
                  <a16:creationId xmlns:a16="http://schemas.microsoft.com/office/drawing/2014/main" id="{FF8871CE-94EC-22B9-A70E-F6BB0A0855D2}"/>
                </a:ext>
              </a:extLst>
            </p:cNvPr>
            <p:cNvSpPr txBox="1"/>
            <p:nvPr/>
          </p:nvSpPr>
          <p:spPr>
            <a:xfrm>
              <a:off x="7477781" y="6464118"/>
              <a:ext cx="936000"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Data Product</a:t>
              </a:r>
            </a:p>
          </p:txBody>
        </p:sp>
      </p:grpSp>
      <p:grpSp>
        <p:nvGrpSpPr>
          <p:cNvPr id="57" name="Group 56">
            <a:extLst>
              <a:ext uri="{FF2B5EF4-FFF2-40B4-BE49-F238E27FC236}">
                <a16:creationId xmlns:a16="http://schemas.microsoft.com/office/drawing/2014/main" id="{F26ED42C-95DA-F2A0-063C-71A71E2B2544}"/>
              </a:ext>
            </a:extLst>
          </p:cNvPr>
          <p:cNvGrpSpPr/>
          <p:nvPr/>
        </p:nvGrpSpPr>
        <p:grpSpPr>
          <a:xfrm>
            <a:off x="10943521" y="2613971"/>
            <a:ext cx="1132133" cy="1028544"/>
            <a:chOff x="10988579" y="3396255"/>
            <a:chExt cx="1132133" cy="1028544"/>
          </a:xfrm>
        </p:grpSpPr>
        <p:sp>
          <p:nvSpPr>
            <p:cNvPr id="5427" name="Rectangle: Rounded Corners 5426">
              <a:extLst>
                <a:ext uri="{FF2B5EF4-FFF2-40B4-BE49-F238E27FC236}">
                  <a16:creationId xmlns:a16="http://schemas.microsoft.com/office/drawing/2014/main" id="{F7322F22-848E-2C1D-4CAD-BEB817C1AC98}"/>
                </a:ext>
              </a:extLst>
            </p:cNvPr>
            <p:cNvSpPr/>
            <p:nvPr/>
          </p:nvSpPr>
          <p:spPr>
            <a:xfrm>
              <a:off x="10988579" y="3396255"/>
              <a:ext cx="1080000" cy="1008000"/>
            </a:xfrm>
            <a:prstGeom prst="roundRect">
              <a:avLst>
                <a:gd name="adj" fmla="val 7370"/>
              </a:avLst>
            </a:prstGeom>
            <a:noFill/>
            <a:ln w="2222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5428" name="TextBox 5427">
              <a:extLst>
                <a:ext uri="{FF2B5EF4-FFF2-40B4-BE49-F238E27FC236}">
                  <a16:creationId xmlns:a16="http://schemas.microsoft.com/office/drawing/2014/main" id="{5E080A53-E856-F298-5FDF-B9CDC76E40AB}"/>
                </a:ext>
              </a:extLst>
            </p:cNvPr>
            <p:cNvSpPr txBox="1"/>
            <p:nvPr/>
          </p:nvSpPr>
          <p:spPr>
            <a:xfrm>
              <a:off x="11015148" y="3521099"/>
              <a:ext cx="1105564" cy="90370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171450" indent="-171450">
                <a:buFont typeface="Arial" panose="020B0604020202020204" pitchFamily="34" charset="0"/>
                <a:buChar char="•"/>
              </a:pPr>
              <a:r>
                <a:rPr lang="en-CA" sz="900" noProof="0">
                  <a:solidFill>
                    <a:schemeClr val="tx2">
                      <a:lumMod val="60000"/>
                      <a:lumOff val="40000"/>
                    </a:schemeClr>
                  </a:solidFill>
                </a:rPr>
                <a:t>Downstream Consumers</a:t>
              </a:r>
            </a:p>
            <a:p>
              <a:pPr marL="171450" indent="-171450">
                <a:buFont typeface="Arial" panose="020B0604020202020204" pitchFamily="34" charset="0"/>
                <a:buChar char="•"/>
              </a:pPr>
              <a:r>
                <a:rPr lang="en-CA" sz="900" noProof="0">
                  <a:solidFill>
                    <a:schemeClr val="accent6">
                      <a:lumMod val="75000"/>
                    </a:schemeClr>
                  </a:solidFill>
                </a:rPr>
                <a:t>Enterprise Applications </a:t>
              </a:r>
            </a:p>
            <a:p>
              <a:pPr marL="171450" indent="-171450">
                <a:buFont typeface="Arial" panose="020B0604020202020204" pitchFamily="34" charset="0"/>
                <a:buChar char="•"/>
              </a:pPr>
              <a:r>
                <a:rPr lang="en-CA" sz="900" noProof="0">
                  <a:solidFill>
                    <a:schemeClr val="accent2">
                      <a:lumMod val="75000"/>
                    </a:schemeClr>
                  </a:solidFill>
                </a:rPr>
                <a:t>AI and Analytics Consumers</a:t>
              </a:r>
            </a:p>
          </p:txBody>
        </p:sp>
      </p:grpSp>
      <p:sp>
        <p:nvSpPr>
          <p:cNvPr id="5380" name="Flowchart: Preparation 5379">
            <a:extLst>
              <a:ext uri="{FF2B5EF4-FFF2-40B4-BE49-F238E27FC236}">
                <a16:creationId xmlns:a16="http://schemas.microsoft.com/office/drawing/2014/main" id="{BDEA08E1-F389-6D68-2EB7-0C0BE2C625B8}"/>
              </a:ext>
            </a:extLst>
          </p:cNvPr>
          <p:cNvSpPr>
            <a:spLocks/>
          </p:cNvSpPr>
          <p:nvPr/>
        </p:nvSpPr>
        <p:spPr>
          <a:xfrm>
            <a:off x="5326590" y="1435331"/>
            <a:ext cx="1656000" cy="1224000"/>
          </a:xfrm>
          <a:prstGeom prst="flowChartPreparation">
            <a:avLst/>
          </a:prstGeom>
          <a:solidFill>
            <a:schemeClr val="tx2">
              <a:lumMod val="75000"/>
            </a:schemeClr>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72000" rIns="0" bIns="0" rtlCol="0" anchor="t" anchorCtr="0"/>
          <a:lstStyle/>
          <a:p>
            <a:pPr algn="ctr"/>
            <a:r>
              <a:rPr lang="en-CA" sz="1050" noProof="0">
                <a:solidFill>
                  <a:schemeClr val="bg1"/>
                </a:solidFill>
              </a:rPr>
              <a:t>Business Domain</a:t>
            </a:r>
          </a:p>
        </p:txBody>
      </p:sp>
      <p:sp>
        <p:nvSpPr>
          <p:cNvPr id="90" name="Rectangle: Rounded Corners 89">
            <a:extLst>
              <a:ext uri="{FF2B5EF4-FFF2-40B4-BE49-F238E27FC236}">
                <a16:creationId xmlns:a16="http://schemas.microsoft.com/office/drawing/2014/main" id="{DC9C4E83-41F5-D8D6-A888-DE7A0DA66CE7}"/>
              </a:ext>
            </a:extLst>
          </p:cNvPr>
          <p:cNvSpPr/>
          <p:nvPr/>
        </p:nvSpPr>
        <p:spPr>
          <a:xfrm>
            <a:off x="5578590" y="1821007"/>
            <a:ext cx="1152000" cy="216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sp>
        <p:nvSpPr>
          <p:cNvPr id="96" name="Rectangle: Rounded Corners 95">
            <a:extLst>
              <a:ext uri="{FF2B5EF4-FFF2-40B4-BE49-F238E27FC236}">
                <a16:creationId xmlns:a16="http://schemas.microsoft.com/office/drawing/2014/main" id="{19ED9621-D65D-B89F-B0DD-CCC31E7FFAC5}"/>
              </a:ext>
            </a:extLst>
          </p:cNvPr>
          <p:cNvSpPr/>
          <p:nvPr/>
        </p:nvSpPr>
        <p:spPr>
          <a:xfrm>
            <a:off x="5578590" y="2103948"/>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900" b="1" noProof="0">
                <a:solidFill>
                  <a:schemeClr val="bg2">
                    <a:lumMod val="10000"/>
                  </a:schemeClr>
                </a:solidFill>
              </a:rPr>
              <a:t>Claims</a:t>
            </a:r>
            <a:endParaRPr lang="en-CA" sz="1200" b="1" noProof="0">
              <a:solidFill>
                <a:schemeClr val="bg2">
                  <a:lumMod val="10000"/>
                </a:schemeClr>
              </a:solidFill>
            </a:endParaRPr>
          </a:p>
        </p:txBody>
      </p:sp>
      <p:pic>
        <p:nvPicPr>
          <p:cNvPr id="110" name="Graphic 109" descr="Database with solid fill">
            <a:extLst>
              <a:ext uri="{FF2B5EF4-FFF2-40B4-BE49-F238E27FC236}">
                <a16:creationId xmlns:a16="http://schemas.microsoft.com/office/drawing/2014/main" id="{6E7B0861-181C-3620-7C14-A7475D3A7A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50543" y="2121948"/>
            <a:ext cx="252000" cy="252000"/>
          </a:xfrm>
          <a:prstGeom prst="rect">
            <a:avLst/>
          </a:prstGeom>
        </p:spPr>
      </p:pic>
      <p:sp>
        <p:nvSpPr>
          <p:cNvPr id="126" name="Rectangle: Rounded Corners 125">
            <a:extLst>
              <a:ext uri="{FF2B5EF4-FFF2-40B4-BE49-F238E27FC236}">
                <a16:creationId xmlns:a16="http://schemas.microsoft.com/office/drawing/2014/main" id="{FE69DE58-4328-5E11-57E3-B3ADD5A6B81D}"/>
              </a:ext>
            </a:extLst>
          </p:cNvPr>
          <p:cNvSpPr/>
          <p:nvPr/>
        </p:nvSpPr>
        <p:spPr>
          <a:xfrm>
            <a:off x="5542590" y="1780481"/>
            <a:ext cx="1224000" cy="648000"/>
          </a:xfrm>
          <a:prstGeom prst="roundRect">
            <a:avLst>
              <a:gd name="adj" fmla="val 7823"/>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5392" name="Flowchart: Preparation 5391">
            <a:extLst>
              <a:ext uri="{FF2B5EF4-FFF2-40B4-BE49-F238E27FC236}">
                <a16:creationId xmlns:a16="http://schemas.microsoft.com/office/drawing/2014/main" id="{49AE8D1A-140A-900C-F400-4134895BB8A7}"/>
              </a:ext>
            </a:extLst>
          </p:cNvPr>
          <p:cNvSpPr>
            <a:spLocks/>
          </p:cNvSpPr>
          <p:nvPr/>
        </p:nvSpPr>
        <p:spPr>
          <a:xfrm>
            <a:off x="5326589" y="2739577"/>
            <a:ext cx="1752141" cy="1224000"/>
          </a:xfrm>
          <a:prstGeom prst="flowChartPreparation">
            <a:avLst/>
          </a:prstGeom>
          <a:solidFill>
            <a:schemeClr val="tx2">
              <a:lumMod val="75000"/>
            </a:schemeClr>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t" anchorCtr="0"/>
          <a:lstStyle/>
          <a:p>
            <a:pPr algn="ctr"/>
            <a:r>
              <a:rPr lang="en-CA" sz="1050">
                <a:solidFill>
                  <a:schemeClr val="bg1"/>
                </a:solidFill>
              </a:rPr>
              <a:t>Business Domain</a:t>
            </a:r>
            <a:endParaRPr lang="en-CA" sz="1050" noProof="0">
              <a:solidFill>
                <a:schemeClr val="bg1"/>
              </a:solidFill>
            </a:endParaRPr>
          </a:p>
        </p:txBody>
      </p:sp>
      <p:sp>
        <p:nvSpPr>
          <p:cNvPr id="91" name="Rectangle: Rounded Corners 90">
            <a:extLst>
              <a:ext uri="{FF2B5EF4-FFF2-40B4-BE49-F238E27FC236}">
                <a16:creationId xmlns:a16="http://schemas.microsoft.com/office/drawing/2014/main" id="{42641C41-BF84-6249-BBB0-0158503436C0}"/>
              </a:ext>
            </a:extLst>
          </p:cNvPr>
          <p:cNvSpPr/>
          <p:nvPr/>
        </p:nvSpPr>
        <p:spPr>
          <a:xfrm>
            <a:off x="5578590" y="3125253"/>
            <a:ext cx="1152000" cy="216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sp>
        <p:nvSpPr>
          <p:cNvPr id="106" name="Rectangle: Rounded Corners 105">
            <a:extLst>
              <a:ext uri="{FF2B5EF4-FFF2-40B4-BE49-F238E27FC236}">
                <a16:creationId xmlns:a16="http://schemas.microsoft.com/office/drawing/2014/main" id="{E12F8188-8D54-12DB-54F9-EA277C56D745}"/>
              </a:ext>
            </a:extLst>
          </p:cNvPr>
          <p:cNvSpPr/>
          <p:nvPr/>
        </p:nvSpPr>
        <p:spPr>
          <a:xfrm>
            <a:off x="5578590" y="3408194"/>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ctr"/>
            <a:r>
              <a:rPr lang="en-CA" sz="900" b="1" noProof="0">
                <a:solidFill>
                  <a:schemeClr val="bg2">
                    <a:lumMod val="10000"/>
                  </a:schemeClr>
                </a:solidFill>
              </a:rPr>
              <a:t>Investment Portfolio</a:t>
            </a:r>
            <a:endParaRPr lang="en-CA" sz="1200" b="1" noProof="0">
              <a:solidFill>
                <a:schemeClr val="bg2">
                  <a:lumMod val="10000"/>
                </a:schemeClr>
              </a:solidFill>
            </a:endParaRPr>
          </a:p>
        </p:txBody>
      </p:sp>
      <p:pic>
        <p:nvPicPr>
          <p:cNvPr id="119" name="Graphic 118" descr="Database with solid fill">
            <a:extLst>
              <a:ext uri="{FF2B5EF4-FFF2-40B4-BE49-F238E27FC236}">
                <a16:creationId xmlns:a16="http://schemas.microsoft.com/office/drawing/2014/main" id="{FBA5A664-3218-46EA-FF11-27393284D82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79137" y="3426194"/>
            <a:ext cx="252000" cy="252000"/>
          </a:xfrm>
          <a:prstGeom prst="rect">
            <a:avLst/>
          </a:prstGeom>
        </p:spPr>
      </p:pic>
      <p:sp>
        <p:nvSpPr>
          <p:cNvPr id="129" name="Rectangle: Rounded Corners 128">
            <a:extLst>
              <a:ext uri="{FF2B5EF4-FFF2-40B4-BE49-F238E27FC236}">
                <a16:creationId xmlns:a16="http://schemas.microsoft.com/office/drawing/2014/main" id="{0B7D9363-2368-C2D2-28D4-2331F174548D}"/>
              </a:ext>
            </a:extLst>
          </p:cNvPr>
          <p:cNvSpPr/>
          <p:nvPr/>
        </p:nvSpPr>
        <p:spPr>
          <a:xfrm>
            <a:off x="5542590" y="3084727"/>
            <a:ext cx="1224000" cy="648000"/>
          </a:xfrm>
          <a:prstGeom prst="roundRect">
            <a:avLst>
              <a:gd name="adj" fmla="val 7823"/>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5390" name="Flowchart: Preparation 5389">
            <a:extLst>
              <a:ext uri="{FF2B5EF4-FFF2-40B4-BE49-F238E27FC236}">
                <a16:creationId xmlns:a16="http://schemas.microsoft.com/office/drawing/2014/main" id="{B79C6BC1-E107-1E9C-8792-355457CA2775}"/>
              </a:ext>
            </a:extLst>
          </p:cNvPr>
          <p:cNvSpPr>
            <a:spLocks/>
          </p:cNvSpPr>
          <p:nvPr/>
        </p:nvSpPr>
        <p:spPr>
          <a:xfrm>
            <a:off x="5326590" y="4033480"/>
            <a:ext cx="1656000" cy="1224000"/>
          </a:xfrm>
          <a:prstGeom prst="flowChartPreparation">
            <a:avLst/>
          </a:prstGeom>
          <a:solidFill>
            <a:schemeClr val="tx2">
              <a:lumMod val="75000"/>
            </a:schemeClr>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36000" rIns="0" bIns="0" rtlCol="0" anchor="t"/>
          <a:lstStyle/>
          <a:p>
            <a:pPr algn="ctr"/>
            <a:r>
              <a:rPr lang="en-CA" sz="1050">
                <a:solidFill>
                  <a:schemeClr val="bg1"/>
                </a:solidFill>
              </a:rPr>
              <a:t>Other Area</a:t>
            </a:r>
            <a:endParaRPr lang="en-CA" sz="1050" noProof="0">
              <a:solidFill>
                <a:schemeClr val="bg1"/>
              </a:solidFill>
            </a:endParaRPr>
          </a:p>
        </p:txBody>
      </p:sp>
      <p:sp>
        <p:nvSpPr>
          <p:cNvPr id="92" name="Rectangle: Rounded Corners 91">
            <a:extLst>
              <a:ext uri="{FF2B5EF4-FFF2-40B4-BE49-F238E27FC236}">
                <a16:creationId xmlns:a16="http://schemas.microsoft.com/office/drawing/2014/main" id="{37DD4D16-9C83-5076-2A06-394E6A6D877D}"/>
              </a:ext>
            </a:extLst>
          </p:cNvPr>
          <p:cNvSpPr/>
          <p:nvPr/>
        </p:nvSpPr>
        <p:spPr>
          <a:xfrm>
            <a:off x="5578590" y="4419155"/>
            <a:ext cx="1152000" cy="282835"/>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sp>
        <p:nvSpPr>
          <p:cNvPr id="113" name="Rectangle: Rounded Corners 112">
            <a:extLst>
              <a:ext uri="{FF2B5EF4-FFF2-40B4-BE49-F238E27FC236}">
                <a16:creationId xmlns:a16="http://schemas.microsoft.com/office/drawing/2014/main" id="{E11CE959-7CE1-BE9C-4E6B-11C1D62EAD16}"/>
              </a:ext>
            </a:extLst>
          </p:cNvPr>
          <p:cNvSpPr/>
          <p:nvPr/>
        </p:nvSpPr>
        <p:spPr>
          <a:xfrm>
            <a:off x="5569117" y="4723131"/>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900" b="1" noProof="0">
                <a:solidFill>
                  <a:schemeClr val="bg2">
                    <a:lumMod val="10000"/>
                  </a:schemeClr>
                </a:solidFill>
              </a:rPr>
              <a:t>HR/Employee</a:t>
            </a:r>
            <a:endParaRPr lang="en-CA" sz="1200" b="1" noProof="0">
              <a:solidFill>
                <a:schemeClr val="bg2">
                  <a:lumMod val="10000"/>
                </a:schemeClr>
              </a:solidFill>
            </a:endParaRPr>
          </a:p>
        </p:txBody>
      </p:sp>
      <p:pic>
        <p:nvPicPr>
          <p:cNvPr id="123" name="Graphic 122" descr="Database with solid fill">
            <a:extLst>
              <a:ext uri="{FF2B5EF4-FFF2-40B4-BE49-F238E27FC236}">
                <a16:creationId xmlns:a16="http://schemas.microsoft.com/office/drawing/2014/main" id="{02A1DA74-88AF-FACA-E90E-83BEC125CA4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79137" y="4720097"/>
            <a:ext cx="252000" cy="252000"/>
          </a:xfrm>
          <a:prstGeom prst="rect">
            <a:avLst/>
          </a:prstGeom>
        </p:spPr>
      </p:pic>
      <p:sp>
        <p:nvSpPr>
          <p:cNvPr id="132" name="Rectangle: Rounded Corners 131">
            <a:extLst>
              <a:ext uri="{FF2B5EF4-FFF2-40B4-BE49-F238E27FC236}">
                <a16:creationId xmlns:a16="http://schemas.microsoft.com/office/drawing/2014/main" id="{0302B158-1204-3FED-DB61-524127CF451B}"/>
              </a:ext>
            </a:extLst>
          </p:cNvPr>
          <p:cNvSpPr/>
          <p:nvPr/>
        </p:nvSpPr>
        <p:spPr>
          <a:xfrm>
            <a:off x="5542590" y="4378630"/>
            <a:ext cx="1224000" cy="648000"/>
          </a:xfrm>
          <a:prstGeom prst="roundRect">
            <a:avLst>
              <a:gd name="adj" fmla="val 7823"/>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39" name="Flowchart: Preparation 138">
            <a:extLst>
              <a:ext uri="{FF2B5EF4-FFF2-40B4-BE49-F238E27FC236}">
                <a16:creationId xmlns:a16="http://schemas.microsoft.com/office/drawing/2014/main" id="{8EF111A3-C05D-3935-C031-90C78E854CB1}"/>
              </a:ext>
            </a:extLst>
          </p:cNvPr>
          <p:cNvSpPr>
            <a:spLocks/>
          </p:cNvSpPr>
          <p:nvPr/>
        </p:nvSpPr>
        <p:spPr>
          <a:xfrm>
            <a:off x="7185473" y="1637878"/>
            <a:ext cx="3575569" cy="3240000"/>
          </a:xfrm>
          <a:prstGeom prst="flowChartPreparation">
            <a:avLst/>
          </a:prstGeom>
          <a:solidFill>
            <a:schemeClr val="tx2">
              <a:lumMod val="75000"/>
            </a:schemeClr>
          </a:solidFill>
          <a:ln w="9525">
            <a:no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r>
              <a:rPr lang="en-CA" sz="1050" noProof="0">
                <a:solidFill>
                  <a:schemeClr val="bg1"/>
                </a:solidFill>
              </a:rPr>
              <a:t>Enterprise </a:t>
            </a:r>
          </a:p>
          <a:p>
            <a:pPr algn="ctr"/>
            <a:r>
              <a:rPr lang="en-CA" sz="1050" noProof="0">
                <a:solidFill>
                  <a:schemeClr val="bg1"/>
                </a:solidFill>
              </a:rPr>
              <a:t>(Including 360 Views)</a:t>
            </a:r>
          </a:p>
        </p:txBody>
      </p:sp>
      <p:sp>
        <p:nvSpPr>
          <p:cNvPr id="153" name="Hexagon 152">
            <a:extLst>
              <a:ext uri="{FF2B5EF4-FFF2-40B4-BE49-F238E27FC236}">
                <a16:creationId xmlns:a16="http://schemas.microsoft.com/office/drawing/2014/main" id="{975889EB-CD69-B1A6-6501-40F0B3817B43}"/>
              </a:ext>
            </a:extLst>
          </p:cNvPr>
          <p:cNvSpPr>
            <a:spLocks/>
          </p:cNvSpPr>
          <p:nvPr/>
        </p:nvSpPr>
        <p:spPr>
          <a:xfrm rot="5400000">
            <a:off x="7520545" y="2057137"/>
            <a:ext cx="2880000" cy="2700000"/>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0" tIns="0" rIns="0" bIns="0" rtlCol="0" anchor="t"/>
          <a:lstStyle/>
          <a:p>
            <a:pPr algn="ctr"/>
            <a:r>
              <a:rPr lang="en-CA" sz="1000" b="1" noProof="0">
                <a:solidFill>
                  <a:srgbClr val="298B68"/>
                </a:solidFill>
              </a:rPr>
              <a:t>Customer 360</a:t>
            </a:r>
          </a:p>
        </p:txBody>
      </p:sp>
      <p:sp>
        <p:nvSpPr>
          <p:cNvPr id="154" name="Rectangle: Rounded Corners 153">
            <a:extLst>
              <a:ext uri="{FF2B5EF4-FFF2-40B4-BE49-F238E27FC236}">
                <a16:creationId xmlns:a16="http://schemas.microsoft.com/office/drawing/2014/main" id="{6C134BE4-8442-7E39-6998-175A7BEA6EC8}"/>
              </a:ext>
            </a:extLst>
          </p:cNvPr>
          <p:cNvSpPr/>
          <p:nvPr/>
        </p:nvSpPr>
        <p:spPr>
          <a:xfrm>
            <a:off x="7788333" y="2739981"/>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sp>
        <p:nvSpPr>
          <p:cNvPr id="155" name="Rectangle: Rounded Corners 154">
            <a:extLst>
              <a:ext uri="{FF2B5EF4-FFF2-40B4-BE49-F238E27FC236}">
                <a16:creationId xmlns:a16="http://schemas.microsoft.com/office/drawing/2014/main" id="{0427B33B-FEA0-3991-B8A0-040878A5EAA2}"/>
              </a:ext>
            </a:extLst>
          </p:cNvPr>
          <p:cNvSpPr/>
          <p:nvPr/>
        </p:nvSpPr>
        <p:spPr>
          <a:xfrm>
            <a:off x="8980091" y="2739981"/>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900" b="1" noProof="0">
                <a:solidFill>
                  <a:schemeClr val="bg2">
                    <a:lumMod val="10000"/>
                  </a:schemeClr>
                </a:solidFill>
              </a:rPr>
              <a:t>Claims</a:t>
            </a:r>
            <a:endParaRPr lang="en-CA" sz="1200" b="1" noProof="0">
              <a:solidFill>
                <a:schemeClr val="bg2">
                  <a:lumMod val="10000"/>
                </a:schemeClr>
              </a:solidFill>
            </a:endParaRPr>
          </a:p>
        </p:txBody>
      </p:sp>
      <p:pic>
        <p:nvPicPr>
          <p:cNvPr id="157" name="Graphic 156" descr="Database with solid fill">
            <a:extLst>
              <a:ext uri="{FF2B5EF4-FFF2-40B4-BE49-F238E27FC236}">
                <a16:creationId xmlns:a16="http://schemas.microsoft.com/office/drawing/2014/main" id="{7E309F8C-A26E-04A5-99B6-03FE87E039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8091" y="2757981"/>
            <a:ext cx="252000" cy="252000"/>
          </a:xfrm>
          <a:prstGeom prst="rect">
            <a:avLst/>
          </a:prstGeom>
        </p:spPr>
      </p:pic>
      <p:sp>
        <p:nvSpPr>
          <p:cNvPr id="159" name="Rectangle: Rounded Corners 158">
            <a:extLst>
              <a:ext uri="{FF2B5EF4-FFF2-40B4-BE49-F238E27FC236}">
                <a16:creationId xmlns:a16="http://schemas.microsoft.com/office/drawing/2014/main" id="{E50449D8-C9E5-4901-49D2-7864FE2392FE}"/>
              </a:ext>
            </a:extLst>
          </p:cNvPr>
          <p:cNvSpPr/>
          <p:nvPr/>
        </p:nvSpPr>
        <p:spPr>
          <a:xfrm>
            <a:off x="7788333" y="3118425"/>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sp>
        <p:nvSpPr>
          <p:cNvPr id="160" name="Rectangle: Rounded Corners 159">
            <a:extLst>
              <a:ext uri="{FF2B5EF4-FFF2-40B4-BE49-F238E27FC236}">
                <a16:creationId xmlns:a16="http://schemas.microsoft.com/office/drawing/2014/main" id="{54444F3D-85E9-56FC-F34A-647B48576A32}"/>
              </a:ext>
            </a:extLst>
          </p:cNvPr>
          <p:cNvSpPr/>
          <p:nvPr/>
        </p:nvSpPr>
        <p:spPr>
          <a:xfrm>
            <a:off x="8980091" y="3118425"/>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ctr"/>
            <a:r>
              <a:rPr lang="en-CA" sz="900" b="1" noProof="0">
                <a:solidFill>
                  <a:schemeClr val="bg2">
                    <a:lumMod val="10000"/>
                  </a:schemeClr>
                </a:solidFill>
              </a:rPr>
              <a:t>Investment Portfolio</a:t>
            </a:r>
            <a:endParaRPr lang="en-CA" sz="1200" b="1" noProof="0">
              <a:solidFill>
                <a:schemeClr val="bg2">
                  <a:lumMod val="10000"/>
                </a:schemeClr>
              </a:solidFill>
            </a:endParaRPr>
          </a:p>
        </p:txBody>
      </p:sp>
      <p:pic>
        <p:nvPicPr>
          <p:cNvPr id="161" name="Graphic 160" descr="Database with solid fill">
            <a:extLst>
              <a:ext uri="{FF2B5EF4-FFF2-40B4-BE49-F238E27FC236}">
                <a16:creationId xmlns:a16="http://schemas.microsoft.com/office/drawing/2014/main" id="{5391AA43-1CEC-EB35-3C7D-EBEB3F96A8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8091" y="3136425"/>
            <a:ext cx="252000" cy="252000"/>
          </a:xfrm>
          <a:prstGeom prst="rect">
            <a:avLst/>
          </a:prstGeom>
        </p:spPr>
      </p:pic>
      <p:sp>
        <p:nvSpPr>
          <p:cNvPr id="168" name="Rectangle: Rounded Corners 167">
            <a:extLst>
              <a:ext uri="{FF2B5EF4-FFF2-40B4-BE49-F238E27FC236}">
                <a16:creationId xmlns:a16="http://schemas.microsoft.com/office/drawing/2014/main" id="{2C305505-10D1-C072-ECCE-38ACA155CE70}"/>
              </a:ext>
            </a:extLst>
          </p:cNvPr>
          <p:cNvSpPr/>
          <p:nvPr/>
        </p:nvSpPr>
        <p:spPr>
          <a:xfrm>
            <a:off x="9018102" y="3821034"/>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900" b="1">
                <a:solidFill>
                  <a:schemeClr val="bg2">
                    <a:lumMod val="10000"/>
                  </a:schemeClr>
                </a:solidFill>
              </a:rPr>
              <a:t>HR/</a:t>
            </a:r>
            <a:r>
              <a:rPr lang="en-CA" sz="900" b="1" noProof="0">
                <a:solidFill>
                  <a:schemeClr val="bg2">
                    <a:lumMod val="10000"/>
                  </a:schemeClr>
                </a:solidFill>
              </a:rPr>
              <a:t>Employee</a:t>
            </a:r>
            <a:endParaRPr lang="en-CA" sz="1200" b="1" noProof="0">
              <a:solidFill>
                <a:schemeClr val="bg2">
                  <a:lumMod val="10000"/>
                </a:schemeClr>
              </a:solidFill>
            </a:endParaRPr>
          </a:p>
        </p:txBody>
      </p:sp>
      <p:cxnSp>
        <p:nvCxnSpPr>
          <p:cNvPr id="172" name="Straight Connector 171">
            <a:extLst>
              <a:ext uri="{FF2B5EF4-FFF2-40B4-BE49-F238E27FC236}">
                <a16:creationId xmlns:a16="http://schemas.microsoft.com/office/drawing/2014/main" id="{3F09716A-10C8-58FD-8A0E-9B1B70C1BC94}"/>
              </a:ext>
            </a:extLst>
          </p:cNvPr>
          <p:cNvCxnSpPr/>
          <p:nvPr/>
        </p:nvCxnSpPr>
        <p:spPr>
          <a:xfrm>
            <a:off x="7874158" y="3073203"/>
            <a:ext cx="2160000" cy="0"/>
          </a:xfrm>
          <a:prstGeom prst="line">
            <a:avLst/>
          </a:prstGeom>
          <a:ln w="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D0352060-D411-D769-1411-2783DE4D1A35}"/>
              </a:ext>
            </a:extLst>
          </p:cNvPr>
          <p:cNvGrpSpPr/>
          <p:nvPr/>
        </p:nvGrpSpPr>
        <p:grpSpPr>
          <a:xfrm>
            <a:off x="7788333" y="3524946"/>
            <a:ext cx="2343758" cy="244200"/>
            <a:chOff x="8640634" y="4383391"/>
            <a:chExt cx="2343758" cy="244200"/>
          </a:xfrm>
        </p:grpSpPr>
        <p:sp>
          <p:nvSpPr>
            <p:cNvPr id="178" name="Rectangle: Rounded Corners 177">
              <a:extLst>
                <a:ext uri="{FF2B5EF4-FFF2-40B4-BE49-F238E27FC236}">
                  <a16:creationId xmlns:a16="http://schemas.microsoft.com/office/drawing/2014/main" id="{5D07F939-E40F-0DBD-5A04-E1909810A41A}"/>
                </a:ext>
              </a:extLst>
            </p:cNvPr>
            <p:cNvSpPr/>
            <p:nvPr/>
          </p:nvSpPr>
          <p:spPr>
            <a:xfrm>
              <a:off x="8640634" y="4397491"/>
              <a:ext cx="2343758" cy="216000"/>
            </a:xfrm>
            <a:prstGeom prst="roundRect">
              <a:avLst/>
            </a:prstGeom>
            <a:solidFill>
              <a:schemeClr val="bg1"/>
            </a:solidFill>
            <a:ln w="63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b="1" noProof="0">
                  <a:solidFill>
                    <a:schemeClr val="tx2">
                      <a:lumMod val="75000"/>
                    </a:schemeClr>
                  </a:solidFill>
                </a:rPr>
                <a:t>Enterprise-Person-ID</a:t>
              </a:r>
              <a:endParaRPr lang="en-CA" sz="1400" b="1" noProof="0">
                <a:solidFill>
                  <a:schemeClr val="tx2">
                    <a:lumMod val="75000"/>
                  </a:schemeClr>
                </a:solidFill>
              </a:endParaRPr>
            </a:p>
          </p:txBody>
        </p:sp>
        <p:sp>
          <p:nvSpPr>
            <p:cNvPr id="14" name="Graphic 12" descr="Old Key with solid fill">
              <a:extLst>
                <a:ext uri="{FF2B5EF4-FFF2-40B4-BE49-F238E27FC236}">
                  <a16:creationId xmlns:a16="http://schemas.microsoft.com/office/drawing/2014/main" id="{16F9E199-CA07-CE52-D666-E797F8B4DC24}"/>
                </a:ext>
              </a:extLst>
            </p:cNvPr>
            <p:cNvSpPr/>
            <p:nvPr/>
          </p:nvSpPr>
          <p:spPr>
            <a:xfrm rot="2710433">
              <a:off x="8777677" y="4382331"/>
              <a:ext cx="244200" cy="246320"/>
            </a:xfrm>
            <a:custGeom>
              <a:avLst/>
              <a:gdLst>
                <a:gd name="csX0" fmla="*/ 244200 w 244200"/>
                <a:gd name="csY0" fmla="*/ 62121 h 246320"/>
                <a:gd name="csX1" fmla="*/ 237000 w 244200"/>
                <a:gd name="csY1" fmla="*/ 54921 h 246320"/>
                <a:gd name="csX2" fmla="*/ 229200 w 244200"/>
                <a:gd name="csY2" fmla="*/ 54921 h 246320"/>
                <a:gd name="csX3" fmla="*/ 221400 w 244200"/>
                <a:gd name="csY3" fmla="*/ 15321 h 246320"/>
                <a:gd name="csX4" fmla="*/ 189900 w 244200"/>
                <a:gd name="csY4" fmla="*/ 15321 h 246320"/>
                <a:gd name="csX5" fmla="*/ 189900 w 244200"/>
                <a:gd name="csY5" fmla="*/ 7821 h 246320"/>
                <a:gd name="csX6" fmla="*/ 183300 w 244200"/>
                <a:gd name="csY6" fmla="*/ 21 h 246320"/>
                <a:gd name="csX7" fmla="*/ 175200 w 244200"/>
                <a:gd name="csY7" fmla="*/ 6621 h 246320"/>
                <a:gd name="csX8" fmla="*/ 175200 w 244200"/>
                <a:gd name="csY8" fmla="*/ 7521 h 246320"/>
                <a:gd name="csX9" fmla="*/ 175200 w 244200"/>
                <a:gd name="csY9" fmla="*/ 15021 h 246320"/>
                <a:gd name="csX10" fmla="*/ 173100 w 244200"/>
                <a:gd name="csY10" fmla="*/ 12621 h 246320"/>
                <a:gd name="csX11" fmla="*/ 132900 w 244200"/>
                <a:gd name="csY11" fmla="*/ 12621 h 246320"/>
                <a:gd name="csX12" fmla="*/ 132900 w 244200"/>
                <a:gd name="csY12" fmla="*/ 52821 h 246320"/>
                <a:gd name="csX13" fmla="*/ 135300 w 244200"/>
                <a:gd name="csY13" fmla="*/ 54921 h 246320"/>
                <a:gd name="csX14" fmla="*/ 128100 w 244200"/>
                <a:gd name="csY14" fmla="*/ 54921 h 246320"/>
                <a:gd name="csX15" fmla="*/ 120300 w 244200"/>
                <a:gd name="csY15" fmla="*/ 61521 h 246320"/>
                <a:gd name="csX16" fmla="*/ 126900 w 244200"/>
                <a:gd name="csY16" fmla="*/ 69621 h 246320"/>
                <a:gd name="csX17" fmla="*/ 127800 w 244200"/>
                <a:gd name="csY17" fmla="*/ 69621 h 246320"/>
                <a:gd name="csX18" fmla="*/ 135000 w 244200"/>
                <a:gd name="csY18" fmla="*/ 69621 h 246320"/>
                <a:gd name="csX19" fmla="*/ 130200 w 244200"/>
                <a:gd name="csY19" fmla="*/ 87321 h 246320"/>
                <a:gd name="csX20" fmla="*/ 126600 w 244200"/>
                <a:gd name="csY20" fmla="*/ 96021 h 246320"/>
                <a:gd name="csX21" fmla="*/ 1800 w 244200"/>
                <a:gd name="csY21" fmla="*/ 221421 h 246320"/>
                <a:gd name="csX22" fmla="*/ 1800 w 244200"/>
                <a:gd name="csY22" fmla="*/ 229821 h 246320"/>
                <a:gd name="csX23" fmla="*/ 14400 w 244200"/>
                <a:gd name="csY23" fmla="*/ 242421 h 246320"/>
                <a:gd name="csX24" fmla="*/ 22800 w 244200"/>
                <a:gd name="csY24" fmla="*/ 242421 h 246320"/>
                <a:gd name="csX25" fmla="*/ 31200 w 244200"/>
                <a:gd name="csY25" fmla="*/ 234021 h 246320"/>
                <a:gd name="csX26" fmla="*/ 41700 w 244200"/>
                <a:gd name="csY26" fmla="*/ 244521 h 246320"/>
                <a:gd name="csX27" fmla="*/ 50100 w 244200"/>
                <a:gd name="csY27" fmla="*/ 244521 h 246320"/>
                <a:gd name="csX28" fmla="*/ 58500 w 244200"/>
                <a:gd name="csY28" fmla="*/ 236121 h 246320"/>
                <a:gd name="csX29" fmla="*/ 58500 w 244200"/>
                <a:gd name="csY29" fmla="*/ 227721 h 246320"/>
                <a:gd name="csX30" fmla="*/ 48000 w 244200"/>
                <a:gd name="csY30" fmla="*/ 217221 h 246320"/>
                <a:gd name="csX31" fmla="*/ 56400 w 244200"/>
                <a:gd name="csY31" fmla="*/ 208821 h 246320"/>
                <a:gd name="csX32" fmla="*/ 73500 w 244200"/>
                <a:gd name="csY32" fmla="*/ 225921 h 246320"/>
                <a:gd name="csX33" fmla="*/ 81900 w 244200"/>
                <a:gd name="csY33" fmla="*/ 225921 h 246320"/>
                <a:gd name="csX34" fmla="*/ 81900 w 244200"/>
                <a:gd name="csY34" fmla="*/ 225921 h 246320"/>
                <a:gd name="csX35" fmla="*/ 94500 w 244200"/>
                <a:gd name="csY35" fmla="*/ 213321 h 246320"/>
                <a:gd name="csX36" fmla="*/ 94500 w 244200"/>
                <a:gd name="csY36" fmla="*/ 204921 h 246320"/>
                <a:gd name="csX37" fmla="*/ 78000 w 244200"/>
                <a:gd name="csY37" fmla="*/ 187521 h 246320"/>
                <a:gd name="csX38" fmla="*/ 147900 w 244200"/>
                <a:gd name="csY38" fmla="*/ 117621 h 246320"/>
                <a:gd name="csX39" fmla="*/ 156900 w 244200"/>
                <a:gd name="csY39" fmla="*/ 114021 h 246320"/>
                <a:gd name="csX40" fmla="*/ 158700 w 244200"/>
                <a:gd name="csY40" fmla="*/ 114021 h 246320"/>
                <a:gd name="csX41" fmla="*/ 174600 w 244200"/>
                <a:gd name="csY41" fmla="*/ 109221 h 246320"/>
                <a:gd name="csX42" fmla="*/ 174600 w 244200"/>
                <a:gd name="csY42" fmla="*/ 117021 h 246320"/>
                <a:gd name="csX43" fmla="*/ 181200 w 244200"/>
                <a:gd name="csY43" fmla="*/ 124821 h 246320"/>
                <a:gd name="csX44" fmla="*/ 189300 w 244200"/>
                <a:gd name="csY44" fmla="*/ 118221 h 246320"/>
                <a:gd name="csX45" fmla="*/ 189300 w 244200"/>
                <a:gd name="csY45" fmla="*/ 117321 h 246320"/>
                <a:gd name="csX46" fmla="*/ 189300 w 244200"/>
                <a:gd name="csY46" fmla="*/ 109821 h 246320"/>
                <a:gd name="csX47" fmla="*/ 191400 w 244200"/>
                <a:gd name="csY47" fmla="*/ 112221 h 246320"/>
                <a:gd name="csX48" fmla="*/ 231600 w 244200"/>
                <a:gd name="csY48" fmla="*/ 112221 h 246320"/>
                <a:gd name="csX49" fmla="*/ 231600 w 244200"/>
                <a:gd name="csY49" fmla="*/ 72021 h 246320"/>
                <a:gd name="csX50" fmla="*/ 231600 w 244200"/>
                <a:gd name="csY50" fmla="*/ 72021 h 246320"/>
                <a:gd name="csX51" fmla="*/ 229200 w 244200"/>
                <a:gd name="csY51" fmla="*/ 69921 h 246320"/>
                <a:gd name="csX52" fmla="*/ 236700 w 244200"/>
                <a:gd name="csY52" fmla="*/ 69921 h 246320"/>
                <a:gd name="csX53" fmla="*/ 244200 w 244200"/>
                <a:gd name="csY53" fmla="*/ 62421 h 246320"/>
                <a:gd name="csX54" fmla="*/ 244200 w 244200"/>
                <a:gd name="csY54" fmla="*/ 62121 h 246320"/>
                <a:gd name="csX55" fmla="*/ 195900 w 244200"/>
                <a:gd name="csY55" fmla="*/ 29421 h 246320"/>
                <a:gd name="csX56" fmla="*/ 215100 w 244200"/>
                <a:gd name="csY56" fmla="*/ 29421 h 246320"/>
                <a:gd name="csX57" fmla="*/ 215100 w 244200"/>
                <a:gd name="csY57" fmla="*/ 48621 h 246320"/>
                <a:gd name="csX58" fmla="*/ 195900 w 244200"/>
                <a:gd name="csY58" fmla="*/ 48621 h 246320"/>
                <a:gd name="csX59" fmla="*/ 192000 w 244200"/>
                <a:gd name="csY59" fmla="*/ 39021 h 246320"/>
                <a:gd name="csX60" fmla="*/ 195900 w 244200"/>
                <a:gd name="csY60" fmla="*/ 29421 h 246320"/>
                <a:gd name="csX61" fmla="*/ 142800 w 244200"/>
                <a:gd name="csY61" fmla="*/ 23121 h 246320"/>
                <a:gd name="csX62" fmla="*/ 162000 w 244200"/>
                <a:gd name="csY62" fmla="*/ 23121 h 246320"/>
                <a:gd name="csX63" fmla="*/ 162000 w 244200"/>
                <a:gd name="csY63" fmla="*/ 42321 h 246320"/>
                <a:gd name="csX64" fmla="*/ 142800 w 244200"/>
                <a:gd name="csY64" fmla="*/ 42321 h 246320"/>
                <a:gd name="csX65" fmla="*/ 138900 w 244200"/>
                <a:gd name="csY65" fmla="*/ 32721 h 246320"/>
                <a:gd name="csX66" fmla="*/ 142800 w 244200"/>
                <a:gd name="csY66" fmla="*/ 23121 h 246320"/>
                <a:gd name="csX67" fmla="*/ 168300 w 244200"/>
                <a:gd name="csY67" fmla="*/ 95421 h 246320"/>
                <a:gd name="csX68" fmla="*/ 149100 w 244200"/>
                <a:gd name="csY68" fmla="*/ 95421 h 246320"/>
                <a:gd name="csX69" fmla="*/ 149100 w 244200"/>
                <a:gd name="csY69" fmla="*/ 76221 h 246320"/>
                <a:gd name="csX70" fmla="*/ 168300 w 244200"/>
                <a:gd name="csY70" fmla="*/ 76221 h 246320"/>
                <a:gd name="csX71" fmla="*/ 172200 w 244200"/>
                <a:gd name="csY71" fmla="*/ 85821 h 246320"/>
                <a:gd name="csX72" fmla="*/ 168300 w 244200"/>
                <a:gd name="csY72" fmla="*/ 95421 h 246320"/>
                <a:gd name="csX73" fmla="*/ 221400 w 244200"/>
                <a:gd name="csY73" fmla="*/ 101721 h 246320"/>
                <a:gd name="csX74" fmla="*/ 202200 w 244200"/>
                <a:gd name="csY74" fmla="*/ 101721 h 246320"/>
                <a:gd name="csX75" fmla="*/ 202200 w 244200"/>
                <a:gd name="csY75" fmla="*/ 82521 h 246320"/>
                <a:gd name="csX76" fmla="*/ 221400 w 244200"/>
                <a:gd name="csY76" fmla="*/ 82521 h 246320"/>
                <a:gd name="csX77" fmla="*/ 225300 w 244200"/>
                <a:gd name="csY77" fmla="*/ 92121 h 246320"/>
                <a:gd name="csX78" fmla="*/ 221400 w 244200"/>
                <a:gd name="csY78" fmla="*/ 101721 h 246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244200" h="246320">
                  <a:moveTo>
                    <a:pt x="244200" y="62121"/>
                  </a:moveTo>
                  <a:cubicBezTo>
                    <a:pt x="244200" y="58221"/>
                    <a:pt x="240900" y="54921"/>
                    <a:pt x="237000" y="54921"/>
                  </a:cubicBezTo>
                  <a:lnTo>
                    <a:pt x="229200" y="54921"/>
                  </a:lnTo>
                  <a:cubicBezTo>
                    <a:pt x="237900" y="41721"/>
                    <a:pt x="234300" y="24021"/>
                    <a:pt x="221400" y="15321"/>
                  </a:cubicBezTo>
                  <a:cubicBezTo>
                    <a:pt x="211800" y="9021"/>
                    <a:pt x="199500" y="9021"/>
                    <a:pt x="189900" y="15321"/>
                  </a:cubicBezTo>
                  <a:lnTo>
                    <a:pt x="189900" y="7821"/>
                  </a:lnTo>
                  <a:cubicBezTo>
                    <a:pt x="189900" y="3921"/>
                    <a:pt x="187200" y="621"/>
                    <a:pt x="183300" y="21"/>
                  </a:cubicBezTo>
                  <a:cubicBezTo>
                    <a:pt x="179100" y="-279"/>
                    <a:pt x="175500" y="2721"/>
                    <a:pt x="175200" y="6621"/>
                  </a:cubicBezTo>
                  <a:cubicBezTo>
                    <a:pt x="175200" y="6921"/>
                    <a:pt x="175200" y="7221"/>
                    <a:pt x="175200" y="7521"/>
                  </a:cubicBezTo>
                  <a:lnTo>
                    <a:pt x="175200" y="15021"/>
                  </a:lnTo>
                  <a:cubicBezTo>
                    <a:pt x="174600" y="14121"/>
                    <a:pt x="174000" y="13521"/>
                    <a:pt x="173100" y="12621"/>
                  </a:cubicBezTo>
                  <a:cubicBezTo>
                    <a:pt x="162000" y="1521"/>
                    <a:pt x="144000" y="1521"/>
                    <a:pt x="132900" y="12621"/>
                  </a:cubicBezTo>
                  <a:cubicBezTo>
                    <a:pt x="121800" y="23721"/>
                    <a:pt x="121800" y="41721"/>
                    <a:pt x="132900" y="52821"/>
                  </a:cubicBezTo>
                  <a:cubicBezTo>
                    <a:pt x="133500" y="53421"/>
                    <a:pt x="134400" y="54321"/>
                    <a:pt x="135300" y="54921"/>
                  </a:cubicBezTo>
                  <a:lnTo>
                    <a:pt x="128100" y="54921"/>
                  </a:lnTo>
                  <a:cubicBezTo>
                    <a:pt x="124200" y="54921"/>
                    <a:pt x="120900" y="57621"/>
                    <a:pt x="120300" y="61521"/>
                  </a:cubicBezTo>
                  <a:cubicBezTo>
                    <a:pt x="120000" y="65721"/>
                    <a:pt x="123000" y="69321"/>
                    <a:pt x="126900" y="69621"/>
                  </a:cubicBezTo>
                  <a:cubicBezTo>
                    <a:pt x="127200" y="69621"/>
                    <a:pt x="127500" y="69621"/>
                    <a:pt x="127800" y="69621"/>
                  </a:cubicBezTo>
                  <a:lnTo>
                    <a:pt x="135000" y="69621"/>
                  </a:lnTo>
                  <a:cubicBezTo>
                    <a:pt x="131400" y="74721"/>
                    <a:pt x="129900" y="81021"/>
                    <a:pt x="130200" y="87321"/>
                  </a:cubicBezTo>
                  <a:cubicBezTo>
                    <a:pt x="130200" y="90621"/>
                    <a:pt x="129000" y="93921"/>
                    <a:pt x="126600" y="96021"/>
                  </a:cubicBezTo>
                  <a:lnTo>
                    <a:pt x="1800" y="221421"/>
                  </a:lnTo>
                  <a:cubicBezTo>
                    <a:pt x="-600" y="223821"/>
                    <a:pt x="-600" y="227421"/>
                    <a:pt x="1800" y="229821"/>
                  </a:cubicBezTo>
                  <a:lnTo>
                    <a:pt x="14400" y="242421"/>
                  </a:lnTo>
                  <a:cubicBezTo>
                    <a:pt x="16800" y="244821"/>
                    <a:pt x="20400" y="244821"/>
                    <a:pt x="22800" y="242421"/>
                  </a:cubicBezTo>
                  <a:lnTo>
                    <a:pt x="31200" y="234021"/>
                  </a:lnTo>
                  <a:lnTo>
                    <a:pt x="41700" y="244521"/>
                  </a:lnTo>
                  <a:cubicBezTo>
                    <a:pt x="44100" y="246921"/>
                    <a:pt x="47700" y="246921"/>
                    <a:pt x="50100" y="244521"/>
                  </a:cubicBezTo>
                  <a:lnTo>
                    <a:pt x="58500" y="236121"/>
                  </a:lnTo>
                  <a:cubicBezTo>
                    <a:pt x="60900" y="233721"/>
                    <a:pt x="60900" y="230121"/>
                    <a:pt x="58500" y="227721"/>
                  </a:cubicBezTo>
                  <a:lnTo>
                    <a:pt x="48000" y="217221"/>
                  </a:lnTo>
                  <a:lnTo>
                    <a:pt x="56400" y="208821"/>
                  </a:lnTo>
                  <a:lnTo>
                    <a:pt x="73500" y="225921"/>
                  </a:lnTo>
                  <a:cubicBezTo>
                    <a:pt x="75900" y="228321"/>
                    <a:pt x="79500" y="228321"/>
                    <a:pt x="81900" y="225921"/>
                  </a:cubicBezTo>
                  <a:lnTo>
                    <a:pt x="81900" y="225921"/>
                  </a:lnTo>
                  <a:lnTo>
                    <a:pt x="94500" y="213321"/>
                  </a:lnTo>
                  <a:cubicBezTo>
                    <a:pt x="96900" y="210921"/>
                    <a:pt x="96900" y="207321"/>
                    <a:pt x="94500" y="204921"/>
                  </a:cubicBezTo>
                  <a:lnTo>
                    <a:pt x="78000" y="187521"/>
                  </a:lnTo>
                  <a:lnTo>
                    <a:pt x="147900" y="117621"/>
                  </a:lnTo>
                  <a:cubicBezTo>
                    <a:pt x="150300" y="115221"/>
                    <a:pt x="153600" y="114021"/>
                    <a:pt x="156900" y="114021"/>
                  </a:cubicBezTo>
                  <a:cubicBezTo>
                    <a:pt x="157500" y="114021"/>
                    <a:pt x="158100" y="114021"/>
                    <a:pt x="158700" y="114021"/>
                  </a:cubicBezTo>
                  <a:cubicBezTo>
                    <a:pt x="164400" y="114021"/>
                    <a:pt x="169800" y="112221"/>
                    <a:pt x="174600" y="109221"/>
                  </a:cubicBezTo>
                  <a:lnTo>
                    <a:pt x="174600" y="117021"/>
                  </a:lnTo>
                  <a:cubicBezTo>
                    <a:pt x="174600" y="120921"/>
                    <a:pt x="177300" y="124221"/>
                    <a:pt x="181200" y="124821"/>
                  </a:cubicBezTo>
                  <a:cubicBezTo>
                    <a:pt x="185400" y="125121"/>
                    <a:pt x="189000" y="122121"/>
                    <a:pt x="189300" y="118221"/>
                  </a:cubicBezTo>
                  <a:cubicBezTo>
                    <a:pt x="189300" y="117921"/>
                    <a:pt x="189300" y="117621"/>
                    <a:pt x="189300" y="117321"/>
                  </a:cubicBezTo>
                  <a:lnTo>
                    <a:pt x="189300" y="109821"/>
                  </a:lnTo>
                  <a:cubicBezTo>
                    <a:pt x="189900" y="110721"/>
                    <a:pt x="190500" y="111321"/>
                    <a:pt x="191400" y="112221"/>
                  </a:cubicBezTo>
                  <a:cubicBezTo>
                    <a:pt x="202500" y="123321"/>
                    <a:pt x="220500" y="123321"/>
                    <a:pt x="231600" y="112221"/>
                  </a:cubicBezTo>
                  <a:cubicBezTo>
                    <a:pt x="242700" y="101121"/>
                    <a:pt x="242700" y="83121"/>
                    <a:pt x="231600" y="72021"/>
                  </a:cubicBezTo>
                  <a:lnTo>
                    <a:pt x="231600" y="72021"/>
                  </a:lnTo>
                  <a:cubicBezTo>
                    <a:pt x="231000" y="71421"/>
                    <a:pt x="230100" y="70521"/>
                    <a:pt x="229200" y="69921"/>
                  </a:cubicBezTo>
                  <a:lnTo>
                    <a:pt x="236700" y="69921"/>
                  </a:lnTo>
                  <a:cubicBezTo>
                    <a:pt x="240900" y="69921"/>
                    <a:pt x="244200" y="66621"/>
                    <a:pt x="244200" y="62421"/>
                  </a:cubicBezTo>
                  <a:lnTo>
                    <a:pt x="244200" y="62121"/>
                  </a:lnTo>
                  <a:close/>
                  <a:moveTo>
                    <a:pt x="195900" y="29421"/>
                  </a:moveTo>
                  <a:cubicBezTo>
                    <a:pt x="201300" y="24021"/>
                    <a:pt x="209700" y="24021"/>
                    <a:pt x="215100" y="29421"/>
                  </a:cubicBezTo>
                  <a:cubicBezTo>
                    <a:pt x="220500" y="34821"/>
                    <a:pt x="220500" y="43221"/>
                    <a:pt x="215100" y="48621"/>
                  </a:cubicBezTo>
                  <a:cubicBezTo>
                    <a:pt x="209700" y="54021"/>
                    <a:pt x="201300" y="54021"/>
                    <a:pt x="195900" y="48621"/>
                  </a:cubicBezTo>
                  <a:cubicBezTo>
                    <a:pt x="193500" y="46221"/>
                    <a:pt x="192000" y="42621"/>
                    <a:pt x="192000" y="39021"/>
                  </a:cubicBezTo>
                  <a:cubicBezTo>
                    <a:pt x="192000" y="35421"/>
                    <a:pt x="193200" y="32121"/>
                    <a:pt x="195900" y="29421"/>
                  </a:cubicBezTo>
                  <a:close/>
                  <a:moveTo>
                    <a:pt x="142800" y="23121"/>
                  </a:moveTo>
                  <a:cubicBezTo>
                    <a:pt x="148200" y="17721"/>
                    <a:pt x="156600" y="17721"/>
                    <a:pt x="162000" y="23121"/>
                  </a:cubicBezTo>
                  <a:cubicBezTo>
                    <a:pt x="167400" y="28521"/>
                    <a:pt x="167400" y="36921"/>
                    <a:pt x="162000" y="42321"/>
                  </a:cubicBezTo>
                  <a:cubicBezTo>
                    <a:pt x="156600" y="47721"/>
                    <a:pt x="148200" y="47721"/>
                    <a:pt x="142800" y="42321"/>
                  </a:cubicBezTo>
                  <a:cubicBezTo>
                    <a:pt x="140400" y="39921"/>
                    <a:pt x="138900" y="36321"/>
                    <a:pt x="138900" y="32721"/>
                  </a:cubicBezTo>
                  <a:cubicBezTo>
                    <a:pt x="138900" y="29121"/>
                    <a:pt x="140400" y="25821"/>
                    <a:pt x="142800" y="23121"/>
                  </a:cubicBezTo>
                  <a:close/>
                  <a:moveTo>
                    <a:pt x="168300" y="95421"/>
                  </a:moveTo>
                  <a:cubicBezTo>
                    <a:pt x="162900" y="100821"/>
                    <a:pt x="154500" y="100821"/>
                    <a:pt x="149100" y="95421"/>
                  </a:cubicBezTo>
                  <a:cubicBezTo>
                    <a:pt x="143700" y="90021"/>
                    <a:pt x="143700" y="81621"/>
                    <a:pt x="149100" y="76221"/>
                  </a:cubicBezTo>
                  <a:cubicBezTo>
                    <a:pt x="154500" y="70821"/>
                    <a:pt x="162900" y="70821"/>
                    <a:pt x="168300" y="76221"/>
                  </a:cubicBezTo>
                  <a:cubicBezTo>
                    <a:pt x="170700" y="78621"/>
                    <a:pt x="172200" y="82221"/>
                    <a:pt x="172200" y="85821"/>
                  </a:cubicBezTo>
                  <a:cubicBezTo>
                    <a:pt x="172200" y="89421"/>
                    <a:pt x="170700" y="92721"/>
                    <a:pt x="168300" y="95421"/>
                  </a:cubicBezTo>
                  <a:close/>
                  <a:moveTo>
                    <a:pt x="221400" y="101721"/>
                  </a:moveTo>
                  <a:cubicBezTo>
                    <a:pt x="216000" y="107121"/>
                    <a:pt x="207600" y="107121"/>
                    <a:pt x="202200" y="101721"/>
                  </a:cubicBezTo>
                  <a:cubicBezTo>
                    <a:pt x="196800" y="96321"/>
                    <a:pt x="196800" y="87921"/>
                    <a:pt x="202200" y="82521"/>
                  </a:cubicBezTo>
                  <a:cubicBezTo>
                    <a:pt x="207600" y="77121"/>
                    <a:pt x="216000" y="77121"/>
                    <a:pt x="221400" y="82521"/>
                  </a:cubicBezTo>
                  <a:cubicBezTo>
                    <a:pt x="223800" y="84921"/>
                    <a:pt x="225300" y="88521"/>
                    <a:pt x="225300" y="92121"/>
                  </a:cubicBezTo>
                  <a:cubicBezTo>
                    <a:pt x="225300" y="95721"/>
                    <a:pt x="223800" y="99021"/>
                    <a:pt x="221400" y="101721"/>
                  </a:cubicBezTo>
                  <a:close/>
                </a:path>
              </a:pathLst>
            </a:custGeom>
            <a:solidFill>
              <a:schemeClr val="tx2">
                <a:lumMod val="75000"/>
              </a:schemeClr>
            </a:solidFill>
            <a:ln w="2977" cap="flat">
              <a:noFill/>
              <a:prstDash val="solid"/>
              <a:miter/>
            </a:ln>
          </p:spPr>
          <p:txBody>
            <a:bodyPr/>
            <a:lstStyle/>
            <a:p>
              <a:endParaRPr lang="en-CA" noProof="0"/>
            </a:p>
          </p:txBody>
        </p:sp>
      </p:grpSp>
      <p:sp>
        <p:nvSpPr>
          <p:cNvPr id="18" name="Rectangle: Rounded Corners 17">
            <a:extLst>
              <a:ext uri="{FF2B5EF4-FFF2-40B4-BE49-F238E27FC236}">
                <a16:creationId xmlns:a16="http://schemas.microsoft.com/office/drawing/2014/main" id="{5036936F-3BE5-5399-AABF-B8A63F98D35F}"/>
              </a:ext>
            </a:extLst>
          </p:cNvPr>
          <p:cNvSpPr/>
          <p:nvPr/>
        </p:nvSpPr>
        <p:spPr>
          <a:xfrm>
            <a:off x="7729153" y="2698009"/>
            <a:ext cx="2462784" cy="801368"/>
          </a:xfrm>
          <a:prstGeom prst="roundRect">
            <a:avLst>
              <a:gd name="adj" fmla="val 7823"/>
            </a:avLst>
          </a:prstGeom>
          <a:noFill/>
          <a:ln w="6350">
            <a:solidFill>
              <a:srgbClr val="515349"/>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cxnSp>
        <p:nvCxnSpPr>
          <p:cNvPr id="44" name="Connector: Elbow 43">
            <a:extLst>
              <a:ext uri="{FF2B5EF4-FFF2-40B4-BE49-F238E27FC236}">
                <a16:creationId xmlns:a16="http://schemas.microsoft.com/office/drawing/2014/main" id="{C55A8F16-1D89-C0AE-CD83-74B7DBEA15E7}"/>
              </a:ext>
            </a:extLst>
          </p:cNvPr>
          <p:cNvCxnSpPr>
            <a:cxnSpLocks/>
            <a:stCxn id="132" idx="3"/>
            <a:endCxn id="5397" idx="1"/>
          </p:cNvCxnSpPr>
          <p:nvPr/>
        </p:nvCxnSpPr>
        <p:spPr>
          <a:xfrm flipV="1">
            <a:off x="6766590" y="3976514"/>
            <a:ext cx="948724" cy="726116"/>
          </a:xfrm>
          <a:prstGeom prst="bentConnector3">
            <a:avLst>
              <a:gd name="adj1" fmla="val 50000"/>
            </a:avLst>
          </a:prstGeom>
          <a:ln w="22225">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55" name="Connector: Elbow 54">
            <a:extLst>
              <a:ext uri="{FF2B5EF4-FFF2-40B4-BE49-F238E27FC236}">
                <a16:creationId xmlns:a16="http://schemas.microsoft.com/office/drawing/2014/main" id="{D16674D8-4163-B9A9-FB79-D1FEF36B93DF}"/>
              </a:ext>
            </a:extLst>
          </p:cNvPr>
          <p:cNvCxnSpPr>
            <a:cxnSpLocks/>
            <a:stCxn id="126" idx="3"/>
            <a:endCxn id="18" idx="1"/>
          </p:cNvCxnSpPr>
          <p:nvPr/>
        </p:nvCxnSpPr>
        <p:spPr>
          <a:xfrm>
            <a:off x="6766590" y="2104481"/>
            <a:ext cx="962563" cy="994212"/>
          </a:xfrm>
          <a:prstGeom prst="bentConnector3">
            <a:avLst>
              <a:gd name="adj1" fmla="val 50000"/>
            </a:avLst>
          </a:prstGeom>
          <a:ln w="22225">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E92FF343-8DF8-9667-9614-C1167BF83642}"/>
              </a:ext>
            </a:extLst>
          </p:cNvPr>
          <p:cNvCxnSpPr>
            <a:cxnSpLocks/>
          </p:cNvCxnSpPr>
          <p:nvPr/>
        </p:nvCxnSpPr>
        <p:spPr>
          <a:xfrm>
            <a:off x="6730590" y="3094036"/>
            <a:ext cx="984724" cy="8617"/>
          </a:xfrm>
          <a:prstGeom prst="straightConnector1">
            <a:avLst/>
          </a:prstGeom>
          <a:ln w="22225">
            <a:solidFill>
              <a:srgbClr val="A100FF"/>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F0DDF452-007D-A95A-34B1-F1808BB25A05}"/>
              </a:ext>
            </a:extLst>
          </p:cNvPr>
          <p:cNvSpPr/>
          <p:nvPr/>
        </p:nvSpPr>
        <p:spPr>
          <a:xfrm>
            <a:off x="5290516" y="852052"/>
            <a:ext cx="5508000" cy="4464000"/>
          </a:xfrm>
          <a:prstGeom prst="rect">
            <a:avLst/>
          </a:prstGeom>
          <a:noFill/>
          <a:ln w="9525">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40" name="TextBox 139">
            <a:extLst>
              <a:ext uri="{FF2B5EF4-FFF2-40B4-BE49-F238E27FC236}">
                <a16:creationId xmlns:a16="http://schemas.microsoft.com/office/drawing/2014/main" id="{1FE88C3D-8996-BA9E-581B-BFF45362A7C7}"/>
              </a:ext>
            </a:extLst>
          </p:cNvPr>
          <p:cNvSpPr txBox="1"/>
          <p:nvPr/>
        </p:nvSpPr>
        <p:spPr>
          <a:xfrm>
            <a:off x="5593632" y="1156101"/>
            <a:ext cx="1187255" cy="253916"/>
          </a:xfrm>
          <a:prstGeom prst="rect">
            <a:avLst/>
          </a:prstGeom>
          <a:noFill/>
          <a:ln>
            <a:noFill/>
          </a:ln>
        </p:spPr>
        <p:txBody>
          <a:bodyPr wrap="square" rtlCol="0">
            <a:spAutoFit/>
          </a:bodyPr>
          <a:lstStyle>
            <a:defPPr>
              <a:defRPr lang="en-US"/>
            </a:defPPr>
            <a:lvl1pPr algn="ctr" defTabSz="913851">
              <a:defRPr sz="700">
                <a:solidFill>
                  <a:prstClr val="black"/>
                </a:solidFill>
                <a:latin typeface="+mj-lt"/>
              </a:defRPr>
            </a:lvl1pP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chemeClr val="tx2"/>
                </a:solidFill>
                <a:effectLst/>
                <a:uLnTx/>
                <a:uFillTx/>
                <a:latin typeface="+mn-lt"/>
              </a:rPr>
              <a:t>Business Units</a:t>
            </a:r>
          </a:p>
        </p:txBody>
      </p:sp>
      <p:sp>
        <p:nvSpPr>
          <p:cNvPr id="141" name="TextBox 140">
            <a:extLst>
              <a:ext uri="{FF2B5EF4-FFF2-40B4-BE49-F238E27FC236}">
                <a16:creationId xmlns:a16="http://schemas.microsoft.com/office/drawing/2014/main" id="{0BA8BD96-5725-70ED-9486-A8191A9EC8EC}"/>
              </a:ext>
            </a:extLst>
          </p:cNvPr>
          <p:cNvSpPr txBox="1"/>
          <p:nvPr/>
        </p:nvSpPr>
        <p:spPr>
          <a:xfrm>
            <a:off x="6893584" y="880784"/>
            <a:ext cx="2301864"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ctr" anchorCtr="0">
            <a:spAutoFit/>
          </a:bodyPr>
          <a:lstStyle/>
          <a:p>
            <a:pPr algn="ctr"/>
            <a:r>
              <a:rPr lang="en-CA" sz="1200" b="1" noProof="0">
                <a:solidFill>
                  <a:schemeClr val="bg2">
                    <a:lumMod val="10000"/>
                  </a:schemeClr>
                </a:solidFill>
              </a:rPr>
              <a:t>Canada Life Nodes</a:t>
            </a:r>
            <a:endParaRPr lang="en-CA" sz="1200" noProof="0">
              <a:solidFill>
                <a:schemeClr val="bg2">
                  <a:lumMod val="10000"/>
                </a:schemeClr>
              </a:solidFill>
            </a:endParaRPr>
          </a:p>
        </p:txBody>
      </p:sp>
      <p:cxnSp>
        <p:nvCxnSpPr>
          <p:cNvPr id="142" name="Straight Connector 141">
            <a:extLst>
              <a:ext uri="{FF2B5EF4-FFF2-40B4-BE49-F238E27FC236}">
                <a16:creationId xmlns:a16="http://schemas.microsoft.com/office/drawing/2014/main" id="{3F7E5A93-53A2-602C-A2AD-EBA5EF192AB7}"/>
              </a:ext>
            </a:extLst>
          </p:cNvPr>
          <p:cNvCxnSpPr>
            <a:cxnSpLocks/>
          </p:cNvCxnSpPr>
          <p:nvPr/>
        </p:nvCxnSpPr>
        <p:spPr>
          <a:xfrm>
            <a:off x="6604516" y="1134256"/>
            <a:ext cx="2880000" cy="0"/>
          </a:xfrm>
          <a:prstGeom prst="line">
            <a:avLst/>
          </a:prstGeom>
          <a:ln w="9525">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C5F60C77-98AB-F117-E8A4-F168C0ED064D}"/>
              </a:ext>
            </a:extLst>
          </p:cNvPr>
          <p:cNvSpPr txBox="1"/>
          <p:nvPr/>
        </p:nvSpPr>
        <p:spPr>
          <a:xfrm>
            <a:off x="7342516" y="656642"/>
            <a:ext cx="1404000"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b="1" noProof="0">
                <a:solidFill>
                  <a:schemeClr val="accent1"/>
                </a:solidFill>
              </a:rPr>
              <a:t>Illustrative example</a:t>
            </a:r>
          </a:p>
        </p:txBody>
      </p:sp>
      <p:sp>
        <p:nvSpPr>
          <p:cNvPr id="2" name="Rectangle: Rounded Corners 1">
            <a:extLst>
              <a:ext uri="{FF2B5EF4-FFF2-40B4-BE49-F238E27FC236}">
                <a16:creationId xmlns:a16="http://schemas.microsoft.com/office/drawing/2014/main" id="{CA48D6CB-67EB-4B51-1A6B-5FEEE6CBAD1C}"/>
              </a:ext>
            </a:extLst>
          </p:cNvPr>
          <p:cNvSpPr/>
          <p:nvPr/>
        </p:nvSpPr>
        <p:spPr>
          <a:xfrm>
            <a:off x="522548" y="1024020"/>
            <a:ext cx="2592000" cy="792000"/>
          </a:xfrm>
          <a:prstGeom prst="roundRect">
            <a:avLst>
              <a:gd name="adj" fmla="val 4126"/>
            </a:avLst>
          </a:prstGeom>
          <a:noFill/>
          <a:ln w="952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grpSp>
        <p:nvGrpSpPr>
          <p:cNvPr id="47" name="Group 46">
            <a:extLst>
              <a:ext uri="{FF2B5EF4-FFF2-40B4-BE49-F238E27FC236}">
                <a16:creationId xmlns:a16="http://schemas.microsoft.com/office/drawing/2014/main" id="{25ACB682-CD67-930A-8CB9-8CEAF205D7C6}"/>
              </a:ext>
            </a:extLst>
          </p:cNvPr>
          <p:cNvGrpSpPr/>
          <p:nvPr/>
        </p:nvGrpSpPr>
        <p:grpSpPr>
          <a:xfrm>
            <a:off x="1879968" y="1096877"/>
            <a:ext cx="1152000" cy="646287"/>
            <a:chOff x="2750522" y="1490457"/>
            <a:chExt cx="1152000" cy="646287"/>
          </a:xfrm>
        </p:grpSpPr>
        <p:sp>
          <p:nvSpPr>
            <p:cNvPr id="5156" name="Rectangle: Rounded Corners 5155">
              <a:extLst>
                <a:ext uri="{FF2B5EF4-FFF2-40B4-BE49-F238E27FC236}">
                  <a16:creationId xmlns:a16="http://schemas.microsoft.com/office/drawing/2014/main" id="{03CAF8AA-7D42-62D3-D166-B2C26E208054}"/>
                </a:ext>
              </a:extLst>
            </p:cNvPr>
            <p:cNvSpPr/>
            <p:nvPr/>
          </p:nvSpPr>
          <p:spPr>
            <a:xfrm>
              <a:off x="2750522" y="1490457"/>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900" b="1" noProof="0">
                  <a:solidFill>
                    <a:schemeClr val="bg2">
                      <a:lumMod val="10000"/>
                    </a:schemeClr>
                  </a:solidFill>
                </a:rPr>
                <a:t>Claims</a:t>
              </a:r>
              <a:endParaRPr lang="en-CA" sz="1200" b="1" noProof="0">
                <a:solidFill>
                  <a:schemeClr val="bg2">
                    <a:lumMod val="10000"/>
                  </a:schemeClr>
                </a:solidFill>
              </a:endParaRPr>
            </a:p>
          </p:txBody>
        </p:sp>
        <p:sp>
          <p:nvSpPr>
            <p:cNvPr id="5159" name="Rectangle: Rounded Corners 5158">
              <a:extLst>
                <a:ext uri="{FF2B5EF4-FFF2-40B4-BE49-F238E27FC236}">
                  <a16:creationId xmlns:a16="http://schemas.microsoft.com/office/drawing/2014/main" id="{54D4D2E2-F7D1-0A4F-8B45-E1140B107F4F}"/>
                </a:ext>
              </a:extLst>
            </p:cNvPr>
            <p:cNvSpPr/>
            <p:nvPr/>
          </p:nvSpPr>
          <p:spPr>
            <a:xfrm>
              <a:off x="2750522" y="1848744"/>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grpSp>
      <p:grpSp>
        <p:nvGrpSpPr>
          <p:cNvPr id="50" name="Group 49">
            <a:extLst>
              <a:ext uri="{FF2B5EF4-FFF2-40B4-BE49-F238E27FC236}">
                <a16:creationId xmlns:a16="http://schemas.microsoft.com/office/drawing/2014/main" id="{FCDF5A0F-982C-9113-C83F-FCE76A846276}"/>
              </a:ext>
            </a:extLst>
          </p:cNvPr>
          <p:cNvGrpSpPr/>
          <p:nvPr/>
        </p:nvGrpSpPr>
        <p:grpSpPr>
          <a:xfrm>
            <a:off x="596794" y="1088968"/>
            <a:ext cx="1152000" cy="662104"/>
            <a:chOff x="1523910" y="1483004"/>
            <a:chExt cx="1152000" cy="662104"/>
          </a:xfrm>
        </p:grpSpPr>
        <p:pic>
          <p:nvPicPr>
            <p:cNvPr id="46" name="Graphic 45" descr="Database with solid fill">
              <a:extLst>
                <a:ext uri="{FF2B5EF4-FFF2-40B4-BE49-F238E27FC236}">
                  <a16:creationId xmlns:a16="http://schemas.microsoft.com/office/drawing/2014/main" id="{7D6BEDBD-ADC6-C70D-B51B-E79330E55A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8226" y="1857108"/>
              <a:ext cx="288000" cy="288000"/>
            </a:xfrm>
            <a:prstGeom prst="rect">
              <a:avLst/>
            </a:prstGeom>
          </p:spPr>
        </p:pic>
        <p:sp>
          <p:nvSpPr>
            <p:cNvPr id="8" name="TextBox 7">
              <a:extLst>
                <a:ext uri="{FF2B5EF4-FFF2-40B4-BE49-F238E27FC236}">
                  <a16:creationId xmlns:a16="http://schemas.microsoft.com/office/drawing/2014/main" id="{6BB8F4BB-3562-8877-9CA5-ACA88F806C11}"/>
                </a:ext>
              </a:extLst>
            </p:cNvPr>
            <p:cNvSpPr txBox="1"/>
            <p:nvPr/>
          </p:nvSpPr>
          <p:spPr>
            <a:xfrm>
              <a:off x="1523910" y="1483004"/>
              <a:ext cx="1152000" cy="3650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000" b="1" noProof="0">
                  <a:solidFill>
                    <a:schemeClr val="tx2"/>
                  </a:solidFill>
                </a:rPr>
                <a:t>Business Domain</a:t>
              </a:r>
            </a:p>
            <a:p>
              <a:pPr algn="ctr"/>
              <a:r>
                <a:rPr lang="en-CA" sz="900" b="1" noProof="0">
                  <a:solidFill>
                    <a:schemeClr val="bg2">
                      <a:lumMod val="10000"/>
                    </a:schemeClr>
                  </a:solidFill>
                </a:rPr>
                <a:t>Data Sources</a:t>
              </a:r>
            </a:p>
          </p:txBody>
        </p:sp>
      </p:grpSp>
      <p:cxnSp>
        <p:nvCxnSpPr>
          <p:cNvPr id="38" name="Straight Connector 37">
            <a:extLst>
              <a:ext uri="{FF2B5EF4-FFF2-40B4-BE49-F238E27FC236}">
                <a16:creationId xmlns:a16="http://schemas.microsoft.com/office/drawing/2014/main" id="{5F0DD20E-A9A2-590A-96E6-BF14835CE326}"/>
              </a:ext>
            </a:extLst>
          </p:cNvPr>
          <p:cNvCxnSpPr>
            <a:cxnSpLocks/>
          </p:cNvCxnSpPr>
          <p:nvPr/>
        </p:nvCxnSpPr>
        <p:spPr>
          <a:xfrm>
            <a:off x="1805355" y="1150020"/>
            <a:ext cx="0" cy="54000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29419208-2078-EB0A-6D8A-BB4030A639D4}"/>
              </a:ext>
            </a:extLst>
          </p:cNvPr>
          <p:cNvGrpSpPr/>
          <p:nvPr/>
        </p:nvGrpSpPr>
        <p:grpSpPr>
          <a:xfrm>
            <a:off x="1879968" y="1927090"/>
            <a:ext cx="1152000" cy="646287"/>
            <a:chOff x="2750522" y="2798896"/>
            <a:chExt cx="1152000" cy="646287"/>
          </a:xfrm>
        </p:grpSpPr>
        <p:sp>
          <p:nvSpPr>
            <p:cNvPr id="5157" name="Rectangle: Rounded Corners 5156">
              <a:extLst>
                <a:ext uri="{FF2B5EF4-FFF2-40B4-BE49-F238E27FC236}">
                  <a16:creationId xmlns:a16="http://schemas.microsoft.com/office/drawing/2014/main" id="{724C30BF-7B14-AA30-6925-F9DEABB1187E}"/>
                </a:ext>
              </a:extLst>
            </p:cNvPr>
            <p:cNvSpPr/>
            <p:nvPr/>
          </p:nvSpPr>
          <p:spPr>
            <a:xfrm>
              <a:off x="2750522" y="2798896"/>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ctr"/>
              <a:r>
                <a:rPr lang="en-CA" sz="900" b="1" noProof="0">
                  <a:solidFill>
                    <a:schemeClr val="bg2">
                      <a:lumMod val="10000"/>
                    </a:schemeClr>
                  </a:solidFill>
                </a:rPr>
                <a:t>Investment Portfolio</a:t>
              </a:r>
              <a:endParaRPr lang="en-CA" sz="1200" b="1" noProof="0">
                <a:solidFill>
                  <a:schemeClr val="bg2">
                    <a:lumMod val="10000"/>
                  </a:schemeClr>
                </a:solidFill>
              </a:endParaRPr>
            </a:p>
          </p:txBody>
        </p:sp>
        <p:sp>
          <p:nvSpPr>
            <p:cNvPr id="5160" name="Rectangle: Rounded Corners 5159">
              <a:extLst>
                <a:ext uri="{FF2B5EF4-FFF2-40B4-BE49-F238E27FC236}">
                  <a16:creationId xmlns:a16="http://schemas.microsoft.com/office/drawing/2014/main" id="{4D1BF71F-1109-07D8-6355-41539949EC60}"/>
                </a:ext>
              </a:extLst>
            </p:cNvPr>
            <p:cNvSpPr/>
            <p:nvPr/>
          </p:nvSpPr>
          <p:spPr>
            <a:xfrm>
              <a:off x="2750522" y="3157183"/>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grpSp>
      <p:grpSp>
        <p:nvGrpSpPr>
          <p:cNvPr id="51" name="Group 50">
            <a:extLst>
              <a:ext uri="{FF2B5EF4-FFF2-40B4-BE49-F238E27FC236}">
                <a16:creationId xmlns:a16="http://schemas.microsoft.com/office/drawing/2014/main" id="{15C30D9C-8911-45B1-5FEA-C1A07560C381}"/>
              </a:ext>
            </a:extLst>
          </p:cNvPr>
          <p:cNvGrpSpPr/>
          <p:nvPr/>
        </p:nvGrpSpPr>
        <p:grpSpPr>
          <a:xfrm>
            <a:off x="596794" y="1919181"/>
            <a:ext cx="1152000" cy="662104"/>
            <a:chOff x="1523910" y="2791443"/>
            <a:chExt cx="1152000" cy="662104"/>
          </a:xfrm>
        </p:grpSpPr>
        <p:pic>
          <p:nvPicPr>
            <p:cNvPr id="5407" name="Graphic 5406" descr="Database with solid fill">
              <a:extLst>
                <a:ext uri="{FF2B5EF4-FFF2-40B4-BE49-F238E27FC236}">
                  <a16:creationId xmlns:a16="http://schemas.microsoft.com/office/drawing/2014/main" id="{2CDE1314-D6E3-21ED-ED46-A6FFEFA40C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48226" y="3165547"/>
              <a:ext cx="288000" cy="288000"/>
            </a:xfrm>
            <a:prstGeom prst="rect">
              <a:avLst/>
            </a:prstGeom>
          </p:spPr>
        </p:pic>
        <p:sp>
          <p:nvSpPr>
            <p:cNvPr id="9" name="TextBox 8">
              <a:extLst>
                <a:ext uri="{FF2B5EF4-FFF2-40B4-BE49-F238E27FC236}">
                  <a16:creationId xmlns:a16="http://schemas.microsoft.com/office/drawing/2014/main" id="{00D3F24D-4701-147A-1498-55ED85824656}"/>
                </a:ext>
              </a:extLst>
            </p:cNvPr>
            <p:cNvSpPr txBox="1"/>
            <p:nvPr/>
          </p:nvSpPr>
          <p:spPr>
            <a:xfrm>
              <a:off x="1523910" y="2791443"/>
              <a:ext cx="1152000"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000" b="1" noProof="0">
                  <a:solidFill>
                    <a:schemeClr val="tx2"/>
                  </a:solidFill>
                </a:rPr>
                <a:t>Business Domain</a:t>
              </a:r>
              <a:r>
                <a:rPr lang="en-CA" sz="1000" b="1" noProof="0">
                  <a:solidFill>
                    <a:schemeClr val="bg2">
                      <a:lumMod val="10000"/>
                    </a:schemeClr>
                  </a:solidFill>
                </a:rPr>
                <a:t> </a:t>
              </a:r>
            </a:p>
            <a:p>
              <a:pPr algn="ctr"/>
              <a:r>
                <a:rPr lang="en-CA" sz="1000" b="1" noProof="0">
                  <a:solidFill>
                    <a:schemeClr val="bg2">
                      <a:lumMod val="10000"/>
                    </a:schemeClr>
                  </a:solidFill>
                </a:rPr>
                <a:t>Data Sources</a:t>
              </a:r>
            </a:p>
          </p:txBody>
        </p:sp>
      </p:grpSp>
      <p:cxnSp>
        <p:nvCxnSpPr>
          <p:cNvPr id="41" name="Straight Connector 40">
            <a:extLst>
              <a:ext uri="{FF2B5EF4-FFF2-40B4-BE49-F238E27FC236}">
                <a16:creationId xmlns:a16="http://schemas.microsoft.com/office/drawing/2014/main" id="{EB3E0224-04F8-27E6-1EDF-6B98133F52D2}"/>
              </a:ext>
            </a:extLst>
          </p:cNvPr>
          <p:cNvCxnSpPr>
            <a:cxnSpLocks/>
          </p:cNvCxnSpPr>
          <p:nvPr/>
        </p:nvCxnSpPr>
        <p:spPr>
          <a:xfrm>
            <a:off x="1805355" y="1980233"/>
            <a:ext cx="0" cy="54000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43" name="Rectangle: Rounded Corners 42">
            <a:extLst>
              <a:ext uri="{FF2B5EF4-FFF2-40B4-BE49-F238E27FC236}">
                <a16:creationId xmlns:a16="http://schemas.microsoft.com/office/drawing/2014/main" id="{6F64A462-F0A7-1808-9DA6-BEE3ADDA9AB9}"/>
              </a:ext>
            </a:extLst>
          </p:cNvPr>
          <p:cNvSpPr/>
          <p:nvPr/>
        </p:nvSpPr>
        <p:spPr>
          <a:xfrm>
            <a:off x="522548" y="1854233"/>
            <a:ext cx="2592000" cy="792000"/>
          </a:xfrm>
          <a:prstGeom prst="roundRect">
            <a:avLst>
              <a:gd name="adj" fmla="val 4126"/>
            </a:avLst>
          </a:prstGeom>
          <a:noFill/>
          <a:ln w="952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grpSp>
        <p:nvGrpSpPr>
          <p:cNvPr id="49" name="Group 48">
            <a:extLst>
              <a:ext uri="{FF2B5EF4-FFF2-40B4-BE49-F238E27FC236}">
                <a16:creationId xmlns:a16="http://schemas.microsoft.com/office/drawing/2014/main" id="{3437DB24-F918-92CF-67C9-4F660E413AB1}"/>
              </a:ext>
            </a:extLst>
          </p:cNvPr>
          <p:cNvGrpSpPr/>
          <p:nvPr/>
        </p:nvGrpSpPr>
        <p:grpSpPr>
          <a:xfrm>
            <a:off x="1861062" y="3105183"/>
            <a:ext cx="1152000" cy="646287"/>
            <a:chOff x="2758206" y="4140168"/>
            <a:chExt cx="1152000" cy="646287"/>
          </a:xfrm>
        </p:grpSpPr>
        <p:sp>
          <p:nvSpPr>
            <p:cNvPr id="5158" name="Rectangle: Rounded Corners 5157">
              <a:extLst>
                <a:ext uri="{FF2B5EF4-FFF2-40B4-BE49-F238E27FC236}">
                  <a16:creationId xmlns:a16="http://schemas.microsoft.com/office/drawing/2014/main" id="{E28E43A5-4741-DC4B-1A54-A10DB6A9FEAF}"/>
                </a:ext>
              </a:extLst>
            </p:cNvPr>
            <p:cNvSpPr/>
            <p:nvPr/>
          </p:nvSpPr>
          <p:spPr>
            <a:xfrm>
              <a:off x="2758206" y="4140168"/>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900" b="1" noProof="0">
                  <a:solidFill>
                    <a:schemeClr val="bg2">
                      <a:lumMod val="10000"/>
                    </a:schemeClr>
                  </a:solidFill>
                </a:rPr>
                <a:t>HR/Employee</a:t>
              </a:r>
              <a:endParaRPr lang="en-CA" sz="1200" b="1" noProof="0">
                <a:solidFill>
                  <a:schemeClr val="bg2">
                    <a:lumMod val="10000"/>
                  </a:schemeClr>
                </a:solidFill>
              </a:endParaRPr>
            </a:p>
          </p:txBody>
        </p:sp>
        <p:sp>
          <p:nvSpPr>
            <p:cNvPr id="5161" name="Rectangle: Rounded Corners 5160">
              <a:extLst>
                <a:ext uri="{FF2B5EF4-FFF2-40B4-BE49-F238E27FC236}">
                  <a16:creationId xmlns:a16="http://schemas.microsoft.com/office/drawing/2014/main" id="{454AA358-BB39-49E1-DFC1-5ADBF5282B44}"/>
                </a:ext>
              </a:extLst>
            </p:cNvPr>
            <p:cNvSpPr/>
            <p:nvPr/>
          </p:nvSpPr>
          <p:spPr>
            <a:xfrm>
              <a:off x="2758206" y="4498455"/>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grpSp>
      <p:grpSp>
        <p:nvGrpSpPr>
          <p:cNvPr id="52" name="Group 51">
            <a:extLst>
              <a:ext uri="{FF2B5EF4-FFF2-40B4-BE49-F238E27FC236}">
                <a16:creationId xmlns:a16="http://schemas.microsoft.com/office/drawing/2014/main" id="{149915B4-36CC-F99D-0305-988886DE666E}"/>
              </a:ext>
            </a:extLst>
          </p:cNvPr>
          <p:cNvGrpSpPr/>
          <p:nvPr/>
        </p:nvGrpSpPr>
        <p:grpSpPr>
          <a:xfrm>
            <a:off x="570204" y="3095072"/>
            <a:ext cx="1152000" cy="666509"/>
            <a:chOff x="1523910" y="4128310"/>
            <a:chExt cx="1152000" cy="666509"/>
          </a:xfrm>
        </p:grpSpPr>
        <p:pic>
          <p:nvPicPr>
            <p:cNvPr id="5406" name="Graphic 5405" descr="Database with solid fill">
              <a:extLst>
                <a:ext uri="{FF2B5EF4-FFF2-40B4-BE49-F238E27FC236}">
                  <a16:creationId xmlns:a16="http://schemas.microsoft.com/office/drawing/2014/main" id="{56F6E824-A170-5014-E491-31006F696A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55910" y="4506819"/>
              <a:ext cx="288000" cy="288000"/>
            </a:xfrm>
            <a:prstGeom prst="rect">
              <a:avLst/>
            </a:prstGeom>
          </p:spPr>
        </p:pic>
        <p:sp>
          <p:nvSpPr>
            <p:cNvPr id="12" name="TextBox 11">
              <a:extLst>
                <a:ext uri="{FF2B5EF4-FFF2-40B4-BE49-F238E27FC236}">
                  <a16:creationId xmlns:a16="http://schemas.microsoft.com/office/drawing/2014/main" id="{4699887B-33D6-1920-3696-8B4A49CD6C66}"/>
                </a:ext>
              </a:extLst>
            </p:cNvPr>
            <p:cNvSpPr txBox="1"/>
            <p:nvPr/>
          </p:nvSpPr>
          <p:spPr>
            <a:xfrm>
              <a:off x="1523910" y="4128310"/>
              <a:ext cx="1152000"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1000" b="1" noProof="0">
                  <a:solidFill>
                    <a:schemeClr val="tx2"/>
                  </a:solidFill>
                </a:rPr>
                <a:t>Other</a:t>
              </a:r>
            </a:p>
            <a:p>
              <a:pPr algn="ctr"/>
              <a:r>
                <a:rPr lang="en-CA" sz="1000" b="1" noProof="0">
                  <a:solidFill>
                    <a:schemeClr val="bg2">
                      <a:lumMod val="10000"/>
                    </a:schemeClr>
                  </a:solidFill>
                </a:rPr>
                <a:t>Data Sources </a:t>
              </a:r>
            </a:p>
          </p:txBody>
        </p:sp>
      </p:grpSp>
      <p:cxnSp>
        <p:nvCxnSpPr>
          <p:cNvPr id="42" name="Straight Connector 41">
            <a:extLst>
              <a:ext uri="{FF2B5EF4-FFF2-40B4-BE49-F238E27FC236}">
                <a16:creationId xmlns:a16="http://schemas.microsoft.com/office/drawing/2014/main" id="{A5770779-DED3-B565-9773-E9AC2B34267C}"/>
              </a:ext>
            </a:extLst>
          </p:cNvPr>
          <p:cNvCxnSpPr>
            <a:cxnSpLocks/>
          </p:cNvCxnSpPr>
          <p:nvPr/>
        </p:nvCxnSpPr>
        <p:spPr>
          <a:xfrm>
            <a:off x="1778765" y="3158326"/>
            <a:ext cx="0" cy="54000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45" name="Rectangle: Rounded Corners 44">
            <a:extLst>
              <a:ext uri="{FF2B5EF4-FFF2-40B4-BE49-F238E27FC236}">
                <a16:creationId xmlns:a16="http://schemas.microsoft.com/office/drawing/2014/main" id="{926FBA15-5CD9-4106-A583-4562CEB5B673}"/>
              </a:ext>
            </a:extLst>
          </p:cNvPr>
          <p:cNvSpPr/>
          <p:nvPr/>
        </p:nvSpPr>
        <p:spPr>
          <a:xfrm>
            <a:off x="495958" y="3032326"/>
            <a:ext cx="2592000" cy="792000"/>
          </a:xfrm>
          <a:prstGeom prst="roundRect">
            <a:avLst>
              <a:gd name="adj" fmla="val 4126"/>
            </a:avLst>
          </a:prstGeom>
          <a:noFill/>
          <a:ln w="952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cxnSp>
        <p:nvCxnSpPr>
          <p:cNvPr id="94" name="Straight Arrow Connector 93">
            <a:extLst>
              <a:ext uri="{FF2B5EF4-FFF2-40B4-BE49-F238E27FC236}">
                <a16:creationId xmlns:a16="http://schemas.microsoft.com/office/drawing/2014/main" id="{3B563C96-F6A6-F8AF-2A98-7A8B918ED464}"/>
              </a:ext>
            </a:extLst>
          </p:cNvPr>
          <p:cNvCxnSpPr>
            <a:cxnSpLocks/>
            <a:stCxn id="18" idx="3"/>
          </p:cNvCxnSpPr>
          <p:nvPr/>
        </p:nvCxnSpPr>
        <p:spPr>
          <a:xfrm>
            <a:off x="10191937" y="3098693"/>
            <a:ext cx="751584" cy="19278"/>
          </a:xfrm>
          <a:prstGeom prst="straightConnector1">
            <a:avLst/>
          </a:prstGeom>
          <a:ln w="19050">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412" name="Connector: Elbow 5411">
            <a:extLst>
              <a:ext uri="{FF2B5EF4-FFF2-40B4-BE49-F238E27FC236}">
                <a16:creationId xmlns:a16="http://schemas.microsoft.com/office/drawing/2014/main" id="{B055685A-F04E-A678-9A7D-200A5B250626}"/>
              </a:ext>
            </a:extLst>
          </p:cNvPr>
          <p:cNvCxnSpPr>
            <a:cxnSpLocks/>
            <a:endCxn id="153" idx="0"/>
          </p:cNvCxnSpPr>
          <p:nvPr/>
        </p:nvCxnSpPr>
        <p:spPr>
          <a:xfrm rot="5400000" flipH="1" flipV="1">
            <a:off x="6568583" y="2527651"/>
            <a:ext cx="72475" cy="4711448"/>
          </a:xfrm>
          <a:prstGeom prst="bentConnector3">
            <a:avLst>
              <a:gd name="adj1" fmla="val -848708"/>
            </a:avLst>
          </a:prstGeom>
          <a:ln w="22225">
            <a:solidFill>
              <a:schemeClr val="accent1">
                <a:lumMod val="90000"/>
                <a:lumOff val="10000"/>
              </a:schemeClr>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387" name="Connector: Elbow 5386">
            <a:extLst>
              <a:ext uri="{FF2B5EF4-FFF2-40B4-BE49-F238E27FC236}">
                <a16:creationId xmlns:a16="http://schemas.microsoft.com/office/drawing/2014/main" id="{DFAF7767-C006-DF41-423D-3A6605DAE030}"/>
              </a:ext>
            </a:extLst>
          </p:cNvPr>
          <p:cNvCxnSpPr>
            <a:cxnSpLocks/>
            <a:endCxn id="126" idx="1"/>
          </p:cNvCxnSpPr>
          <p:nvPr/>
        </p:nvCxnSpPr>
        <p:spPr>
          <a:xfrm>
            <a:off x="3150548" y="1215040"/>
            <a:ext cx="2392042" cy="889441"/>
          </a:xfrm>
          <a:prstGeom prst="bentConnector3">
            <a:avLst>
              <a:gd name="adj1" fmla="val 77396"/>
            </a:avLst>
          </a:prstGeom>
          <a:ln w="22225">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5399" name="Connector: Elbow 5398">
            <a:extLst>
              <a:ext uri="{FF2B5EF4-FFF2-40B4-BE49-F238E27FC236}">
                <a16:creationId xmlns:a16="http://schemas.microsoft.com/office/drawing/2014/main" id="{E78D0ED8-6988-40BB-A048-B00946E1688C}"/>
              </a:ext>
            </a:extLst>
          </p:cNvPr>
          <p:cNvCxnSpPr>
            <a:cxnSpLocks/>
            <a:endCxn id="129" idx="1"/>
          </p:cNvCxnSpPr>
          <p:nvPr/>
        </p:nvCxnSpPr>
        <p:spPr>
          <a:xfrm>
            <a:off x="3130848" y="2068531"/>
            <a:ext cx="2411742" cy="1340196"/>
          </a:xfrm>
          <a:prstGeom prst="bentConnector3">
            <a:avLst>
              <a:gd name="adj1" fmla="val 77172"/>
            </a:avLst>
          </a:prstGeom>
          <a:ln w="22225">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5404" name="Connector: Elbow 5403">
            <a:extLst>
              <a:ext uri="{FF2B5EF4-FFF2-40B4-BE49-F238E27FC236}">
                <a16:creationId xmlns:a16="http://schemas.microsoft.com/office/drawing/2014/main" id="{DFEC8B77-D52C-7C0B-8012-C509748F8A53}"/>
              </a:ext>
            </a:extLst>
          </p:cNvPr>
          <p:cNvCxnSpPr>
            <a:cxnSpLocks/>
            <a:endCxn id="132" idx="1"/>
          </p:cNvCxnSpPr>
          <p:nvPr/>
        </p:nvCxnSpPr>
        <p:spPr>
          <a:xfrm>
            <a:off x="3101797" y="3250530"/>
            <a:ext cx="2440793" cy="1452100"/>
          </a:xfrm>
          <a:prstGeom prst="bentConnector3">
            <a:avLst>
              <a:gd name="adj1" fmla="val 77473"/>
            </a:avLst>
          </a:prstGeom>
          <a:ln w="22225">
            <a:solidFill>
              <a:srgbClr val="A100FF"/>
            </a:solidFill>
            <a:prstDash val="dash"/>
            <a:headEnd type="none"/>
            <a:tailEnd type="arrow"/>
          </a:ln>
        </p:spPr>
        <p:style>
          <a:lnRef idx="1">
            <a:schemeClr val="accent1"/>
          </a:lnRef>
          <a:fillRef idx="0">
            <a:schemeClr val="accent1"/>
          </a:fillRef>
          <a:effectRef idx="0">
            <a:schemeClr val="accent1"/>
          </a:effectRef>
          <a:fontRef idx="minor">
            <a:schemeClr val="tx1"/>
          </a:fontRef>
        </p:style>
      </p:cxnSp>
      <p:cxnSp>
        <p:nvCxnSpPr>
          <p:cNvPr id="5419" name="Connector: Elbow 5418">
            <a:extLst>
              <a:ext uri="{FF2B5EF4-FFF2-40B4-BE49-F238E27FC236}">
                <a16:creationId xmlns:a16="http://schemas.microsoft.com/office/drawing/2014/main" id="{D7968470-6CD2-B107-E7CA-BE1C819A1D9C}"/>
              </a:ext>
            </a:extLst>
          </p:cNvPr>
          <p:cNvCxnSpPr>
            <a:cxnSpLocks/>
            <a:stCxn id="5159" idx="3"/>
          </p:cNvCxnSpPr>
          <p:nvPr/>
        </p:nvCxnSpPr>
        <p:spPr>
          <a:xfrm>
            <a:off x="3031968" y="1599164"/>
            <a:ext cx="1217129" cy="2207579"/>
          </a:xfrm>
          <a:prstGeom prst="bentConnector2">
            <a:avLst/>
          </a:prstGeom>
          <a:ln w="22225">
            <a:solidFill>
              <a:schemeClr val="accent1">
                <a:lumMod val="90000"/>
                <a:lumOff val="10000"/>
              </a:schemeClr>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31" name="Connector: Elbow 5430">
            <a:extLst>
              <a:ext uri="{FF2B5EF4-FFF2-40B4-BE49-F238E27FC236}">
                <a16:creationId xmlns:a16="http://schemas.microsoft.com/office/drawing/2014/main" id="{71A5F7B0-29BD-9116-EEBE-E18FE4BB292C}"/>
              </a:ext>
            </a:extLst>
          </p:cNvPr>
          <p:cNvCxnSpPr>
            <a:cxnSpLocks/>
            <a:stCxn id="5160" idx="3"/>
            <a:endCxn id="5382" idx="0"/>
          </p:cNvCxnSpPr>
          <p:nvPr/>
        </p:nvCxnSpPr>
        <p:spPr>
          <a:xfrm>
            <a:off x="3031968" y="2429377"/>
            <a:ext cx="1217129" cy="1377366"/>
          </a:xfrm>
          <a:prstGeom prst="bentConnector2">
            <a:avLst/>
          </a:prstGeom>
          <a:ln w="22225">
            <a:solidFill>
              <a:schemeClr val="accent1">
                <a:lumMod val="90000"/>
                <a:lumOff val="10000"/>
              </a:schemeClr>
            </a:solidFill>
            <a:headEnd type="none"/>
            <a:tailEnd type="arrow"/>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7559EBB0-3CC4-BA18-29E4-A6B0E8D1C3C4}"/>
              </a:ext>
            </a:extLst>
          </p:cNvPr>
          <p:cNvGrpSpPr/>
          <p:nvPr/>
        </p:nvGrpSpPr>
        <p:grpSpPr>
          <a:xfrm>
            <a:off x="3648147" y="3806743"/>
            <a:ext cx="1201899" cy="1112869"/>
            <a:chOff x="3648147" y="4516512"/>
            <a:chExt cx="1201899" cy="1112869"/>
          </a:xfrm>
        </p:grpSpPr>
        <p:sp>
          <p:nvSpPr>
            <p:cNvPr id="5382" name="Rectangle: Rounded Corners 5381">
              <a:extLst>
                <a:ext uri="{FF2B5EF4-FFF2-40B4-BE49-F238E27FC236}">
                  <a16:creationId xmlns:a16="http://schemas.microsoft.com/office/drawing/2014/main" id="{A44BACCE-279A-2883-949E-E391D525A11E}"/>
                </a:ext>
              </a:extLst>
            </p:cNvPr>
            <p:cNvSpPr/>
            <p:nvPr/>
          </p:nvSpPr>
          <p:spPr>
            <a:xfrm>
              <a:off x="3648147" y="4516512"/>
              <a:ext cx="1201899" cy="1112869"/>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36000" bIns="91440" rtlCol="0" anchor="t"/>
            <a:lstStyle/>
            <a:p>
              <a:pPr algn="ctr"/>
              <a:r>
                <a:rPr lang="en-CA" sz="1100" b="1" noProof="0">
                  <a:solidFill>
                    <a:schemeClr val="accent5">
                      <a:lumMod val="50000"/>
                    </a:schemeClr>
                  </a:solidFill>
                </a:rPr>
                <a:t>MDM</a:t>
              </a:r>
              <a:endParaRPr lang="en-CA" sz="1200" b="1" noProof="0">
                <a:solidFill>
                  <a:schemeClr val="accent5">
                    <a:lumMod val="50000"/>
                  </a:schemeClr>
                </a:solidFill>
              </a:endParaRPr>
            </a:p>
          </p:txBody>
        </p:sp>
        <p:grpSp>
          <p:nvGrpSpPr>
            <p:cNvPr id="5383" name="Group 5382">
              <a:extLst>
                <a:ext uri="{FF2B5EF4-FFF2-40B4-BE49-F238E27FC236}">
                  <a16:creationId xmlns:a16="http://schemas.microsoft.com/office/drawing/2014/main" id="{A1A0D754-DBBD-7D3B-E69C-9525CD703F77}"/>
                </a:ext>
              </a:extLst>
            </p:cNvPr>
            <p:cNvGrpSpPr/>
            <p:nvPr/>
          </p:nvGrpSpPr>
          <p:grpSpPr>
            <a:xfrm>
              <a:off x="3759434" y="4869941"/>
              <a:ext cx="979325" cy="712236"/>
              <a:chOff x="3385090" y="2042221"/>
              <a:chExt cx="792000" cy="576000"/>
            </a:xfrm>
          </p:grpSpPr>
          <p:sp>
            <p:nvSpPr>
              <p:cNvPr id="5384" name="Rectangle: Rounded Corners 5383">
                <a:extLst>
                  <a:ext uri="{FF2B5EF4-FFF2-40B4-BE49-F238E27FC236}">
                    <a16:creationId xmlns:a16="http://schemas.microsoft.com/office/drawing/2014/main" id="{D0C697FB-0451-AD10-C77A-EAFD1B9D2F4A}"/>
                  </a:ext>
                </a:extLst>
              </p:cNvPr>
              <p:cNvSpPr/>
              <p:nvPr/>
            </p:nvSpPr>
            <p:spPr>
              <a:xfrm>
                <a:off x="3385090" y="2042221"/>
                <a:ext cx="792000" cy="576000"/>
              </a:xfrm>
              <a:prstGeom prst="roundRect">
                <a:avLst>
                  <a:gd name="adj" fmla="val 4786"/>
                </a:avLst>
              </a:prstGeom>
              <a:ln/>
            </p:spPr>
            <p:style>
              <a:lnRef idx="2">
                <a:schemeClr val="dk1"/>
              </a:lnRef>
              <a:fillRef idx="1">
                <a:schemeClr val="lt1"/>
              </a:fillRef>
              <a:effectRef idx="0">
                <a:schemeClr val="dk1"/>
              </a:effectRef>
              <a:fontRef idx="minor">
                <a:schemeClr val="dk1"/>
              </a:fontRef>
            </p:style>
            <p:txBody>
              <a:bodyPr lIns="91383" tIns="45691" rIns="91383"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endParaRPr kumimoji="0" lang="en-CA" sz="800" i="0" u="none" strike="noStrike" kern="0" cap="none" spc="0" normalizeH="0" baseline="0" noProof="0">
                  <a:ln>
                    <a:noFill/>
                  </a:ln>
                  <a:solidFill>
                    <a:schemeClr val="tx1">
                      <a:lumMod val="50000"/>
                    </a:schemeClr>
                  </a:solidFill>
                  <a:effectLst/>
                  <a:uLnTx/>
                  <a:uFillTx/>
                </a:endParaRPr>
              </a:p>
            </p:txBody>
          </p:sp>
          <p:grpSp>
            <p:nvGrpSpPr>
              <p:cNvPr id="5385" name="Group 5384">
                <a:extLst>
                  <a:ext uri="{FF2B5EF4-FFF2-40B4-BE49-F238E27FC236}">
                    <a16:creationId xmlns:a16="http://schemas.microsoft.com/office/drawing/2014/main" id="{2AFE7969-2A7E-E658-0DF2-C6180D04A8A0}"/>
                  </a:ext>
                </a:extLst>
              </p:cNvPr>
              <p:cNvGrpSpPr/>
              <p:nvPr/>
            </p:nvGrpSpPr>
            <p:grpSpPr>
              <a:xfrm>
                <a:off x="3421090" y="2086413"/>
                <a:ext cx="720000" cy="487616"/>
                <a:chOff x="3385090" y="2864154"/>
                <a:chExt cx="720000" cy="487616"/>
              </a:xfrm>
            </p:grpSpPr>
            <p:sp>
              <p:nvSpPr>
                <p:cNvPr id="5386" name="Rectangle 5385">
                  <a:extLst>
                    <a:ext uri="{FF2B5EF4-FFF2-40B4-BE49-F238E27FC236}">
                      <a16:creationId xmlns:a16="http://schemas.microsoft.com/office/drawing/2014/main" id="{3C20A465-C77C-D7FA-BB90-0BC044F764AD}"/>
                    </a:ext>
                  </a:extLst>
                </p:cNvPr>
                <p:cNvSpPr/>
                <p:nvPr/>
              </p:nvSpPr>
              <p:spPr>
                <a:xfrm>
                  <a:off x="3385090" y="2864154"/>
                  <a:ext cx="720000" cy="144000"/>
                </a:xfrm>
                <a:prstGeom prst="rect">
                  <a:avLst/>
                </a:prstGeom>
                <a:ln/>
              </p:spPr>
              <p:style>
                <a:lnRef idx="2">
                  <a:schemeClr val="dk1"/>
                </a:lnRef>
                <a:fillRef idx="1">
                  <a:schemeClr val="lt1"/>
                </a:fillRef>
                <a:effectRef idx="0">
                  <a:schemeClr val="dk1"/>
                </a:effectRef>
                <a:fontRef idx="minor">
                  <a:schemeClr val="dk1"/>
                </a:fontRef>
              </p:style>
              <p:txBody>
                <a:bodyPr lIns="36000" tIns="45691" rIns="36000"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800" kern="0" noProof="0">
                      <a:solidFill>
                        <a:schemeClr val="tx1">
                          <a:lumMod val="50000"/>
                        </a:schemeClr>
                      </a:solidFill>
                      <a:cs typeface="Arial"/>
                    </a:rPr>
                    <a:t>Match</a:t>
                  </a:r>
                  <a:endParaRPr kumimoji="0" lang="en-CA" sz="800" i="0" u="none" strike="noStrike" kern="0" cap="none" spc="0" normalizeH="0" baseline="0" noProof="0">
                    <a:ln>
                      <a:noFill/>
                    </a:ln>
                    <a:solidFill>
                      <a:schemeClr val="tx1">
                        <a:lumMod val="50000"/>
                      </a:schemeClr>
                    </a:solidFill>
                    <a:effectLst/>
                    <a:uLnTx/>
                    <a:uFillTx/>
                  </a:endParaRPr>
                </a:p>
              </p:txBody>
            </p:sp>
            <p:sp>
              <p:nvSpPr>
                <p:cNvPr id="5388" name="Rectangle 5387">
                  <a:extLst>
                    <a:ext uri="{FF2B5EF4-FFF2-40B4-BE49-F238E27FC236}">
                      <a16:creationId xmlns:a16="http://schemas.microsoft.com/office/drawing/2014/main" id="{F85D1D34-6ED0-10C5-8DF7-2929805402B7}"/>
                    </a:ext>
                  </a:extLst>
                </p:cNvPr>
                <p:cNvSpPr/>
                <p:nvPr/>
              </p:nvSpPr>
              <p:spPr>
                <a:xfrm>
                  <a:off x="3385090" y="3035962"/>
                  <a:ext cx="720000" cy="144000"/>
                </a:xfrm>
                <a:prstGeom prst="rect">
                  <a:avLst/>
                </a:prstGeom>
                <a:ln/>
              </p:spPr>
              <p:style>
                <a:lnRef idx="2">
                  <a:schemeClr val="dk1"/>
                </a:lnRef>
                <a:fillRef idx="1">
                  <a:schemeClr val="lt1"/>
                </a:fillRef>
                <a:effectRef idx="0">
                  <a:schemeClr val="dk1"/>
                </a:effectRef>
                <a:fontRef idx="minor">
                  <a:schemeClr val="dk1"/>
                </a:fontRef>
              </p:style>
              <p:txBody>
                <a:bodyPr lIns="36000" tIns="45691" rIns="36000"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800" kern="0" noProof="0">
                      <a:solidFill>
                        <a:schemeClr val="tx1">
                          <a:lumMod val="50000"/>
                        </a:schemeClr>
                      </a:solidFill>
                      <a:cs typeface="Arial"/>
                    </a:rPr>
                    <a:t>Merge</a:t>
                  </a:r>
                  <a:endParaRPr kumimoji="0" lang="en-CA" sz="800" i="0" u="none" strike="noStrike" kern="0" cap="none" spc="0" normalizeH="0" baseline="0" noProof="0">
                    <a:ln>
                      <a:noFill/>
                    </a:ln>
                    <a:solidFill>
                      <a:schemeClr val="tx1">
                        <a:lumMod val="50000"/>
                      </a:schemeClr>
                    </a:solidFill>
                    <a:effectLst/>
                    <a:uLnTx/>
                    <a:uFillTx/>
                  </a:endParaRPr>
                </a:p>
              </p:txBody>
            </p:sp>
            <p:sp>
              <p:nvSpPr>
                <p:cNvPr id="5389" name="Rectangle 5388">
                  <a:extLst>
                    <a:ext uri="{FF2B5EF4-FFF2-40B4-BE49-F238E27FC236}">
                      <a16:creationId xmlns:a16="http://schemas.microsoft.com/office/drawing/2014/main" id="{1FBDD5C0-56A1-62E6-1577-8C5DEBCEE0DE}"/>
                    </a:ext>
                  </a:extLst>
                </p:cNvPr>
                <p:cNvSpPr/>
                <p:nvPr/>
              </p:nvSpPr>
              <p:spPr>
                <a:xfrm>
                  <a:off x="3385090" y="3207770"/>
                  <a:ext cx="720000" cy="144000"/>
                </a:xfrm>
                <a:prstGeom prst="rect">
                  <a:avLst/>
                </a:prstGeom>
                <a:ln/>
              </p:spPr>
              <p:style>
                <a:lnRef idx="2">
                  <a:schemeClr val="dk1"/>
                </a:lnRef>
                <a:fillRef idx="1">
                  <a:schemeClr val="lt1"/>
                </a:fillRef>
                <a:effectRef idx="0">
                  <a:schemeClr val="dk1"/>
                </a:effectRef>
                <a:fontRef idx="minor">
                  <a:schemeClr val="dk1"/>
                </a:fontRef>
              </p:style>
              <p:txBody>
                <a:bodyPr lIns="36000" tIns="45691" rIns="36000"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800" kern="0" noProof="0">
                      <a:solidFill>
                        <a:schemeClr val="tx1">
                          <a:lumMod val="50000"/>
                        </a:schemeClr>
                      </a:solidFill>
                      <a:cs typeface="Arial"/>
                    </a:rPr>
                    <a:t>De-duplicate</a:t>
                  </a:r>
                  <a:endParaRPr kumimoji="0" lang="en-CA" sz="800" i="0" u="none" strike="noStrike" kern="0" cap="none" spc="0" normalizeH="0" baseline="0" noProof="0">
                    <a:ln>
                      <a:noFill/>
                    </a:ln>
                    <a:solidFill>
                      <a:schemeClr val="tx1">
                        <a:lumMod val="50000"/>
                      </a:schemeClr>
                    </a:solidFill>
                    <a:effectLst/>
                    <a:uLnTx/>
                    <a:uFillTx/>
                  </a:endParaRPr>
                </a:p>
              </p:txBody>
            </p:sp>
          </p:grpSp>
        </p:grpSp>
        <p:sp>
          <p:nvSpPr>
            <p:cNvPr id="81" name="Oval 80">
              <a:extLst>
                <a:ext uri="{FF2B5EF4-FFF2-40B4-BE49-F238E27FC236}">
                  <a16:creationId xmlns:a16="http://schemas.microsoft.com/office/drawing/2014/main" id="{A5725219-F47B-AB35-D442-B8F728AE609D}"/>
                </a:ext>
              </a:extLst>
            </p:cNvPr>
            <p:cNvSpPr/>
            <p:nvPr/>
          </p:nvSpPr>
          <p:spPr>
            <a:xfrm>
              <a:off x="3708599" y="4721236"/>
              <a:ext cx="180000" cy="180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1</a:t>
              </a:r>
            </a:p>
          </p:txBody>
        </p:sp>
      </p:grpSp>
      <p:sp>
        <p:nvSpPr>
          <p:cNvPr id="82" name="Oval 81">
            <a:extLst>
              <a:ext uri="{FF2B5EF4-FFF2-40B4-BE49-F238E27FC236}">
                <a16:creationId xmlns:a16="http://schemas.microsoft.com/office/drawing/2014/main" id="{A4A309A1-C40A-ED53-72E7-57DDAABE4B42}"/>
              </a:ext>
            </a:extLst>
          </p:cNvPr>
          <p:cNvSpPr/>
          <p:nvPr/>
        </p:nvSpPr>
        <p:spPr>
          <a:xfrm>
            <a:off x="5552437" y="1631573"/>
            <a:ext cx="180000" cy="180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2</a:t>
            </a:r>
          </a:p>
        </p:txBody>
      </p:sp>
      <p:grpSp>
        <p:nvGrpSpPr>
          <p:cNvPr id="20" name="Group 19">
            <a:extLst>
              <a:ext uri="{FF2B5EF4-FFF2-40B4-BE49-F238E27FC236}">
                <a16:creationId xmlns:a16="http://schemas.microsoft.com/office/drawing/2014/main" id="{F4FE30E7-061D-C079-9193-838771D45555}"/>
              </a:ext>
            </a:extLst>
          </p:cNvPr>
          <p:cNvGrpSpPr/>
          <p:nvPr/>
        </p:nvGrpSpPr>
        <p:grpSpPr>
          <a:xfrm>
            <a:off x="5337791" y="5404046"/>
            <a:ext cx="2534060" cy="244200"/>
            <a:chOff x="5365599" y="5735263"/>
            <a:chExt cx="2534060" cy="244200"/>
          </a:xfrm>
        </p:grpSpPr>
        <p:grpSp>
          <p:nvGrpSpPr>
            <p:cNvPr id="67" name="Group 66">
              <a:extLst>
                <a:ext uri="{FF2B5EF4-FFF2-40B4-BE49-F238E27FC236}">
                  <a16:creationId xmlns:a16="http://schemas.microsoft.com/office/drawing/2014/main" id="{2C95843D-4662-ACEB-71B5-7E033986BBF2}"/>
                </a:ext>
              </a:extLst>
            </p:cNvPr>
            <p:cNvGrpSpPr/>
            <p:nvPr/>
          </p:nvGrpSpPr>
          <p:grpSpPr>
            <a:xfrm>
              <a:off x="5555901" y="5735263"/>
              <a:ext cx="2343758" cy="244200"/>
              <a:chOff x="8640634" y="4627178"/>
              <a:chExt cx="2343758" cy="244200"/>
            </a:xfrm>
          </p:grpSpPr>
          <p:sp>
            <p:nvSpPr>
              <p:cNvPr id="68" name="Rectangle: Rounded Corners 67">
                <a:extLst>
                  <a:ext uri="{FF2B5EF4-FFF2-40B4-BE49-F238E27FC236}">
                    <a16:creationId xmlns:a16="http://schemas.microsoft.com/office/drawing/2014/main" id="{979E93F6-101B-42E3-08D3-2070C79EB15C}"/>
                  </a:ext>
                </a:extLst>
              </p:cNvPr>
              <p:cNvSpPr/>
              <p:nvPr/>
            </p:nvSpPr>
            <p:spPr>
              <a:xfrm>
                <a:off x="8640634" y="4641278"/>
                <a:ext cx="2343758" cy="216000"/>
              </a:xfrm>
              <a:prstGeom prst="roundRect">
                <a:avLst/>
              </a:prstGeom>
              <a:solidFill>
                <a:schemeClr val="bg1"/>
              </a:solidFill>
              <a:ln w="63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b="1" noProof="0">
                    <a:solidFill>
                      <a:schemeClr val="tx2">
                        <a:lumMod val="75000"/>
                      </a:schemeClr>
                    </a:solidFill>
                  </a:rPr>
                  <a:t>Enterprise-Person-ID</a:t>
                </a:r>
                <a:endParaRPr lang="en-CA" sz="1400" b="1" noProof="0">
                  <a:solidFill>
                    <a:schemeClr val="tx2">
                      <a:lumMod val="75000"/>
                    </a:schemeClr>
                  </a:solidFill>
                </a:endParaRPr>
              </a:p>
            </p:txBody>
          </p:sp>
          <p:sp>
            <p:nvSpPr>
              <p:cNvPr id="69" name="Graphic 12" descr="Old Key with solid fill">
                <a:extLst>
                  <a:ext uri="{FF2B5EF4-FFF2-40B4-BE49-F238E27FC236}">
                    <a16:creationId xmlns:a16="http://schemas.microsoft.com/office/drawing/2014/main" id="{F19E3954-9102-0463-271C-F41852946015}"/>
                  </a:ext>
                </a:extLst>
              </p:cNvPr>
              <p:cNvSpPr/>
              <p:nvPr/>
            </p:nvSpPr>
            <p:spPr>
              <a:xfrm rot="2710433">
                <a:off x="8777677" y="4626118"/>
                <a:ext cx="244200" cy="246320"/>
              </a:xfrm>
              <a:custGeom>
                <a:avLst/>
                <a:gdLst>
                  <a:gd name="csX0" fmla="*/ 244200 w 244200"/>
                  <a:gd name="csY0" fmla="*/ 62121 h 246320"/>
                  <a:gd name="csX1" fmla="*/ 237000 w 244200"/>
                  <a:gd name="csY1" fmla="*/ 54921 h 246320"/>
                  <a:gd name="csX2" fmla="*/ 229200 w 244200"/>
                  <a:gd name="csY2" fmla="*/ 54921 h 246320"/>
                  <a:gd name="csX3" fmla="*/ 221400 w 244200"/>
                  <a:gd name="csY3" fmla="*/ 15321 h 246320"/>
                  <a:gd name="csX4" fmla="*/ 189900 w 244200"/>
                  <a:gd name="csY4" fmla="*/ 15321 h 246320"/>
                  <a:gd name="csX5" fmla="*/ 189900 w 244200"/>
                  <a:gd name="csY5" fmla="*/ 7821 h 246320"/>
                  <a:gd name="csX6" fmla="*/ 183300 w 244200"/>
                  <a:gd name="csY6" fmla="*/ 21 h 246320"/>
                  <a:gd name="csX7" fmla="*/ 175200 w 244200"/>
                  <a:gd name="csY7" fmla="*/ 6621 h 246320"/>
                  <a:gd name="csX8" fmla="*/ 175200 w 244200"/>
                  <a:gd name="csY8" fmla="*/ 7521 h 246320"/>
                  <a:gd name="csX9" fmla="*/ 175200 w 244200"/>
                  <a:gd name="csY9" fmla="*/ 15021 h 246320"/>
                  <a:gd name="csX10" fmla="*/ 173100 w 244200"/>
                  <a:gd name="csY10" fmla="*/ 12621 h 246320"/>
                  <a:gd name="csX11" fmla="*/ 132900 w 244200"/>
                  <a:gd name="csY11" fmla="*/ 12621 h 246320"/>
                  <a:gd name="csX12" fmla="*/ 132900 w 244200"/>
                  <a:gd name="csY12" fmla="*/ 52821 h 246320"/>
                  <a:gd name="csX13" fmla="*/ 135300 w 244200"/>
                  <a:gd name="csY13" fmla="*/ 54921 h 246320"/>
                  <a:gd name="csX14" fmla="*/ 128100 w 244200"/>
                  <a:gd name="csY14" fmla="*/ 54921 h 246320"/>
                  <a:gd name="csX15" fmla="*/ 120300 w 244200"/>
                  <a:gd name="csY15" fmla="*/ 61521 h 246320"/>
                  <a:gd name="csX16" fmla="*/ 126900 w 244200"/>
                  <a:gd name="csY16" fmla="*/ 69621 h 246320"/>
                  <a:gd name="csX17" fmla="*/ 127800 w 244200"/>
                  <a:gd name="csY17" fmla="*/ 69621 h 246320"/>
                  <a:gd name="csX18" fmla="*/ 135000 w 244200"/>
                  <a:gd name="csY18" fmla="*/ 69621 h 246320"/>
                  <a:gd name="csX19" fmla="*/ 130200 w 244200"/>
                  <a:gd name="csY19" fmla="*/ 87321 h 246320"/>
                  <a:gd name="csX20" fmla="*/ 126600 w 244200"/>
                  <a:gd name="csY20" fmla="*/ 96021 h 246320"/>
                  <a:gd name="csX21" fmla="*/ 1800 w 244200"/>
                  <a:gd name="csY21" fmla="*/ 221421 h 246320"/>
                  <a:gd name="csX22" fmla="*/ 1800 w 244200"/>
                  <a:gd name="csY22" fmla="*/ 229821 h 246320"/>
                  <a:gd name="csX23" fmla="*/ 14400 w 244200"/>
                  <a:gd name="csY23" fmla="*/ 242421 h 246320"/>
                  <a:gd name="csX24" fmla="*/ 22800 w 244200"/>
                  <a:gd name="csY24" fmla="*/ 242421 h 246320"/>
                  <a:gd name="csX25" fmla="*/ 31200 w 244200"/>
                  <a:gd name="csY25" fmla="*/ 234021 h 246320"/>
                  <a:gd name="csX26" fmla="*/ 41700 w 244200"/>
                  <a:gd name="csY26" fmla="*/ 244521 h 246320"/>
                  <a:gd name="csX27" fmla="*/ 50100 w 244200"/>
                  <a:gd name="csY27" fmla="*/ 244521 h 246320"/>
                  <a:gd name="csX28" fmla="*/ 58500 w 244200"/>
                  <a:gd name="csY28" fmla="*/ 236121 h 246320"/>
                  <a:gd name="csX29" fmla="*/ 58500 w 244200"/>
                  <a:gd name="csY29" fmla="*/ 227721 h 246320"/>
                  <a:gd name="csX30" fmla="*/ 48000 w 244200"/>
                  <a:gd name="csY30" fmla="*/ 217221 h 246320"/>
                  <a:gd name="csX31" fmla="*/ 56400 w 244200"/>
                  <a:gd name="csY31" fmla="*/ 208821 h 246320"/>
                  <a:gd name="csX32" fmla="*/ 73500 w 244200"/>
                  <a:gd name="csY32" fmla="*/ 225921 h 246320"/>
                  <a:gd name="csX33" fmla="*/ 81900 w 244200"/>
                  <a:gd name="csY33" fmla="*/ 225921 h 246320"/>
                  <a:gd name="csX34" fmla="*/ 81900 w 244200"/>
                  <a:gd name="csY34" fmla="*/ 225921 h 246320"/>
                  <a:gd name="csX35" fmla="*/ 94500 w 244200"/>
                  <a:gd name="csY35" fmla="*/ 213321 h 246320"/>
                  <a:gd name="csX36" fmla="*/ 94500 w 244200"/>
                  <a:gd name="csY36" fmla="*/ 204921 h 246320"/>
                  <a:gd name="csX37" fmla="*/ 78000 w 244200"/>
                  <a:gd name="csY37" fmla="*/ 187521 h 246320"/>
                  <a:gd name="csX38" fmla="*/ 147900 w 244200"/>
                  <a:gd name="csY38" fmla="*/ 117621 h 246320"/>
                  <a:gd name="csX39" fmla="*/ 156900 w 244200"/>
                  <a:gd name="csY39" fmla="*/ 114021 h 246320"/>
                  <a:gd name="csX40" fmla="*/ 158700 w 244200"/>
                  <a:gd name="csY40" fmla="*/ 114021 h 246320"/>
                  <a:gd name="csX41" fmla="*/ 174600 w 244200"/>
                  <a:gd name="csY41" fmla="*/ 109221 h 246320"/>
                  <a:gd name="csX42" fmla="*/ 174600 w 244200"/>
                  <a:gd name="csY42" fmla="*/ 117021 h 246320"/>
                  <a:gd name="csX43" fmla="*/ 181200 w 244200"/>
                  <a:gd name="csY43" fmla="*/ 124821 h 246320"/>
                  <a:gd name="csX44" fmla="*/ 189300 w 244200"/>
                  <a:gd name="csY44" fmla="*/ 118221 h 246320"/>
                  <a:gd name="csX45" fmla="*/ 189300 w 244200"/>
                  <a:gd name="csY45" fmla="*/ 117321 h 246320"/>
                  <a:gd name="csX46" fmla="*/ 189300 w 244200"/>
                  <a:gd name="csY46" fmla="*/ 109821 h 246320"/>
                  <a:gd name="csX47" fmla="*/ 191400 w 244200"/>
                  <a:gd name="csY47" fmla="*/ 112221 h 246320"/>
                  <a:gd name="csX48" fmla="*/ 231600 w 244200"/>
                  <a:gd name="csY48" fmla="*/ 112221 h 246320"/>
                  <a:gd name="csX49" fmla="*/ 231600 w 244200"/>
                  <a:gd name="csY49" fmla="*/ 72021 h 246320"/>
                  <a:gd name="csX50" fmla="*/ 231600 w 244200"/>
                  <a:gd name="csY50" fmla="*/ 72021 h 246320"/>
                  <a:gd name="csX51" fmla="*/ 229200 w 244200"/>
                  <a:gd name="csY51" fmla="*/ 69921 h 246320"/>
                  <a:gd name="csX52" fmla="*/ 236700 w 244200"/>
                  <a:gd name="csY52" fmla="*/ 69921 h 246320"/>
                  <a:gd name="csX53" fmla="*/ 244200 w 244200"/>
                  <a:gd name="csY53" fmla="*/ 62421 h 246320"/>
                  <a:gd name="csX54" fmla="*/ 244200 w 244200"/>
                  <a:gd name="csY54" fmla="*/ 62121 h 246320"/>
                  <a:gd name="csX55" fmla="*/ 195900 w 244200"/>
                  <a:gd name="csY55" fmla="*/ 29421 h 246320"/>
                  <a:gd name="csX56" fmla="*/ 215100 w 244200"/>
                  <a:gd name="csY56" fmla="*/ 29421 h 246320"/>
                  <a:gd name="csX57" fmla="*/ 215100 w 244200"/>
                  <a:gd name="csY57" fmla="*/ 48621 h 246320"/>
                  <a:gd name="csX58" fmla="*/ 195900 w 244200"/>
                  <a:gd name="csY58" fmla="*/ 48621 h 246320"/>
                  <a:gd name="csX59" fmla="*/ 192000 w 244200"/>
                  <a:gd name="csY59" fmla="*/ 39021 h 246320"/>
                  <a:gd name="csX60" fmla="*/ 195900 w 244200"/>
                  <a:gd name="csY60" fmla="*/ 29421 h 246320"/>
                  <a:gd name="csX61" fmla="*/ 142800 w 244200"/>
                  <a:gd name="csY61" fmla="*/ 23121 h 246320"/>
                  <a:gd name="csX62" fmla="*/ 162000 w 244200"/>
                  <a:gd name="csY62" fmla="*/ 23121 h 246320"/>
                  <a:gd name="csX63" fmla="*/ 162000 w 244200"/>
                  <a:gd name="csY63" fmla="*/ 42321 h 246320"/>
                  <a:gd name="csX64" fmla="*/ 142800 w 244200"/>
                  <a:gd name="csY64" fmla="*/ 42321 h 246320"/>
                  <a:gd name="csX65" fmla="*/ 138900 w 244200"/>
                  <a:gd name="csY65" fmla="*/ 32721 h 246320"/>
                  <a:gd name="csX66" fmla="*/ 142800 w 244200"/>
                  <a:gd name="csY66" fmla="*/ 23121 h 246320"/>
                  <a:gd name="csX67" fmla="*/ 168300 w 244200"/>
                  <a:gd name="csY67" fmla="*/ 95421 h 246320"/>
                  <a:gd name="csX68" fmla="*/ 149100 w 244200"/>
                  <a:gd name="csY68" fmla="*/ 95421 h 246320"/>
                  <a:gd name="csX69" fmla="*/ 149100 w 244200"/>
                  <a:gd name="csY69" fmla="*/ 76221 h 246320"/>
                  <a:gd name="csX70" fmla="*/ 168300 w 244200"/>
                  <a:gd name="csY70" fmla="*/ 76221 h 246320"/>
                  <a:gd name="csX71" fmla="*/ 172200 w 244200"/>
                  <a:gd name="csY71" fmla="*/ 85821 h 246320"/>
                  <a:gd name="csX72" fmla="*/ 168300 w 244200"/>
                  <a:gd name="csY72" fmla="*/ 95421 h 246320"/>
                  <a:gd name="csX73" fmla="*/ 221400 w 244200"/>
                  <a:gd name="csY73" fmla="*/ 101721 h 246320"/>
                  <a:gd name="csX74" fmla="*/ 202200 w 244200"/>
                  <a:gd name="csY74" fmla="*/ 101721 h 246320"/>
                  <a:gd name="csX75" fmla="*/ 202200 w 244200"/>
                  <a:gd name="csY75" fmla="*/ 82521 h 246320"/>
                  <a:gd name="csX76" fmla="*/ 221400 w 244200"/>
                  <a:gd name="csY76" fmla="*/ 82521 h 246320"/>
                  <a:gd name="csX77" fmla="*/ 225300 w 244200"/>
                  <a:gd name="csY77" fmla="*/ 92121 h 246320"/>
                  <a:gd name="csX78" fmla="*/ 221400 w 244200"/>
                  <a:gd name="csY78" fmla="*/ 101721 h 246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244200" h="246320">
                    <a:moveTo>
                      <a:pt x="244200" y="62121"/>
                    </a:moveTo>
                    <a:cubicBezTo>
                      <a:pt x="244200" y="58221"/>
                      <a:pt x="240900" y="54921"/>
                      <a:pt x="237000" y="54921"/>
                    </a:cubicBezTo>
                    <a:lnTo>
                      <a:pt x="229200" y="54921"/>
                    </a:lnTo>
                    <a:cubicBezTo>
                      <a:pt x="237900" y="41721"/>
                      <a:pt x="234300" y="24021"/>
                      <a:pt x="221400" y="15321"/>
                    </a:cubicBezTo>
                    <a:cubicBezTo>
                      <a:pt x="211800" y="9021"/>
                      <a:pt x="199500" y="9021"/>
                      <a:pt x="189900" y="15321"/>
                    </a:cubicBezTo>
                    <a:lnTo>
                      <a:pt x="189900" y="7821"/>
                    </a:lnTo>
                    <a:cubicBezTo>
                      <a:pt x="189900" y="3921"/>
                      <a:pt x="187200" y="621"/>
                      <a:pt x="183300" y="21"/>
                    </a:cubicBezTo>
                    <a:cubicBezTo>
                      <a:pt x="179100" y="-279"/>
                      <a:pt x="175500" y="2721"/>
                      <a:pt x="175200" y="6621"/>
                    </a:cubicBezTo>
                    <a:cubicBezTo>
                      <a:pt x="175200" y="6921"/>
                      <a:pt x="175200" y="7221"/>
                      <a:pt x="175200" y="7521"/>
                    </a:cubicBezTo>
                    <a:lnTo>
                      <a:pt x="175200" y="15021"/>
                    </a:lnTo>
                    <a:cubicBezTo>
                      <a:pt x="174600" y="14121"/>
                      <a:pt x="174000" y="13521"/>
                      <a:pt x="173100" y="12621"/>
                    </a:cubicBezTo>
                    <a:cubicBezTo>
                      <a:pt x="162000" y="1521"/>
                      <a:pt x="144000" y="1521"/>
                      <a:pt x="132900" y="12621"/>
                    </a:cubicBezTo>
                    <a:cubicBezTo>
                      <a:pt x="121800" y="23721"/>
                      <a:pt x="121800" y="41721"/>
                      <a:pt x="132900" y="52821"/>
                    </a:cubicBezTo>
                    <a:cubicBezTo>
                      <a:pt x="133500" y="53421"/>
                      <a:pt x="134400" y="54321"/>
                      <a:pt x="135300" y="54921"/>
                    </a:cubicBezTo>
                    <a:lnTo>
                      <a:pt x="128100" y="54921"/>
                    </a:lnTo>
                    <a:cubicBezTo>
                      <a:pt x="124200" y="54921"/>
                      <a:pt x="120900" y="57621"/>
                      <a:pt x="120300" y="61521"/>
                    </a:cubicBezTo>
                    <a:cubicBezTo>
                      <a:pt x="120000" y="65721"/>
                      <a:pt x="123000" y="69321"/>
                      <a:pt x="126900" y="69621"/>
                    </a:cubicBezTo>
                    <a:cubicBezTo>
                      <a:pt x="127200" y="69621"/>
                      <a:pt x="127500" y="69621"/>
                      <a:pt x="127800" y="69621"/>
                    </a:cubicBezTo>
                    <a:lnTo>
                      <a:pt x="135000" y="69621"/>
                    </a:lnTo>
                    <a:cubicBezTo>
                      <a:pt x="131400" y="74721"/>
                      <a:pt x="129900" y="81021"/>
                      <a:pt x="130200" y="87321"/>
                    </a:cubicBezTo>
                    <a:cubicBezTo>
                      <a:pt x="130200" y="90621"/>
                      <a:pt x="129000" y="93921"/>
                      <a:pt x="126600" y="96021"/>
                    </a:cubicBezTo>
                    <a:lnTo>
                      <a:pt x="1800" y="221421"/>
                    </a:lnTo>
                    <a:cubicBezTo>
                      <a:pt x="-600" y="223821"/>
                      <a:pt x="-600" y="227421"/>
                      <a:pt x="1800" y="229821"/>
                    </a:cubicBezTo>
                    <a:lnTo>
                      <a:pt x="14400" y="242421"/>
                    </a:lnTo>
                    <a:cubicBezTo>
                      <a:pt x="16800" y="244821"/>
                      <a:pt x="20400" y="244821"/>
                      <a:pt x="22800" y="242421"/>
                    </a:cubicBezTo>
                    <a:lnTo>
                      <a:pt x="31200" y="234021"/>
                    </a:lnTo>
                    <a:lnTo>
                      <a:pt x="41700" y="244521"/>
                    </a:lnTo>
                    <a:cubicBezTo>
                      <a:pt x="44100" y="246921"/>
                      <a:pt x="47700" y="246921"/>
                      <a:pt x="50100" y="244521"/>
                    </a:cubicBezTo>
                    <a:lnTo>
                      <a:pt x="58500" y="236121"/>
                    </a:lnTo>
                    <a:cubicBezTo>
                      <a:pt x="60900" y="233721"/>
                      <a:pt x="60900" y="230121"/>
                      <a:pt x="58500" y="227721"/>
                    </a:cubicBezTo>
                    <a:lnTo>
                      <a:pt x="48000" y="217221"/>
                    </a:lnTo>
                    <a:lnTo>
                      <a:pt x="56400" y="208821"/>
                    </a:lnTo>
                    <a:lnTo>
                      <a:pt x="73500" y="225921"/>
                    </a:lnTo>
                    <a:cubicBezTo>
                      <a:pt x="75900" y="228321"/>
                      <a:pt x="79500" y="228321"/>
                      <a:pt x="81900" y="225921"/>
                    </a:cubicBezTo>
                    <a:lnTo>
                      <a:pt x="81900" y="225921"/>
                    </a:lnTo>
                    <a:lnTo>
                      <a:pt x="94500" y="213321"/>
                    </a:lnTo>
                    <a:cubicBezTo>
                      <a:pt x="96900" y="210921"/>
                      <a:pt x="96900" y="207321"/>
                      <a:pt x="94500" y="204921"/>
                    </a:cubicBezTo>
                    <a:lnTo>
                      <a:pt x="78000" y="187521"/>
                    </a:lnTo>
                    <a:lnTo>
                      <a:pt x="147900" y="117621"/>
                    </a:lnTo>
                    <a:cubicBezTo>
                      <a:pt x="150300" y="115221"/>
                      <a:pt x="153600" y="114021"/>
                      <a:pt x="156900" y="114021"/>
                    </a:cubicBezTo>
                    <a:cubicBezTo>
                      <a:pt x="157500" y="114021"/>
                      <a:pt x="158100" y="114021"/>
                      <a:pt x="158700" y="114021"/>
                    </a:cubicBezTo>
                    <a:cubicBezTo>
                      <a:pt x="164400" y="114021"/>
                      <a:pt x="169800" y="112221"/>
                      <a:pt x="174600" y="109221"/>
                    </a:cubicBezTo>
                    <a:lnTo>
                      <a:pt x="174600" y="117021"/>
                    </a:lnTo>
                    <a:cubicBezTo>
                      <a:pt x="174600" y="120921"/>
                      <a:pt x="177300" y="124221"/>
                      <a:pt x="181200" y="124821"/>
                    </a:cubicBezTo>
                    <a:cubicBezTo>
                      <a:pt x="185400" y="125121"/>
                      <a:pt x="189000" y="122121"/>
                      <a:pt x="189300" y="118221"/>
                    </a:cubicBezTo>
                    <a:cubicBezTo>
                      <a:pt x="189300" y="117921"/>
                      <a:pt x="189300" y="117621"/>
                      <a:pt x="189300" y="117321"/>
                    </a:cubicBezTo>
                    <a:lnTo>
                      <a:pt x="189300" y="109821"/>
                    </a:lnTo>
                    <a:cubicBezTo>
                      <a:pt x="189900" y="110721"/>
                      <a:pt x="190500" y="111321"/>
                      <a:pt x="191400" y="112221"/>
                    </a:cubicBezTo>
                    <a:cubicBezTo>
                      <a:pt x="202500" y="123321"/>
                      <a:pt x="220500" y="123321"/>
                      <a:pt x="231600" y="112221"/>
                    </a:cubicBezTo>
                    <a:cubicBezTo>
                      <a:pt x="242700" y="101121"/>
                      <a:pt x="242700" y="83121"/>
                      <a:pt x="231600" y="72021"/>
                    </a:cubicBezTo>
                    <a:lnTo>
                      <a:pt x="231600" y="72021"/>
                    </a:lnTo>
                    <a:cubicBezTo>
                      <a:pt x="231000" y="71421"/>
                      <a:pt x="230100" y="70521"/>
                      <a:pt x="229200" y="69921"/>
                    </a:cubicBezTo>
                    <a:lnTo>
                      <a:pt x="236700" y="69921"/>
                    </a:lnTo>
                    <a:cubicBezTo>
                      <a:pt x="240900" y="69921"/>
                      <a:pt x="244200" y="66621"/>
                      <a:pt x="244200" y="62421"/>
                    </a:cubicBezTo>
                    <a:lnTo>
                      <a:pt x="244200" y="62121"/>
                    </a:lnTo>
                    <a:close/>
                    <a:moveTo>
                      <a:pt x="195900" y="29421"/>
                    </a:moveTo>
                    <a:cubicBezTo>
                      <a:pt x="201300" y="24021"/>
                      <a:pt x="209700" y="24021"/>
                      <a:pt x="215100" y="29421"/>
                    </a:cubicBezTo>
                    <a:cubicBezTo>
                      <a:pt x="220500" y="34821"/>
                      <a:pt x="220500" y="43221"/>
                      <a:pt x="215100" y="48621"/>
                    </a:cubicBezTo>
                    <a:cubicBezTo>
                      <a:pt x="209700" y="54021"/>
                      <a:pt x="201300" y="54021"/>
                      <a:pt x="195900" y="48621"/>
                    </a:cubicBezTo>
                    <a:cubicBezTo>
                      <a:pt x="193500" y="46221"/>
                      <a:pt x="192000" y="42621"/>
                      <a:pt x="192000" y="39021"/>
                    </a:cubicBezTo>
                    <a:cubicBezTo>
                      <a:pt x="192000" y="35421"/>
                      <a:pt x="193200" y="32121"/>
                      <a:pt x="195900" y="29421"/>
                    </a:cubicBezTo>
                    <a:close/>
                    <a:moveTo>
                      <a:pt x="142800" y="23121"/>
                    </a:moveTo>
                    <a:cubicBezTo>
                      <a:pt x="148200" y="17721"/>
                      <a:pt x="156600" y="17721"/>
                      <a:pt x="162000" y="23121"/>
                    </a:cubicBezTo>
                    <a:cubicBezTo>
                      <a:pt x="167400" y="28521"/>
                      <a:pt x="167400" y="36921"/>
                      <a:pt x="162000" y="42321"/>
                    </a:cubicBezTo>
                    <a:cubicBezTo>
                      <a:pt x="156600" y="47721"/>
                      <a:pt x="148200" y="47721"/>
                      <a:pt x="142800" y="42321"/>
                    </a:cubicBezTo>
                    <a:cubicBezTo>
                      <a:pt x="140400" y="39921"/>
                      <a:pt x="138900" y="36321"/>
                      <a:pt x="138900" y="32721"/>
                    </a:cubicBezTo>
                    <a:cubicBezTo>
                      <a:pt x="138900" y="29121"/>
                      <a:pt x="140400" y="25821"/>
                      <a:pt x="142800" y="23121"/>
                    </a:cubicBezTo>
                    <a:close/>
                    <a:moveTo>
                      <a:pt x="168300" y="95421"/>
                    </a:moveTo>
                    <a:cubicBezTo>
                      <a:pt x="162900" y="100821"/>
                      <a:pt x="154500" y="100821"/>
                      <a:pt x="149100" y="95421"/>
                    </a:cubicBezTo>
                    <a:cubicBezTo>
                      <a:pt x="143700" y="90021"/>
                      <a:pt x="143700" y="81621"/>
                      <a:pt x="149100" y="76221"/>
                    </a:cubicBezTo>
                    <a:cubicBezTo>
                      <a:pt x="154500" y="70821"/>
                      <a:pt x="162900" y="70821"/>
                      <a:pt x="168300" y="76221"/>
                    </a:cubicBezTo>
                    <a:cubicBezTo>
                      <a:pt x="170700" y="78621"/>
                      <a:pt x="172200" y="82221"/>
                      <a:pt x="172200" y="85821"/>
                    </a:cubicBezTo>
                    <a:cubicBezTo>
                      <a:pt x="172200" y="89421"/>
                      <a:pt x="170700" y="92721"/>
                      <a:pt x="168300" y="95421"/>
                    </a:cubicBezTo>
                    <a:close/>
                    <a:moveTo>
                      <a:pt x="221400" y="101721"/>
                    </a:moveTo>
                    <a:cubicBezTo>
                      <a:pt x="216000" y="107121"/>
                      <a:pt x="207600" y="107121"/>
                      <a:pt x="202200" y="101721"/>
                    </a:cubicBezTo>
                    <a:cubicBezTo>
                      <a:pt x="196800" y="96321"/>
                      <a:pt x="196800" y="87921"/>
                      <a:pt x="202200" y="82521"/>
                    </a:cubicBezTo>
                    <a:cubicBezTo>
                      <a:pt x="207600" y="77121"/>
                      <a:pt x="216000" y="77121"/>
                      <a:pt x="221400" y="82521"/>
                    </a:cubicBezTo>
                    <a:cubicBezTo>
                      <a:pt x="223800" y="84921"/>
                      <a:pt x="225300" y="88521"/>
                      <a:pt x="225300" y="92121"/>
                    </a:cubicBezTo>
                    <a:cubicBezTo>
                      <a:pt x="225300" y="95721"/>
                      <a:pt x="223800" y="99021"/>
                      <a:pt x="221400" y="101721"/>
                    </a:cubicBezTo>
                    <a:close/>
                  </a:path>
                </a:pathLst>
              </a:custGeom>
              <a:solidFill>
                <a:schemeClr val="tx2">
                  <a:lumMod val="75000"/>
                </a:schemeClr>
              </a:solidFill>
              <a:ln w="2977" cap="flat">
                <a:noFill/>
                <a:prstDash val="solid"/>
                <a:miter/>
              </a:ln>
            </p:spPr>
            <p:txBody>
              <a:bodyPr/>
              <a:lstStyle/>
              <a:p>
                <a:endParaRPr lang="en-CA" noProof="0"/>
              </a:p>
            </p:txBody>
          </p:sp>
        </p:grpSp>
        <p:sp>
          <p:nvSpPr>
            <p:cNvPr id="85" name="Oval 84">
              <a:extLst>
                <a:ext uri="{FF2B5EF4-FFF2-40B4-BE49-F238E27FC236}">
                  <a16:creationId xmlns:a16="http://schemas.microsoft.com/office/drawing/2014/main" id="{820FDDCE-414F-2B99-F8F1-C357B79C490E}"/>
                </a:ext>
              </a:extLst>
            </p:cNvPr>
            <p:cNvSpPr/>
            <p:nvPr/>
          </p:nvSpPr>
          <p:spPr>
            <a:xfrm>
              <a:off x="5365599" y="5767363"/>
              <a:ext cx="180000" cy="180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1</a:t>
              </a:r>
            </a:p>
          </p:txBody>
        </p:sp>
      </p:grpSp>
      <p:sp>
        <p:nvSpPr>
          <p:cNvPr id="87" name="Oval 86">
            <a:extLst>
              <a:ext uri="{FF2B5EF4-FFF2-40B4-BE49-F238E27FC236}">
                <a16:creationId xmlns:a16="http://schemas.microsoft.com/office/drawing/2014/main" id="{E04FB96C-057D-5C29-1144-D64B741E2E0B}"/>
              </a:ext>
            </a:extLst>
          </p:cNvPr>
          <p:cNvSpPr/>
          <p:nvPr/>
        </p:nvSpPr>
        <p:spPr>
          <a:xfrm>
            <a:off x="5552437" y="2939996"/>
            <a:ext cx="180000" cy="180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2</a:t>
            </a:r>
          </a:p>
        </p:txBody>
      </p:sp>
      <p:sp>
        <p:nvSpPr>
          <p:cNvPr id="88" name="Oval 87">
            <a:extLst>
              <a:ext uri="{FF2B5EF4-FFF2-40B4-BE49-F238E27FC236}">
                <a16:creationId xmlns:a16="http://schemas.microsoft.com/office/drawing/2014/main" id="{BC8A323A-153D-4C68-F329-97D1D7C2D01E}"/>
              </a:ext>
            </a:extLst>
          </p:cNvPr>
          <p:cNvSpPr/>
          <p:nvPr/>
        </p:nvSpPr>
        <p:spPr>
          <a:xfrm>
            <a:off x="5552437" y="4232432"/>
            <a:ext cx="180000" cy="180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2</a:t>
            </a:r>
          </a:p>
        </p:txBody>
      </p:sp>
      <p:sp>
        <p:nvSpPr>
          <p:cNvPr id="93" name="Oval 92">
            <a:extLst>
              <a:ext uri="{FF2B5EF4-FFF2-40B4-BE49-F238E27FC236}">
                <a16:creationId xmlns:a16="http://schemas.microsoft.com/office/drawing/2014/main" id="{B207BA9A-BD6F-BD91-0E3D-121BE4A1978A}"/>
              </a:ext>
            </a:extLst>
          </p:cNvPr>
          <p:cNvSpPr/>
          <p:nvPr/>
        </p:nvSpPr>
        <p:spPr>
          <a:xfrm>
            <a:off x="8260967" y="2428481"/>
            <a:ext cx="180000" cy="180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800" noProof="0">
                <a:solidFill>
                  <a:schemeClr val="tx2">
                    <a:lumMod val="75000"/>
                  </a:schemeClr>
                </a:solidFill>
              </a:rPr>
              <a:t>3</a:t>
            </a:r>
          </a:p>
        </p:txBody>
      </p:sp>
      <p:sp>
        <p:nvSpPr>
          <p:cNvPr id="74" name="Rectangle: Rounded Corners 73">
            <a:extLst>
              <a:ext uri="{FF2B5EF4-FFF2-40B4-BE49-F238E27FC236}">
                <a16:creationId xmlns:a16="http://schemas.microsoft.com/office/drawing/2014/main" id="{72C038C8-98B0-A62D-F086-7269707BDB76}"/>
              </a:ext>
            </a:extLst>
          </p:cNvPr>
          <p:cNvSpPr/>
          <p:nvPr/>
        </p:nvSpPr>
        <p:spPr>
          <a:xfrm>
            <a:off x="248371" y="4294373"/>
            <a:ext cx="3282208" cy="1864905"/>
          </a:xfrm>
          <a:prstGeom prst="roundRect">
            <a:avLst>
              <a:gd name="adj" fmla="val 450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pic>
        <p:nvPicPr>
          <p:cNvPr id="78" name="Graphic 77" descr="Information with solid fill">
            <a:extLst>
              <a:ext uri="{FF2B5EF4-FFF2-40B4-BE49-F238E27FC236}">
                <a16:creationId xmlns:a16="http://schemas.microsoft.com/office/drawing/2014/main" id="{09D09345-F728-61DA-937C-E5B35F2D84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8371" y="4294373"/>
            <a:ext cx="432000" cy="432000"/>
          </a:xfrm>
          <a:prstGeom prst="rect">
            <a:avLst/>
          </a:prstGeom>
        </p:spPr>
      </p:pic>
      <p:sp>
        <p:nvSpPr>
          <p:cNvPr id="79" name="TextBox 78">
            <a:extLst>
              <a:ext uri="{FF2B5EF4-FFF2-40B4-BE49-F238E27FC236}">
                <a16:creationId xmlns:a16="http://schemas.microsoft.com/office/drawing/2014/main" id="{9E28016E-6CB5-5D5E-3657-2DED7546BCB2}"/>
              </a:ext>
            </a:extLst>
          </p:cNvPr>
          <p:cNvSpPr txBox="1"/>
          <p:nvPr/>
        </p:nvSpPr>
        <p:spPr>
          <a:xfrm>
            <a:off x="654417" y="4381689"/>
            <a:ext cx="2506772" cy="2573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200" b="1" noProof="0">
                <a:solidFill>
                  <a:schemeClr val="bg2">
                    <a:lumMod val="10000"/>
                  </a:schemeClr>
                </a:solidFill>
              </a:rPr>
              <a:t>About the 360 views</a:t>
            </a:r>
          </a:p>
        </p:txBody>
      </p:sp>
      <p:sp>
        <p:nvSpPr>
          <p:cNvPr id="80" name="TextBox 79">
            <a:extLst>
              <a:ext uri="{FF2B5EF4-FFF2-40B4-BE49-F238E27FC236}">
                <a16:creationId xmlns:a16="http://schemas.microsoft.com/office/drawing/2014/main" id="{F757F37E-D6D9-4D52-BB72-0E07B4DA8316}"/>
              </a:ext>
            </a:extLst>
          </p:cNvPr>
          <p:cNvSpPr txBox="1"/>
          <p:nvPr/>
        </p:nvSpPr>
        <p:spPr>
          <a:xfrm>
            <a:off x="636041" y="4701991"/>
            <a:ext cx="2901760" cy="48820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900" noProof="0">
                <a:solidFill>
                  <a:schemeClr val="bg2">
                    <a:lumMod val="10000"/>
                  </a:schemeClr>
                </a:solidFill>
              </a:rPr>
              <a:t>The </a:t>
            </a:r>
            <a:r>
              <a:rPr lang="en-CA" sz="900" b="1" noProof="0">
                <a:solidFill>
                  <a:schemeClr val="bg2">
                    <a:lumMod val="10000"/>
                  </a:schemeClr>
                </a:solidFill>
              </a:rPr>
              <a:t>MDM will be mastering the “Person-ID” </a:t>
            </a:r>
            <a:r>
              <a:rPr lang="en-CA" sz="900" noProof="0">
                <a:solidFill>
                  <a:schemeClr val="bg2">
                    <a:lumMod val="10000"/>
                  </a:schemeClr>
                </a:solidFill>
              </a:rPr>
              <a:t>from various data sources. As a result, an “</a:t>
            </a:r>
            <a:r>
              <a:rPr lang="en-CA" sz="900" b="1" noProof="0">
                <a:solidFill>
                  <a:schemeClr val="bg2">
                    <a:lumMod val="10000"/>
                  </a:schemeClr>
                </a:solidFill>
              </a:rPr>
              <a:t>Enterprise-Person-ID”</a:t>
            </a:r>
            <a:r>
              <a:rPr lang="en-CA" sz="900" noProof="0">
                <a:solidFill>
                  <a:schemeClr val="bg2">
                    <a:lumMod val="10000"/>
                  </a:schemeClr>
                </a:solidFill>
              </a:rPr>
              <a:t> will be generated. </a:t>
            </a:r>
          </a:p>
        </p:txBody>
      </p:sp>
      <p:sp>
        <p:nvSpPr>
          <p:cNvPr id="86" name="TextBox 85">
            <a:extLst>
              <a:ext uri="{FF2B5EF4-FFF2-40B4-BE49-F238E27FC236}">
                <a16:creationId xmlns:a16="http://schemas.microsoft.com/office/drawing/2014/main" id="{DED8BDEB-5C63-DFF6-0FFE-3F82F8D33E69}"/>
              </a:ext>
            </a:extLst>
          </p:cNvPr>
          <p:cNvSpPr txBox="1"/>
          <p:nvPr/>
        </p:nvSpPr>
        <p:spPr>
          <a:xfrm>
            <a:off x="628819" y="5181042"/>
            <a:ext cx="2901760" cy="349702"/>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900" noProof="0">
                <a:solidFill>
                  <a:schemeClr val="bg2">
                    <a:lumMod val="10000"/>
                  </a:schemeClr>
                </a:solidFill>
              </a:rPr>
              <a:t>Business Data will move from respective sources into their related nodes.</a:t>
            </a:r>
          </a:p>
        </p:txBody>
      </p:sp>
      <p:sp>
        <p:nvSpPr>
          <p:cNvPr id="89" name="TextBox 88">
            <a:extLst>
              <a:ext uri="{FF2B5EF4-FFF2-40B4-BE49-F238E27FC236}">
                <a16:creationId xmlns:a16="http://schemas.microsoft.com/office/drawing/2014/main" id="{3D7010AE-7A22-E326-166A-4A3EFB520657}"/>
              </a:ext>
            </a:extLst>
          </p:cNvPr>
          <p:cNvSpPr txBox="1"/>
          <p:nvPr/>
        </p:nvSpPr>
        <p:spPr>
          <a:xfrm>
            <a:off x="636041" y="5509444"/>
            <a:ext cx="2901760" cy="48820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900" noProof="0">
                <a:solidFill>
                  <a:schemeClr val="bg2">
                    <a:lumMod val="10000"/>
                  </a:schemeClr>
                </a:solidFill>
              </a:rPr>
              <a:t>The “</a:t>
            </a:r>
            <a:r>
              <a:rPr lang="en-CA" sz="900" b="1" noProof="0">
                <a:solidFill>
                  <a:schemeClr val="bg2">
                    <a:lumMod val="10000"/>
                  </a:schemeClr>
                </a:solidFill>
              </a:rPr>
              <a:t>Person-ID</a:t>
            </a:r>
            <a:r>
              <a:rPr lang="en-CA" sz="900" noProof="0">
                <a:solidFill>
                  <a:schemeClr val="bg2">
                    <a:lumMod val="10000"/>
                  </a:schemeClr>
                </a:solidFill>
              </a:rPr>
              <a:t>” &amp; the “</a:t>
            </a:r>
            <a:r>
              <a:rPr lang="en-CA" sz="900" b="1" noProof="0">
                <a:solidFill>
                  <a:schemeClr val="bg2">
                    <a:lumMod val="10000"/>
                  </a:schemeClr>
                </a:solidFill>
              </a:rPr>
              <a:t>Enterprise-Person-ID</a:t>
            </a:r>
            <a:r>
              <a:rPr lang="en-CA" sz="900" noProof="0">
                <a:solidFill>
                  <a:schemeClr val="bg2">
                    <a:lumMod val="10000"/>
                  </a:schemeClr>
                </a:solidFill>
              </a:rPr>
              <a:t>” is used to fetch the data related to a person to satisfy business needs.</a:t>
            </a:r>
          </a:p>
        </p:txBody>
      </p:sp>
      <p:sp>
        <p:nvSpPr>
          <p:cNvPr id="95" name="Oval 94">
            <a:extLst>
              <a:ext uri="{FF2B5EF4-FFF2-40B4-BE49-F238E27FC236}">
                <a16:creationId xmlns:a16="http://schemas.microsoft.com/office/drawing/2014/main" id="{2CFAABF8-FB92-19A8-8C4A-915A83B1D11D}"/>
              </a:ext>
            </a:extLst>
          </p:cNvPr>
          <p:cNvSpPr>
            <a:spLocks noChangeAspect="1"/>
          </p:cNvSpPr>
          <p:nvPr/>
        </p:nvSpPr>
        <p:spPr>
          <a:xfrm>
            <a:off x="299127" y="4836716"/>
            <a:ext cx="288000" cy="288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050" b="1" noProof="0">
                <a:solidFill>
                  <a:schemeClr val="tx2">
                    <a:lumMod val="75000"/>
                  </a:schemeClr>
                </a:solidFill>
              </a:rPr>
              <a:t>1</a:t>
            </a:r>
          </a:p>
        </p:txBody>
      </p:sp>
      <p:sp>
        <p:nvSpPr>
          <p:cNvPr id="97" name="Oval 96">
            <a:extLst>
              <a:ext uri="{FF2B5EF4-FFF2-40B4-BE49-F238E27FC236}">
                <a16:creationId xmlns:a16="http://schemas.microsoft.com/office/drawing/2014/main" id="{1D242195-781C-945B-569F-9B4A7C0FC18F}"/>
              </a:ext>
            </a:extLst>
          </p:cNvPr>
          <p:cNvSpPr>
            <a:spLocks noChangeAspect="1"/>
          </p:cNvSpPr>
          <p:nvPr/>
        </p:nvSpPr>
        <p:spPr>
          <a:xfrm>
            <a:off x="291905" y="5234976"/>
            <a:ext cx="288000" cy="288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050" b="1" noProof="0">
                <a:solidFill>
                  <a:schemeClr val="tx2">
                    <a:lumMod val="75000"/>
                  </a:schemeClr>
                </a:solidFill>
              </a:rPr>
              <a:t>2</a:t>
            </a:r>
          </a:p>
        </p:txBody>
      </p:sp>
      <p:sp>
        <p:nvSpPr>
          <p:cNvPr id="98" name="Oval 97">
            <a:extLst>
              <a:ext uri="{FF2B5EF4-FFF2-40B4-BE49-F238E27FC236}">
                <a16:creationId xmlns:a16="http://schemas.microsoft.com/office/drawing/2014/main" id="{5F14EC58-141C-1CB3-8FBB-02AE49BCB444}"/>
              </a:ext>
            </a:extLst>
          </p:cNvPr>
          <p:cNvSpPr>
            <a:spLocks noChangeAspect="1"/>
          </p:cNvSpPr>
          <p:nvPr/>
        </p:nvSpPr>
        <p:spPr>
          <a:xfrm>
            <a:off x="299127" y="5644169"/>
            <a:ext cx="288000" cy="288000"/>
          </a:xfrm>
          <a:prstGeom prst="ellipse">
            <a:avLst/>
          </a:prstGeom>
          <a:solidFill>
            <a:schemeClr val="bg1"/>
          </a:solidFill>
          <a:ln w="1270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050" b="1" noProof="0">
                <a:solidFill>
                  <a:schemeClr val="tx2">
                    <a:lumMod val="75000"/>
                  </a:schemeClr>
                </a:solidFill>
              </a:rPr>
              <a:t>3</a:t>
            </a:r>
          </a:p>
        </p:txBody>
      </p:sp>
      <p:cxnSp>
        <p:nvCxnSpPr>
          <p:cNvPr id="5409" name="Connector: Elbow 5408">
            <a:extLst>
              <a:ext uri="{FF2B5EF4-FFF2-40B4-BE49-F238E27FC236}">
                <a16:creationId xmlns:a16="http://schemas.microsoft.com/office/drawing/2014/main" id="{F300EC64-81F6-E169-FA30-90365FA871FB}"/>
              </a:ext>
            </a:extLst>
          </p:cNvPr>
          <p:cNvCxnSpPr>
            <a:cxnSpLocks/>
            <a:stCxn id="5161" idx="3"/>
            <a:endCxn id="5382" idx="0"/>
          </p:cNvCxnSpPr>
          <p:nvPr/>
        </p:nvCxnSpPr>
        <p:spPr>
          <a:xfrm>
            <a:off x="3013062" y="3607470"/>
            <a:ext cx="1236035" cy="199273"/>
          </a:xfrm>
          <a:prstGeom prst="bentConnector2">
            <a:avLst/>
          </a:prstGeom>
          <a:ln w="22225">
            <a:solidFill>
              <a:schemeClr val="accent1">
                <a:lumMod val="90000"/>
                <a:lumOff val="10000"/>
              </a:schemeClr>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E06BFD5-6101-3CEC-63CB-C73F87001F26}"/>
              </a:ext>
            </a:extLst>
          </p:cNvPr>
          <p:cNvSpPr txBox="1"/>
          <p:nvPr/>
        </p:nvSpPr>
        <p:spPr>
          <a:xfrm>
            <a:off x="5290516" y="5848350"/>
            <a:ext cx="6120434"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50" b="1" noProof="0">
                <a:solidFill>
                  <a:schemeClr val="bg2">
                    <a:lumMod val="10000"/>
                  </a:schemeClr>
                </a:solidFill>
              </a:rPr>
              <a:t>Note</a:t>
            </a:r>
            <a:r>
              <a:rPr lang="en-CA" sz="1050" noProof="0">
                <a:solidFill>
                  <a:schemeClr val="bg2">
                    <a:lumMod val="10000"/>
                  </a:schemeClr>
                </a:solidFill>
              </a:rPr>
              <a:t> : Independently of how Canada Life BU evolve over time, the above representation will remain.</a:t>
            </a:r>
          </a:p>
        </p:txBody>
      </p:sp>
      <p:sp>
        <p:nvSpPr>
          <p:cNvPr id="22" name="Slide Number Placeholder 2">
            <a:extLst>
              <a:ext uri="{FF2B5EF4-FFF2-40B4-BE49-F238E27FC236}">
                <a16:creationId xmlns:a16="http://schemas.microsoft.com/office/drawing/2014/main" id="{412F7484-03CB-B12B-F6E5-F04CC2D0DB41}"/>
              </a:ext>
            </a:extLst>
          </p:cNvPr>
          <p:cNvSpPr>
            <a:spLocks noGrp="1"/>
          </p:cNvSpPr>
          <p:nvPr>
            <p:ph type="sldNum" sz="quarter" idx="12"/>
          </p:nvPr>
        </p:nvSpPr>
        <p:spPr>
          <a:xfrm>
            <a:off x="87852" y="6286624"/>
            <a:ext cx="201619" cy="365125"/>
          </a:xfrm>
        </p:spPr>
        <p:txBody>
          <a:bodyPr/>
          <a:lstStyle/>
          <a:p>
            <a:fld id="{3CBD822F-ED39-4FC2-B5B5-D2EAB6238DC3}" type="slidenum">
              <a:rPr lang="en-CA" noProof="0" smtClean="0">
                <a:latin typeface="+mn-lt"/>
              </a:rPr>
              <a:pPr/>
              <a:t>12</a:t>
            </a:fld>
            <a:endParaRPr lang="en-CA" noProof="0">
              <a:latin typeface="+mn-lt"/>
            </a:endParaRPr>
          </a:p>
        </p:txBody>
      </p:sp>
      <p:grpSp>
        <p:nvGrpSpPr>
          <p:cNvPr id="3" name="Graphic 5179" descr="Database with solid fill">
            <a:extLst>
              <a:ext uri="{FF2B5EF4-FFF2-40B4-BE49-F238E27FC236}">
                <a16:creationId xmlns:a16="http://schemas.microsoft.com/office/drawing/2014/main" id="{4AA98F2E-5855-F033-DB9B-931546567D74}"/>
              </a:ext>
            </a:extLst>
          </p:cNvPr>
          <p:cNvGrpSpPr>
            <a:grpSpLocks noChangeAspect="1"/>
          </p:cNvGrpSpPr>
          <p:nvPr/>
        </p:nvGrpSpPr>
        <p:grpSpPr>
          <a:xfrm>
            <a:off x="3828074" y="4951526"/>
            <a:ext cx="268591" cy="364526"/>
            <a:chOff x="4198684" y="5377000"/>
            <a:chExt cx="533400" cy="723900"/>
          </a:xfrm>
          <a:solidFill>
            <a:schemeClr val="tx2">
              <a:lumMod val="75000"/>
            </a:schemeClr>
          </a:solidFill>
        </p:grpSpPr>
        <p:sp>
          <p:nvSpPr>
            <p:cNvPr id="6" name="Oval 5">
              <a:extLst>
                <a:ext uri="{FF2B5EF4-FFF2-40B4-BE49-F238E27FC236}">
                  <a16:creationId xmlns:a16="http://schemas.microsoft.com/office/drawing/2014/main" id="{0D941951-A38B-E1F4-9658-2542E657C25F}"/>
                </a:ext>
              </a:extLst>
            </p:cNvPr>
            <p:cNvSpPr/>
            <p:nvPr/>
          </p:nvSpPr>
          <p:spPr>
            <a:xfrm>
              <a:off x="4198684" y="5377000"/>
              <a:ext cx="533400" cy="152400"/>
            </a:xfrm>
            <a:prstGeom prst="ellipse">
              <a:avLst/>
            </a:prstGeom>
            <a:grpFill/>
            <a:ln w="9525" cap="flat">
              <a:noFill/>
              <a:prstDash val="solid"/>
              <a:miter/>
            </a:ln>
          </p:spPr>
          <p:txBody>
            <a:bodyPr/>
            <a:lstStyle/>
            <a:p>
              <a:endParaRPr lang="en-CA" noProof="0"/>
            </a:p>
          </p:txBody>
        </p:sp>
        <p:sp>
          <p:nvSpPr>
            <p:cNvPr id="10" name="Freeform: Shape 9">
              <a:extLst>
                <a:ext uri="{FF2B5EF4-FFF2-40B4-BE49-F238E27FC236}">
                  <a16:creationId xmlns:a16="http://schemas.microsoft.com/office/drawing/2014/main" id="{C1426B72-6508-27B4-0A0F-D31E22214415}"/>
                </a:ext>
              </a:extLst>
            </p:cNvPr>
            <p:cNvSpPr/>
            <p:nvPr/>
          </p:nvSpPr>
          <p:spPr>
            <a:xfrm>
              <a:off x="4198684" y="5491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11" name="Freeform: Shape 10">
              <a:extLst>
                <a:ext uri="{FF2B5EF4-FFF2-40B4-BE49-F238E27FC236}">
                  <a16:creationId xmlns:a16="http://schemas.microsoft.com/office/drawing/2014/main" id="{8570526A-DA0D-ED94-64AD-9AFC7EF50365}"/>
                </a:ext>
              </a:extLst>
            </p:cNvPr>
            <p:cNvSpPr/>
            <p:nvPr/>
          </p:nvSpPr>
          <p:spPr>
            <a:xfrm>
              <a:off x="4198684" y="56818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sp>
          <p:nvSpPr>
            <p:cNvPr id="13" name="Freeform: Shape 12">
              <a:extLst>
                <a:ext uri="{FF2B5EF4-FFF2-40B4-BE49-F238E27FC236}">
                  <a16:creationId xmlns:a16="http://schemas.microsoft.com/office/drawing/2014/main" id="{4A267A62-DF46-786B-17D6-D1018CCE321D}"/>
                </a:ext>
              </a:extLst>
            </p:cNvPr>
            <p:cNvSpPr/>
            <p:nvPr/>
          </p:nvSpPr>
          <p:spPr>
            <a:xfrm>
              <a:off x="4198684" y="5872300"/>
              <a:ext cx="533400" cy="228600"/>
            </a:xfrm>
            <a:custGeom>
              <a:avLst/>
              <a:gdLst>
                <a:gd name="csX0" fmla="*/ 457200 w 533400"/>
                <a:gd name="csY0" fmla="*/ 152400 h 228600"/>
                <a:gd name="csX1" fmla="*/ 438150 w 533400"/>
                <a:gd name="csY1" fmla="*/ 133350 h 228600"/>
                <a:gd name="csX2" fmla="*/ 457200 w 533400"/>
                <a:gd name="csY2" fmla="*/ 114300 h 228600"/>
                <a:gd name="csX3" fmla="*/ 476250 w 533400"/>
                <a:gd name="csY3" fmla="*/ 133350 h 228600"/>
                <a:gd name="csX4" fmla="*/ 457200 w 533400"/>
                <a:gd name="csY4" fmla="*/ 152400 h 228600"/>
                <a:gd name="csX5" fmla="*/ 266700 w 533400"/>
                <a:gd name="csY5" fmla="*/ 76200 h 228600"/>
                <a:gd name="csX6" fmla="*/ 0 w 533400"/>
                <a:gd name="csY6" fmla="*/ 0 h 228600"/>
                <a:gd name="csX7" fmla="*/ 0 w 533400"/>
                <a:gd name="csY7" fmla="*/ 152400 h 228600"/>
                <a:gd name="csX8" fmla="*/ 266700 w 533400"/>
                <a:gd name="csY8" fmla="*/ 228600 h 228600"/>
                <a:gd name="csX9" fmla="*/ 533400 w 533400"/>
                <a:gd name="csY9" fmla="*/ 152400 h 228600"/>
                <a:gd name="csX10" fmla="*/ 533400 w 533400"/>
                <a:gd name="csY10" fmla="*/ 0 h 228600"/>
                <a:gd name="csX11" fmla="*/ 266700 w 533400"/>
                <a:gd name="csY11" fmla="*/ 76200 h 228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400" h="228600">
                  <a:moveTo>
                    <a:pt x="457200" y="152400"/>
                  </a:moveTo>
                  <a:cubicBezTo>
                    <a:pt x="445770" y="152400"/>
                    <a:pt x="438150" y="144780"/>
                    <a:pt x="438150" y="133350"/>
                  </a:cubicBezTo>
                  <a:cubicBezTo>
                    <a:pt x="438150" y="121920"/>
                    <a:pt x="445770" y="114300"/>
                    <a:pt x="457200" y="114300"/>
                  </a:cubicBezTo>
                  <a:cubicBezTo>
                    <a:pt x="468630" y="114300"/>
                    <a:pt x="476250" y="121920"/>
                    <a:pt x="476250" y="133350"/>
                  </a:cubicBezTo>
                  <a:cubicBezTo>
                    <a:pt x="476250" y="144780"/>
                    <a:pt x="468630" y="152400"/>
                    <a:pt x="457200" y="152400"/>
                  </a:cubicBezTo>
                  <a:close/>
                  <a:moveTo>
                    <a:pt x="266700" y="76200"/>
                  </a:moveTo>
                  <a:cubicBezTo>
                    <a:pt x="120015" y="76200"/>
                    <a:pt x="0" y="41910"/>
                    <a:pt x="0" y="0"/>
                  </a:cubicBezTo>
                  <a:lnTo>
                    <a:pt x="0" y="152400"/>
                  </a:lnTo>
                  <a:cubicBezTo>
                    <a:pt x="0" y="194310"/>
                    <a:pt x="120015" y="228600"/>
                    <a:pt x="266700" y="228600"/>
                  </a:cubicBezTo>
                  <a:cubicBezTo>
                    <a:pt x="413385" y="228600"/>
                    <a:pt x="533400" y="194310"/>
                    <a:pt x="533400" y="152400"/>
                  </a:cubicBezTo>
                  <a:lnTo>
                    <a:pt x="533400" y="0"/>
                  </a:lnTo>
                  <a:cubicBezTo>
                    <a:pt x="533400" y="41910"/>
                    <a:pt x="413385" y="76200"/>
                    <a:pt x="266700" y="76200"/>
                  </a:cubicBezTo>
                  <a:close/>
                </a:path>
              </a:pathLst>
            </a:custGeom>
            <a:grpFill/>
            <a:ln w="9525" cap="flat">
              <a:noFill/>
              <a:prstDash val="solid"/>
              <a:miter/>
            </a:ln>
          </p:spPr>
          <p:txBody>
            <a:bodyPr/>
            <a:lstStyle/>
            <a:p>
              <a:endParaRPr lang="en-CA" noProof="0"/>
            </a:p>
          </p:txBody>
        </p:sp>
      </p:grpSp>
      <p:sp>
        <p:nvSpPr>
          <p:cNvPr id="15" name="TextBox 14">
            <a:extLst>
              <a:ext uri="{FF2B5EF4-FFF2-40B4-BE49-F238E27FC236}">
                <a16:creationId xmlns:a16="http://schemas.microsoft.com/office/drawing/2014/main" id="{D7DC7184-98D8-5197-E030-6CBE7B3AD238}"/>
              </a:ext>
            </a:extLst>
          </p:cNvPr>
          <p:cNvSpPr txBox="1"/>
          <p:nvPr/>
        </p:nvSpPr>
        <p:spPr>
          <a:xfrm>
            <a:off x="3566579" y="5298273"/>
            <a:ext cx="795224"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noProof="0">
                <a:solidFill>
                  <a:schemeClr val="bg2">
                    <a:lumMod val="10000"/>
                  </a:schemeClr>
                </a:solidFill>
              </a:rPr>
              <a:t>MDM Repository</a:t>
            </a:r>
          </a:p>
        </p:txBody>
      </p:sp>
      <p:pic>
        <p:nvPicPr>
          <p:cNvPr id="5378" name="Graphic 5377" descr="Database with solid fill">
            <a:extLst>
              <a:ext uri="{FF2B5EF4-FFF2-40B4-BE49-F238E27FC236}">
                <a16:creationId xmlns:a16="http://schemas.microsoft.com/office/drawing/2014/main" id="{0BAE5807-A964-19C2-F840-BEFE591366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32564" y="3803370"/>
            <a:ext cx="252000" cy="252000"/>
          </a:xfrm>
          <a:prstGeom prst="rect">
            <a:avLst/>
          </a:prstGeom>
        </p:spPr>
      </p:pic>
      <p:sp>
        <p:nvSpPr>
          <p:cNvPr id="5395" name="Rectangle: Rounded Corners 5394">
            <a:extLst>
              <a:ext uri="{FF2B5EF4-FFF2-40B4-BE49-F238E27FC236}">
                <a16:creationId xmlns:a16="http://schemas.microsoft.com/office/drawing/2014/main" id="{2A1871D7-2455-7281-6F57-D6221B7DEAE0}"/>
              </a:ext>
            </a:extLst>
          </p:cNvPr>
          <p:cNvSpPr/>
          <p:nvPr/>
        </p:nvSpPr>
        <p:spPr>
          <a:xfrm>
            <a:off x="7781126" y="3823130"/>
            <a:ext cx="1152000" cy="288000"/>
          </a:xfrm>
          <a:prstGeom prst="roundRect">
            <a:avLst/>
          </a:prstGeom>
          <a:solidFill>
            <a:schemeClr val="bg1"/>
          </a:solidFill>
          <a:ln w="6350">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r>
              <a:rPr lang="en-CA" sz="1000" noProof="0">
                <a:solidFill>
                  <a:schemeClr val="bg2">
                    <a:lumMod val="10000"/>
                  </a:schemeClr>
                </a:solidFill>
              </a:rPr>
              <a:t>Person-ID</a:t>
            </a:r>
            <a:endParaRPr lang="en-CA" sz="1400" noProof="0">
              <a:solidFill>
                <a:schemeClr val="bg2">
                  <a:lumMod val="10000"/>
                </a:schemeClr>
              </a:solidFill>
            </a:endParaRPr>
          </a:p>
        </p:txBody>
      </p:sp>
      <p:sp>
        <p:nvSpPr>
          <p:cNvPr id="5397" name="Rectangle: Rounded Corners 5396">
            <a:extLst>
              <a:ext uri="{FF2B5EF4-FFF2-40B4-BE49-F238E27FC236}">
                <a16:creationId xmlns:a16="http://schemas.microsoft.com/office/drawing/2014/main" id="{6913137B-6EE8-530D-6FC2-F5D88470F0E1}"/>
              </a:ext>
            </a:extLst>
          </p:cNvPr>
          <p:cNvSpPr/>
          <p:nvPr/>
        </p:nvSpPr>
        <p:spPr>
          <a:xfrm>
            <a:off x="7715314" y="3786110"/>
            <a:ext cx="2462784" cy="380807"/>
          </a:xfrm>
          <a:prstGeom prst="roundRect">
            <a:avLst>
              <a:gd name="adj" fmla="val 7823"/>
            </a:avLst>
          </a:prstGeom>
          <a:noFill/>
          <a:ln w="6350">
            <a:solidFill>
              <a:srgbClr val="515349"/>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pic>
        <p:nvPicPr>
          <p:cNvPr id="7" name="Graphic 6" descr="Database with solid fill">
            <a:extLst>
              <a:ext uri="{FF2B5EF4-FFF2-40B4-BE49-F238E27FC236}">
                <a16:creationId xmlns:a16="http://schemas.microsoft.com/office/drawing/2014/main" id="{7BC231C0-2F75-294B-47D9-1ED698828C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8091" y="3837882"/>
            <a:ext cx="252000" cy="252000"/>
          </a:xfrm>
          <a:prstGeom prst="rect">
            <a:avLst/>
          </a:prstGeom>
        </p:spPr>
      </p:pic>
      <p:cxnSp>
        <p:nvCxnSpPr>
          <p:cNvPr id="19" name="Connector: Elbow 18">
            <a:extLst>
              <a:ext uri="{FF2B5EF4-FFF2-40B4-BE49-F238E27FC236}">
                <a16:creationId xmlns:a16="http://schemas.microsoft.com/office/drawing/2014/main" id="{CFB1E162-5D94-B5E0-D1D4-884F269F38E5}"/>
              </a:ext>
            </a:extLst>
          </p:cNvPr>
          <p:cNvCxnSpPr>
            <a:cxnSpLocks/>
            <a:stCxn id="5397" idx="3"/>
          </p:cNvCxnSpPr>
          <p:nvPr/>
        </p:nvCxnSpPr>
        <p:spPr>
          <a:xfrm flipV="1">
            <a:off x="10178098" y="3642515"/>
            <a:ext cx="1344774" cy="333999"/>
          </a:xfrm>
          <a:prstGeom prst="bentConnector2">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3702BF1-2DC2-F936-67F5-E2AD75F97284}"/>
              </a:ext>
            </a:extLst>
          </p:cNvPr>
          <p:cNvSpPr txBox="1"/>
          <p:nvPr/>
        </p:nvSpPr>
        <p:spPr>
          <a:xfrm rot="5400000">
            <a:off x="1530605" y="2718290"/>
            <a:ext cx="620778"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US" sz="1100" b="1">
                <a:solidFill>
                  <a:schemeClr val="bg2">
                    <a:lumMod val="10000"/>
                  </a:schemeClr>
                </a:solidFill>
              </a:rPr>
              <a:t>……</a:t>
            </a:r>
          </a:p>
        </p:txBody>
      </p:sp>
    </p:spTree>
    <p:extLst>
      <p:ext uri="{BB962C8B-B14F-4D97-AF65-F5344CB8AC3E}">
        <p14:creationId xmlns:p14="http://schemas.microsoft.com/office/powerpoint/2010/main" val="2606428090"/>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D6397-68A9-262E-B2B8-863821779ACF}"/>
            </a:ext>
          </a:extLst>
        </p:cNvPr>
        <p:cNvGrpSpPr/>
        <p:nvPr/>
      </p:nvGrpSpPr>
      <p:grpSpPr>
        <a:xfrm>
          <a:off x="0" y="0"/>
          <a:ext cx="0" cy="0"/>
          <a:chOff x="0" y="0"/>
          <a:chExt cx="0" cy="0"/>
        </a:xfrm>
      </p:grpSpPr>
      <p:sp>
        <p:nvSpPr>
          <p:cNvPr id="14" name="Title 2">
            <a:extLst>
              <a:ext uri="{FF2B5EF4-FFF2-40B4-BE49-F238E27FC236}">
                <a16:creationId xmlns:a16="http://schemas.microsoft.com/office/drawing/2014/main" id="{D3E3F0BD-EC19-E293-7882-3E5E1DFD1EF8}"/>
              </a:ext>
            </a:extLst>
          </p:cNvPr>
          <p:cNvSpPr txBox="1">
            <a:spLocks/>
          </p:cNvSpPr>
          <p:nvPr/>
        </p:nvSpPr>
        <p:spPr>
          <a:xfrm>
            <a:off x="210312" y="120782"/>
            <a:ext cx="11412000" cy="405102"/>
          </a:xfrm>
          <a:prstGeom prst="rect">
            <a:avLst/>
          </a:prstGeom>
        </p:spPr>
        <p:txBody>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000" b="1" noProof="0"/>
              <a:t>2.1 Business Data Node (Architecture-Oriented)</a:t>
            </a:r>
            <a:endParaRPr lang="en-CA" sz="2000" noProof="0"/>
          </a:p>
        </p:txBody>
      </p:sp>
      <p:sp>
        <p:nvSpPr>
          <p:cNvPr id="823" name="Text Placeholder 3">
            <a:extLst>
              <a:ext uri="{FF2B5EF4-FFF2-40B4-BE49-F238E27FC236}">
                <a16:creationId xmlns:a16="http://schemas.microsoft.com/office/drawing/2014/main" id="{23F82113-253A-32BF-CA92-6FA3EDF94740}"/>
              </a:ext>
            </a:extLst>
          </p:cNvPr>
          <p:cNvSpPr txBox="1">
            <a:spLocks/>
          </p:cNvSpPr>
          <p:nvPr/>
        </p:nvSpPr>
        <p:spPr>
          <a:xfrm>
            <a:off x="210312" y="418588"/>
            <a:ext cx="11883922" cy="261610"/>
          </a:xfrm>
          <a:prstGeom prst="rect">
            <a:avLst/>
          </a:prstGeom>
        </p:spPr>
        <p:txBody>
          <a:bodyPr wrap="square">
            <a:spAutoFit/>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1100" noProof="0">
                <a:solidFill>
                  <a:schemeClr val="tx1">
                    <a:lumMod val="50000"/>
                  </a:schemeClr>
                </a:solidFill>
              </a:rPr>
              <a:t>We support four ways to store and prepare data, each built for a different type of use case</a:t>
            </a:r>
          </a:p>
        </p:txBody>
      </p:sp>
      <p:sp>
        <p:nvSpPr>
          <p:cNvPr id="61" name="TextBox 60">
            <a:extLst>
              <a:ext uri="{FF2B5EF4-FFF2-40B4-BE49-F238E27FC236}">
                <a16:creationId xmlns:a16="http://schemas.microsoft.com/office/drawing/2014/main" id="{5B90BAA0-59BA-3362-3406-C7A8E38E3EAA}"/>
              </a:ext>
            </a:extLst>
          </p:cNvPr>
          <p:cNvSpPr txBox="1"/>
          <p:nvPr/>
        </p:nvSpPr>
        <p:spPr>
          <a:xfrm>
            <a:off x="3684000" y="5759973"/>
            <a:ext cx="4824000" cy="195814"/>
          </a:xfrm>
          <a:prstGeom prst="rect">
            <a:avLst/>
          </a:prstGeom>
          <a:solidFill>
            <a:srgbClr val="F2F2F2"/>
          </a:solidFill>
          <a:ln w="9525">
            <a:solidFill>
              <a:srgbClr val="A5A5A5"/>
            </a:solid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ctr" anchorCtr="0">
            <a:spAutoFit/>
          </a:bodyPr>
          <a:lstStyle/>
          <a:p>
            <a:pPr algn="ctr"/>
            <a:r>
              <a:rPr lang="en-CA" sz="800" b="1" noProof="0">
                <a:solidFill>
                  <a:schemeClr val="tx1">
                    <a:lumMod val="50000"/>
                  </a:schemeClr>
                </a:solidFill>
              </a:rPr>
              <a:t>Pass-through for Un-structured Data</a:t>
            </a:r>
          </a:p>
        </p:txBody>
      </p:sp>
      <p:grpSp>
        <p:nvGrpSpPr>
          <p:cNvPr id="202" name="Group 201">
            <a:extLst>
              <a:ext uri="{FF2B5EF4-FFF2-40B4-BE49-F238E27FC236}">
                <a16:creationId xmlns:a16="http://schemas.microsoft.com/office/drawing/2014/main" id="{6BB5E3D9-BC24-C010-3FC0-9D304BD7FC01}"/>
              </a:ext>
            </a:extLst>
          </p:cNvPr>
          <p:cNvGrpSpPr/>
          <p:nvPr/>
        </p:nvGrpSpPr>
        <p:grpSpPr>
          <a:xfrm>
            <a:off x="6346865" y="6366845"/>
            <a:ext cx="3600000" cy="396000"/>
            <a:chOff x="4073078" y="6325649"/>
            <a:chExt cx="3600000" cy="396000"/>
          </a:xfrm>
        </p:grpSpPr>
        <p:sp>
          <p:nvSpPr>
            <p:cNvPr id="49" name="Rectangle: Rounded Corners 48">
              <a:extLst>
                <a:ext uri="{FF2B5EF4-FFF2-40B4-BE49-F238E27FC236}">
                  <a16:creationId xmlns:a16="http://schemas.microsoft.com/office/drawing/2014/main" id="{2CCCED9B-215D-544F-2EB9-E8C062221C54}"/>
                </a:ext>
              </a:extLst>
            </p:cNvPr>
            <p:cNvSpPr/>
            <p:nvPr/>
          </p:nvSpPr>
          <p:spPr>
            <a:xfrm>
              <a:off x="4073078" y="6325649"/>
              <a:ext cx="3600000" cy="396000"/>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l"/>
              <a:endParaRPr lang="en-CA" sz="900" noProof="0"/>
            </a:p>
          </p:txBody>
        </p:sp>
        <p:sp>
          <p:nvSpPr>
            <p:cNvPr id="50" name="TextBox 49">
              <a:extLst>
                <a:ext uri="{FF2B5EF4-FFF2-40B4-BE49-F238E27FC236}">
                  <a16:creationId xmlns:a16="http://schemas.microsoft.com/office/drawing/2014/main" id="{F9F2C731-C107-9BBD-49B9-AD4B1C1AB52C}"/>
                </a:ext>
              </a:extLst>
            </p:cNvPr>
            <p:cNvSpPr txBox="1"/>
            <p:nvPr/>
          </p:nvSpPr>
          <p:spPr>
            <a:xfrm>
              <a:off x="4141133" y="6442858"/>
              <a:ext cx="573352"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Legend</a:t>
              </a:r>
            </a:p>
          </p:txBody>
        </p:sp>
        <p:cxnSp>
          <p:nvCxnSpPr>
            <p:cNvPr id="53" name="Straight Connector 52">
              <a:extLst>
                <a:ext uri="{FF2B5EF4-FFF2-40B4-BE49-F238E27FC236}">
                  <a16:creationId xmlns:a16="http://schemas.microsoft.com/office/drawing/2014/main" id="{1FAAA919-908A-0064-7F4D-0209D45E7B5C}"/>
                </a:ext>
              </a:extLst>
            </p:cNvPr>
            <p:cNvCxnSpPr>
              <a:cxnSpLocks/>
            </p:cNvCxnSpPr>
            <p:nvPr/>
          </p:nvCxnSpPr>
          <p:spPr>
            <a:xfrm flipH="1">
              <a:off x="4721904" y="6379649"/>
              <a:ext cx="0" cy="288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A9837F7-E20A-7D3A-6D9C-15ECE87B5744}"/>
                </a:ext>
              </a:extLst>
            </p:cNvPr>
            <p:cNvSpPr txBox="1"/>
            <p:nvPr/>
          </p:nvSpPr>
          <p:spPr>
            <a:xfrm>
              <a:off x="5538312" y="6442858"/>
              <a:ext cx="756000"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Data Flow</a:t>
              </a:r>
            </a:p>
          </p:txBody>
        </p:sp>
        <p:sp>
          <p:nvSpPr>
            <p:cNvPr id="60" name="Hexagon 59">
              <a:extLst>
                <a:ext uri="{FF2B5EF4-FFF2-40B4-BE49-F238E27FC236}">
                  <a16:creationId xmlns:a16="http://schemas.microsoft.com/office/drawing/2014/main" id="{8B096F3D-AE9E-B73F-9C49-D248028198C5}"/>
                </a:ext>
              </a:extLst>
            </p:cNvPr>
            <p:cNvSpPr>
              <a:spLocks noChangeAspect="1"/>
            </p:cNvSpPr>
            <p:nvPr/>
          </p:nvSpPr>
          <p:spPr>
            <a:xfrm rot="5400000">
              <a:off x="6440329" y="6406853"/>
              <a:ext cx="216000" cy="233593"/>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wrap="none" lIns="0" tIns="0" rIns="0" bIns="0" rtlCol="0" anchor="ctr"/>
            <a:lstStyle/>
            <a:p>
              <a:pPr algn="ctr"/>
              <a:endParaRPr lang="en-CA" sz="800" noProof="0">
                <a:solidFill>
                  <a:srgbClr val="298B68"/>
                </a:solidFill>
              </a:endParaRPr>
            </a:p>
          </p:txBody>
        </p:sp>
        <p:sp>
          <p:nvSpPr>
            <p:cNvPr id="4096" name="TextBox 4095">
              <a:extLst>
                <a:ext uri="{FF2B5EF4-FFF2-40B4-BE49-F238E27FC236}">
                  <a16:creationId xmlns:a16="http://schemas.microsoft.com/office/drawing/2014/main" id="{9C367451-BAF9-0EC7-5C7C-C3D29A909891}"/>
                </a:ext>
              </a:extLst>
            </p:cNvPr>
            <p:cNvSpPr txBox="1"/>
            <p:nvPr/>
          </p:nvSpPr>
          <p:spPr>
            <a:xfrm>
              <a:off x="6703055" y="6442858"/>
              <a:ext cx="936000"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Data Product</a:t>
              </a:r>
            </a:p>
          </p:txBody>
        </p:sp>
        <p:grpSp>
          <p:nvGrpSpPr>
            <p:cNvPr id="201" name="Group 200">
              <a:extLst>
                <a:ext uri="{FF2B5EF4-FFF2-40B4-BE49-F238E27FC236}">
                  <a16:creationId xmlns:a16="http://schemas.microsoft.com/office/drawing/2014/main" id="{A796CD30-B9AF-8429-B66F-F68802C6A64B}"/>
                </a:ext>
              </a:extLst>
            </p:cNvPr>
            <p:cNvGrpSpPr/>
            <p:nvPr/>
          </p:nvGrpSpPr>
          <p:grpSpPr>
            <a:xfrm>
              <a:off x="4801756" y="6443126"/>
              <a:ext cx="743100" cy="161047"/>
              <a:chOff x="4801756" y="6461345"/>
              <a:chExt cx="743100" cy="161047"/>
            </a:xfrm>
          </p:grpSpPr>
          <p:cxnSp>
            <p:nvCxnSpPr>
              <p:cNvPr id="54" name="Straight Arrow Connector 53">
                <a:extLst>
                  <a:ext uri="{FF2B5EF4-FFF2-40B4-BE49-F238E27FC236}">
                    <a16:creationId xmlns:a16="http://schemas.microsoft.com/office/drawing/2014/main" id="{4973B705-DDA9-B742-49C0-87D5F99D190D}"/>
                  </a:ext>
                </a:extLst>
              </p:cNvPr>
              <p:cNvCxnSpPr>
                <a:cxnSpLocks/>
              </p:cNvCxnSpPr>
              <p:nvPr/>
            </p:nvCxnSpPr>
            <p:spPr>
              <a:xfrm>
                <a:off x="5220856" y="6461345"/>
                <a:ext cx="324000" cy="0"/>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78" name="Straight Arrow Connector 2077">
                <a:extLst>
                  <a:ext uri="{FF2B5EF4-FFF2-40B4-BE49-F238E27FC236}">
                    <a16:creationId xmlns:a16="http://schemas.microsoft.com/office/drawing/2014/main" id="{2D5AB3D7-3F60-0DFB-061E-11C161654C19}"/>
                  </a:ext>
                </a:extLst>
              </p:cNvPr>
              <p:cNvCxnSpPr>
                <a:cxnSpLocks/>
              </p:cNvCxnSpPr>
              <p:nvPr/>
            </p:nvCxnSpPr>
            <p:spPr>
              <a:xfrm>
                <a:off x="4801756" y="6622392"/>
                <a:ext cx="324000" cy="0"/>
              </a:xfrm>
              <a:prstGeom prst="straightConnector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cxnSp>
            <p:nvCxnSpPr>
              <p:cNvPr id="2079" name="Straight Arrow Connector 2078">
                <a:extLst>
                  <a:ext uri="{FF2B5EF4-FFF2-40B4-BE49-F238E27FC236}">
                    <a16:creationId xmlns:a16="http://schemas.microsoft.com/office/drawing/2014/main" id="{2FF82DFE-FE22-B343-F3E1-5B9DC0E88586}"/>
                  </a:ext>
                </a:extLst>
              </p:cNvPr>
              <p:cNvCxnSpPr>
                <a:cxnSpLocks/>
              </p:cNvCxnSpPr>
              <p:nvPr/>
            </p:nvCxnSpPr>
            <p:spPr>
              <a:xfrm>
                <a:off x="4801756" y="6461345"/>
                <a:ext cx="324000"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58" name="Straight Arrow Connector 4157">
                <a:extLst>
                  <a:ext uri="{FF2B5EF4-FFF2-40B4-BE49-F238E27FC236}">
                    <a16:creationId xmlns:a16="http://schemas.microsoft.com/office/drawing/2014/main" id="{DF71BE13-C1D1-9784-DF6D-754B8FE07F42}"/>
                  </a:ext>
                </a:extLst>
              </p:cNvPr>
              <p:cNvCxnSpPr>
                <a:cxnSpLocks/>
              </p:cNvCxnSpPr>
              <p:nvPr/>
            </p:nvCxnSpPr>
            <p:spPr>
              <a:xfrm>
                <a:off x="5220856" y="6622392"/>
                <a:ext cx="3240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321" name="Rectangle 320">
            <a:extLst>
              <a:ext uri="{FF2B5EF4-FFF2-40B4-BE49-F238E27FC236}">
                <a16:creationId xmlns:a16="http://schemas.microsoft.com/office/drawing/2014/main" id="{7E368106-6559-53F2-5841-5B5147FC50A6}"/>
              </a:ext>
            </a:extLst>
          </p:cNvPr>
          <p:cNvSpPr/>
          <p:nvPr/>
        </p:nvSpPr>
        <p:spPr>
          <a:xfrm>
            <a:off x="3612000" y="758196"/>
            <a:ext cx="4968000" cy="4788000"/>
          </a:xfrm>
          <a:prstGeom prst="rect">
            <a:avLst/>
          </a:prstGeom>
          <a:solidFill>
            <a:srgbClr val="FDE7EB"/>
          </a:solid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745" name="TextBox 744">
            <a:extLst>
              <a:ext uri="{FF2B5EF4-FFF2-40B4-BE49-F238E27FC236}">
                <a16:creationId xmlns:a16="http://schemas.microsoft.com/office/drawing/2014/main" id="{9BCC299B-D379-E23C-839A-3FBC3A3D7D9C}"/>
              </a:ext>
            </a:extLst>
          </p:cNvPr>
          <p:cNvSpPr txBox="1"/>
          <p:nvPr/>
        </p:nvSpPr>
        <p:spPr>
          <a:xfrm>
            <a:off x="4552945" y="758196"/>
            <a:ext cx="308611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defTabSz="228600">
              <a:spcAft>
                <a:spcPts val="1200"/>
              </a:spcAft>
            </a:pPr>
            <a:r>
              <a:rPr lang="en-CA" sz="1400" b="1" noProof="0">
                <a:solidFill>
                  <a:schemeClr val="tx2"/>
                </a:solidFill>
              </a:rPr>
              <a:t>Node XYZ</a:t>
            </a:r>
          </a:p>
        </p:txBody>
      </p:sp>
      <p:sp>
        <p:nvSpPr>
          <p:cNvPr id="37" name="Rectangle: Rounded Corners 36">
            <a:extLst>
              <a:ext uri="{FF2B5EF4-FFF2-40B4-BE49-F238E27FC236}">
                <a16:creationId xmlns:a16="http://schemas.microsoft.com/office/drawing/2014/main" id="{96C0B7CF-78D8-8536-C0EE-904ABD3D9851}"/>
              </a:ext>
            </a:extLst>
          </p:cNvPr>
          <p:cNvSpPr/>
          <p:nvPr/>
        </p:nvSpPr>
        <p:spPr>
          <a:xfrm>
            <a:off x="3684000" y="1173677"/>
            <a:ext cx="4824000" cy="1332000"/>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CA" noProof="0"/>
          </a:p>
        </p:txBody>
      </p:sp>
      <p:sp>
        <p:nvSpPr>
          <p:cNvPr id="339" name="TextBox 338">
            <a:extLst>
              <a:ext uri="{FF2B5EF4-FFF2-40B4-BE49-F238E27FC236}">
                <a16:creationId xmlns:a16="http://schemas.microsoft.com/office/drawing/2014/main" id="{53F89A35-AF72-40AF-591A-3E74544A6EA4}"/>
              </a:ext>
            </a:extLst>
          </p:cNvPr>
          <p:cNvSpPr txBox="1"/>
          <p:nvPr/>
        </p:nvSpPr>
        <p:spPr>
          <a:xfrm>
            <a:off x="5376353" y="1145183"/>
            <a:ext cx="1440000"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100" b="1" noProof="0">
                <a:solidFill>
                  <a:schemeClr val="bg2">
                    <a:lumMod val="10000"/>
                  </a:schemeClr>
                </a:solidFill>
              </a:rPr>
              <a:t>Analytical Data</a:t>
            </a:r>
          </a:p>
        </p:txBody>
      </p:sp>
      <p:sp>
        <p:nvSpPr>
          <p:cNvPr id="761" name="Rectangle 760">
            <a:extLst>
              <a:ext uri="{FF2B5EF4-FFF2-40B4-BE49-F238E27FC236}">
                <a16:creationId xmlns:a16="http://schemas.microsoft.com/office/drawing/2014/main" id="{A7B9582E-79A6-0E01-855F-BAA771CE8613}"/>
              </a:ext>
            </a:extLst>
          </p:cNvPr>
          <p:cNvSpPr/>
          <p:nvPr/>
        </p:nvSpPr>
        <p:spPr>
          <a:xfrm>
            <a:off x="5129918" y="1428241"/>
            <a:ext cx="900000" cy="1008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grpSp>
        <p:nvGrpSpPr>
          <p:cNvPr id="763" name="Group 156">
            <a:extLst>
              <a:ext uri="{FF2B5EF4-FFF2-40B4-BE49-F238E27FC236}">
                <a16:creationId xmlns:a16="http://schemas.microsoft.com/office/drawing/2014/main" id="{2A648DCA-3DC0-87D7-8DFB-01A3AB55186C}"/>
              </a:ext>
            </a:extLst>
          </p:cNvPr>
          <p:cNvGrpSpPr>
            <a:grpSpLocks noChangeAspect="1"/>
          </p:cNvGrpSpPr>
          <p:nvPr/>
        </p:nvGrpSpPr>
        <p:grpSpPr bwMode="auto">
          <a:xfrm>
            <a:off x="5471662" y="2154840"/>
            <a:ext cx="216513" cy="216000"/>
            <a:chOff x="1373" y="1718"/>
            <a:chExt cx="427" cy="426"/>
          </a:xfrm>
          <a:solidFill>
            <a:srgbClr val="C0C0C0"/>
          </a:solidFill>
        </p:grpSpPr>
        <p:sp>
          <p:nvSpPr>
            <p:cNvPr id="764" name="Freeform 157">
              <a:extLst>
                <a:ext uri="{FF2B5EF4-FFF2-40B4-BE49-F238E27FC236}">
                  <a16:creationId xmlns:a16="http://schemas.microsoft.com/office/drawing/2014/main" id="{0805590D-F579-CB42-9BC7-F108ECAA1B1B}"/>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4" name="Freeform 158">
              <a:extLst>
                <a:ext uri="{FF2B5EF4-FFF2-40B4-BE49-F238E27FC236}">
                  <a16:creationId xmlns:a16="http://schemas.microsoft.com/office/drawing/2014/main" id="{33C45D2F-DFD8-5281-FF1F-E1FD17DD52D6}"/>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5" name="Freeform 159">
              <a:extLst>
                <a:ext uri="{FF2B5EF4-FFF2-40B4-BE49-F238E27FC236}">
                  <a16:creationId xmlns:a16="http://schemas.microsoft.com/office/drawing/2014/main" id="{9BEE8745-F9EA-6EB3-F934-C178525DEA52}"/>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6" name="Freeform 160">
              <a:extLst>
                <a:ext uri="{FF2B5EF4-FFF2-40B4-BE49-F238E27FC236}">
                  <a16:creationId xmlns:a16="http://schemas.microsoft.com/office/drawing/2014/main" id="{C7D4DC63-4FAB-9978-DE0C-C515F29ABDBD}"/>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29" name="Freeform 161">
              <a:extLst>
                <a:ext uri="{FF2B5EF4-FFF2-40B4-BE49-F238E27FC236}">
                  <a16:creationId xmlns:a16="http://schemas.microsoft.com/office/drawing/2014/main" id="{A52EF0FD-2ED5-8F2A-87CC-E3E50ACE180F}"/>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32" name="Freeform 162">
              <a:extLst>
                <a:ext uri="{FF2B5EF4-FFF2-40B4-BE49-F238E27FC236}">
                  <a16:creationId xmlns:a16="http://schemas.microsoft.com/office/drawing/2014/main" id="{FCCE2400-2327-5814-27BC-5483635FEF07}"/>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333" name="Freeform 163">
              <a:extLst>
                <a:ext uri="{FF2B5EF4-FFF2-40B4-BE49-F238E27FC236}">
                  <a16:creationId xmlns:a16="http://schemas.microsoft.com/office/drawing/2014/main" id="{E583E271-47E2-4EB4-BD3F-11457001BA0D}"/>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334" name="TextBox 333">
            <a:extLst>
              <a:ext uri="{FF2B5EF4-FFF2-40B4-BE49-F238E27FC236}">
                <a16:creationId xmlns:a16="http://schemas.microsoft.com/office/drawing/2014/main" id="{16493D78-194F-ED64-5C09-D7F015BFEFBF}"/>
              </a:ext>
            </a:extLst>
          </p:cNvPr>
          <p:cNvSpPr txBox="1"/>
          <p:nvPr/>
        </p:nvSpPr>
        <p:spPr>
          <a:xfrm>
            <a:off x="5129918" y="1428844"/>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Standardized Data storage</a:t>
            </a:r>
          </a:p>
        </p:txBody>
      </p:sp>
      <p:sp>
        <p:nvSpPr>
          <p:cNvPr id="746" name="Rectangle 745">
            <a:extLst>
              <a:ext uri="{FF2B5EF4-FFF2-40B4-BE49-F238E27FC236}">
                <a16:creationId xmlns:a16="http://schemas.microsoft.com/office/drawing/2014/main" id="{97877F4F-F51A-7D7D-14AD-8C757F0EB637}"/>
              </a:ext>
            </a:extLst>
          </p:cNvPr>
          <p:cNvSpPr/>
          <p:nvPr/>
        </p:nvSpPr>
        <p:spPr>
          <a:xfrm>
            <a:off x="3886392" y="1428241"/>
            <a:ext cx="900000" cy="1008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cxnSp>
        <p:nvCxnSpPr>
          <p:cNvPr id="747" name="Straight Connector 746">
            <a:extLst>
              <a:ext uri="{FF2B5EF4-FFF2-40B4-BE49-F238E27FC236}">
                <a16:creationId xmlns:a16="http://schemas.microsoft.com/office/drawing/2014/main" id="{C0F5C4E3-72F1-EAE6-9418-2B832A0C4985}"/>
              </a:ext>
            </a:extLst>
          </p:cNvPr>
          <p:cNvCxnSpPr>
            <a:cxnSpLocks/>
          </p:cNvCxnSpPr>
          <p:nvPr/>
        </p:nvCxnSpPr>
        <p:spPr>
          <a:xfrm flipV="1">
            <a:off x="3976392" y="174716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748" name="Group 156">
            <a:extLst>
              <a:ext uri="{FF2B5EF4-FFF2-40B4-BE49-F238E27FC236}">
                <a16:creationId xmlns:a16="http://schemas.microsoft.com/office/drawing/2014/main" id="{46068D87-FA7F-DBEB-4B57-2859D33E3B01}"/>
              </a:ext>
            </a:extLst>
          </p:cNvPr>
          <p:cNvGrpSpPr>
            <a:grpSpLocks noChangeAspect="1"/>
          </p:cNvGrpSpPr>
          <p:nvPr/>
        </p:nvGrpSpPr>
        <p:grpSpPr bwMode="auto">
          <a:xfrm>
            <a:off x="4228136" y="2154840"/>
            <a:ext cx="216513" cy="216000"/>
            <a:chOff x="1373" y="1718"/>
            <a:chExt cx="427" cy="426"/>
          </a:xfrm>
          <a:solidFill>
            <a:srgbClr val="A97142"/>
          </a:solidFill>
        </p:grpSpPr>
        <p:sp>
          <p:nvSpPr>
            <p:cNvPr id="749" name="Freeform 157">
              <a:extLst>
                <a:ext uri="{FF2B5EF4-FFF2-40B4-BE49-F238E27FC236}">
                  <a16:creationId xmlns:a16="http://schemas.microsoft.com/office/drawing/2014/main" id="{EF4F7FB4-BA1A-7C6E-B8FF-4C516F063431}"/>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0" name="Freeform 158">
              <a:extLst>
                <a:ext uri="{FF2B5EF4-FFF2-40B4-BE49-F238E27FC236}">
                  <a16:creationId xmlns:a16="http://schemas.microsoft.com/office/drawing/2014/main" id="{04F2BEEF-4655-3F1F-CE7A-B146FBE13E85}"/>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4" name="Freeform 159">
              <a:extLst>
                <a:ext uri="{FF2B5EF4-FFF2-40B4-BE49-F238E27FC236}">
                  <a16:creationId xmlns:a16="http://schemas.microsoft.com/office/drawing/2014/main" id="{9A1CDDA3-649E-91E3-AF24-EC983129A8BC}"/>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5" name="Freeform 160">
              <a:extLst>
                <a:ext uri="{FF2B5EF4-FFF2-40B4-BE49-F238E27FC236}">
                  <a16:creationId xmlns:a16="http://schemas.microsoft.com/office/drawing/2014/main" id="{AA6F39FC-CB6E-7BAD-B244-C558CD03E325}"/>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6" name="Freeform 161">
              <a:extLst>
                <a:ext uri="{FF2B5EF4-FFF2-40B4-BE49-F238E27FC236}">
                  <a16:creationId xmlns:a16="http://schemas.microsoft.com/office/drawing/2014/main" id="{D95DE058-61B4-EEC5-421A-4A4EE69EAE20}"/>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7" name="Freeform 162">
              <a:extLst>
                <a:ext uri="{FF2B5EF4-FFF2-40B4-BE49-F238E27FC236}">
                  <a16:creationId xmlns:a16="http://schemas.microsoft.com/office/drawing/2014/main" id="{51C9D946-9873-25E0-88B9-F70395F4ABC3}"/>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8" name="Freeform 163">
              <a:extLst>
                <a:ext uri="{FF2B5EF4-FFF2-40B4-BE49-F238E27FC236}">
                  <a16:creationId xmlns:a16="http://schemas.microsoft.com/office/drawing/2014/main" id="{6F776B66-43FC-30B2-277A-F1158D273357}"/>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759" name="TextBox 758">
            <a:extLst>
              <a:ext uri="{FF2B5EF4-FFF2-40B4-BE49-F238E27FC236}">
                <a16:creationId xmlns:a16="http://schemas.microsoft.com/office/drawing/2014/main" id="{75F48F46-7FE5-FE6E-AC6C-F3625A8B4DFA}"/>
              </a:ext>
            </a:extLst>
          </p:cNvPr>
          <p:cNvSpPr txBox="1"/>
          <p:nvPr/>
        </p:nvSpPr>
        <p:spPr>
          <a:xfrm>
            <a:off x="3886392" y="1428844"/>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Raw Data storage</a:t>
            </a:r>
          </a:p>
        </p:txBody>
      </p:sp>
      <p:sp>
        <p:nvSpPr>
          <p:cNvPr id="736" name="Rectangle 735">
            <a:extLst>
              <a:ext uri="{FF2B5EF4-FFF2-40B4-BE49-F238E27FC236}">
                <a16:creationId xmlns:a16="http://schemas.microsoft.com/office/drawing/2014/main" id="{B8D08E3F-469B-984B-B00C-E9F8F5F01ED4}"/>
              </a:ext>
            </a:extLst>
          </p:cNvPr>
          <p:cNvSpPr/>
          <p:nvPr/>
        </p:nvSpPr>
        <p:spPr>
          <a:xfrm>
            <a:off x="6373445" y="1428241"/>
            <a:ext cx="900000" cy="1008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336" name="TextBox 335">
            <a:extLst>
              <a:ext uri="{FF2B5EF4-FFF2-40B4-BE49-F238E27FC236}">
                <a16:creationId xmlns:a16="http://schemas.microsoft.com/office/drawing/2014/main" id="{BDA12F86-DDCB-6A34-AFE5-83F231CF9C6B}"/>
              </a:ext>
            </a:extLst>
          </p:cNvPr>
          <p:cNvSpPr txBox="1"/>
          <p:nvPr/>
        </p:nvSpPr>
        <p:spPr>
          <a:xfrm>
            <a:off x="6373445" y="1428241"/>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Curated Data Storage</a:t>
            </a:r>
          </a:p>
        </p:txBody>
      </p:sp>
      <p:grpSp>
        <p:nvGrpSpPr>
          <p:cNvPr id="200" name="Group 199">
            <a:extLst>
              <a:ext uri="{FF2B5EF4-FFF2-40B4-BE49-F238E27FC236}">
                <a16:creationId xmlns:a16="http://schemas.microsoft.com/office/drawing/2014/main" id="{32BBC82D-B878-626C-C3B1-95B3FBE28AAE}"/>
              </a:ext>
            </a:extLst>
          </p:cNvPr>
          <p:cNvGrpSpPr/>
          <p:nvPr/>
        </p:nvGrpSpPr>
        <p:grpSpPr>
          <a:xfrm>
            <a:off x="6452447" y="2237823"/>
            <a:ext cx="741996" cy="180000"/>
            <a:chOff x="5696206" y="3021971"/>
            <a:chExt cx="741996" cy="180000"/>
          </a:xfrm>
        </p:grpSpPr>
        <p:sp>
          <p:nvSpPr>
            <p:cNvPr id="62" name="Hexagon 61">
              <a:extLst>
                <a:ext uri="{FF2B5EF4-FFF2-40B4-BE49-F238E27FC236}">
                  <a16:creationId xmlns:a16="http://schemas.microsoft.com/office/drawing/2014/main" id="{A829CAC0-6BBC-8207-3CF5-E3E6B519E56A}"/>
                </a:ext>
              </a:extLst>
            </p:cNvPr>
            <p:cNvSpPr>
              <a:spLocks noChangeAspect="1"/>
            </p:cNvSpPr>
            <p:nvPr/>
          </p:nvSpPr>
          <p:spPr>
            <a:xfrm rot="5400000">
              <a:off x="5703538"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63" name="Hexagon 62">
              <a:extLst>
                <a:ext uri="{FF2B5EF4-FFF2-40B4-BE49-F238E27FC236}">
                  <a16:creationId xmlns:a16="http://schemas.microsoft.com/office/drawing/2014/main" id="{1551C8C0-434D-21C3-0939-DC3420A20704}"/>
                </a:ext>
              </a:extLst>
            </p:cNvPr>
            <p:cNvSpPr>
              <a:spLocks noChangeAspect="1"/>
            </p:cNvSpPr>
            <p:nvPr/>
          </p:nvSpPr>
          <p:spPr>
            <a:xfrm rot="5400000">
              <a:off x="5977204"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192" name="Hexagon 191">
              <a:extLst>
                <a:ext uri="{FF2B5EF4-FFF2-40B4-BE49-F238E27FC236}">
                  <a16:creationId xmlns:a16="http://schemas.microsoft.com/office/drawing/2014/main" id="{709F639C-72BB-5472-377D-2174F0C82BE6}"/>
                </a:ext>
              </a:extLst>
            </p:cNvPr>
            <p:cNvSpPr>
              <a:spLocks noChangeAspect="1"/>
            </p:cNvSpPr>
            <p:nvPr/>
          </p:nvSpPr>
          <p:spPr>
            <a:xfrm rot="5400000">
              <a:off x="6250870"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grpSp>
      <p:cxnSp>
        <p:nvCxnSpPr>
          <p:cNvPr id="737" name="Straight Connector 736">
            <a:extLst>
              <a:ext uri="{FF2B5EF4-FFF2-40B4-BE49-F238E27FC236}">
                <a16:creationId xmlns:a16="http://schemas.microsoft.com/office/drawing/2014/main" id="{875317C7-606D-0E7F-A880-8A0205CE469A}"/>
              </a:ext>
            </a:extLst>
          </p:cNvPr>
          <p:cNvCxnSpPr>
            <a:cxnSpLocks/>
          </p:cNvCxnSpPr>
          <p:nvPr/>
        </p:nvCxnSpPr>
        <p:spPr>
          <a:xfrm flipV="1">
            <a:off x="6463445" y="1747165"/>
            <a:ext cx="720000" cy="0"/>
          </a:xfrm>
          <a:prstGeom prst="line">
            <a:avLst/>
          </a:prstGeom>
          <a:solidFill>
            <a:srgbClr val="FFFFC1"/>
          </a:solidFill>
        </p:spPr>
        <p:style>
          <a:lnRef idx="1">
            <a:schemeClr val="accent1"/>
          </a:lnRef>
          <a:fillRef idx="0">
            <a:schemeClr val="accent1"/>
          </a:fillRef>
          <a:effectRef idx="0">
            <a:schemeClr val="accent1"/>
          </a:effectRef>
          <a:fontRef idx="minor">
            <a:schemeClr val="tx1"/>
          </a:fontRef>
        </p:style>
      </p:cxnSp>
      <p:sp>
        <p:nvSpPr>
          <p:cNvPr id="206" name="Rectangle: Rounded Corners 205">
            <a:extLst>
              <a:ext uri="{FF2B5EF4-FFF2-40B4-BE49-F238E27FC236}">
                <a16:creationId xmlns:a16="http://schemas.microsoft.com/office/drawing/2014/main" id="{256067F2-9853-965C-E173-F51000C5D95B}"/>
              </a:ext>
            </a:extLst>
          </p:cNvPr>
          <p:cNvSpPr/>
          <p:nvPr/>
        </p:nvSpPr>
        <p:spPr>
          <a:xfrm>
            <a:off x="3684353" y="2576230"/>
            <a:ext cx="4824000" cy="1440000"/>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CA" noProof="0"/>
          </a:p>
        </p:txBody>
      </p:sp>
      <p:sp>
        <p:nvSpPr>
          <p:cNvPr id="207" name="TextBox 206">
            <a:extLst>
              <a:ext uri="{FF2B5EF4-FFF2-40B4-BE49-F238E27FC236}">
                <a16:creationId xmlns:a16="http://schemas.microsoft.com/office/drawing/2014/main" id="{3B93B0C6-C718-F064-9AE0-EDF496DDD966}"/>
              </a:ext>
            </a:extLst>
          </p:cNvPr>
          <p:cNvSpPr txBox="1"/>
          <p:nvPr/>
        </p:nvSpPr>
        <p:spPr>
          <a:xfrm>
            <a:off x="5376353" y="2576023"/>
            <a:ext cx="1440000"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100" b="1" noProof="0">
                <a:solidFill>
                  <a:schemeClr val="bg2">
                    <a:lumMod val="10000"/>
                  </a:schemeClr>
                </a:solidFill>
              </a:rPr>
              <a:t>Operational Data</a:t>
            </a:r>
          </a:p>
        </p:txBody>
      </p:sp>
      <p:sp>
        <p:nvSpPr>
          <p:cNvPr id="4104" name="Rectangle 4103">
            <a:extLst>
              <a:ext uri="{FF2B5EF4-FFF2-40B4-BE49-F238E27FC236}">
                <a16:creationId xmlns:a16="http://schemas.microsoft.com/office/drawing/2014/main" id="{CE79146B-5B23-BFA9-6D61-E96FBEE5B78C}"/>
              </a:ext>
            </a:extLst>
          </p:cNvPr>
          <p:cNvSpPr/>
          <p:nvPr/>
        </p:nvSpPr>
        <p:spPr>
          <a:xfrm>
            <a:off x="5129918" y="2858230"/>
            <a:ext cx="900000" cy="1116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4107" name="TextBox 4106">
            <a:extLst>
              <a:ext uri="{FF2B5EF4-FFF2-40B4-BE49-F238E27FC236}">
                <a16:creationId xmlns:a16="http://schemas.microsoft.com/office/drawing/2014/main" id="{7BB9D755-F6EA-8B16-639B-B07442AA50AB}"/>
              </a:ext>
            </a:extLst>
          </p:cNvPr>
          <p:cNvSpPr txBox="1"/>
          <p:nvPr/>
        </p:nvSpPr>
        <p:spPr>
          <a:xfrm>
            <a:off x="5129918" y="2858833"/>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Standardized Data storage</a:t>
            </a:r>
          </a:p>
        </p:txBody>
      </p:sp>
      <p:grpSp>
        <p:nvGrpSpPr>
          <p:cNvPr id="4105" name="Group 156">
            <a:extLst>
              <a:ext uri="{FF2B5EF4-FFF2-40B4-BE49-F238E27FC236}">
                <a16:creationId xmlns:a16="http://schemas.microsoft.com/office/drawing/2014/main" id="{93A25499-A503-C35E-22D2-EB75C354879D}"/>
              </a:ext>
            </a:extLst>
          </p:cNvPr>
          <p:cNvGrpSpPr>
            <a:grpSpLocks noChangeAspect="1"/>
          </p:cNvGrpSpPr>
          <p:nvPr/>
        </p:nvGrpSpPr>
        <p:grpSpPr bwMode="auto">
          <a:xfrm>
            <a:off x="5471662" y="3694370"/>
            <a:ext cx="216513" cy="216000"/>
            <a:chOff x="1373" y="1718"/>
            <a:chExt cx="427" cy="426"/>
          </a:xfrm>
          <a:solidFill>
            <a:srgbClr val="C0C0C0"/>
          </a:solidFill>
        </p:grpSpPr>
        <p:sp>
          <p:nvSpPr>
            <p:cNvPr id="4111" name="Freeform 157">
              <a:extLst>
                <a:ext uri="{FF2B5EF4-FFF2-40B4-BE49-F238E27FC236}">
                  <a16:creationId xmlns:a16="http://schemas.microsoft.com/office/drawing/2014/main" id="{C4FC15F0-8A0F-9EE5-4055-71926DED3FA8}"/>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2" name="Freeform 158">
              <a:extLst>
                <a:ext uri="{FF2B5EF4-FFF2-40B4-BE49-F238E27FC236}">
                  <a16:creationId xmlns:a16="http://schemas.microsoft.com/office/drawing/2014/main" id="{FD7B90C0-CC42-9597-DD96-CCB4ADF73DA8}"/>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3" name="Freeform 159">
              <a:extLst>
                <a:ext uri="{FF2B5EF4-FFF2-40B4-BE49-F238E27FC236}">
                  <a16:creationId xmlns:a16="http://schemas.microsoft.com/office/drawing/2014/main" id="{0FB3B25E-3305-F6B5-3EC1-CDA2DD98CF95}"/>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5" name="Freeform 160">
              <a:extLst>
                <a:ext uri="{FF2B5EF4-FFF2-40B4-BE49-F238E27FC236}">
                  <a16:creationId xmlns:a16="http://schemas.microsoft.com/office/drawing/2014/main" id="{5C6D737C-7ED1-878D-FCB4-728E8BD7A907}"/>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6" name="Freeform 161">
              <a:extLst>
                <a:ext uri="{FF2B5EF4-FFF2-40B4-BE49-F238E27FC236}">
                  <a16:creationId xmlns:a16="http://schemas.microsoft.com/office/drawing/2014/main" id="{E472D3E4-BB8A-F2C2-07CC-2F63382CA392}"/>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7" name="Freeform 162">
              <a:extLst>
                <a:ext uri="{FF2B5EF4-FFF2-40B4-BE49-F238E27FC236}">
                  <a16:creationId xmlns:a16="http://schemas.microsoft.com/office/drawing/2014/main" id="{6108897E-455A-BBDB-1139-E8716FE8EF8F}"/>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4118" name="Freeform 163">
              <a:extLst>
                <a:ext uri="{FF2B5EF4-FFF2-40B4-BE49-F238E27FC236}">
                  <a16:creationId xmlns:a16="http://schemas.microsoft.com/office/drawing/2014/main" id="{5C210E41-0FCD-0167-A939-DA41A9BD5B38}"/>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cxnSp>
        <p:nvCxnSpPr>
          <p:cNvPr id="4110" name="Straight Connector 4109">
            <a:extLst>
              <a:ext uri="{FF2B5EF4-FFF2-40B4-BE49-F238E27FC236}">
                <a16:creationId xmlns:a16="http://schemas.microsoft.com/office/drawing/2014/main" id="{E6D51096-09A7-AA7E-23AE-6F8CF4753C63}"/>
              </a:ext>
            </a:extLst>
          </p:cNvPr>
          <p:cNvCxnSpPr>
            <a:cxnSpLocks/>
          </p:cNvCxnSpPr>
          <p:nvPr/>
        </p:nvCxnSpPr>
        <p:spPr>
          <a:xfrm flipV="1">
            <a:off x="5219918" y="329269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36" name="Rectangle 235">
            <a:extLst>
              <a:ext uri="{FF2B5EF4-FFF2-40B4-BE49-F238E27FC236}">
                <a16:creationId xmlns:a16="http://schemas.microsoft.com/office/drawing/2014/main" id="{DA489EFF-9B97-80FC-5D9F-C7659C65F55F}"/>
              </a:ext>
            </a:extLst>
          </p:cNvPr>
          <p:cNvSpPr/>
          <p:nvPr/>
        </p:nvSpPr>
        <p:spPr>
          <a:xfrm>
            <a:off x="3880905" y="2858230"/>
            <a:ext cx="900000" cy="1116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239" name="TextBox 238">
            <a:extLst>
              <a:ext uri="{FF2B5EF4-FFF2-40B4-BE49-F238E27FC236}">
                <a16:creationId xmlns:a16="http://schemas.microsoft.com/office/drawing/2014/main" id="{30F16218-C1B2-59C6-A97F-D9EF025EA805}"/>
              </a:ext>
            </a:extLst>
          </p:cNvPr>
          <p:cNvSpPr txBox="1"/>
          <p:nvPr/>
        </p:nvSpPr>
        <p:spPr>
          <a:xfrm>
            <a:off x="3880905" y="2858833"/>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Operational Data Store (ODS)</a:t>
            </a:r>
          </a:p>
        </p:txBody>
      </p:sp>
      <p:cxnSp>
        <p:nvCxnSpPr>
          <p:cNvPr id="237" name="Straight Connector 236">
            <a:extLst>
              <a:ext uri="{FF2B5EF4-FFF2-40B4-BE49-F238E27FC236}">
                <a16:creationId xmlns:a16="http://schemas.microsoft.com/office/drawing/2014/main" id="{463A79BA-0D96-A43C-8DC4-13F149B01F7B}"/>
              </a:ext>
            </a:extLst>
          </p:cNvPr>
          <p:cNvCxnSpPr>
            <a:cxnSpLocks/>
          </p:cNvCxnSpPr>
          <p:nvPr/>
        </p:nvCxnSpPr>
        <p:spPr>
          <a:xfrm flipV="1">
            <a:off x="3970905" y="329269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41" name="Freeform 157">
            <a:extLst>
              <a:ext uri="{FF2B5EF4-FFF2-40B4-BE49-F238E27FC236}">
                <a16:creationId xmlns:a16="http://schemas.microsoft.com/office/drawing/2014/main" id="{6C6AB11D-5B8D-7349-7086-3F372044F63A}"/>
              </a:ext>
            </a:extLst>
          </p:cNvPr>
          <p:cNvSpPr>
            <a:spLocks noEditPoints="1"/>
          </p:cNvSpPr>
          <p:nvPr/>
        </p:nvSpPr>
        <p:spPr bwMode="auto">
          <a:xfrm>
            <a:off x="4322032" y="3793243"/>
            <a:ext cx="117130" cy="117127"/>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2" name="Freeform 158">
            <a:extLst>
              <a:ext uri="{FF2B5EF4-FFF2-40B4-BE49-F238E27FC236}">
                <a16:creationId xmlns:a16="http://schemas.microsoft.com/office/drawing/2014/main" id="{E38C824B-739E-E886-B713-44AC47FB0476}"/>
              </a:ext>
            </a:extLst>
          </p:cNvPr>
          <p:cNvSpPr>
            <a:spLocks/>
          </p:cNvSpPr>
          <p:nvPr/>
        </p:nvSpPr>
        <p:spPr bwMode="auto">
          <a:xfrm>
            <a:off x="4348399" y="3833300"/>
            <a:ext cx="64396" cy="44113"/>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3" name="Freeform 159">
            <a:extLst>
              <a:ext uri="{FF2B5EF4-FFF2-40B4-BE49-F238E27FC236}">
                <a16:creationId xmlns:a16="http://schemas.microsoft.com/office/drawing/2014/main" id="{48636481-39D1-736B-8D78-1674D5679E0A}"/>
              </a:ext>
            </a:extLst>
          </p:cNvPr>
          <p:cNvSpPr>
            <a:spLocks noEditPoints="1"/>
          </p:cNvSpPr>
          <p:nvPr/>
        </p:nvSpPr>
        <p:spPr bwMode="auto">
          <a:xfrm>
            <a:off x="4222649" y="3694370"/>
            <a:ext cx="180512" cy="81127"/>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4" name="Freeform 160">
            <a:extLst>
              <a:ext uri="{FF2B5EF4-FFF2-40B4-BE49-F238E27FC236}">
                <a16:creationId xmlns:a16="http://schemas.microsoft.com/office/drawing/2014/main" id="{30B4D300-DAE6-BD45-B0FC-71B92B18F624}"/>
              </a:ext>
            </a:extLst>
          </p:cNvPr>
          <p:cNvSpPr>
            <a:spLocks/>
          </p:cNvSpPr>
          <p:nvPr/>
        </p:nvSpPr>
        <p:spPr bwMode="auto">
          <a:xfrm>
            <a:off x="4222649" y="3766370"/>
            <a:ext cx="94820" cy="45127"/>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5" name="Freeform 161">
            <a:extLst>
              <a:ext uri="{FF2B5EF4-FFF2-40B4-BE49-F238E27FC236}">
                <a16:creationId xmlns:a16="http://schemas.microsoft.com/office/drawing/2014/main" id="{38916BE3-5663-0056-F9B5-4A72FCB334F6}"/>
              </a:ext>
            </a:extLst>
          </p:cNvPr>
          <p:cNvSpPr>
            <a:spLocks/>
          </p:cNvSpPr>
          <p:nvPr/>
        </p:nvSpPr>
        <p:spPr bwMode="auto">
          <a:xfrm>
            <a:off x="4222649" y="3806933"/>
            <a:ext cx="81129" cy="44113"/>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6" name="Freeform 162">
            <a:extLst>
              <a:ext uri="{FF2B5EF4-FFF2-40B4-BE49-F238E27FC236}">
                <a16:creationId xmlns:a16="http://schemas.microsoft.com/office/drawing/2014/main" id="{4FD45867-C164-DC5D-7D3E-9618EFBC10CA}"/>
              </a:ext>
            </a:extLst>
          </p:cNvPr>
          <p:cNvSpPr>
            <a:spLocks/>
          </p:cNvSpPr>
          <p:nvPr/>
        </p:nvSpPr>
        <p:spPr bwMode="auto">
          <a:xfrm>
            <a:off x="4222649" y="3730370"/>
            <a:ext cx="85692" cy="161239"/>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47" name="Freeform 163">
            <a:extLst>
              <a:ext uri="{FF2B5EF4-FFF2-40B4-BE49-F238E27FC236}">
                <a16:creationId xmlns:a16="http://schemas.microsoft.com/office/drawing/2014/main" id="{49DBABF7-02F4-73FE-6977-EF26A6AFCF9F}"/>
              </a:ext>
            </a:extLst>
          </p:cNvPr>
          <p:cNvSpPr>
            <a:spLocks/>
          </p:cNvSpPr>
          <p:nvPr/>
        </p:nvSpPr>
        <p:spPr bwMode="auto">
          <a:xfrm>
            <a:off x="4394034" y="3730370"/>
            <a:ext cx="9127" cy="49690"/>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solidFill>
            <a:srgbClr val="A971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215" name="Rectangle 214">
            <a:extLst>
              <a:ext uri="{FF2B5EF4-FFF2-40B4-BE49-F238E27FC236}">
                <a16:creationId xmlns:a16="http://schemas.microsoft.com/office/drawing/2014/main" id="{73A055D9-3D86-D35A-A72F-C84B1650E340}"/>
              </a:ext>
            </a:extLst>
          </p:cNvPr>
          <p:cNvSpPr/>
          <p:nvPr/>
        </p:nvSpPr>
        <p:spPr>
          <a:xfrm>
            <a:off x="6373445" y="2858230"/>
            <a:ext cx="900000" cy="1116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216" name="TextBox 215">
            <a:extLst>
              <a:ext uri="{FF2B5EF4-FFF2-40B4-BE49-F238E27FC236}">
                <a16:creationId xmlns:a16="http://schemas.microsoft.com/office/drawing/2014/main" id="{2485A919-9A66-8B96-49A1-41EEB029CAA0}"/>
              </a:ext>
            </a:extLst>
          </p:cNvPr>
          <p:cNvSpPr txBox="1"/>
          <p:nvPr/>
        </p:nvSpPr>
        <p:spPr>
          <a:xfrm>
            <a:off x="6373445" y="2858230"/>
            <a:ext cx="900000"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Curated Operational Storage</a:t>
            </a:r>
          </a:p>
        </p:txBody>
      </p:sp>
      <p:cxnSp>
        <p:nvCxnSpPr>
          <p:cNvPr id="218" name="Straight Connector 217">
            <a:extLst>
              <a:ext uri="{FF2B5EF4-FFF2-40B4-BE49-F238E27FC236}">
                <a16:creationId xmlns:a16="http://schemas.microsoft.com/office/drawing/2014/main" id="{3705ADD2-2759-42D0-208A-540E2DAD3B72}"/>
              </a:ext>
            </a:extLst>
          </p:cNvPr>
          <p:cNvCxnSpPr>
            <a:cxnSpLocks/>
          </p:cNvCxnSpPr>
          <p:nvPr/>
        </p:nvCxnSpPr>
        <p:spPr>
          <a:xfrm flipV="1">
            <a:off x="6463445" y="329269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219" name="Group 218">
            <a:extLst>
              <a:ext uri="{FF2B5EF4-FFF2-40B4-BE49-F238E27FC236}">
                <a16:creationId xmlns:a16="http://schemas.microsoft.com/office/drawing/2014/main" id="{BFA56922-4977-B133-C185-6B0F08D6D9DA}"/>
              </a:ext>
            </a:extLst>
          </p:cNvPr>
          <p:cNvGrpSpPr/>
          <p:nvPr/>
        </p:nvGrpSpPr>
        <p:grpSpPr>
          <a:xfrm>
            <a:off x="6452447" y="3743617"/>
            <a:ext cx="741996" cy="180000"/>
            <a:chOff x="5696206" y="3021971"/>
            <a:chExt cx="741996" cy="180000"/>
          </a:xfrm>
        </p:grpSpPr>
        <p:sp>
          <p:nvSpPr>
            <p:cNvPr id="220" name="Hexagon 219">
              <a:extLst>
                <a:ext uri="{FF2B5EF4-FFF2-40B4-BE49-F238E27FC236}">
                  <a16:creationId xmlns:a16="http://schemas.microsoft.com/office/drawing/2014/main" id="{1EC214E2-EE7F-861C-490A-3B507A3E4B45}"/>
                </a:ext>
              </a:extLst>
            </p:cNvPr>
            <p:cNvSpPr>
              <a:spLocks noChangeAspect="1"/>
            </p:cNvSpPr>
            <p:nvPr/>
          </p:nvSpPr>
          <p:spPr>
            <a:xfrm rot="5400000">
              <a:off x="5703538"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221" name="Hexagon 220">
              <a:extLst>
                <a:ext uri="{FF2B5EF4-FFF2-40B4-BE49-F238E27FC236}">
                  <a16:creationId xmlns:a16="http://schemas.microsoft.com/office/drawing/2014/main" id="{3FB62BA3-FD13-F305-370F-D3C559EC6D65}"/>
                </a:ext>
              </a:extLst>
            </p:cNvPr>
            <p:cNvSpPr>
              <a:spLocks noChangeAspect="1"/>
            </p:cNvSpPr>
            <p:nvPr/>
          </p:nvSpPr>
          <p:spPr>
            <a:xfrm rot="5400000">
              <a:off x="5977204"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222" name="Hexagon 221">
              <a:extLst>
                <a:ext uri="{FF2B5EF4-FFF2-40B4-BE49-F238E27FC236}">
                  <a16:creationId xmlns:a16="http://schemas.microsoft.com/office/drawing/2014/main" id="{31EE3C40-80CF-3A2E-D503-8769DDD91E3A}"/>
                </a:ext>
              </a:extLst>
            </p:cNvPr>
            <p:cNvSpPr>
              <a:spLocks noChangeAspect="1"/>
            </p:cNvSpPr>
            <p:nvPr/>
          </p:nvSpPr>
          <p:spPr>
            <a:xfrm rot="5400000">
              <a:off x="6250870"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grpSp>
      <p:sp>
        <p:nvSpPr>
          <p:cNvPr id="252" name="Rectangle: Rounded Corners 251">
            <a:extLst>
              <a:ext uri="{FF2B5EF4-FFF2-40B4-BE49-F238E27FC236}">
                <a16:creationId xmlns:a16="http://schemas.microsoft.com/office/drawing/2014/main" id="{A497F6A1-F108-DD9C-6C45-6ADE8D60ECB7}"/>
              </a:ext>
            </a:extLst>
          </p:cNvPr>
          <p:cNvSpPr/>
          <p:nvPr/>
        </p:nvSpPr>
        <p:spPr>
          <a:xfrm>
            <a:off x="3684353" y="4115070"/>
            <a:ext cx="4824000" cy="1332000"/>
          </a:xfrm>
          <a:prstGeom prst="roundRect">
            <a:avLst>
              <a:gd name="adj" fmla="val 1939"/>
            </a:avLst>
          </a:prstGeom>
          <a:solidFill>
            <a:srgbClr val="E1E3E7"/>
          </a:solidFill>
          <a:ln w="3175">
            <a:solidFill>
              <a:srgbClr val="6B7587"/>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CA" noProof="0"/>
          </a:p>
        </p:txBody>
      </p:sp>
      <p:sp>
        <p:nvSpPr>
          <p:cNvPr id="253" name="TextBox 252">
            <a:extLst>
              <a:ext uri="{FF2B5EF4-FFF2-40B4-BE49-F238E27FC236}">
                <a16:creationId xmlns:a16="http://schemas.microsoft.com/office/drawing/2014/main" id="{24EFCF92-3F70-6AC3-60C8-8ADEE84CADBE}"/>
              </a:ext>
            </a:extLst>
          </p:cNvPr>
          <p:cNvSpPr txBox="1"/>
          <p:nvPr/>
        </p:nvSpPr>
        <p:spPr>
          <a:xfrm>
            <a:off x="4923159" y="4115070"/>
            <a:ext cx="2274036"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100" b="1" noProof="0">
                <a:solidFill>
                  <a:schemeClr val="bg2">
                    <a:lumMod val="10000"/>
                  </a:schemeClr>
                </a:solidFill>
              </a:rPr>
              <a:t>AI-Ready Data (Unstructured)</a:t>
            </a:r>
          </a:p>
        </p:txBody>
      </p:sp>
      <p:pic>
        <p:nvPicPr>
          <p:cNvPr id="38" name="Picture 10">
            <a:extLst>
              <a:ext uri="{FF2B5EF4-FFF2-40B4-BE49-F238E27FC236}">
                <a16:creationId xmlns:a16="http://schemas.microsoft.com/office/drawing/2014/main" id="{D62EF283-0A95-C570-C4AF-EB3E2842A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6389" y="4331573"/>
            <a:ext cx="792000" cy="21367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2" descr="Neo4j - Wikipedia">
            <a:extLst>
              <a:ext uri="{FF2B5EF4-FFF2-40B4-BE49-F238E27FC236}">
                <a16:creationId xmlns:a16="http://schemas.microsoft.com/office/drawing/2014/main" id="{EEAD1145-D820-A875-5F80-4876A1250A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0389" y="4545248"/>
            <a:ext cx="504000" cy="178919"/>
          </a:xfrm>
          <a:prstGeom prst="rect">
            <a:avLst/>
          </a:prstGeom>
          <a:noFill/>
          <a:extLst>
            <a:ext uri="{909E8E84-426E-40DD-AFC4-6F175D3DCCD1}">
              <a14:hiddenFill xmlns:a14="http://schemas.microsoft.com/office/drawing/2010/main">
                <a:solidFill>
                  <a:srgbClr val="FFFFFF"/>
                </a:solidFill>
              </a14:hiddenFill>
            </a:ext>
          </a:extLst>
        </p:spPr>
      </p:pic>
      <p:sp>
        <p:nvSpPr>
          <p:cNvPr id="717" name="Rectangle 716">
            <a:extLst>
              <a:ext uri="{FF2B5EF4-FFF2-40B4-BE49-F238E27FC236}">
                <a16:creationId xmlns:a16="http://schemas.microsoft.com/office/drawing/2014/main" id="{B531DED2-F9F4-DFAA-A239-99CA2D9399AB}"/>
              </a:ext>
            </a:extLst>
          </p:cNvPr>
          <p:cNvSpPr/>
          <p:nvPr/>
        </p:nvSpPr>
        <p:spPr>
          <a:xfrm>
            <a:off x="5129918" y="4399883"/>
            <a:ext cx="900000" cy="1008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grpSp>
        <p:nvGrpSpPr>
          <p:cNvPr id="718" name="Group 156">
            <a:extLst>
              <a:ext uri="{FF2B5EF4-FFF2-40B4-BE49-F238E27FC236}">
                <a16:creationId xmlns:a16="http://schemas.microsoft.com/office/drawing/2014/main" id="{57E1020D-68A6-F7C4-49BD-61A3979FA648}"/>
              </a:ext>
            </a:extLst>
          </p:cNvPr>
          <p:cNvGrpSpPr>
            <a:grpSpLocks noChangeAspect="1"/>
          </p:cNvGrpSpPr>
          <p:nvPr/>
        </p:nvGrpSpPr>
        <p:grpSpPr bwMode="auto">
          <a:xfrm>
            <a:off x="5471662" y="5126482"/>
            <a:ext cx="216513" cy="216000"/>
            <a:chOff x="1373" y="1718"/>
            <a:chExt cx="427" cy="426"/>
          </a:xfrm>
          <a:solidFill>
            <a:srgbClr val="C0C0C0"/>
          </a:solidFill>
        </p:grpSpPr>
        <p:sp>
          <p:nvSpPr>
            <p:cNvPr id="722" name="Freeform 157">
              <a:extLst>
                <a:ext uri="{FF2B5EF4-FFF2-40B4-BE49-F238E27FC236}">
                  <a16:creationId xmlns:a16="http://schemas.microsoft.com/office/drawing/2014/main" id="{4F089921-45E3-819A-6C70-A8914E3531DA}"/>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3" name="Freeform 158">
              <a:extLst>
                <a:ext uri="{FF2B5EF4-FFF2-40B4-BE49-F238E27FC236}">
                  <a16:creationId xmlns:a16="http://schemas.microsoft.com/office/drawing/2014/main" id="{79096088-23CE-5D59-A423-F35436D2C0D8}"/>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4" name="Freeform 159">
              <a:extLst>
                <a:ext uri="{FF2B5EF4-FFF2-40B4-BE49-F238E27FC236}">
                  <a16:creationId xmlns:a16="http://schemas.microsoft.com/office/drawing/2014/main" id="{86068956-2804-F9F7-92C9-287AD2361DC5}"/>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5" name="Freeform 160">
              <a:extLst>
                <a:ext uri="{FF2B5EF4-FFF2-40B4-BE49-F238E27FC236}">
                  <a16:creationId xmlns:a16="http://schemas.microsoft.com/office/drawing/2014/main" id="{4E27182C-7917-3D0E-A098-583714C7A34F}"/>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6" name="Freeform 161">
              <a:extLst>
                <a:ext uri="{FF2B5EF4-FFF2-40B4-BE49-F238E27FC236}">
                  <a16:creationId xmlns:a16="http://schemas.microsoft.com/office/drawing/2014/main" id="{4CF059D9-CF22-25FF-C287-4037A312D808}"/>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7" name="Freeform 162">
              <a:extLst>
                <a:ext uri="{FF2B5EF4-FFF2-40B4-BE49-F238E27FC236}">
                  <a16:creationId xmlns:a16="http://schemas.microsoft.com/office/drawing/2014/main" id="{F9C095E2-AA2E-49D8-D4E6-64302A468D55}"/>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28" name="Freeform 163">
              <a:extLst>
                <a:ext uri="{FF2B5EF4-FFF2-40B4-BE49-F238E27FC236}">
                  <a16:creationId xmlns:a16="http://schemas.microsoft.com/office/drawing/2014/main" id="{BE6F2658-8A6F-3256-F2DC-451048907BC5}"/>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719" name="TextBox 718">
            <a:extLst>
              <a:ext uri="{FF2B5EF4-FFF2-40B4-BE49-F238E27FC236}">
                <a16:creationId xmlns:a16="http://schemas.microsoft.com/office/drawing/2014/main" id="{E1DEE407-A2F6-8C93-987B-5874C1FEB095}"/>
              </a:ext>
            </a:extLst>
          </p:cNvPr>
          <p:cNvSpPr txBox="1"/>
          <p:nvPr/>
        </p:nvSpPr>
        <p:spPr>
          <a:xfrm>
            <a:off x="5129918" y="4400486"/>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Standardized Data storage</a:t>
            </a:r>
          </a:p>
        </p:txBody>
      </p:sp>
      <p:cxnSp>
        <p:nvCxnSpPr>
          <p:cNvPr id="721" name="Straight Connector 720">
            <a:extLst>
              <a:ext uri="{FF2B5EF4-FFF2-40B4-BE49-F238E27FC236}">
                <a16:creationId xmlns:a16="http://schemas.microsoft.com/office/drawing/2014/main" id="{8A32B604-168D-CA14-2E4A-42EBED138D62}"/>
              </a:ext>
            </a:extLst>
          </p:cNvPr>
          <p:cNvCxnSpPr>
            <a:cxnSpLocks/>
          </p:cNvCxnSpPr>
          <p:nvPr/>
        </p:nvCxnSpPr>
        <p:spPr>
          <a:xfrm flipV="1">
            <a:off x="5219918" y="4718807"/>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729" name="Rectangle 728">
            <a:extLst>
              <a:ext uri="{FF2B5EF4-FFF2-40B4-BE49-F238E27FC236}">
                <a16:creationId xmlns:a16="http://schemas.microsoft.com/office/drawing/2014/main" id="{3A036C21-74B8-7CF2-E76B-275FB746CDAF}"/>
              </a:ext>
            </a:extLst>
          </p:cNvPr>
          <p:cNvSpPr/>
          <p:nvPr/>
        </p:nvSpPr>
        <p:spPr>
          <a:xfrm>
            <a:off x="3896115" y="4399883"/>
            <a:ext cx="900000" cy="1008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cxnSp>
        <p:nvCxnSpPr>
          <p:cNvPr id="730" name="Straight Connector 729">
            <a:extLst>
              <a:ext uri="{FF2B5EF4-FFF2-40B4-BE49-F238E27FC236}">
                <a16:creationId xmlns:a16="http://schemas.microsoft.com/office/drawing/2014/main" id="{8A8DCFAA-8972-E47C-7E37-96BF2AC4C1F9}"/>
              </a:ext>
            </a:extLst>
          </p:cNvPr>
          <p:cNvCxnSpPr>
            <a:cxnSpLocks/>
          </p:cNvCxnSpPr>
          <p:nvPr/>
        </p:nvCxnSpPr>
        <p:spPr>
          <a:xfrm flipV="1">
            <a:off x="3986115" y="4718807"/>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731" name="Group 156">
            <a:extLst>
              <a:ext uri="{FF2B5EF4-FFF2-40B4-BE49-F238E27FC236}">
                <a16:creationId xmlns:a16="http://schemas.microsoft.com/office/drawing/2014/main" id="{493FA3BF-A2B5-18C0-BDB2-F389012B4FA4}"/>
              </a:ext>
            </a:extLst>
          </p:cNvPr>
          <p:cNvGrpSpPr>
            <a:grpSpLocks noChangeAspect="1"/>
          </p:cNvGrpSpPr>
          <p:nvPr/>
        </p:nvGrpSpPr>
        <p:grpSpPr bwMode="auto">
          <a:xfrm>
            <a:off x="4237859" y="5126482"/>
            <a:ext cx="216513" cy="216000"/>
            <a:chOff x="1373" y="1718"/>
            <a:chExt cx="427" cy="426"/>
          </a:xfrm>
          <a:solidFill>
            <a:srgbClr val="A97142"/>
          </a:solidFill>
        </p:grpSpPr>
        <p:sp>
          <p:nvSpPr>
            <p:cNvPr id="734" name="Freeform 157">
              <a:extLst>
                <a:ext uri="{FF2B5EF4-FFF2-40B4-BE49-F238E27FC236}">
                  <a16:creationId xmlns:a16="http://schemas.microsoft.com/office/drawing/2014/main" id="{571C0588-9311-E711-DD69-E357D24FC839}"/>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35" name="Freeform 158">
              <a:extLst>
                <a:ext uri="{FF2B5EF4-FFF2-40B4-BE49-F238E27FC236}">
                  <a16:creationId xmlns:a16="http://schemas.microsoft.com/office/drawing/2014/main" id="{AA23B99B-BB6C-B9A9-5EC7-D34B99BAA062}"/>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1" name="Freeform 159">
              <a:extLst>
                <a:ext uri="{FF2B5EF4-FFF2-40B4-BE49-F238E27FC236}">
                  <a16:creationId xmlns:a16="http://schemas.microsoft.com/office/drawing/2014/main" id="{F2A48BA1-7A3A-AB09-22FD-23ED1E7A718F}"/>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2" name="Freeform 160">
              <a:extLst>
                <a:ext uri="{FF2B5EF4-FFF2-40B4-BE49-F238E27FC236}">
                  <a16:creationId xmlns:a16="http://schemas.microsoft.com/office/drawing/2014/main" id="{199D0DA7-4E97-FA1A-3591-BF28D840BFF0}"/>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53" name="Freeform 161">
              <a:extLst>
                <a:ext uri="{FF2B5EF4-FFF2-40B4-BE49-F238E27FC236}">
                  <a16:creationId xmlns:a16="http://schemas.microsoft.com/office/drawing/2014/main" id="{5978C2D7-5DEF-2320-00E7-D541EDBD1B00}"/>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65" name="Freeform 162">
              <a:extLst>
                <a:ext uri="{FF2B5EF4-FFF2-40B4-BE49-F238E27FC236}">
                  <a16:creationId xmlns:a16="http://schemas.microsoft.com/office/drawing/2014/main" id="{D3BAF18E-8EF8-8662-1E00-471E15B007F4}"/>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sp>
          <p:nvSpPr>
            <p:cNvPr id="766" name="Freeform 163">
              <a:extLst>
                <a:ext uri="{FF2B5EF4-FFF2-40B4-BE49-F238E27FC236}">
                  <a16:creationId xmlns:a16="http://schemas.microsoft.com/office/drawing/2014/main" id="{ECC13CD8-ADAB-0454-89C4-0F55FB9AECEB}"/>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cs typeface="Arial" charset="0"/>
              </a:endParaRPr>
            </a:p>
          </p:txBody>
        </p:sp>
      </p:grpSp>
      <p:sp>
        <p:nvSpPr>
          <p:cNvPr id="732" name="TextBox 731">
            <a:extLst>
              <a:ext uri="{FF2B5EF4-FFF2-40B4-BE49-F238E27FC236}">
                <a16:creationId xmlns:a16="http://schemas.microsoft.com/office/drawing/2014/main" id="{90F206CD-8DC6-5014-51B1-944DE07D101D}"/>
              </a:ext>
            </a:extLst>
          </p:cNvPr>
          <p:cNvSpPr txBox="1"/>
          <p:nvPr/>
        </p:nvSpPr>
        <p:spPr>
          <a:xfrm>
            <a:off x="3896115" y="4400486"/>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Raw Data storage</a:t>
            </a:r>
          </a:p>
        </p:txBody>
      </p:sp>
      <p:sp>
        <p:nvSpPr>
          <p:cNvPr id="708" name="Rectangle 707">
            <a:extLst>
              <a:ext uri="{FF2B5EF4-FFF2-40B4-BE49-F238E27FC236}">
                <a16:creationId xmlns:a16="http://schemas.microsoft.com/office/drawing/2014/main" id="{05302B86-D5D8-7411-5658-A37459300310}"/>
              </a:ext>
            </a:extLst>
          </p:cNvPr>
          <p:cNvSpPr/>
          <p:nvPr/>
        </p:nvSpPr>
        <p:spPr>
          <a:xfrm>
            <a:off x="6376569" y="4399883"/>
            <a:ext cx="900000" cy="1008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709" name="TextBox 708">
            <a:extLst>
              <a:ext uri="{FF2B5EF4-FFF2-40B4-BE49-F238E27FC236}">
                <a16:creationId xmlns:a16="http://schemas.microsoft.com/office/drawing/2014/main" id="{1AD97702-6C91-A615-BB46-4E7241D6A5F4}"/>
              </a:ext>
            </a:extLst>
          </p:cNvPr>
          <p:cNvSpPr txBox="1"/>
          <p:nvPr/>
        </p:nvSpPr>
        <p:spPr>
          <a:xfrm>
            <a:off x="6376569" y="4399883"/>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800" b="1" noProof="0">
                <a:solidFill>
                  <a:schemeClr val="bg2">
                    <a:lumMod val="10000"/>
                  </a:schemeClr>
                </a:solidFill>
              </a:rPr>
              <a:t>Curated Data Storage</a:t>
            </a:r>
          </a:p>
        </p:txBody>
      </p:sp>
      <p:cxnSp>
        <p:nvCxnSpPr>
          <p:cNvPr id="711" name="Straight Connector 710">
            <a:extLst>
              <a:ext uri="{FF2B5EF4-FFF2-40B4-BE49-F238E27FC236}">
                <a16:creationId xmlns:a16="http://schemas.microsoft.com/office/drawing/2014/main" id="{BE61BDC8-737C-3EE3-4D25-52ECD62A551A}"/>
              </a:ext>
            </a:extLst>
          </p:cNvPr>
          <p:cNvCxnSpPr>
            <a:cxnSpLocks/>
          </p:cNvCxnSpPr>
          <p:nvPr/>
        </p:nvCxnSpPr>
        <p:spPr>
          <a:xfrm flipV="1">
            <a:off x="6466569" y="4718807"/>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4149" name="Group 4148">
            <a:extLst>
              <a:ext uri="{FF2B5EF4-FFF2-40B4-BE49-F238E27FC236}">
                <a16:creationId xmlns:a16="http://schemas.microsoft.com/office/drawing/2014/main" id="{07823FB3-B657-329A-7B64-241D442CEE83}"/>
              </a:ext>
            </a:extLst>
          </p:cNvPr>
          <p:cNvGrpSpPr/>
          <p:nvPr/>
        </p:nvGrpSpPr>
        <p:grpSpPr>
          <a:xfrm>
            <a:off x="6451973" y="5199586"/>
            <a:ext cx="741996" cy="180000"/>
            <a:chOff x="6451973" y="5199586"/>
            <a:chExt cx="741996" cy="180000"/>
          </a:xfrm>
        </p:grpSpPr>
        <p:sp>
          <p:nvSpPr>
            <p:cNvPr id="713" name="Hexagon 712">
              <a:extLst>
                <a:ext uri="{FF2B5EF4-FFF2-40B4-BE49-F238E27FC236}">
                  <a16:creationId xmlns:a16="http://schemas.microsoft.com/office/drawing/2014/main" id="{CC1AE391-E73A-0515-3925-CB2417C0074E}"/>
                </a:ext>
              </a:extLst>
            </p:cNvPr>
            <p:cNvSpPr>
              <a:spLocks noChangeAspect="1"/>
            </p:cNvSpPr>
            <p:nvPr/>
          </p:nvSpPr>
          <p:spPr>
            <a:xfrm rot="5400000">
              <a:off x="6459305" y="5192254"/>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714" name="Hexagon 713">
              <a:extLst>
                <a:ext uri="{FF2B5EF4-FFF2-40B4-BE49-F238E27FC236}">
                  <a16:creationId xmlns:a16="http://schemas.microsoft.com/office/drawing/2014/main" id="{AEBC2A17-01C1-6D20-CBA8-93B109792734}"/>
                </a:ext>
              </a:extLst>
            </p:cNvPr>
            <p:cNvSpPr>
              <a:spLocks noChangeAspect="1"/>
            </p:cNvSpPr>
            <p:nvPr/>
          </p:nvSpPr>
          <p:spPr>
            <a:xfrm rot="5400000">
              <a:off x="6732971" y="5192254"/>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sp>
          <p:nvSpPr>
            <p:cNvPr id="715" name="Hexagon 714">
              <a:extLst>
                <a:ext uri="{FF2B5EF4-FFF2-40B4-BE49-F238E27FC236}">
                  <a16:creationId xmlns:a16="http://schemas.microsoft.com/office/drawing/2014/main" id="{95E9AC42-3BDE-39A0-85B0-743F75F03CF6}"/>
                </a:ext>
              </a:extLst>
            </p:cNvPr>
            <p:cNvSpPr>
              <a:spLocks noChangeAspect="1"/>
            </p:cNvSpPr>
            <p:nvPr/>
          </p:nvSpPr>
          <p:spPr>
            <a:xfrm rot="5400000">
              <a:off x="7006637" y="5192254"/>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algn="ctr"/>
              <a:endParaRPr lang="en-CA" sz="1000" noProof="0">
                <a:solidFill>
                  <a:srgbClr val="298B68"/>
                </a:solidFill>
              </a:endParaRPr>
            </a:p>
          </p:txBody>
        </p:sp>
      </p:grpSp>
      <p:pic>
        <p:nvPicPr>
          <p:cNvPr id="4101" name="Picture 4100">
            <a:extLst>
              <a:ext uri="{FF2B5EF4-FFF2-40B4-BE49-F238E27FC236}">
                <a16:creationId xmlns:a16="http://schemas.microsoft.com/office/drawing/2014/main" id="{8C7912B0-35A4-AEAB-7AFD-9E62352021EC}"/>
              </a:ext>
            </a:extLst>
          </p:cNvPr>
          <p:cNvPicPr>
            <a:picLocks noChangeAspect="1"/>
          </p:cNvPicPr>
          <p:nvPr/>
        </p:nvPicPr>
        <p:blipFill>
          <a:blip r:embed="rId5"/>
          <a:stretch>
            <a:fillRect/>
          </a:stretch>
        </p:blipFill>
        <p:spPr>
          <a:xfrm>
            <a:off x="7770389" y="4961068"/>
            <a:ext cx="264001" cy="252000"/>
          </a:xfrm>
          <a:prstGeom prst="rect">
            <a:avLst/>
          </a:prstGeom>
        </p:spPr>
      </p:pic>
      <p:sp>
        <p:nvSpPr>
          <p:cNvPr id="4109" name="TextBox 4108">
            <a:extLst>
              <a:ext uri="{FF2B5EF4-FFF2-40B4-BE49-F238E27FC236}">
                <a16:creationId xmlns:a16="http://schemas.microsoft.com/office/drawing/2014/main" id="{7EA87044-42FB-EE68-BD1E-00D415F779A2}"/>
              </a:ext>
            </a:extLst>
          </p:cNvPr>
          <p:cNvSpPr txBox="1"/>
          <p:nvPr/>
        </p:nvSpPr>
        <p:spPr>
          <a:xfrm>
            <a:off x="7362389" y="5213068"/>
            <a:ext cx="1080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Azure AI Search</a:t>
            </a:r>
          </a:p>
        </p:txBody>
      </p:sp>
      <p:sp>
        <p:nvSpPr>
          <p:cNvPr id="2" name="Rectangle: Rounded Corners 1">
            <a:extLst>
              <a:ext uri="{FF2B5EF4-FFF2-40B4-BE49-F238E27FC236}">
                <a16:creationId xmlns:a16="http://schemas.microsoft.com/office/drawing/2014/main" id="{704E2276-967E-D11D-6F04-90D789594271}"/>
              </a:ext>
            </a:extLst>
          </p:cNvPr>
          <p:cNvSpPr/>
          <p:nvPr/>
        </p:nvSpPr>
        <p:spPr>
          <a:xfrm>
            <a:off x="81863" y="4686721"/>
            <a:ext cx="3132000" cy="1572595"/>
          </a:xfrm>
          <a:prstGeom prst="roundRect">
            <a:avLst>
              <a:gd name="adj" fmla="val 714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3" name="TextBox 2">
            <a:extLst>
              <a:ext uri="{FF2B5EF4-FFF2-40B4-BE49-F238E27FC236}">
                <a16:creationId xmlns:a16="http://schemas.microsoft.com/office/drawing/2014/main" id="{5213839A-C67F-0942-7C70-A5494180D81F}"/>
              </a:ext>
            </a:extLst>
          </p:cNvPr>
          <p:cNvSpPr txBox="1"/>
          <p:nvPr/>
        </p:nvSpPr>
        <p:spPr>
          <a:xfrm>
            <a:off x="81863" y="4713227"/>
            <a:ext cx="313200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2">
                    <a:lumMod val="10000"/>
                  </a:schemeClr>
                </a:solidFill>
              </a:rPr>
              <a:t>Unstructured Data</a:t>
            </a:r>
          </a:p>
        </p:txBody>
      </p:sp>
      <p:cxnSp>
        <p:nvCxnSpPr>
          <p:cNvPr id="5" name="Straight Connector 4">
            <a:extLst>
              <a:ext uri="{FF2B5EF4-FFF2-40B4-BE49-F238E27FC236}">
                <a16:creationId xmlns:a16="http://schemas.microsoft.com/office/drawing/2014/main" id="{C3B1C946-5A57-AF12-849B-A2E5F61BA1CF}"/>
              </a:ext>
            </a:extLst>
          </p:cNvPr>
          <p:cNvCxnSpPr>
            <a:cxnSpLocks/>
          </p:cNvCxnSpPr>
          <p:nvPr/>
        </p:nvCxnSpPr>
        <p:spPr>
          <a:xfrm flipV="1">
            <a:off x="261863" y="4921008"/>
            <a:ext cx="2772000" cy="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048" name="Rectangle: Rounded Corners 1047">
            <a:extLst>
              <a:ext uri="{FF2B5EF4-FFF2-40B4-BE49-F238E27FC236}">
                <a16:creationId xmlns:a16="http://schemas.microsoft.com/office/drawing/2014/main" id="{A455A7FB-5A84-6785-B26C-DE28A5BC00E8}"/>
              </a:ext>
            </a:extLst>
          </p:cNvPr>
          <p:cNvSpPr/>
          <p:nvPr/>
        </p:nvSpPr>
        <p:spPr>
          <a:xfrm>
            <a:off x="81863" y="2910560"/>
            <a:ext cx="3132000" cy="1440000"/>
          </a:xfrm>
          <a:prstGeom prst="roundRect">
            <a:avLst>
              <a:gd name="adj" fmla="val 714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49" name="TextBox 1048">
            <a:extLst>
              <a:ext uri="{FF2B5EF4-FFF2-40B4-BE49-F238E27FC236}">
                <a16:creationId xmlns:a16="http://schemas.microsoft.com/office/drawing/2014/main" id="{964C2057-53DE-83AF-F176-BD413A476522}"/>
              </a:ext>
            </a:extLst>
          </p:cNvPr>
          <p:cNvSpPr txBox="1"/>
          <p:nvPr/>
        </p:nvSpPr>
        <p:spPr>
          <a:xfrm>
            <a:off x="81863" y="2910560"/>
            <a:ext cx="313200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2">
                    <a:lumMod val="10000"/>
                  </a:schemeClr>
                </a:solidFill>
              </a:rPr>
              <a:t>Semi-structured Data</a:t>
            </a:r>
          </a:p>
        </p:txBody>
      </p:sp>
      <p:sp>
        <p:nvSpPr>
          <p:cNvPr id="1050" name="TextBox 1049">
            <a:extLst>
              <a:ext uri="{FF2B5EF4-FFF2-40B4-BE49-F238E27FC236}">
                <a16:creationId xmlns:a16="http://schemas.microsoft.com/office/drawing/2014/main" id="{CA471C1B-3BDE-0ABC-F16D-74A2FD66B28D}"/>
              </a:ext>
            </a:extLst>
          </p:cNvPr>
          <p:cNvSpPr txBox="1"/>
          <p:nvPr/>
        </p:nvSpPr>
        <p:spPr>
          <a:xfrm>
            <a:off x="81863" y="3106346"/>
            <a:ext cx="3132000"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JSON, unstructured flat files, Excel</a:t>
            </a:r>
          </a:p>
        </p:txBody>
      </p:sp>
      <p:cxnSp>
        <p:nvCxnSpPr>
          <p:cNvPr id="1051" name="Straight Connector 1050">
            <a:extLst>
              <a:ext uri="{FF2B5EF4-FFF2-40B4-BE49-F238E27FC236}">
                <a16:creationId xmlns:a16="http://schemas.microsoft.com/office/drawing/2014/main" id="{843AFE08-7175-8F6B-59A3-9D13EF870684}"/>
              </a:ext>
            </a:extLst>
          </p:cNvPr>
          <p:cNvCxnSpPr>
            <a:cxnSpLocks/>
          </p:cNvCxnSpPr>
          <p:nvPr/>
        </p:nvCxnSpPr>
        <p:spPr>
          <a:xfrm flipV="1">
            <a:off x="261863" y="3336799"/>
            <a:ext cx="2772000" cy="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7AF76F8C-CE7A-C9B1-2232-17116B2DDA27}"/>
              </a:ext>
            </a:extLst>
          </p:cNvPr>
          <p:cNvCxnSpPr>
            <a:cxnSpLocks/>
            <a:stCxn id="30" idx="3"/>
          </p:cNvCxnSpPr>
          <p:nvPr/>
        </p:nvCxnSpPr>
        <p:spPr>
          <a:xfrm>
            <a:off x="3213863" y="1685234"/>
            <a:ext cx="672529" cy="284812"/>
          </a:xfrm>
          <a:prstGeom prst="bentConnector3">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6F18814-C509-A450-D5B8-6AA872037E4F}"/>
              </a:ext>
            </a:extLst>
          </p:cNvPr>
          <p:cNvCxnSpPr>
            <a:cxnSpLocks/>
            <a:stCxn id="746" idx="3"/>
            <a:endCxn id="761" idx="1"/>
          </p:cNvCxnSpPr>
          <p:nvPr/>
        </p:nvCxnSpPr>
        <p:spPr>
          <a:xfrm>
            <a:off x="4786392" y="1932241"/>
            <a:ext cx="343526"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4C102F2-2C7A-87DC-1452-F331A7A14F0B}"/>
              </a:ext>
            </a:extLst>
          </p:cNvPr>
          <p:cNvCxnSpPr>
            <a:cxnSpLocks/>
            <a:stCxn id="761" idx="3"/>
            <a:endCxn id="736" idx="1"/>
          </p:cNvCxnSpPr>
          <p:nvPr/>
        </p:nvCxnSpPr>
        <p:spPr>
          <a:xfrm>
            <a:off x="6029918" y="1932241"/>
            <a:ext cx="343527"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895D846-CA54-E277-E12D-F273F2011BB7}"/>
              </a:ext>
            </a:extLst>
          </p:cNvPr>
          <p:cNvCxnSpPr>
            <a:cxnSpLocks/>
            <a:stCxn id="236" idx="3"/>
            <a:endCxn id="4104" idx="1"/>
          </p:cNvCxnSpPr>
          <p:nvPr/>
        </p:nvCxnSpPr>
        <p:spPr>
          <a:xfrm>
            <a:off x="4780905" y="3416230"/>
            <a:ext cx="349013" cy="0"/>
          </a:xfrm>
          <a:prstGeom prst="straightConnector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D4ADCF2-80ED-D5EC-7EE3-7086D810E65E}"/>
              </a:ext>
            </a:extLst>
          </p:cNvPr>
          <p:cNvCxnSpPr>
            <a:cxnSpLocks/>
            <a:stCxn id="4104" idx="3"/>
            <a:endCxn id="215" idx="1"/>
          </p:cNvCxnSpPr>
          <p:nvPr/>
        </p:nvCxnSpPr>
        <p:spPr>
          <a:xfrm>
            <a:off x="6029918" y="3416230"/>
            <a:ext cx="343527" cy="0"/>
          </a:xfrm>
          <a:prstGeom prst="straightConnector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CB047A5-BF51-DA5F-6E3A-8F460AED8DF7}"/>
              </a:ext>
            </a:extLst>
          </p:cNvPr>
          <p:cNvCxnSpPr>
            <a:cxnSpLocks/>
            <a:stCxn id="729" idx="3"/>
            <a:endCxn id="717" idx="1"/>
          </p:cNvCxnSpPr>
          <p:nvPr/>
        </p:nvCxnSpPr>
        <p:spPr>
          <a:xfrm>
            <a:off x="4796115" y="4903883"/>
            <a:ext cx="333803" cy="0"/>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9252C2C-BCE7-5889-B4A3-324922265CFC}"/>
              </a:ext>
            </a:extLst>
          </p:cNvPr>
          <p:cNvCxnSpPr>
            <a:cxnSpLocks/>
            <a:stCxn id="717" idx="3"/>
            <a:endCxn id="708" idx="1"/>
          </p:cNvCxnSpPr>
          <p:nvPr/>
        </p:nvCxnSpPr>
        <p:spPr>
          <a:xfrm>
            <a:off x="6029918" y="4903883"/>
            <a:ext cx="346651" cy="0"/>
          </a:xfrm>
          <a:prstGeom prst="straightConnector1">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195" name="Group 194">
            <a:extLst>
              <a:ext uri="{FF2B5EF4-FFF2-40B4-BE49-F238E27FC236}">
                <a16:creationId xmlns:a16="http://schemas.microsoft.com/office/drawing/2014/main" id="{C7A3A373-42BF-1820-61DB-39094EDA85C4}"/>
              </a:ext>
            </a:extLst>
          </p:cNvPr>
          <p:cNvGrpSpPr/>
          <p:nvPr/>
        </p:nvGrpSpPr>
        <p:grpSpPr>
          <a:xfrm>
            <a:off x="81863" y="1280023"/>
            <a:ext cx="3132000" cy="1296000"/>
            <a:chOff x="72389" y="1878603"/>
            <a:chExt cx="3132000" cy="1296000"/>
          </a:xfrm>
        </p:grpSpPr>
        <p:sp>
          <p:nvSpPr>
            <p:cNvPr id="1037" name="Rectangle: Rounded Corners 1036">
              <a:extLst>
                <a:ext uri="{FF2B5EF4-FFF2-40B4-BE49-F238E27FC236}">
                  <a16:creationId xmlns:a16="http://schemas.microsoft.com/office/drawing/2014/main" id="{D79AFAAB-0893-5AC8-D25D-46574383073B}"/>
                </a:ext>
              </a:extLst>
            </p:cNvPr>
            <p:cNvSpPr/>
            <p:nvPr/>
          </p:nvSpPr>
          <p:spPr>
            <a:xfrm>
              <a:off x="72389" y="1878603"/>
              <a:ext cx="3132000" cy="1296000"/>
            </a:xfrm>
            <a:prstGeom prst="roundRect">
              <a:avLst>
                <a:gd name="adj" fmla="val 714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38" name="TextBox 1037">
              <a:extLst>
                <a:ext uri="{FF2B5EF4-FFF2-40B4-BE49-F238E27FC236}">
                  <a16:creationId xmlns:a16="http://schemas.microsoft.com/office/drawing/2014/main" id="{BDFC2F59-EA3B-4BF4-B63E-B755481B9778}"/>
                </a:ext>
              </a:extLst>
            </p:cNvPr>
            <p:cNvSpPr txBox="1"/>
            <p:nvPr/>
          </p:nvSpPr>
          <p:spPr>
            <a:xfrm>
              <a:off x="72389" y="1878603"/>
              <a:ext cx="313200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2">
                      <a:lumMod val="10000"/>
                    </a:schemeClr>
                  </a:solidFill>
                </a:rPr>
                <a:t>Structured Data </a:t>
              </a:r>
            </a:p>
          </p:txBody>
        </p:sp>
        <p:sp>
          <p:nvSpPr>
            <p:cNvPr id="1039" name="TextBox 1038">
              <a:extLst>
                <a:ext uri="{FF2B5EF4-FFF2-40B4-BE49-F238E27FC236}">
                  <a16:creationId xmlns:a16="http://schemas.microsoft.com/office/drawing/2014/main" id="{3D088133-0CCD-F4C0-A161-58001ED8B66E}"/>
                </a:ext>
              </a:extLst>
            </p:cNvPr>
            <p:cNvSpPr txBox="1"/>
            <p:nvPr/>
          </p:nvSpPr>
          <p:spPr>
            <a:xfrm>
              <a:off x="72389" y="2074389"/>
              <a:ext cx="3132000"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00" noProof="0">
                  <a:solidFill>
                    <a:schemeClr val="bg2">
                      <a:lumMod val="10000"/>
                    </a:schemeClr>
                  </a:solidFill>
                </a:rPr>
                <a:t>Transactional database, </a:t>
              </a:r>
              <a:r>
                <a:rPr lang="en-CA" sz="1000" noProof="0" err="1">
                  <a:solidFill>
                    <a:schemeClr val="bg2">
                      <a:lumMod val="10000"/>
                    </a:schemeClr>
                  </a:solidFill>
                </a:rPr>
                <a:t>datamart</a:t>
              </a:r>
              <a:r>
                <a:rPr lang="en-CA" sz="1000" noProof="0">
                  <a:solidFill>
                    <a:schemeClr val="bg2">
                      <a:lumMod val="10000"/>
                    </a:schemeClr>
                  </a:solidFill>
                </a:rPr>
                <a:t>, structured flat files</a:t>
              </a:r>
            </a:p>
          </p:txBody>
        </p:sp>
        <p:cxnSp>
          <p:nvCxnSpPr>
            <p:cNvPr id="1042" name="Straight Connector 1041">
              <a:extLst>
                <a:ext uri="{FF2B5EF4-FFF2-40B4-BE49-F238E27FC236}">
                  <a16:creationId xmlns:a16="http://schemas.microsoft.com/office/drawing/2014/main" id="{52801811-85C9-6601-F3B5-6CA2BBB85314}"/>
                </a:ext>
              </a:extLst>
            </p:cNvPr>
            <p:cNvCxnSpPr>
              <a:cxnSpLocks/>
            </p:cNvCxnSpPr>
            <p:nvPr/>
          </p:nvCxnSpPr>
          <p:spPr>
            <a:xfrm flipV="1">
              <a:off x="252389" y="2304842"/>
              <a:ext cx="2772000" cy="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00EEF78-2A18-BD07-5BD4-9C2B522B673A}"/>
                </a:ext>
              </a:extLst>
            </p:cNvPr>
            <p:cNvSpPr txBox="1"/>
            <p:nvPr/>
          </p:nvSpPr>
          <p:spPr>
            <a:xfrm>
              <a:off x="72389" y="2324092"/>
              <a:ext cx="3132000" cy="84214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Has a defined, stable schema</a:t>
              </a:r>
            </a:p>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Optimized for querying and reporting</a:t>
              </a:r>
            </a:p>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Supports dashboards, operational apps, and classical AI</a:t>
              </a:r>
            </a:p>
          </p:txBody>
        </p:sp>
        <p:sp>
          <p:nvSpPr>
            <p:cNvPr id="30" name="Rectangle 29">
              <a:extLst>
                <a:ext uri="{FF2B5EF4-FFF2-40B4-BE49-F238E27FC236}">
                  <a16:creationId xmlns:a16="http://schemas.microsoft.com/office/drawing/2014/main" id="{16ECF759-1FE5-EE2A-18B1-44DED4BE85C1}"/>
                </a:ext>
              </a:extLst>
            </p:cNvPr>
            <p:cNvSpPr/>
            <p:nvPr/>
          </p:nvSpPr>
          <p:spPr>
            <a:xfrm>
              <a:off x="3132389" y="2211814"/>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34" name="Rectangle 33">
              <a:extLst>
                <a:ext uri="{FF2B5EF4-FFF2-40B4-BE49-F238E27FC236}">
                  <a16:creationId xmlns:a16="http://schemas.microsoft.com/office/drawing/2014/main" id="{8E0D72B0-709F-2F16-7437-48CE63528B7C}"/>
                </a:ext>
              </a:extLst>
            </p:cNvPr>
            <p:cNvSpPr/>
            <p:nvPr/>
          </p:nvSpPr>
          <p:spPr>
            <a:xfrm>
              <a:off x="3132389" y="2689025"/>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grpSp>
      <p:sp>
        <p:nvSpPr>
          <p:cNvPr id="47" name="TextBox 46">
            <a:extLst>
              <a:ext uri="{FF2B5EF4-FFF2-40B4-BE49-F238E27FC236}">
                <a16:creationId xmlns:a16="http://schemas.microsoft.com/office/drawing/2014/main" id="{5C23FD78-F1C6-9772-BA06-9B1409599124}"/>
              </a:ext>
            </a:extLst>
          </p:cNvPr>
          <p:cNvSpPr txBox="1"/>
          <p:nvPr/>
        </p:nvSpPr>
        <p:spPr>
          <a:xfrm>
            <a:off x="5129918" y="1747768"/>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9F9F9F"/>
                </a:solidFill>
              </a:rPr>
              <a:t>Silver layer</a:t>
            </a:r>
            <a:r>
              <a:rPr lang="en-CA" sz="700" noProof="0">
                <a:solidFill>
                  <a:srgbClr val="9F9F9F"/>
                </a:solidFill>
              </a:rPr>
              <a:t> </a:t>
            </a:r>
          </a:p>
          <a:p>
            <a:pPr algn="ctr"/>
            <a:r>
              <a:rPr lang="en-CA" sz="700" noProof="0">
                <a:solidFill>
                  <a:schemeClr val="bg2">
                    <a:lumMod val="10000"/>
                  </a:schemeClr>
                </a:solidFill>
              </a:rPr>
              <a:t>(Cleansed &amp; conformed data)</a:t>
            </a:r>
          </a:p>
        </p:txBody>
      </p:sp>
      <p:sp>
        <p:nvSpPr>
          <p:cNvPr id="48" name="TextBox 47">
            <a:extLst>
              <a:ext uri="{FF2B5EF4-FFF2-40B4-BE49-F238E27FC236}">
                <a16:creationId xmlns:a16="http://schemas.microsoft.com/office/drawing/2014/main" id="{104E9AD3-947E-6D3C-221C-14ABBFF4AFDA}"/>
              </a:ext>
            </a:extLst>
          </p:cNvPr>
          <p:cNvSpPr txBox="1"/>
          <p:nvPr/>
        </p:nvSpPr>
        <p:spPr>
          <a:xfrm>
            <a:off x="3886392" y="1747768"/>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A97142"/>
                </a:solidFill>
              </a:rPr>
              <a:t>Bronze layer</a:t>
            </a:r>
            <a:endParaRPr lang="en-CA" sz="700" noProof="0">
              <a:solidFill>
                <a:srgbClr val="A97142"/>
              </a:solidFill>
            </a:endParaRPr>
          </a:p>
          <a:p>
            <a:pPr algn="ctr"/>
            <a:r>
              <a:rPr lang="en-CA" sz="700" noProof="0">
                <a:solidFill>
                  <a:schemeClr val="bg2">
                    <a:lumMod val="10000"/>
                  </a:schemeClr>
                </a:solidFill>
              </a:rPr>
              <a:t>(Data landing zone)</a:t>
            </a:r>
          </a:p>
        </p:txBody>
      </p:sp>
      <p:cxnSp>
        <p:nvCxnSpPr>
          <p:cNvPr id="55" name="Straight Connector 54">
            <a:extLst>
              <a:ext uri="{FF2B5EF4-FFF2-40B4-BE49-F238E27FC236}">
                <a16:creationId xmlns:a16="http://schemas.microsoft.com/office/drawing/2014/main" id="{2CF2ACFE-8A7E-0C5D-FE05-D93E4551FE18}"/>
              </a:ext>
            </a:extLst>
          </p:cNvPr>
          <p:cNvCxnSpPr>
            <a:cxnSpLocks/>
          </p:cNvCxnSpPr>
          <p:nvPr/>
        </p:nvCxnSpPr>
        <p:spPr>
          <a:xfrm flipV="1">
            <a:off x="5219918" y="174716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E2D25DC2-0E84-6C85-D808-1AA498031AB2}"/>
              </a:ext>
            </a:extLst>
          </p:cNvPr>
          <p:cNvCxnSpPr>
            <a:cxnSpLocks/>
            <a:endCxn id="239" idx="1"/>
          </p:cNvCxnSpPr>
          <p:nvPr/>
        </p:nvCxnSpPr>
        <p:spPr>
          <a:xfrm flipV="1">
            <a:off x="3204389" y="3018295"/>
            <a:ext cx="676516" cy="543298"/>
          </a:xfrm>
          <a:prstGeom prst="bentConnector3">
            <a:avLst>
              <a:gd name="adj1" fmla="val 21616"/>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sp>
        <p:nvSpPr>
          <p:cNvPr id="4108" name="TextBox 4107">
            <a:extLst>
              <a:ext uri="{FF2B5EF4-FFF2-40B4-BE49-F238E27FC236}">
                <a16:creationId xmlns:a16="http://schemas.microsoft.com/office/drawing/2014/main" id="{1A3A6A13-F893-F8E5-76A2-739086C93765}"/>
              </a:ext>
            </a:extLst>
          </p:cNvPr>
          <p:cNvSpPr txBox="1"/>
          <p:nvPr/>
        </p:nvSpPr>
        <p:spPr>
          <a:xfrm>
            <a:off x="5129918" y="3307935"/>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9F9F9F"/>
                </a:solidFill>
              </a:rPr>
              <a:t>Silver layer</a:t>
            </a:r>
            <a:r>
              <a:rPr lang="en-CA" sz="700" noProof="0">
                <a:solidFill>
                  <a:srgbClr val="9F9F9F"/>
                </a:solidFill>
              </a:rPr>
              <a:t> </a:t>
            </a:r>
          </a:p>
          <a:p>
            <a:pPr algn="ctr"/>
            <a:r>
              <a:rPr lang="en-CA" sz="700" noProof="0">
                <a:solidFill>
                  <a:schemeClr val="bg2">
                    <a:lumMod val="10000"/>
                  </a:schemeClr>
                </a:solidFill>
              </a:rPr>
              <a:t>(Cleansed &amp; conformed data)</a:t>
            </a:r>
          </a:p>
        </p:txBody>
      </p:sp>
      <p:sp>
        <p:nvSpPr>
          <p:cNvPr id="4114" name="TextBox 4113">
            <a:extLst>
              <a:ext uri="{FF2B5EF4-FFF2-40B4-BE49-F238E27FC236}">
                <a16:creationId xmlns:a16="http://schemas.microsoft.com/office/drawing/2014/main" id="{B57B9922-CAA5-7BA0-95A2-4D28D9AA9B97}"/>
              </a:ext>
            </a:extLst>
          </p:cNvPr>
          <p:cNvSpPr txBox="1"/>
          <p:nvPr/>
        </p:nvSpPr>
        <p:spPr>
          <a:xfrm>
            <a:off x="3880905" y="3307935"/>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A97142"/>
                </a:solidFill>
              </a:rPr>
              <a:t>Bronze layer</a:t>
            </a:r>
            <a:endParaRPr lang="en-CA" sz="700" noProof="0">
              <a:solidFill>
                <a:srgbClr val="A97142"/>
              </a:solidFill>
            </a:endParaRPr>
          </a:p>
          <a:p>
            <a:pPr algn="ctr"/>
            <a:r>
              <a:rPr lang="en-CA" sz="700" noProof="0">
                <a:solidFill>
                  <a:schemeClr val="bg2">
                    <a:lumMod val="10000"/>
                  </a:schemeClr>
                </a:solidFill>
              </a:rPr>
              <a:t>(Low latency operational data)</a:t>
            </a:r>
          </a:p>
        </p:txBody>
      </p:sp>
      <p:cxnSp>
        <p:nvCxnSpPr>
          <p:cNvPr id="4120" name="Connector: Elbow 4119">
            <a:extLst>
              <a:ext uri="{FF2B5EF4-FFF2-40B4-BE49-F238E27FC236}">
                <a16:creationId xmlns:a16="http://schemas.microsoft.com/office/drawing/2014/main" id="{813283B0-880D-1535-EB54-049BB5ED36F6}"/>
              </a:ext>
            </a:extLst>
          </p:cNvPr>
          <p:cNvCxnSpPr>
            <a:cxnSpLocks/>
            <a:stCxn id="4130" idx="3"/>
            <a:endCxn id="4147" idx="1"/>
          </p:cNvCxnSpPr>
          <p:nvPr/>
        </p:nvCxnSpPr>
        <p:spPr>
          <a:xfrm>
            <a:off x="3213863" y="3854066"/>
            <a:ext cx="682252" cy="1009418"/>
          </a:xfrm>
          <a:prstGeom prst="bentConnector3">
            <a:avLst>
              <a:gd name="adj1" fmla="val 26266"/>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4130" name="TextBox 4129">
            <a:extLst>
              <a:ext uri="{FF2B5EF4-FFF2-40B4-BE49-F238E27FC236}">
                <a16:creationId xmlns:a16="http://schemas.microsoft.com/office/drawing/2014/main" id="{23E48BC3-2ACA-90B5-EAC3-6823E2452C07}"/>
              </a:ext>
            </a:extLst>
          </p:cNvPr>
          <p:cNvSpPr txBox="1"/>
          <p:nvPr/>
        </p:nvSpPr>
        <p:spPr>
          <a:xfrm>
            <a:off x="81863" y="3356049"/>
            <a:ext cx="3132000" cy="99603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Lacks a rigid or consistent schema</a:t>
            </a:r>
          </a:p>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Often event-driven, log-based, or machine-generated</a:t>
            </a:r>
          </a:p>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Requires transformation, enrichment, or embedding before use</a:t>
            </a:r>
          </a:p>
        </p:txBody>
      </p:sp>
      <p:sp>
        <p:nvSpPr>
          <p:cNvPr id="4144" name="TextBox 4143">
            <a:extLst>
              <a:ext uri="{FF2B5EF4-FFF2-40B4-BE49-F238E27FC236}">
                <a16:creationId xmlns:a16="http://schemas.microsoft.com/office/drawing/2014/main" id="{2F7A0BE3-BE0F-78A5-A9DF-3C8D6BFC518F}"/>
              </a:ext>
            </a:extLst>
          </p:cNvPr>
          <p:cNvSpPr txBox="1"/>
          <p:nvPr/>
        </p:nvSpPr>
        <p:spPr>
          <a:xfrm>
            <a:off x="5129918" y="4719410"/>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9F9F9F"/>
                </a:solidFill>
              </a:rPr>
              <a:t>Silver layer</a:t>
            </a:r>
            <a:r>
              <a:rPr lang="en-CA" sz="700" noProof="0">
                <a:solidFill>
                  <a:srgbClr val="9F9F9F"/>
                </a:solidFill>
              </a:rPr>
              <a:t> </a:t>
            </a:r>
          </a:p>
          <a:p>
            <a:pPr algn="ctr"/>
            <a:r>
              <a:rPr lang="en-CA" sz="700" noProof="0">
                <a:solidFill>
                  <a:schemeClr val="bg2">
                    <a:lumMod val="10000"/>
                  </a:schemeClr>
                </a:solidFill>
              </a:rPr>
              <a:t>(Embeddings)</a:t>
            </a:r>
          </a:p>
        </p:txBody>
      </p:sp>
      <p:sp>
        <p:nvSpPr>
          <p:cNvPr id="4147" name="TextBox 4146">
            <a:extLst>
              <a:ext uri="{FF2B5EF4-FFF2-40B4-BE49-F238E27FC236}">
                <a16:creationId xmlns:a16="http://schemas.microsoft.com/office/drawing/2014/main" id="{E5F77AD3-C25C-99FD-A263-D16CCBDDDA33}"/>
              </a:ext>
            </a:extLst>
          </p:cNvPr>
          <p:cNvSpPr txBox="1"/>
          <p:nvPr/>
        </p:nvSpPr>
        <p:spPr>
          <a:xfrm>
            <a:off x="3896115" y="4719410"/>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A97142"/>
                </a:solidFill>
              </a:rPr>
              <a:t>Bronze layer</a:t>
            </a:r>
            <a:endParaRPr lang="en-CA" sz="700" noProof="0">
              <a:solidFill>
                <a:srgbClr val="A97142"/>
              </a:solidFill>
            </a:endParaRPr>
          </a:p>
          <a:p>
            <a:pPr algn="ctr"/>
            <a:r>
              <a:rPr lang="en-CA" sz="700" noProof="0">
                <a:solidFill>
                  <a:schemeClr val="bg2">
                    <a:lumMod val="10000"/>
                  </a:schemeClr>
                </a:solidFill>
              </a:rPr>
              <a:t>(Data landing zone)</a:t>
            </a:r>
          </a:p>
        </p:txBody>
      </p:sp>
      <p:cxnSp>
        <p:nvCxnSpPr>
          <p:cNvPr id="4150" name="Straight Arrow Connector 4149">
            <a:extLst>
              <a:ext uri="{FF2B5EF4-FFF2-40B4-BE49-F238E27FC236}">
                <a16:creationId xmlns:a16="http://schemas.microsoft.com/office/drawing/2014/main" id="{61CDA248-7EDE-1B70-1F25-7653A251DD91}"/>
              </a:ext>
            </a:extLst>
          </p:cNvPr>
          <p:cNvCxnSpPr>
            <a:cxnSpLocks/>
            <a:endCxn id="61" idx="1"/>
          </p:cNvCxnSpPr>
          <p:nvPr/>
        </p:nvCxnSpPr>
        <p:spPr>
          <a:xfrm>
            <a:off x="3204389" y="5857880"/>
            <a:ext cx="479611"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55" name="TextBox 4154">
            <a:extLst>
              <a:ext uri="{FF2B5EF4-FFF2-40B4-BE49-F238E27FC236}">
                <a16:creationId xmlns:a16="http://schemas.microsoft.com/office/drawing/2014/main" id="{93CBD3B4-332E-6603-B604-3D822490EFD7}"/>
              </a:ext>
            </a:extLst>
          </p:cNvPr>
          <p:cNvSpPr txBox="1"/>
          <p:nvPr/>
        </p:nvSpPr>
        <p:spPr>
          <a:xfrm>
            <a:off x="215670" y="4947513"/>
            <a:ext cx="3132000" cy="145769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Lacks a rigid or consistent schema</a:t>
            </a:r>
          </a:p>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Document-centric and human-authored</a:t>
            </a:r>
          </a:p>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Examples: policies, SOPs, presentations, knowledge articles</a:t>
            </a:r>
          </a:p>
          <a:p>
            <a:pPr marL="84138" indent="-84138">
              <a:spcBef>
                <a:spcPts val="300"/>
              </a:spcBef>
              <a:spcAft>
                <a:spcPts val="300"/>
              </a:spcAft>
              <a:buFont typeface="Arial" panose="020B0604020202020204" pitchFamily="34" charset="0"/>
              <a:buChar char="•"/>
            </a:pPr>
            <a:r>
              <a:rPr lang="en-CA" sz="1000" noProof="0">
                <a:solidFill>
                  <a:schemeClr val="bg2">
                    <a:lumMod val="10000"/>
                  </a:schemeClr>
                </a:solidFill>
              </a:rPr>
              <a:t>May require transformation, enrichment, or embedding before use</a:t>
            </a:r>
          </a:p>
          <a:p>
            <a:pPr>
              <a:spcBef>
                <a:spcPts val="300"/>
              </a:spcBef>
              <a:spcAft>
                <a:spcPts val="300"/>
              </a:spcAft>
            </a:pPr>
            <a:endParaRPr lang="en-CA" sz="1000" noProof="0">
              <a:solidFill>
                <a:schemeClr val="bg2">
                  <a:lumMod val="10000"/>
                </a:schemeClr>
              </a:solidFill>
            </a:endParaRPr>
          </a:p>
        </p:txBody>
      </p:sp>
      <p:cxnSp>
        <p:nvCxnSpPr>
          <p:cNvPr id="4156" name="Straight Arrow Connector 4155">
            <a:extLst>
              <a:ext uri="{FF2B5EF4-FFF2-40B4-BE49-F238E27FC236}">
                <a16:creationId xmlns:a16="http://schemas.microsoft.com/office/drawing/2014/main" id="{5A827859-05ED-787C-6D5E-1F5939C619DA}"/>
              </a:ext>
            </a:extLst>
          </p:cNvPr>
          <p:cNvCxnSpPr>
            <a:cxnSpLocks/>
            <a:stCxn id="61" idx="3"/>
          </p:cNvCxnSpPr>
          <p:nvPr/>
        </p:nvCxnSpPr>
        <p:spPr>
          <a:xfrm>
            <a:off x="8508000" y="5857880"/>
            <a:ext cx="345804"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3FA28A96-1802-C3C0-FAAB-EFDC580154EA}"/>
              </a:ext>
            </a:extLst>
          </p:cNvPr>
          <p:cNvSpPr/>
          <p:nvPr/>
        </p:nvSpPr>
        <p:spPr>
          <a:xfrm>
            <a:off x="8853804" y="758196"/>
            <a:ext cx="3276000" cy="1224000"/>
          </a:xfrm>
          <a:prstGeom prst="roundRect">
            <a:avLst>
              <a:gd name="adj" fmla="val 714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 name="TextBox 9">
            <a:extLst>
              <a:ext uri="{FF2B5EF4-FFF2-40B4-BE49-F238E27FC236}">
                <a16:creationId xmlns:a16="http://schemas.microsoft.com/office/drawing/2014/main" id="{08399862-BDEA-6DB2-B889-0F34200E08F5}"/>
              </a:ext>
            </a:extLst>
          </p:cNvPr>
          <p:cNvSpPr txBox="1"/>
          <p:nvPr/>
        </p:nvSpPr>
        <p:spPr>
          <a:xfrm>
            <a:off x="8853804" y="758196"/>
            <a:ext cx="327600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2">
                    <a:lumMod val="10000"/>
                  </a:schemeClr>
                </a:solidFill>
              </a:rPr>
              <a:t>Reporting and Classical AI</a:t>
            </a:r>
          </a:p>
        </p:txBody>
      </p:sp>
      <p:grpSp>
        <p:nvGrpSpPr>
          <p:cNvPr id="199" name="Group 198">
            <a:extLst>
              <a:ext uri="{FF2B5EF4-FFF2-40B4-BE49-F238E27FC236}">
                <a16:creationId xmlns:a16="http://schemas.microsoft.com/office/drawing/2014/main" id="{666273A1-5E41-C611-F820-0E03CB8E0145}"/>
              </a:ext>
            </a:extLst>
          </p:cNvPr>
          <p:cNvGrpSpPr/>
          <p:nvPr/>
        </p:nvGrpSpPr>
        <p:grpSpPr>
          <a:xfrm>
            <a:off x="8853804" y="5051119"/>
            <a:ext cx="3276000" cy="1144492"/>
            <a:chOff x="8853804" y="5051119"/>
            <a:chExt cx="3276000" cy="1144492"/>
          </a:xfrm>
        </p:grpSpPr>
        <p:sp>
          <p:nvSpPr>
            <p:cNvPr id="1033" name="Rectangle: Rounded Corners 1032">
              <a:extLst>
                <a:ext uri="{FF2B5EF4-FFF2-40B4-BE49-F238E27FC236}">
                  <a16:creationId xmlns:a16="http://schemas.microsoft.com/office/drawing/2014/main" id="{4F821859-BCE5-F714-294A-07AE972E348B}"/>
                </a:ext>
              </a:extLst>
            </p:cNvPr>
            <p:cNvSpPr/>
            <p:nvPr/>
          </p:nvSpPr>
          <p:spPr>
            <a:xfrm>
              <a:off x="8853804" y="5115611"/>
              <a:ext cx="3276000" cy="1080000"/>
            </a:xfrm>
            <a:prstGeom prst="roundRect">
              <a:avLst>
                <a:gd name="adj" fmla="val 714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34" name="TextBox 1033">
              <a:extLst>
                <a:ext uri="{FF2B5EF4-FFF2-40B4-BE49-F238E27FC236}">
                  <a16:creationId xmlns:a16="http://schemas.microsoft.com/office/drawing/2014/main" id="{BDE10FBB-4715-E410-DA2E-2F1D28FD7646}"/>
                </a:ext>
              </a:extLst>
            </p:cNvPr>
            <p:cNvSpPr txBox="1"/>
            <p:nvPr/>
          </p:nvSpPr>
          <p:spPr>
            <a:xfrm>
              <a:off x="8853804" y="5051119"/>
              <a:ext cx="327600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2">
                      <a:lumMod val="10000"/>
                    </a:schemeClr>
                  </a:solidFill>
                </a:rPr>
                <a:t>AI Search and Standard Copilots</a:t>
              </a:r>
            </a:p>
          </p:txBody>
        </p:sp>
        <p:cxnSp>
          <p:nvCxnSpPr>
            <p:cNvPr id="1035" name="Straight Connector 1034">
              <a:extLst>
                <a:ext uri="{FF2B5EF4-FFF2-40B4-BE49-F238E27FC236}">
                  <a16:creationId xmlns:a16="http://schemas.microsoft.com/office/drawing/2014/main" id="{941D5ABF-0549-3879-CA8D-9CAEB9A9BBB3}"/>
                </a:ext>
              </a:extLst>
            </p:cNvPr>
            <p:cNvCxnSpPr>
              <a:cxnSpLocks/>
            </p:cNvCxnSpPr>
            <p:nvPr/>
          </p:nvCxnSpPr>
          <p:spPr>
            <a:xfrm flipV="1">
              <a:off x="9123451" y="5349897"/>
              <a:ext cx="2772000" cy="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058" name="Rectangle 1057">
              <a:extLst>
                <a:ext uri="{FF2B5EF4-FFF2-40B4-BE49-F238E27FC236}">
                  <a16:creationId xmlns:a16="http://schemas.microsoft.com/office/drawing/2014/main" id="{D8071B42-5C5D-171F-44E9-7F3BCF99ECA2}"/>
                </a:ext>
              </a:extLst>
            </p:cNvPr>
            <p:cNvSpPr/>
            <p:nvPr/>
          </p:nvSpPr>
          <p:spPr>
            <a:xfrm>
              <a:off x="8853804" y="5663405"/>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60" name="TextBox 1059">
              <a:extLst>
                <a:ext uri="{FF2B5EF4-FFF2-40B4-BE49-F238E27FC236}">
                  <a16:creationId xmlns:a16="http://schemas.microsoft.com/office/drawing/2014/main" id="{2388976B-B94E-075C-6636-A23305C93BCE}"/>
                </a:ext>
              </a:extLst>
            </p:cNvPr>
            <p:cNvSpPr txBox="1"/>
            <p:nvPr/>
          </p:nvSpPr>
          <p:spPr>
            <a:xfrm>
              <a:off x="8853804" y="5383582"/>
              <a:ext cx="3276000" cy="70364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No transformation is required, document used as-is where content just needs to be made available</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Used to feed tools like Microsoft Copilot and enterprise search</a:t>
              </a:r>
            </a:p>
          </p:txBody>
        </p:sp>
      </p:grpSp>
      <p:cxnSp>
        <p:nvCxnSpPr>
          <p:cNvPr id="1061" name="Connector: Elbow 1060">
            <a:extLst>
              <a:ext uri="{FF2B5EF4-FFF2-40B4-BE49-F238E27FC236}">
                <a16:creationId xmlns:a16="http://schemas.microsoft.com/office/drawing/2014/main" id="{80380812-8066-3703-FE91-AF1953861CBD}"/>
              </a:ext>
            </a:extLst>
          </p:cNvPr>
          <p:cNvCxnSpPr>
            <a:cxnSpLocks/>
            <a:stCxn id="708" idx="3"/>
          </p:cNvCxnSpPr>
          <p:nvPr/>
        </p:nvCxnSpPr>
        <p:spPr>
          <a:xfrm flipV="1">
            <a:off x="7276569" y="4349333"/>
            <a:ext cx="1569993" cy="554550"/>
          </a:xfrm>
          <a:prstGeom prst="bentConnector3">
            <a:avLst>
              <a:gd name="adj1" fmla="val 86887"/>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73" name="TextBox 1072">
            <a:extLst>
              <a:ext uri="{FF2B5EF4-FFF2-40B4-BE49-F238E27FC236}">
                <a16:creationId xmlns:a16="http://schemas.microsoft.com/office/drawing/2014/main" id="{E7FC9CC5-5784-3CF1-159F-62549F7448B7}"/>
              </a:ext>
            </a:extLst>
          </p:cNvPr>
          <p:cNvSpPr txBox="1"/>
          <p:nvPr/>
        </p:nvSpPr>
        <p:spPr>
          <a:xfrm>
            <a:off x="6373445" y="4711740"/>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E2AC00"/>
                </a:solidFill>
              </a:rPr>
              <a:t>Gold Layer</a:t>
            </a:r>
            <a:endParaRPr lang="en-CA" sz="700" noProof="0">
              <a:solidFill>
                <a:srgbClr val="9F9F9F"/>
              </a:solidFill>
            </a:endParaRPr>
          </a:p>
          <a:p>
            <a:pPr algn="ctr"/>
            <a:r>
              <a:rPr lang="en-CA" sz="700" noProof="0">
                <a:solidFill>
                  <a:schemeClr val="tx1">
                    <a:lumMod val="50000"/>
                  </a:schemeClr>
                </a:solidFill>
              </a:rPr>
              <a:t>AI and search‑ready data products</a:t>
            </a:r>
          </a:p>
        </p:txBody>
      </p:sp>
      <p:grpSp>
        <p:nvGrpSpPr>
          <p:cNvPr id="198" name="Group 197">
            <a:extLst>
              <a:ext uri="{FF2B5EF4-FFF2-40B4-BE49-F238E27FC236}">
                <a16:creationId xmlns:a16="http://schemas.microsoft.com/office/drawing/2014/main" id="{D631B89B-178D-33CE-867B-7C4E6F08B0F0}"/>
              </a:ext>
            </a:extLst>
          </p:cNvPr>
          <p:cNvGrpSpPr/>
          <p:nvPr/>
        </p:nvGrpSpPr>
        <p:grpSpPr>
          <a:xfrm>
            <a:off x="8846562" y="3809333"/>
            <a:ext cx="3276000" cy="1091819"/>
            <a:chOff x="8846562" y="3855500"/>
            <a:chExt cx="3276000" cy="1091819"/>
          </a:xfrm>
        </p:grpSpPr>
        <p:sp>
          <p:nvSpPr>
            <p:cNvPr id="1029" name="Rectangle: Rounded Corners 1028">
              <a:extLst>
                <a:ext uri="{FF2B5EF4-FFF2-40B4-BE49-F238E27FC236}">
                  <a16:creationId xmlns:a16="http://schemas.microsoft.com/office/drawing/2014/main" id="{3E8C9627-FD85-62BB-2689-AD5D417FDE91}"/>
                </a:ext>
              </a:extLst>
            </p:cNvPr>
            <p:cNvSpPr/>
            <p:nvPr/>
          </p:nvSpPr>
          <p:spPr>
            <a:xfrm>
              <a:off x="8846562" y="3855500"/>
              <a:ext cx="3276000" cy="1080000"/>
            </a:xfrm>
            <a:prstGeom prst="roundRect">
              <a:avLst>
                <a:gd name="adj" fmla="val 714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30" name="TextBox 1029">
              <a:extLst>
                <a:ext uri="{FF2B5EF4-FFF2-40B4-BE49-F238E27FC236}">
                  <a16:creationId xmlns:a16="http://schemas.microsoft.com/office/drawing/2014/main" id="{918CA6DA-AA4C-F70C-CB61-BD8FAAC6AAAA}"/>
                </a:ext>
              </a:extLst>
            </p:cNvPr>
            <p:cNvSpPr txBox="1"/>
            <p:nvPr/>
          </p:nvSpPr>
          <p:spPr>
            <a:xfrm>
              <a:off x="8846562" y="3855500"/>
              <a:ext cx="327600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2">
                      <a:lumMod val="10000"/>
                    </a:schemeClr>
                  </a:solidFill>
                </a:rPr>
                <a:t>Generative AI and Agentic AI</a:t>
              </a:r>
            </a:p>
          </p:txBody>
        </p:sp>
        <p:cxnSp>
          <p:nvCxnSpPr>
            <p:cNvPr id="1031" name="Straight Connector 1030">
              <a:extLst>
                <a:ext uri="{FF2B5EF4-FFF2-40B4-BE49-F238E27FC236}">
                  <a16:creationId xmlns:a16="http://schemas.microsoft.com/office/drawing/2014/main" id="{571AB709-3D17-910E-9814-CEAD72A4A92A}"/>
                </a:ext>
              </a:extLst>
            </p:cNvPr>
            <p:cNvCxnSpPr>
              <a:cxnSpLocks/>
            </p:cNvCxnSpPr>
            <p:nvPr/>
          </p:nvCxnSpPr>
          <p:spPr>
            <a:xfrm flipV="1">
              <a:off x="9116209" y="4089786"/>
              <a:ext cx="2772000" cy="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074" name="TextBox 1073">
              <a:extLst>
                <a:ext uri="{FF2B5EF4-FFF2-40B4-BE49-F238E27FC236}">
                  <a16:creationId xmlns:a16="http://schemas.microsoft.com/office/drawing/2014/main" id="{1F6648BE-EAF9-7FC3-D516-B9062A35FD1E}"/>
                </a:ext>
              </a:extLst>
            </p:cNvPr>
            <p:cNvSpPr txBox="1"/>
            <p:nvPr/>
          </p:nvSpPr>
          <p:spPr>
            <a:xfrm>
              <a:off x="8846562" y="4089786"/>
              <a:ext cx="3276000" cy="85753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Used by AI engineers and product teams</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Using RAG pipelines, AI assistants and autonomous agents</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Used when enterprise data needs to power AI products</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Because LLMs need vectors and embeddings, not tables</a:t>
              </a:r>
            </a:p>
          </p:txBody>
        </p:sp>
      </p:grpSp>
      <p:cxnSp>
        <p:nvCxnSpPr>
          <p:cNvPr id="1076" name="Connector: Elbow 1075">
            <a:extLst>
              <a:ext uri="{FF2B5EF4-FFF2-40B4-BE49-F238E27FC236}">
                <a16:creationId xmlns:a16="http://schemas.microsoft.com/office/drawing/2014/main" id="{78FC91EF-1530-FD51-3844-73E474F02F75}"/>
              </a:ext>
            </a:extLst>
          </p:cNvPr>
          <p:cNvCxnSpPr>
            <a:cxnSpLocks/>
            <a:stCxn id="215" idx="3"/>
          </p:cNvCxnSpPr>
          <p:nvPr/>
        </p:nvCxnSpPr>
        <p:spPr>
          <a:xfrm flipV="1">
            <a:off x="7273445" y="2886973"/>
            <a:ext cx="1574081" cy="529257"/>
          </a:xfrm>
          <a:prstGeom prst="bentConnector3">
            <a:avLst>
              <a:gd name="adj1" fmla="val 86791"/>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sp>
        <p:nvSpPr>
          <p:cNvPr id="1082" name="TextBox 1081">
            <a:extLst>
              <a:ext uri="{FF2B5EF4-FFF2-40B4-BE49-F238E27FC236}">
                <a16:creationId xmlns:a16="http://schemas.microsoft.com/office/drawing/2014/main" id="{40BB886B-7ED4-BA7A-0F9D-D4EE389B55E2}"/>
              </a:ext>
            </a:extLst>
          </p:cNvPr>
          <p:cNvSpPr txBox="1"/>
          <p:nvPr/>
        </p:nvSpPr>
        <p:spPr>
          <a:xfrm>
            <a:off x="6373445" y="3285654"/>
            <a:ext cx="900000" cy="50359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E2AC00"/>
                </a:solidFill>
              </a:rPr>
              <a:t>Gold Layer</a:t>
            </a:r>
            <a:endParaRPr lang="en-CA" sz="700" noProof="0">
              <a:solidFill>
                <a:srgbClr val="E2AC00"/>
              </a:solidFill>
            </a:endParaRPr>
          </a:p>
          <a:p>
            <a:pPr algn="ctr"/>
            <a:r>
              <a:rPr lang="en-CA" sz="700" noProof="0">
                <a:solidFill>
                  <a:schemeClr val="tx1">
                    <a:lumMod val="50000"/>
                  </a:schemeClr>
                </a:solidFill>
              </a:rPr>
              <a:t>Curated data products for operational usage</a:t>
            </a:r>
          </a:p>
        </p:txBody>
      </p:sp>
      <p:grpSp>
        <p:nvGrpSpPr>
          <p:cNvPr id="197" name="Group 196">
            <a:extLst>
              <a:ext uri="{FF2B5EF4-FFF2-40B4-BE49-F238E27FC236}">
                <a16:creationId xmlns:a16="http://schemas.microsoft.com/office/drawing/2014/main" id="{550E9023-54F4-D967-9408-7787650EDABD}"/>
              </a:ext>
            </a:extLst>
          </p:cNvPr>
          <p:cNvGrpSpPr/>
          <p:nvPr/>
        </p:nvGrpSpPr>
        <p:grpSpPr>
          <a:xfrm>
            <a:off x="8847526" y="2202973"/>
            <a:ext cx="3276000" cy="1391902"/>
            <a:chOff x="8847526" y="2295306"/>
            <a:chExt cx="3276000" cy="1391902"/>
          </a:xfrm>
        </p:grpSpPr>
        <p:sp>
          <p:nvSpPr>
            <p:cNvPr id="1024" name="Rectangle: Rounded Corners 1023">
              <a:extLst>
                <a:ext uri="{FF2B5EF4-FFF2-40B4-BE49-F238E27FC236}">
                  <a16:creationId xmlns:a16="http://schemas.microsoft.com/office/drawing/2014/main" id="{BCE4FA8A-48CF-22EA-11F3-35C43717BE79}"/>
                </a:ext>
              </a:extLst>
            </p:cNvPr>
            <p:cNvSpPr/>
            <p:nvPr/>
          </p:nvSpPr>
          <p:spPr>
            <a:xfrm>
              <a:off x="8847526" y="2295306"/>
              <a:ext cx="3276000" cy="1368000"/>
            </a:xfrm>
            <a:prstGeom prst="roundRect">
              <a:avLst>
                <a:gd name="adj" fmla="val 7142"/>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1026" name="TextBox 1025">
              <a:extLst>
                <a:ext uri="{FF2B5EF4-FFF2-40B4-BE49-F238E27FC236}">
                  <a16:creationId xmlns:a16="http://schemas.microsoft.com/office/drawing/2014/main" id="{04F9AD1D-B9B0-E3D1-6EC3-25C69617B129}"/>
                </a:ext>
              </a:extLst>
            </p:cNvPr>
            <p:cNvSpPr txBox="1"/>
            <p:nvPr/>
          </p:nvSpPr>
          <p:spPr>
            <a:xfrm>
              <a:off x="8847526" y="2295306"/>
              <a:ext cx="3276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b="1" noProof="0">
                  <a:solidFill>
                    <a:schemeClr val="bg2">
                      <a:lumMod val="10000"/>
                    </a:schemeClr>
                  </a:solidFill>
                </a:rPr>
                <a:t>Day-to-Day Operational Reporting and Applications</a:t>
              </a:r>
            </a:p>
          </p:txBody>
        </p:sp>
        <p:cxnSp>
          <p:nvCxnSpPr>
            <p:cNvPr id="1027" name="Straight Connector 1026">
              <a:extLst>
                <a:ext uri="{FF2B5EF4-FFF2-40B4-BE49-F238E27FC236}">
                  <a16:creationId xmlns:a16="http://schemas.microsoft.com/office/drawing/2014/main" id="{DDDE1083-5B23-3855-E4D4-E57C5645B68B}"/>
                </a:ext>
              </a:extLst>
            </p:cNvPr>
            <p:cNvCxnSpPr>
              <a:cxnSpLocks/>
            </p:cNvCxnSpPr>
            <p:nvPr/>
          </p:nvCxnSpPr>
          <p:spPr>
            <a:xfrm flipV="1">
              <a:off x="9117173" y="2691175"/>
              <a:ext cx="2772000" cy="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083" name="TextBox 1082">
              <a:extLst>
                <a:ext uri="{FF2B5EF4-FFF2-40B4-BE49-F238E27FC236}">
                  <a16:creationId xmlns:a16="http://schemas.microsoft.com/office/drawing/2014/main" id="{4DA9E6EA-A5F9-3D77-C863-F10EFD1F46F3}"/>
                </a:ext>
              </a:extLst>
            </p:cNvPr>
            <p:cNvSpPr txBox="1"/>
            <p:nvPr/>
          </p:nvSpPr>
          <p:spPr>
            <a:xfrm>
              <a:off x="8847526" y="2691175"/>
              <a:ext cx="3276000" cy="99603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Used by operations, customer service and supply chain</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Using live applications and real-time dashboards</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Used when decisions can't wait</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Because operational and analytical workloads must not compete</a:t>
              </a:r>
            </a:p>
          </p:txBody>
        </p:sp>
      </p:grpSp>
      <p:cxnSp>
        <p:nvCxnSpPr>
          <p:cNvPr id="1084" name="Connector: Elbow 1083">
            <a:extLst>
              <a:ext uri="{FF2B5EF4-FFF2-40B4-BE49-F238E27FC236}">
                <a16:creationId xmlns:a16="http://schemas.microsoft.com/office/drawing/2014/main" id="{489766D8-D482-6A6A-4F61-44544FC58BFE}"/>
              </a:ext>
            </a:extLst>
          </p:cNvPr>
          <p:cNvCxnSpPr>
            <a:cxnSpLocks/>
            <a:stCxn id="736" idx="3"/>
            <a:endCxn id="9" idx="1"/>
          </p:cNvCxnSpPr>
          <p:nvPr/>
        </p:nvCxnSpPr>
        <p:spPr>
          <a:xfrm flipV="1">
            <a:off x="7273445" y="1370196"/>
            <a:ext cx="1580359" cy="562045"/>
          </a:xfrm>
          <a:prstGeom prst="bentConnector3">
            <a:avLst>
              <a:gd name="adj1" fmla="val 86645"/>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193" name="TextBox 192">
            <a:extLst>
              <a:ext uri="{FF2B5EF4-FFF2-40B4-BE49-F238E27FC236}">
                <a16:creationId xmlns:a16="http://schemas.microsoft.com/office/drawing/2014/main" id="{A74A66C4-D876-DEA0-7CF0-D84E28A19321}"/>
              </a:ext>
            </a:extLst>
          </p:cNvPr>
          <p:cNvSpPr txBox="1"/>
          <p:nvPr/>
        </p:nvSpPr>
        <p:spPr>
          <a:xfrm>
            <a:off x="6373445" y="1747165"/>
            <a:ext cx="900000" cy="50359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700" b="1" noProof="0">
                <a:solidFill>
                  <a:srgbClr val="E2AC00"/>
                </a:solidFill>
              </a:rPr>
              <a:t>Gold Layer</a:t>
            </a:r>
            <a:endParaRPr lang="en-CA" sz="700" noProof="0">
              <a:solidFill>
                <a:srgbClr val="E2AC00"/>
              </a:solidFill>
            </a:endParaRPr>
          </a:p>
          <a:p>
            <a:pPr algn="ctr"/>
            <a:r>
              <a:rPr lang="en-CA" sz="700" noProof="0">
                <a:solidFill>
                  <a:schemeClr val="tx1">
                    <a:lumMod val="50000"/>
                  </a:schemeClr>
                </a:solidFill>
              </a:rPr>
              <a:t>Curated data products for analytical use</a:t>
            </a:r>
          </a:p>
        </p:txBody>
      </p:sp>
      <p:grpSp>
        <p:nvGrpSpPr>
          <p:cNvPr id="196" name="Group 195">
            <a:extLst>
              <a:ext uri="{FF2B5EF4-FFF2-40B4-BE49-F238E27FC236}">
                <a16:creationId xmlns:a16="http://schemas.microsoft.com/office/drawing/2014/main" id="{28C1BB6E-EF11-DB23-EF9C-9B6007DC83B3}"/>
              </a:ext>
            </a:extLst>
          </p:cNvPr>
          <p:cNvGrpSpPr/>
          <p:nvPr/>
        </p:nvGrpSpPr>
        <p:grpSpPr>
          <a:xfrm>
            <a:off x="8853804" y="992482"/>
            <a:ext cx="3276000" cy="996033"/>
            <a:chOff x="8853804" y="992482"/>
            <a:chExt cx="3276000" cy="996033"/>
          </a:xfrm>
        </p:grpSpPr>
        <p:cxnSp>
          <p:nvCxnSpPr>
            <p:cNvPr id="12" name="Straight Connector 11">
              <a:extLst>
                <a:ext uri="{FF2B5EF4-FFF2-40B4-BE49-F238E27FC236}">
                  <a16:creationId xmlns:a16="http://schemas.microsoft.com/office/drawing/2014/main" id="{A4E2E404-0D33-E120-4287-3B798B52771C}"/>
                </a:ext>
              </a:extLst>
            </p:cNvPr>
            <p:cNvCxnSpPr>
              <a:cxnSpLocks/>
            </p:cNvCxnSpPr>
            <p:nvPr/>
          </p:nvCxnSpPr>
          <p:spPr>
            <a:xfrm flipV="1">
              <a:off x="9123451" y="992482"/>
              <a:ext cx="2772000" cy="0"/>
            </a:xfrm>
            <a:prstGeom prst="line">
              <a:avLst/>
            </a:prstGeom>
            <a:ln w="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194" name="TextBox 193">
              <a:extLst>
                <a:ext uri="{FF2B5EF4-FFF2-40B4-BE49-F238E27FC236}">
                  <a16:creationId xmlns:a16="http://schemas.microsoft.com/office/drawing/2014/main" id="{4137C458-2C25-6626-F4B2-C6E74EFC100E}"/>
                </a:ext>
              </a:extLst>
            </p:cNvPr>
            <p:cNvSpPr txBox="1"/>
            <p:nvPr/>
          </p:nvSpPr>
          <p:spPr>
            <a:xfrm>
              <a:off x="8853804" y="992482"/>
              <a:ext cx="3276000" cy="99603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Used by analysts, data scientists and finance teams</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Using Power BI, Tableau and ML pipelines</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Used when data needs to be batch processed or modelled</a:t>
              </a:r>
            </a:p>
            <a:p>
              <a:pPr marL="84138" indent="-84138">
                <a:spcBef>
                  <a:spcPts val="300"/>
                </a:spcBef>
                <a:spcAft>
                  <a:spcPts val="300"/>
                </a:spcAft>
                <a:buFont typeface="Arial" panose="020B0604020202020204" pitchFamily="34" charset="0"/>
                <a:buChar char="•"/>
              </a:pPr>
              <a:r>
                <a:rPr lang="en-CA" sz="900" noProof="0">
                  <a:solidFill>
                    <a:schemeClr val="bg2">
                      <a:lumMod val="10000"/>
                    </a:schemeClr>
                  </a:solidFill>
                </a:rPr>
                <a:t>Because reports and models break on incomplete or dirty data</a:t>
              </a:r>
            </a:p>
          </p:txBody>
        </p:sp>
      </p:grpSp>
      <p:sp>
        <p:nvSpPr>
          <p:cNvPr id="211" name="Slide Number Placeholder 2">
            <a:extLst>
              <a:ext uri="{FF2B5EF4-FFF2-40B4-BE49-F238E27FC236}">
                <a16:creationId xmlns:a16="http://schemas.microsoft.com/office/drawing/2014/main" id="{2DB8C7E3-FA85-3F50-C148-A0D8EBFC8198}"/>
              </a:ext>
            </a:extLst>
          </p:cNvPr>
          <p:cNvSpPr>
            <a:spLocks noGrp="1"/>
          </p:cNvSpPr>
          <p:nvPr>
            <p:ph type="sldNum" sz="quarter" idx="12"/>
          </p:nvPr>
        </p:nvSpPr>
        <p:spPr>
          <a:xfrm>
            <a:off x="109502" y="6284534"/>
            <a:ext cx="201619" cy="365125"/>
          </a:xfrm>
        </p:spPr>
        <p:txBody>
          <a:bodyPr/>
          <a:lstStyle/>
          <a:p>
            <a:fld id="{3CBD822F-ED39-4FC2-B5B5-D2EAB6238DC3}" type="slidenum">
              <a:rPr lang="en-CA" noProof="0" smtClean="0">
                <a:latin typeface="+mn-lt"/>
              </a:rPr>
              <a:pPr/>
              <a:t>13</a:t>
            </a:fld>
            <a:endParaRPr lang="en-CA" noProof="0">
              <a:latin typeface="+mn-lt"/>
            </a:endParaRPr>
          </a:p>
        </p:txBody>
      </p:sp>
      <p:cxnSp>
        <p:nvCxnSpPr>
          <p:cNvPr id="6" name="Connector: Elbow 5">
            <a:extLst>
              <a:ext uri="{FF2B5EF4-FFF2-40B4-BE49-F238E27FC236}">
                <a16:creationId xmlns:a16="http://schemas.microsoft.com/office/drawing/2014/main" id="{408329F1-29E0-C122-39CB-34E636E6FBFE}"/>
              </a:ext>
            </a:extLst>
          </p:cNvPr>
          <p:cNvCxnSpPr>
            <a:cxnSpLocks/>
            <a:endCxn id="4147" idx="1"/>
          </p:cNvCxnSpPr>
          <p:nvPr/>
        </p:nvCxnSpPr>
        <p:spPr>
          <a:xfrm flipV="1">
            <a:off x="3204389" y="4863484"/>
            <a:ext cx="691726" cy="682712"/>
          </a:xfrm>
          <a:prstGeom prst="bentConnector3">
            <a:avLst>
              <a:gd name="adj1" fmla="val 27968"/>
            </a:avLst>
          </a:prstGeom>
          <a:ln w="28575">
            <a:solidFill>
              <a:schemeClr val="accent6">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E6063A4-C38E-BBBA-9747-E6583024A05D}"/>
              </a:ext>
            </a:extLst>
          </p:cNvPr>
          <p:cNvPicPr>
            <a:picLocks noChangeAspect="1"/>
          </p:cNvPicPr>
          <p:nvPr/>
        </p:nvPicPr>
        <p:blipFill>
          <a:blip r:embed="rId6"/>
          <a:stretch>
            <a:fillRect/>
          </a:stretch>
        </p:blipFill>
        <p:spPr>
          <a:xfrm>
            <a:off x="3742403" y="5864517"/>
            <a:ext cx="228502" cy="216000"/>
          </a:xfrm>
          <a:prstGeom prst="rect">
            <a:avLst/>
          </a:prstGeom>
        </p:spPr>
      </p:pic>
      <p:pic>
        <p:nvPicPr>
          <p:cNvPr id="15" name="Picture 14">
            <a:extLst>
              <a:ext uri="{FF2B5EF4-FFF2-40B4-BE49-F238E27FC236}">
                <a16:creationId xmlns:a16="http://schemas.microsoft.com/office/drawing/2014/main" id="{12F7D558-724C-FAB8-8DB7-69225AE3A3ED}"/>
              </a:ext>
            </a:extLst>
          </p:cNvPr>
          <p:cNvPicPr>
            <a:picLocks noChangeAspect="1"/>
          </p:cNvPicPr>
          <p:nvPr/>
        </p:nvPicPr>
        <p:blipFill>
          <a:blip r:embed="rId7"/>
          <a:stretch>
            <a:fillRect/>
          </a:stretch>
        </p:blipFill>
        <p:spPr>
          <a:xfrm>
            <a:off x="8327311" y="5857879"/>
            <a:ext cx="235727" cy="216001"/>
          </a:xfrm>
          <a:prstGeom prst="rect">
            <a:avLst/>
          </a:prstGeom>
        </p:spPr>
      </p:pic>
      <p:sp>
        <p:nvSpPr>
          <p:cNvPr id="4" name="TextBox 3">
            <a:extLst>
              <a:ext uri="{FF2B5EF4-FFF2-40B4-BE49-F238E27FC236}">
                <a16:creationId xmlns:a16="http://schemas.microsoft.com/office/drawing/2014/main" id="{A4E143EB-5280-44A6-C72B-5CFC18CAB093}"/>
              </a:ext>
            </a:extLst>
          </p:cNvPr>
          <p:cNvSpPr txBox="1"/>
          <p:nvPr/>
        </p:nvSpPr>
        <p:spPr>
          <a:xfrm>
            <a:off x="3307738" y="6039361"/>
            <a:ext cx="1086296"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noProof="0">
                <a:solidFill>
                  <a:schemeClr val="bg2">
                    <a:lumMod val="10000"/>
                  </a:schemeClr>
                </a:solidFill>
              </a:rPr>
              <a:t>SharePoint</a:t>
            </a:r>
          </a:p>
        </p:txBody>
      </p:sp>
      <p:sp>
        <p:nvSpPr>
          <p:cNvPr id="8" name="TextBox 7">
            <a:extLst>
              <a:ext uri="{FF2B5EF4-FFF2-40B4-BE49-F238E27FC236}">
                <a16:creationId xmlns:a16="http://schemas.microsoft.com/office/drawing/2014/main" id="{701FB4C1-1EE3-40F4-58DB-21F690B85F8F}"/>
              </a:ext>
            </a:extLst>
          </p:cNvPr>
          <p:cNvSpPr txBox="1"/>
          <p:nvPr/>
        </p:nvSpPr>
        <p:spPr>
          <a:xfrm>
            <a:off x="7902389" y="6025030"/>
            <a:ext cx="1086296"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050" noProof="0">
                <a:solidFill>
                  <a:schemeClr val="bg2">
                    <a:lumMod val="10000"/>
                  </a:schemeClr>
                </a:solidFill>
              </a:rPr>
              <a:t>Copilot</a:t>
            </a:r>
          </a:p>
        </p:txBody>
      </p:sp>
      <p:sp>
        <p:nvSpPr>
          <p:cNvPr id="16" name="TextBox 15">
            <a:extLst>
              <a:ext uri="{FF2B5EF4-FFF2-40B4-BE49-F238E27FC236}">
                <a16:creationId xmlns:a16="http://schemas.microsoft.com/office/drawing/2014/main" id="{58DC6B80-03B6-2B8B-0A94-7E77656F3C96}"/>
              </a:ext>
            </a:extLst>
          </p:cNvPr>
          <p:cNvSpPr txBox="1"/>
          <p:nvPr/>
        </p:nvSpPr>
        <p:spPr>
          <a:xfrm>
            <a:off x="3148239" y="924805"/>
            <a:ext cx="6106884" cy="2616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006565"/>
                </a:solidFill>
                <a:effectLst/>
                <a:uLnTx/>
                <a:uFillTx/>
                <a:latin typeface="Arial" panose="020B0604020202020204"/>
                <a:ea typeface="+mn-ea"/>
                <a:cs typeface="+mn-cs"/>
              </a:rPr>
              <a:t>Illustrative example</a:t>
            </a:r>
          </a:p>
        </p:txBody>
      </p:sp>
      <p:cxnSp>
        <p:nvCxnSpPr>
          <p:cNvPr id="19" name="Connector: Elbow 18">
            <a:extLst>
              <a:ext uri="{FF2B5EF4-FFF2-40B4-BE49-F238E27FC236}">
                <a16:creationId xmlns:a16="http://schemas.microsoft.com/office/drawing/2014/main" id="{1B41E86F-A621-4BBF-ABA5-224F8928F003}"/>
              </a:ext>
            </a:extLst>
          </p:cNvPr>
          <p:cNvCxnSpPr>
            <a:cxnSpLocks/>
            <a:stCxn id="7" idx="3"/>
            <a:endCxn id="239" idx="1"/>
          </p:cNvCxnSpPr>
          <p:nvPr/>
        </p:nvCxnSpPr>
        <p:spPr>
          <a:xfrm>
            <a:off x="3213863" y="2146585"/>
            <a:ext cx="667042" cy="871710"/>
          </a:xfrm>
          <a:prstGeom prst="bentConnector3">
            <a:avLst>
              <a:gd name="adj1" fmla="val 21213"/>
            </a:avLst>
          </a:prstGeom>
          <a:ln w="28575">
            <a:solidFill>
              <a:srgbClr val="A100FF"/>
            </a:solidFill>
            <a:tailEnd type="arrow"/>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a16="http://schemas.microsoft.com/office/drawing/2014/main" id="{018418E6-41A8-2D1A-1B40-D3602C8191BE}"/>
              </a:ext>
            </a:extLst>
          </p:cNvPr>
          <p:cNvPicPr>
            <a:picLocks noChangeAspect="1"/>
          </p:cNvPicPr>
          <p:nvPr/>
        </p:nvPicPr>
        <p:blipFill>
          <a:blip r:embed="rId8"/>
          <a:stretch>
            <a:fillRect/>
          </a:stretch>
        </p:blipFill>
        <p:spPr>
          <a:xfrm>
            <a:off x="7870630" y="2924288"/>
            <a:ext cx="157611" cy="221018"/>
          </a:xfrm>
          <a:prstGeom prst="rect">
            <a:avLst/>
          </a:prstGeom>
        </p:spPr>
      </p:pic>
      <p:pic>
        <p:nvPicPr>
          <p:cNvPr id="35" name="Picture 6">
            <a:extLst>
              <a:ext uri="{FF2B5EF4-FFF2-40B4-BE49-F238E27FC236}">
                <a16:creationId xmlns:a16="http://schemas.microsoft.com/office/drawing/2014/main" id="{B5DB3880-08A0-7106-9E1D-B0A3A31198B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98031" y="1557848"/>
            <a:ext cx="302809" cy="246868"/>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32C00F38-D3D1-81E2-33F2-63D563F5CBE3}"/>
              </a:ext>
            </a:extLst>
          </p:cNvPr>
          <p:cNvSpPr txBox="1"/>
          <p:nvPr/>
        </p:nvSpPr>
        <p:spPr>
          <a:xfrm>
            <a:off x="7518087" y="3106542"/>
            <a:ext cx="862696"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700" err="1">
                <a:solidFill>
                  <a:schemeClr val="bg2">
                    <a:lumMod val="10000"/>
                  </a:schemeClr>
                </a:solidFill>
              </a:rPr>
              <a:t>Lakebase</a:t>
            </a:r>
            <a:r>
              <a:rPr lang="en-CA" sz="700">
                <a:solidFill>
                  <a:schemeClr val="bg2">
                    <a:lumMod val="10000"/>
                  </a:schemeClr>
                </a:solidFill>
              </a:rPr>
              <a:t> (</a:t>
            </a:r>
            <a:r>
              <a:rPr lang="en-CA" sz="700" err="1">
                <a:solidFill>
                  <a:schemeClr val="bg2">
                    <a:lumMod val="10000"/>
                  </a:schemeClr>
                </a:solidFill>
              </a:rPr>
              <a:t>postgres</a:t>
            </a:r>
            <a:r>
              <a:rPr lang="en-CA" sz="700">
                <a:solidFill>
                  <a:schemeClr val="bg2">
                    <a:lumMod val="10000"/>
                  </a:schemeClr>
                </a:solidFill>
              </a:rPr>
              <a:t>)</a:t>
            </a:r>
            <a:endParaRPr lang="en-CA" sz="700" noProof="0">
              <a:solidFill>
                <a:schemeClr val="bg2">
                  <a:lumMod val="10000"/>
                </a:schemeClr>
              </a:solidFill>
            </a:endParaRPr>
          </a:p>
        </p:txBody>
      </p:sp>
      <p:pic>
        <p:nvPicPr>
          <p:cNvPr id="39" name="Picture 38">
            <a:extLst>
              <a:ext uri="{FF2B5EF4-FFF2-40B4-BE49-F238E27FC236}">
                <a16:creationId xmlns:a16="http://schemas.microsoft.com/office/drawing/2014/main" id="{DEB46F1E-FCCB-AFF6-FCAA-FDED00D80B85}"/>
              </a:ext>
            </a:extLst>
          </p:cNvPr>
          <p:cNvPicPr>
            <a:picLocks noChangeAspect="1"/>
          </p:cNvPicPr>
          <p:nvPr/>
        </p:nvPicPr>
        <p:blipFill>
          <a:blip r:embed="rId10"/>
          <a:stretch>
            <a:fillRect/>
          </a:stretch>
        </p:blipFill>
        <p:spPr>
          <a:xfrm>
            <a:off x="7822838" y="3595142"/>
            <a:ext cx="274320" cy="274320"/>
          </a:xfrm>
          <a:prstGeom prst="rect">
            <a:avLst/>
          </a:prstGeom>
        </p:spPr>
      </p:pic>
      <p:sp>
        <p:nvSpPr>
          <p:cNvPr id="40" name="TextBox 39">
            <a:extLst>
              <a:ext uri="{FF2B5EF4-FFF2-40B4-BE49-F238E27FC236}">
                <a16:creationId xmlns:a16="http://schemas.microsoft.com/office/drawing/2014/main" id="{D41B2E60-7B59-F017-6F65-6AA44144E5DA}"/>
              </a:ext>
            </a:extLst>
          </p:cNvPr>
          <p:cNvSpPr txBox="1"/>
          <p:nvPr/>
        </p:nvSpPr>
        <p:spPr>
          <a:xfrm>
            <a:off x="7866391" y="3824458"/>
            <a:ext cx="180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SQL</a:t>
            </a:r>
          </a:p>
        </p:txBody>
      </p:sp>
      <p:sp>
        <p:nvSpPr>
          <p:cNvPr id="41" name="Star: 5 Points 40">
            <a:extLst>
              <a:ext uri="{FF2B5EF4-FFF2-40B4-BE49-F238E27FC236}">
                <a16:creationId xmlns:a16="http://schemas.microsoft.com/office/drawing/2014/main" id="{7A2F86BF-6481-5495-FCD6-93E035AAA6F5}"/>
              </a:ext>
            </a:extLst>
          </p:cNvPr>
          <p:cNvSpPr/>
          <p:nvPr/>
        </p:nvSpPr>
        <p:spPr>
          <a:xfrm>
            <a:off x="8042408" y="1387163"/>
            <a:ext cx="182880" cy="182880"/>
          </a:xfrm>
          <a:prstGeom prst="star5">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US" sz="1200" noProof="0"/>
          </a:p>
        </p:txBody>
      </p:sp>
      <p:sp>
        <p:nvSpPr>
          <p:cNvPr id="43" name="Star: 5 Points 42">
            <a:extLst>
              <a:ext uri="{FF2B5EF4-FFF2-40B4-BE49-F238E27FC236}">
                <a16:creationId xmlns:a16="http://schemas.microsoft.com/office/drawing/2014/main" id="{B9F78E86-D833-AD28-CF7C-1A76C4F09A34}"/>
              </a:ext>
            </a:extLst>
          </p:cNvPr>
          <p:cNvSpPr/>
          <p:nvPr/>
        </p:nvSpPr>
        <p:spPr>
          <a:xfrm>
            <a:off x="8042408" y="3566295"/>
            <a:ext cx="182880" cy="182880"/>
          </a:xfrm>
          <a:prstGeom prst="star5">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US" sz="1200" noProof="0"/>
          </a:p>
        </p:txBody>
      </p:sp>
      <p:sp>
        <p:nvSpPr>
          <p:cNvPr id="44" name="Star: 5 Points 43">
            <a:extLst>
              <a:ext uri="{FF2B5EF4-FFF2-40B4-BE49-F238E27FC236}">
                <a16:creationId xmlns:a16="http://schemas.microsoft.com/office/drawing/2014/main" id="{DACA588E-4C9C-D7C6-64CD-38A3D8EB23C0}"/>
              </a:ext>
            </a:extLst>
          </p:cNvPr>
          <p:cNvSpPr/>
          <p:nvPr/>
        </p:nvSpPr>
        <p:spPr>
          <a:xfrm>
            <a:off x="8034390" y="2961966"/>
            <a:ext cx="182880" cy="182880"/>
          </a:xfrm>
          <a:prstGeom prst="star5">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US" sz="1200" noProof="0"/>
          </a:p>
        </p:txBody>
      </p:sp>
      <p:sp>
        <p:nvSpPr>
          <p:cNvPr id="45" name="Star: 5 Points 44">
            <a:extLst>
              <a:ext uri="{FF2B5EF4-FFF2-40B4-BE49-F238E27FC236}">
                <a16:creationId xmlns:a16="http://schemas.microsoft.com/office/drawing/2014/main" id="{706E6B8B-43B8-3F40-ADA0-BFF461393118}"/>
              </a:ext>
            </a:extLst>
          </p:cNvPr>
          <p:cNvSpPr/>
          <p:nvPr/>
        </p:nvSpPr>
        <p:spPr>
          <a:xfrm>
            <a:off x="436802" y="6463676"/>
            <a:ext cx="182880" cy="182880"/>
          </a:xfrm>
          <a:prstGeom prst="star5">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US" sz="1200" noProof="0"/>
          </a:p>
        </p:txBody>
      </p:sp>
      <p:sp>
        <p:nvSpPr>
          <p:cNvPr id="46" name="TextBox 45">
            <a:extLst>
              <a:ext uri="{FF2B5EF4-FFF2-40B4-BE49-F238E27FC236}">
                <a16:creationId xmlns:a16="http://schemas.microsoft.com/office/drawing/2014/main" id="{A0409038-68FD-E4B8-9AAF-B96A24D2BD49}"/>
              </a:ext>
            </a:extLst>
          </p:cNvPr>
          <p:cNvSpPr txBox="1"/>
          <p:nvPr/>
        </p:nvSpPr>
        <p:spPr>
          <a:xfrm>
            <a:off x="613445" y="6453857"/>
            <a:ext cx="2600418"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US" sz="1000">
                <a:solidFill>
                  <a:schemeClr val="bg2">
                    <a:lumMod val="10000"/>
                  </a:schemeClr>
                </a:solidFill>
              </a:rPr>
              <a:t>Persistent storage layer</a:t>
            </a:r>
          </a:p>
        </p:txBody>
      </p:sp>
      <p:sp>
        <p:nvSpPr>
          <p:cNvPr id="52" name="Rectangle 51">
            <a:extLst>
              <a:ext uri="{FF2B5EF4-FFF2-40B4-BE49-F238E27FC236}">
                <a16:creationId xmlns:a16="http://schemas.microsoft.com/office/drawing/2014/main" id="{DFAF24A7-75D9-D60C-5758-5AD06987F6A0}"/>
              </a:ext>
            </a:extLst>
          </p:cNvPr>
          <p:cNvSpPr/>
          <p:nvPr/>
        </p:nvSpPr>
        <p:spPr>
          <a:xfrm>
            <a:off x="7639055" y="2844543"/>
            <a:ext cx="640080" cy="548640"/>
          </a:xfrm>
          <a:prstGeom prst="rect">
            <a:avLst/>
          </a:prstGeom>
          <a:noFill/>
          <a:ln w="952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US" sz="1200" noProof="0"/>
          </a:p>
        </p:txBody>
      </p:sp>
      <p:pic>
        <p:nvPicPr>
          <p:cNvPr id="4133" name="Picture 4132">
            <a:extLst>
              <a:ext uri="{FF2B5EF4-FFF2-40B4-BE49-F238E27FC236}">
                <a16:creationId xmlns:a16="http://schemas.microsoft.com/office/drawing/2014/main" id="{554B81A1-7D7B-8496-B3F0-014AC053A0B2}"/>
              </a:ext>
            </a:extLst>
          </p:cNvPr>
          <p:cNvPicPr>
            <a:picLocks noChangeAspect="1"/>
          </p:cNvPicPr>
          <p:nvPr/>
        </p:nvPicPr>
        <p:blipFill>
          <a:blip r:embed="rId11">
            <a:extLst>
              <a:ext uri="{28A0092B-C50C-407E-A947-70E740481C1C}">
                <a14:useLocalDpi xmlns:a14="http://schemas.microsoft.com/office/drawing/2010/main" val="0"/>
              </a:ext>
            </a:extLst>
          </a:blip>
          <a:srcRect l="34247" r="36071" b="42543"/>
          <a:stretch>
            <a:fillRect/>
          </a:stretch>
        </p:blipFill>
        <p:spPr>
          <a:xfrm>
            <a:off x="7513055" y="2561095"/>
            <a:ext cx="252000" cy="271835"/>
          </a:xfrm>
          <a:prstGeom prst="rect">
            <a:avLst/>
          </a:prstGeom>
        </p:spPr>
      </p:pic>
      <p:sp>
        <p:nvSpPr>
          <p:cNvPr id="58" name="Rectangle 57">
            <a:extLst>
              <a:ext uri="{FF2B5EF4-FFF2-40B4-BE49-F238E27FC236}">
                <a16:creationId xmlns:a16="http://schemas.microsoft.com/office/drawing/2014/main" id="{FD46551A-A650-8C96-5DA8-8AA6335F9807}"/>
              </a:ext>
            </a:extLst>
          </p:cNvPr>
          <p:cNvSpPr/>
          <p:nvPr/>
        </p:nvSpPr>
        <p:spPr>
          <a:xfrm>
            <a:off x="7650389" y="1343201"/>
            <a:ext cx="648000" cy="548640"/>
          </a:xfrm>
          <a:prstGeom prst="rect">
            <a:avLst/>
          </a:prstGeom>
          <a:noFill/>
          <a:ln w="952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US" sz="1200" noProof="0"/>
          </a:p>
        </p:txBody>
      </p:sp>
      <p:pic>
        <p:nvPicPr>
          <p:cNvPr id="59" name="Picture 58">
            <a:extLst>
              <a:ext uri="{FF2B5EF4-FFF2-40B4-BE49-F238E27FC236}">
                <a16:creationId xmlns:a16="http://schemas.microsoft.com/office/drawing/2014/main" id="{3761EE53-33C0-64F6-2F01-2D3EF2F26236}"/>
              </a:ext>
            </a:extLst>
          </p:cNvPr>
          <p:cNvPicPr>
            <a:picLocks noChangeAspect="1"/>
          </p:cNvPicPr>
          <p:nvPr/>
        </p:nvPicPr>
        <p:blipFill>
          <a:blip r:embed="rId11">
            <a:extLst>
              <a:ext uri="{28A0092B-C50C-407E-A947-70E740481C1C}">
                <a14:useLocalDpi xmlns:a14="http://schemas.microsoft.com/office/drawing/2010/main" val="0"/>
              </a:ext>
            </a:extLst>
          </a:blip>
          <a:srcRect l="34247" r="36071" b="42543"/>
          <a:stretch>
            <a:fillRect/>
          </a:stretch>
        </p:blipFill>
        <p:spPr>
          <a:xfrm>
            <a:off x="7536176" y="1075379"/>
            <a:ext cx="252000" cy="271835"/>
          </a:xfrm>
          <a:prstGeom prst="rect">
            <a:avLst/>
          </a:prstGeom>
        </p:spPr>
      </p:pic>
    </p:spTree>
    <p:extLst>
      <p:ext uri="{BB962C8B-B14F-4D97-AF65-F5344CB8AC3E}">
        <p14:creationId xmlns:p14="http://schemas.microsoft.com/office/powerpoint/2010/main" val="3430379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78C8-C064-A37B-E64E-7DABCEB57C6A}"/>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CD4E4F30-0D09-5211-BA1D-DE00D49598FF}"/>
              </a:ext>
            </a:extLst>
          </p:cNvPr>
          <p:cNvSpPr/>
          <p:nvPr/>
        </p:nvSpPr>
        <p:spPr>
          <a:xfrm>
            <a:off x="10679341" y="2021271"/>
            <a:ext cx="689355" cy="3132000"/>
          </a:xfrm>
          <a:prstGeom prst="rect">
            <a:avLst/>
          </a:prstGeom>
          <a:solidFill>
            <a:schemeClr val="bg2">
              <a:lumMod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53" name="Rectangle 52">
            <a:extLst>
              <a:ext uri="{FF2B5EF4-FFF2-40B4-BE49-F238E27FC236}">
                <a16:creationId xmlns:a16="http://schemas.microsoft.com/office/drawing/2014/main" id="{B2113B7A-9A30-8287-FCEC-F9F7CE829166}"/>
              </a:ext>
            </a:extLst>
          </p:cNvPr>
          <p:cNvSpPr/>
          <p:nvPr/>
        </p:nvSpPr>
        <p:spPr>
          <a:xfrm>
            <a:off x="7620966" y="1733269"/>
            <a:ext cx="791935" cy="3888000"/>
          </a:xfrm>
          <a:prstGeom prst="rect">
            <a:avLst/>
          </a:prstGeom>
          <a:solidFill>
            <a:schemeClr val="bg2">
              <a:lumMod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44" name="Rectangle 43">
            <a:extLst>
              <a:ext uri="{FF2B5EF4-FFF2-40B4-BE49-F238E27FC236}">
                <a16:creationId xmlns:a16="http://schemas.microsoft.com/office/drawing/2014/main" id="{43F006D0-3C67-9226-EC5B-4393A92942D6}"/>
              </a:ext>
            </a:extLst>
          </p:cNvPr>
          <p:cNvSpPr/>
          <p:nvPr/>
        </p:nvSpPr>
        <p:spPr>
          <a:xfrm>
            <a:off x="5305689" y="2021269"/>
            <a:ext cx="737210" cy="3600000"/>
          </a:xfrm>
          <a:prstGeom prst="rect">
            <a:avLst/>
          </a:prstGeom>
          <a:solidFill>
            <a:schemeClr val="bg2">
              <a:lumMod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43" name="Rectangle 42">
            <a:extLst>
              <a:ext uri="{FF2B5EF4-FFF2-40B4-BE49-F238E27FC236}">
                <a16:creationId xmlns:a16="http://schemas.microsoft.com/office/drawing/2014/main" id="{0FE8505B-683D-0104-A2CB-14DE72032454}"/>
              </a:ext>
            </a:extLst>
          </p:cNvPr>
          <p:cNvSpPr/>
          <p:nvPr/>
        </p:nvSpPr>
        <p:spPr>
          <a:xfrm>
            <a:off x="2720866" y="2021272"/>
            <a:ext cx="540000" cy="3600000"/>
          </a:xfrm>
          <a:prstGeom prst="rect">
            <a:avLst/>
          </a:prstGeom>
          <a:solidFill>
            <a:schemeClr val="bg2">
              <a:lumMod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41" name="Rectangle 40">
            <a:extLst>
              <a:ext uri="{FF2B5EF4-FFF2-40B4-BE49-F238E27FC236}">
                <a16:creationId xmlns:a16="http://schemas.microsoft.com/office/drawing/2014/main" id="{45CA8B04-48A9-1C14-969C-3992E47544C9}"/>
              </a:ext>
            </a:extLst>
          </p:cNvPr>
          <p:cNvSpPr/>
          <p:nvPr/>
        </p:nvSpPr>
        <p:spPr>
          <a:xfrm>
            <a:off x="9866855" y="5153271"/>
            <a:ext cx="2232000" cy="468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40" name="Rectangle 39">
            <a:extLst>
              <a:ext uri="{FF2B5EF4-FFF2-40B4-BE49-F238E27FC236}">
                <a16:creationId xmlns:a16="http://schemas.microsoft.com/office/drawing/2014/main" id="{1B1F071A-2F40-1305-4F54-881287962C1B}"/>
              </a:ext>
            </a:extLst>
          </p:cNvPr>
          <p:cNvSpPr/>
          <p:nvPr/>
        </p:nvSpPr>
        <p:spPr>
          <a:xfrm>
            <a:off x="6806906" y="5621269"/>
            <a:ext cx="2736000" cy="468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36" name="Rectangle 35">
            <a:extLst>
              <a:ext uri="{FF2B5EF4-FFF2-40B4-BE49-F238E27FC236}">
                <a16:creationId xmlns:a16="http://schemas.microsoft.com/office/drawing/2014/main" id="{62989267-5F3E-B84F-D94D-4DF11A9E7338}"/>
              </a:ext>
            </a:extLst>
          </p:cNvPr>
          <p:cNvSpPr/>
          <p:nvPr/>
        </p:nvSpPr>
        <p:spPr>
          <a:xfrm>
            <a:off x="4514522" y="5621269"/>
            <a:ext cx="2195197" cy="468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25" name="Rectangle 24">
            <a:extLst>
              <a:ext uri="{FF2B5EF4-FFF2-40B4-BE49-F238E27FC236}">
                <a16:creationId xmlns:a16="http://schemas.microsoft.com/office/drawing/2014/main" id="{08CEC449-520A-8575-9323-5609C32991CD}"/>
              </a:ext>
            </a:extLst>
          </p:cNvPr>
          <p:cNvSpPr/>
          <p:nvPr/>
        </p:nvSpPr>
        <p:spPr>
          <a:xfrm>
            <a:off x="1917299" y="5621272"/>
            <a:ext cx="2484000" cy="468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2" name="Title 1">
            <a:extLst>
              <a:ext uri="{FF2B5EF4-FFF2-40B4-BE49-F238E27FC236}">
                <a16:creationId xmlns:a16="http://schemas.microsoft.com/office/drawing/2014/main" id="{3226BF8B-510D-D6E9-1E40-7B3263571354}"/>
              </a:ext>
            </a:extLst>
          </p:cNvPr>
          <p:cNvSpPr>
            <a:spLocks noGrp="1"/>
          </p:cNvSpPr>
          <p:nvPr>
            <p:ph type="title"/>
          </p:nvPr>
        </p:nvSpPr>
        <p:spPr>
          <a:xfrm>
            <a:off x="210312" y="120782"/>
            <a:ext cx="11412000" cy="349702"/>
          </a:xfrm>
        </p:spPr>
        <p:txBody>
          <a:bodyPr/>
          <a:lstStyle/>
          <a:p>
            <a:r>
              <a:rPr lang="en-CA" sz="2000" b="1" noProof="0">
                <a:latin typeface="+mj-lt"/>
              </a:rPr>
              <a:t>2.2 </a:t>
            </a:r>
            <a:r>
              <a:rPr lang="en-CA" sz="2000" b="1" kern="100" noProof="0">
                <a:latin typeface="+mj-lt"/>
              </a:rPr>
              <a:t>Multi‑Cloud Architecture Blueprint</a:t>
            </a:r>
            <a:endParaRPr lang="en-CA" sz="2000" b="1" noProof="0">
              <a:latin typeface="+mj-lt"/>
            </a:endParaRPr>
          </a:p>
        </p:txBody>
      </p:sp>
      <p:sp>
        <p:nvSpPr>
          <p:cNvPr id="4" name="Text Placeholder 3">
            <a:extLst>
              <a:ext uri="{FF2B5EF4-FFF2-40B4-BE49-F238E27FC236}">
                <a16:creationId xmlns:a16="http://schemas.microsoft.com/office/drawing/2014/main" id="{053E2290-3033-991E-EF12-809CDA23F0D9}"/>
              </a:ext>
            </a:extLst>
          </p:cNvPr>
          <p:cNvSpPr>
            <a:spLocks noGrp="1"/>
          </p:cNvSpPr>
          <p:nvPr>
            <p:ph type="body" sz="quarter" idx="13"/>
          </p:nvPr>
        </p:nvSpPr>
        <p:spPr>
          <a:xfrm>
            <a:off x="210312" y="489262"/>
            <a:ext cx="11412000" cy="411257"/>
          </a:xfrm>
        </p:spPr>
        <p:txBody>
          <a:bodyPr/>
          <a:lstStyle/>
          <a:p>
            <a:r>
              <a:rPr lang="en-CA" sz="1100" b="1" noProof="0">
                <a:latin typeface="+mn-lt"/>
              </a:rPr>
              <a:t>Platform NORTH is Azure-first by design</a:t>
            </a:r>
            <a:r>
              <a:rPr lang="en-CA" sz="1100" noProof="0">
                <a:latin typeface="+mn-lt"/>
              </a:rPr>
              <a:t>. The majority of the platform — ingestion, storage, analytics, and governance — runs on Azure. Select workloads run on AWS and GCP. The multi-cloud architecture is chosen for four reasons: resiliency, latency, performance, and specific functionality available in a particular cloud.</a:t>
            </a:r>
          </a:p>
        </p:txBody>
      </p:sp>
      <p:cxnSp>
        <p:nvCxnSpPr>
          <p:cNvPr id="252" name="Straight Arrow Connector 251">
            <a:extLst>
              <a:ext uri="{FF2B5EF4-FFF2-40B4-BE49-F238E27FC236}">
                <a16:creationId xmlns:a16="http://schemas.microsoft.com/office/drawing/2014/main" id="{D9B5D874-8157-EC7B-CF15-5769A1CC07B0}"/>
              </a:ext>
            </a:extLst>
          </p:cNvPr>
          <p:cNvCxnSpPr>
            <a:cxnSpLocks/>
          </p:cNvCxnSpPr>
          <p:nvPr/>
        </p:nvCxnSpPr>
        <p:spPr>
          <a:xfrm>
            <a:off x="1575290" y="3569271"/>
            <a:ext cx="328810" cy="1"/>
          </a:xfrm>
          <a:prstGeom prst="straightConnector1">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83" name="Straight Arrow Connector 1082">
            <a:extLst>
              <a:ext uri="{FF2B5EF4-FFF2-40B4-BE49-F238E27FC236}">
                <a16:creationId xmlns:a16="http://schemas.microsoft.com/office/drawing/2014/main" id="{349DEA4D-7FF2-DFCE-6F39-157C8DD3666C}"/>
              </a:ext>
            </a:extLst>
          </p:cNvPr>
          <p:cNvCxnSpPr>
            <a:cxnSpLocks/>
            <a:endCxn id="297" idx="1"/>
          </p:cNvCxnSpPr>
          <p:nvPr/>
        </p:nvCxnSpPr>
        <p:spPr>
          <a:xfrm flipV="1">
            <a:off x="9542906" y="3569271"/>
            <a:ext cx="323949" cy="1"/>
          </a:xfrm>
          <a:prstGeom prst="straightConnector1">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177" name="Rounded Rectangle 129">
            <a:extLst>
              <a:ext uri="{FF2B5EF4-FFF2-40B4-BE49-F238E27FC236}">
                <a16:creationId xmlns:a16="http://schemas.microsoft.com/office/drawing/2014/main" id="{C8888B9B-6C12-6A91-BFC5-5AB857EB7E63}"/>
              </a:ext>
            </a:extLst>
          </p:cNvPr>
          <p:cNvSpPr/>
          <p:nvPr/>
        </p:nvSpPr>
        <p:spPr>
          <a:xfrm>
            <a:off x="1875544" y="1167567"/>
            <a:ext cx="7704000" cy="4968000"/>
          </a:xfrm>
          <a:prstGeom prst="rect">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600" b="1" i="0" u="none" strike="noStrike" kern="1200" cap="none" spc="0" normalizeH="0" baseline="0" noProof="0">
                <a:ln>
                  <a:noFill/>
                </a:ln>
                <a:solidFill>
                  <a:schemeClr val="bg2">
                    <a:lumMod val="10000"/>
                  </a:schemeClr>
                </a:solidFill>
                <a:effectLst/>
                <a:uLnTx/>
                <a:uFillTx/>
              </a:rPr>
              <a:t>NORTH</a:t>
            </a:r>
            <a:r>
              <a:rPr kumimoji="0" lang="en-CA" sz="1400" b="1" i="0" u="none" strike="noStrike" kern="1200" cap="none" spc="0" normalizeH="0" baseline="0" noProof="0">
                <a:ln>
                  <a:noFill/>
                </a:ln>
                <a:solidFill>
                  <a:schemeClr val="bg2">
                    <a:lumMod val="10000"/>
                  </a:schemeClr>
                </a:solidFill>
                <a:effectLst/>
                <a:uLnTx/>
                <a:uFillTx/>
              </a:rPr>
              <a:t> </a:t>
            </a:r>
            <a:r>
              <a:rPr lang="en-CA" sz="1600" b="1" noProof="0">
                <a:solidFill>
                  <a:schemeClr val="bg2">
                    <a:lumMod val="10000"/>
                  </a:schemeClr>
                </a:solidFill>
              </a:rPr>
              <a:t>Platform</a:t>
            </a:r>
            <a:endParaRPr kumimoji="0" lang="en-CA" sz="1400" b="1" i="0" u="none" strike="noStrike" kern="1200" cap="none" spc="0" normalizeH="0" baseline="0" noProof="0">
              <a:ln>
                <a:noFill/>
              </a:ln>
              <a:solidFill>
                <a:schemeClr val="bg2">
                  <a:lumMod val="10000"/>
                </a:schemeClr>
              </a:solidFill>
              <a:effectLst/>
              <a:uLnTx/>
              <a:uFillTx/>
            </a:endParaRPr>
          </a:p>
        </p:txBody>
      </p:sp>
      <p:sp>
        <p:nvSpPr>
          <p:cNvPr id="39" name="Rounded Rectangle 12">
            <a:extLst>
              <a:ext uri="{FF2B5EF4-FFF2-40B4-BE49-F238E27FC236}">
                <a16:creationId xmlns:a16="http://schemas.microsoft.com/office/drawing/2014/main" id="{2A754367-A780-929E-13C0-FA2F0D1F1458}"/>
              </a:ext>
            </a:extLst>
          </p:cNvPr>
          <p:cNvSpPr/>
          <p:nvPr/>
        </p:nvSpPr>
        <p:spPr>
          <a:xfrm>
            <a:off x="1917299" y="1517272"/>
            <a:ext cx="2484000" cy="4572000"/>
          </a:xfrm>
          <a:prstGeom prst="rect">
            <a:avLst/>
          </a:prstGeom>
          <a:noFill/>
          <a:ln>
            <a:solidFill>
              <a:schemeClr val="bg2">
                <a:lumMod val="10000"/>
              </a:schemeClr>
            </a:solidFill>
          </a:ln>
        </p:spPr>
        <p:style>
          <a:lnRef idx="2">
            <a:schemeClr val="accent2"/>
          </a:lnRef>
          <a:fillRef idx="1">
            <a:schemeClr val="lt1"/>
          </a:fillRef>
          <a:effectRef idx="0">
            <a:schemeClr val="accent2"/>
          </a:effectRef>
          <a:fontRef idx="minor">
            <a:schemeClr val="dk1"/>
          </a:fontRef>
        </p:style>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bg2">
                    <a:lumMod val="10000"/>
                  </a:schemeClr>
                </a:solidFill>
                <a:effectLst/>
                <a:uLnTx/>
                <a:uFillTx/>
              </a:rPr>
              <a:t>Data Integration</a:t>
            </a:r>
            <a:endParaRPr kumimoji="0" lang="en-CA" sz="900" b="0" i="0" u="none" strike="noStrike" kern="0" cap="none" spc="0" normalizeH="0" baseline="0" noProof="0">
              <a:ln>
                <a:noFill/>
              </a:ln>
              <a:solidFill>
                <a:schemeClr val="bg2">
                  <a:lumMod val="10000"/>
                </a:schemeClr>
              </a:solidFill>
              <a:effectLst/>
              <a:uLnTx/>
              <a:uFillTx/>
            </a:endParaRPr>
          </a:p>
        </p:txBody>
      </p:sp>
      <p:pic>
        <p:nvPicPr>
          <p:cNvPr id="15" name="Picture 18" descr="What is AWS and how to get certified? | by Elena O | Towards AWS">
            <a:extLst>
              <a:ext uri="{FF2B5EF4-FFF2-40B4-BE49-F238E27FC236}">
                <a16:creationId xmlns:a16="http://schemas.microsoft.com/office/drawing/2014/main" id="{C83230FD-6CA9-2DBA-10B9-82B009DDA2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556" t="14496" r="8291" b="15058"/>
          <a:stretch>
            <a:fillRect/>
          </a:stretch>
        </p:blipFill>
        <p:spPr bwMode="auto">
          <a:xfrm>
            <a:off x="3303620" y="5747654"/>
            <a:ext cx="468000" cy="26242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zure Logo, Blue Mark, Tech Emblem, Cloud Symbol, Cloud Computing PNG">
            <a:extLst>
              <a:ext uri="{FF2B5EF4-FFF2-40B4-BE49-F238E27FC236}">
                <a16:creationId xmlns:a16="http://schemas.microsoft.com/office/drawing/2014/main" id="{3E3B1EBD-415C-66B2-916B-90C1C51EC3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3501" y="5709553"/>
            <a:ext cx="360000" cy="338625"/>
          </a:xfrm>
          <a:prstGeom prst="rect">
            <a:avLst/>
          </a:prstGeom>
          <a:noFill/>
          <a:extLst>
            <a:ext uri="{909E8E84-426E-40DD-AFC4-6F175D3DCCD1}">
              <a14:hiddenFill xmlns:a14="http://schemas.microsoft.com/office/drawing/2010/main">
                <a:solidFill>
                  <a:srgbClr val="FFFFFF"/>
                </a:solidFill>
              </a14:hiddenFill>
            </a:ext>
          </a:extLst>
        </p:spPr>
      </p:pic>
      <p:grpSp>
        <p:nvGrpSpPr>
          <p:cNvPr id="1059" name="Group 1058">
            <a:extLst>
              <a:ext uri="{FF2B5EF4-FFF2-40B4-BE49-F238E27FC236}">
                <a16:creationId xmlns:a16="http://schemas.microsoft.com/office/drawing/2014/main" id="{C4C2BAC7-C45B-5EFE-C28C-27E8B38BD521}"/>
              </a:ext>
            </a:extLst>
          </p:cNvPr>
          <p:cNvGrpSpPr/>
          <p:nvPr/>
        </p:nvGrpSpPr>
        <p:grpSpPr>
          <a:xfrm>
            <a:off x="1979916" y="3013816"/>
            <a:ext cx="1679585" cy="419033"/>
            <a:chOff x="1735756" y="3160472"/>
            <a:chExt cx="1679585" cy="419033"/>
          </a:xfrm>
        </p:grpSpPr>
        <p:sp>
          <p:nvSpPr>
            <p:cNvPr id="38" name="Rectangle 37">
              <a:extLst>
                <a:ext uri="{FF2B5EF4-FFF2-40B4-BE49-F238E27FC236}">
                  <a16:creationId xmlns:a16="http://schemas.microsoft.com/office/drawing/2014/main" id="{8578A9E8-A80E-27E4-3472-105F6ACF84A5}"/>
                </a:ext>
              </a:extLst>
            </p:cNvPr>
            <p:cNvSpPr>
              <a:spLocks/>
            </p:cNvSpPr>
            <p:nvPr/>
          </p:nvSpPr>
          <p:spPr>
            <a:xfrm>
              <a:off x="1735756" y="3189988"/>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CA" sz="700" b="1" kern="0" noProof="0">
                  <a:solidFill>
                    <a:schemeClr val="bg2">
                      <a:lumMod val="10000"/>
                    </a:schemeClr>
                  </a:solidFill>
                </a:rPr>
                <a:t>Streaming</a:t>
              </a:r>
              <a:endParaRPr kumimoji="0" lang="en-CA" sz="700" b="1" i="0" u="none" strike="noStrike" kern="0" cap="none" spc="0" normalizeH="0" baseline="0" noProof="0">
                <a:ln>
                  <a:noFill/>
                </a:ln>
                <a:solidFill>
                  <a:schemeClr val="bg2">
                    <a:lumMod val="10000"/>
                  </a:schemeClr>
                </a:solidFill>
                <a:effectLst/>
                <a:uLnTx/>
                <a:uFillTx/>
              </a:endParaRPr>
            </a:p>
          </p:txBody>
        </p:sp>
        <p:grpSp>
          <p:nvGrpSpPr>
            <p:cNvPr id="17" name="Group 16">
              <a:extLst>
                <a:ext uri="{FF2B5EF4-FFF2-40B4-BE49-F238E27FC236}">
                  <a16:creationId xmlns:a16="http://schemas.microsoft.com/office/drawing/2014/main" id="{50AECB2B-0070-072F-296D-858BFE8F3010}"/>
                </a:ext>
              </a:extLst>
            </p:cNvPr>
            <p:cNvGrpSpPr/>
            <p:nvPr/>
          </p:nvGrpSpPr>
          <p:grpSpPr>
            <a:xfrm>
              <a:off x="3163341" y="3160472"/>
              <a:ext cx="252000" cy="419033"/>
              <a:chOff x="3064802" y="3127672"/>
              <a:chExt cx="252000" cy="419033"/>
            </a:xfrm>
          </p:grpSpPr>
          <p:pic>
            <p:nvPicPr>
              <p:cNvPr id="45" name="Picture 44">
                <a:extLst>
                  <a:ext uri="{FF2B5EF4-FFF2-40B4-BE49-F238E27FC236}">
                    <a16:creationId xmlns:a16="http://schemas.microsoft.com/office/drawing/2014/main" id="{557D19E6-6BBE-B2D5-4C54-2AA7BBA6F5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15347" y="3127672"/>
                <a:ext cx="150911" cy="238608"/>
              </a:xfrm>
              <a:prstGeom prst="rect">
                <a:avLst/>
              </a:prstGeom>
            </p:spPr>
          </p:pic>
          <p:sp>
            <p:nvSpPr>
              <p:cNvPr id="48" name="TextBox 47">
                <a:extLst>
                  <a:ext uri="{FF2B5EF4-FFF2-40B4-BE49-F238E27FC236}">
                    <a16:creationId xmlns:a16="http://schemas.microsoft.com/office/drawing/2014/main" id="{5ACE9CE5-6640-8980-4C82-B8D07EC98E9D}"/>
                  </a:ext>
                </a:extLst>
              </p:cNvPr>
              <p:cNvSpPr txBox="1"/>
              <p:nvPr/>
            </p:nvSpPr>
            <p:spPr>
              <a:xfrm>
                <a:off x="3064802" y="3366280"/>
                <a:ext cx="252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Kafka</a:t>
                </a:r>
              </a:p>
            </p:txBody>
          </p:sp>
        </p:grpSp>
        <p:grpSp>
          <p:nvGrpSpPr>
            <p:cNvPr id="50" name="Group 49">
              <a:extLst>
                <a:ext uri="{FF2B5EF4-FFF2-40B4-BE49-F238E27FC236}">
                  <a16:creationId xmlns:a16="http://schemas.microsoft.com/office/drawing/2014/main" id="{48ADAB85-3598-744E-E0FD-81ED84DEE7B8}"/>
                </a:ext>
              </a:extLst>
            </p:cNvPr>
            <p:cNvGrpSpPr/>
            <p:nvPr/>
          </p:nvGrpSpPr>
          <p:grpSpPr>
            <a:xfrm>
              <a:off x="2623341" y="3160472"/>
              <a:ext cx="252000" cy="419033"/>
              <a:chOff x="2576743" y="3122303"/>
              <a:chExt cx="252000" cy="419033"/>
            </a:xfrm>
          </p:grpSpPr>
          <p:pic>
            <p:nvPicPr>
              <p:cNvPr id="26" name="Picture 25">
                <a:extLst>
                  <a:ext uri="{FF2B5EF4-FFF2-40B4-BE49-F238E27FC236}">
                    <a16:creationId xmlns:a16="http://schemas.microsoft.com/office/drawing/2014/main" id="{B87B009B-4C6D-18A6-318F-AC80D828E3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27288" y="3122303"/>
                <a:ext cx="150911" cy="238608"/>
              </a:xfrm>
              <a:prstGeom prst="rect">
                <a:avLst/>
              </a:prstGeom>
            </p:spPr>
          </p:pic>
          <p:sp>
            <p:nvSpPr>
              <p:cNvPr id="30" name="TextBox 29">
                <a:extLst>
                  <a:ext uri="{FF2B5EF4-FFF2-40B4-BE49-F238E27FC236}">
                    <a16:creationId xmlns:a16="http://schemas.microsoft.com/office/drawing/2014/main" id="{D56145EB-204B-1B45-491C-BB8E8DEEAEAB}"/>
                  </a:ext>
                </a:extLst>
              </p:cNvPr>
              <p:cNvSpPr txBox="1"/>
              <p:nvPr/>
            </p:nvSpPr>
            <p:spPr>
              <a:xfrm>
                <a:off x="2576743" y="3360911"/>
                <a:ext cx="252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Kafka</a:t>
                </a:r>
              </a:p>
            </p:txBody>
          </p:sp>
        </p:grpSp>
      </p:grpSp>
      <p:grpSp>
        <p:nvGrpSpPr>
          <p:cNvPr id="1058" name="Group 1057">
            <a:extLst>
              <a:ext uri="{FF2B5EF4-FFF2-40B4-BE49-F238E27FC236}">
                <a16:creationId xmlns:a16="http://schemas.microsoft.com/office/drawing/2014/main" id="{AB084CB0-B54A-DB85-3F0B-4544F38DBFAA}"/>
              </a:ext>
            </a:extLst>
          </p:cNvPr>
          <p:cNvGrpSpPr/>
          <p:nvPr/>
        </p:nvGrpSpPr>
        <p:grpSpPr>
          <a:xfrm>
            <a:off x="1979916" y="3833145"/>
            <a:ext cx="2281074" cy="775799"/>
            <a:chOff x="1735756" y="3813179"/>
            <a:chExt cx="2281074" cy="775799"/>
          </a:xfrm>
        </p:grpSpPr>
        <p:grpSp>
          <p:nvGrpSpPr>
            <p:cNvPr id="60" name="Group 59">
              <a:extLst>
                <a:ext uri="{FF2B5EF4-FFF2-40B4-BE49-F238E27FC236}">
                  <a16:creationId xmlns:a16="http://schemas.microsoft.com/office/drawing/2014/main" id="{71A9C332-5379-7F5C-ABB6-F827587B8615}"/>
                </a:ext>
              </a:extLst>
            </p:cNvPr>
            <p:cNvGrpSpPr/>
            <p:nvPr/>
          </p:nvGrpSpPr>
          <p:grpSpPr>
            <a:xfrm>
              <a:off x="3692830" y="4020653"/>
              <a:ext cx="324000" cy="360850"/>
              <a:chOff x="3578439" y="4279800"/>
              <a:chExt cx="324000" cy="360850"/>
            </a:xfrm>
          </p:grpSpPr>
          <p:pic>
            <p:nvPicPr>
              <p:cNvPr id="27" name="Picture 26">
                <a:extLst>
                  <a:ext uri="{FF2B5EF4-FFF2-40B4-BE49-F238E27FC236}">
                    <a16:creationId xmlns:a16="http://schemas.microsoft.com/office/drawing/2014/main" id="{EF108ADD-42FC-98C5-6726-0B4BAB2B6B6F}"/>
                  </a:ext>
                </a:extLst>
              </p:cNvPr>
              <p:cNvPicPr>
                <a:picLocks noChangeAspect="1"/>
              </p:cNvPicPr>
              <p:nvPr/>
            </p:nvPicPr>
            <p:blipFill>
              <a:blip r:embed="rId7"/>
              <a:stretch>
                <a:fillRect/>
              </a:stretch>
            </p:blipFill>
            <p:spPr>
              <a:xfrm>
                <a:off x="3642025" y="4279800"/>
                <a:ext cx="196828" cy="180425"/>
              </a:xfrm>
              <a:prstGeom prst="rect">
                <a:avLst/>
              </a:prstGeom>
            </p:spPr>
          </p:pic>
          <p:sp>
            <p:nvSpPr>
              <p:cNvPr id="29" name="TextBox 28">
                <a:extLst>
                  <a:ext uri="{FF2B5EF4-FFF2-40B4-BE49-F238E27FC236}">
                    <a16:creationId xmlns:a16="http://schemas.microsoft.com/office/drawing/2014/main" id="{94DE07CD-4630-BDA4-7DBA-C3CC004FB2E3}"/>
                  </a:ext>
                </a:extLst>
              </p:cNvPr>
              <p:cNvSpPr txBox="1"/>
              <p:nvPr/>
            </p:nvSpPr>
            <p:spPr>
              <a:xfrm>
                <a:off x="3578439" y="4460225"/>
                <a:ext cx="32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Apigee</a:t>
                </a:r>
              </a:p>
            </p:txBody>
          </p:sp>
        </p:grpSp>
        <p:sp>
          <p:nvSpPr>
            <p:cNvPr id="35" name="Rectangle 34">
              <a:extLst>
                <a:ext uri="{FF2B5EF4-FFF2-40B4-BE49-F238E27FC236}">
                  <a16:creationId xmlns:a16="http://schemas.microsoft.com/office/drawing/2014/main" id="{8B437E7E-7E98-4A16-0663-2AB1D83886A0}"/>
                </a:ext>
              </a:extLst>
            </p:cNvPr>
            <p:cNvSpPr>
              <a:spLocks/>
            </p:cNvSpPr>
            <p:nvPr/>
          </p:nvSpPr>
          <p:spPr>
            <a:xfrm>
              <a:off x="1735756" y="4021078"/>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CA" sz="700" b="1" kern="0" noProof="0">
                  <a:solidFill>
                    <a:schemeClr val="bg2">
                      <a:lumMod val="10000"/>
                    </a:schemeClr>
                  </a:solidFill>
                </a:rPr>
                <a:t>Near Real Time</a:t>
              </a:r>
              <a:endParaRPr kumimoji="0" lang="en-CA" sz="700" b="1" i="0" u="none" strike="noStrike" kern="0" cap="none" spc="0" normalizeH="0" baseline="0" noProof="0">
                <a:ln>
                  <a:noFill/>
                </a:ln>
                <a:solidFill>
                  <a:schemeClr val="bg2">
                    <a:lumMod val="10000"/>
                  </a:schemeClr>
                </a:solidFill>
                <a:effectLst/>
                <a:uLnTx/>
                <a:uFillTx/>
              </a:endParaRPr>
            </a:p>
          </p:txBody>
        </p:sp>
        <p:grpSp>
          <p:nvGrpSpPr>
            <p:cNvPr id="1057" name="Group 1056">
              <a:extLst>
                <a:ext uri="{FF2B5EF4-FFF2-40B4-BE49-F238E27FC236}">
                  <a16:creationId xmlns:a16="http://schemas.microsoft.com/office/drawing/2014/main" id="{1640B5A2-B4C3-94AE-3468-0E13FF3ADF0C}"/>
                </a:ext>
              </a:extLst>
            </p:cNvPr>
            <p:cNvGrpSpPr/>
            <p:nvPr/>
          </p:nvGrpSpPr>
          <p:grpSpPr>
            <a:xfrm>
              <a:off x="2497341" y="3813179"/>
              <a:ext cx="504000" cy="775799"/>
              <a:chOff x="2497341" y="3813179"/>
              <a:chExt cx="504000" cy="775799"/>
            </a:xfrm>
          </p:grpSpPr>
          <p:grpSp>
            <p:nvGrpSpPr>
              <p:cNvPr id="58" name="Group 57">
                <a:extLst>
                  <a:ext uri="{FF2B5EF4-FFF2-40B4-BE49-F238E27FC236}">
                    <a16:creationId xmlns:a16="http://schemas.microsoft.com/office/drawing/2014/main" id="{D037B38D-73F9-42CD-E8C5-A2E4E593FB8D}"/>
                  </a:ext>
                </a:extLst>
              </p:cNvPr>
              <p:cNvGrpSpPr/>
              <p:nvPr/>
            </p:nvGrpSpPr>
            <p:grpSpPr>
              <a:xfrm>
                <a:off x="2497341" y="3813179"/>
                <a:ext cx="504000" cy="414949"/>
                <a:chOff x="2452217" y="3881349"/>
                <a:chExt cx="504000" cy="414949"/>
              </a:xfrm>
            </p:grpSpPr>
            <p:pic>
              <p:nvPicPr>
                <p:cNvPr id="18" name="Graphic 17">
                  <a:extLst>
                    <a:ext uri="{FF2B5EF4-FFF2-40B4-BE49-F238E27FC236}">
                      <a16:creationId xmlns:a16="http://schemas.microsoft.com/office/drawing/2014/main" id="{464F5D05-8A5C-0C51-D41F-E0933D01603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76111" y="3881349"/>
                  <a:ext cx="256212" cy="234524"/>
                </a:xfrm>
                <a:prstGeom prst="rect">
                  <a:avLst/>
                </a:prstGeom>
              </p:spPr>
            </p:pic>
            <p:sp>
              <p:nvSpPr>
                <p:cNvPr id="28" name="TextBox 27">
                  <a:extLst>
                    <a:ext uri="{FF2B5EF4-FFF2-40B4-BE49-F238E27FC236}">
                      <a16:creationId xmlns:a16="http://schemas.microsoft.com/office/drawing/2014/main" id="{3D9205F2-A8CD-BF49-ACC7-A782BECB9D34}"/>
                    </a:ext>
                  </a:extLst>
                </p:cNvPr>
                <p:cNvSpPr txBox="1"/>
                <p:nvPr/>
              </p:nvSpPr>
              <p:spPr>
                <a:xfrm>
                  <a:off x="2452217" y="4115873"/>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Informatica</a:t>
                  </a:r>
                </a:p>
              </p:txBody>
            </p:sp>
          </p:grpSp>
          <p:grpSp>
            <p:nvGrpSpPr>
              <p:cNvPr id="59" name="Group 58">
                <a:extLst>
                  <a:ext uri="{FF2B5EF4-FFF2-40B4-BE49-F238E27FC236}">
                    <a16:creationId xmlns:a16="http://schemas.microsoft.com/office/drawing/2014/main" id="{2576898A-5FB4-0841-2D6A-8B867F3D9F76}"/>
                  </a:ext>
                </a:extLst>
              </p:cNvPr>
              <p:cNvGrpSpPr/>
              <p:nvPr/>
            </p:nvGrpSpPr>
            <p:grpSpPr>
              <a:xfrm>
                <a:off x="2587341" y="4228128"/>
                <a:ext cx="324000" cy="360850"/>
                <a:chOff x="2560514" y="4279800"/>
                <a:chExt cx="324000" cy="360850"/>
              </a:xfrm>
            </p:grpSpPr>
            <p:pic>
              <p:nvPicPr>
                <p:cNvPr id="612" name="Picture 611">
                  <a:extLst>
                    <a:ext uri="{FF2B5EF4-FFF2-40B4-BE49-F238E27FC236}">
                      <a16:creationId xmlns:a16="http://schemas.microsoft.com/office/drawing/2014/main" id="{D7F91E8B-F66E-588F-9B6F-7D5C883BF9DB}"/>
                    </a:ext>
                  </a:extLst>
                </p:cNvPr>
                <p:cNvPicPr>
                  <a:picLocks noChangeAspect="1"/>
                </p:cNvPicPr>
                <p:nvPr/>
              </p:nvPicPr>
              <p:blipFill>
                <a:blip r:embed="rId7"/>
                <a:stretch>
                  <a:fillRect/>
                </a:stretch>
              </p:blipFill>
              <p:spPr>
                <a:xfrm>
                  <a:off x="2624100" y="4279800"/>
                  <a:ext cx="196828" cy="180425"/>
                </a:xfrm>
                <a:prstGeom prst="rect">
                  <a:avLst/>
                </a:prstGeom>
              </p:spPr>
            </p:pic>
            <p:sp>
              <p:nvSpPr>
                <p:cNvPr id="613" name="TextBox 612">
                  <a:extLst>
                    <a:ext uri="{FF2B5EF4-FFF2-40B4-BE49-F238E27FC236}">
                      <a16:creationId xmlns:a16="http://schemas.microsoft.com/office/drawing/2014/main" id="{CBB1A51A-DA24-C6A9-90E8-B3A273CA3C55}"/>
                    </a:ext>
                  </a:extLst>
                </p:cNvPr>
                <p:cNvSpPr txBox="1"/>
                <p:nvPr/>
              </p:nvSpPr>
              <p:spPr>
                <a:xfrm>
                  <a:off x="2560514" y="4460225"/>
                  <a:ext cx="32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APIM</a:t>
                  </a:r>
                </a:p>
              </p:txBody>
            </p:sp>
          </p:grpSp>
        </p:grpSp>
      </p:grpSp>
      <p:grpSp>
        <p:nvGrpSpPr>
          <p:cNvPr id="1056" name="Group 1055">
            <a:extLst>
              <a:ext uri="{FF2B5EF4-FFF2-40B4-BE49-F238E27FC236}">
                <a16:creationId xmlns:a16="http://schemas.microsoft.com/office/drawing/2014/main" id="{EC5C5E09-27E0-92A3-CDD7-915ED2E92D99}"/>
              </a:ext>
            </a:extLst>
          </p:cNvPr>
          <p:cNvGrpSpPr/>
          <p:nvPr/>
        </p:nvGrpSpPr>
        <p:grpSpPr>
          <a:xfrm>
            <a:off x="1979916" y="5009240"/>
            <a:ext cx="1265585" cy="414949"/>
            <a:chOff x="1735756" y="5039923"/>
            <a:chExt cx="1265585" cy="414949"/>
          </a:xfrm>
        </p:grpSpPr>
        <p:sp>
          <p:nvSpPr>
            <p:cNvPr id="31" name="Rectangle 30">
              <a:extLst>
                <a:ext uri="{FF2B5EF4-FFF2-40B4-BE49-F238E27FC236}">
                  <a16:creationId xmlns:a16="http://schemas.microsoft.com/office/drawing/2014/main" id="{A53B6C3B-BDE0-9F1A-4648-3FF7714B4912}"/>
                </a:ext>
              </a:extLst>
            </p:cNvPr>
            <p:cNvSpPr>
              <a:spLocks/>
            </p:cNvSpPr>
            <p:nvPr/>
          </p:nvSpPr>
          <p:spPr>
            <a:xfrm>
              <a:off x="1735756" y="5067397"/>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CA" sz="700" b="1" i="0" u="none" strike="noStrike" kern="0" cap="none" spc="0" normalizeH="0" baseline="0" noProof="0">
                  <a:ln>
                    <a:noFill/>
                  </a:ln>
                  <a:solidFill>
                    <a:schemeClr val="bg2">
                      <a:lumMod val="10000"/>
                    </a:schemeClr>
                  </a:solidFill>
                  <a:effectLst/>
                  <a:uLnTx/>
                  <a:uFillTx/>
                </a:rPr>
                <a:t>Batch</a:t>
              </a:r>
            </a:p>
          </p:txBody>
        </p:sp>
        <p:grpSp>
          <p:nvGrpSpPr>
            <p:cNvPr id="61" name="Group 60">
              <a:extLst>
                <a:ext uri="{FF2B5EF4-FFF2-40B4-BE49-F238E27FC236}">
                  <a16:creationId xmlns:a16="http://schemas.microsoft.com/office/drawing/2014/main" id="{011B43AD-6CE7-8F2C-0D8A-585887D73D25}"/>
                </a:ext>
              </a:extLst>
            </p:cNvPr>
            <p:cNvGrpSpPr/>
            <p:nvPr/>
          </p:nvGrpSpPr>
          <p:grpSpPr>
            <a:xfrm>
              <a:off x="2497341" y="5039923"/>
              <a:ext cx="504000" cy="414949"/>
              <a:chOff x="2434075" y="4768786"/>
              <a:chExt cx="504000" cy="414949"/>
            </a:xfrm>
          </p:grpSpPr>
          <p:pic>
            <p:nvPicPr>
              <p:cNvPr id="33" name="Graphic 32">
                <a:extLst>
                  <a:ext uri="{FF2B5EF4-FFF2-40B4-BE49-F238E27FC236}">
                    <a16:creationId xmlns:a16="http://schemas.microsoft.com/office/drawing/2014/main" id="{37B81EF4-1EB3-0E0D-4AC7-C62108A3223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57969" y="4768786"/>
                <a:ext cx="256212" cy="234524"/>
              </a:xfrm>
              <a:prstGeom prst="rect">
                <a:avLst/>
              </a:prstGeom>
            </p:spPr>
          </p:pic>
          <p:sp>
            <p:nvSpPr>
              <p:cNvPr id="230" name="TextBox 229">
                <a:extLst>
                  <a:ext uri="{FF2B5EF4-FFF2-40B4-BE49-F238E27FC236}">
                    <a16:creationId xmlns:a16="http://schemas.microsoft.com/office/drawing/2014/main" id="{7A56A4C0-7B05-33A4-F98D-94A1DD0BDEA2}"/>
                  </a:ext>
                </a:extLst>
              </p:cNvPr>
              <p:cNvSpPr txBox="1"/>
              <p:nvPr/>
            </p:nvSpPr>
            <p:spPr>
              <a:xfrm>
                <a:off x="2434075" y="5003310"/>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Informatica</a:t>
                </a:r>
              </a:p>
            </p:txBody>
          </p:sp>
        </p:grpSp>
      </p:grpSp>
      <p:cxnSp>
        <p:nvCxnSpPr>
          <p:cNvPr id="5" name="Straight Connector 4">
            <a:extLst>
              <a:ext uri="{FF2B5EF4-FFF2-40B4-BE49-F238E27FC236}">
                <a16:creationId xmlns:a16="http://schemas.microsoft.com/office/drawing/2014/main" id="{BBCDD967-7A11-C468-08DF-594AD83A426D}"/>
              </a:ext>
            </a:extLst>
          </p:cNvPr>
          <p:cNvCxnSpPr>
            <a:cxnSpLocks/>
          </p:cNvCxnSpPr>
          <p:nvPr/>
        </p:nvCxnSpPr>
        <p:spPr>
          <a:xfrm>
            <a:off x="2007299" y="4809092"/>
            <a:ext cx="2304000" cy="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06887BB3-EC24-C2F8-D45B-1C9F613B7094}"/>
              </a:ext>
            </a:extLst>
          </p:cNvPr>
          <p:cNvCxnSpPr>
            <a:cxnSpLocks/>
          </p:cNvCxnSpPr>
          <p:nvPr/>
        </p:nvCxnSpPr>
        <p:spPr>
          <a:xfrm>
            <a:off x="2007299" y="2813668"/>
            <a:ext cx="2304000"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D28E18AB-360C-C6A5-3A73-514011412C21}"/>
              </a:ext>
            </a:extLst>
          </p:cNvPr>
          <p:cNvSpPr>
            <a:spLocks/>
          </p:cNvSpPr>
          <p:nvPr/>
        </p:nvSpPr>
        <p:spPr>
          <a:xfrm>
            <a:off x="1977081" y="5698865"/>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CA" sz="700" b="1" i="0" u="none" strike="noStrike" kern="0" cap="none" spc="0" normalizeH="0" baseline="0" noProof="0">
                <a:ln>
                  <a:noFill/>
                </a:ln>
                <a:solidFill>
                  <a:schemeClr val="bg2">
                    <a:lumMod val="10000"/>
                  </a:schemeClr>
                </a:solidFill>
                <a:effectLst/>
                <a:uLnTx/>
                <a:uFillTx/>
              </a:rPr>
              <a:t>Cloud Service Providers</a:t>
            </a:r>
          </a:p>
        </p:txBody>
      </p:sp>
      <p:cxnSp>
        <p:nvCxnSpPr>
          <p:cNvPr id="13" name="Straight Connector 12">
            <a:extLst>
              <a:ext uri="{FF2B5EF4-FFF2-40B4-BE49-F238E27FC236}">
                <a16:creationId xmlns:a16="http://schemas.microsoft.com/office/drawing/2014/main" id="{0FD712CE-968E-38C2-642B-F621E0E9CE85}"/>
              </a:ext>
            </a:extLst>
          </p:cNvPr>
          <p:cNvCxnSpPr>
            <a:cxnSpLocks/>
          </p:cNvCxnSpPr>
          <p:nvPr/>
        </p:nvCxnSpPr>
        <p:spPr>
          <a:xfrm flipV="1">
            <a:off x="3263501" y="2021272"/>
            <a:ext cx="0" cy="3996000"/>
          </a:xfrm>
          <a:prstGeom prst="line">
            <a:avLst/>
          </a:prstGeom>
          <a:ln>
            <a:solidFill>
              <a:schemeClr val="tx1"/>
            </a:solidFill>
            <a:prstDash val="lgDashDot"/>
          </a:ln>
        </p:spPr>
        <p:style>
          <a:lnRef idx="1">
            <a:schemeClr val="dk1"/>
          </a:lnRef>
          <a:fillRef idx="0">
            <a:schemeClr val="dk1"/>
          </a:fillRef>
          <a:effectRef idx="0">
            <a:schemeClr val="dk1"/>
          </a:effectRef>
          <a:fontRef idx="minor">
            <a:schemeClr val="tx1"/>
          </a:fontRef>
        </p:style>
      </p:cxnSp>
      <p:cxnSp>
        <p:nvCxnSpPr>
          <p:cNvPr id="533" name="Straight Connector 532">
            <a:extLst>
              <a:ext uri="{FF2B5EF4-FFF2-40B4-BE49-F238E27FC236}">
                <a16:creationId xmlns:a16="http://schemas.microsoft.com/office/drawing/2014/main" id="{58A2AFF9-9009-E9F8-F717-8A47A986075B}"/>
              </a:ext>
            </a:extLst>
          </p:cNvPr>
          <p:cNvCxnSpPr>
            <a:cxnSpLocks/>
          </p:cNvCxnSpPr>
          <p:nvPr/>
        </p:nvCxnSpPr>
        <p:spPr>
          <a:xfrm>
            <a:off x="2007299" y="3632997"/>
            <a:ext cx="2304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1055" name="Group 1054">
            <a:extLst>
              <a:ext uri="{FF2B5EF4-FFF2-40B4-BE49-F238E27FC236}">
                <a16:creationId xmlns:a16="http://schemas.microsoft.com/office/drawing/2014/main" id="{8DFDB6CB-76EB-FA3C-D474-3762C013CEBF}"/>
              </a:ext>
            </a:extLst>
          </p:cNvPr>
          <p:cNvGrpSpPr/>
          <p:nvPr/>
        </p:nvGrpSpPr>
        <p:grpSpPr>
          <a:xfrm>
            <a:off x="1979916" y="2198571"/>
            <a:ext cx="1265585" cy="414949"/>
            <a:chOff x="1735756" y="2359331"/>
            <a:chExt cx="1265585" cy="414949"/>
          </a:xfrm>
        </p:grpSpPr>
        <p:grpSp>
          <p:nvGrpSpPr>
            <p:cNvPr id="3" name="Group 2">
              <a:extLst>
                <a:ext uri="{FF2B5EF4-FFF2-40B4-BE49-F238E27FC236}">
                  <a16:creationId xmlns:a16="http://schemas.microsoft.com/office/drawing/2014/main" id="{BC02DBB2-9F87-44CF-FE13-08A86ACAA6B9}"/>
                </a:ext>
              </a:extLst>
            </p:cNvPr>
            <p:cNvGrpSpPr/>
            <p:nvPr/>
          </p:nvGrpSpPr>
          <p:grpSpPr>
            <a:xfrm>
              <a:off x="2497341" y="2359331"/>
              <a:ext cx="504000" cy="414949"/>
              <a:chOff x="2420780" y="2351870"/>
              <a:chExt cx="504000" cy="414949"/>
            </a:xfrm>
          </p:grpSpPr>
          <p:pic>
            <p:nvPicPr>
              <p:cNvPr id="595" name="Picture 594">
                <a:extLst>
                  <a:ext uri="{FF2B5EF4-FFF2-40B4-BE49-F238E27FC236}">
                    <a16:creationId xmlns:a16="http://schemas.microsoft.com/office/drawing/2014/main" id="{D091F1F4-4348-2432-FD70-16AEFA82514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43283" y="2351870"/>
                <a:ext cx="258995" cy="234524"/>
              </a:xfrm>
              <a:prstGeom prst="rect">
                <a:avLst/>
              </a:prstGeom>
            </p:spPr>
          </p:pic>
          <p:sp>
            <p:nvSpPr>
              <p:cNvPr id="596" name="TextBox 595">
                <a:extLst>
                  <a:ext uri="{FF2B5EF4-FFF2-40B4-BE49-F238E27FC236}">
                    <a16:creationId xmlns:a16="http://schemas.microsoft.com/office/drawing/2014/main" id="{F39CF348-267E-E64B-75C9-88C5CA7A904D}"/>
                  </a:ext>
                </a:extLst>
              </p:cNvPr>
              <p:cNvSpPr txBox="1"/>
              <p:nvPr/>
            </p:nvSpPr>
            <p:spPr>
              <a:xfrm>
                <a:off x="2420780" y="2586394"/>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Databricks</a:t>
                </a:r>
              </a:p>
            </p:txBody>
          </p:sp>
        </p:grpSp>
        <p:sp>
          <p:nvSpPr>
            <p:cNvPr id="534" name="TextBox 533">
              <a:extLst>
                <a:ext uri="{FF2B5EF4-FFF2-40B4-BE49-F238E27FC236}">
                  <a16:creationId xmlns:a16="http://schemas.microsoft.com/office/drawing/2014/main" id="{D388AC48-207B-B450-E103-A4EE62532843}"/>
                </a:ext>
              </a:extLst>
            </p:cNvPr>
            <p:cNvSpPr txBox="1"/>
            <p:nvPr/>
          </p:nvSpPr>
          <p:spPr>
            <a:xfrm>
              <a:off x="1735756" y="2386805"/>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defRPr/>
              </a:pPr>
              <a:r>
                <a:rPr lang="en-CA" sz="700" b="1" kern="0" noProof="0">
                  <a:solidFill>
                    <a:schemeClr val="bg2">
                      <a:lumMod val="10000"/>
                    </a:schemeClr>
                  </a:solidFill>
                </a:rPr>
                <a:t>Query Federation &amp; Virtualization</a:t>
              </a:r>
            </a:p>
          </p:txBody>
        </p:sp>
      </p:grpSp>
      <p:pic>
        <p:nvPicPr>
          <p:cNvPr id="520" name="Picture 2" descr="Google-Cloud-Symbol - OpenExpo Europe 2025">
            <a:extLst>
              <a:ext uri="{FF2B5EF4-FFF2-40B4-BE49-F238E27FC236}">
                <a16:creationId xmlns:a16="http://schemas.microsoft.com/office/drawing/2014/main" id="{F7E16525-5154-03B2-E316-806058EAD737}"/>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9927" r="19559"/>
          <a:stretch>
            <a:fillRect/>
          </a:stretch>
        </p:blipFill>
        <p:spPr bwMode="auto">
          <a:xfrm>
            <a:off x="3896871" y="5694820"/>
            <a:ext cx="396000" cy="368091"/>
          </a:xfrm>
          <a:prstGeom prst="rect">
            <a:avLst/>
          </a:prstGeom>
          <a:noFill/>
          <a:extLst>
            <a:ext uri="{909E8E84-426E-40DD-AFC4-6F175D3DCCD1}">
              <a14:hiddenFill xmlns:a14="http://schemas.microsoft.com/office/drawing/2010/main">
                <a:solidFill>
                  <a:srgbClr val="FFFFFF"/>
                </a:solidFill>
              </a14:hiddenFill>
            </a:ext>
          </a:extLst>
        </p:spPr>
      </p:pic>
      <p:cxnSp>
        <p:nvCxnSpPr>
          <p:cNvPr id="544" name="Straight Connector 543">
            <a:extLst>
              <a:ext uri="{FF2B5EF4-FFF2-40B4-BE49-F238E27FC236}">
                <a16:creationId xmlns:a16="http://schemas.microsoft.com/office/drawing/2014/main" id="{36E8879A-FF3A-68FD-6558-FA49CF26A5FF}"/>
              </a:ext>
            </a:extLst>
          </p:cNvPr>
          <p:cNvCxnSpPr>
            <a:cxnSpLocks/>
          </p:cNvCxnSpPr>
          <p:nvPr/>
        </p:nvCxnSpPr>
        <p:spPr>
          <a:xfrm>
            <a:off x="2007299" y="5624339"/>
            <a:ext cx="2304000"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54" name="Rounded Rectangle 12">
            <a:extLst>
              <a:ext uri="{FF2B5EF4-FFF2-40B4-BE49-F238E27FC236}">
                <a16:creationId xmlns:a16="http://schemas.microsoft.com/office/drawing/2014/main" id="{9B608B46-3595-7281-3E03-61CDA94F3BBC}"/>
              </a:ext>
            </a:extLst>
          </p:cNvPr>
          <p:cNvSpPr/>
          <p:nvPr/>
        </p:nvSpPr>
        <p:spPr>
          <a:xfrm>
            <a:off x="4506102" y="1517272"/>
            <a:ext cx="2196000" cy="4572000"/>
          </a:xfrm>
          <a:prstGeom prst="rect">
            <a:avLst/>
          </a:prstGeom>
          <a:noFill/>
          <a:ln>
            <a:solidFill>
              <a:schemeClr val="bg2">
                <a:lumMod val="10000"/>
              </a:schemeClr>
            </a:solidFill>
          </a:ln>
        </p:spPr>
        <p:style>
          <a:lnRef idx="2">
            <a:schemeClr val="accent2"/>
          </a:lnRef>
          <a:fillRef idx="1">
            <a:schemeClr val="lt1"/>
          </a:fillRef>
          <a:effectRef idx="0">
            <a:schemeClr val="accent2"/>
          </a:effectRef>
          <a:fontRef idx="minor">
            <a:schemeClr val="dk1"/>
          </a:fontRef>
        </p:style>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bg2">
                    <a:lumMod val="10000"/>
                  </a:schemeClr>
                </a:solidFill>
                <a:effectLst/>
                <a:uLnTx/>
                <a:uFillTx/>
              </a:rPr>
              <a:t>Data </a:t>
            </a:r>
            <a:r>
              <a:rPr lang="en-CA" sz="900" b="1" kern="0" noProof="0">
                <a:solidFill>
                  <a:schemeClr val="bg2">
                    <a:lumMod val="10000"/>
                  </a:schemeClr>
                </a:solidFill>
              </a:rPr>
              <a:t>Repositories (and Products) in Nodes</a:t>
            </a:r>
            <a:endParaRPr kumimoji="0" lang="en-CA" sz="900" b="0" i="0" u="none" strike="noStrike" kern="0" cap="none" spc="0" normalizeH="0" baseline="0" noProof="0">
              <a:ln>
                <a:noFill/>
              </a:ln>
              <a:solidFill>
                <a:schemeClr val="bg2">
                  <a:lumMod val="10000"/>
                </a:schemeClr>
              </a:solidFill>
              <a:effectLst/>
              <a:uLnTx/>
              <a:uFillTx/>
            </a:endParaRPr>
          </a:p>
        </p:txBody>
      </p:sp>
      <p:pic>
        <p:nvPicPr>
          <p:cNvPr id="55" name="Picture 18" descr="What is AWS and how to get certified? | by Elena O | Towards AWS">
            <a:extLst>
              <a:ext uri="{FF2B5EF4-FFF2-40B4-BE49-F238E27FC236}">
                <a16:creationId xmlns:a16="http://schemas.microsoft.com/office/drawing/2014/main" id="{03749983-0BEC-CB21-6E74-A6ECAABE28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8771" y="5695858"/>
            <a:ext cx="552985" cy="366015"/>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descr="Azure Logo, Blue Mark, Tech Emblem, Cloud Symbol, Cloud Computing PNG">
            <a:extLst>
              <a:ext uri="{FF2B5EF4-FFF2-40B4-BE49-F238E27FC236}">
                <a16:creationId xmlns:a16="http://schemas.microsoft.com/office/drawing/2014/main" id="{7C606D69-AA74-C936-BA8F-1102F4D8E6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4711" y="5709553"/>
            <a:ext cx="360000" cy="33862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A2EB3535-EB21-BE48-0317-3FCE50A7BAB2}"/>
              </a:ext>
            </a:extLst>
          </p:cNvPr>
          <p:cNvCxnSpPr>
            <a:cxnSpLocks/>
          </p:cNvCxnSpPr>
          <p:nvPr/>
        </p:nvCxnSpPr>
        <p:spPr>
          <a:xfrm>
            <a:off x="4578102" y="2940738"/>
            <a:ext cx="2052000" cy="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86A19128-7B19-11C9-FF6A-D918F421F8E0}"/>
              </a:ext>
            </a:extLst>
          </p:cNvPr>
          <p:cNvCxnSpPr>
            <a:cxnSpLocks/>
          </p:cNvCxnSpPr>
          <p:nvPr/>
        </p:nvCxnSpPr>
        <p:spPr>
          <a:xfrm>
            <a:off x="4578102" y="4464868"/>
            <a:ext cx="2052000"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6DE69461-AE84-EE62-4419-29318D82E05B}"/>
              </a:ext>
            </a:extLst>
          </p:cNvPr>
          <p:cNvSpPr>
            <a:spLocks/>
          </p:cNvSpPr>
          <p:nvPr/>
        </p:nvSpPr>
        <p:spPr>
          <a:xfrm>
            <a:off x="4582575" y="5698865"/>
            <a:ext cx="720000" cy="360000"/>
          </a:xfrm>
          <a:prstGeom prst="rect">
            <a:avLst/>
          </a:prstGeom>
          <a:noFill/>
          <a:ln w="9525">
            <a:noFill/>
          </a:ln>
        </p:spPr>
        <p:txBody>
          <a:bodyPr vert="horz" lIns="0" tIns="0" rIns="0" bIns="0" rtlCol="0" anchor="ctr" anchorCtr="0">
            <a:noAutofit/>
          </a:bodyPr>
          <a:lstStyle/>
          <a:p>
            <a:pPr lvl="0" algn="ctr" defTabSz="228600">
              <a:defRPr/>
            </a:pPr>
            <a:r>
              <a:rPr lang="en-CA" sz="700" b="1" kern="0" noProof="0">
                <a:solidFill>
                  <a:schemeClr val="bg2">
                    <a:lumMod val="10000"/>
                  </a:schemeClr>
                </a:solidFill>
              </a:rPr>
              <a:t>Cloud Service Providers</a:t>
            </a:r>
          </a:p>
        </p:txBody>
      </p:sp>
      <p:cxnSp>
        <p:nvCxnSpPr>
          <p:cNvPr id="37" name="Straight Connector 36">
            <a:extLst>
              <a:ext uri="{FF2B5EF4-FFF2-40B4-BE49-F238E27FC236}">
                <a16:creationId xmlns:a16="http://schemas.microsoft.com/office/drawing/2014/main" id="{AC1D2115-7E3F-7900-4213-70A63B92FDFF}"/>
              </a:ext>
            </a:extLst>
          </p:cNvPr>
          <p:cNvCxnSpPr>
            <a:cxnSpLocks/>
          </p:cNvCxnSpPr>
          <p:nvPr/>
        </p:nvCxnSpPr>
        <p:spPr>
          <a:xfrm flipV="1">
            <a:off x="6037382" y="2012808"/>
            <a:ext cx="0" cy="3996000"/>
          </a:xfrm>
          <a:prstGeom prst="line">
            <a:avLst/>
          </a:prstGeom>
          <a:ln>
            <a:solidFill>
              <a:schemeClr val="tx1"/>
            </a:solidFill>
            <a:prstDash val="lgDashDot"/>
          </a:ln>
        </p:spPr>
        <p:style>
          <a:lnRef idx="1">
            <a:schemeClr val="dk1"/>
          </a:lnRef>
          <a:fillRef idx="0">
            <a:schemeClr val="dk1"/>
          </a:fillRef>
          <a:effectRef idx="0">
            <a:schemeClr val="dk1"/>
          </a:effectRef>
          <a:fontRef idx="minor">
            <a:schemeClr val="tx1"/>
          </a:fontRef>
        </p:style>
      </p:cxnSp>
      <p:grpSp>
        <p:nvGrpSpPr>
          <p:cNvPr id="1052" name="Group 1051">
            <a:extLst>
              <a:ext uri="{FF2B5EF4-FFF2-40B4-BE49-F238E27FC236}">
                <a16:creationId xmlns:a16="http://schemas.microsoft.com/office/drawing/2014/main" id="{4CC091F8-2BBF-A782-A260-9FCE3F32806F}"/>
              </a:ext>
            </a:extLst>
          </p:cNvPr>
          <p:cNvGrpSpPr/>
          <p:nvPr/>
        </p:nvGrpSpPr>
        <p:grpSpPr>
          <a:xfrm>
            <a:off x="4582575" y="2198571"/>
            <a:ext cx="1309397" cy="414949"/>
            <a:chOff x="4332115" y="2525936"/>
            <a:chExt cx="1309397" cy="414949"/>
          </a:xfrm>
        </p:grpSpPr>
        <p:sp>
          <p:nvSpPr>
            <p:cNvPr id="63" name="Rectangle 62">
              <a:extLst>
                <a:ext uri="{FF2B5EF4-FFF2-40B4-BE49-F238E27FC236}">
                  <a16:creationId xmlns:a16="http://schemas.microsoft.com/office/drawing/2014/main" id="{3722D490-1AE3-CEBE-53C1-0B85267CCF0A}"/>
                </a:ext>
              </a:extLst>
            </p:cNvPr>
            <p:cNvSpPr>
              <a:spLocks/>
            </p:cNvSpPr>
            <p:nvPr/>
          </p:nvSpPr>
          <p:spPr>
            <a:xfrm>
              <a:off x="4332115" y="2553410"/>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CA" sz="700" b="1" i="0" u="none" strike="noStrike" kern="0" cap="none" spc="0" normalizeH="0" baseline="0" noProof="0">
                  <a:ln>
                    <a:noFill/>
                  </a:ln>
                  <a:solidFill>
                    <a:schemeClr val="bg2">
                      <a:lumMod val="10000"/>
                    </a:schemeClr>
                  </a:solidFill>
                  <a:effectLst/>
                  <a:uLnTx/>
                  <a:uFillTx/>
                </a:rPr>
                <a:t>Analytical</a:t>
              </a:r>
            </a:p>
          </p:txBody>
        </p:sp>
        <p:grpSp>
          <p:nvGrpSpPr>
            <p:cNvPr id="546" name="Group 545">
              <a:extLst>
                <a:ext uri="{FF2B5EF4-FFF2-40B4-BE49-F238E27FC236}">
                  <a16:creationId xmlns:a16="http://schemas.microsoft.com/office/drawing/2014/main" id="{DEFFF275-1E25-D1E9-ADFF-F148171891A1}"/>
                </a:ext>
              </a:extLst>
            </p:cNvPr>
            <p:cNvGrpSpPr/>
            <p:nvPr/>
          </p:nvGrpSpPr>
          <p:grpSpPr>
            <a:xfrm>
              <a:off x="5137512" y="2525936"/>
              <a:ext cx="504000" cy="414949"/>
              <a:chOff x="2420780" y="2351870"/>
              <a:chExt cx="504000" cy="414949"/>
            </a:xfrm>
          </p:grpSpPr>
          <p:pic>
            <p:nvPicPr>
              <p:cNvPr id="547" name="Picture 546">
                <a:extLst>
                  <a:ext uri="{FF2B5EF4-FFF2-40B4-BE49-F238E27FC236}">
                    <a16:creationId xmlns:a16="http://schemas.microsoft.com/office/drawing/2014/main" id="{C41A1799-90CC-E5C9-AA50-5089FE010AC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43283" y="2351870"/>
                <a:ext cx="258995" cy="234524"/>
              </a:xfrm>
              <a:prstGeom prst="rect">
                <a:avLst/>
              </a:prstGeom>
            </p:spPr>
          </p:pic>
          <p:sp>
            <p:nvSpPr>
              <p:cNvPr id="548" name="TextBox 547">
                <a:extLst>
                  <a:ext uri="{FF2B5EF4-FFF2-40B4-BE49-F238E27FC236}">
                    <a16:creationId xmlns:a16="http://schemas.microsoft.com/office/drawing/2014/main" id="{20750E48-079C-5342-A23E-F929A342DE5C}"/>
                  </a:ext>
                </a:extLst>
              </p:cNvPr>
              <p:cNvSpPr txBox="1"/>
              <p:nvPr/>
            </p:nvSpPr>
            <p:spPr>
              <a:xfrm>
                <a:off x="2420780" y="2586394"/>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Databricks</a:t>
                </a:r>
              </a:p>
            </p:txBody>
          </p:sp>
        </p:grpSp>
      </p:grpSp>
      <p:grpSp>
        <p:nvGrpSpPr>
          <p:cNvPr id="1054" name="Group 1053">
            <a:extLst>
              <a:ext uri="{FF2B5EF4-FFF2-40B4-BE49-F238E27FC236}">
                <a16:creationId xmlns:a16="http://schemas.microsoft.com/office/drawing/2014/main" id="{AFFAEA12-3C9D-C2B9-31B2-A19435F891B6}"/>
              </a:ext>
            </a:extLst>
          </p:cNvPr>
          <p:cNvGrpSpPr/>
          <p:nvPr/>
        </p:nvGrpSpPr>
        <p:grpSpPr>
          <a:xfrm>
            <a:off x="4582575" y="3387925"/>
            <a:ext cx="1932823" cy="980606"/>
            <a:chOff x="4332115" y="3245670"/>
            <a:chExt cx="1932823" cy="980606"/>
          </a:xfrm>
        </p:grpSpPr>
        <p:sp>
          <p:nvSpPr>
            <p:cNvPr id="515" name="Rectangle 514">
              <a:extLst>
                <a:ext uri="{FF2B5EF4-FFF2-40B4-BE49-F238E27FC236}">
                  <a16:creationId xmlns:a16="http://schemas.microsoft.com/office/drawing/2014/main" id="{60F768F2-6A9F-8004-A5DC-F0215BA5EAF4}"/>
                </a:ext>
              </a:extLst>
            </p:cNvPr>
            <p:cNvSpPr>
              <a:spLocks/>
            </p:cNvSpPr>
            <p:nvPr/>
          </p:nvSpPr>
          <p:spPr>
            <a:xfrm>
              <a:off x="4332115" y="3380548"/>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CA" sz="700" b="1" kern="0" noProof="0">
                  <a:solidFill>
                    <a:schemeClr val="bg2">
                      <a:lumMod val="10000"/>
                    </a:schemeClr>
                  </a:solidFill>
                </a:rPr>
                <a:t>Operational</a:t>
              </a:r>
              <a:endParaRPr kumimoji="0" lang="en-CA" sz="700" b="1" i="0" u="none" strike="noStrike" kern="0" cap="none" spc="0" normalizeH="0" baseline="0" noProof="0">
                <a:ln>
                  <a:noFill/>
                </a:ln>
                <a:solidFill>
                  <a:schemeClr val="bg2">
                    <a:lumMod val="10000"/>
                  </a:schemeClr>
                </a:solidFill>
                <a:effectLst/>
                <a:uLnTx/>
                <a:uFillTx/>
              </a:endParaRPr>
            </a:p>
          </p:txBody>
        </p:sp>
        <p:grpSp>
          <p:nvGrpSpPr>
            <p:cNvPr id="560" name="Group 559">
              <a:extLst>
                <a:ext uri="{FF2B5EF4-FFF2-40B4-BE49-F238E27FC236}">
                  <a16:creationId xmlns:a16="http://schemas.microsoft.com/office/drawing/2014/main" id="{49D782FF-4A0E-FEC8-D28A-221127572C91}"/>
                </a:ext>
              </a:extLst>
            </p:cNvPr>
            <p:cNvGrpSpPr/>
            <p:nvPr/>
          </p:nvGrpSpPr>
          <p:grpSpPr>
            <a:xfrm>
              <a:off x="5973626" y="3333176"/>
              <a:ext cx="291312" cy="454745"/>
              <a:chOff x="6033333" y="3125272"/>
              <a:chExt cx="291312" cy="454745"/>
            </a:xfrm>
          </p:grpSpPr>
          <p:pic>
            <p:nvPicPr>
              <p:cNvPr id="526" name="Picture 525">
                <a:extLst>
                  <a:ext uri="{FF2B5EF4-FFF2-40B4-BE49-F238E27FC236}">
                    <a16:creationId xmlns:a16="http://schemas.microsoft.com/office/drawing/2014/main" id="{DE90A324-0DD5-A0E2-A890-76534413BC85}"/>
                  </a:ext>
                </a:extLst>
              </p:cNvPr>
              <p:cNvPicPr>
                <a:picLocks noChangeAspect="1"/>
              </p:cNvPicPr>
              <p:nvPr/>
            </p:nvPicPr>
            <p:blipFill>
              <a:blip r:embed="rId11"/>
              <a:stretch>
                <a:fillRect/>
              </a:stretch>
            </p:blipFill>
            <p:spPr>
              <a:xfrm>
                <a:off x="6033333" y="3125272"/>
                <a:ext cx="291312" cy="274320"/>
              </a:xfrm>
              <a:prstGeom prst="rect">
                <a:avLst/>
              </a:prstGeom>
            </p:spPr>
          </p:pic>
          <p:sp>
            <p:nvSpPr>
              <p:cNvPr id="531" name="TextBox 530">
                <a:extLst>
                  <a:ext uri="{FF2B5EF4-FFF2-40B4-BE49-F238E27FC236}">
                    <a16:creationId xmlns:a16="http://schemas.microsoft.com/office/drawing/2014/main" id="{DC1AF8D1-48A9-C21A-3AF7-A3D4A233B055}"/>
                  </a:ext>
                </a:extLst>
              </p:cNvPr>
              <p:cNvSpPr txBox="1"/>
              <p:nvPr/>
            </p:nvSpPr>
            <p:spPr>
              <a:xfrm>
                <a:off x="6070989" y="3399592"/>
                <a:ext cx="216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RDS</a:t>
                </a:r>
              </a:p>
            </p:txBody>
          </p:sp>
        </p:grpSp>
        <p:grpSp>
          <p:nvGrpSpPr>
            <p:cNvPr id="1050" name="Group 1049">
              <a:extLst>
                <a:ext uri="{FF2B5EF4-FFF2-40B4-BE49-F238E27FC236}">
                  <a16:creationId xmlns:a16="http://schemas.microsoft.com/office/drawing/2014/main" id="{5D3A8EBA-C29D-E0C5-4BA3-B125D22FD88E}"/>
                </a:ext>
              </a:extLst>
            </p:cNvPr>
            <p:cNvGrpSpPr/>
            <p:nvPr/>
          </p:nvGrpSpPr>
          <p:grpSpPr>
            <a:xfrm>
              <a:off x="5137512" y="3245670"/>
              <a:ext cx="504000" cy="980606"/>
              <a:chOff x="5137512" y="3246100"/>
              <a:chExt cx="504000" cy="980606"/>
            </a:xfrm>
          </p:grpSpPr>
          <p:grpSp>
            <p:nvGrpSpPr>
              <p:cNvPr id="561" name="Group 560">
                <a:extLst>
                  <a:ext uri="{FF2B5EF4-FFF2-40B4-BE49-F238E27FC236}">
                    <a16:creationId xmlns:a16="http://schemas.microsoft.com/office/drawing/2014/main" id="{49F34E6A-891E-E12F-81BF-53DC86BBC502}"/>
                  </a:ext>
                </a:extLst>
              </p:cNvPr>
              <p:cNvGrpSpPr/>
              <p:nvPr/>
            </p:nvGrpSpPr>
            <p:grpSpPr>
              <a:xfrm>
                <a:off x="5252352" y="3816965"/>
                <a:ext cx="274320" cy="409741"/>
                <a:chOff x="5317251" y="3816965"/>
                <a:chExt cx="274320" cy="409741"/>
              </a:xfrm>
            </p:grpSpPr>
            <p:pic>
              <p:nvPicPr>
                <p:cNvPr id="527" name="Picture 526">
                  <a:extLst>
                    <a:ext uri="{FF2B5EF4-FFF2-40B4-BE49-F238E27FC236}">
                      <a16:creationId xmlns:a16="http://schemas.microsoft.com/office/drawing/2014/main" id="{365DC1FC-F792-DD42-A297-76BF59950ED4}"/>
                    </a:ext>
                  </a:extLst>
                </p:cNvPr>
                <p:cNvPicPr>
                  <a:picLocks noChangeAspect="1"/>
                </p:cNvPicPr>
                <p:nvPr/>
              </p:nvPicPr>
              <p:blipFill>
                <a:blip r:embed="rId12"/>
                <a:stretch>
                  <a:fillRect/>
                </a:stretch>
              </p:blipFill>
              <p:spPr>
                <a:xfrm>
                  <a:off x="5317251" y="3816965"/>
                  <a:ext cx="274320" cy="274320"/>
                </a:xfrm>
                <a:prstGeom prst="rect">
                  <a:avLst/>
                </a:prstGeom>
              </p:spPr>
            </p:pic>
            <p:sp>
              <p:nvSpPr>
                <p:cNvPr id="529" name="TextBox 528">
                  <a:extLst>
                    <a:ext uri="{FF2B5EF4-FFF2-40B4-BE49-F238E27FC236}">
                      <a16:creationId xmlns:a16="http://schemas.microsoft.com/office/drawing/2014/main" id="{D331F80B-9935-91EF-9ACC-908000BA6725}"/>
                    </a:ext>
                  </a:extLst>
                </p:cNvPr>
                <p:cNvSpPr txBox="1"/>
                <p:nvPr/>
              </p:nvSpPr>
              <p:spPr>
                <a:xfrm>
                  <a:off x="5360804" y="4046281"/>
                  <a:ext cx="180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SQL</a:t>
                  </a:r>
                </a:p>
              </p:txBody>
            </p:sp>
          </p:grpSp>
          <p:grpSp>
            <p:nvGrpSpPr>
              <p:cNvPr id="555" name="Group 554">
                <a:extLst>
                  <a:ext uri="{FF2B5EF4-FFF2-40B4-BE49-F238E27FC236}">
                    <a16:creationId xmlns:a16="http://schemas.microsoft.com/office/drawing/2014/main" id="{800820A6-CE9E-7544-D1B3-5B136A25E1C1}"/>
                  </a:ext>
                </a:extLst>
              </p:cNvPr>
              <p:cNvGrpSpPr/>
              <p:nvPr/>
            </p:nvGrpSpPr>
            <p:grpSpPr>
              <a:xfrm>
                <a:off x="5137512" y="3246100"/>
                <a:ext cx="504000" cy="414949"/>
                <a:chOff x="2420780" y="2017094"/>
                <a:chExt cx="504000" cy="414949"/>
              </a:xfrm>
            </p:grpSpPr>
            <p:pic>
              <p:nvPicPr>
                <p:cNvPr id="556" name="Picture 555">
                  <a:extLst>
                    <a:ext uri="{FF2B5EF4-FFF2-40B4-BE49-F238E27FC236}">
                      <a16:creationId xmlns:a16="http://schemas.microsoft.com/office/drawing/2014/main" id="{7DC7157E-8912-531E-5CB2-90BE0E96C6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43283" y="2017094"/>
                  <a:ext cx="258995" cy="234524"/>
                </a:xfrm>
                <a:prstGeom prst="rect">
                  <a:avLst/>
                </a:prstGeom>
              </p:spPr>
            </p:pic>
            <p:sp>
              <p:nvSpPr>
                <p:cNvPr id="559" name="TextBox 558">
                  <a:extLst>
                    <a:ext uri="{FF2B5EF4-FFF2-40B4-BE49-F238E27FC236}">
                      <a16:creationId xmlns:a16="http://schemas.microsoft.com/office/drawing/2014/main" id="{33B31AF6-13B0-4B9A-BF07-4CEEFCD8D223}"/>
                    </a:ext>
                  </a:extLst>
                </p:cNvPr>
                <p:cNvSpPr txBox="1"/>
                <p:nvPr/>
              </p:nvSpPr>
              <p:spPr>
                <a:xfrm>
                  <a:off x="2420780" y="2251618"/>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Databricks</a:t>
                  </a:r>
                </a:p>
              </p:txBody>
            </p:sp>
          </p:grpSp>
        </p:grpSp>
      </p:grpSp>
      <p:grpSp>
        <p:nvGrpSpPr>
          <p:cNvPr id="1049" name="Group 1048">
            <a:extLst>
              <a:ext uri="{FF2B5EF4-FFF2-40B4-BE49-F238E27FC236}">
                <a16:creationId xmlns:a16="http://schemas.microsoft.com/office/drawing/2014/main" id="{152ED3B3-71F5-52E3-7A66-19D7D8528163}"/>
              </a:ext>
            </a:extLst>
          </p:cNvPr>
          <p:cNvGrpSpPr/>
          <p:nvPr/>
        </p:nvGrpSpPr>
        <p:grpSpPr>
          <a:xfrm>
            <a:off x="4582575" y="4629589"/>
            <a:ext cx="1363972" cy="595013"/>
            <a:chOff x="4332115" y="4322346"/>
            <a:chExt cx="1363972" cy="595013"/>
          </a:xfrm>
        </p:grpSpPr>
        <p:sp>
          <p:nvSpPr>
            <p:cNvPr id="514" name="Rectangle 513">
              <a:extLst>
                <a:ext uri="{FF2B5EF4-FFF2-40B4-BE49-F238E27FC236}">
                  <a16:creationId xmlns:a16="http://schemas.microsoft.com/office/drawing/2014/main" id="{4AF9C0D6-C9EB-118D-CC20-D076EC68A35B}"/>
                </a:ext>
              </a:extLst>
            </p:cNvPr>
            <p:cNvSpPr>
              <a:spLocks/>
            </p:cNvSpPr>
            <p:nvPr/>
          </p:nvSpPr>
          <p:spPr>
            <a:xfrm>
              <a:off x="4332115" y="4557359"/>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CA" sz="700" b="1" kern="0" noProof="0">
                  <a:solidFill>
                    <a:schemeClr val="bg2">
                      <a:lumMod val="10000"/>
                    </a:schemeClr>
                  </a:solidFill>
                </a:rPr>
                <a:t>AI-Ready Data</a:t>
              </a:r>
            </a:p>
          </p:txBody>
        </p:sp>
        <p:grpSp>
          <p:nvGrpSpPr>
            <p:cNvPr id="1048" name="Group 1047">
              <a:extLst>
                <a:ext uri="{FF2B5EF4-FFF2-40B4-BE49-F238E27FC236}">
                  <a16:creationId xmlns:a16="http://schemas.microsoft.com/office/drawing/2014/main" id="{9AE36B54-BD03-6C55-718A-97F30F2F95E3}"/>
                </a:ext>
              </a:extLst>
            </p:cNvPr>
            <p:cNvGrpSpPr/>
            <p:nvPr/>
          </p:nvGrpSpPr>
          <p:grpSpPr>
            <a:xfrm>
              <a:off x="5156087" y="4322346"/>
              <a:ext cx="540000" cy="415731"/>
              <a:chOff x="5156087" y="4215285"/>
              <a:chExt cx="540000" cy="415731"/>
            </a:xfrm>
          </p:grpSpPr>
          <p:pic>
            <p:nvPicPr>
              <p:cNvPr id="564" name="Picture 12" descr="Neo4j - Wikipedia">
                <a:extLst>
                  <a:ext uri="{FF2B5EF4-FFF2-40B4-BE49-F238E27FC236}">
                    <a16:creationId xmlns:a16="http://schemas.microsoft.com/office/drawing/2014/main" id="{984E9FCC-089F-7CC8-1ECF-B738A3E287D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161852" y="4215285"/>
                <a:ext cx="504000" cy="178920"/>
              </a:xfrm>
              <a:prstGeom prst="rect">
                <a:avLst/>
              </a:prstGeom>
              <a:noFill/>
              <a:extLst>
                <a:ext uri="{909E8E84-426E-40DD-AFC4-6F175D3DCCD1}">
                  <a14:hiddenFill xmlns:a14="http://schemas.microsoft.com/office/drawing/2010/main">
                    <a:solidFill>
                      <a:srgbClr val="FFFFFF"/>
                    </a:solidFill>
                  </a14:hiddenFill>
                </a:ext>
              </a:extLst>
            </p:spPr>
          </p:pic>
          <p:pic>
            <p:nvPicPr>
              <p:cNvPr id="565" name="Picture 10">
                <a:extLst>
                  <a:ext uri="{FF2B5EF4-FFF2-40B4-BE49-F238E27FC236}">
                    <a16:creationId xmlns:a16="http://schemas.microsoft.com/office/drawing/2014/main" id="{EBF86BDF-241F-CF72-D24B-741511D3965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56087" y="4485328"/>
                <a:ext cx="540000" cy="145688"/>
              </a:xfrm>
              <a:prstGeom prst="rect">
                <a:avLst/>
              </a:prstGeom>
              <a:noFill/>
              <a:extLst>
                <a:ext uri="{909E8E84-426E-40DD-AFC4-6F175D3DCCD1}">
                  <a14:hiddenFill xmlns:a14="http://schemas.microsoft.com/office/drawing/2010/main">
                    <a:solidFill>
                      <a:srgbClr val="FFFFFF"/>
                    </a:solidFill>
                  </a14:hiddenFill>
                </a:ext>
              </a:extLst>
            </p:spPr>
          </p:pic>
        </p:grpSp>
      </p:grpSp>
      <p:cxnSp>
        <p:nvCxnSpPr>
          <p:cNvPr id="24" name="Straight Connector 23">
            <a:extLst>
              <a:ext uri="{FF2B5EF4-FFF2-40B4-BE49-F238E27FC236}">
                <a16:creationId xmlns:a16="http://schemas.microsoft.com/office/drawing/2014/main" id="{2D88572C-4FA5-E6D1-8594-A8DC592C6EDA}"/>
              </a:ext>
            </a:extLst>
          </p:cNvPr>
          <p:cNvCxnSpPr>
            <a:cxnSpLocks/>
          </p:cNvCxnSpPr>
          <p:nvPr/>
        </p:nvCxnSpPr>
        <p:spPr>
          <a:xfrm>
            <a:off x="4578102" y="5624339"/>
            <a:ext cx="2052000"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528" name="Rounded Rectangle 12">
            <a:extLst>
              <a:ext uri="{FF2B5EF4-FFF2-40B4-BE49-F238E27FC236}">
                <a16:creationId xmlns:a16="http://schemas.microsoft.com/office/drawing/2014/main" id="{327ED0DC-A4C4-438E-570C-0F2918720304}"/>
              </a:ext>
            </a:extLst>
          </p:cNvPr>
          <p:cNvSpPr/>
          <p:nvPr/>
        </p:nvSpPr>
        <p:spPr>
          <a:xfrm>
            <a:off x="6806906" y="1517272"/>
            <a:ext cx="2736000" cy="4572000"/>
          </a:xfrm>
          <a:prstGeom prst="rect">
            <a:avLst/>
          </a:prstGeom>
          <a:noFill/>
          <a:ln>
            <a:solidFill>
              <a:schemeClr val="bg2">
                <a:lumMod val="10000"/>
              </a:schemeClr>
            </a:solidFill>
          </a:ln>
        </p:spPr>
        <p:style>
          <a:lnRef idx="2">
            <a:schemeClr val="accent2"/>
          </a:lnRef>
          <a:fillRef idx="1">
            <a:schemeClr val="lt1"/>
          </a:fillRef>
          <a:effectRef idx="0">
            <a:schemeClr val="accent2"/>
          </a:effectRef>
          <a:fontRef idx="minor">
            <a:schemeClr val="dk1"/>
          </a:fontRef>
        </p:style>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0" cap="none" spc="0" normalizeH="0" baseline="0" noProof="0">
                <a:ln>
                  <a:noFill/>
                </a:ln>
                <a:solidFill>
                  <a:schemeClr val="bg2">
                    <a:lumMod val="10000"/>
                  </a:schemeClr>
                </a:solidFill>
                <a:effectLst/>
                <a:uLnTx/>
                <a:uFillTx/>
              </a:rPr>
              <a:t>Data Information Access</a:t>
            </a:r>
            <a:endParaRPr kumimoji="0" lang="en-CA" sz="900" b="0" i="0" u="none" strike="noStrike" kern="0" cap="none" spc="0" normalizeH="0" baseline="0" noProof="0">
              <a:ln>
                <a:noFill/>
              </a:ln>
              <a:solidFill>
                <a:schemeClr val="bg2">
                  <a:lumMod val="10000"/>
                </a:schemeClr>
              </a:solidFill>
              <a:effectLst/>
              <a:uLnTx/>
              <a:uFillTx/>
            </a:endParaRPr>
          </a:p>
        </p:txBody>
      </p:sp>
      <p:pic>
        <p:nvPicPr>
          <p:cNvPr id="530" name="Picture 18" descr="What is AWS and how to get certified? | by Elena O | Towards AWS">
            <a:extLst>
              <a:ext uri="{FF2B5EF4-FFF2-40B4-BE49-F238E27FC236}">
                <a16:creationId xmlns:a16="http://schemas.microsoft.com/office/drawing/2014/main" id="{B8326BAB-95C5-1F65-D48D-9C24501F8EF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556" t="14496" r="8291" b="15058"/>
          <a:stretch>
            <a:fillRect/>
          </a:stretch>
        </p:blipFill>
        <p:spPr bwMode="auto">
          <a:xfrm>
            <a:off x="8457395" y="5747654"/>
            <a:ext cx="468000" cy="262422"/>
          </a:xfrm>
          <a:prstGeom prst="rect">
            <a:avLst/>
          </a:prstGeom>
          <a:noFill/>
          <a:extLst>
            <a:ext uri="{909E8E84-426E-40DD-AFC4-6F175D3DCCD1}">
              <a14:hiddenFill xmlns:a14="http://schemas.microsoft.com/office/drawing/2010/main">
                <a:solidFill>
                  <a:srgbClr val="FFFFFF"/>
                </a:solidFill>
              </a14:hiddenFill>
            </a:ext>
          </a:extLst>
        </p:spPr>
      </p:pic>
      <p:pic>
        <p:nvPicPr>
          <p:cNvPr id="535" name="Picture 534" descr="Azure Logo, Blue Mark, Tech Emblem, Cloud Symbol, Cloud Computing PNG">
            <a:extLst>
              <a:ext uri="{FF2B5EF4-FFF2-40B4-BE49-F238E27FC236}">
                <a16:creationId xmlns:a16="http://schemas.microsoft.com/office/drawing/2014/main" id="{ADE0A259-4A0E-DD40-71AB-3E205DA419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38226" y="5709553"/>
            <a:ext cx="360000" cy="338625"/>
          </a:xfrm>
          <a:prstGeom prst="rect">
            <a:avLst/>
          </a:prstGeom>
          <a:noFill/>
          <a:extLst>
            <a:ext uri="{909E8E84-426E-40DD-AFC4-6F175D3DCCD1}">
              <a14:hiddenFill xmlns:a14="http://schemas.microsoft.com/office/drawing/2010/main">
                <a:solidFill>
                  <a:srgbClr val="FFFFFF"/>
                </a:solidFill>
              </a14:hiddenFill>
            </a:ext>
          </a:extLst>
        </p:spPr>
      </p:pic>
      <p:sp>
        <p:nvSpPr>
          <p:cNvPr id="137" name="Rectangle 136">
            <a:extLst>
              <a:ext uri="{FF2B5EF4-FFF2-40B4-BE49-F238E27FC236}">
                <a16:creationId xmlns:a16="http://schemas.microsoft.com/office/drawing/2014/main" id="{16E4576C-03CC-7C7F-7FDB-5A5159C95C3B}"/>
              </a:ext>
            </a:extLst>
          </p:cNvPr>
          <p:cNvSpPr>
            <a:spLocks/>
          </p:cNvSpPr>
          <p:nvPr/>
        </p:nvSpPr>
        <p:spPr>
          <a:xfrm>
            <a:off x="6879424" y="5698865"/>
            <a:ext cx="720000" cy="360000"/>
          </a:xfrm>
          <a:prstGeom prst="rect">
            <a:avLst/>
          </a:prstGeom>
          <a:noFill/>
          <a:ln w="9525">
            <a:noFill/>
          </a:ln>
        </p:spPr>
        <p:txBody>
          <a:bodyPr vert="horz" lIns="0" tIns="0" rIns="0" bIns="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CA" sz="700" b="1" i="0" u="none" strike="noStrike" kern="0" cap="none" spc="0" normalizeH="0" baseline="0" noProof="0">
                <a:ln>
                  <a:noFill/>
                </a:ln>
                <a:solidFill>
                  <a:schemeClr val="bg2">
                    <a:lumMod val="10000"/>
                  </a:schemeClr>
                </a:solidFill>
                <a:effectLst/>
                <a:uLnTx/>
                <a:uFillTx/>
              </a:rPr>
              <a:t>Cloud Service Providers</a:t>
            </a:r>
          </a:p>
        </p:txBody>
      </p:sp>
      <p:cxnSp>
        <p:nvCxnSpPr>
          <p:cNvPr id="138" name="Straight Connector 137">
            <a:extLst>
              <a:ext uri="{FF2B5EF4-FFF2-40B4-BE49-F238E27FC236}">
                <a16:creationId xmlns:a16="http://schemas.microsoft.com/office/drawing/2014/main" id="{C33325A7-4430-0DC5-51ED-D5C38F8AFE92}"/>
              </a:ext>
            </a:extLst>
          </p:cNvPr>
          <p:cNvCxnSpPr>
            <a:cxnSpLocks/>
          </p:cNvCxnSpPr>
          <p:nvPr/>
        </p:nvCxnSpPr>
        <p:spPr>
          <a:xfrm flipV="1">
            <a:off x="8412901" y="1733269"/>
            <a:ext cx="0" cy="4248000"/>
          </a:xfrm>
          <a:prstGeom prst="line">
            <a:avLst/>
          </a:prstGeom>
          <a:ln>
            <a:solidFill>
              <a:schemeClr val="tx1"/>
            </a:solidFill>
            <a:prstDash val="lgDashDot"/>
          </a:ln>
        </p:spPr>
        <p:style>
          <a:lnRef idx="1">
            <a:schemeClr val="dk1"/>
          </a:lnRef>
          <a:fillRef idx="0">
            <a:schemeClr val="dk1"/>
          </a:fillRef>
          <a:effectRef idx="0">
            <a:schemeClr val="dk1"/>
          </a:effectRef>
          <a:fontRef idx="minor">
            <a:schemeClr val="tx1"/>
          </a:fontRef>
        </p:style>
      </p:cxnSp>
      <p:cxnSp>
        <p:nvCxnSpPr>
          <p:cNvPr id="139" name="Straight Connector 138">
            <a:extLst>
              <a:ext uri="{FF2B5EF4-FFF2-40B4-BE49-F238E27FC236}">
                <a16:creationId xmlns:a16="http://schemas.microsoft.com/office/drawing/2014/main" id="{D69E7BF4-A2D7-E5A3-B75C-5232A924DC16}"/>
              </a:ext>
            </a:extLst>
          </p:cNvPr>
          <p:cNvCxnSpPr>
            <a:cxnSpLocks/>
          </p:cNvCxnSpPr>
          <p:nvPr/>
        </p:nvCxnSpPr>
        <p:spPr>
          <a:xfrm flipV="1">
            <a:off x="8961395" y="1733269"/>
            <a:ext cx="0" cy="4248000"/>
          </a:xfrm>
          <a:prstGeom prst="line">
            <a:avLst/>
          </a:prstGeom>
          <a:ln>
            <a:solidFill>
              <a:schemeClr val="tx1"/>
            </a:solidFill>
            <a:prstDash val="lgDashDot"/>
          </a:ln>
        </p:spPr>
        <p:style>
          <a:lnRef idx="1">
            <a:schemeClr val="dk1"/>
          </a:lnRef>
          <a:fillRef idx="0">
            <a:schemeClr val="dk1"/>
          </a:fillRef>
          <a:effectRef idx="0">
            <a:schemeClr val="dk1"/>
          </a:effectRef>
          <a:fontRef idx="minor">
            <a:schemeClr val="tx1"/>
          </a:fontRef>
        </p:style>
      </p:cxnSp>
      <p:pic>
        <p:nvPicPr>
          <p:cNvPr id="142" name="Picture 2" descr="Google-Cloud-Symbol - OpenExpo Europe 2025">
            <a:extLst>
              <a:ext uri="{FF2B5EF4-FFF2-40B4-BE49-F238E27FC236}">
                <a16:creationId xmlns:a16="http://schemas.microsoft.com/office/drawing/2014/main" id="{F4CB83C6-B825-A760-460A-978B8069858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9927" r="19559"/>
          <a:stretch>
            <a:fillRect/>
          </a:stretch>
        </p:blipFill>
        <p:spPr bwMode="auto">
          <a:xfrm>
            <a:off x="9052955" y="5694820"/>
            <a:ext cx="396000" cy="368091"/>
          </a:xfrm>
          <a:prstGeom prst="rect">
            <a:avLst/>
          </a:prstGeom>
          <a:noFill/>
          <a:extLst>
            <a:ext uri="{909E8E84-426E-40DD-AFC4-6F175D3DCCD1}">
              <a14:hiddenFill xmlns:a14="http://schemas.microsoft.com/office/drawing/2010/main">
                <a:solidFill>
                  <a:srgbClr val="FFFFFF"/>
                </a:solidFill>
              </a14:hiddenFill>
            </a:ext>
          </a:extLst>
        </p:spPr>
      </p:pic>
      <p:cxnSp>
        <p:nvCxnSpPr>
          <p:cNvPr id="143" name="Straight Connector 142">
            <a:extLst>
              <a:ext uri="{FF2B5EF4-FFF2-40B4-BE49-F238E27FC236}">
                <a16:creationId xmlns:a16="http://schemas.microsoft.com/office/drawing/2014/main" id="{ADC2ABF3-4888-8076-D48E-86FAF14F59CA}"/>
              </a:ext>
            </a:extLst>
          </p:cNvPr>
          <p:cNvCxnSpPr>
            <a:cxnSpLocks/>
          </p:cNvCxnSpPr>
          <p:nvPr/>
        </p:nvCxnSpPr>
        <p:spPr>
          <a:xfrm>
            <a:off x="6896906" y="5624339"/>
            <a:ext cx="2556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1039" name="Group 1038">
            <a:extLst>
              <a:ext uri="{FF2B5EF4-FFF2-40B4-BE49-F238E27FC236}">
                <a16:creationId xmlns:a16="http://schemas.microsoft.com/office/drawing/2014/main" id="{463F73EF-36DD-90C5-058B-04D9DC2B48C6}"/>
              </a:ext>
            </a:extLst>
          </p:cNvPr>
          <p:cNvGrpSpPr/>
          <p:nvPr/>
        </p:nvGrpSpPr>
        <p:grpSpPr>
          <a:xfrm>
            <a:off x="6879424" y="5121471"/>
            <a:ext cx="1957627" cy="454745"/>
            <a:chOff x="6696224" y="5204941"/>
            <a:chExt cx="1957627" cy="454745"/>
          </a:xfrm>
        </p:grpSpPr>
        <p:sp>
          <p:nvSpPr>
            <p:cNvPr id="144" name="TextBox 143">
              <a:extLst>
                <a:ext uri="{FF2B5EF4-FFF2-40B4-BE49-F238E27FC236}">
                  <a16:creationId xmlns:a16="http://schemas.microsoft.com/office/drawing/2014/main" id="{C6C1164D-5A52-C4AF-9428-3C7A2C4ED1CE}"/>
                </a:ext>
              </a:extLst>
            </p:cNvPr>
            <p:cNvSpPr txBox="1"/>
            <p:nvPr/>
          </p:nvSpPr>
          <p:spPr>
            <a:xfrm>
              <a:off x="6696224" y="5252313"/>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spcAft>
                  <a:spcPts val="600"/>
                </a:spcAft>
                <a:tabLst>
                  <a:tab pos="173736" algn="l"/>
                  <a:tab pos="347472" algn="l"/>
                  <a:tab pos="521208" algn="l"/>
                  <a:tab pos="694944" algn="l"/>
                </a:tabLst>
                <a:defRPr/>
              </a:pPr>
              <a:r>
                <a:rPr lang="en-CA" sz="700" b="1" kern="0" noProof="0">
                  <a:solidFill>
                    <a:schemeClr val="bg2">
                      <a:lumMod val="10000"/>
                    </a:schemeClr>
                  </a:solidFill>
                </a:rPr>
                <a:t>Database connection</a:t>
              </a:r>
            </a:p>
          </p:txBody>
        </p:sp>
        <p:grpSp>
          <p:nvGrpSpPr>
            <p:cNvPr id="160" name="Group 159">
              <a:extLst>
                <a:ext uri="{FF2B5EF4-FFF2-40B4-BE49-F238E27FC236}">
                  <a16:creationId xmlns:a16="http://schemas.microsoft.com/office/drawing/2014/main" id="{075E31E4-F159-303C-2E8E-34FC5F0268CB}"/>
                </a:ext>
              </a:extLst>
            </p:cNvPr>
            <p:cNvGrpSpPr/>
            <p:nvPr/>
          </p:nvGrpSpPr>
          <p:grpSpPr>
            <a:xfrm>
              <a:off x="7463866" y="5204941"/>
              <a:ext cx="742320" cy="454745"/>
              <a:chOff x="7486726" y="5080899"/>
              <a:chExt cx="742320" cy="454745"/>
            </a:xfrm>
          </p:grpSpPr>
          <p:grpSp>
            <p:nvGrpSpPr>
              <p:cNvPr id="158" name="Group 157">
                <a:extLst>
                  <a:ext uri="{FF2B5EF4-FFF2-40B4-BE49-F238E27FC236}">
                    <a16:creationId xmlns:a16="http://schemas.microsoft.com/office/drawing/2014/main" id="{33896734-71A6-611A-C43A-BA5198214913}"/>
                  </a:ext>
                </a:extLst>
              </p:cNvPr>
              <p:cNvGrpSpPr/>
              <p:nvPr/>
            </p:nvGrpSpPr>
            <p:grpSpPr>
              <a:xfrm>
                <a:off x="7486726" y="5080899"/>
                <a:ext cx="274320" cy="454745"/>
                <a:chOff x="7486726" y="5080899"/>
                <a:chExt cx="274320" cy="454745"/>
              </a:xfrm>
            </p:grpSpPr>
            <p:pic>
              <p:nvPicPr>
                <p:cNvPr id="146" name="Picture 145">
                  <a:extLst>
                    <a:ext uri="{FF2B5EF4-FFF2-40B4-BE49-F238E27FC236}">
                      <a16:creationId xmlns:a16="http://schemas.microsoft.com/office/drawing/2014/main" id="{42DFBF70-1E7A-0ECF-886B-4E3A1FB08F07}"/>
                    </a:ext>
                  </a:extLst>
                </p:cNvPr>
                <p:cNvPicPr>
                  <a:picLocks noChangeAspect="1"/>
                </p:cNvPicPr>
                <p:nvPr/>
              </p:nvPicPr>
              <p:blipFill>
                <a:blip r:embed="rId12"/>
                <a:stretch>
                  <a:fillRect/>
                </a:stretch>
              </p:blipFill>
              <p:spPr>
                <a:xfrm>
                  <a:off x="7486726" y="5080899"/>
                  <a:ext cx="274320" cy="274320"/>
                </a:xfrm>
                <a:prstGeom prst="rect">
                  <a:avLst/>
                </a:prstGeom>
              </p:spPr>
            </p:pic>
            <p:sp>
              <p:nvSpPr>
                <p:cNvPr id="147" name="TextBox 146">
                  <a:extLst>
                    <a:ext uri="{FF2B5EF4-FFF2-40B4-BE49-F238E27FC236}">
                      <a16:creationId xmlns:a16="http://schemas.microsoft.com/office/drawing/2014/main" id="{E0145DDA-CDFC-41B6-6E6D-3C89AA7754B1}"/>
                    </a:ext>
                  </a:extLst>
                </p:cNvPr>
                <p:cNvSpPr txBox="1"/>
                <p:nvPr/>
              </p:nvSpPr>
              <p:spPr>
                <a:xfrm>
                  <a:off x="7533886" y="5355219"/>
                  <a:ext cx="180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SQL</a:t>
                  </a:r>
                </a:p>
              </p:txBody>
            </p:sp>
          </p:grpSp>
          <p:grpSp>
            <p:nvGrpSpPr>
              <p:cNvPr id="159" name="Group 158">
                <a:extLst>
                  <a:ext uri="{FF2B5EF4-FFF2-40B4-BE49-F238E27FC236}">
                    <a16:creationId xmlns:a16="http://schemas.microsoft.com/office/drawing/2014/main" id="{B76D4E75-CCF5-CCB9-E77A-E7D8B100A9A8}"/>
                  </a:ext>
                </a:extLst>
              </p:cNvPr>
              <p:cNvGrpSpPr/>
              <p:nvPr/>
            </p:nvGrpSpPr>
            <p:grpSpPr>
              <a:xfrm>
                <a:off x="7761046" y="5120695"/>
                <a:ext cx="468000" cy="414949"/>
                <a:chOff x="7761046" y="5120695"/>
                <a:chExt cx="468000" cy="414949"/>
              </a:xfrm>
            </p:grpSpPr>
            <p:pic>
              <p:nvPicPr>
                <p:cNvPr id="150" name="Picture 149">
                  <a:extLst>
                    <a:ext uri="{FF2B5EF4-FFF2-40B4-BE49-F238E27FC236}">
                      <a16:creationId xmlns:a16="http://schemas.microsoft.com/office/drawing/2014/main" id="{FFAF6DB0-236D-2DB7-6744-95C95FF683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65549" y="5120695"/>
                  <a:ext cx="258995" cy="234524"/>
                </a:xfrm>
                <a:prstGeom prst="rect">
                  <a:avLst/>
                </a:prstGeom>
              </p:spPr>
            </p:pic>
            <p:sp>
              <p:nvSpPr>
                <p:cNvPr id="151" name="TextBox 150">
                  <a:extLst>
                    <a:ext uri="{FF2B5EF4-FFF2-40B4-BE49-F238E27FC236}">
                      <a16:creationId xmlns:a16="http://schemas.microsoft.com/office/drawing/2014/main" id="{43FE1CB6-DCE0-2A76-49C1-0DE8BF931717}"/>
                    </a:ext>
                  </a:extLst>
                </p:cNvPr>
                <p:cNvSpPr txBox="1"/>
                <p:nvPr/>
              </p:nvSpPr>
              <p:spPr>
                <a:xfrm>
                  <a:off x="7761046" y="5355219"/>
                  <a:ext cx="468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Databricks</a:t>
                  </a:r>
                </a:p>
              </p:txBody>
            </p:sp>
          </p:grpSp>
        </p:grpSp>
        <p:grpSp>
          <p:nvGrpSpPr>
            <p:cNvPr id="152" name="Group 151">
              <a:extLst>
                <a:ext uri="{FF2B5EF4-FFF2-40B4-BE49-F238E27FC236}">
                  <a16:creationId xmlns:a16="http://schemas.microsoft.com/office/drawing/2014/main" id="{2E5164BD-4FA1-8B26-ECAB-6DF206A994CC}"/>
                </a:ext>
              </a:extLst>
            </p:cNvPr>
            <p:cNvGrpSpPr/>
            <p:nvPr/>
          </p:nvGrpSpPr>
          <p:grpSpPr>
            <a:xfrm>
              <a:off x="8362539" y="5204941"/>
              <a:ext cx="291312" cy="454745"/>
              <a:chOff x="6033333" y="3125272"/>
              <a:chExt cx="291312" cy="454745"/>
            </a:xfrm>
          </p:grpSpPr>
          <p:pic>
            <p:nvPicPr>
              <p:cNvPr id="153" name="Picture 152">
                <a:extLst>
                  <a:ext uri="{FF2B5EF4-FFF2-40B4-BE49-F238E27FC236}">
                    <a16:creationId xmlns:a16="http://schemas.microsoft.com/office/drawing/2014/main" id="{C7DC1F98-A9C6-DCBB-14D4-0D58728CAEBB}"/>
                  </a:ext>
                </a:extLst>
              </p:cNvPr>
              <p:cNvPicPr>
                <a:picLocks noChangeAspect="1"/>
              </p:cNvPicPr>
              <p:nvPr/>
            </p:nvPicPr>
            <p:blipFill>
              <a:blip r:embed="rId11"/>
              <a:stretch>
                <a:fillRect/>
              </a:stretch>
            </p:blipFill>
            <p:spPr>
              <a:xfrm>
                <a:off x="6033333" y="3125272"/>
                <a:ext cx="291312" cy="274320"/>
              </a:xfrm>
              <a:prstGeom prst="rect">
                <a:avLst/>
              </a:prstGeom>
            </p:spPr>
          </p:pic>
          <p:sp>
            <p:nvSpPr>
              <p:cNvPr id="154" name="TextBox 153">
                <a:extLst>
                  <a:ext uri="{FF2B5EF4-FFF2-40B4-BE49-F238E27FC236}">
                    <a16:creationId xmlns:a16="http://schemas.microsoft.com/office/drawing/2014/main" id="{FBEB4AF5-5949-C591-8742-586FDB30BA72}"/>
                  </a:ext>
                </a:extLst>
              </p:cNvPr>
              <p:cNvSpPr txBox="1"/>
              <p:nvPr/>
            </p:nvSpPr>
            <p:spPr>
              <a:xfrm>
                <a:off x="6070989" y="3399592"/>
                <a:ext cx="216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RDS</a:t>
                </a:r>
              </a:p>
            </p:txBody>
          </p:sp>
        </p:grpSp>
      </p:grpSp>
      <p:cxnSp>
        <p:nvCxnSpPr>
          <p:cNvPr id="157" name="Straight Connector 156">
            <a:extLst>
              <a:ext uri="{FF2B5EF4-FFF2-40B4-BE49-F238E27FC236}">
                <a16:creationId xmlns:a16="http://schemas.microsoft.com/office/drawing/2014/main" id="{929A5C74-B424-3EF5-069E-68EFCA517004}"/>
              </a:ext>
            </a:extLst>
          </p:cNvPr>
          <p:cNvCxnSpPr>
            <a:cxnSpLocks/>
          </p:cNvCxnSpPr>
          <p:nvPr/>
        </p:nvCxnSpPr>
        <p:spPr>
          <a:xfrm>
            <a:off x="6896906" y="5073344"/>
            <a:ext cx="2556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1040" name="Group 1039">
            <a:extLst>
              <a:ext uri="{FF2B5EF4-FFF2-40B4-BE49-F238E27FC236}">
                <a16:creationId xmlns:a16="http://schemas.microsoft.com/office/drawing/2014/main" id="{8819FB42-5373-5B2D-783D-A0B53BE752DB}"/>
              </a:ext>
            </a:extLst>
          </p:cNvPr>
          <p:cNvGrpSpPr/>
          <p:nvPr/>
        </p:nvGrpSpPr>
        <p:grpSpPr>
          <a:xfrm>
            <a:off x="6879424" y="4665217"/>
            <a:ext cx="1390802" cy="360000"/>
            <a:chOff x="6696224" y="4709509"/>
            <a:chExt cx="1390802" cy="360000"/>
          </a:xfrm>
        </p:grpSpPr>
        <p:sp>
          <p:nvSpPr>
            <p:cNvPr id="161" name="TextBox 160">
              <a:extLst>
                <a:ext uri="{FF2B5EF4-FFF2-40B4-BE49-F238E27FC236}">
                  <a16:creationId xmlns:a16="http://schemas.microsoft.com/office/drawing/2014/main" id="{CB9D7C82-27B0-1E11-BAA1-5D541CBFEB28}"/>
                </a:ext>
              </a:extLst>
            </p:cNvPr>
            <p:cNvSpPr txBox="1"/>
            <p:nvPr/>
          </p:nvSpPr>
          <p:spPr>
            <a:xfrm>
              <a:off x="6696224" y="4709509"/>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defRPr/>
              </a:pPr>
              <a:r>
                <a:rPr lang="en-CA" sz="700" b="1" kern="0" noProof="0">
                  <a:solidFill>
                    <a:schemeClr val="bg2">
                      <a:lumMod val="10000"/>
                    </a:schemeClr>
                  </a:solidFill>
                </a:rPr>
                <a:t>Graphs</a:t>
              </a:r>
            </a:p>
          </p:txBody>
        </p:sp>
        <p:grpSp>
          <p:nvGrpSpPr>
            <p:cNvPr id="162" name="Group 161">
              <a:extLst>
                <a:ext uri="{FF2B5EF4-FFF2-40B4-BE49-F238E27FC236}">
                  <a16:creationId xmlns:a16="http://schemas.microsoft.com/office/drawing/2014/main" id="{201E402F-C2E1-5EA5-2C2B-EC65FCC6C86F}"/>
                </a:ext>
              </a:extLst>
            </p:cNvPr>
            <p:cNvGrpSpPr/>
            <p:nvPr/>
          </p:nvGrpSpPr>
          <p:grpSpPr>
            <a:xfrm>
              <a:off x="7583026" y="4709837"/>
              <a:ext cx="504000" cy="359345"/>
              <a:chOff x="5257733" y="4377782"/>
              <a:chExt cx="504000" cy="359345"/>
            </a:xfrm>
          </p:grpSpPr>
          <p:sp>
            <p:nvSpPr>
              <p:cNvPr id="163" name="TextBox 162">
                <a:extLst>
                  <a:ext uri="{FF2B5EF4-FFF2-40B4-BE49-F238E27FC236}">
                    <a16:creationId xmlns:a16="http://schemas.microsoft.com/office/drawing/2014/main" id="{44EABE2D-256C-6B2C-F79B-97D0B6490732}"/>
                  </a:ext>
                </a:extLst>
              </p:cNvPr>
              <p:cNvSpPr txBox="1"/>
              <p:nvPr/>
            </p:nvSpPr>
            <p:spPr>
              <a:xfrm>
                <a:off x="5311733" y="4556702"/>
                <a:ext cx="396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Neo4j</a:t>
                </a:r>
              </a:p>
            </p:txBody>
          </p:sp>
          <p:pic>
            <p:nvPicPr>
              <p:cNvPr id="164" name="Picture 12" descr="Neo4j - Wikipedia">
                <a:extLst>
                  <a:ext uri="{FF2B5EF4-FFF2-40B4-BE49-F238E27FC236}">
                    <a16:creationId xmlns:a16="http://schemas.microsoft.com/office/drawing/2014/main" id="{0F50060B-5153-4CEE-8EB4-3075552AC59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57733" y="4377782"/>
                <a:ext cx="504000" cy="178920"/>
              </a:xfrm>
              <a:prstGeom prst="rect">
                <a:avLst/>
              </a:prstGeom>
              <a:noFill/>
              <a:extLst>
                <a:ext uri="{909E8E84-426E-40DD-AFC4-6F175D3DCCD1}">
                  <a14:hiddenFill xmlns:a14="http://schemas.microsoft.com/office/drawing/2010/main">
                    <a:solidFill>
                      <a:srgbClr val="FFFFFF"/>
                    </a:solidFill>
                  </a14:hiddenFill>
                </a:ext>
              </a:extLst>
            </p:spPr>
          </p:pic>
        </p:grpSp>
      </p:grpSp>
      <p:cxnSp>
        <p:nvCxnSpPr>
          <p:cNvPr id="165" name="Straight Connector 164">
            <a:extLst>
              <a:ext uri="{FF2B5EF4-FFF2-40B4-BE49-F238E27FC236}">
                <a16:creationId xmlns:a16="http://schemas.microsoft.com/office/drawing/2014/main" id="{92F326A5-2C72-FE19-C44F-7B9D9FD33A28}"/>
              </a:ext>
            </a:extLst>
          </p:cNvPr>
          <p:cNvCxnSpPr>
            <a:cxnSpLocks/>
          </p:cNvCxnSpPr>
          <p:nvPr/>
        </p:nvCxnSpPr>
        <p:spPr>
          <a:xfrm>
            <a:off x="6896906" y="4617090"/>
            <a:ext cx="2556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1041" name="Group 1040">
            <a:extLst>
              <a:ext uri="{FF2B5EF4-FFF2-40B4-BE49-F238E27FC236}">
                <a16:creationId xmlns:a16="http://schemas.microsoft.com/office/drawing/2014/main" id="{037E3F24-DBD8-6037-2FC7-76B022196468}"/>
              </a:ext>
            </a:extLst>
          </p:cNvPr>
          <p:cNvGrpSpPr/>
          <p:nvPr/>
        </p:nvGrpSpPr>
        <p:grpSpPr>
          <a:xfrm>
            <a:off x="6876252" y="4154014"/>
            <a:ext cx="1393974" cy="414949"/>
            <a:chOff x="6693052" y="4100551"/>
            <a:chExt cx="1393974" cy="414949"/>
          </a:xfrm>
        </p:grpSpPr>
        <p:sp>
          <p:nvSpPr>
            <p:cNvPr id="166" name="TextBox 165">
              <a:extLst>
                <a:ext uri="{FF2B5EF4-FFF2-40B4-BE49-F238E27FC236}">
                  <a16:creationId xmlns:a16="http://schemas.microsoft.com/office/drawing/2014/main" id="{0044C974-8E08-8ED2-86D1-E4FFEB6C5C8B}"/>
                </a:ext>
              </a:extLst>
            </p:cNvPr>
            <p:cNvSpPr txBox="1"/>
            <p:nvPr/>
          </p:nvSpPr>
          <p:spPr>
            <a:xfrm>
              <a:off x="6693052" y="4128025"/>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defRPr/>
              </a:pPr>
              <a:r>
                <a:rPr lang="en-CA" sz="700" b="1" kern="0" noProof="0">
                  <a:solidFill>
                    <a:schemeClr val="bg2">
                      <a:lumMod val="10000"/>
                    </a:schemeClr>
                  </a:solidFill>
                </a:rPr>
                <a:t>Tabular Views</a:t>
              </a:r>
            </a:p>
          </p:txBody>
        </p:sp>
        <p:grpSp>
          <p:nvGrpSpPr>
            <p:cNvPr id="167" name="Group 166">
              <a:extLst>
                <a:ext uri="{FF2B5EF4-FFF2-40B4-BE49-F238E27FC236}">
                  <a16:creationId xmlns:a16="http://schemas.microsoft.com/office/drawing/2014/main" id="{F7356656-E395-6CB0-F378-BCB6DFADC58C}"/>
                </a:ext>
              </a:extLst>
            </p:cNvPr>
            <p:cNvGrpSpPr/>
            <p:nvPr/>
          </p:nvGrpSpPr>
          <p:grpSpPr>
            <a:xfrm>
              <a:off x="7583026" y="4100551"/>
              <a:ext cx="504000" cy="414949"/>
              <a:chOff x="2420780" y="2351870"/>
              <a:chExt cx="504000" cy="414949"/>
            </a:xfrm>
          </p:grpSpPr>
          <p:pic>
            <p:nvPicPr>
              <p:cNvPr id="168" name="Picture 167">
                <a:extLst>
                  <a:ext uri="{FF2B5EF4-FFF2-40B4-BE49-F238E27FC236}">
                    <a16:creationId xmlns:a16="http://schemas.microsoft.com/office/drawing/2014/main" id="{80BD3330-2FA5-5D13-7D04-5376AC4629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43283" y="2351870"/>
                <a:ext cx="258995" cy="234524"/>
              </a:xfrm>
              <a:prstGeom prst="rect">
                <a:avLst/>
              </a:prstGeom>
            </p:spPr>
          </p:pic>
          <p:sp>
            <p:nvSpPr>
              <p:cNvPr id="169" name="TextBox 168">
                <a:extLst>
                  <a:ext uri="{FF2B5EF4-FFF2-40B4-BE49-F238E27FC236}">
                    <a16:creationId xmlns:a16="http://schemas.microsoft.com/office/drawing/2014/main" id="{E980AAB3-5EE3-3EF9-D429-6F0B35679E63}"/>
                  </a:ext>
                </a:extLst>
              </p:cNvPr>
              <p:cNvSpPr txBox="1"/>
              <p:nvPr/>
            </p:nvSpPr>
            <p:spPr>
              <a:xfrm>
                <a:off x="2420780" y="2586394"/>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Databricks</a:t>
                </a:r>
              </a:p>
            </p:txBody>
          </p:sp>
        </p:grpSp>
      </p:grpSp>
      <p:cxnSp>
        <p:nvCxnSpPr>
          <p:cNvPr id="170" name="Straight Connector 169">
            <a:extLst>
              <a:ext uri="{FF2B5EF4-FFF2-40B4-BE49-F238E27FC236}">
                <a16:creationId xmlns:a16="http://schemas.microsoft.com/office/drawing/2014/main" id="{CB39DEA9-1970-FD54-9241-C894CAC1FD30}"/>
              </a:ext>
            </a:extLst>
          </p:cNvPr>
          <p:cNvCxnSpPr>
            <a:cxnSpLocks/>
          </p:cNvCxnSpPr>
          <p:nvPr/>
        </p:nvCxnSpPr>
        <p:spPr>
          <a:xfrm>
            <a:off x="6928656" y="4105887"/>
            <a:ext cx="2556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1042" name="Group 1041">
            <a:extLst>
              <a:ext uri="{FF2B5EF4-FFF2-40B4-BE49-F238E27FC236}">
                <a16:creationId xmlns:a16="http://schemas.microsoft.com/office/drawing/2014/main" id="{87F609C3-E2FA-AC28-6144-B091DAAF6663}"/>
              </a:ext>
            </a:extLst>
          </p:cNvPr>
          <p:cNvGrpSpPr/>
          <p:nvPr/>
        </p:nvGrpSpPr>
        <p:grpSpPr>
          <a:xfrm>
            <a:off x="6865874" y="3638727"/>
            <a:ext cx="1951521" cy="419033"/>
            <a:chOff x="6682674" y="3570751"/>
            <a:chExt cx="1951521" cy="419033"/>
          </a:xfrm>
        </p:grpSpPr>
        <p:sp>
          <p:nvSpPr>
            <p:cNvPr id="172" name="TextBox 171">
              <a:extLst>
                <a:ext uri="{FF2B5EF4-FFF2-40B4-BE49-F238E27FC236}">
                  <a16:creationId xmlns:a16="http://schemas.microsoft.com/office/drawing/2014/main" id="{975DAB57-7A0F-5AD2-B6BF-B81EF835044A}"/>
                </a:ext>
              </a:extLst>
            </p:cNvPr>
            <p:cNvSpPr txBox="1"/>
            <p:nvPr/>
          </p:nvSpPr>
          <p:spPr>
            <a:xfrm>
              <a:off x="6682674" y="3600267"/>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defRPr/>
              </a:pPr>
              <a:r>
                <a:rPr lang="en-CA" sz="700" b="1" kern="0" noProof="0">
                  <a:solidFill>
                    <a:schemeClr val="bg2">
                      <a:lumMod val="10000"/>
                    </a:schemeClr>
                  </a:solidFill>
                </a:rPr>
                <a:t>Pub / Sub</a:t>
              </a:r>
            </a:p>
          </p:txBody>
        </p:sp>
        <p:grpSp>
          <p:nvGrpSpPr>
            <p:cNvPr id="173" name="Group 172">
              <a:extLst>
                <a:ext uri="{FF2B5EF4-FFF2-40B4-BE49-F238E27FC236}">
                  <a16:creationId xmlns:a16="http://schemas.microsoft.com/office/drawing/2014/main" id="{7CB3E578-29F5-78A4-3AE9-B30256B72FC1}"/>
                </a:ext>
              </a:extLst>
            </p:cNvPr>
            <p:cNvGrpSpPr/>
            <p:nvPr/>
          </p:nvGrpSpPr>
          <p:grpSpPr>
            <a:xfrm>
              <a:off x="7709026" y="3570751"/>
              <a:ext cx="252000" cy="419033"/>
              <a:chOff x="3064802" y="3127672"/>
              <a:chExt cx="252000" cy="419033"/>
            </a:xfrm>
          </p:grpSpPr>
          <p:pic>
            <p:nvPicPr>
              <p:cNvPr id="174" name="Picture 173">
                <a:extLst>
                  <a:ext uri="{FF2B5EF4-FFF2-40B4-BE49-F238E27FC236}">
                    <a16:creationId xmlns:a16="http://schemas.microsoft.com/office/drawing/2014/main" id="{B15FC3A2-7DCD-C253-8E5C-06C28880AB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15347" y="3127672"/>
                <a:ext cx="150911" cy="238608"/>
              </a:xfrm>
              <a:prstGeom prst="rect">
                <a:avLst/>
              </a:prstGeom>
            </p:spPr>
          </p:pic>
          <p:sp>
            <p:nvSpPr>
              <p:cNvPr id="175" name="TextBox 174">
                <a:extLst>
                  <a:ext uri="{FF2B5EF4-FFF2-40B4-BE49-F238E27FC236}">
                    <a16:creationId xmlns:a16="http://schemas.microsoft.com/office/drawing/2014/main" id="{99AE9A69-4D63-FBFD-F879-322C0E70E87C}"/>
                  </a:ext>
                </a:extLst>
              </p:cNvPr>
              <p:cNvSpPr txBox="1"/>
              <p:nvPr/>
            </p:nvSpPr>
            <p:spPr>
              <a:xfrm>
                <a:off x="3064802" y="3366280"/>
                <a:ext cx="252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Kafka</a:t>
                </a:r>
              </a:p>
            </p:txBody>
          </p:sp>
        </p:grpSp>
        <p:grpSp>
          <p:nvGrpSpPr>
            <p:cNvPr id="176" name="Group 175">
              <a:extLst>
                <a:ext uri="{FF2B5EF4-FFF2-40B4-BE49-F238E27FC236}">
                  <a16:creationId xmlns:a16="http://schemas.microsoft.com/office/drawing/2014/main" id="{78EDF3D0-E962-C689-AAA1-9623810188B1}"/>
                </a:ext>
              </a:extLst>
            </p:cNvPr>
            <p:cNvGrpSpPr/>
            <p:nvPr/>
          </p:nvGrpSpPr>
          <p:grpSpPr>
            <a:xfrm>
              <a:off x="8382195" y="3570751"/>
              <a:ext cx="252000" cy="419033"/>
              <a:chOff x="3064802" y="3127672"/>
              <a:chExt cx="252000" cy="419033"/>
            </a:xfrm>
          </p:grpSpPr>
          <p:pic>
            <p:nvPicPr>
              <p:cNvPr id="178" name="Picture 177">
                <a:extLst>
                  <a:ext uri="{FF2B5EF4-FFF2-40B4-BE49-F238E27FC236}">
                    <a16:creationId xmlns:a16="http://schemas.microsoft.com/office/drawing/2014/main" id="{92E548C9-A9A5-20DD-4FDF-9324AA4441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15347" y="3127672"/>
                <a:ext cx="150911" cy="238608"/>
              </a:xfrm>
              <a:prstGeom prst="rect">
                <a:avLst/>
              </a:prstGeom>
            </p:spPr>
          </p:pic>
          <p:sp>
            <p:nvSpPr>
              <p:cNvPr id="179" name="TextBox 178">
                <a:extLst>
                  <a:ext uri="{FF2B5EF4-FFF2-40B4-BE49-F238E27FC236}">
                    <a16:creationId xmlns:a16="http://schemas.microsoft.com/office/drawing/2014/main" id="{D4B08771-4D24-F5C6-5953-6298E0D4C222}"/>
                  </a:ext>
                </a:extLst>
              </p:cNvPr>
              <p:cNvSpPr txBox="1"/>
              <p:nvPr/>
            </p:nvSpPr>
            <p:spPr>
              <a:xfrm>
                <a:off x="3064802" y="3366280"/>
                <a:ext cx="252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Kafka</a:t>
                </a:r>
              </a:p>
            </p:txBody>
          </p:sp>
        </p:grpSp>
      </p:grpSp>
      <p:cxnSp>
        <p:nvCxnSpPr>
          <p:cNvPr id="180" name="Straight Connector 179">
            <a:extLst>
              <a:ext uri="{FF2B5EF4-FFF2-40B4-BE49-F238E27FC236}">
                <a16:creationId xmlns:a16="http://schemas.microsoft.com/office/drawing/2014/main" id="{CADFDDF4-9239-6099-AA76-4ADB575DBDA4}"/>
              </a:ext>
            </a:extLst>
          </p:cNvPr>
          <p:cNvCxnSpPr>
            <a:cxnSpLocks/>
          </p:cNvCxnSpPr>
          <p:nvPr/>
        </p:nvCxnSpPr>
        <p:spPr>
          <a:xfrm>
            <a:off x="6954056" y="3590600"/>
            <a:ext cx="2556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1044" name="Group 1043">
            <a:extLst>
              <a:ext uri="{FF2B5EF4-FFF2-40B4-BE49-F238E27FC236}">
                <a16:creationId xmlns:a16="http://schemas.microsoft.com/office/drawing/2014/main" id="{708D5B0C-CA60-E9DC-2B79-73AAD80D69FA}"/>
              </a:ext>
            </a:extLst>
          </p:cNvPr>
          <p:cNvGrpSpPr/>
          <p:nvPr/>
        </p:nvGrpSpPr>
        <p:grpSpPr>
          <a:xfrm>
            <a:off x="6881969" y="2918468"/>
            <a:ext cx="1388257" cy="414949"/>
            <a:chOff x="6698769" y="2909905"/>
            <a:chExt cx="1388257" cy="414949"/>
          </a:xfrm>
        </p:grpSpPr>
        <p:sp>
          <p:nvSpPr>
            <p:cNvPr id="181" name="TextBox 180">
              <a:extLst>
                <a:ext uri="{FF2B5EF4-FFF2-40B4-BE49-F238E27FC236}">
                  <a16:creationId xmlns:a16="http://schemas.microsoft.com/office/drawing/2014/main" id="{55ABD8EA-FFD6-982F-9587-9711CDA0FCBA}"/>
                </a:ext>
              </a:extLst>
            </p:cNvPr>
            <p:cNvSpPr txBox="1"/>
            <p:nvPr/>
          </p:nvSpPr>
          <p:spPr>
            <a:xfrm>
              <a:off x="6698769" y="2938961"/>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defRPr/>
              </a:pPr>
              <a:r>
                <a:rPr lang="en-CA" sz="700" b="1" kern="0" noProof="0">
                  <a:solidFill>
                    <a:schemeClr val="bg2">
                      <a:lumMod val="10000"/>
                    </a:schemeClr>
                  </a:solidFill>
                </a:rPr>
                <a:t>Files (Batch)</a:t>
              </a:r>
            </a:p>
          </p:txBody>
        </p:sp>
        <p:grpSp>
          <p:nvGrpSpPr>
            <p:cNvPr id="185" name="Group 184">
              <a:extLst>
                <a:ext uri="{FF2B5EF4-FFF2-40B4-BE49-F238E27FC236}">
                  <a16:creationId xmlns:a16="http://schemas.microsoft.com/office/drawing/2014/main" id="{CAFCBC3B-0E3E-A7AC-6412-5D401DA9D569}"/>
                </a:ext>
              </a:extLst>
            </p:cNvPr>
            <p:cNvGrpSpPr/>
            <p:nvPr/>
          </p:nvGrpSpPr>
          <p:grpSpPr>
            <a:xfrm>
              <a:off x="7583026" y="2909905"/>
              <a:ext cx="504000" cy="414949"/>
              <a:chOff x="2452217" y="4087242"/>
              <a:chExt cx="504000" cy="414949"/>
            </a:xfrm>
          </p:grpSpPr>
          <p:pic>
            <p:nvPicPr>
              <p:cNvPr id="186" name="Graphic 185">
                <a:extLst>
                  <a:ext uri="{FF2B5EF4-FFF2-40B4-BE49-F238E27FC236}">
                    <a16:creationId xmlns:a16="http://schemas.microsoft.com/office/drawing/2014/main" id="{89F19604-F209-259E-D072-32B3BDAECAC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576111" y="4087242"/>
                <a:ext cx="256212" cy="234524"/>
              </a:xfrm>
              <a:prstGeom prst="rect">
                <a:avLst/>
              </a:prstGeom>
            </p:spPr>
          </p:pic>
          <p:sp>
            <p:nvSpPr>
              <p:cNvPr id="187" name="TextBox 186">
                <a:extLst>
                  <a:ext uri="{FF2B5EF4-FFF2-40B4-BE49-F238E27FC236}">
                    <a16:creationId xmlns:a16="http://schemas.microsoft.com/office/drawing/2014/main" id="{806F43BE-A15D-A77A-B3AE-013B7ECE1319}"/>
                  </a:ext>
                </a:extLst>
              </p:cNvPr>
              <p:cNvSpPr txBox="1"/>
              <p:nvPr/>
            </p:nvSpPr>
            <p:spPr>
              <a:xfrm>
                <a:off x="2452217" y="4321766"/>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Informatica</a:t>
                </a:r>
              </a:p>
            </p:txBody>
          </p:sp>
        </p:grpSp>
      </p:grpSp>
      <p:cxnSp>
        <p:nvCxnSpPr>
          <p:cNvPr id="188" name="Straight Connector 187">
            <a:extLst>
              <a:ext uri="{FF2B5EF4-FFF2-40B4-BE49-F238E27FC236}">
                <a16:creationId xmlns:a16="http://schemas.microsoft.com/office/drawing/2014/main" id="{0FDF3198-8D7C-654C-57F4-0455FEB10516}"/>
              </a:ext>
            </a:extLst>
          </p:cNvPr>
          <p:cNvCxnSpPr>
            <a:cxnSpLocks/>
          </p:cNvCxnSpPr>
          <p:nvPr/>
        </p:nvCxnSpPr>
        <p:spPr>
          <a:xfrm>
            <a:off x="6909606" y="2664448"/>
            <a:ext cx="2556000" cy="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028" name="Straight Connector 1027">
            <a:extLst>
              <a:ext uri="{FF2B5EF4-FFF2-40B4-BE49-F238E27FC236}">
                <a16:creationId xmlns:a16="http://schemas.microsoft.com/office/drawing/2014/main" id="{7DC8663C-0F3C-B9B1-CDA0-2392829BC2FC}"/>
              </a:ext>
            </a:extLst>
          </p:cNvPr>
          <p:cNvCxnSpPr>
            <a:cxnSpLocks/>
          </p:cNvCxnSpPr>
          <p:nvPr/>
        </p:nvCxnSpPr>
        <p:spPr>
          <a:xfrm>
            <a:off x="6939769" y="2208194"/>
            <a:ext cx="2556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1045" name="Group 1044">
            <a:extLst>
              <a:ext uri="{FF2B5EF4-FFF2-40B4-BE49-F238E27FC236}">
                <a16:creationId xmlns:a16="http://schemas.microsoft.com/office/drawing/2014/main" id="{38AC9021-3C5F-A016-8C1F-4B083077FFD5}"/>
              </a:ext>
            </a:extLst>
          </p:cNvPr>
          <p:cNvGrpSpPr/>
          <p:nvPr/>
        </p:nvGrpSpPr>
        <p:grpSpPr>
          <a:xfrm>
            <a:off x="6892631" y="2253520"/>
            <a:ext cx="2610324" cy="403844"/>
            <a:chOff x="6709431" y="2322684"/>
            <a:chExt cx="2610324" cy="403844"/>
          </a:xfrm>
        </p:grpSpPr>
        <p:sp>
          <p:nvSpPr>
            <p:cNvPr id="1027" name="TextBox 1026">
              <a:extLst>
                <a:ext uri="{FF2B5EF4-FFF2-40B4-BE49-F238E27FC236}">
                  <a16:creationId xmlns:a16="http://schemas.microsoft.com/office/drawing/2014/main" id="{9E07E95A-E682-64A7-D6FE-8FD611CDD485}"/>
                </a:ext>
              </a:extLst>
            </p:cNvPr>
            <p:cNvSpPr txBox="1"/>
            <p:nvPr/>
          </p:nvSpPr>
          <p:spPr>
            <a:xfrm>
              <a:off x="6709431" y="2322684"/>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defRPr/>
              </a:pPr>
              <a:r>
                <a:rPr lang="en-CA" sz="700" b="1" kern="0" noProof="0">
                  <a:solidFill>
                    <a:schemeClr val="bg2">
                      <a:lumMod val="10000"/>
                    </a:schemeClr>
                  </a:solidFill>
                </a:rPr>
                <a:t>API</a:t>
              </a:r>
            </a:p>
          </p:txBody>
        </p:sp>
        <p:grpSp>
          <p:nvGrpSpPr>
            <p:cNvPr id="1033" name="Group 1032">
              <a:extLst>
                <a:ext uri="{FF2B5EF4-FFF2-40B4-BE49-F238E27FC236}">
                  <a16:creationId xmlns:a16="http://schemas.microsoft.com/office/drawing/2014/main" id="{B51FC7C0-679E-789D-2D30-26B0B67D4F4E}"/>
                </a:ext>
              </a:extLst>
            </p:cNvPr>
            <p:cNvGrpSpPr/>
            <p:nvPr/>
          </p:nvGrpSpPr>
          <p:grpSpPr>
            <a:xfrm>
              <a:off x="7583026" y="2383374"/>
              <a:ext cx="504000" cy="343154"/>
              <a:chOff x="7531230" y="2393952"/>
              <a:chExt cx="504000" cy="343154"/>
            </a:xfrm>
          </p:grpSpPr>
          <p:pic>
            <p:nvPicPr>
              <p:cNvPr id="1030" name="Picture 1029">
                <a:extLst>
                  <a:ext uri="{FF2B5EF4-FFF2-40B4-BE49-F238E27FC236}">
                    <a16:creationId xmlns:a16="http://schemas.microsoft.com/office/drawing/2014/main" id="{911C83D1-FCC4-B384-A30F-70C30BCD70BF}"/>
                  </a:ext>
                </a:extLst>
              </p:cNvPr>
              <p:cNvPicPr>
                <a:picLocks noChangeAspect="1"/>
              </p:cNvPicPr>
              <p:nvPr/>
            </p:nvPicPr>
            <p:blipFill>
              <a:blip r:embed="rId7"/>
              <a:stretch>
                <a:fillRect/>
              </a:stretch>
            </p:blipFill>
            <p:spPr>
              <a:xfrm>
                <a:off x="7698454" y="2393952"/>
                <a:ext cx="169552" cy="155422"/>
              </a:xfrm>
              <a:prstGeom prst="rect">
                <a:avLst/>
              </a:prstGeom>
            </p:spPr>
          </p:pic>
          <p:sp>
            <p:nvSpPr>
              <p:cNvPr id="1031" name="TextBox 1030">
                <a:extLst>
                  <a:ext uri="{FF2B5EF4-FFF2-40B4-BE49-F238E27FC236}">
                    <a16:creationId xmlns:a16="http://schemas.microsoft.com/office/drawing/2014/main" id="{F9774A08-CBBA-C1C2-460F-8A30B2DD03C7}"/>
                  </a:ext>
                </a:extLst>
              </p:cNvPr>
              <p:cNvSpPr txBox="1"/>
              <p:nvPr/>
            </p:nvSpPr>
            <p:spPr>
              <a:xfrm>
                <a:off x="7531230" y="2556681"/>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APIM</a:t>
                </a:r>
              </a:p>
            </p:txBody>
          </p:sp>
        </p:grpSp>
        <p:grpSp>
          <p:nvGrpSpPr>
            <p:cNvPr id="1034" name="Group 1033">
              <a:extLst>
                <a:ext uri="{FF2B5EF4-FFF2-40B4-BE49-F238E27FC236}">
                  <a16:creationId xmlns:a16="http://schemas.microsoft.com/office/drawing/2014/main" id="{0858EB56-83AB-02AE-0D04-52D4F307F4AD}"/>
                </a:ext>
              </a:extLst>
            </p:cNvPr>
            <p:cNvGrpSpPr/>
            <p:nvPr/>
          </p:nvGrpSpPr>
          <p:grpSpPr>
            <a:xfrm>
              <a:off x="8815755" y="2331107"/>
              <a:ext cx="504000" cy="343154"/>
              <a:chOff x="8767867" y="2341685"/>
              <a:chExt cx="504000" cy="343154"/>
            </a:xfrm>
          </p:grpSpPr>
          <p:sp>
            <p:nvSpPr>
              <p:cNvPr id="1029" name="TextBox 1028">
                <a:extLst>
                  <a:ext uri="{FF2B5EF4-FFF2-40B4-BE49-F238E27FC236}">
                    <a16:creationId xmlns:a16="http://schemas.microsoft.com/office/drawing/2014/main" id="{616EACB3-1233-6D8F-3315-C01F6A29BC35}"/>
                  </a:ext>
                </a:extLst>
              </p:cNvPr>
              <p:cNvSpPr txBox="1"/>
              <p:nvPr/>
            </p:nvSpPr>
            <p:spPr>
              <a:xfrm>
                <a:off x="8767867" y="2504414"/>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Apigee</a:t>
                </a:r>
              </a:p>
            </p:txBody>
          </p:sp>
          <p:pic>
            <p:nvPicPr>
              <p:cNvPr id="1032" name="Picture 1031">
                <a:extLst>
                  <a:ext uri="{FF2B5EF4-FFF2-40B4-BE49-F238E27FC236}">
                    <a16:creationId xmlns:a16="http://schemas.microsoft.com/office/drawing/2014/main" id="{85C689DF-F1FA-51AB-DC28-27A60EDD5920}"/>
                  </a:ext>
                </a:extLst>
              </p:cNvPr>
              <p:cNvPicPr>
                <a:picLocks noChangeAspect="1"/>
              </p:cNvPicPr>
              <p:nvPr/>
            </p:nvPicPr>
            <p:blipFill>
              <a:blip r:embed="rId7"/>
              <a:stretch>
                <a:fillRect/>
              </a:stretch>
            </p:blipFill>
            <p:spPr>
              <a:xfrm>
                <a:off x="8935091" y="2341685"/>
                <a:ext cx="169552" cy="155422"/>
              </a:xfrm>
              <a:prstGeom prst="rect">
                <a:avLst/>
              </a:prstGeom>
            </p:spPr>
          </p:pic>
        </p:grpSp>
      </p:grpSp>
      <p:sp>
        <p:nvSpPr>
          <p:cNvPr id="1025" name="TextBox 1024">
            <a:extLst>
              <a:ext uri="{FF2B5EF4-FFF2-40B4-BE49-F238E27FC236}">
                <a16:creationId xmlns:a16="http://schemas.microsoft.com/office/drawing/2014/main" id="{3EA21F2C-04B2-488B-D1D6-B276B5E61128}"/>
              </a:ext>
            </a:extLst>
          </p:cNvPr>
          <p:cNvSpPr txBox="1"/>
          <p:nvPr/>
        </p:nvSpPr>
        <p:spPr>
          <a:xfrm>
            <a:off x="6892631" y="1772592"/>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a:defRPr/>
            </a:pPr>
            <a:r>
              <a:rPr lang="en-CA" sz="700" b="1" kern="0" noProof="0">
                <a:solidFill>
                  <a:schemeClr val="bg2">
                    <a:lumMod val="10000"/>
                  </a:schemeClr>
                </a:solidFill>
              </a:rPr>
              <a:t>Query Federation &amp; Virtualization</a:t>
            </a:r>
          </a:p>
        </p:txBody>
      </p:sp>
      <p:grpSp>
        <p:nvGrpSpPr>
          <p:cNvPr id="1035" name="Group 1034">
            <a:extLst>
              <a:ext uri="{FF2B5EF4-FFF2-40B4-BE49-F238E27FC236}">
                <a16:creationId xmlns:a16="http://schemas.microsoft.com/office/drawing/2014/main" id="{6671A096-105B-4F82-E16C-B9576EEDDDD4}"/>
              </a:ext>
            </a:extLst>
          </p:cNvPr>
          <p:cNvGrpSpPr/>
          <p:nvPr/>
        </p:nvGrpSpPr>
        <p:grpSpPr>
          <a:xfrm>
            <a:off x="7766226" y="1745118"/>
            <a:ext cx="504000" cy="414949"/>
            <a:chOff x="2420780" y="2351870"/>
            <a:chExt cx="504000" cy="414949"/>
          </a:xfrm>
        </p:grpSpPr>
        <p:pic>
          <p:nvPicPr>
            <p:cNvPr id="1036" name="Picture 1035">
              <a:extLst>
                <a:ext uri="{FF2B5EF4-FFF2-40B4-BE49-F238E27FC236}">
                  <a16:creationId xmlns:a16="http://schemas.microsoft.com/office/drawing/2014/main" id="{0C36E6AC-B3AF-BDEA-4B8E-285FA2E414A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43283" y="2351870"/>
              <a:ext cx="258995" cy="234524"/>
            </a:xfrm>
            <a:prstGeom prst="rect">
              <a:avLst/>
            </a:prstGeom>
          </p:spPr>
        </p:pic>
        <p:sp>
          <p:nvSpPr>
            <p:cNvPr id="1037" name="TextBox 1036">
              <a:extLst>
                <a:ext uri="{FF2B5EF4-FFF2-40B4-BE49-F238E27FC236}">
                  <a16:creationId xmlns:a16="http://schemas.microsoft.com/office/drawing/2014/main" id="{5AC23240-A4DC-B97E-D096-5EE82619E192}"/>
                </a:ext>
              </a:extLst>
            </p:cNvPr>
            <p:cNvSpPr txBox="1"/>
            <p:nvPr/>
          </p:nvSpPr>
          <p:spPr>
            <a:xfrm>
              <a:off x="2420780" y="2586394"/>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Databricks</a:t>
              </a:r>
            </a:p>
          </p:txBody>
        </p:sp>
      </p:grpSp>
      <p:sp>
        <p:nvSpPr>
          <p:cNvPr id="1081" name="Rectangle 1080">
            <a:extLst>
              <a:ext uri="{FF2B5EF4-FFF2-40B4-BE49-F238E27FC236}">
                <a16:creationId xmlns:a16="http://schemas.microsoft.com/office/drawing/2014/main" id="{83778E91-29D6-CF4F-A3C7-D75A0234FCD9}"/>
              </a:ext>
            </a:extLst>
          </p:cNvPr>
          <p:cNvSpPr/>
          <p:nvPr/>
        </p:nvSpPr>
        <p:spPr>
          <a:xfrm>
            <a:off x="1875544" y="3497272"/>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solidFill>
                <a:schemeClr val="bg2">
                  <a:lumMod val="10000"/>
                </a:schemeClr>
              </a:solidFill>
            </a:endParaRPr>
          </a:p>
        </p:txBody>
      </p:sp>
      <p:sp>
        <p:nvSpPr>
          <p:cNvPr id="1084" name="Rectangle 1083">
            <a:extLst>
              <a:ext uri="{FF2B5EF4-FFF2-40B4-BE49-F238E27FC236}">
                <a16:creationId xmlns:a16="http://schemas.microsoft.com/office/drawing/2014/main" id="{9706FE0B-6B83-E9D7-AA11-CB014CE39335}"/>
              </a:ext>
            </a:extLst>
          </p:cNvPr>
          <p:cNvSpPr/>
          <p:nvPr/>
        </p:nvSpPr>
        <p:spPr>
          <a:xfrm>
            <a:off x="9507544" y="3497272"/>
            <a:ext cx="72000" cy="144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solidFill>
                <a:schemeClr val="bg2">
                  <a:lumMod val="10000"/>
                </a:schemeClr>
              </a:solidFill>
            </a:endParaRPr>
          </a:p>
        </p:txBody>
      </p:sp>
      <p:sp>
        <p:nvSpPr>
          <p:cNvPr id="297" name="Rectangle 296">
            <a:extLst>
              <a:ext uri="{FF2B5EF4-FFF2-40B4-BE49-F238E27FC236}">
                <a16:creationId xmlns:a16="http://schemas.microsoft.com/office/drawing/2014/main" id="{58C2E9C8-711D-0B34-166F-7EE66FC52524}"/>
              </a:ext>
            </a:extLst>
          </p:cNvPr>
          <p:cNvSpPr/>
          <p:nvPr/>
        </p:nvSpPr>
        <p:spPr>
          <a:xfrm>
            <a:off x="9866855" y="1517271"/>
            <a:ext cx="2232000" cy="4104000"/>
          </a:xfrm>
          <a:prstGeom prst="rect">
            <a:avLst/>
          </a:prstGeom>
          <a:noFill/>
          <a:ln>
            <a:solidFill>
              <a:schemeClr val="tx2"/>
            </a:solidFill>
          </a:ln>
        </p:spPr>
        <p:style>
          <a:lnRef idx="2">
            <a:schemeClr val="dk1"/>
          </a:lnRef>
          <a:fillRef idx="1">
            <a:schemeClr val="lt1"/>
          </a:fillRef>
          <a:effectRef idx="0">
            <a:schemeClr val="dk1"/>
          </a:effectRef>
          <a:fontRef idx="minor">
            <a:schemeClr val="dk1"/>
          </a:fontRef>
        </p:style>
        <p:txBody>
          <a:bodyPr lIns="0" tIns="45720" rIns="0" bIns="45720" rtlCol="0" anchor="t"/>
          <a:lstStyle/>
          <a:p>
            <a:pPr algn="ctr"/>
            <a:endParaRPr lang="en-CA" sz="800" b="1" kern="0" noProof="0">
              <a:solidFill>
                <a:srgbClr val="7030A0"/>
              </a:solidFill>
              <a:cs typeface="Arial"/>
            </a:endParaRPr>
          </a:p>
        </p:txBody>
      </p:sp>
      <p:sp>
        <p:nvSpPr>
          <p:cNvPr id="298" name="TextBox 297">
            <a:extLst>
              <a:ext uri="{FF2B5EF4-FFF2-40B4-BE49-F238E27FC236}">
                <a16:creationId xmlns:a16="http://schemas.microsoft.com/office/drawing/2014/main" id="{0C2D2C23-8F63-4705-8075-FF0F17909442}"/>
              </a:ext>
            </a:extLst>
          </p:cNvPr>
          <p:cNvSpPr txBox="1"/>
          <p:nvPr/>
        </p:nvSpPr>
        <p:spPr>
          <a:xfrm>
            <a:off x="10112597" y="1517272"/>
            <a:ext cx="1778622"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algn="ctr"/>
            <a:r>
              <a:rPr lang="en-CA" sz="1200" b="1" noProof="0">
                <a:solidFill>
                  <a:schemeClr val="tx2">
                    <a:lumMod val="75000"/>
                  </a:schemeClr>
                </a:solidFill>
              </a:rPr>
              <a:t>Consumption</a:t>
            </a:r>
            <a:r>
              <a:rPr lang="en-CA" sz="1400" b="1" noProof="0">
                <a:solidFill>
                  <a:schemeClr val="tx2"/>
                </a:solidFill>
              </a:rPr>
              <a:t> </a:t>
            </a:r>
            <a:r>
              <a:rPr lang="en-CA" sz="1200" b="1" noProof="0">
                <a:solidFill>
                  <a:schemeClr val="tx2">
                    <a:lumMod val="75000"/>
                  </a:schemeClr>
                </a:solidFill>
              </a:rPr>
              <a:t>Layer</a:t>
            </a:r>
          </a:p>
        </p:txBody>
      </p:sp>
      <p:grpSp>
        <p:nvGrpSpPr>
          <p:cNvPr id="516" name="Group 515">
            <a:extLst>
              <a:ext uri="{FF2B5EF4-FFF2-40B4-BE49-F238E27FC236}">
                <a16:creationId xmlns:a16="http://schemas.microsoft.com/office/drawing/2014/main" id="{61701AD4-5768-C81A-B586-0B758EFA7AF3}"/>
              </a:ext>
            </a:extLst>
          </p:cNvPr>
          <p:cNvGrpSpPr/>
          <p:nvPr/>
        </p:nvGrpSpPr>
        <p:grpSpPr>
          <a:xfrm>
            <a:off x="9942164" y="4598108"/>
            <a:ext cx="1333854" cy="474985"/>
            <a:chOff x="9942164" y="4598108"/>
            <a:chExt cx="1333854" cy="474985"/>
          </a:xfrm>
        </p:grpSpPr>
        <p:sp>
          <p:nvSpPr>
            <p:cNvPr id="301" name="TextBox 300">
              <a:extLst>
                <a:ext uri="{FF2B5EF4-FFF2-40B4-BE49-F238E27FC236}">
                  <a16:creationId xmlns:a16="http://schemas.microsoft.com/office/drawing/2014/main" id="{C0058B91-ACA8-7ABF-EB11-F37988AA66B8}"/>
                </a:ext>
              </a:extLst>
            </p:cNvPr>
            <p:cNvSpPr txBox="1"/>
            <p:nvPr/>
          </p:nvSpPr>
          <p:spPr>
            <a:xfrm>
              <a:off x="9942164" y="4655600"/>
              <a:ext cx="720000" cy="360000"/>
            </a:xfrm>
            <a:prstGeom prst="rect">
              <a:avLst/>
            </a:prstGeom>
            <a:noFill/>
            <a:ln w="9525">
              <a:noFill/>
            </a:ln>
          </p:spPr>
          <p:txBody>
            <a:bodyPr wrap="square" rtlCol="0" anchor="ctr">
              <a:noAutofit/>
            </a:bodyPr>
            <a:lstStyle/>
            <a:p>
              <a:pPr lvl="0" algn="ctr">
                <a:defRPr/>
              </a:pPr>
              <a:r>
                <a:rPr lang="en-CA" sz="700" b="1" kern="0" noProof="0">
                  <a:solidFill>
                    <a:schemeClr val="bg2">
                      <a:lumMod val="10000"/>
                    </a:schemeClr>
                  </a:solidFill>
                </a:rPr>
                <a:t>AI Systems</a:t>
              </a:r>
            </a:p>
          </p:txBody>
        </p:sp>
        <p:grpSp>
          <p:nvGrpSpPr>
            <p:cNvPr id="1066" name="Group 1065">
              <a:extLst>
                <a:ext uri="{FF2B5EF4-FFF2-40B4-BE49-F238E27FC236}">
                  <a16:creationId xmlns:a16="http://schemas.microsoft.com/office/drawing/2014/main" id="{C18AEA3B-40FF-8D02-E8F9-86063A722DFD}"/>
                </a:ext>
              </a:extLst>
            </p:cNvPr>
            <p:cNvGrpSpPr/>
            <p:nvPr/>
          </p:nvGrpSpPr>
          <p:grpSpPr>
            <a:xfrm>
              <a:off x="10772018" y="4598108"/>
              <a:ext cx="504000" cy="474985"/>
              <a:chOff x="10693610" y="4373216"/>
              <a:chExt cx="504000" cy="474985"/>
            </a:xfrm>
          </p:grpSpPr>
          <p:pic>
            <p:nvPicPr>
              <p:cNvPr id="219" name="Picture 218">
                <a:extLst>
                  <a:ext uri="{FF2B5EF4-FFF2-40B4-BE49-F238E27FC236}">
                    <a16:creationId xmlns:a16="http://schemas.microsoft.com/office/drawing/2014/main" id="{15B0839E-95D3-E889-C24B-3A915A01D8F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852667" y="4373216"/>
                <a:ext cx="185886" cy="185886"/>
              </a:xfrm>
              <a:prstGeom prst="rect">
                <a:avLst/>
              </a:prstGeom>
            </p:spPr>
          </p:pic>
          <p:sp>
            <p:nvSpPr>
              <p:cNvPr id="229" name="TextBox 228">
                <a:extLst>
                  <a:ext uri="{FF2B5EF4-FFF2-40B4-BE49-F238E27FC236}">
                    <a16:creationId xmlns:a16="http://schemas.microsoft.com/office/drawing/2014/main" id="{FC8B12D6-627A-717C-B379-23BB0E20EB7C}"/>
                  </a:ext>
                </a:extLst>
              </p:cNvPr>
              <p:cNvSpPr txBox="1"/>
              <p:nvPr/>
            </p:nvSpPr>
            <p:spPr>
              <a:xfrm>
                <a:off x="10693610" y="4560054"/>
                <a:ext cx="504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Microsoft Foundry</a:t>
                </a:r>
              </a:p>
            </p:txBody>
          </p:sp>
        </p:grpSp>
      </p:grpSp>
      <p:pic>
        <p:nvPicPr>
          <p:cNvPr id="214" name="Picture 213" descr="Azure Logo, Blue Mark, Tech Emblem, Cloud Symbol, Cloud Computing PNG">
            <a:extLst>
              <a:ext uri="{FF2B5EF4-FFF2-40B4-BE49-F238E27FC236}">
                <a16:creationId xmlns:a16="http://schemas.microsoft.com/office/drawing/2014/main" id="{F4D0C1EB-8F54-8DD9-26E9-44601CD710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58758" y="5216331"/>
            <a:ext cx="330521" cy="310896"/>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Straight Connector 41">
            <a:extLst>
              <a:ext uri="{FF2B5EF4-FFF2-40B4-BE49-F238E27FC236}">
                <a16:creationId xmlns:a16="http://schemas.microsoft.com/office/drawing/2014/main" id="{1B3A8B0E-0392-11D0-312B-572D205FA4B9}"/>
              </a:ext>
            </a:extLst>
          </p:cNvPr>
          <p:cNvCxnSpPr>
            <a:cxnSpLocks/>
          </p:cNvCxnSpPr>
          <p:nvPr/>
        </p:nvCxnSpPr>
        <p:spPr>
          <a:xfrm>
            <a:off x="9923002" y="4517933"/>
            <a:ext cx="2088000" cy="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3471667F-42EA-AC99-22DA-84593CAA7E94}"/>
              </a:ext>
            </a:extLst>
          </p:cNvPr>
          <p:cNvCxnSpPr>
            <a:cxnSpLocks/>
          </p:cNvCxnSpPr>
          <p:nvPr/>
        </p:nvCxnSpPr>
        <p:spPr>
          <a:xfrm>
            <a:off x="9923003" y="3833577"/>
            <a:ext cx="2088000" cy="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9F5CA06B-562F-89C4-2385-1BB9265C628B}"/>
              </a:ext>
            </a:extLst>
          </p:cNvPr>
          <p:cNvCxnSpPr>
            <a:cxnSpLocks/>
          </p:cNvCxnSpPr>
          <p:nvPr/>
        </p:nvCxnSpPr>
        <p:spPr>
          <a:xfrm>
            <a:off x="9923002" y="3226818"/>
            <a:ext cx="2088000" cy="0"/>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7F5C25EB-1202-73AE-70E5-69B5AA108022}"/>
              </a:ext>
            </a:extLst>
          </p:cNvPr>
          <p:cNvCxnSpPr>
            <a:cxnSpLocks/>
          </p:cNvCxnSpPr>
          <p:nvPr/>
        </p:nvCxnSpPr>
        <p:spPr>
          <a:xfrm>
            <a:off x="9923003" y="2628031"/>
            <a:ext cx="2088000" cy="0"/>
          </a:xfrm>
          <a:prstGeom prst="line">
            <a:avLst/>
          </a:prstGeom>
          <a:ln>
            <a:prstDash val="lgDash"/>
          </a:ln>
        </p:spPr>
        <p:style>
          <a:lnRef idx="1">
            <a:schemeClr val="dk1"/>
          </a:lnRef>
          <a:fillRef idx="0">
            <a:schemeClr val="dk1"/>
          </a:fillRef>
          <a:effectRef idx="0">
            <a:schemeClr val="dk1"/>
          </a:effectRef>
          <a:fontRef idx="minor">
            <a:schemeClr val="tx1"/>
          </a:fontRef>
        </p:style>
      </p:cxnSp>
      <p:grpSp>
        <p:nvGrpSpPr>
          <p:cNvPr id="23" name="Group 22">
            <a:extLst>
              <a:ext uri="{FF2B5EF4-FFF2-40B4-BE49-F238E27FC236}">
                <a16:creationId xmlns:a16="http://schemas.microsoft.com/office/drawing/2014/main" id="{63A16B2D-89BA-71E6-4E38-C4FBC009ED8D}"/>
              </a:ext>
            </a:extLst>
          </p:cNvPr>
          <p:cNvGrpSpPr/>
          <p:nvPr/>
        </p:nvGrpSpPr>
        <p:grpSpPr>
          <a:xfrm>
            <a:off x="9932366" y="2101447"/>
            <a:ext cx="1343652" cy="446409"/>
            <a:chOff x="9932366" y="2101447"/>
            <a:chExt cx="1343652" cy="446409"/>
          </a:xfrm>
        </p:grpSpPr>
        <p:sp>
          <p:nvSpPr>
            <p:cNvPr id="303" name="TextBox 302">
              <a:extLst>
                <a:ext uri="{FF2B5EF4-FFF2-40B4-BE49-F238E27FC236}">
                  <a16:creationId xmlns:a16="http://schemas.microsoft.com/office/drawing/2014/main" id="{FFF68656-7C1B-BA48-3A90-F2EB0EA20BF8}"/>
                </a:ext>
              </a:extLst>
            </p:cNvPr>
            <p:cNvSpPr txBox="1"/>
            <p:nvPr/>
          </p:nvSpPr>
          <p:spPr>
            <a:xfrm>
              <a:off x="9932366" y="2144651"/>
              <a:ext cx="720000" cy="360000"/>
            </a:xfrm>
            <a:prstGeom prst="rect">
              <a:avLst/>
            </a:prstGeom>
            <a:noFill/>
            <a:ln w="9525">
              <a:noFill/>
            </a:ln>
          </p:spPr>
          <p:txBody>
            <a:bodyPr wrap="square" tIns="36000" bIns="36000" rtlCol="0" anchor="ctr">
              <a:noAutofit/>
            </a:bodyPr>
            <a:lstStyle/>
            <a:p>
              <a:pPr lvl="0" algn="ctr">
                <a:defRPr/>
              </a:pPr>
              <a:r>
                <a:rPr lang="en-CA" sz="700" b="1" kern="0" noProof="0">
                  <a:solidFill>
                    <a:schemeClr val="bg2">
                      <a:lumMod val="10000"/>
                    </a:schemeClr>
                  </a:solidFill>
                </a:rPr>
                <a:t>Self-Serve Analytic Tools</a:t>
              </a:r>
            </a:p>
          </p:txBody>
        </p:sp>
        <p:grpSp>
          <p:nvGrpSpPr>
            <p:cNvPr id="1063" name="Group 1062">
              <a:extLst>
                <a:ext uri="{FF2B5EF4-FFF2-40B4-BE49-F238E27FC236}">
                  <a16:creationId xmlns:a16="http://schemas.microsoft.com/office/drawing/2014/main" id="{116D0DE6-E515-7253-89C2-372FB595FE32}"/>
                </a:ext>
              </a:extLst>
            </p:cNvPr>
            <p:cNvGrpSpPr/>
            <p:nvPr/>
          </p:nvGrpSpPr>
          <p:grpSpPr>
            <a:xfrm>
              <a:off x="10772018" y="2101447"/>
              <a:ext cx="504000" cy="446409"/>
              <a:chOff x="10693610" y="2245020"/>
              <a:chExt cx="504000" cy="446409"/>
            </a:xfrm>
          </p:grpSpPr>
          <p:sp>
            <p:nvSpPr>
              <p:cNvPr id="222" name="TextBox 221">
                <a:extLst>
                  <a:ext uri="{FF2B5EF4-FFF2-40B4-BE49-F238E27FC236}">
                    <a16:creationId xmlns:a16="http://schemas.microsoft.com/office/drawing/2014/main" id="{78A08326-156A-0CE4-DF75-0B2967AD00E3}"/>
                  </a:ext>
                </a:extLst>
              </p:cNvPr>
              <p:cNvSpPr txBox="1"/>
              <p:nvPr/>
            </p:nvSpPr>
            <p:spPr>
              <a:xfrm>
                <a:off x="10693610" y="2511004"/>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Power BI</a:t>
                </a:r>
              </a:p>
            </p:txBody>
          </p:sp>
          <p:pic>
            <p:nvPicPr>
              <p:cNvPr id="518" name="Picture 517">
                <a:extLst>
                  <a:ext uri="{FF2B5EF4-FFF2-40B4-BE49-F238E27FC236}">
                    <a16:creationId xmlns:a16="http://schemas.microsoft.com/office/drawing/2014/main" id="{BF4EFCA5-3B3D-5A9A-33FD-6C526A176DC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812618" y="2245020"/>
                <a:ext cx="265984" cy="265984"/>
              </a:xfrm>
              <a:prstGeom prst="rect">
                <a:avLst/>
              </a:prstGeom>
            </p:spPr>
          </p:pic>
        </p:grpSp>
      </p:grpSp>
      <p:grpSp>
        <p:nvGrpSpPr>
          <p:cNvPr id="62" name="Group 61">
            <a:extLst>
              <a:ext uri="{FF2B5EF4-FFF2-40B4-BE49-F238E27FC236}">
                <a16:creationId xmlns:a16="http://schemas.microsoft.com/office/drawing/2014/main" id="{EF8FFFBB-5644-DAD2-0D10-2398BDE8D9DE}"/>
              </a:ext>
            </a:extLst>
          </p:cNvPr>
          <p:cNvGrpSpPr/>
          <p:nvPr/>
        </p:nvGrpSpPr>
        <p:grpSpPr>
          <a:xfrm>
            <a:off x="9932366" y="3306993"/>
            <a:ext cx="1343652" cy="446409"/>
            <a:chOff x="9932366" y="3306993"/>
            <a:chExt cx="1343652" cy="446409"/>
          </a:xfrm>
        </p:grpSpPr>
        <p:sp>
          <p:nvSpPr>
            <p:cNvPr id="299" name="TextBox 298">
              <a:extLst>
                <a:ext uri="{FF2B5EF4-FFF2-40B4-BE49-F238E27FC236}">
                  <a16:creationId xmlns:a16="http://schemas.microsoft.com/office/drawing/2014/main" id="{9F5BEBEF-EBAE-7E72-2CC4-7489E6052BD6}"/>
                </a:ext>
              </a:extLst>
            </p:cNvPr>
            <p:cNvSpPr txBox="1"/>
            <p:nvPr/>
          </p:nvSpPr>
          <p:spPr>
            <a:xfrm>
              <a:off x="9932366" y="3350197"/>
              <a:ext cx="720000" cy="360000"/>
            </a:xfrm>
            <a:prstGeom prst="rect">
              <a:avLst/>
            </a:prstGeom>
            <a:noFill/>
            <a:ln w="9525">
              <a:noFill/>
            </a:ln>
          </p:spPr>
          <p:txBody>
            <a:bodyPr wrap="square" rtlCol="0" anchor="ctr">
              <a:noAutofit/>
            </a:bodyPr>
            <a:lstStyle/>
            <a:p>
              <a:pPr lvl="0" algn="ctr">
                <a:defRPr/>
              </a:pPr>
              <a:r>
                <a:rPr lang="en-CA" sz="700" b="1" kern="0" noProof="0">
                  <a:solidFill>
                    <a:schemeClr val="bg2">
                      <a:lumMod val="10000"/>
                    </a:schemeClr>
                  </a:solidFill>
                </a:rPr>
                <a:t>Reports / Dashboards</a:t>
              </a:r>
            </a:p>
          </p:txBody>
        </p:sp>
        <p:grpSp>
          <p:nvGrpSpPr>
            <p:cNvPr id="1064" name="Group 1063">
              <a:extLst>
                <a:ext uri="{FF2B5EF4-FFF2-40B4-BE49-F238E27FC236}">
                  <a16:creationId xmlns:a16="http://schemas.microsoft.com/office/drawing/2014/main" id="{FD78AB1B-1508-5C40-85D6-FF66BA62C250}"/>
                </a:ext>
              </a:extLst>
            </p:cNvPr>
            <p:cNvGrpSpPr/>
            <p:nvPr/>
          </p:nvGrpSpPr>
          <p:grpSpPr>
            <a:xfrm>
              <a:off x="10772018" y="3306993"/>
              <a:ext cx="504000" cy="446409"/>
              <a:chOff x="10693610" y="3321651"/>
              <a:chExt cx="504000" cy="446409"/>
            </a:xfrm>
          </p:grpSpPr>
          <p:sp>
            <p:nvSpPr>
              <p:cNvPr id="227" name="TextBox 226">
                <a:extLst>
                  <a:ext uri="{FF2B5EF4-FFF2-40B4-BE49-F238E27FC236}">
                    <a16:creationId xmlns:a16="http://schemas.microsoft.com/office/drawing/2014/main" id="{05D0B9EC-0FAB-54BF-1942-57E03C9814C4}"/>
                  </a:ext>
                </a:extLst>
              </p:cNvPr>
              <p:cNvSpPr txBox="1"/>
              <p:nvPr/>
            </p:nvSpPr>
            <p:spPr>
              <a:xfrm>
                <a:off x="10693610" y="3587635"/>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Power BI</a:t>
                </a:r>
              </a:p>
            </p:txBody>
          </p:sp>
          <p:pic>
            <p:nvPicPr>
              <p:cNvPr id="519" name="Picture 518">
                <a:extLst>
                  <a:ext uri="{FF2B5EF4-FFF2-40B4-BE49-F238E27FC236}">
                    <a16:creationId xmlns:a16="http://schemas.microsoft.com/office/drawing/2014/main" id="{3AC9077A-1B00-9301-EDBE-9B06B8171D83}"/>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812618" y="3321651"/>
                <a:ext cx="265984" cy="265984"/>
              </a:xfrm>
              <a:prstGeom prst="rect">
                <a:avLst/>
              </a:prstGeom>
            </p:spPr>
          </p:pic>
        </p:grpSp>
      </p:grpSp>
      <p:sp>
        <p:nvSpPr>
          <p:cNvPr id="14" name="TextBox 13">
            <a:extLst>
              <a:ext uri="{FF2B5EF4-FFF2-40B4-BE49-F238E27FC236}">
                <a16:creationId xmlns:a16="http://schemas.microsoft.com/office/drawing/2014/main" id="{0772EB75-849D-3A11-7199-A56E02DA7A61}"/>
              </a:ext>
            </a:extLst>
          </p:cNvPr>
          <p:cNvSpPr txBox="1"/>
          <p:nvPr/>
        </p:nvSpPr>
        <p:spPr>
          <a:xfrm>
            <a:off x="9945997" y="5210036"/>
            <a:ext cx="720000" cy="360000"/>
          </a:xfrm>
          <a:prstGeom prst="rect">
            <a:avLst/>
          </a:prstGeom>
          <a:noFill/>
          <a:ln w="9525">
            <a:noFill/>
          </a:ln>
        </p:spPr>
        <p:style>
          <a:lnRef idx="2">
            <a:schemeClr val="accent4"/>
          </a:lnRef>
          <a:fillRef idx="1">
            <a:schemeClr val="lt1"/>
          </a:fillRef>
          <a:effectRef idx="0">
            <a:schemeClr val="accent4"/>
          </a:effectRef>
          <a:fontRef idx="minor">
            <a:schemeClr val="dk1"/>
          </a:fontRef>
        </p:style>
        <p:txBody>
          <a:bodyPr wrap="square" lIns="0" tIns="0" rIns="0" bIns="0" rtlCol="0" anchor="ctr">
            <a:noAutofit/>
          </a:bodyPr>
          <a:lstStyle/>
          <a:p>
            <a:pPr lvl="0" algn="ctr" defTabSz="228600">
              <a:defRPr/>
            </a:pPr>
            <a:r>
              <a:rPr lang="en-CA" sz="700" b="1" kern="0" noProof="0">
                <a:solidFill>
                  <a:schemeClr val="bg2">
                    <a:lumMod val="10000"/>
                  </a:schemeClr>
                </a:solidFill>
              </a:rPr>
              <a:t>Cloud Service Providers</a:t>
            </a:r>
          </a:p>
        </p:txBody>
      </p:sp>
      <p:pic>
        <p:nvPicPr>
          <p:cNvPr id="550" name="Picture 18" descr="What is AWS and how to get certified? | by Elena O | Towards AWS">
            <a:extLst>
              <a:ext uri="{FF2B5EF4-FFF2-40B4-BE49-F238E27FC236}">
                <a16:creationId xmlns:a16="http://schemas.microsoft.com/office/drawing/2014/main" id="{0C15DE15-13D3-2FC1-40A9-C88DBC8390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63487" y="5204021"/>
            <a:ext cx="552985" cy="366015"/>
          </a:xfrm>
          <a:prstGeom prst="rect">
            <a:avLst/>
          </a:prstGeom>
          <a:noFill/>
          <a:extLst>
            <a:ext uri="{909E8E84-426E-40DD-AFC4-6F175D3DCCD1}">
              <a14:hiddenFill xmlns:a14="http://schemas.microsoft.com/office/drawing/2010/main">
                <a:solidFill>
                  <a:srgbClr val="FFFFFF"/>
                </a:solidFill>
              </a14:hiddenFill>
            </a:ext>
          </a:extLst>
        </p:spPr>
      </p:pic>
      <p:cxnSp>
        <p:nvCxnSpPr>
          <p:cNvPr id="558" name="Straight Connector 557">
            <a:extLst>
              <a:ext uri="{FF2B5EF4-FFF2-40B4-BE49-F238E27FC236}">
                <a16:creationId xmlns:a16="http://schemas.microsoft.com/office/drawing/2014/main" id="{260654E4-44DC-592B-7E32-0F0D49DB925B}"/>
              </a:ext>
            </a:extLst>
          </p:cNvPr>
          <p:cNvCxnSpPr>
            <a:cxnSpLocks/>
          </p:cNvCxnSpPr>
          <p:nvPr/>
        </p:nvCxnSpPr>
        <p:spPr>
          <a:xfrm flipV="1">
            <a:off x="11368962" y="2021271"/>
            <a:ext cx="0" cy="3528000"/>
          </a:xfrm>
          <a:prstGeom prst="line">
            <a:avLst/>
          </a:prstGeom>
          <a:ln>
            <a:solidFill>
              <a:schemeClr val="tx1"/>
            </a:solidFill>
            <a:prstDash val="lgDashDot"/>
          </a:ln>
        </p:spPr>
        <p:style>
          <a:lnRef idx="1">
            <a:schemeClr val="dk1"/>
          </a:lnRef>
          <a:fillRef idx="0">
            <a:schemeClr val="dk1"/>
          </a:fillRef>
          <a:effectRef idx="0">
            <a:schemeClr val="dk1"/>
          </a:effectRef>
          <a:fontRef idx="minor">
            <a:schemeClr val="tx1"/>
          </a:fontRef>
        </p:style>
      </p:cxnSp>
      <p:grpSp>
        <p:nvGrpSpPr>
          <p:cNvPr id="34" name="Group 33">
            <a:extLst>
              <a:ext uri="{FF2B5EF4-FFF2-40B4-BE49-F238E27FC236}">
                <a16:creationId xmlns:a16="http://schemas.microsoft.com/office/drawing/2014/main" id="{9DD3783D-CD91-59AA-13D1-4B82485C5598}"/>
              </a:ext>
            </a:extLst>
          </p:cNvPr>
          <p:cNvGrpSpPr/>
          <p:nvPr/>
        </p:nvGrpSpPr>
        <p:grpSpPr>
          <a:xfrm>
            <a:off x="9892148" y="2719297"/>
            <a:ext cx="2149830" cy="416255"/>
            <a:chOff x="9892148" y="2719297"/>
            <a:chExt cx="2149830" cy="416255"/>
          </a:xfrm>
        </p:grpSpPr>
        <p:sp>
          <p:nvSpPr>
            <p:cNvPr id="302" name="TextBox 301">
              <a:extLst>
                <a:ext uri="{FF2B5EF4-FFF2-40B4-BE49-F238E27FC236}">
                  <a16:creationId xmlns:a16="http://schemas.microsoft.com/office/drawing/2014/main" id="{0F9AEECB-83CF-4C9F-91E6-40C990D84198}"/>
                </a:ext>
              </a:extLst>
            </p:cNvPr>
            <p:cNvSpPr txBox="1"/>
            <p:nvPr/>
          </p:nvSpPr>
          <p:spPr>
            <a:xfrm>
              <a:off x="9892148" y="2747424"/>
              <a:ext cx="760218" cy="360000"/>
            </a:xfrm>
            <a:prstGeom prst="rect">
              <a:avLst/>
            </a:prstGeom>
            <a:noFill/>
            <a:ln w="9525">
              <a:noFill/>
            </a:ln>
          </p:spPr>
          <p:txBody>
            <a:bodyPr wrap="square" rtlCol="0" anchor="ctr">
              <a:noAutofit/>
            </a:bodyPr>
            <a:lstStyle/>
            <a:p>
              <a:pPr lvl="0" algn="ctr">
                <a:defRPr/>
              </a:pPr>
              <a:r>
                <a:rPr lang="en-CA" sz="700" b="1" kern="0" noProof="0">
                  <a:solidFill>
                    <a:schemeClr val="bg2">
                      <a:lumMod val="10000"/>
                    </a:schemeClr>
                  </a:solidFill>
                </a:rPr>
                <a:t>Applications</a:t>
              </a:r>
            </a:p>
          </p:txBody>
        </p:sp>
        <p:pic>
          <p:nvPicPr>
            <p:cNvPr id="554" name="Picture 553">
              <a:extLst>
                <a:ext uri="{FF2B5EF4-FFF2-40B4-BE49-F238E27FC236}">
                  <a16:creationId xmlns:a16="http://schemas.microsoft.com/office/drawing/2014/main" id="{C619F937-799C-50B2-4FCE-09F42CB51BE1}"/>
                </a:ext>
              </a:extLst>
            </p:cNvPr>
            <p:cNvPicPr>
              <a:picLocks noChangeAspect="1"/>
            </p:cNvPicPr>
            <p:nvPr/>
          </p:nvPicPr>
          <p:blipFill>
            <a:blip r:embed="rId17"/>
            <a:stretch>
              <a:fillRect/>
            </a:stretch>
          </p:blipFill>
          <p:spPr>
            <a:xfrm>
              <a:off x="10872568" y="2735587"/>
              <a:ext cx="302901" cy="383675"/>
            </a:xfrm>
            <a:prstGeom prst="rect">
              <a:avLst/>
            </a:prstGeom>
          </p:spPr>
        </p:pic>
        <p:grpSp>
          <p:nvGrpSpPr>
            <p:cNvPr id="1069" name="Group 1068">
              <a:extLst>
                <a:ext uri="{FF2B5EF4-FFF2-40B4-BE49-F238E27FC236}">
                  <a16:creationId xmlns:a16="http://schemas.microsoft.com/office/drawing/2014/main" id="{BA3A62C7-A91F-A58C-AF6F-93FDF942EA47}"/>
                </a:ext>
              </a:extLst>
            </p:cNvPr>
            <p:cNvGrpSpPr/>
            <p:nvPr/>
          </p:nvGrpSpPr>
          <p:grpSpPr>
            <a:xfrm>
              <a:off x="11437981" y="2719297"/>
              <a:ext cx="603997" cy="416255"/>
              <a:chOff x="11437981" y="2797171"/>
              <a:chExt cx="603997" cy="416255"/>
            </a:xfrm>
          </p:grpSpPr>
          <p:pic>
            <p:nvPicPr>
              <p:cNvPr id="512" name="Picture 511">
                <a:extLst>
                  <a:ext uri="{FF2B5EF4-FFF2-40B4-BE49-F238E27FC236}">
                    <a16:creationId xmlns:a16="http://schemas.microsoft.com/office/drawing/2014/main" id="{41D6CB52-E421-9E0C-C82C-136661351EB1}"/>
                  </a:ext>
                </a:extLst>
              </p:cNvPr>
              <p:cNvPicPr>
                <a:picLocks noChangeAspect="1"/>
              </p:cNvPicPr>
              <p:nvPr/>
            </p:nvPicPr>
            <p:blipFill>
              <a:blip r:embed="rId18"/>
              <a:stretch>
                <a:fillRect/>
              </a:stretch>
            </p:blipFill>
            <p:spPr>
              <a:xfrm>
                <a:off x="11607970" y="2797171"/>
                <a:ext cx="264019" cy="266608"/>
              </a:xfrm>
              <a:prstGeom prst="rect">
                <a:avLst/>
              </a:prstGeom>
            </p:spPr>
          </p:pic>
          <p:sp>
            <p:nvSpPr>
              <p:cNvPr id="1068" name="TextBox 1067">
                <a:extLst>
                  <a:ext uri="{FF2B5EF4-FFF2-40B4-BE49-F238E27FC236}">
                    <a16:creationId xmlns:a16="http://schemas.microsoft.com/office/drawing/2014/main" id="{571F4A5F-7292-F7ED-3DAA-DB0382C018CC}"/>
                  </a:ext>
                </a:extLst>
              </p:cNvPr>
              <p:cNvSpPr txBox="1"/>
              <p:nvPr/>
            </p:nvSpPr>
            <p:spPr>
              <a:xfrm>
                <a:off x="11437981" y="3063779"/>
                <a:ext cx="603997" cy="1496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500" noProof="0">
                    <a:solidFill>
                      <a:schemeClr val="bg2">
                        <a:lumMod val="10000"/>
                      </a:schemeClr>
                    </a:solidFill>
                  </a:rPr>
                  <a:t>Applications</a:t>
                </a:r>
              </a:p>
            </p:txBody>
          </p:sp>
        </p:grpSp>
      </p:grpSp>
      <p:sp>
        <p:nvSpPr>
          <p:cNvPr id="578" name="Slide Number Placeholder 2">
            <a:extLst>
              <a:ext uri="{FF2B5EF4-FFF2-40B4-BE49-F238E27FC236}">
                <a16:creationId xmlns:a16="http://schemas.microsoft.com/office/drawing/2014/main" id="{D704F1BD-2735-9671-CC4D-FD3819EF0BE7}"/>
              </a:ext>
            </a:extLst>
          </p:cNvPr>
          <p:cNvSpPr>
            <a:spLocks noGrp="1"/>
          </p:cNvSpPr>
          <p:nvPr>
            <p:ph type="sldNum" sz="quarter" idx="12"/>
          </p:nvPr>
        </p:nvSpPr>
        <p:spPr>
          <a:xfrm>
            <a:off x="87852" y="6286624"/>
            <a:ext cx="201619" cy="365125"/>
          </a:xfrm>
        </p:spPr>
        <p:txBody>
          <a:bodyPr/>
          <a:lstStyle/>
          <a:p>
            <a:fld id="{3CBD822F-ED39-4FC2-B5B5-D2EAB6238DC3}" type="slidenum">
              <a:rPr lang="en-CA" noProof="0" smtClean="0">
                <a:latin typeface="+mn-lt"/>
              </a:rPr>
              <a:pPr/>
              <a:t>14</a:t>
            </a:fld>
            <a:endParaRPr lang="en-CA" noProof="0">
              <a:latin typeface="+mn-lt"/>
            </a:endParaRPr>
          </a:p>
        </p:txBody>
      </p:sp>
      <p:pic>
        <p:nvPicPr>
          <p:cNvPr id="51" name="Picture 50">
            <a:extLst>
              <a:ext uri="{FF2B5EF4-FFF2-40B4-BE49-F238E27FC236}">
                <a16:creationId xmlns:a16="http://schemas.microsoft.com/office/drawing/2014/main" id="{D913130B-B81D-B950-A669-5D6605CDE69A}"/>
              </a:ext>
            </a:extLst>
          </p:cNvPr>
          <p:cNvPicPr>
            <a:picLocks noChangeAspect="1"/>
          </p:cNvPicPr>
          <p:nvPr/>
        </p:nvPicPr>
        <p:blipFill>
          <a:blip r:embed="rId19"/>
          <a:stretch>
            <a:fillRect/>
          </a:stretch>
        </p:blipFill>
        <p:spPr>
          <a:xfrm>
            <a:off x="5511830" y="5111347"/>
            <a:ext cx="264001" cy="252000"/>
          </a:xfrm>
          <a:prstGeom prst="rect">
            <a:avLst/>
          </a:prstGeom>
        </p:spPr>
      </p:pic>
      <p:sp>
        <p:nvSpPr>
          <p:cNvPr id="52" name="TextBox 51">
            <a:extLst>
              <a:ext uri="{FF2B5EF4-FFF2-40B4-BE49-F238E27FC236}">
                <a16:creationId xmlns:a16="http://schemas.microsoft.com/office/drawing/2014/main" id="{A91DCA6D-B18C-E8F9-3B0D-8B20ABED707B}"/>
              </a:ext>
            </a:extLst>
          </p:cNvPr>
          <p:cNvSpPr txBox="1"/>
          <p:nvPr/>
        </p:nvSpPr>
        <p:spPr>
          <a:xfrm>
            <a:off x="5269859" y="5366243"/>
            <a:ext cx="826141"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Azure AI Services</a:t>
            </a:r>
          </a:p>
        </p:txBody>
      </p:sp>
      <p:grpSp>
        <p:nvGrpSpPr>
          <p:cNvPr id="513" name="Group 512">
            <a:extLst>
              <a:ext uri="{FF2B5EF4-FFF2-40B4-BE49-F238E27FC236}">
                <a16:creationId xmlns:a16="http://schemas.microsoft.com/office/drawing/2014/main" id="{50EF2A01-18D5-9BEB-3E8D-9B45B847E4EE}"/>
              </a:ext>
            </a:extLst>
          </p:cNvPr>
          <p:cNvGrpSpPr/>
          <p:nvPr/>
        </p:nvGrpSpPr>
        <p:grpSpPr>
          <a:xfrm>
            <a:off x="9926912" y="3913752"/>
            <a:ext cx="1349106" cy="524006"/>
            <a:chOff x="9926912" y="3913752"/>
            <a:chExt cx="1349106" cy="524006"/>
          </a:xfrm>
        </p:grpSpPr>
        <p:sp>
          <p:nvSpPr>
            <p:cNvPr id="300" name="TextBox 299">
              <a:extLst>
                <a:ext uri="{FF2B5EF4-FFF2-40B4-BE49-F238E27FC236}">
                  <a16:creationId xmlns:a16="http://schemas.microsoft.com/office/drawing/2014/main" id="{478119D1-F612-0B7A-E157-2308239E23DC}"/>
                </a:ext>
              </a:extLst>
            </p:cNvPr>
            <p:cNvSpPr txBox="1"/>
            <p:nvPr/>
          </p:nvSpPr>
          <p:spPr>
            <a:xfrm>
              <a:off x="9926912" y="3995755"/>
              <a:ext cx="720000" cy="360000"/>
            </a:xfrm>
            <a:prstGeom prst="rect">
              <a:avLst/>
            </a:prstGeom>
            <a:noFill/>
            <a:ln w="9525">
              <a:noFill/>
            </a:ln>
          </p:spPr>
          <p:txBody>
            <a:bodyPr wrap="square" rtlCol="0" anchor="ctr">
              <a:noAutofit/>
            </a:bodyPr>
            <a:lstStyle/>
            <a:p>
              <a:pPr lvl="0" algn="ctr">
                <a:defRPr/>
              </a:pPr>
              <a:r>
                <a:rPr lang="en-CA" sz="700" b="1" kern="0" noProof="0">
                  <a:solidFill>
                    <a:schemeClr val="bg2">
                      <a:lumMod val="10000"/>
                    </a:schemeClr>
                  </a:solidFill>
                </a:rPr>
                <a:t>ML Models</a:t>
              </a:r>
            </a:p>
          </p:txBody>
        </p:sp>
        <p:grpSp>
          <p:nvGrpSpPr>
            <p:cNvPr id="20" name="Group 19">
              <a:extLst>
                <a:ext uri="{FF2B5EF4-FFF2-40B4-BE49-F238E27FC236}">
                  <a16:creationId xmlns:a16="http://schemas.microsoft.com/office/drawing/2014/main" id="{EA5C7819-CEBD-C309-E63C-1A85D7B09C16}"/>
                </a:ext>
              </a:extLst>
            </p:cNvPr>
            <p:cNvGrpSpPr/>
            <p:nvPr/>
          </p:nvGrpSpPr>
          <p:grpSpPr>
            <a:xfrm>
              <a:off x="10772018" y="3913752"/>
              <a:ext cx="504000" cy="524006"/>
              <a:chOff x="10694580" y="3816192"/>
              <a:chExt cx="504000" cy="524006"/>
            </a:xfrm>
          </p:grpSpPr>
          <p:sp>
            <p:nvSpPr>
              <p:cNvPr id="228" name="TextBox 227">
                <a:extLst>
                  <a:ext uri="{FF2B5EF4-FFF2-40B4-BE49-F238E27FC236}">
                    <a16:creationId xmlns:a16="http://schemas.microsoft.com/office/drawing/2014/main" id="{3999E4C2-7442-0C94-91CB-52588A0A3B57}"/>
                  </a:ext>
                </a:extLst>
              </p:cNvPr>
              <p:cNvSpPr txBox="1"/>
              <p:nvPr/>
            </p:nvSpPr>
            <p:spPr>
              <a:xfrm>
                <a:off x="10694580" y="4159773"/>
                <a:ext cx="504000" cy="18042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algn="ctr"/>
                <a:r>
                  <a:rPr lang="en-CA" sz="700" noProof="0">
                    <a:solidFill>
                      <a:schemeClr val="bg2">
                        <a:lumMod val="10000"/>
                      </a:schemeClr>
                    </a:solidFill>
                  </a:rPr>
                  <a:t>Azure ML</a:t>
                </a:r>
              </a:p>
            </p:txBody>
          </p:sp>
          <p:pic>
            <p:nvPicPr>
              <p:cNvPr id="1026" name="Picture 2" descr="Azure Cloud Managed Support | OpenSky">
                <a:extLst>
                  <a:ext uri="{FF2B5EF4-FFF2-40B4-BE49-F238E27FC236}">
                    <a16:creationId xmlns:a16="http://schemas.microsoft.com/office/drawing/2014/main" id="{D34EC8BC-5E17-823C-89BF-2A90E217E58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91022" y="3816192"/>
                <a:ext cx="309600" cy="330432"/>
              </a:xfrm>
              <a:prstGeom prst="rect">
                <a:avLst/>
              </a:prstGeom>
              <a:noFill/>
              <a:extLst>
                <a:ext uri="{909E8E84-426E-40DD-AFC4-6F175D3DCCD1}">
                  <a14:hiddenFill xmlns:a14="http://schemas.microsoft.com/office/drawing/2010/main">
                    <a:solidFill>
                      <a:srgbClr val="FFFFFF"/>
                    </a:solidFill>
                  </a14:hiddenFill>
                </a:ext>
              </a:extLst>
            </p:spPr>
          </p:pic>
        </p:grpSp>
      </p:grpSp>
      <p:cxnSp>
        <p:nvCxnSpPr>
          <p:cNvPr id="21" name="Straight Connector 20">
            <a:extLst>
              <a:ext uri="{FF2B5EF4-FFF2-40B4-BE49-F238E27FC236}">
                <a16:creationId xmlns:a16="http://schemas.microsoft.com/office/drawing/2014/main" id="{A693BE5B-EC8C-7285-DC9D-50ACB67221F1}"/>
              </a:ext>
            </a:extLst>
          </p:cNvPr>
          <p:cNvCxnSpPr>
            <a:cxnSpLocks/>
          </p:cNvCxnSpPr>
          <p:nvPr/>
        </p:nvCxnSpPr>
        <p:spPr>
          <a:xfrm flipV="1">
            <a:off x="3803501" y="2021272"/>
            <a:ext cx="0" cy="3996000"/>
          </a:xfrm>
          <a:prstGeom prst="line">
            <a:avLst/>
          </a:prstGeom>
          <a:ln>
            <a:solidFill>
              <a:schemeClr val="tx1"/>
            </a:solidFill>
            <a:prstDash val="lgDashDot"/>
          </a:ln>
        </p:spPr>
        <p:style>
          <a:lnRef idx="1">
            <a:schemeClr val="dk1"/>
          </a:lnRef>
          <a:fillRef idx="0">
            <a:schemeClr val="dk1"/>
          </a:fillRef>
          <a:effectRef idx="0">
            <a:schemeClr val="dk1"/>
          </a:effectRef>
          <a:fontRef idx="minor">
            <a:schemeClr val="tx1"/>
          </a:fontRef>
        </p:style>
      </p:cxnSp>
      <p:cxnSp>
        <p:nvCxnSpPr>
          <p:cNvPr id="539" name="Straight Connector 538">
            <a:extLst>
              <a:ext uri="{FF2B5EF4-FFF2-40B4-BE49-F238E27FC236}">
                <a16:creationId xmlns:a16="http://schemas.microsoft.com/office/drawing/2014/main" id="{0265559B-10C8-387C-12FF-44A8F0AE8A1B}"/>
              </a:ext>
            </a:extLst>
          </p:cNvPr>
          <p:cNvCxnSpPr>
            <a:cxnSpLocks/>
          </p:cNvCxnSpPr>
          <p:nvPr/>
        </p:nvCxnSpPr>
        <p:spPr>
          <a:xfrm>
            <a:off x="9938855" y="5153271"/>
            <a:ext cx="2088000" cy="0"/>
          </a:xfrm>
          <a:prstGeom prst="line">
            <a:avLst/>
          </a:prstGeom>
          <a:ln>
            <a:prstDash val="lgDash"/>
          </a:ln>
        </p:spPr>
        <p:style>
          <a:lnRef idx="1">
            <a:schemeClr val="dk1"/>
          </a:lnRef>
          <a:fillRef idx="0">
            <a:schemeClr val="dk1"/>
          </a:fillRef>
          <a:effectRef idx="0">
            <a:schemeClr val="dk1"/>
          </a:effectRef>
          <a:fontRef idx="minor">
            <a:schemeClr val="tx1"/>
          </a:fontRef>
        </p:style>
      </p:cxnSp>
      <p:sp>
        <p:nvSpPr>
          <p:cNvPr id="19" name="Star: 5 Points 18">
            <a:extLst>
              <a:ext uri="{FF2B5EF4-FFF2-40B4-BE49-F238E27FC236}">
                <a16:creationId xmlns:a16="http://schemas.microsoft.com/office/drawing/2014/main" id="{5FAC2996-3B3E-E38D-AA75-C4DFD32DE807}"/>
              </a:ext>
            </a:extLst>
          </p:cNvPr>
          <p:cNvSpPr/>
          <p:nvPr/>
        </p:nvSpPr>
        <p:spPr>
          <a:xfrm>
            <a:off x="9308465" y="2208195"/>
            <a:ext cx="140490" cy="127437"/>
          </a:xfrm>
          <a:prstGeom prst="star5">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grpSp>
        <p:nvGrpSpPr>
          <p:cNvPr id="521" name="Group 520">
            <a:extLst>
              <a:ext uri="{FF2B5EF4-FFF2-40B4-BE49-F238E27FC236}">
                <a16:creationId xmlns:a16="http://schemas.microsoft.com/office/drawing/2014/main" id="{684AAD06-B5D9-EB33-FE0C-E408F1BC5A78}"/>
              </a:ext>
            </a:extLst>
          </p:cNvPr>
          <p:cNvGrpSpPr/>
          <p:nvPr/>
        </p:nvGrpSpPr>
        <p:grpSpPr>
          <a:xfrm>
            <a:off x="2909440" y="6420197"/>
            <a:ext cx="6373121" cy="290215"/>
            <a:chOff x="1643812" y="6420197"/>
            <a:chExt cx="6373121" cy="290215"/>
          </a:xfrm>
        </p:grpSpPr>
        <p:grpSp>
          <p:nvGrpSpPr>
            <p:cNvPr id="617" name="Group 616">
              <a:extLst>
                <a:ext uri="{FF2B5EF4-FFF2-40B4-BE49-F238E27FC236}">
                  <a16:creationId xmlns:a16="http://schemas.microsoft.com/office/drawing/2014/main" id="{ECB8EA93-CFD1-C2E7-5B9A-A51DFFED60EA}"/>
                </a:ext>
              </a:extLst>
            </p:cNvPr>
            <p:cNvGrpSpPr/>
            <p:nvPr/>
          </p:nvGrpSpPr>
          <p:grpSpPr>
            <a:xfrm>
              <a:off x="6110253" y="6420197"/>
              <a:ext cx="1906680" cy="288000"/>
              <a:chOff x="4296000" y="6352649"/>
              <a:chExt cx="1906680" cy="288000"/>
            </a:xfrm>
          </p:grpSpPr>
          <p:sp>
            <p:nvSpPr>
              <p:cNvPr id="580" name="Rectangle: Rounded Corners 579">
                <a:extLst>
                  <a:ext uri="{FF2B5EF4-FFF2-40B4-BE49-F238E27FC236}">
                    <a16:creationId xmlns:a16="http://schemas.microsoft.com/office/drawing/2014/main" id="{B3FCAA53-3595-CBC1-A467-102955BF0430}"/>
                  </a:ext>
                </a:extLst>
              </p:cNvPr>
              <p:cNvSpPr/>
              <p:nvPr/>
            </p:nvSpPr>
            <p:spPr>
              <a:xfrm>
                <a:off x="4296000" y="6352649"/>
                <a:ext cx="1906680" cy="288000"/>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l"/>
                <a:endParaRPr lang="en-CA" sz="900" noProof="0"/>
              </a:p>
            </p:txBody>
          </p:sp>
          <p:sp>
            <p:nvSpPr>
              <p:cNvPr id="581" name="TextBox 580">
                <a:extLst>
                  <a:ext uri="{FF2B5EF4-FFF2-40B4-BE49-F238E27FC236}">
                    <a16:creationId xmlns:a16="http://schemas.microsoft.com/office/drawing/2014/main" id="{366DBC88-5547-C104-5838-35D1B28C042A}"/>
                  </a:ext>
                </a:extLst>
              </p:cNvPr>
              <p:cNvSpPr txBox="1"/>
              <p:nvPr/>
            </p:nvSpPr>
            <p:spPr>
              <a:xfrm>
                <a:off x="4364055" y="6415858"/>
                <a:ext cx="573352"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Legend</a:t>
                </a:r>
              </a:p>
            </p:txBody>
          </p:sp>
          <p:cxnSp>
            <p:nvCxnSpPr>
              <p:cNvPr id="582" name="Straight Connector 581">
                <a:extLst>
                  <a:ext uri="{FF2B5EF4-FFF2-40B4-BE49-F238E27FC236}">
                    <a16:creationId xmlns:a16="http://schemas.microsoft.com/office/drawing/2014/main" id="{115587D2-7F8D-C5B6-92A5-03E236592F52}"/>
                  </a:ext>
                </a:extLst>
              </p:cNvPr>
              <p:cNvCxnSpPr>
                <a:cxnSpLocks/>
              </p:cNvCxnSpPr>
              <p:nvPr/>
            </p:nvCxnSpPr>
            <p:spPr>
              <a:xfrm flipH="1">
                <a:off x="4952446" y="6388649"/>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83" name="TextBox 582">
                <a:extLst>
                  <a:ext uri="{FF2B5EF4-FFF2-40B4-BE49-F238E27FC236}">
                    <a16:creationId xmlns:a16="http://schemas.microsoft.com/office/drawing/2014/main" id="{C03B5A3F-9016-DA06-8D4F-54300FECB709}"/>
                  </a:ext>
                </a:extLst>
              </p:cNvPr>
              <p:cNvSpPr txBox="1"/>
              <p:nvPr/>
            </p:nvSpPr>
            <p:spPr>
              <a:xfrm>
                <a:off x="5348678" y="6415858"/>
                <a:ext cx="756000" cy="16158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0" rIns="0" bIns="0" rtlCol="0" anchor="t" anchorCtr="0">
                <a:spAutoFit/>
              </a:bodyPr>
              <a:lstStyle/>
              <a:p>
                <a:pPr algn="ctr"/>
                <a:r>
                  <a:rPr lang="en-CA" sz="1050" noProof="0">
                    <a:solidFill>
                      <a:schemeClr val="bg2">
                        <a:lumMod val="10000"/>
                      </a:schemeClr>
                    </a:solidFill>
                  </a:rPr>
                  <a:t>Data Flow</a:t>
                </a:r>
              </a:p>
            </p:txBody>
          </p:sp>
          <p:cxnSp>
            <p:nvCxnSpPr>
              <p:cNvPr id="601" name="Straight Arrow Connector 600">
                <a:extLst>
                  <a:ext uri="{FF2B5EF4-FFF2-40B4-BE49-F238E27FC236}">
                    <a16:creationId xmlns:a16="http://schemas.microsoft.com/office/drawing/2014/main" id="{7F10BBB0-767C-3532-1DBF-F77BF8CE7126}"/>
                  </a:ext>
                </a:extLst>
              </p:cNvPr>
              <p:cNvCxnSpPr>
                <a:cxnSpLocks/>
              </p:cNvCxnSpPr>
              <p:nvPr/>
            </p:nvCxnSpPr>
            <p:spPr>
              <a:xfrm>
                <a:off x="5024678" y="6496649"/>
                <a:ext cx="324000"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22" name="Star: 5 Points 21">
              <a:extLst>
                <a:ext uri="{FF2B5EF4-FFF2-40B4-BE49-F238E27FC236}">
                  <a16:creationId xmlns:a16="http://schemas.microsoft.com/office/drawing/2014/main" id="{05C4445D-5A1C-8FC4-7F12-DEEA7CC2C673}"/>
                </a:ext>
              </a:extLst>
            </p:cNvPr>
            <p:cNvSpPr/>
            <p:nvPr/>
          </p:nvSpPr>
          <p:spPr>
            <a:xfrm>
              <a:off x="1643812" y="6524312"/>
              <a:ext cx="140490" cy="127437"/>
            </a:xfrm>
            <a:prstGeom prst="star5">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32" name="TextBox 31">
              <a:extLst>
                <a:ext uri="{FF2B5EF4-FFF2-40B4-BE49-F238E27FC236}">
                  <a16:creationId xmlns:a16="http://schemas.microsoft.com/office/drawing/2014/main" id="{A7220D7D-C600-CCC7-AD9C-082DCE923A44}"/>
                </a:ext>
              </a:extLst>
            </p:cNvPr>
            <p:cNvSpPr txBox="1"/>
            <p:nvPr/>
          </p:nvSpPr>
          <p:spPr>
            <a:xfrm>
              <a:off x="1739695" y="6476126"/>
              <a:ext cx="4358729"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050" noProof="0">
                  <a:solidFill>
                    <a:schemeClr val="bg2">
                      <a:lumMod val="10000"/>
                    </a:schemeClr>
                  </a:solidFill>
                </a:rPr>
                <a:t>Note : Apigee is the enterprise API Gateway standard running on GCP.</a:t>
              </a:r>
            </a:p>
          </p:txBody>
        </p:sp>
      </p:grpSp>
      <p:sp>
        <p:nvSpPr>
          <p:cNvPr id="517" name="Star: 5 Points 516">
            <a:extLst>
              <a:ext uri="{FF2B5EF4-FFF2-40B4-BE49-F238E27FC236}">
                <a16:creationId xmlns:a16="http://schemas.microsoft.com/office/drawing/2014/main" id="{06816205-FC01-A8BB-1437-7196FA1F7A43}"/>
              </a:ext>
            </a:extLst>
          </p:cNvPr>
          <p:cNvSpPr/>
          <p:nvPr/>
        </p:nvSpPr>
        <p:spPr>
          <a:xfrm>
            <a:off x="4159033" y="4027155"/>
            <a:ext cx="140490" cy="127437"/>
          </a:xfrm>
          <a:prstGeom prst="star5">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p>
        </p:txBody>
      </p:sp>
      <p:sp>
        <p:nvSpPr>
          <p:cNvPr id="522" name="Rectangle 521">
            <a:extLst>
              <a:ext uri="{FF2B5EF4-FFF2-40B4-BE49-F238E27FC236}">
                <a16:creationId xmlns:a16="http://schemas.microsoft.com/office/drawing/2014/main" id="{9C0280BB-F7C8-CB35-78D2-90248559DCF9}"/>
              </a:ext>
            </a:extLst>
          </p:cNvPr>
          <p:cNvSpPr/>
          <p:nvPr/>
        </p:nvSpPr>
        <p:spPr>
          <a:xfrm>
            <a:off x="128512" y="1406314"/>
            <a:ext cx="1420421" cy="4188404"/>
          </a:xfrm>
          <a:prstGeom prst="rect">
            <a:avLst/>
          </a:prstGeom>
          <a:noFill/>
          <a:ln>
            <a:solidFill>
              <a:schemeClr val="tx2"/>
            </a:solidFill>
          </a:ln>
        </p:spPr>
        <p:style>
          <a:lnRef idx="2">
            <a:schemeClr val="dk1"/>
          </a:lnRef>
          <a:fillRef idx="1">
            <a:schemeClr val="lt1"/>
          </a:fillRef>
          <a:effectRef idx="0">
            <a:schemeClr val="dk1"/>
          </a:effectRef>
          <a:fontRef idx="minor">
            <a:schemeClr val="dk1"/>
          </a:fontRef>
        </p:style>
        <p:txBody>
          <a:bodyPr lIns="0" tIns="45720" rIns="0" bIns="45720" rtlCol="0" anchor="t"/>
          <a:lstStyle/>
          <a:p>
            <a:pPr algn="ctr"/>
            <a:endParaRPr lang="en-CA" sz="800" b="1" kern="0" noProof="0">
              <a:solidFill>
                <a:srgbClr val="7030A0"/>
              </a:solidFill>
              <a:cs typeface="Arial"/>
            </a:endParaRPr>
          </a:p>
        </p:txBody>
      </p:sp>
      <p:sp>
        <p:nvSpPr>
          <p:cNvPr id="523" name="TextBox 522">
            <a:extLst>
              <a:ext uri="{FF2B5EF4-FFF2-40B4-BE49-F238E27FC236}">
                <a16:creationId xmlns:a16="http://schemas.microsoft.com/office/drawing/2014/main" id="{BA113EFA-AD66-6794-655B-98EA037198E2}"/>
              </a:ext>
            </a:extLst>
          </p:cNvPr>
          <p:cNvSpPr txBox="1"/>
          <p:nvPr/>
        </p:nvSpPr>
        <p:spPr>
          <a:xfrm>
            <a:off x="-63892" y="1114505"/>
            <a:ext cx="1805228" cy="184666"/>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0" tIns="0" rIns="0" bIns="0">
            <a:spAutoFit/>
          </a:bodyPr>
          <a:lstStyle/>
          <a:p>
            <a:pPr algn="ctr"/>
            <a:r>
              <a:rPr lang="en-CA" sz="1200" b="1" noProof="0">
                <a:solidFill>
                  <a:schemeClr val="tx2"/>
                </a:solidFill>
              </a:rPr>
              <a:t>DATA SOURCES</a:t>
            </a:r>
          </a:p>
        </p:txBody>
      </p:sp>
      <p:pic>
        <p:nvPicPr>
          <p:cNvPr id="525" name="Picture 524">
            <a:extLst>
              <a:ext uri="{FF2B5EF4-FFF2-40B4-BE49-F238E27FC236}">
                <a16:creationId xmlns:a16="http://schemas.microsoft.com/office/drawing/2014/main" id="{6EC0191A-5485-1803-02B6-F2B615F8FAB8}"/>
              </a:ext>
            </a:extLst>
          </p:cNvPr>
          <p:cNvPicPr>
            <a:picLocks noChangeAspect="1"/>
          </p:cNvPicPr>
          <p:nvPr/>
        </p:nvPicPr>
        <p:blipFill>
          <a:blip r:embed="rId21"/>
          <a:srcRect/>
          <a:stretch/>
        </p:blipFill>
        <p:spPr>
          <a:xfrm>
            <a:off x="450688" y="2024644"/>
            <a:ext cx="776068" cy="293576"/>
          </a:xfrm>
          <a:prstGeom prst="rect">
            <a:avLst/>
          </a:prstGeom>
        </p:spPr>
      </p:pic>
      <p:pic>
        <p:nvPicPr>
          <p:cNvPr id="532" name="Picture 531">
            <a:extLst>
              <a:ext uri="{FF2B5EF4-FFF2-40B4-BE49-F238E27FC236}">
                <a16:creationId xmlns:a16="http://schemas.microsoft.com/office/drawing/2014/main" id="{7140565B-89B3-D9E3-D8DD-96D68877485C}"/>
              </a:ext>
            </a:extLst>
          </p:cNvPr>
          <p:cNvPicPr>
            <a:picLocks noChangeAspect="1"/>
          </p:cNvPicPr>
          <p:nvPr/>
        </p:nvPicPr>
        <p:blipFill>
          <a:blip r:embed="rId22"/>
          <a:stretch>
            <a:fillRect/>
          </a:stretch>
        </p:blipFill>
        <p:spPr>
          <a:xfrm>
            <a:off x="383352" y="1561468"/>
            <a:ext cx="910741" cy="300838"/>
          </a:xfrm>
          <a:prstGeom prst="rect">
            <a:avLst/>
          </a:prstGeom>
        </p:spPr>
      </p:pic>
      <p:pic>
        <p:nvPicPr>
          <p:cNvPr id="538" name="Picture 2">
            <a:extLst>
              <a:ext uri="{FF2B5EF4-FFF2-40B4-BE49-F238E27FC236}">
                <a16:creationId xmlns:a16="http://schemas.microsoft.com/office/drawing/2014/main" id="{557DCE68-132D-E492-E6F7-2890B7B1B50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4033" y="2510822"/>
            <a:ext cx="1089378" cy="269498"/>
          </a:xfrm>
          <a:prstGeom prst="rect">
            <a:avLst/>
          </a:prstGeom>
          <a:noFill/>
          <a:extLst>
            <a:ext uri="{909E8E84-426E-40DD-AFC4-6F175D3DCCD1}">
              <a14:hiddenFill xmlns:a14="http://schemas.microsoft.com/office/drawing/2010/main">
                <a:solidFill>
                  <a:srgbClr val="FFFFFF"/>
                </a:solidFill>
              </a14:hiddenFill>
            </a:ext>
          </a:extLst>
        </p:spPr>
      </p:pic>
      <p:pic>
        <p:nvPicPr>
          <p:cNvPr id="540" name="Picture 2" descr="Canada Life Re reports record earnings for 2023 - Reinsurance News">
            <a:extLst>
              <a:ext uri="{FF2B5EF4-FFF2-40B4-BE49-F238E27FC236}">
                <a16:creationId xmlns:a16="http://schemas.microsoft.com/office/drawing/2014/main" id="{7EB0C149-CD49-CC8A-0F0F-127D0F6222A8}"/>
              </a:ext>
            </a:extLst>
          </p:cNvPr>
          <p:cNvPicPr>
            <a:picLocks noChangeAspect="1" noChangeArrowheads="1"/>
          </p:cNvPicPr>
          <p:nvPr/>
        </p:nvPicPr>
        <p:blipFill>
          <a:blip r:embed="rId2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402" y="2816016"/>
            <a:ext cx="1010640" cy="565958"/>
          </a:xfrm>
          <a:prstGeom prst="rect">
            <a:avLst/>
          </a:prstGeom>
          <a:noFill/>
          <a:extLst>
            <a:ext uri="{909E8E84-426E-40DD-AFC4-6F175D3DCCD1}">
              <a14:hiddenFill xmlns:a14="http://schemas.microsoft.com/office/drawing/2010/main">
                <a:solidFill>
                  <a:srgbClr val="FFFFFF"/>
                </a:solidFill>
              </a14:hiddenFill>
            </a:ext>
          </a:extLst>
        </p:spPr>
      </p:pic>
      <p:grpSp>
        <p:nvGrpSpPr>
          <p:cNvPr id="541" name="Group 540">
            <a:extLst>
              <a:ext uri="{FF2B5EF4-FFF2-40B4-BE49-F238E27FC236}">
                <a16:creationId xmlns:a16="http://schemas.microsoft.com/office/drawing/2014/main" id="{6B86D09A-73FB-3D1C-0DCB-A27FD5D96B40}"/>
              </a:ext>
            </a:extLst>
          </p:cNvPr>
          <p:cNvGrpSpPr/>
          <p:nvPr/>
        </p:nvGrpSpPr>
        <p:grpSpPr>
          <a:xfrm>
            <a:off x="235463" y="3563752"/>
            <a:ext cx="1206518" cy="548640"/>
            <a:chOff x="323283" y="3223830"/>
            <a:chExt cx="1206518" cy="490035"/>
          </a:xfrm>
        </p:grpSpPr>
        <p:sp>
          <p:nvSpPr>
            <p:cNvPr id="542" name="Rectangle: Rounded Corners 541">
              <a:extLst>
                <a:ext uri="{FF2B5EF4-FFF2-40B4-BE49-F238E27FC236}">
                  <a16:creationId xmlns:a16="http://schemas.microsoft.com/office/drawing/2014/main" id="{56C32047-A5F2-1824-3163-8DD5A1765DD5}"/>
                </a:ext>
              </a:extLst>
            </p:cNvPr>
            <p:cNvSpPr/>
            <p:nvPr/>
          </p:nvSpPr>
          <p:spPr>
            <a:xfrm>
              <a:off x="323283" y="3223830"/>
              <a:ext cx="1206518" cy="490035"/>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543" name="TextBox 542">
              <a:extLst>
                <a:ext uri="{FF2B5EF4-FFF2-40B4-BE49-F238E27FC236}">
                  <a16:creationId xmlns:a16="http://schemas.microsoft.com/office/drawing/2014/main" id="{CD8F17F4-E8FF-AEF0-4907-85D6CAFF14AD}"/>
                </a:ext>
              </a:extLst>
            </p:cNvPr>
            <p:cNvSpPr txBox="1"/>
            <p:nvPr/>
          </p:nvSpPr>
          <p:spPr>
            <a:xfrm>
              <a:off x="353829" y="3262058"/>
              <a:ext cx="1145426" cy="44203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b="1" noProof="0">
                  <a:solidFill>
                    <a:schemeClr val="bg2">
                      <a:lumMod val="10000"/>
                    </a:schemeClr>
                  </a:solidFill>
                </a:rPr>
                <a:t>Structured  Data (e.g. transactional data)</a:t>
              </a:r>
            </a:p>
          </p:txBody>
        </p:sp>
      </p:grpSp>
      <p:grpSp>
        <p:nvGrpSpPr>
          <p:cNvPr id="545" name="Group 544">
            <a:extLst>
              <a:ext uri="{FF2B5EF4-FFF2-40B4-BE49-F238E27FC236}">
                <a16:creationId xmlns:a16="http://schemas.microsoft.com/office/drawing/2014/main" id="{7F6DFC26-FAE0-F609-5FDB-203C392BA4BB}"/>
              </a:ext>
            </a:extLst>
          </p:cNvPr>
          <p:cNvGrpSpPr/>
          <p:nvPr/>
        </p:nvGrpSpPr>
        <p:grpSpPr>
          <a:xfrm>
            <a:off x="229436" y="4933352"/>
            <a:ext cx="1218573" cy="565958"/>
            <a:chOff x="317256" y="3939323"/>
            <a:chExt cx="1218573" cy="593480"/>
          </a:xfrm>
        </p:grpSpPr>
        <p:sp>
          <p:nvSpPr>
            <p:cNvPr id="549" name="Rectangle: Rounded Corners 548">
              <a:extLst>
                <a:ext uri="{FF2B5EF4-FFF2-40B4-BE49-F238E27FC236}">
                  <a16:creationId xmlns:a16="http://schemas.microsoft.com/office/drawing/2014/main" id="{95958064-848D-4B38-18FF-20A78B6F2705}"/>
                </a:ext>
              </a:extLst>
            </p:cNvPr>
            <p:cNvSpPr/>
            <p:nvPr/>
          </p:nvSpPr>
          <p:spPr>
            <a:xfrm>
              <a:off x="317256" y="3939323"/>
              <a:ext cx="1218573" cy="593480"/>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551" name="TextBox 550">
              <a:extLst>
                <a:ext uri="{FF2B5EF4-FFF2-40B4-BE49-F238E27FC236}">
                  <a16:creationId xmlns:a16="http://schemas.microsoft.com/office/drawing/2014/main" id="{C3429DAA-2691-1F64-F8C1-D3B57F261ABD}"/>
                </a:ext>
              </a:extLst>
            </p:cNvPr>
            <p:cNvSpPr txBox="1"/>
            <p:nvPr/>
          </p:nvSpPr>
          <p:spPr>
            <a:xfrm>
              <a:off x="410954" y="3967657"/>
              <a:ext cx="1031176" cy="56514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b="1" noProof="0">
                  <a:solidFill>
                    <a:schemeClr val="bg2">
                      <a:lumMod val="10000"/>
                    </a:schemeClr>
                  </a:solidFill>
                </a:rPr>
                <a:t>Unstructured Data (e.g. documents, audio)</a:t>
              </a:r>
            </a:p>
          </p:txBody>
        </p:sp>
      </p:grpSp>
      <p:grpSp>
        <p:nvGrpSpPr>
          <p:cNvPr id="552" name="Group 551">
            <a:extLst>
              <a:ext uri="{FF2B5EF4-FFF2-40B4-BE49-F238E27FC236}">
                <a16:creationId xmlns:a16="http://schemas.microsoft.com/office/drawing/2014/main" id="{90A4D285-DD6D-D60C-21A2-8637E3A532DA}"/>
              </a:ext>
            </a:extLst>
          </p:cNvPr>
          <p:cNvGrpSpPr/>
          <p:nvPr/>
        </p:nvGrpSpPr>
        <p:grpSpPr>
          <a:xfrm>
            <a:off x="234504" y="4275306"/>
            <a:ext cx="1208436" cy="548640"/>
            <a:chOff x="322324" y="3554208"/>
            <a:chExt cx="1208436" cy="471476"/>
          </a:xfrm>
        </p:grpSpPr>
        <p:sp>
          <p:nvSpPr>
            <p:cNvPr id="553" name="Rectangle: Rounded Corners 552">
              <a:extLst>
                <a:ext uri="{FF2B5EF4-FFF2-40B4-BE49-F238E27FC236}">
                  <a16:creationId xmlns:a16="http://schemas.microsoft.com/office/drawing/2014/main" id="{278EA182-55E6-9891-606E-0A0FD7971E7E}"/>
                </a:ext>
              </a:extLst>
            </p:cNvPr>
            <p:cNvSpPr/>
            <p:nvPr/>
          </p:nvSpPr>
          <p:spPr>
            <a:xfrm>
              <a:off x="322324" y="3554208"/>
              <a:ext cx="1208436" cy="471476"/>
            </a:xfrm>
            <a:prstGeom prst="roundRect">
              <a:avLst/>
            </a:prstGeom>
            <a:solidFill>
              <a:srgbClr val="FFF3F5"/>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200" noProof="0">
                <a:ln>
                  <a:solidFill>
                    <a:srgbClr val="A5A5A5"/>
                  </a:solidFill>
                </a:ln>
                <a:solidFill>
                  <a:schemeClr val="tx2"/>
                </a:solidFill>
              </a:endParaRPr>
            </a:p>
          </p:txBody>
        </p:sp>
        <p:sp>
          <p:nvSpPr>
            <p:cNvPr id="557" name="TextBox 556">
              <a:extLst>
                <a:ext uri="{FF2B5EF4-FFF2-40B4-BE49-F238E27FC236}">
                  <a16:creationId xmlns:a16="http://schemas.microsoft.com/office/drawing/2014/main" id="{BF4A1175-283B-0C9F-4165-B8BE16BA09DD}"/>
                </a:ext>
              </a:extLst>
            </p:cNvPr>
            <p:cNvSpPr txBox="1"/>
            <p:nvPr/>
          </p:nvSpPr>
          <p:spPr>
            <a:xfrm>
              <a:off x="382557" y="3566207"/>
              <a:ext cx="1087971" cy="37986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800" b="1" noProof="0">
                  <a:solidFill>
                    <a:schemeClr val="bg2">
                      <a:lumMod val="10000"/>
                    </a:schemeClr>
                  </a:solidFill>
                </a:rPr>
                <a:t>Semi-structured Data (e.g. excel, logs)</a:t>
              </a:r>
            </a:p>
          </p:txBody>
        </p:sp>
      </p:grpSp>
      <p:cxnSp>
        <p:nvCxnSpPr>
          <p:cNvPr id="562" name="Straight Connector 561">
            <a:extLst>
              <a:ext uri="{FF2B5EF4-FFF2-40B4-BE49-F238E27FC236}">
                <a16:creationId xmlns:a16="http://schemas.microsoft.com/office/drawing/2014/main" id="{23FA6123-C821-4452-69B9-141318123529}"/>
              </a:ext>
            </a:extLst>
          </p:cNvPr>
          <p:cNvCxnSpPr>
            <a:cxnSpLocks/>
          </p:cNvCxnSpPr>
          <p:nvPr/>
        </p:nvCxnSpPr>
        <p:spPr>
          <a:xfrm flipH="1">
            <a:off x="292280" y="3394322"/>
            <a:ext cx="1092884" cy="0"/>
          </a:xfrm>
          <a:prstGeom prst="line">
            <a:avLst/>
          </a:prstGeom>
          <a:ln w="9525">
            <a:solidFill>
              <a:schemeClr val="bg2">
                <a:lumMod val="1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563" name="Group 562">
            <a:extLst>
              <a:ext uri="{FF2B5EF4-FFF2-40B4-BE49-F238E27FC236}">
                <a16:creationId xmlns:a16="http://schemas.microsoft.com/office/drawing/2014/main" id="{7056EC1C-9441-064E-1B33-C34B9A30E430}"/>
              </a:ext>
            </a:extLst>
          </p:cNvPr>
          <p:cNvGrpSpPr>
            <a:grpSpLocks noChangeAspect="1"/>
          </p:cNvGrpSpPr>
          <p:nvPr/>
        </p:nvGrpSpPr>
        <p:grpSpPr>
          <a:xfrm>
            <a:off x="163888" y="4896547"/>
            <a:ext cx="287154" cy="186986"/>
            <a:chOff x="2390127" y="5520196"/>
            <a:chExt cx="819150" cy="533400"/>
          </a:xfrm>
        </p:grpSpPr>
        <p:sp>
          <p:nvSpPr>
            <p:cNvPr id="566" name="Freeform: Shape 565">
              <a:extLst>
                <a:ext uri="{FF2B5EF4-FFF2-40B4-BE49-F238E27FC236}">
                  <a16:creationId xmlns:a16="http://schemas.microsoft.com/office/drawing/2014/main" id="{7DA7331F-7B34-D2B4-F818-FA345C5B8F48}"/>
                </a:ext>
              </a:extLst>
            </p:cNvPr>
            <p:cNvSpPr/>
            <p:nvPr/>
          </p:nvSpPr>
          <p:spPr>
            <a:xfrm>
              <a:off x="31521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567" name="Freeform: Shape 566">
              <a:extLst>
                <a:ext uri="{FF2B5EF4-FFF2-40B4-BE49-F238E27FC236}">
                  <a16:creationId xmlns:a16="http://schemas.microsoft.com/office/drawing/2014/main" id="{F9FB8C92-C2C3-2ED2-D6B2-9916580B0BC4}"/>
                </a:ext>
              </a:extLst>
            </p:cNvPr>
            <p:cNvSpPr/>
            <p:nvPr/>
          </p:nvSpPr>
          <p:spPr>
            <a:xfrm>
              <a:off x="29616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568" name="Freeform: Shape 567">
              <a:extLst>
                <a:ext uri="{FF2B5EF4-FFF2-40B4-BE49-F238E27FC236}">
                  <a16:creationId xmlns:a16="http://schemas.microsoft.com/office/drawing/2014/main" id="{28769A45-F428-9393-1649-722E0523AFC7}"/>
                </a:ext>
              </a:extLst>
            </p:cNvPr>
            <p:cNvSpPr/>
            <p:nvPr/>
          </p:nvSpPr>
          <p:spPr>
            <a:xfrm>
              <a:off x="2390127" y="5742128"/>
              <a:ext cx="57150" cy="88582"/>
            </a:xfrm>
            <a:custGeom>
              <a:avLst/>
              <a:gdLst>
                <a:gd name="csX0" fmla="*/ 0 w 57150"/>
                <a:gd name="csY0" fmla="*/ 0 h 88582"/>
                <a:gd name="csX1" fmla="*/ 57150 w 57150"/>
                <a:gd name="csY1" fmla="*/ 0 h 88582"/>
                <a:gd name="csX2" fmla="*/ 57150 w 57150"/>
                <a:gd name="csY2" fmla="*/ 88582 h 88582"/>
                <a:gd name="csX3" fmla="*/ 0 w 57150"/>
                <a:gd name="csY3" fmla="*/ 88582 h 88582"/>
              </a:gdLst>
              <a:ahLst/>
              <a:cxnLst>
                <a:cxn ang="0">
                  <a:pos x="csX0" y="csY0"/>
                </a:cxn>
                <a:cxn ang="0">
                  <a:pos x="csX1" y="csY1"/>
                </a:cxn>
                <a:cxn ang="0">
                  <a:pos x="csX2" y="csY2"/>
                </a:cxn>
                <a:cxn ang="0">
                  <a:pos x="csX3" y="csY3"/>
                </a:cxn>
              </a:cxnLst>
              <a:rect l="l" t="t" r="r" b="b"/>
              <a:pathLst>
                <a:path w="57150" h="88582">
                  <a:moveTo>
                    <a:pt x="0" y="0"/>
                  </a:moveTo>
                  <a:lnTo>
                    <a:pt x="57150" y="0"/>
                  </a:lnTo>
                  <a:lnTo>
                    <a:pt x="57150" y="88582"/>
                  </a:lnTo>
                  <a:lnTo>
                    <a:pt x="0" y="88582"/>
                  </a:lnTo>
                  <a:close/>
                </a:path>
              </a:pathLst>
            </a:custGeom>
            <a:solidFill>
              <a:srgbClr val="000000"/>
            </a:solidFill>
            <a:ln w="9525" cap="flat">
              <a:noFill/>
              <a:prstDash val="solid"/>
              <a:miter/>
            </a:ln>
          </p:spPr>
          <p:txBody>
            <a:bodyPr/>
            <a:lstStyle/>
            <a:p>
              <a:endParaRPr lang="en-CA" noProof="0"/>
            </a:p>
          </p:txBody>
        </p:sp>
        <p:sp>
          <p:nvSpPr>
            <p:cNvPr id="569" name="Freeform: Shape 568">
              <a:extLst>
                <a:ext uri="{FF2B5EF4-FFF2-40B4-BE49-F238E27FC236}">
                  <a16:creationId xmlns:a16="http://schemas.microsoft.com/office/drawing/2014/main" id="{BDC78CB9-11E7-ABCA-112A-9AC85A1C50E6}"/>
                </a:ext>
              </a:extLst>
            </p:cNvPr>
            <p:cNvSpPr/>
            <p:nvPr/>
          </p:nvSpPr>
          <p:spPr>
            <a:xfrm>
              <a:off x="30568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570" name="Freeform: Shape 569">
              <a:extLst>
                <a:ext uri="{FF2B5EF4-FFF2-40B4-BE49-F238E27FC236}">
                  <a16:creationId xmlns:a16="http://schemas.microsoft.com/office/drawing/2014/main" id="{12A82E74-4480-9CDF-B59B-ED2F56F8480C}"/>
                </a:ext>
              </a:extLst>
            </p:cNvPr>
            <p:cNvSpPr/>
            <p:nvPr/>
          </p:nvSpPr>
          <p:spPr>
            <a:xfrm>
              <a:off x="28663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571" name="Freeform: Shape 570">
              <a:extLst>
                <a:ext uri="{FF2B5EF4-FFF2-40B4-BE49-F238E27FC236}">
                  <a16:creationId xmlns:a16="http://schemas.microsoft.com/office/drawing/2014/main" id="{B0D628D5-EDB4-A41F-82CC-CEC4CA5A7D7B}"/>
                </a:ext>
              </a:extLst>
            </p:cNvPr>
            <p:cNvSpPr/>
            <p:nvPr/>
          </p:nvSpPr>
          <p:spPr>
            <a:xfrm>
              <a:off x="2485377" y="5698313"/>
              <a:ext cx="57150" cy="178117"/>
            </a:xfrm>
            <a:custGeom>
              <a:avLst/>
              <a:gdLst>
                <a:gd name="csX0" fmla="*/ 0 w 57150"/>
                <a:gd name="csY0" fmla="*/ 0 h 178117"/>
                <a:gd name="csX1" fmla="*/ 57150 w 57150"/>
                <a:gd name="csY1" fmla="*/ 0 h 178117"/>
                <a:gd name="csX2" fmla="*/ 57150 w 57150"/>
                <a:gd name="csY2" fmla="*/ 178118 h 178117"/>
                <a:gd name="csX3" fmla="*/ 0 w 57150"/>
                <a:gd name="csY3" fmla="*/ 178118 h 178117"/>
              </a:gdLst>
              <a:ahLst/>
              <a:cxnLst>
                <a:cxn ang="0">
                  <a:pos x="csX0" y="csY0"/>
                </a:cxn>
                <a:cxn ang="0">
                  <a:pos x="csX1" y="csY1"/>
                </a:cxn>
                <a:cxn ang="0">
                  <a:pos x="csX2" y="csY2"/>
                </a:cxn>
                <a:cxn ang="0">
                  <a:pos x="csX3" y="csY3"/>
                </a:cxn>
              </a:cxnLst>
              <a:rect l="l" t="t" r="r" b="b"/>
              <a:pathLst>
                <a:path w="57150" h="178117">
                  <a:moveTo>
                    <a:pt x="0" y="0"/>
                  </a:moveTo>
                  <a:lnTo>
                    <a:pt x="57150" y="0"/>
                  </a:lnTo>
                  <a:lnTo>
                    <a:pt x="57150" y="178118"/>
                  </a:lnTo>
                  <a:lnTo>
                    <a:pt x="0" y="178118"/>
                  </a:lnTo>
                  <a:close/>
                </a:path>
              </a:pathLst>
            </a:custGeom>
            <a:solidFill>
              <a:srgbClr val="000000"/>
            </a:solidFill>
            <a:ln w="9525" cap="flat">
              <a:noFill/>
              <a:prstDash val="solid"/>
              <a:miter/>
            </a:ln>
          </p:spPr>
          <p:txBody>
            <a:bodyPr/>
            <a:lstStyle/>
            <a:p>
              <a:endParaRPr lang="en-CA" noProof="0"/>
            </a:p>
          </p:txBody>
        </p:sp>
        <p:sp>
          <p:nvSpPr>
            <p:cNvPr id="572" name="Freeform: Shape 571">
              <a:extLst>
                <a:ext uri="{FF2B5EF4-FFF2-40B4-BE49-F238E27FC236}">
                  <a16:creationId xmlns:a16="http://schemas.microsoft.com/office/drawing/2014/main" id="{87494266-61C2-6565-B245-72E53F66B747}"/>
                </a:ext>
              </a:extLst>
            </p:cNvPr>
            <p:cNvSpPr/>
            <p:nvPr/>
          </p:nvSpPr>
          <p:spPr>
            <a:xfrm>
              <a:off x="2771127" y="5653546"/>
              <a:ext cx="57150" cy="266700"/>
            </a:xfrm>
            <a:custGeom>
              <a:avLst/>
              <a:gdLst>
                <a:gd name="csX0" fmla="*/ 0 w 57150"/>
                <a:gd name="csY0" fmla="*/ 0 h 266700"/>
                <a:gd name="csX1" fmla="*/ 57150 w 57150"/>
                <a:gd name="csY1" fmla="*/ 0 h 266700"/>
                <a:gd name="csX2" fmla="*/ 57150 w 57150"/>
                <a:gd name="csY2" fmla="*/ 266700 h 266700"/>
                <a:gd name="csX3" fmla="*/ 0 w 57150"/>
                <a:gd name="csY3" fmla="*/ 266700 h 266700"/>
              </a:gdLst>
              <a:ahLst/>
              <a:cxnLst>
                <a:cxn ang="0">
                  <a:pos x="csX0" y="csY0"/>
                </a:cxn>
                <a:cxn ang="0">
                  <a:pos x="csX1" y="csY1"/>
                </a:cxn>
                <a:cxn ang="0">
                  <a:pos x="csX2" y="csY2"/>
                </a:cxn>
                <a:cxn ang="0">
                  <a:pos x="csX3" y="csY3"/>
                </a:cxn>
              </a:cxnLst>
              <a:rect l="l" t="t" r="r" b="b"/>
              <a:pathLst>
                <a:path w="57150" h="266700">
                  <a:moveTo>
                    <a:pt x="0" y="0"/>
                  </a:moveTo>
                  <a:lnTo>
                    <a:pt x="57150" y="0"/>
                  </a:lnTo>
                  <a:lnTo>
                    <a:pt x="57150" y="266700"/>
                  </a:lnTo>
                  <a:lnTo>
                    <a:pt x="0" y="266700"/>
                  </a:lnTo>
                  <a:close/>
                </a:path>
              </a:pathLst>
            </a:custGeom>
            <a:solidFill>
              <a:srgbClr val="000000"/>
            </a:solidFill>
            <a:ln w="9525" cap="flat">
              <a:noFill/>
              <a:prstDash val="solid"/>
              <a:miter/>
            </a:ln>
          </p:spPr>
          <p:txBody>
            <a:bodyPr/>
            <a:lstStyle/>
            <a:p>
              <a:endParaRPr lang="en-CA" noProof="0"/>
            </a:p>
          </p:txBody>
        </p:sp>
        <p:sp>
          <p:nvSpPr>
            <p:cNvPr id="573" name="Freeform: Shape 572">
              <a:extLst>
                <a:ext uri="{FF2B5EF4-FFF2-40B4-BE49-F238E27FC236}">
                  <a16:creationId xmlns:a16="http://schemas.microsoft.com/office/drawing/2014/main" id="{3FDE63EF-1296-951C-805B-BB7A69169906}"/>
                </a:ext>
              </a:extLst>
            </p:cNvPr>
            <p:cNvSpPr/>
            <p:nvPr/>
          </p:nvSpPr>
          <p:spPr>
            <a:xfrm>
              <a:off x="2580627" y="5608778"/>
              <a:ext cx="57150" cy="355282"/>
            </a:xfrm>
            <a:custGeom>
              <a:avLst/>
              <a:gdLst>
                <a:gd name="csX0" fmla="*/ 0 w 57150"/>
                <a:gd name="csY0" fmla="*/ 0 h 355282"/>
                <a:gd name="csX1" fmla="*/ 57150 w 57150"/>
                <a:gd name="csY1" fmla="*/ 0 h 355282"/>
                <a:gd name="csX2" fmla="*/ 57150 w 57150"/>
                <a:gd name="csY2" fmla="*/ 355283 h 355282"/>
                <a:gd name="csX3" fmla="*/ 0 w 57150"/>
                <a:gd name="csY3" fmla="*/ 355283 h 355282"/>
              </a:gdLst>
              <a:ahLst/>
              <a:cxnLst>
                <a:cxn ang="0">
                  <a:pos x="csX0" y="csY0"/>
                </a:cxn>
                <a:cxn ang="0">
                  <a:pos x="csX1" y="csY1"/>
                </a:cxn>
                <a:cxn ang="0">
                  <a:pos x="csX2" y="csY2"/>
                </a:cxn>
                <a:cxn ang="0">
                  <a:pos x="csX3" y="csY3"/>
                </a:cxn>
              </a:cxnLst>
              <a:rect l="l" t="t" r="r" b="b"/>
              <a:pathLst>
                <a:path w="57150" h="355282">
                  <a:moveTo>
                    <a:pt x="0" y="0"/>
                  </a:moveTo>
                  <a:lnTo>
                    <a:pt x="57150" y="0"/>
                  </a:lnTo>
                  <a:lnTo>
                    <a:pt x="57150" y="355283"/>
                  </a:lnTo>
                  <a:lnTo>
                    <a:pt x="0" y="355283"/>
                  </a:lnTo>
                  <a:close/>
                </a:path>
              </a:pathLst>
            </a:custGeom>
            <a:solidFill>
              <a:srgbClr val="000000"/>
            </a:solidFill>
            <a:ln w="9525" cap="flat">
              <a:noFill/>
              <a:prstDash val="solid"/>
              <a:miter/>
            </a:ln>
          </p:spPr>
          <p:txBody>
            <a:bodyPr/>
            <a:lstStyle/>
            <a:p>
              <a:endParaRPr lang="en-CA" noProof="0"/>
            </a:p>
          </p:txBody>
        </p:sp>
        <p:sp>
          <p:nvSpPr>
            <p:cNvPr id="574" name="Freeform: Shape 573">
              <a:extLst>
                <a:ext uri="{FF2B5EF4-FFF2-40B4-BE49-F238E27FC236}">
                  <a16:creationId xmlns:a16="http://schemas.microsoft.com/office/drawing/2014/main" id="{B3790E3C-A03B-34F4-4DB1-391F5872207B}"/>
                </a:ext>
              </a:extLst>
            </p:cNvPr>
            <p:cNvSpPr/>
            <p:nvPr/>
          </p:nvSpPr>
          <p:spPr>
            <a:xfrm>
              <a:off x="2675877" y="5520196"/>
              <a:ext cx="57150" cy="533400"/>
            </a:xfrm>
            <a:custGeom>
              <a:avLst/>
              <a:gdLst>
                <a:gd name="csX0" fmla="*/ 0 w 57150"/>
                <a:gd name="csY0" fmla="*/ 0 h 533400"/>
                <a:gd name="csX1" fmla="*/ 57150 w 57150"/>
                <a:gd name="csY1" fmla="*/ 0 h 533400"/>
                <a:gd name="csX2" fmla="*/ 57150 w 57150"/>
                <a:gd name="csY2" fmla="*/ 533400 h 533400"/>
                <a:gd name="csX3" fmla="*/ 0 w 57150"/>
                <a:gd name="csY3" fmla="*/ 533400 h 533400"/>
              </a:gdLst>
              <a:ahLst/>
              <a:cxnLst>
                <a:cxn ang="0">
                  <a:pos x="csX0" y="csY0"/>
                </a:cxn>
                <a:cxn ang="0">
                  <a:pos x="csX1" y="csY1"/>
                </a:cxn>
                <a:cxn ang="0">
                  <a:pos x="csX2" y="csY2"/>
                </a:cxn>
                <a:cxn ang="0">
                  <a:pos x="csX3" y="csY3"/>
                </a:cxn>
              </a:cxnLst>
              <a:rect l="l" t="t" r="r" b="b"/>
              <a:pathLst>
                <a:path w="57150" h="533400">
                  <a:moveTo>
                    <a:pt x="0" y="0"/>
                  </a:moveTo>
                  <a:lnTo>
                    <a:pt x="57150" y="0"/>
                  </a:lnTo>
                  <a:lnTo>
                    <a:pt x="57150" y="533400"/>
                  </a:lnTo>
                  <a:lnTo>
                    <a:pt x="0" y="533400"/>
                  </a:lnTo>
                  <a:close/>
                </a:path>
              </a:pathLst>
            </a:custGeom>
            <a:solidFill>
              <a:srgbClr val="000000"/>
            </a:solidFill>
            <a:ln w="9525" cap="flat">
              <a:noFill/>
              <a:prstDash val="solid"/>
              <a:miter/>
            </a:ln>
          </p:spPr>
          <p:txBody>
            <a:bodyPr/>
            <a:lstStyle/>
            <a:p>
              <a:endParaRPr lang="en-CA" noProof="0"/>
            </a:p>
          </p:txBody>
        </p:sp>
      </p:grpSp>
      <p:grpSp>
        <p:nvGrpSpPr>
          <p:cNvPr id="575" name="Graphic 4153" descr="Contract with solid fill">
            <a:extLst>
              <a:ext uri="{FF2B5EF4-FFF2-40B4-BE49-F238E27FC236}">
                <a16:creationId xmlns:a16="http://schemas.microsoft.com/office/drawing/2014/main" id="{370B36E3-20D0-E25D-2914-0A2AD0DEA7B3}"/>
              </a:ext>
            </a:extLst>
          </p:cNvPr>
          <p:cNvGrpSpPr>
            <a:grpSpLocks noChangeAspect="1"/>
          </p:cNvGrpSpPr>
          <p:nvPr/>
        </p:nvGrpSpPr>
        <p:grpSpPr>
          <a:xfrm>
            <a:off x="192314" y="4182125"/>
            <a:ext cx="160844" cy="207540"/>
            <a:chOff x="1773197" y="5813549"/>
            <a:chExt cx="590550" cy="762000"/>
          </a:xfrm>
          <a:solidFill>
            <a:srgbClr val="000000"/>
          </a:solidFill>
        </p:grpSpPr>
        <p:sp>
          <p:nvSpPr>
            <p:cNvPr id="1024" name="Freeform: Shape 1023">
              <a:extLst>
                <a:ext uri="{FF2B5EF4-FFF2-40B4-BE49-F238E27FC236}">
                  <a16:creationId xmlns:a16="http://schemas.microsoft.com/office/drawing/2014/main" id="{FA269889-939B-AF9E-D64D-FB40DAFEF824}"/>
                </a:ext>
              </a:extLst>
            </p:cNvPr>
            <p:cNvSpPr/>
            <p:nvPr/>
          </p:nvSpPr>
          <p:spPr>
            <a:xfrm>
              <a:off x="1773197" y="5813549"/>
              <a:ext cx="590550" cy="762000"/>
            </a:xfrm>
            <a:custGeom>
              <a:avLst/>
              <a:gdLst>
                <a:gd name="csX0" fmla="*/ 533400 w 590550"/>
                <a:gd name="csY0" fmla="*/ 704850 h 762000"/>
                <a:gd name="csX1" fmla="*/ 57150 w 590550"/>
                <a:gd name="csY1" fmla="*/ 704850 h 762000"/>
                <a:gd name="csX2" fmla="*/ 57150 w 590550"/>
                <a:gd name="csY2" fmla="*/ 57150 h 762000"/>
                <a:gd name="csX3" fmla="*/ 533400 w 590550"/>
                <a:gd name="csY3" fmla="*/ 57150 h 762000"/>
                <a:gd name="csX4" fmla="*/ 533400 w 590550"/>
                <a:gd name="csY4" fmla="*/ 704850 h 762000"/>
                <a:gd name="csX5" fmla="*/ 590550 w 590550"/>
                <a:gd name="csY5" fmla="*/ 0 h 762000"/>
                <a:gd name="csX6" fmla="*/ 0 w 590550"/>
                <a:gd name="csY6" fmla="*/ 0 h 762000"/>
                <a:gd name="csX7" fmla="*/ 0 w 590550"/>
                <a:gd name="csY7" fmla="*/ 762000 h 762000"/>
                <a:gd name="csX8" fmla="*/ 590550 w 590550"/>
                <a:gd name="csY8" fmla="*/ 762000 h 762000"/>
                <a:gd name="csX9" fmla="*/ 590550 w 590550"/>
                <a:gd name="csY9" fmla="*/ 0 h 762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90550" h="762000">
                  <a:moveTo>
                    <a:pt x="533400" y="704850"/>
                  </a:moveTo>
                  <a:lnTo>
                    <a:pt x="57150" y="704850"/>
                  </a:lnTo>
                  <a:lnTo>
                    <a:pt x="57150" y="57150"/>
                  </a:lnTo>
                  <a:lnTo>
                    <a:pt x="533400" y="57150"/>
                  </a:lnTo>
                  <a:lnTo>
                    <a:pt x="533400" y="704850"/>
                  </a:lnTo>
                  <a:close/>
                  <a:moveTo>
                    <a:pt x="590550" y="0"/>
                  </a:moveTo>
                  <a:lnTo>
                    <a:pt x="0" y="0"/>
                  </a:lnTo>
                  <a:lnTo>
                    <a:pt x="0" y="762000"/>
                  </a:lnTo>
                  <a:lnTo>
                    <a:pt x="590550" y="762000"/>
                  </a:lnTo>
                  <a:lnTo>
                    <a:pt x="590550" y="0"/>
                  </a:lnTo>
                  <a:close/>
                </a:path>
              </a:pathLst>
            </a:custGeom>
            <a:solidFill>
              <a:srgbClr val="000000"/>
            </a:solidFill>
            <a:ln w="9525" cap="flat">
              <a:noFill/>
              <a:prstDash val="solid"/>
              <a:miter/>
            </a:ln>
          </p:spPr>
          <p:txBody>
            <a:bodyPr/>
            <a:lstStyle/>
            <a:p>
              <a:endParaRPr lang="en-CA" noProof="0"/>
            </a:p>
          </p:txBody>
        </p:sp>
        <p:sp>
          <p:nvSpPr>
            <p:cNvPr id="1038" name="Freeform: Shape 1037">
              <a:extLst>
                <a:ext uri="{FF2B5EF4-FFF2-40B4-BE49-F238E27FC236}">
                  <a16:creationId xmlns:a16="http://schemas.microsoft.com/office/drawing/2014/main" id="{5A941ADD-2816-2AF6-D410-826BDB1864B6}"/>
                </a:ext>
              </a:extLst>
            </p:cNvPr>
            <p:cNvSpPr/>
            <p:nvPr/>
          </p:nvSpPr>
          <p:spPr>
            <a:xfrm>
              <a:off x="1887497" y="6365999"/>
              <a:ext cx="171450" cy="38100"/>
            </a:xfrm>
            <a:custGeom>
              <a:avLst/>
              <a:gdLst>
                <a:gd name="csX0" fmla="*/ 0 w 171450"/>
                <a:gd name="csY0" fmla="*/ 0 h 38100"/>
                <a:gd name="csX1" fmla="*/ 171450 w 171450"/>
                <a:gd name="csY1" fmla="*/ 0 h 38100"/>
                <a:gd name="csX2" fmla="*/ 171450 w 171450"/>
                <a:gd name="csY2" fmla="*/ 38100 h 38100"/>
                <a:gd name="csX3" fmla="*/ 0 w 171450"/>
                <a:gd name="csY3" fmla="*/ 38100 h 38100"/>
              </a:gdLst>
              <a:ahLst/>
              <a:cxnLst>
                <a:cxn ang="0">
                  <a:pos x="csX0" y="csY0"/>
                </a:cxn>
                <a:cxn ang="0">
                  <a:pos x="csX1" y="csY1"/>
                </a:cxn>
                <a:cxn ang="0">
                  <a:pos x="csX2" y="csY2"/>
                </a:cxn>
                <a:cxn ang="0">
                  <a:pos x="csX3" y="csY3"/>
                </a:cxn>
              </a:cxnLst>
              <a:rect l="l" t="t" r="r" b="b"/>
              <a:pathLst>
                <a:path w="171450" h="38100">
                  <a:moveTo>
                    <a:pt x="0" y="0"/>
                  </a:moveTo>
                  <a:lnTo>
                    <a:pt x="171450" y="0"/>
                  </a:lnTo>
                  <a:lnTo>
                    <a:pt x="171450" y="38100"/>
                  </a:lnTo>
                  <a:lnTo>
                    <a:pt x="0" y="38100"/>
                  </a:lnTo>
                  <a:close/>
                </a:path>
              </a:pathLst>
            </a:custGeom>
            <a:solidFill>
              <a:srgbClr val="000000"/>
            </a:solidFill>
            <a:ln w="9525" cap="flat">
              <a:noFill/>
              <a:prstDash val="solid"/>
              <a:miter/>
            </a:ln>
          </p:spPr>
          <p:txBody>
            <a:bodyPr/>
            <a:lstStyle/>
            <a:p>
              <a:endParaRPr lang="en-CA" noProof="0"/>
            </a:p>
          </p:txBody>
        </p:sp>
        <p:sp>
          <p:nvSpPr>
            <p:cNvPr id="1043" name="Freeform: Shape 1042">
              <a:extLst>
                <a:ext uri="{FF2B5EF4-FFF2-40B4-BE49-F238E27FC236}">
                  <a16:creationId xmlns:a16="http://schemas.microsoft.com/office/drawing/2014/main" id="{4735F617-DF6F-3C1E-CD6C-F02AB0E8482F}"/>
                </a:ext>
              </a:extLst>
            </p:cNvPr>
            <p:cNvSpPr/>
            <p:nvPr/>
          </p:nvSpPr>
          <p:spPr>
            <a:xfrm>
              <a:off x="1887497" y="59468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46" name="Freeform: Shape 1045">
              <a:extLst>
                <a:ext uri="{FF2B5EF4-FFF2-40B4-BE49-F238E27FC236}">
                  <a16:creationId xmlns:a16="http://schemas.microsoft.com/office/drawing/2014/main" id="{D1023EC9-AE2C-9DD7-691A-66AB050002CF}"/>
                </a:ext>
              </a:extLst>
            </p:cNvPr>
            <p:cNvSpPr/>
            <p:nvPr/>
          </p:nvSpPr>
          <p:spPr>
            <a:xfrm>
              <a:off x="1887497" y="60230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47" name="Freeform: Shape 1046">
              <a:extLst>
                <a:ext uri="{FF2B5EF4-FFF2-40B4-BE49-F238E27FC236}">
                  <a16:creationId xmlns:a16="http://schemas.microsoft.com/office/drawing/2014/main" id="{0B768F57-73EE-11BC-1228-8418E357CEE3}"/>
                </a:ext>
              </a:extLst>
            </p:cNvPr>
            <p:cNvSpPr/>
            <p:nvPr/>
          </p:nvSpPr>
          <p:spPr>
            <a:xfrm>
              <a:off x="1887497" y="6099299"/>
              <a:ext cx="361950" cy="38100"/>
            </a:xfrm>
            <a:custGeom>
              <a:avLst/>
              <a:gdLst>
                <a:gd name="csX0" fmla="*/ 0 w 361950"/>
                <a:gd name="csY0" fmla="*/ 0 h 38100"/>
                <a:gd name="csX1" fmla="*/ 361950 w 361950"/>
                <a:gd name="csY1" fmla="*/ 0 h 38100"/>
                <a:gd name="csX2" fmla="*/ 361950 w 361950"/>
                <a:gd name="csY2" fmla="*/ 38100 h 38100"/>
                <a:gd name="csX3" fmla="*/ 0 w 361950"/>
                <a:gd name="csY3" fmla="*/ 38100 h 38100"/>
              </a:gdLst>
              <a:ahLst/>
              <a:cxnLst>
                <a:cxn ang="0">
                  <a:pos x="csX0" y="csY0"/>
                </a:cxn>
                <a:cxn ang="0">
                  <a:pos x="csX1" y="csY1"/>
                </a:cxn>
                <a:cxn ang="0">
                  <a:pos x="csX2" y="csY2"/>
                </a:cxn>
                <a:cxn ang="0">
                  <a:pos x="csX3" y="csY3"/>
                </a:cxn>
              </a:cxnLst>
              <a:rect l="l" t="t" r="r" b="b"/>
              <a:pathLst>
                <a:path w="361950" h="38100">
                  <a:moveTo>
                    <a:pt x="0" y="0"/>
                  </a:moveTo>
                  <a:lnTo>
                    <a:pt x="361950" y="0"/>
                  </a:lnTo>
                  <a:lnTo>
                    <a:pt x="361950" y="38100"/>
                  </a:lnTo>
                  <a:lnTo>
                    <a:pt x="0" y="38100"/>
                  </a:lnTo>
                  <a:close/>
                </a:path>
              </a:pathLst>
            </a:custGeom>
            <a:solidFill>
              <a:srgbClr val="000000"/>
            </a:solidFill>
            <a:ln w="9525" cap="flat">
              <a:noFill/>
              <a:prstDash val="solid"/>
              <a:miter/>
            </a:ln>
          </p:spPr>
          <p:txBody>
            <a:bodyPr/>
            <a:lstStyle/>
            <a:p>
              <a:endParaRPr lang="en-CA" noProof="0"/>
            </a:p>
          </p:txBody>
        </p:sp>
        <p:sp>
          <p:nvSpPr>
            <p:cNvPr id="1051" name="Freeform: Shape 1050">
              <a:extLst>
                <a:ext uri="{FF2B5EF4-FFF2-40B4-BE49-F238E27FC236}">
                  <a16:creationId xmlns:a16="http://schemas.microsoft.com/office/drawing/2014/main" id="{0BCA9DA5-C13F-D7BF-0CB6-8D6893F3CB04}"/>
                </a:ext>
              </a:extLst>
            </p:cNvPr>
            <p:cNvSpPr/>
            <p:nvPr/>
          </p:nvSpPr>
          <p:spPr>
            <a:xfrm>
              <a:off x="2068472" y="6175499"/>
              <a:ext cx="180975" cy="38100"/>
            </a:xfrm>
            <a:custGeom>
              <a:avLst/>
              <a:gdLst>
                <a:gd name="csX0" fmla="*/ 0 w 180975"/>
                <a:gd name="csY0" fmla="*/ 0 h 38100"/>
                <a:gd name="csX1" fmla="*/ 180975 w 180975"/>
                <a:gd name="csY1" fmla="*/ 0 h 38100"/>
                <a:gd name="csX2" fmla="*/ 180975 w 180975"/>
                <a:gd name="csY2" fmla="*/ 38100 h 38100"/>
                <a:gd name="csX3" fmla="*/ 0 w 180975"/>
                <a:gd name="csY3" fmla="*/ 38100 h 38100"/>
              </a:gdLst>
              <a:ahLst/>
              <a:cxnLst>
                <a:cxn ang="0">
                  <a:pos x="csX0" y="csY0"/>
                </a:cxn>
                <a:cxn ang="0">
                  <a:pos x="csX1" y="csY1"/>
                </a:cxn>
                <a:cxn ang="0">
                  <a:pos x="csX2" y="csY2"/>
                </a:cxn>
                <a:cxn ang="0">
                  <a:pos x="csX3" y="csY3"/>
                </a:cxn>
              </a:cxnLst>
              <a:rect l="l" t="t" r="r" b="b"/>
              <a:pathLst>
                <a:path w="180975" h="38100">
                  <a:moveTo>
                    <a:pt x="0" y="0"/>
                  </a:moveTo>
                  <a:lnTo>
                    <a:pt x="180975" y="0"/>
                  </a:lnTo>
                  <a:lnTo>
                    <a:pt x="180975" y="38100"/>
                  </a:lnTo>
                  <a:lnTo>
                    <a:pt x="0" y="38100"/>
                  </a:lnTo>
                  <a:close/>
                </a:path>
              </a:pathLst>
            </a:custGeom>
            <a:solidFill>
              <a:srgbClr val="000000"/>
            </a:solidFill>
            <a:ln w="9525" cap="flat">
              <a:noFill/>
              <a:prstDash val="solid"/>
              <a:miter/>
            </a:ln>
          </p:spPr>
          <p:txBody>
            <a:bodyPr/>
            <a:lstStyle/>
            <a:p>
              <a:endParaRPr lang="en-CA" noProof="0"/>
            </a:p>
          </p:txBody>
        </p:sp>
        <p:sp>
          <p:nvSpPr>
            <p:cNvPr id="1053" name="Freeform: Shape 1052">
              <a:extLst>
                <a:ext uri="{FF2B5EF4-FFF2-40B4-BE49-F238E27FC236}">
                  <a16:creationId xmlns:a16="http://schemas.microsoft.com/office/drawing/2014/main" id="{F44D8FAF-F03E-ADFA-A9DD-76F76CB2F29B}"/>
                </a:ext>
              </a:extLst>
            </p:cNvPr>
            <p:cNvSpPr/>
            <p:nvPr/>
          </p:nvSpPr>
          <p:spPr>
            <a:xfrm>
              <a:off x="2116097" y="6318374"/>
              <a:ext cx="133350" cy="133350"/>
            </a:xfrm>
            <a:custGeom>
              <a:avLst/>
              <a:gdLst>
                <a:gd name="csX0" fmla="*/ 103823 w 133350"/>
                <a:gd name="csY0" fmla="*/ 133350 h 133350"/>
                <a:gd name="csX1" fmla="*/ 66675 w 133350"/>
                <a:gd name="csY1" fmla="*/ 96202 h 133350"/>
                <a:gd name="csX2" fmla="*/ 29527 w 133350"/>
                <a:gd name="csY2" fmla="*/ 133350 h 133350"/>
                <a:gd name="csX3" fmla="*/ 0 w 133350"/>
                <a:gd name="csY3" fmla="*/ 103823 h 133350"/>
                <a:gd name="csX4" fmla="*/ 37148 w 133350"/>
                <a:gd name="csY4" fmla="*/ 66675 h 133350"/>
                <a:gd name="csX5" fmla="*/ 0 w 133350"/>
                <a:gd name="csY5" fmla="*/ 29527 h 133350"/>
                <a:gd name="csX6" fmla="*/ 29527 w 133350"/>
                <a:gd name="csY6" fmla="*/ 0 h 133350"/>
                <a:gd name="csX7" fmla="*/ 66675 w 133350"/>
                <a:gd name="csY7" fmla="*/ 37148 h 133350"/>
                <a:gd name="csX8" fmla="*/ 103823 w 133350"/>
                <a:gd name="csY8" fmla="*/ 0 h 133350"/>
                <a:gd name="csX9" fmla="*/ 133350 w 133350"/>
                <a:gd name="csY9" fmla="*/ 29527 h 133350"/>
                <a:gd name="csX10" fmla="*/ 96202 w 133350"/>
                <a:gd name="csY10" fmla="*/ 66675 h 133350"/>
                <a:gd name="csX11" fmla="*/ 133350 w 133350"/>
                <a:gd name="csY11" fmla="*/ 103823 h 133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33350" h="133350">
                  <a:moveTo>
                    <a:pt x="103823" y="133350"/>
                  </a:moveTo>
                  <a:lnTo>
                    <a:pt x="66675" y="96202"/>
                  </a:lnTo>
                  <a:lnTo>
                    <a:pt x="29527" y="133350"/>
                  </a:lnTo>
                  <a:lnTo>
                    <a:pt x="0" y="103823"/>
                  </a:lnTo>
                  <a:lnTo>
                    <a:pt x="37148" y="66675"/>
                  </a:lnTo>
                  <a:lnTo>
                    <a:pt x="0" y="29527"/>
                  </a:lnTo>
                  <a:lnTo>
                    <a:pt x="29527" y="0"/>
                  </a:lnTo>
                  <a:lnTo>
                    <a:pt x="66675" y="37148"/>
                  </a:lnTo>
                  <a:lnTo>
                    <a:pt x="103823" y="0"/>
                  </a:lnTo>
                  <a:lnTo>
                    <a:pt x="133350" y="29527"/>
                  </a:lnTo>
                  <a:lnTo>
                    <a:pt x="96202" y="66675"/>
                  </a:lnTo>
                  <a:lnTo>
                    <a:pt x="133350" y="103823"/>
                  </a:lnTo>
                  <a:close/>
                </a:path>
              </a:pathLst>
            </a:custGeom>
            <a:solidFill>
              <a:srgbClr val="000000"/>
            </a:solidFill>
            <a:ln w="9525" cap="flat">
              <a:noFill/>
              <a:prstDash val="solid"/>
              <a:miter/>
            </a:ln>
          </p:spPr>
          <p:txBody>
            <a:bodyPr/>
            <a:lstStyle/>
            <a:p>
              <a:endParaRPr lang="en-CA" noProof="0"/>
            </a:p>
          </p:txBody>
        </p:sp>
      </p:grpSp>
      <p:pic>
        <p:nvPicPr>
          <p:cNvPr id="1060" name="Graphic 1059" descr="Database outline">
            <a:extLst>
              <a:ext uri="{FF2B5EF4-FFF2-40B4-BE49-F238E27FC236}">
                <a16:creationId xmlns:a16="http://schemas.microsoft.com/office/drawing/2014/main" id="{90CEB8F2-ED7F-A17D-B2BA-F9FBD6C763CB}"/>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62733" y="3408490"/>
            <a:ext cx="306982" cy="306982"/>
          </a:xfrm>
          <a:prstGeom prst="rect">
            <a:avLst/>
          </a:prstGeom>
        </p:spPr>
      </p:pic>
    </p:spTree>
    <p:extLst>
      <p:ext uri="{BB962C8B-B14F-4D97-AF65-F5344CB8AC3E}">
        <p14:creationId xmlns:p14="http://schemas.microsoft.com/office/powerpoint/2010/main" val="3272587037"/>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A107F-AF0C-8BE5-6D3A-5A2076E318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B394363-7856-F243-A65F-236C1466E1B3}"/>
              </a:ext>
            </a:extLst>
          </p:cNvPr>
          <p:cNvSpPr/>
          <p:nvPr/>
        </p:nvSpPr>
        <p:spPr>
          <a:xfrm>
            <a:off x="5780242" y="1512648"/>
            <a:ext cx="1669830" cy="3547428"/>
          </a:xfrm>
          <a:prstGeom prst="rect">
            <a:avLst/>
          </a:prstGeom>
          <a:solidFill>
            <a:srgbClr val="E1E3E7"/>
          </a:solidFill>
          <a:ln w="9525">
            <a:noFill/>
          </a:ln>
          <a:effectLst>
            <a:outerShdw blurRad="635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sp>
        <p:nvSpPr>
          <p:cNvPr id="96" name="Flowchart: Preparation 95">
            <a:extLst>
              <a:ext uri="{FF2B5EF4-FFF2-40B4-BE49-F238E27FC236}">
                <a16:creationId xmlns:a16="http://schemas.microsoft.com/office/drawing/2014/main" id="{262843B0-B3D6-5188-CF3A-4B87D2A9D589}"/>
              </a:ext>
            </a:extLst>
          </p:cNvPr>
          <p:cNvSpPr>
            <a:spLocks/>
          </p:cNvSpPr>
          <p:nvPr/>
        </p:nvSpPr>
        <p:spPr>
          <a:xfrm>
            <a:off x="2214095" y="1512837"/>
            <a:ext cx="4515441" cy="3547428"/>
          </a:xfrm>
          <a:prstGeom prst="flowChartPreparation">
            <a:avLst/>
          </a:prstGeom>
          <a:solidFill>
            <a:srgbClr val="E1E3E7"/>
          </a:solidFill>
          <a:ln w="9525">
            <a:noFill/>
          </a:ln>
          <a:effectLst>
            <a:outerShdw blurRad="50800" dist="38100" dir="108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200" b="1" i="0" u="none" strike="noStrike" kern="1200" cap="none" spc="0" normalizeH="0" baseline="0" noProof="0">
              <a:ln>
                <a:noFill/>
              </a:ln>
              <a:solidFill>
                <a:srgbClr val="F0F0EF">
                  <a:lumMod val="10000"/>
                </a:srgbClr>
              </a:solidFill>
              <a:effectLst/>
              <a:uLnTx/>
              <a:uFillTx/>
              <a:ea typeface="+mn-ea"/>
              <a:cs typeface="+mn-cs"/>
            </a:endParaRPr>
          </a:p>
        </p:txBody>
      </p:sp>
      <p:sp>
        <p:nvSpPr>
          <p:cNvPr id="97" name="Flowchart: Preparation 96">
            <a:extLst>
              <a:ext uri="{FF2B5EF4-FFF2-40B4-BE49-F238E27FC236}">
                <a16:creationId xmlns:a16="http://schemas.microsoft.com/office/drawing/2014/main" id="{7F14C06C-EEED-906D-B582-DE85C998D8D0}"/>
              </a:ext>
            </a:extLst>
          </p:cNvPr>
          <p:cNvSpPr>
            <a:spLocks/>
          </p:cNvSpPr>
          <p:nvPr/>
        </p:nvSpPr>
        <p:spPr>
          <a:xfrm>
            <a:off x="6538701" y="1512837"/>
            <a:ext cx="4507576" cy="3547428"/>
          </a:xfrm>
          <a:prstGeom prst="flowChartPreparation">
            <a:avLst/>
          </a:prstGeom>
          <a:solidFill>
            <a:srgbClr val="E1E3E7"/>
          </a:solidFill>
          <a:ln w="9525">
            <a:noFill/>
          </a:ln>
          <a:effectLst>
            <a:outerShdw blurRad="50800" dist="381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FFFFF"/>
                </a:solidFill>
                <a:effectLst/>
                <a:uLnTx/>
                <a:uFillTx/>
                <a:ea typeface="+mn-ea"/>
                <a:cs typeface="+mn-cs"/>
              </a:rPr>
              <a:t>.</a:t>
            </a:r>
            <a:endParaRPr kumimoji="0" lang="en-CA" sz="800" b="1" i="0" u="none" strike="noStrike" kern="1200" cap="none" spc="0" normalizeH="0" baseline="0" noProof="0">
              <a:ln>
                <a:noFill/>
              </a:ln>
              <a:solidFill>
                <a:srgbClr val="F0F0EF">
                  <a:lumMod val="10000"/>
                </a:srgbClr>
              </a:solidFill>
              <a:effectLst/>
              <a:uLnTx/>
              <a:uFillTx/>
              <a:ea typeface="+mn-ea"/>
              <a:cs typeface="+mn-cs"/>
            </a:endParaRPr>
          </a:p>
        </p:txBody>
      </p:sp>
      <p:cxnSp>
        <p:nvCxnSpPr>
          <p:cNvPr id="8" name="Straight Connector 7">
            <a:extLst>
              <a:ext uri="{FF2B5EF4-FFF2-40B4-BE49-F238E27FC236}">
                <a16:creationId xmlns:a16="http://schemas.microsoft.com/office/drawing/2014/main" id="{3C440566-655D-8EDF-B09C-6901105612E6}"/>
              </a:ext>
            </a:extLst>
          </p:cNvPr>
          <p:cNvCxnSpPr>
            <a:cxnSpLocks/>
          </p:cNvCxnSpPr>
          <p:nvPr/>
        </p:nvCxnSpPr>
        <p:spPr>
          <a:xfrm>
            <a:off x="2417310" y="3284992"/>
            <a:ext cx="8319482" cy="0"/>
          </a:xfrm>
          <a:prstGeom prst="line">
            <a:avLst/>
          </a:prstGeom>
          <a:solidFill>
            <a:srgbClr val="E1E3E7"/>
          </a:solidFill>
          <a:ln w="22225">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ECB1408F-2881-AE84-F65F-5F0B722A2E7A}"/>
              </a:ext>
            </a:extLst>
          </p:cNvPr>
          <p:cNvSpPr>
            <a:spLocks noGrp="1"/>
          </p:cNvSpPr>
          <p:nvPr>
            <p:ph type="title"/>
          </p:nvPr>
        </p:nvSpPr>
        <p:spPr>
          <a:xfrm>
            <a:off x="210312" y="118872"/>
            <a:ext cx="11412000" cy="349702"/>
          </a:xfrm>
        </p:spPr>
        <p:txBody>
          <a:bodyPr/>
          <a:lstStyle/>
          <a:p>
            <a:r>
              <a:rPr lang="en-CA" sz="2000" b="1" noProof="0">
                <a:latin typeface="+mj-lt"/>
              </a:rPr>
              <a:t>2.3 Shared Services and Connectivity: </a:t>
            </a:r>
            <a:r>
              <a:rPr lang="en-CA" sz="2000" noProof="0">
                <a:latin typeface="+mj-lt"/>
              </a:rPr>
              <a:t>Cross-Region Data Product Access</a:t>
            </a:r>
          </a:p>
        </p:txBody>
      </p:sp>
      <p:sp>
        <p:nvSpPr>
          <p:cNvPr id="1256" name="Rectangle 1255">
            <a:extLst>
              <a:ext uri="{FF2B5EF4-FFF2-40B4-BE49-F238E27FC236}">
                <a16:creationId xmlns:a16="http://schemas.microsoft.com/office/drawing/2014/main" id="{40CA171E-436B-3CBB-8D6C-082DD1633F87}"/>
              </a:ext>
            </a:extLst>
          </p:cNvPr>
          <p:cNvSpPr/>
          <p:nvPr/>
        </p:nvSpPr>
        <p:spPr>
          <a:xfrm>
            <a:off x="2071588" y="793154"/>
            <a:ext cx="9063952" cy="5211451"/>
          </a:xfrm>
          <a:prstGeom prst="rect">
            <a:avLst/>
          </a:prstGeom>
          <a:noFill/>
          <a:ln>
            <a:solidFill>
              <a:srgbClr val="C00000"/>
            </a:solidFill>
            <a:prstDash val="sysDash"/>
          </a:ln>
        </p:spPr>
        <p:style>
          <a:lnRef idx="2">
            <a:schemeClr val="accent4"/>
          </a:lnRef>
          <a:fillRef idx="1">
            <a:schemeClr val="lt1"/>
          </a:fillRef>
          <a:effectRef idx="0">
            <a:schemeClr val="accent4"/>
          </a:effectRef>
          <a:fontRef idx="minor">
            <a:schemeClr val="dk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515146"/>
              </a:solidFill>
              <a:effectLst/>
              <a:uLnTx/>
              <a:uFillTx/>
              <a:ea typeface="+mn-ea"/>
              <a:cs typeface="+mn-cs"/>
            </a:endParaRPr>
          </a:p>
        </p:txBody>
      </p:sp>
      <p:sp>
        <p:nvSpPr>
          <p:cNvPr id="135" name="Rectangle 134">
            <a:extLst>
              <a:ext uri="{FF2B5EF4-FFF2-40B4-BE49-F238E27FC236}">
                <a16:creationId xmlns:a16="http://schemas.microsoft.com/office/drawing/2014/main" id="{36C5FD1B-5D10-DEC4-0D20-7C0DBFED6204}"/>
              </a:ext>
            </a:extLst>
          </p:cNvPr>
          <p:cNvSpPr/>
          <p:nvPr/>
        </p:nvSpPr>
        <p:spPr>
          <a:xfrm>
            <a:off x="2162285" y="1056533"/>
            <a:ext cx="8904177" cy="4139180"/>
          </a:xfrm>
          <a:prstGeom prst="rect">
            <a:avLst/>
          </a:prstGeom>
          <a:noFill/>
          <a:ln w="9525">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sp>
        <p:nvSpPr>
          <p:cNvPr id="145" name="TextBox 144">
            <a:extLst>
              <a:ext uri="{FF2B5EF4-FFF2-40B4-BE49-F238E27FC236}">
                <a16:creationId xmlns:a16="http://schemas.microsoft.com/office/drawing/2014/main" id="{43A4AC1C-8301-4055-2BA4-2394FA6C5FB6}"/>
              </a:ext>
            </a:extLst>
          </p:cNvPr>
          <p:cNvSpPr txBox="1"/>
          <p:nvPr/>
        </p:nvSpPr>
        <p:spPr>
          <a:xfrm>
            <a:off x="5591376" y="1098504"/>
            <a:ext cx="2301864" cy="2419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F0F0EF">
                    <a:lumMod val="10000"/>
                  </a:srgbClr>
                </a:solidFill>
                <a:effectLst/>
                <a:uLnTx/>
                <a:uFillTx/>
                <a:ea typeface="+mn-ea"/>
                <a:cs typeface="+mn-cs"/>
              </a:rPr>
              <a:t>Canada Life Node</a:t>
            </a:r>
            <a:endParaRPr kumimoji="0" lang="en-CA" sz="1100" b="0" i="0" u="none" strike="noStrike" kern="1200" cap="none" spc="0" normalizeH="0" baseline="0" noProof="0">
              <a:ln>
                <a:noFill/>
              </a:ln>
              <a:solidFill>
                <a:srgbClr val="F0F0EF">
                  <a:lumMod val="10000"/>
                </a:srgbClr>
              </a:solidFill>
              <a:effectLst/>
              <a:uLnTx/>
              <a:uFillTx/>
              <a:ea typeface="+mn-ea"/>
              <a:cs typeface="+mn-cs"/>
            </a:endParaRPr>
          </a:p>
        </p:txBody>
      </p:sp>
      <p:cxnSp>
        <p:nvCxnSpPr>
          <p:cNvPr id="147" name="Straight Connector 146">
            <a:extLst>
              <a:ext uri="{FF2B5EF4-FFF2-40B4-BE49-F238E27FC236}">
                <a16:creationId xmlns:a16="http://schemas.microsoft.com/office/drawing/2014/main" id="{5A261295-1C3A-77B3-D19E-117C2B9688C1}"/>
              </a:ext>
            </a:extLst>
          </p:cNvPr>
          <p:cNvCxnSpPr>
            <a:cxnSpLocks/>
          </p:cNvCxnSpPr>
          <p:nvPr/>
        </p:nvCxnSpPr>
        <p:spPr>
          <a:xfrm>
            <a:off x="5302308" y="1413307"/>
            <a:ext cx="2880000" cy="0"/>
          </a:xfrm>
          <a:prstGeom prst="line">
            <a:avLst/>
          </a:prstGeom>
          <a:ln w="9525">
            <a:solidFill>
              <a:schemeClr val="accent5">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7027771-0A5A-7EA6-D764-4AD5ED710560}"/>
              </a:ext>
            </a:extLst>
          </p:cNvPr>
          <p:cNvSpPr/>
          <p:nvPr/>
        </p:nvSpPr>
        <p:spPr>
          <a:xfrm>
            <a:off x="8331238" y="4210706"/>
            <a:ext cx="180000" cy="7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sp>
        <p:nvSpPr>
          <p:cNvPr id="1257" name="TextBox 1256">
            <a:extLst>
              <a:ext uri="{FF2B5EF4-FFF2-40B4-BE49-F238E27FC236}">
                <a16:creationId xmlns:a16="http://schemas.microsoft.com/office/drawing/2014/main" id="{920E163F-8E77-A486-5F06-57D46C948C61}"/>
              </a:ext>
            </a:extLst>
          </p:cNvPr>
          <p:cNvSpPr txBox="1"/>
          <p:nvPr/>
        </p:nvSpPr>
        <p:spPr>
          <a:xfrm>
            <a:off x="5758605" y="694532"/>
            <a:ext cx="1689919" cy="215444"/>
          </a:xfrm>
          <a:prstGeom prst="rect">
            <a:avLst/>
          </a:prstGeom>
          <a:solidFill>
            <a:schemeClr val="bg1"/>
          </a:solid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rgbClr val="A20A28"/>
                </a:solidFill>
                <a:effectLst/>
                <a:uLnTx/>
                <a:uFillTx/>
                <a:ea typeface="+mn-ea"/>
                <a:cs typeface="+mn-cs"/>
              </a:rPr>
              <a:t>NORTH Platform</a:t>
            </a:r>
          </a:p>
        </p:txBody>
      </p:sp>
      <p:cxnSp>
        <p:nvCxnSpPr>
          <p:cNvPr id="1139" name="Connector: Elbow 1138">
            <a:extLst>
              <a:ext uri="{FF2B5EF4-FFF2-40B4-BE49-F238E27FC236}">
                <a16:creationId xmlns:a16="http://schemas.microsoft.com/office/drawing/2014/main" id="{820FFBA4-B7FF-799F-CAF1-798F6C846E85}"/>
              </a:ext>
            </a:extLst>
          </p:cNvPr>
          <p:cNvCxnSpPr>
            <a:cxnSpLocks/>
          </p:cNvCxnSpPr>
          <p:nvPr/>
        </p:nvCxnSpPr>
        <p:spPr>
          <a:xfrm>
            <a:off x="1488050" y="3745692"/>
            <a:ext cx="2434196" cy="897505"/>
          </a:xfrm>
          <a:prstGeom prst="bentConnector3">
            <a:avLst>
              <a:gd name="adj1" fmla="val 18174"/>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C7DF191-2019-EB75-E896-4EEFEDF3E0BF}"/>
              </a:ext>
            </a:extLst>
          </p:cNvPr>
          <p:cNvSpPr txBox="1"/>
          <p:nvPr/>
        </p:nvSpPr>
        <p:spPr>
          <a:xfrm>
            <a:off x="9541302" y="1676207"/>
            <a:ext cx="2390980" cy="510778"/>
          </a:xfrm>
          <a:prstGeom prst="roundRect">
            <a:avLst/>
          </a:prstGeom>
          <a:solidFill>
            <a:schemeClr val="bg1"/>
          </a:solidFill>
          <a:ln w="19050" cap="flat" cmpd="sng" algn="ctr">
            <a:solidFill>
              <a:schemeClr val="tx2"/>
            </a:solidFill>
            <a:prstDash val="dash"/>
            <a:miter lim="800000"/>
          </a:ln>
          <a:effectLst/>
        </p:spPr>
        <p:style>
          <a:lnRef idx="3">
            <a:schemeClr val="lt1"/>
          </a:lnRef>
          <a:fillRef idx="1">
            <a:schemeClr val="accent2"/>
          </a:fillRef>
          <a:effectRef idx="1">
            <a:schemeClr val="accent2"/>
          </a:effectRef>
          <a:fontRef idx="minor">
            <a:schemeClr val="lt1"/>
          </a:fontRef>
        </p:style>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0" i="0" u="none" strike="noStrike" kern="1200" cap="none" spc="0" normalizeH="0" baseline="0" noProof="0">
                <a:ln>
                  <a:noFill/>
                </a:ln>
                <a:solidFill>
                  <a:srgbClr val="F0F0EF">
                    <a:lumMod val="10000"/>
                  </a:srgbClr>
                </a:solidFill>
                <a:effectLst/>
                <a:uLnTx/>
                <a:uFillTx/>
                <a:ea typeface="+mn-ea"/>
                <a:cs typeface="+mn-cs"/>
              </a:rPr>
              <a:t>Separate path established for Canada Life specific Data to avoid dependency with other segments</a:t>
            </a:r>
          </a:p>
        </p:txBody>
      </p:sp>
      <p:sp>
        <p:nvSpPr>
          <p:cNvPr id="24" name="Oval 23">
            <a:extLst>
              <a:ext uri="{FF2B5EF4-FFF2-40B4-BE49-F238E27FC236}">
                <a16:creationId xmlns:a16="http://schemas.microsoft.com/office/drawing/2014/main" id="{99F8F921-CECF-1AE6-60FA-966103553B2B}"/>
              </a:ext>
            </a:extLst>
          </p:cNvPr>
          <p:cNvSpPr>
            <a:spLocks noChangeAspect="1"/>
          </p:cNvSpPr>
          <p:nvPr/>
        </p:nvSpPr>
        <p:spPr>
          <a:xfrm>
            <a:off x="10610792" y="1431034"/>
            <a:ext cx="252000" cy="252000"/>
          </a:xfrm>
          <a:prstGeom prst="ellipse">
            <a:avLst/>
          </a:prstGeom>
          <a:solidFill>
            <a:schemeClr val="bg1"/>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A20A28"/>
                </a:solidFill>
                <a:effectLst/>
                <a:uLnTx/>
                <a:uFillTx/>
                <a:ea typeface="+mn-ea"/>
                <a:cs typeface="+mn-cs"/>
              </a:rPr>
              <a:t>2</a:t>
            </a:r>
          </a:p>
        </p:txBody>
      </p:sp>
      <p:sp>
        <p:nvSpPr>
          <p:cNvPr id="28" name="Rectangle 27">
            <a:extLst>
              <a:ext uri="{FF2B5EF4-FFF2-40B4-BE49-F238E27FC236}">
                <a16:creationId xmlns:a16="http://schemas.microsoft.com/office/drawing/2014/main" id="{CC92232E-2698-E043-572A-F0B0F558DB31}"/>
              </a:ext>
            </a:extLst>
          </p:cNvPr>
          <p:cNvSpPr/>
          <p:nvPr/>
        </p:nvSpPr>
        <p:spPr>
          <a:xfrm>
            <a:off x="2178946" y="5371876"/>
            <a:ext cx="8887515" cy="432319"/>
          </a:xfrm>
          <a:prstGeom prst="rect">
            <a:avLst/>
          </a:prstGeom>
          <a:noFill/>
          <a:ln w="3175" cap="flat" cmpd="sng" algn="ctr">
            <a:solidFill>
              <a:srgbClr val="C00000"/>
            </a:solidFill>
            <a:prstDash val="solid"/>
            <a:miter lim="800000"/>
          </a:ln>
          <a:effectLst/>
        </p:spPr>
        <p:txBody>
          <a:bodyPr tIns="91383" bIns="91383"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CA" sz="900" b="0" i="0" u="none" strike="noStrike" kern="0" cap="none" spc="0" normalizeH="0" baseline="0" noProof="0">
              <a:ln>
                <a:solidFill>
                  <a:srgbClr val="C00000"/>
                </a:solidFill>
              </a:ln>
              <a:solidFill>
                <a:srgbClr val="FF0000"/>
              </a:solidFill>
              <a:effectLst/>
              <a:uLnTx/>
              <a:uFillTx/>
              <a:ea typeface="+mn-ea"/>
              <a:cs typeface="+mn-cs"/>
            </a:endParaRPr>
          </a:p>
        </p:txBody>
      </p:sp>
      <p:sp>
        <p:nvSpPr>
          <p:cNvPr id="29" name="TextBox 28">
            <a:extLst>
              <a:ext uri="{FF2B5EF4-FFF2-40B4-BE49-F238E27FC236}">
                <a16:creationId xmlns:a16="http://schemas.microsoft.com/office/drawing/2014/main" id="{B07512CF-194E-1B0B-D605-B7FD9FD78AC9}"/>
              </a:ext>
            </a:extLst>
          </p:cNvPr>
          <p:cNvSpPr txBox="1"/>
          <p:nvPr/>
        </p:nvSpPr>
        <p:spPr>
          <a:xfrm>
            <a:off x="4193951" y="5410148"/>
            <a:ext cx="1108357" cy="349702"/>
          </a:xfrm>
          <a:prstGeom prst="rect">
            <a:avLst/>
          </a:prstGeom>
          <a:solidFill>
            <a:schemeClr val="tx1">
              <a:lumMod val="20000"/>
              <a:lumOff val="80000"/>
            </a:schemeClr>
          </a:solidFill>
          <a:ln w="3175">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GDPR/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Data Residency</a:t>
            </a:r>
          </a:p>
        </p:txBody>
      </p:sp>
      <p:sp>
        <p:nvSpPr>
          <p:cNvPr id="30" name="TextBox 29">
            <a:extLst>
              <a:ext uri="{FF2B5EF4-FFF2-40B4-BE49-F238E27FC236}">
                <a16:creationId xmlns:a16="http://schemas.microsoft.com/office/drawing/2014/main" id="{1695CF3C-141E-72F4-1A11-37CC1E5F7B8A}"/>
              </a:ext>
            </a:extLst>
          </p:cNvPr>
          <p:cNvSpPr txBox="1"/>
          <p:nvPr/>
        </p:nvSpPr>
        <p:spPr>
          <a:xfrm>
            <a:off x="5441772" y="5409466"/>
            <a:ext cx="1108357" cy="349702"/>
          </a:xfrm>
          <a:prstGeom prst="rect">
            <a:avLst/>
          </a:prstGeom>
          <a:solidFill>
            <a:schemeClr val="tx1">
              <a:lumMod val="20000"/>
              <a:lumOff val="80000"/>
            </a:schemeClr>
          </a:solidFill>
          <a:ln w="3175">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Consent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 Management</a:t>
            </a:r>
          </a:p>
        </p:txBody>
      </p:sp>
      <p:sp>
        <p:nvSpPr>
          <p:cNvPr id="32" name="TextBox 31">
            <a:extLst>
              <a:ext uri="{FF2B5EF4-FFF2-40B4-BE49-F238E27FC236}">
                <a16:creationId xmlns:a16="http://schemas.microsoft.com/office/drawing/2014/main" id="{CA213571-CFC5-F749-6AF9-55B4CB482E27}"/>
              </a:ext>
            </a:extLst>
          </p:cNvPr>
          <p:cNvSpPr txBox="1"/>
          <p:nvPr/>
        </p:nvSpPr>
        <p:spPr>
          <a:xfrm>
            <a:off x="6677562" y="5409466"/>
            <a:ext cx="1108357" cy="349702"/>
          </a:xfrm>
          <a:prstGeom prst="rect">
            <a:avLst/>
          </a:prstGeom>
          <a:solidFill>
            <a:schemeClr val="tx1">
              <a:lumMod val="20000"/>
              <a:lumOff val="80000"/>
            </a:schemeClr>
          </a:solidFill>
          <a:ln w="3175">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Policy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 Enforcement</a:t>
            </a:r>
          </a:p>
        </p:txBody>
      </p:sp>
      <p:sp>
        <p:nvSpPr>
          <p:cNvPr id="34" name="TextBox 33">
            <a:extLst>
              <a:ext uri="{FF2B5EF4-FFF2-40B4-BE49-F238E27FC236}">
                <a16:creationId xmlns:a16="http://schemas.microsoft.com/office/drawing/2014/main" id="{A8A02DDA-8502-9C76-A1E9-3519FECB295C}"/>
              </a:ext>
            </a:extLst>
          </p:cNvPr>
          <p:cNvSpPr txBox="1"/>
          <p:nvPr/>
        </p:nvSpPr>
        <p:spPr>
          <a:xfrm>
            <a:off x="7921399" y="5404389"/>
            <a:ext cx="1108357" cy="349702"/>
          </a:xfrm>
          <a:prstGeom prst="rect">
            <a:avLst/>
          </a:prstGeom>
          <a:solidFill>
            <a:schemeClr val="tx1">
              <a:lumMod val="20000"/>
              <a:lumOff val="80000"/>
            </a:schemeClr>
          </a:solidFill>
          <a:ln w="3175">
            <a:solidFill>
              <a:schemeClr val="tx1">
                <a:lumMod val="50000"/>
              </a:schemeClr>
            </a:solid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Identity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Access Control</a:t>
            </a:r>
          </a:p>
        </p:txBody>
      </p:sp>
      <p:sp>
        <p:nvSpPr>
          <p:cNvPr id="41" name="TextBox 40">
            <a:extLst>
              <a:ext uri="{FF2B5EF4-FFF2-40B4-BE49-F238E27FC236}">
                <a16:creationId xmlns:a16="http://schemas.microsoft.com/office/drawing/2014/main" id="{92DC5F73-B07A-30FB-B481-311D8FFEE471}"/>
              </a:ext>
            </a:extLst>
          </p:cNvPr>
          <p:cNvSpPr txBox="1"/>
          <p:nvPr/>
        </p:nvSpPr>
        <p:spPr>
          <a:xfrm>
            <a:off x="2661230" y="3416026"/>
            <a:ext cx="7906287" cy="384721"/>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F0F0EF">
                    <a:lumMod val="10000"/>
                  </a:srgbClr>
                </a:solidFill>
                <a:effectLst/>
                <a:uLnTx/>
                <a:uFillTx/>
              </a:rPr>
              <a:t>Finance (LifeCo)*</a:t>
            </a:r>
          </a:p>
          <a:p>
            <a:pPr lvl="0" algn="ctr">
              <a:defRPr/>
            </a:pPr>
            <a:r>
              <a:rPr kumimoji="0" lang="en-CA" sz="800" b="1" i="0" u="none" strike="noStrike" kern="1200" cap="none" spc="0" normalizeH="0" baseline="0" noProof="0">
                <a:ln>
                  <a:noFill/>
                </a:ln>
                <a:solidFill>
                  <a:srgbClr val="F0F0EF">
                    <a:lumMod val="10000"/>
                  </a:srgbClr>
                </a:solidFill>
                <a:effectLst/>
                <a:uLnTx/>
                <a:uFillTx/>
              </a:rPr>
              <a:t>* </a:t>
            </a:r>
            <a:r>
              <a:rPr kumimoji="0" lang="en-CA" sz="800" b="0" i="0" u="none" strike="noStrike" kern="1200" cap="none" spc="0" normalizeH="0" baseline="0" noProof="0">
                <a:ln>
                  <a:noFill/>
                </a:ln>
                <a:solidFill>
                  <a:srgbClr val="F0F0EF">
                    <a:lumMod val="10000"/>
                  </a:srgbClr>
                </a:solidFill>
                <a:effectLst/>
                <a:uLnTx/>
                <a:uFillTx/>
              </a:rPr>
              <a:t>Default geographical region is Canada</a:t>
            </a:r>
            <a:r>
              <a:rPr lang="en-CA" sz="800" noProof="0">
                <a:solidFill>
                  <a:srgbClr val="F0F0EF">
                    <a:lumMod val="10000"/>
                  </a:srgbClr>
                </a:solidFill>
              </a:rPr>
              <a:t>. Lifeco nodes can reside in different regions if needed to meet regulatory requirements.</a:t>
            </a:r>
            <a:endParaRPr lang="en-CA" sz="800" noProof="0"/>
          </a:p>
        </p:txBody>
      </p:sp>
      <p:sp>
        <p:nvSpPr>
          <p:cNvPr id="43" name="TextBox 42">
            <a:extLst>
              <a:ext uri="{FF2B5EF4-FFF2-40B4-BE49-F238E27FC236}">
                <a16:creationId xmlns:a16="http://schemas.microsoft.com/office/drawing/2014/main" id="{4CC3EE36-AF9C-FFA6-EEF8-5B2FED877BF2}"/>
              </a:ext>
            </a:extLst>
          </p:cNvPr>
          <p:cNvSpPr txBox="1"/>
          <p:nvPr/>
        </p:nvSpPr>
        <p:spPr>
          <a:xfrm>
            <a:off x="4165005" y="1533783"/>
            <a:ext cx="4898737" cy="2616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1" i="0" u="none" strike="noStrike" kern="1200" cap="none" spc="0" normalizeH="0" baseline="0" noProof="0">
                <a:ln>
                  <a:noFill/>
                </a:ln>
                <a:solidFill>
                  <a:srgbClr val="F0F0EF">
                    <a:lumMod val="10000"/>
                  </a:srgbClr>
                </a:solidFill>
                <a:effectLst/>
                <a:uLnTx/>
                <a:uFillTx/>
                <a:ea typeface="+mn-ea"/>
                <a:cs typeface="+mn-cs"/>
              </a:rPr>
              <a:t>Finance (Canada)</a:t>
            </a:r>
          </a:p>
        </p:txBody>
      </p:sp>
      <p:cxnSp>
        <p:nvCxnSpPr>
          <p:cNvPr id="54" name="Straight Arrow Connector 53">
            <a:extLst>
              <a:ext uri="{FF2B5EF4-FFF2-40B4-BE49-F238E27FC236}">
                <a16:creationId xmlns:a16="http://schemas.microsoft.com/office/drawing/2014/main" id="{ABCC4EC7-3614-6D3F-D1B9-6CA108196B63}"/>
              </a:ext>
            </a:extLst>
          </p:cNvPr>
          <p:cNvCxnSpPr>
            <a:cxnSpLocks/>
          </p:cNvCxnSpPr>
          <p:nvPr/>
        </p:nvCxnSpPr>
        <p:spPr>
          <a:xfrm>
            <a:off x="4822246" y="4425238"/>
            <a:ext cx="1396528" cy="0"/>
          </a:xfrm>
          <a:prstGeom prst="straightConnector1">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98F9F77-4EB1-77F1-32FD-C12C879D54A9}"/>
              </a:ext>
            </a:extLst>
          </p:cNvPr>
          <p:cNvCxnSpPr>
            <a:cxnSpLocks/>
          </p:cNvCxnSpPr>
          <p:nvPr/>
        </p:nvCxnSpPr>
        <p:spPr>
          <a:xfrm>
            <a:off x="7154368" y="4425238"/>
            <a:ext cx="1371584" cy="0"/>
          </a:xfrm>
          <a:prstGeom prst="straightConnector1">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E46A93C3-8D15-15DD-B143-CF945FB37FF8}"/>
              </a:ext>
            </a:extLst>
          </p:cNvPr>
          <p:cNvSpPr/>
          <p:nvPr/>
        </p:nvSpPr>
        <p:spPr>
          <a:xfrm>
            <a:off x="112310" y="952570"/>
            <a:ext cx="1620000" cy="5461978"/>
          </a:xfrm>
          <a:prstGeom prst="rect">
            <a:avLst/>
          </a:prstGeom>
          <a:noFill/>
          <a:ln>
            <a:solidFill>
              <a:schemeClr val="tx2"/>
            </a:solidFill>
          </a:ln>
        </p:spPr>
        <p:style>
          <a:lnRef idx="2">
            <a:schemeClr val="dk1"/>
          </a:lnRef>
          <a:fillRef idx="1">
            <a:schemeClr val="lt1"/>
          </a:fillRef>
          <a:effectRef idx="0">
            <a:schemeClr val="dk1"/>
          </a:effectRef>
          <a:fontRef idx="minor">
            <a:schemeClr val="dk1"/>
          </a:fontRef>
        </p:style>
        <p:txBody>
          <a:bodyPr lIns="0" tIns="45720" rIns="0" bIns="4572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800" b="1" i="0" u="none" strike="noStrike" kern="0" cap="none" spc="0" normalizeH="0" baseline="0" noProof="0">
              <a:ln>
                <a:noFill/>
              </a:ln>
              <a:solidFill>
                <a:srgbClr val="7030A0"/>
              </a:solidFill>
              <a:effectLst/>
              <a:uLnTx/>
              <a:uFillTx/>
              <a:ea typeface="+mn-ea"/>
              <a:cs typeface="Arial"/>
            </a:endParaRPr>
          </a:p>
        </p:txBody>
      </p:sp>
      <p:sp>
        <p:nvSpPr>
          <p:cNvPr id="88" name="TextBox 87">
            <a:extLst>
              <a:ext uri="{FF2B5EF4-FFF2-40B4-BE49-F238E27FC236}">
                <a16:creationId xmlns:a16="http://schemas.microsoft.com/office/drawing/2014/main" id="{C1C62A8E-06EA-9273-6B7D-DE86C5D04816}"/>
              </a:ext>
            </a:extLst>
          </p:cNvPr>
          <p:cNvSpPr txBox="1"/>
          <p:nvPr/>
        </p:nvSpPr>
        <p:spPr>
          <a:xfrm>
            <a:off x="112310" y="952570"/>
            <a:ext cx="1620000" cy="984885"/>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45720" tIns="0" rIns="0" bIns="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1200" cap="none" spc="0" normalizeH="0" baseline="0" noProof="0">
                <a:ln>
                  <a:noFill/>
                </a:ln>
                <a:solidFill>
                  <a:schemeClr val="bg2">
                    <a:lumMod val="10000"/>
                  </a:schemeClr>
                </a:solidFill>
                <a:effectLst/>
                <a:uLnTx/>
                <a:uFillTx/>
              </a:rPr>
              <a:t>Data </a:t>
            </a:r>
            <a:r>
              <a:rPr lang="en-CA" sz="1400" b="1" noProof="0">
                <a:solidFill>
                  <a:schemeClr val="bg2">
                    <a:lumMod val="10000"/>
                  </a:schemeClr>
                </a:solidFill>
              </a:rPr>
              <a:t>S</a:t>
            </a:r>
            <a:r>
              <a:rPr kumimoji="0" lang="en-CA" sz="1400" b="1" i="0" u="none" strike="noStrike" kern="1200" cap="none" spc="0" normalizeH="0" baseline="0" noProof="0">
                <a:ln>
                  <a:noFill/>
                </a:ln>
                <a:solidFill>
                  <a:schemeClr val="bg2">
                    <a:lumMod val="10000"/>
                  </a:schemeClr>
                </a:solidFill>
                <a:effectLst/>
                <a:uLnTx/>
                <a:uFillTx/>
              </a:rPr>
              <a:t>ources</a:t>
            </a:r>
            <a:endParaRPr kumimoji="0" lang="en-CA" sz="1000" i="0" u="none" strike="noStrike" kern="0" cap="none" spc="0" normalizeH="0" baseline="0" noProof="0">
              <a:ln>
                <a:noFill/>
              </a:ln>
              <a:solidFill>
                <a:srgbClr val="FFFFFF"/>
              </a:solidFill>
              <a:effectLst/>
              <a:uLnTx/>
              <a:uFillTx/>
            </a:endParaRPr>
          </a:p>
          <a:p>
            <a:pPr marR="0" lvl="0" algn="ctr" defTabSz="914400" rtl="0" eaLnBrk="1" fontAlgn="auto" latinLnBrk="0" hangingPunct="1">
              <a:lnSpc>
                <a:spcPct val="100000"/>
              </a:lnSpc>
              <a:spcBef>
                <a:spcPts val="0"/>
              </a:spcBef>
              <a:spcAft>
                <a:spcPts val="0"/>
              </a:spcAft>
              <a:buClrTx/>
              <a:buSzTx/>
              <a:tabLst/>
              <a:defRPr/>
            </a:pPr>
            <a:r>
              <a:rPr kumimoji="0" lang="en-CA" sz="1000" b="1" i="0" u="none" strike="noStrike" kern="0" cap="none" spc="0" normalizeH="0" baseline="0" noProof="0">
                <a:ln>
                  <a:noFill/>
                </a:ln>
                <a:solidFill>
                  <a:schemeClr val="accent1">
                    <a:lumMod val="90000"/>
                    <a:lumOff val="10000"/>
                  </a:schemeClr>
                </a:solidFill>
                <a:effectLst/>
                <a:uLnTx/>
                <a:uFillTx/>
              </a:rPr>
              <a:t>Structured Data | Transactional Data | Unstructured Data | Documents | Voice | Video</a:t>
            </a:r>
          </a:p>
        </p:txBody>
      </p:sp>
      <p:cxnSp>
        <p:nvCxnSpPr>
          <p:cNvPr id="42" name="Connector: Elbow 41">
            <a:extLst>
              <a:ext uri="{FF2B5EF4-FFF2-40B4-BE49-F238E27FC236}">
                <a16:creationId xmlns:a16="http://schemas.microsoft.com/office/drawing/2014/main" id="{49871CAF-94D2-ED43-DB17-6AE80473F207}"/>
              </a:ext>
            </a:extLst>
          </p:cNvPr>
          <p:cNvCxnSpPr>
            <a:cxnSpLocks/>
          </p:cNvCxnSpPr>
          <p:nvPr/>
        </p:nvCxnSpPr>
        <p:spPr>
          <a:xfrm flipV="1">
            <a:off x="1478526" y="4643197"/>
            <a:ext cx="2443720" cy="1394085"/>
          </a:xfrm>
          <a:prstGeom prst="bentConnector3">
            <a:avLst>
              <a:gd name="adj1" fmla="val 18493"/>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0F17EE8-FBDE-0C50-1B72-1D15A8B55C55}"/>
              </a:ext>
            </a:extLst>
          </p:cNvPr>
          <p:cNvCxnSpPr>
            <a:cxnSpLocks/>
            <a:stCxn id="75" idx="2"/>
          </p:cNvCxnSpPr>
          <p:nvPr/>
        </p:nvCxnSpPr>
        <p:spPr>
          <a:xfrm>
            <a:off x="922310" y="4249125"/>
            <a:ext cx="0" cy="126950"/>
          </a:xfrm>
          <a:prstGeom prst="straightConnector1">
            <a:avLst/>
          </a:prstGeom>
          <a:ln w="15875">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80313DF3-DE88-DD18-CD21-F42F7CFA629A}"/>
              </a:ext>
            </a:extLst>
          </p:cNvPr>
          <p:cNvCxnSpPr>
            <a:cxnSpLocks/>
          </p:cNvCxnSpPr>
          <p:nvPr/>
        </p:nvCxnSpPr>
        <p:spPr>
          <a:xfrm>
            <a:off x="922310" y="5383442"/>
            <a:ext cx="0" cy="125753"/>
          </a:xfrm>
          <a:prstGeom prst="straightConnector1">
            <a:avLst/>
          </a:prstGeom>
          <a:ln w="15875">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C7CEAE11-8D12-20CE-D140-ACD0E11BA167}"/>
              </a:ext>
            </a:extLst>
          </p:cNvPr>
          <p:cNvCxnSpPr>
            <a:cxnSpLocks/>
          </p:cNvCxnSpPr>
          <p:nvPr/>
        </p:nvCxnSpPr>
        <p:spPr>
          <a:xfrm>
            <a:off x="922310" y="2144237"/>
            <a:ext cx="0" cy="126043"/>
          </a:xfrm>
          <a:prstGeom prst="straightConnector1">
            <a:avLst/>
          </a:prstGeom>
          <a:ln w="15875">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sp>
        <p:nvSpPr>
          <p:cNvPr id="75" name="Rectangle: Rounded Corners 74">
            <a:extLst>
              <a:ext uri="{FF2B5EF4-FFF2-40B4-BE49-F238E27FC236}">
                <a16:creationId xmlns:a16="http://schemas.microsoft.com/office/drawing/2014/main" id="{A1FE91F4-F1DC-DD59-1EE7-0109E689C813}"/>
              </a:ext>
            </a:extLst>
          </p:cNvPr>
          <p:cNvSpPr/>
          <p:nvPr/>
        </p:nvSpPr>
        <p:spPr>
          <a:xfrm>
            <a:off x="202310" y="4070032"/>
            <a:ext cx="1440000" cy="179093"/>
          </a:xfrm>
          <a:prstGeom prst="roundRect">
            <a:avLst/>
          </a:prstGeom>
          <a:solidFill>
            <a:schemeClr val="accent4"/>
          </a:solidFill>
          <a:ln w="12700" cap="flat" cmpd="sng" algn="ctr">
            <a:noFill/>
            <a:prstDash val="solid"/>
            <a:miter lim="800000"/>
          </a:ln>
          <a:effectLst/>
        </p:spPr>
        <p:txBody>
          <a:bodyPr lIns="91383" tIns="45691" rIns="91383" bIns="45691"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1100" b="1" i="0" u="none" strike="noStrike" kern="0" cap="none" spc="0" normalizeH="0" baseline="0" noProof="0">
                <a:ln>
                  <a:noFill/>
                </a:ln>
                <a:solidFill>
                  <a:prstClr val="white"/>
                </a:solidFill>
                <a:effectLst/>
                <a:uLnTx/>
                <a:uFillTx/>
                <a:ea typeface="+mn-ea"/>
                <a:cs typeface="Arial"/>
              </a:rPr>
              <a:t>Empower</a:t>
            </a:r>
            <a:endParaRPr kumimoji="0" lang="en-CA" sz="1100" b="1" i="0" u="none" strike="noStrike" kern="0" cap="none" spc="0" normalizeH="0" baseline="0" noProof="0">
              <a:ln>
                <a:noFill/>
              </a:ln>
              <a:solidFill>
                <a:prstClr val="white"/>
              </a:solidFill>
              <a:effectLst/>
              <a:uLnTx/>
              <a:uFillTx/>
              <a:ea typeface="+mn-ea"/>
            </a:endParaRPr>
          </a:p>
        </p:txBody>
      </p:sp>
      <p:sp>
        <p:nvSpPr>
          <p:cNvPr id="77" name="Rectangle: Rounded Corners 76">
            <a:extLst>
              <a:ext uri="{FF2B5EF4-FFF2-40B4-BE49-F238E27FC236}">
                <a16:creationId xmlns:a16="http://schemas.microsoft.com/office/drawing/2014/main" id="{79B81930-D93D-DD74-0BA1-4E9CB6DE18F4}"/>
              </a:ext>
            </a:extLst>
          </p:cNvPr>
          <p:cNvSpPr/>
          <p:nvPr/>
        </p:nvSpPr>
        <p:spPr>
          <a:xfrm>
            <a:off x="202310" y="5203442"/>
            <a:ext cx="1440000" cy="180000"/>
          </a:xfrm>
          <a:prstGeom prst="roundRect">
            <a:avLst/>
          </a:prstGeom>
          <a:solidFill>
            <a:schemeClr val="accent4"/>
          </a:solidFill>
          <a:ln w="12700" cap="flat" cmpd="sng" algn="ctr">
            <a:noFill/>
            <a:prstDash val="solid"/>
            <a:miter lim="800000"/>
          </a:ln>
          <a:effectLst/>
        </p:spPr>
        <p:txBody>
          <a:bodyPr lIns="0" tIns="0" rIns="0" bIns="0"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1100" b="1" i="0" u="none" strike="noStrike" kern="0" cap="none" spc="0" normalizeH="0" baseline="0" noProof="0">
                <a:ln>
                  <a:noFill/>
                </a:ln>
                <a:solidFill>
                  <a:prstClr val="white"/>
                </a:solidFill>
                <a:effectLst/>
                <a:uLnTx/>
                <a:uFillTx/>
                <a:ea typeface="+mn-ea"/>
                <a:cs typeface="Arial"/>
              </a:rPr>
              <a:t>Europe</a:t>
            </a:r>
            <a:endParaRPr kumimoji="0" lang="en-CA" sz="1100" b="1" i="0" u="none" strike="noStrike" kern="0" cap="none" spc="0" normalizeH="0" baseline="0" noProof="0">
              <a:ln>
                <a:noFill/>
              </a:ln>
              <a:solidFill>
                <a:prstClr val="white"/>
              </a:solidFill>
              <a:effectLst/>
              <a:uLnTx/>
              <a:uFillTx/>
              <a:ea typeface="+mn-ea"/>
            </a:endParaRPr>
          </a:p>
        </p:txBody>
      </p:sp>
      <p:sp>
        <p:nvSpPr>
          <p:cNvPr id="98" name="Rectangle: Rounded Corners 97">
            <a:extLst>
              <a:ext uri="{FF2B5EF4-FFF2-40B4-BE49-F238E27FC236}">
                <a16:creationId xmlns:a16="http://schemas.microsoft.com/office/drawing/2014/main" id="{5E324D53-7B33-C825-5C7A-B7CC62F52E25}"/>
              </a:ext>
            </a:extLst>
          </p:cNvPr>
          <p:cNvSpPr/>
          <p:nvPr/>
        </p:nvSpPr>
        <p:spPr>
          <a:xfrm>
            <a:off x="202310" y="1964237"/>
            <a:ext cx="1440000" cy="180000"/>
          </a:xfrm>
          <a:prstGeom prst="roundRect">
            <a:avLst/>
          </a:prstGeom>
          <a:solidFill>
            <a:srgbClr val="BC2435"/>
          </a:solidFill>
          <a:ln w="12700" cap="flat" cmpd="sng" algn="ctr">
            <a:noFill/>
            <a:prstDash val="solid"/>
            <a:miter lim="800000"/>
          </a:ln>
          <a:effectLst/>
        </p:spPr>
        <p:txBody>
          <a:bodyPr lIns="91383" tIns="45691" rIns="91383"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100" b="1" i="0" u="none" strike="noStrike" kern="0" cap="none" spc="0" normalizeH="0" noProof="0">
                <a:ln>
                  <a:noFill/>
                </a:ln>
                <a:solidFill>
                  <a:prstClr val="white"/>
                </a:solidFill>
                <a:effectLst/>
                <a:uLnTx/>
                <a:uFillTx/>
                <a:cs typeface="Arial"/>
              </a:rPr>
              <a:t>Canada Life</a:t>
            </a:r>
            <a:endParaRPr kumimoji="0" lang="en-CA" sz="1100" b="1" i="0" u="none" strike="noStrike" kern="0" cap="none" spc="0" normalizeH="0" noProof="0">
              <a:ln>
                <a:noFill/>
              </a:ln>
              <a:solidFill>
                <a:prstClr val="white"/>
              </a:solidFill>
              <a:effectLst/>
              <a:uLnTx/>
              <a:uFillTx/>
            </a:endParaRPr>
          </a:p>
        </p:txBody>
      </p:sp>
      <p:sp>
        <p:nvSpPr>
          <p:cNvPr id="99" name="Rectangle: Rounded Corners 98">
            <a:extLst>
              <a:ext uri="{FF2B5EF4-FFF2-40B4-BE49-F238E27FC236}">
                <a16:creationId xmlns:a16="http://schemas.microsoft.com/office/drawing/2014/main" id="{CA4887BB-1B29-8776-B2D9-AF8D763EB77B}"/>
              </a:ext>
            </a:extLst>
          </p:cNvPr>
          <p:cNvSpPr/>
          <p:nvPr/>
        </p:nvSpPr>
        <p:spPr>
          <a:xfrm>
            <a:off x="202310" y="2275868"/>
            <a:ext cx="1440000" cy="288000"/>
          </a:xfrm>
          <a:prstGeom prst="roundRect">
            <a:avLst/>
          </a:prstGeom>
          <a:noFill/>
          <a:ln w="12700" cap="flat" cmpd="sng" algn="ctr">
            <a:solidFill>
              <a:schemeClr val="tx2"/>
            </a:solidFill>
            <a:prstDash val="solid"/>
            <a:miter lim="800000"/>
          </a:ln>
          <a:effectLst/>
        </p:spPr>
        <p:txBody>
          <a:bodyPr lIns="91383" tIns="45691" rIns="91383"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lang="en-CA" sz="800" kern="0" noProof="0">
                <a:solidFill>
                  <a:schemeClr val="bg2">
                    <a:lumMod val="10000"/>
                  </a:schemeClr>
                </a:solidFill>
                <a:cs typeface="Arial"/>
              </a:rPr>
              <a:t>Sources</a:t>
            </a:r>
            <a:endParaRPr kumimoji="0" lang="en-CA" sz="800" i="0" u="none" strike="noStrike" kern="0" cap="none" spc="0" normalizeH="0" baseline="0" noProof="0">
              <a:ln>
                <a:noFill/>
              </a:ln>
              <a:solidFill>
                <a:schemeClr val="bg2">
                  <a:lumMod val="10000"/>
                </a:schemeClr>
              </a:solidFill>
              <a:effectLst/>
              <a:uLnTx/>
              <a:uFillTx/>
              <a:cs typeface="Arial"/>
            </a:endParaRPr>
          </a:p>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800" i="0" u="none" strike="noStrike" kern="0" cap="none" spc="0" normalizeH="0" baseline="0" noProof="0">
                <a:ln>
                  <a:noFill/>
                </a:ln>
                <a:solidFill>
                  <a:schemeClr val="bg2">
                    <a:lumMod val="10000"/>
                  </a:schemeClr>
                </a:solidFill>
                <a:effectLst/>
                <a:uLnTx/>
                <a:uFillTx/>
                <a:cs typeface="Arial"/>
              </a:rPr>
              <a:t>(e.g. </a:t>
            </a:r>
            <a:r>
              <a:rPr lang="en-CA" sz="800" kern="0" noProof="0">
                <a:solidFill>
                  <a:schemeClr val="bg2">
                    <a:lumMod val="10000"/>
                  </a:schemeClr>
                </a:solidFill>
                <a:cs typeface="Arial"/>
              </a:rPr>
              <a:t>Investment</a:t>
            </a:r>
            <a:r>
              <a:rPr kumimoji="0" lang="en-CA" sz="800" i="0" u="none" strike="noStrike" kern="0" cap="none" spc="0" normalizeH="0" baseline="0" noProof="0">
                <a:ln>
                  <a:noFill/>
                </a:ln>
                <a:solidFill>
                  <a:schemeClr val="bg2">
                    <a:lumMod val="10000"/>
                  </a:schemeClr>
                </a:solidFill>
                <a:effectLst/>
                <a:uLnTx/>
                <a:uFillTx/>
                <a:cs typeface="Arial"/>
              </a:rPr>
              <a:t>)</a:t>
            </a:r>
            <a:endParaRPr kumimoji="0" lang="en-CA" sz="800" i="0" u="none" strike="noStrike" kern="0" cap="none" spc="0" normalizeH="0" baseline="0" noProof="0">
              <a:ln>
                <a:noFill/>
              </a:ln>
              <a:solidFill>
                <a:schemeClr val="bg2">
                  <a:lumMod val="10000"/>
                </a:schemeClr>
              </a:solidFill>
              <a:effectLst/>
              <a:uLnTx/>
              <a:uFillTx/>
            </a:endParaRPr>
          </a:p>
        </p:txBody>
      </p:sp>
      <p:sp>
        <p:nvSpPr>
          <p:cNvPr id="101" name="Rectangle: Rounded Corners 100">
            <a:extLst>
              <a:ext uri="{FF2B5EF4-FFF2-40B4-BE49-F238E27FC236}">
                <a16:creationId xmlns:a16="http://schemas.microsoft.com/office/drawing/2014/main" id="{51477957-4790-C894-3974-24D2D4B090F1}"/>
              </a:ext>
            </a:extLst>
          </p:cNvPr>
          <p:cNvSpPr/>
          <p:nvPr/>
        </p:nvSpPr>
        <p:spPr>
          <a:xfrm>
            <a:off x="202310" y="2902282"/>
            <a:ext cx="1440000" cy="180000"/>
          </a:xfrm>
          <a:prstGeom prst="roundRect">
            <a:avLst/>
          </a:prstGeom>
          <a:solidFill>
            <a:schemeClr val="accent4"/>
          </a:solidFill>
          <a:ln w="12700" cap="flat" cmpd="sng" algn="ctr">
            <a:noFill/>
            <a:prstDash val="solid"/>
            <a:miter lim="800000"/>
          </a:ln>
          <a:effectLst/>
        </p:spPr>
        <p:txBody>
          <a:bodyPr lIns="91383" tIns="45691" rIns="91383" bIns="45691" rtlCol="0" anchor="ctr"/>
          <a:lstStyle/>
          <a:p>
            <a:pPr marL="0" marR="0" lvl="0" indent="0" algn="ctr" defTabSz="913851" eaLnBrk="1" fontAlgn="auto" latinLnBrk="0" hangingPunct="1">
              <a:lnSpc>
                <a:spcPct val="100000"/>
              </a:lnSpc>
              <a:spcBef>
                <a:spcPts val="0"/>
              </a:spcBef>
              <a:spcAft>
                <a:spcPts val="0"/>
              </a:spcAft>
              <a:buClrTx/>
              <a:buSzTx/>
              <a:buFontTx/>
              <a:buNone/>
              <a:tabLst/>
              <a:defRPr/>
            </a:pPr>
            <a:r>
              <a:rPr kumimoji="0" lang="en-CA" sz="1100" b="1" i="0" u="none" strike="noStrike" kern="0" cap="none" spc="0" normalizeH="0" noProof="0">
                <a:ln>
                  <a:noFill/>
                </a:ln>
                <a:solidFill>
                  <a:prstClr val="white"/>
                </a:solidFill>
                <a:effectLst/>
                <a:uLnTx/>
                <a:uFillTx/>
                <a:cs typeface="Arial"/>
              </a:rPr>
              <a:t>CRS</a:t>
            </a:r>
            <a:endParaRPr kumimoji="0" lang="en-CA" sz="1100" b="1" i="0" u="none" strike="noStrike" kern="0" cap="none" spc="0" normalizeH="0" noProof="0">
              <a:ln>
                <a:noFill/>
              </a:ln>
              <a:solidFill>
                <a:prstClr val="white"/>
              </a:solidFill>
              <a:effectLst/>
              <a:uLnTx/>
              <a:uFillTx/>
            </a:endParaRPr>
          </a:p>
        </p:txBody>
      </p:sp>
      <p:cxnSp>
        <p:nvCxnSpPr>
          <p:cNvPr id="104" name="Straight Arrow Connector 103">
            <a:extLst>
              <a:ext uri="{FF2B5EF4-FFF2-40B4-BE49-F238E27FC236}">
                <a16:creationId xmlns:a16="http://schemas.microsoft.com/office/drawing/2014/main" id="{0FDB8EB4-0940-A27E-F8EE-766ABDE70264}"/>
              </a:ext>
            </a:extLst>
          </p:cNvPr>
          <p:cNvCxnSpPr>
            <a:cxnSpLocks/>
            <a:stCxn id="101" idx="2"/>
          </p:cNvCxnSpPr>
          <p:nvPr/>
        </p:nvCxnSpPr>
        <p:spPr>
          <a:xfrm>
            <a:off x="922310" y="3082282"/>
            <a:ext cx="0" cy="126043"/>
          </a:xfrm>
          <a:prstGeom prst="straightConnector1">
            <a:avLst/>
          </a:prstGeom>
          <a:ln w="15875">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D2483BE5-9605-AB07-DC74-94CE0FC62E54}"/>
              </a:ext>
            </a:extLst>
          </p:cNvPr>
          <p:cNvCxnSpPr>
            <a:cxnSpLocks/>
          </p:cNvCxnSpPr>
          <p:nvPr/>
        </p:nvCxnSpPr>
        <p:spPr>
          <a:xfrm>
            <a:off x="9415302" y="4425238"/>
            <a:ext cx="2157403" cy="0"/>
          </a:xfrm>
          <a:prstGeom prst="straightConnector1">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4DD8696-5156-08E9-54CB-7C520A712A4D}"/>
              </a:ext>
            </a:extLst>
          </p:cNvPr>
          <p:cNvGrpSpPr/>
          <p:nvPr/>
        </p:nvGrpSpPr>
        <p:grpSpPr>
          <a:xfrm>
            <a:off x="202310" y="3208325"/>
            <a:ext cx="1440000" cy="794114"/>
            <a:chOff x="145876" y="3125121"/>
            <a:chExt cx="1440000" cy="794114"/>
          </a:xfrm>
        </p:grpSpPr>
        <p:sp>
          <p:nvSpPr>
            <p:cNvPr id="102" name="Rectangle: Rounded Corners 101">
              <a:extLst>
                <a:ext uri="{FF2B5EF4-FFF2-40B4-BE49-F238E27FC236}">
                  <a16:creationId xmlns:a16="http://schemas.microsoft.com/office/drawing/2014/main" id="{8D234303-D360-6B27-6A51-34AACF3447A9}"/>
                </a:ext>
              </a:extLst>
            </p:cNvPr>
            <p:cNvSpPr/>
            <p:nvPr/>
          </p:nvSpPr>
          <p:spPr>
            <a:xfrm>
              <a:off x="145876" y="3125121"/>
              <a:ext cx="1440000" cy="794114"/>
            </a:xfrm>
            <a:prstGeom prst="roundRect">
              <a:avLst>
                <a:gd name="adj" fmla="val 6472"/>
              </a:avLst>
            </a:prstGeom>
            <a:noFill/>
            <a:ln w="12700" cap="flat" cmpd="sng" algn="ctr">
              <a:solidFill>
                <a:schemeClr val="tx2"/>
              </a:solidFill>
              <a:prstDash val="solid"/>
              <a:miter lim="800000"/>
            </a:ln>
            <a:effectLst/>
          </p:spPr>
          <p:txBody>
            <a:bodyPr lIns="91383" tIns="45691" rIns="91383" bIns="45691" rtlCol="0" anchor="t"/>
            <a:lstStyle/>
            <a:p>
              <a:pPr lvl="0" algn="ctr" defTabSz="913851">
                <a:defRPr/>
              </a:pPr>
              <a:r>
                <a:rPr lang="en-CA" sz="800" kern="0" noProof="0">
                  <a:solidFill>
                    <a:schemeClr val="bg2">
                      <a:lumMod val="10000"/>
                    </a:schemeClr>
                  </a:solidFill>
                  <a:cs typeface="Arial"/>
                </a:rPr>
                <a:t>Sources</a:t>
              </a:r>
            </a:p>
            <a:p>
              <a:pPr lvl="0" algn="ctr" defTabSz="913851">
                <a:defRPr/>
              </a:pPr>
              <a:r>
                <a:rPr lang="en-CA" sz="800" kern="0" noProof="0">
                  <a:solidFill>
                    <a:schemeClr val="bg2">
                      <a:lumMod val="10000"/>
                    </a:schemeClr>
                  </a:solidFill>
                  <a:cs typeface="Arial"/>
                </a:rPr>
                <a:t>(</a:t>
              </a:r>
              <a:r>
                <a:rPr lang="en-CA" sz="800" kern="0" noProof="0" err="1">
                  <a:solidFill>
                    <a:schemeClr val="bg2">
                      <a:lumMod val="10000"/>
                    </a:schemeClr>
                  </a:solidFill>
                  <a:cs typeface="Arial"/>
                </a:rPr>
                <a:t>e.g</a:t>
              </a:r>
              <a:r>
                <a:rPr lang="en-CA" sz="800" kern="0" noProof="0">
                  <a:solidFill>
                    <a:schemeClr val="bg2">
                      <a:lumMod val="10000"/>
                    </a:schemeClr>
                  </a:solidFill>
                  <a:cs typeface="Arial"/>
                </a:rPr>
                <a:t> COTS </a:t>
              </a:r>
              <a:r>
                <a:rPr lang="en-CA" sz="800" kern="0" noProof="0" err="1">
                  <a:solidFill>
                    <a:schemeClr val="bg2">
                      <a:lumMod val="10000"/>
                    </a:schemeClr>
                  </a:solidFill>
                  <a:cs typeface="Arial"/>
                </a:rPr>
                <a:t>datamart</a:t>
              </a:r>
              <a:r>
                <a:rPr lang="en-CA" sz="800" kern="0" noProof="0">
                  <a:solidFill>
                    <a:schemeClr val="bg2">
                      <a:lumMod val="10000"/>
                    </a:schemeClr>
                  </a:solidFill>
                  <a:cs typeface="Arial"/>
                </a:rPr>
                <a:t>)</a:t>
              </a:r>
              <a:endParaRPr lang="en-CA" sz="800" kern="0" noProof="0">
                <a:solidFill>
                  <a:schemeClr val="bg2">
                    <a:lumMod val="10000"/>
                  </a:schemeClr>
                </a:solidFill>
              </a:endParaRPr>
            </a:p>
          </p:txBody>
        </p:sp>
        <p:sp>
          <p:nvSpPr>
            <p:cNvPr id="13" name="Rectangle 12">
              <a:extLst>
                <a:ext uri="{FF2B5EF4-FFF2-40B4-BE49-F238E27FC236}">
                  <a16:creationId xmlns:a16="http://schemas.microsoft.com/office/drawing/2014/main" id="{C6BDA080-263C-36D9-3CA3-182E9CE561B8}"/>
                </a:ext>
              </a:extLst>
            </p:cNvPr>
            <p:cNvSpPr/>
            <p:nvPr/>
          </p:nvSpPr>
          <p:spPr>
            <a:xfrm>
              <a:off x="300136" y="3525328"/>
              <a:ext cx="274320" cy="27432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15" name="Rectangle 14">
              <a:extLst>
                <a:ext uri="{FF2B5EF4-FFF2-40B4-BE49-F238E27FC236}">
                  <a16:creationId xmlns:a16="http://schemas.microsoft.com/office/drawing/2014/main" id="{28EEB45E-F55C-B152-4D27-B6A5FD8EEC04}"/>
                </a:ext>
              </a:extLst>
            </p:cNvPr>
            <p:cNvSpPr/>
            <p:nvPr/>
          </p:nvSpPr>
          <p:spPr>
            <a:xfrm>
              <a:off x="728716" y="3525328"/>
              <a:ext cx="274320" cy="27432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68" name="Rectangle 67">
              <a:extLst>
                <a:ext uri="{FF2B5EF4-FFF2-40B4-BE49-F238E27FC236}">
                  <a16:creationId xmlns:a16="http://schemas.microsoft.com/office/drawing/2014/main" id="{3A42F612-9344-FE43-C60F-BF309C8DAFC1}"/>
                </a:ext>
              </a:extLst>
            </p:cNvPr>
            <p:cNvSpPr/>
            <p:nvPr/>
          </p:nvSpPr>
          <p:spPr>
            <a:xfrm>
              <a:off x="1157296" y="3525328"/>
              <a:ext cx="274320" cy="27432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grpSp>
      <p:grpSp>
        <p:nvGrpSpPr>
          <p:cNvPr id="25" name="Group 24">
            <a:extLst>
              <a:ext uri="{FF2B5EF4-FFF2-40B4-BE49-F238E27FC236}">
                <a16:creationId xmlns:a16="http://schemas.microsoft.com/office/drawing/2014/main" id="{5CE352E4-481B-4C7B-710A-E22B3C94DE08}"/>
              </a:ext>
            </a:extLst>
          </p:cNvPr>
          <p:cNvGrpSpPr/>
          <p:nvPr/>
        </p:nvGrpSpPr>
        <p:grpSpPr>
          <a:xfrm>
            <a:off x="202310" y="4376075"/>
            <a:ext cx="1440000" cy="737454"/>
            <a:chOff x="145876" y="4292871"/>
            <a:chExt cx="1440000" cy="737454"/>
          </a:xfrm>
        </p:grpSpPr>
        <p:sp>
          <p:nvSpPr>
            <p:cNvPr id="76" name="Rectangle: Rounded Corners 75">
              <a:extLst>
                <a:ext uri="{FF2B5EF4-FFF2-40B4-BE49-F238E27FC236}">
                  <a16:creationId xmlns:a16="http://schemas.microsoft.com/office/drawing/2014/main" id="{73FFD6A4-B78C-41CE-5C95-E5F185536C99}"/>
                </a:ext>
              </a:extLst>
            </p:cNvPr>
            <p:cNvSpPr/>
            <p:nvPr/>
          </p:nvSpPr>
          <p:spPr>
            <a:xfrm>
              <a:off x="145876" y="4292871"/>
              <a:ext cx="1440000" cy="737454"/>
            </a:xfrm>
            <a:prstGeom prst="roundRect">
              <a:avLst>
                <a:gd name="adj" fmla="val 5688"/>
              </a:avLst>
            </a:prstGeom>
            <a:noFill/>
            <a:ln w="12700" cap="flat" cmpd="sng" algn="ctr">
              <a:solidFill>
                <a:schemeClr val="tx2"/>
              </a:solidFill>
              <a:prstDash val="solid"/>
              <a:miter lim="800000"/>
            </a:ln>
            <a:effectLst/>
          </p:spPr>
          <p:txBody>
            <a:bodyPr lIns="91383" tIns="45691" rIns="91383" bIns="45691" rtlCol="0" anchor="t"/>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800" b="0" i="0" u="none" strike="noStrike" kern="0" cap="none" spc="0" normalizeH="0" baseline="0" noProof="0">
                  <a:ln>
                    <a:noFill/>
                  </a:ln>
                  <a:solidFill>
                    <a:srgbClr val="F0F0EF">
                      <a:lumMod val="10000"/>
                    </a:srgbClr>
                  </a:solidFill>
                  <a:effectLst/>
                  <a:uLnTx/>
                  <a:uFillTx/>
                  <a:ea typeface="+mn-ea"/>
                  <a:cs typeface="Arial"/>
                </a:rPr>
                <a:t>Empower Data Platform</a:t>
              </a:r>
              <a:endParaRPr kumimoji="0" lang="en-CA" sz="800" b="0" i="0" u="none" strike="noStrike" kern="0" cap="none" spc="0" normalizeH="0" baseline="0" noProof="0">
                <a:ln>
                  <a:noFill/>
                </a:ln>
                <a:solidFill>
                  <a:srgbClr val="F0F0EF">
                    <a:lumMod val="10000"/>
                  </a:srgbClr>
                </a:solidFill>
                <a:effectLst/>
                <a:uLnTx/>
                <a:uFillTx/>
                <a:ea typeface="+mn-ea"/>
              </a:endParaRPr>
            </a:p>
          </p:txBody>
        </p:sp>
        <p:sp>
          <p:nvSpPr>
            <p:cNvPr id="71" name="Rectangle 70">
              <a:extLst>
                <a:ext uri="{FF2B5EF4-FFF2-40B4-BE49-F238E27FC236}">
                  <a16:creationId xmlns:a16="http://schemas.microsoft.com/office/drawing/2014/main" id="{20DF2AF1-6FAB-6751-904D-47676182CB32}"/>
                </a:ext>
              </a:extLst>
            </p:cNvPr>
            <p:cNvSpPr/>
            <p:nvPr/>
          </p:nvSpPr>
          <p:spPr>
            <a:xfrm>
              <a:off x="300136" y="4694855"/>
              <a:ext cx="274320" cy="27432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72" name="Rectangle 71">
              <a:extLst>
                <a:ext uri="{FF2B5EF4-FFF2-40B4-BE49-F238E27FC236}">
                  <a16:creationId xmlns:a16="http://schemas.microsoft.com/office/drawing/2014/main" id="{ADF983E2-2E52-6F32-6FDF-4D0D125C152B}"/>
                </a:ext>
              </a:extLst>
            </p:cNvPr>
            <p:cNvSpPr/>
            <p:nvPr/>
          </p:nvSpPr>
          <p:spPr>
            <a:xfrm>
              <a:off x="728716" y="4694855"/>
              <a:ext cx="274320" cy="27432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73" name="Rectangle 72">
              <a:extLst>
                <a:ext uri="{FF2B5EF4-FFF2-40B4-BE49-F238E27FC236}">
                  <a16:creationId xmlns:a16="http://schemas.microsoft.com/office/drawing/2014/main" id="{A5C2DA33-0DB5-C1D0-9215-F3E94D45EB36}"/>
                </a:ext>
              </a:extLst>
            </p:cNvPr>
            <p:cNvSpPr/>
            <p:nvPr/>
          </p:nvSpPr>
          <p:spPr>
            <a:xfrm>
              <a:off x="1157296" y="4694855"/>
              <a:ext cx="274320" cy="27432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grpSp>
      <p:grpSp>
        <p:nvGrpSpPr>
          <p:cNvPr id="26" name="Group 25">
            <a:extLst>
              <a:ext uri="{FF2B5EF4-FFF2-40B4-BE49-F238E27FC236}">
                <a16:creationId xmlns:a16="http://schemas.microsoft.com/office/drawing/2014/main" id="{F05FBB3A-0974-4A2E-2B9D-91DC31CE0B0E}"/>
              </a:ext>
            </a:extLst>
          </p:cNvPr>
          <p:cNvGrpSpPr/>
          <p:nvPr/>
        </p:nvGrpSpPr>
        <p:grpSpPr>
          <a:xfrm>
            <a:off x="202310" y="5509195"/>
            <a:ext cx="1440000" cy="739296"/>
            <a:chOff x="155400" y="5425991"/>
            <a:chExt cx="1440000" cy="739296"/>
          </a:xfrm>
        </p:grpSpPr>
        <p:sp>
          <p:nvSpPr>
            <p:cNvPr id="78" name="Rectangle: Rounded Corners 77">
              <a:extLst>
                <a:ext uri="{FF2B5EF4-FFF2-40B4-BE49-F238E27FC236}">
                  <a16:creationId xmlns:a16="http://schemas.microsoft.com/office/drawing/2014/main" id="{C2053D24-52FB-C1D2-7D51-2FB264A11B21}"/>
                </a:ext>
              </a:extLst>
            </p:cNvPr>
            <p:cNvSpPr/>
            <p:nvPr/>
          </p:nvSpPr>
          <p:spPr>
            <a:xfrm>
              <a:off x="155400" y="5425991"/>
              <a:ext cx="1440000" cy="739296"/>
            </a:xfrm>
            <a:prstGeom prst="roundRect">
              <a:avLst>
                <a:gd name="adj" fmla="val 7004"/>
              </a:avLst>
            </a:prstGeom>
            <a:noFill/>
            <a:ln w="12700" cap="flat" cmpd="sng" algn="ctr">
              <a:solidFill>
                <a:schemeClr val="tx2"/>
              </a:solidFill>
              <a:prstDash val="solid"/>
              <a:miter lim="800000"/>
            </a:ln>
            <a:effectLst/>
          </p:spPr>
          <p:txBody>
            <a:bodyPr lIns="91383" tIns="45691" rIns="91383" bIns="45691" rtlCol="0" anchor="t"/>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800" b="0" i="0" u="none" strike="noStrike" kern="0" cap="none" spc="0" normalizeH="0" baseline="0" noProof="0">
                  <a:ln>
                    <a:noFill/>
                  </a:ln>
                  <a:solidFill>
                    <a:srgbClr val="F0F0EF">
                      <a:lumMod val="10000"/>
                    </a:srgbClr>
                  </a:solidFill>
                  <a:effectLst/>
                  <a:uLnTx/>
                  <a:uFillTx/>
                  <a:ea typeface="+mn-ea"/>
                  <a:cs typeface="Arial"/>
                </a:rPr>
                <a:t>   Europe Data Platform</a:t>
              </a:r>
              <a:endParaRPr kumimoji="0" lang="en-CA" sz="800" b="0" i="0" u="none" strike="noStrike" kern="0" cap="none" spc="0" normalizeH="0" baseline="0" noProof="0">
                <a:ln>
                  <a:noFill/>
                </a:ln>
                <a:solidFill>
                  <a:srgbClr val="F0F0EF">
                    <a:lumMod val="10000"/>
                  </a:srgbClr>
                </a:solidFill>
                <a:effectLst/>
                <a:uLnTx/>
                <a:uFillTx/>
                <a:ea typeface="+mn-ea"/>
              </a:endParaRPr>
            </a:p>
          </p:txBody>
        </p:sp>
        <p:sp>
          <p:nvSpPr>
            <p:cNvPr id="87" name="Rectangle 86">
              <a:extLst>
                <a:ext uri="{FF2B5EF4-FFF2-40B4-BE49-F238E27FC236}">
                  <a16:creationId xmlns:a16="http://schemas.microsoft.com/office/drawing/2014/main" id="{9E0B7EAF-A5BD-13E2-DF95-824D90208272}"/>
                </a:ext>
              </a:extLst>
            </p:cNvPr>
            <p:cNvSpPr/>
            <p:nvPr/>
          </p:nvSpPr>
          <p:spPr>
            <a:xfrm>
              <a:off x="300136" y="5816918"/>
              <a:ext cx="274320" cy="27432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94" name="Rectangle 93">
              <a:extLst>
                <a:ext uri="{FF2B5EF4-FFF2-40B4-BE49-F238E27FC236}">
                  <a16:creationId xmlns:a16="http://schemas.microsoft.com/office/drawing/2014/main" id="{7708033D-E23B-90E2-7370-3D749B39EE82}"/>
                </a:ext>
              </a:extLst>
            </p:cNvPr>
            <p:cNvSpPr/>
            <p:nvPr/>
          </p:nvSpPr>
          <p:spPr>
            <a:xfrm>
              <a:off x="728716" y="5816918"/>
              <a:ext cx="274320" cy="27432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sp>
          <p:nvSpPr>
            <p:cNvPr id="95" name="Rectangle 94">
              <a:extLst>
                <a:ext uri="{FF2B5EF4-FFF2-40B4-BE49-F238E27FC236}">
                  <a16:creationId xmlns:a16="http://schemas.microsoft.com/office/drawing/2014/main" id="{8EF3661B-2E51-C448-640C-25F15F3173EC}"/>
                </a:ext>
              </a:extLst>
            </p:cNvPr>
            <p:cNvSpPr/>
            <p:nvPr/>
          </p:nvSpPr>
          <p:spPr>
            <a:xfrm>
              <a:off x="1157296" y="5816918"/>
              <a:ext cx="274320" cy="27432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1100" noProof="0"/>
            </a:p>
          </p:txBody>
        </p:sp>
      </p:grpSp>
      <p:cxnSp>
        <p:nvCxnSpPr>
          <p:cNvPr id="151" name="Straight Arrow Connector 150">
            <a:extLst>
              <a:ext uri="{FF2B5EF4-FFF2-40B4-BE49-F238E27FC236}">
                <a16:creationId xmlns:a16="http://schemas.microsoft.com/office/drawing/2014/main" id="{6018D47D-6F66-FF54-5290-AE791D98D175}"/>
              </a:ext>
            </a:extLst>
          </p:cNvPr>
          <p:cNvCxnSpPr>
            <a:cxnSpLocks/>
          </p:cNvCxnSpPr>
          <p:nvPr/>
        </p:nvCxnSpPr>
        <p:spPr>
          <a:xfrm>
            <a:off x="4822246" y="2419868"/>
            <a:ext cx="1396528" cy="0"/>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59E8B64B-43C0-D2EC-1F1F-96193B58BFD4}"/>
              </a:ext>
            </a:extLst>
          </p:cNvPr>
          <p:cNvCxnSpPr>
            <a:cxnSpLocks/>
          </p:cNvCxnSpPr>
          <p:nvPr/>
        </p:nvCxnSpPr>
        <p:spPr>
          <a:xfrm flipV="1">
            <a:off x="9415302" y="2414280"/>
            <a:ext cx="2162984" cy="5588"/>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B56ED56B-2234-E9D5-C668-BDF95B3CA51D}"/>
              </a:ext>
            </a:extLst>
          </p:cNvPr>
          <p:cNvCxnSpPr>
            <a:cxnSpLocks/>
          </p:cNvCxnSpPr>
          <p:nvPr/>
        </p:nvCxnSpPr>
        <p:spPr>
          <a:xfrm>
            <a:off x="7118774" y="2419868"/>
            <a:ext cx="1396528" cy="0"/>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033F8E99-3742-C518-DFB6-571D7FB4EFD9}"/>
              </a:ext>
            </a:extLst>
          </p:cNvPr>
          <p:cNvCxnSpPr>
            <a:cxnSpLocks/>
          </p:cNvCxnSpPr>
          <p:nvPr/>
        </p:nvCxnSpPr>
        <p:spPr>
          <a:xfrm flipV="1">
            <a:off x="1488050" y="4643197"/>
            <a:ext cx="2434196" cy="272022"/>
          </a:xfrm>
          <a:prstGeom prst="bentConnector3">
            <a:avLst>
              <a:gd name="adj1" fmla="val 18174"/>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5" name="Slide Number Placeholder 2">
            <a:extLst>
              <a:ext uri="{FF2B5EF4-FFF2-40B4-BE49-F238E27FC236}">
                <a16:creationId xmlns:a16="http://schemas.microsoft.com/office/drawing/2014/main" id="{95B5C742-034D-0C4A-3435-60FEE433C454}"/>
              </a:ext>
            </a:extLst>
          </p:cNvPr>
          <p:cNvSpPr>
            <a:spLocks noGrp="1"/>
          </p:cNvSpPr>
          <p:nvPr>
            <p:ph type="sldNum" sz="quarter" idx="12"/>
          </p:nvPr>
        </p:nvSpPr>
        <p:spPr>
          <a:xfrm>
            <a:off x="87852" y="6454866"/>
            <a:ext cx="201619" cy="365125"/>
          </a:xfrm>
        </p:spPr>
        <p:txBody>
          <a:bodyPr/>
          <a:lstStyle/>
          <a:p>
            <a:fld id="{3CBD822F-ED39-4FC2-B5B5-D2EAB6238DC3}" type="slidenum">
              <a:rPr lang="en-CA" noProof="0" smtClean="0">
                <a:latin typeface="+mn-lt"/>
              </a:rPr>
              <a:pPr/>
              <a:t>15</a:t>
            </a:fld>
            <a:endParaRPr lang="en-CA" noProof="0">
              <a:latin typeface="+mn-lt"/>
            </a:endParaRPr>
          </a:p>
        </p:txBody>
      </p:sp>
      <p:sp>
        <p:nvSpPr>
          <p:cNvPr id="108" name="TextBox 107">
            <a:extLst>
              <a:ext uri="{FF2B5EF4-FFF2-40B4-BE49-F238E27FC236}">
                <a16:creationId xmlns:a16="http://schemas.microsoft.com/office/drawing/2014/main" id="{C1A3F5DC-0A03-4A90-B814-5C17AC02674D}"/>
              </a:ext>
            </a:extLst>
          </p:cNvPr>
          <p:cNvSpPr txBox="1"/>
          <p:nvPr/>
        </p:nvSpPr>
        <p:spPr>
          <a:xfrm>
            <a:off x="188661" y="443452"/>
            <a:ext cx="11114878" cy="276999"/>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200" noProof="0">
                <a:solidFill>
                  <a:schemeClr val="tx1">
                    <a:lumMod val="50000"/>
                  </a:schemeClr>
                </a:solidFill>
              </a:rPr>
              <a:t>Data from all regions flows into a single shared platform, with governance and access controls applied consistently across boundaries</a:t>
            </a:r>
          </a:p>
        </p:txBody>
      </p:sp>
      <p:pic>
        <p:nvPicPr>
          <p:cNvPr id="89" name="Graphic 88" descr="User with solid fill">
            <a:extLst>
              <a:ext uri="{FF2B5EF4-FFF2-40B4-BE49-F238E27FC236}">
                <a16:creationId xmlns:a16="http://schemas.microsoft.com/office/drawing/2014/main" id="{ED2120FE-D45F-B160-C133-C29841CA5A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69926" y="2215963"/>
            <a:ext cx="443917" cy="412531"/>
          </a:xfrm>
          <a:prstGeom prst="rect">
            <a:avLst/>
          </a:prstGeom>
        </p:spPr>
      </p:pic>
      <p:pic>
        <p:nvPicPr>
          <p:cNvPr id="91" name="Graphic 90" descr="User with solid fill">
            <a:extLst>
              <a:ext uri="{FF2B5EF4-FFF2-40B4-BE49-F238E27FC236}">
                <a16:creationId xmlns:a16="http://schemas.microsoft.com/office/drawing/2014/main" id="{F6C1E271-9DAD-5F7C-A799-CB7FE2D72C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69926" y="4226829"/>
            <a:ext cx="443917" cy="412531"/>
          </a:xfrm>
          <a:prstGeom prst="rect">
            <a:avLst/>
          </a:prstGeom>
        </p:spPr>
      </p:pic>
      <p:grpSp>
        <p:nvGrpSpPr>
          <p:cNvPr id="6" name="Group 5">
            <a:extLst>
              <a:ext uri="{FF2B5EF4-FFF2-40B4-BE49-F238E27FC236}">
                <a16:creationId xmlns:a16="http://schemas.microsoft.com/office/drawing/2014/main" id="{7C949408-9747-1129-4092-1CCF1B305133}"/>
              </a:ext>
            </a:extLst>
          </p:cNvPr>
          <p:cNvGrpSpPr/>
          <p:nvPr/>
        </p:nvGrpSpPr>
        <p:grpSpPr>
          <a:xfrm>
            <a:off x="2405729" y="6208326"/>
            <a:ext cx="7380542" cy="418315"/>
            <a:chOff x="3435391" y="6208326"/>
            <a:chExt cx="7380542" cy="418315"/>
          </a:xfrm>
        </p:grpSpPr>
        <p:sp>
          <p:nvSpPr>
            <p:cNvPr id="1141" name="Rectangle: Rounded Corners 1140">
              <a:extLst>
                <a:ext uri="{FF2B5EF4-FFF2-40B4-BE49-F238E27FC236}">
                  <a16:creationId xmlns:a16="http://schemas.microsoft.com/office/drawing/2014/main" id="{8523E21B-CB90-FAAC-EBF9-A730B48E669B}"/>
                </a:ext>
              </a:extLst>
            </p:cNvPr>
            <p:cNvSpPr/>
            <p:nvPr/>
          </p:nvSpPr>
          <p:spPr>
            <a:xfrm>
              <a:off x="3435391" y="6208326"/>
              <a:ext cx="7380542" cy="418315"/>
            </a:xfrm>
            <a:prstGeom prst="roundRect">
              <a:avLst/>
            </a:prstGeom>
            <a:noFill/>
            <a:ln w="9525">
              <a:solidFill>
                <a:schemeClr val="tx2">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sp>
          <p:nvSpPr>
            <p:cNvPr id="1142" name="TextBox 1141">
              <a:extLst>
                <a:ext uri="{FF2B5EF4-FFF2-40B4-BE49-F238E27FC236}">
                  <a16:creationId xmlns:a16="http://schemas.microsoft.com/office/drawing/2014/main" id="{65E73CA1-9486-A167-44EA-F7851C2F6E8A}"/>
                </a:ext>
              </a:extLst>
            </p:cNvPr>
            <p:cNvSpPr txBox="1"/>
            <p:nvPr/>
          </p:nvSpPr>
          <p:spPr>
            <a:xfrm>
              <a:off x="3621392" y="6300340"/>
              <a:ext cx="489798"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Legend</a:t>
              </a:r>
            </a:p>
          </p:txBody>
        </p:sp>
        <p:cxnSp>
          <p:nvCxnSpPr>
            <p:cNvPr id="1143" name="Straight Connector 1142">
              <a:extLst>
                <a:ext uri="{FF2B5EF4-FFF2-40B4-BE49-F238E27FC236}">
                  <a16:creationId xmlns:a16="http://schemas.microsoft.com/office/drawing/2014/main" id="{E9930C57-03A7-07C1-88C6-0130D15CA19C}"/>
                </a:ext>
              </a:extLst>
            </p:cNvPr>
            <p:cNvCxnSpPr>
              <a:cxnSpLocks/>
            </p:cNvCxnSpPr>
            <p:nvPr/>
          </p:nvCxnSpPr>
          <p:spPr>
            <a:xfrm>
              <a:off x="4204932" y="6273483"/>
              <a:ext cx="0" cy="288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44" name="Straight Arrow Connector 1143">
              <a:extLst>
                <a:ext uri="{FF2B5EF4-FFF2-40B4-BE49-F238E27FC236}">
                  <a16:creationId xmlns:a16="http://schemas.microsoft.com/office/drawing/2014/main" id="{66DC5FFE-2028-5CA4-BE57-B722E80F410C}"/>
                </a:ext>
              </a:extLst>
            </p:cNvPr>
            <p:cNvCxnSpPr>
              <a:cxnSpLocks/>
            </p:cNvCxnSpPr>
            <p:nvPr/>
          </p:nvCxnSpPr>
          <p:spPr>
            <a:xfrm>
              <a:off x="4277048" y="6417483"/>
              <a:ext cx="339091" cy="0"/>
            </a:xfrm>
            <a:prstGeom prst="straightConnector1">
              <a:avLst/>
            </a:prstGeom>
            <a:ln w="28575">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1145" name="TextBox 1144">
              <a:extLst>
                <a:ext uri="{FF2B5EF4-FFF2-40B4-BE49-F238E27FC236}">
                  <a16:creationId xmlns:a16="http://schemas.microsoft.com/office/drawing/2014/main" id="{DD150A11-6AD4-E8F1-FAD0-1D3757E48FEE}"/>
                </a:ext>
              </a:extLst>
            </p:cNvPr>
            <p:cNvSpPr txBox="1"/>
            <p:nvPr/>
          </p:nvSpPr>
          <p:spPr>
            <a:xfrm>
              <a:off x="4616139" y="6219549"/>
              <a:ext cx="791213"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LifeCo.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Data Flow</a:t>
              </a:r>
            </a:p>
          </p:txBody>
        </p:sp>
        <p:grpSp>
          <p:nvGrpSpPr>
            <p:cNvPr id="93" name="Group 92">
              <a:extLst>
                <a:ext uri="{FF2B5EF4-FFF2-40B4-BE49-F238E27FC236}">
                  <a16:creationId xmlns:a16="http://schemas.microsoft.com/office/drawing/2014/main" id="{CC7CFECA-CCD9-52DF-C782-C252069AE73F}"/>
                </a:ext>
              </a:extLst>
            </p:cNvPr>
            <p:cNvGrpSpPr/>
            <p:nvPr/>
          </p:nvGrpSpPr>
          <p:grpSpPr>
            <a:xfrm>
              <a:off x="6715922" y="6300340"/>
              <a:ext cx="509262" cy="234286"/>
              <a:chOff x="6687053" y="6436744"/>
              <a:chExt cx="509262" cy="234286"/>
            </a:xfrm>
          </p:grpSpPr>
          <p:sp>
            <p:nvSpPr>
              <p:cNvPr id="1231" name="Rectangle 1230">
                <a:extLst>
                  <a:ext uri="{FF2B5EF4-FFF2-40B4-BE49-F238E27FC236}">
                    <a16:creationId xmlns:a16="http://schemas.microsoft.com/office/drawing/2014/main" id="{DA2058B8-6FC9-8DDA-6CAF-5FCE41290939}"/>
                  </a:ext>
                </a:extLst>
              </p:cNvPr>
              <p:cNvSpPr/>
              <p:nvPr/>
            </p:nvSpPr>
            <p:spPr>
              <a:xfrm flipH="1">
                <a:off x="6687053" y="6507777"/>
                <a:ext cx="124408" cy="9222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sp>
            <p:nvSpPr>
              <p:cNvPr id="1235" name="TextBox 1234">
                <a:extLst>
                  <a:ext uri="{FF2B5EF4-FFF2-40B4-BE49-F238E27FC236}">
                    <a16:creationId xmlns:a16="http://schemas.microsoft.com/office/drawing/2014/main" id="{05B88CC9-7C4E-242D-8FA2-5E8F4E71658B}"/>
                  </a:ext>
                </a:extLst>
              </p:cNvPr>
              <p:cNvSpPr txBox="1"/>
              <p:nvPr/>
            </p:nvSpPr>
            <p:spPr>
              <a:xfrm>
                <a:off x="6780525" y="6436744"/>
                <a:ext cx="415790"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Raw</a:t>
                </a:r>
              </a:p>
            </p:txBody>
          </p:sp>
        </p:grpSp>
        <p:grpSp>
          <p:nvGrpSpPr>
            <p:cNvPr id="105" name="Group 104">
              <a:extLst>
                <a:ext uri="{FF2B5EF4-FFF2-40B4-BE49-F238E27FC236}">
                  <a16:creationId xmlns:a16="http://schemas.microsoft.com/office/drawing/2014/main" id="{9D56B173-2F15-1326-D9D2-47D1214A3753}"/>
                </a:ext>
              </a:extLst>
            </p:cNvPr>
            <p:cNvGrpSpPr/>
            <p:nvPr/>
          </p:nvGrpSpPr>
          <p:grpSpPr>
            <a:xfrm>
              <a:off x="7225184" y="6300340"/>
              <a:ext cx="1108108" cy="234286"/>
              <a:chOff x="7273453" y="6436744"/>
              <a:chExt cx="1108108" cy="234286"/>
            </a:xfrm>
          </p:grpSpPr>
          <p:sp>
            <p:nvSpPr>
              <p:cNvPr id="1232" name="Rectangle 1231">
                <a:extLst>
                  <a:ext uri="{FF2B5EF4-FFF2-40B4-BE49-F238E27FC236}">
                    <a16:creationId xmlns:a16="http://schemas.microsoft.com/office/drawing/2014/main" id="{8B1D72BD-157D-ED08-A1EA-3D53961F77D4}"/>
                  </a:ext>
                </a:extLst>
              </p:cNvPr>
              <p:cNvSpPr/>
              <p:nvPr/>
            </p:nvSpPr>
            <p:spPr>
              <a:xfrm flipH="1">
                <a:off x="7273453" y="6507777"/>
                <a:ext cx="124408" cy="9222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sp>
            <p:nvSpPr>
              <p:cNvPr id="1236" name="TextBox 1235">
                <a:extLst>
                  <a:ext uri="{FF2B5EF4-FFF2-40B4-BE49-F238E27FC236}">
                    <a16:creationId xmlns:a16="http://schemas.microsoft.com/office/drawing/2014/main" id="{492DDB32-AB36-F6DD-4DF5-1FC1AD5BBF7D}"/>
                  </a:ext>
                </a:extLst>
              </p:cNvPr>
              <p:cNvSpPr txBox="1"/>
              <p:nvPr/>
            </p:nvSpPr>
            <p:spPr>
              <a:xfrm>
                <a:off x="7369083" y="6436744"/>
                <a:ext cx="1012478"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Standardized</a:t>
                </a:r>
              </a:p>
            </p:txBody>
          </p:sp>
        </p:grpSp>
        <p:cxnSp>
          <p:nvCxnSpPr>
            <p:cNvPr id="4" name="Straight Connector 3">
              <a:extLst>
                <a:ext uri="{FF2B5EF4-FFF2-40B4-BE49-F238E27FC236}">
                  <a16:creationId xmlns:a16="http://schemas.microsoft.com/office/drawing/2014/main" id="{7C350BC6-384C-7953-5594-2D0071CCBF8D}"/>
                </a:ext>
              </a:extLst>
            </p:cNvPr>
            <p:cNvCxnSpPr>
              <a:cxnSpLocks/>
            </p:cNvCxnSpPr>
            <p:nvPr/>
          </p:nvCxnSpPr>
          <p:spPr>
            <a:xfrm>
              <a:off x="6577704" y="6273483"/>
              <a:ext cx="0" cy="288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4D71E51F-9166-7CFE-C303-96391D9BBA10}"/>
                </a:ext>
              </a:extLst>
            </p:cNvPr>
            <p:cNvCxnSpPr>
              <a:cxnSpLocks/>
            </p:cNvCxnSpPr>
            <p:nvPr/>
          </p:nvCxnSpPr>
          <p:spPr>
            <a:xfrm>
              <a:off x="5389860" y="6417483"/>
              <a:ext cx="339091" cy="0"/>
            </a:xfrm>
            <a:prstGeom prst="straightConnector1">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C39EC5A7-2B17-4CC0-45DE-374CD866E155}"/>
                </a:ext>
              </a:extLst>
            </p:cNvPr>
            <p:cNvSpPr txBox="1"/>
            <p:nvPr/>
          </p:nvSpPr>
          <p:spPr>
            <a:xfrm>
              <a:off x="5728951" y="6219549"/>
              <a:ext cx="791213"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Canada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Data Flow</a:t>
              </a:r>
            </a:p>
          </p:txBody>
        </p:sp>
        <p:cxnSp>
          <p:nvCxnSpPr>
            <p:cNvPr id="83" name="Straight Connector 82">
              <a:extLst>
                <a:ext uri="{FF2B5EF4-FFF2-40B4-BE49-F238E27FC236}">
                  <a16:creationId xmlns:a16="http://schemas.microsoft.com/office/drawing/2014/main" id="{C923C21C-FA8C-6DF0-970B-98B3367DBF33}"/>
                </a:ext>
              </a:extLst>
            </p:cNvPr>
            <p:cNvCxnSpPr>
              <a:cxnSpLocks/>
            </p:cNvCxnSpPr>
            <p:nvPr/>
          </p:nvCxnSpPr>
          <p:spPr>
            <a:xfrm>
              <a:off x="9102884" y="6273483"/>
              <a:ext cx="0" cy="288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5758467-E9D0-7347-5DA7-959FE21F7A92}"/>
                </a:ext>
              </a:extLst>
            </p:cNvPr>
            <p:cNvSpPr txBox="1"/>
            <p:nvPr/>
          </p:nvSpPr>
          <p:spPr>
            <a:xfrm>
              <a:off x="9293409" y="6300340"/>
              <a:ext cx="1446324"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50" noProof="0">
                  <a:solidFill>
                    <a:srgbClr val="F0F0EF">
                      <a:lumMod val="10000"/>
                    </a:srgbClr>
                  </a:solidFill>
                </a:rPr>
                <a:t>Consumers of Data</a:t>
              </a:r>
              <a:endParaRPr kumimoji="0" lang="en-CA" sz="1050" b="0" i="0" u="none" strike="noStrike" kern="1200" cap="none" spc="0" normalizeH="0" baseline="0" noProof="0">
                <a:ln>
                  <a:noFill/>
                </a:ln>
                <a:solidFill>
                  <a:srgbClr val="F0F0EF">
                    <a:lumMod val="10000"/>
                  </a:srgbClr>
                </a:solidFill>
                <a:effectLst/>
                <a:uLnTx/>
                <a:uFillTx/>
              </a:endParaRPr>
            </a:p>
          </p:txBody>
        </p:sp>
        <p:pic>
          <p:nvPicPr>
            <p:cNvPr id="92" name="Graphic 91" descr="User with solid fill">
              <a:extLst>
                <a:ext uri="{FF2B5EF4-FFF2-40B4-BE49-F238E27FC236}">
                  <a16:creationId xmlns:a16="http://schemas.microsoft.com/office/drawing/2014/main" id="{0C387950-39E7-2AB3-F698-4AFA5F7E8E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130" y="6291483"/>
              <a:ext cx="271172" cy="252000"/>
            </a:xfrm>
            <a:prstGeom prst="rect">
              <a:avLst/>
            </a:prstGeom>
          </p:spPr>
        </p:pic>
        <p:grpSp>
          <p:nvGrpSpPr>
            <p:cNvPr id="107" name="Group 106">
              <a:extLst>
                <a:ext uri="{FF2B5EF4-FFF2-40B4-BE49-F238E27FC236}">
                  <a16:creationId xmlns:a16="http://schemas.microsoft.com/office/drawing/2014/main" id="{F258DAA4-1B8A-7804-F5BC-AD668E2A73CE}"/>
                </a:ext>
              </a:extLst>
            </p:cNvPr>
            <p:cNvGrpSpPr/>
            <p:nvPr/>
          </p:nvGrpSpPr>
          <p:grpSpPr>
            <a:xfrm>
              <a:off x="8333292" y="6300340"/>
              <a:ext cx="769592" cy="234286"/>
              <a:chOff x="8526369" y="6436744"/>
              <a:chExt cx="769592" cy="234286"/>
            </a:xfrm>
          </p:grpSpPr>
          <p:sp>
            <p:nvSpPr>
              <p:cNvPr id="109" name="Rectangle 108">
                <a:extLst>
                  <a:ext uri="{FF2B5EF4-FFF2-40B4-BE49-F238E27FC236}">
                    <a16:creationId xmlns:a16="http://schemas.microsoft.com/office/drawing/2014/main" id="{4FF314D9-B206-6172-3B97-85ED4549B543}"/>
                  </a:ext>
                </a:extLst>
              </p:cNvPr>
              <p:cNvSpPr/>
              <p:nvPr/>
            </p:nvSpPr>
            <p:spPr>
              <a:xfrm flipH="1">
                <a:off x="8526369" y="6508167"/>
                <a:ext cx="128016" cy="9144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sp>
            <p:nvSpPr>
              <p:cNvPr id="113" name="TextBox 112">
                <a:extLst>
                  <a:ext uri="{FF2B5EF4-FFF2-40B4-BE49-F238E27FC236}">
                    <a16:creationId xmlns:a16="http://schemas.microsoft.com/office/drawing/2014/main" id="{34C1C60A-D556-4D17-1965-2C2515F11259}"/>
                  </a:ext>
                </a:extLst>
              </p:cNvPr>
              <p:cNvSpPr txBox="1"/>
              <p:nvPr/>
            </p:nvSpPr>
            <p:spPr>
              <a:xfrm>
                <a:off x="8620904" y="6436744"/>
                <a:ext cx="675057"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50" b="0" i="0" u="none" strike="noStrike" kern="1200" cap="none" spc="0" normalizeH="0" baseline="0" noProof="0">
                    <a:ln>
                      <a:noFill/>
                    </a:ln>
                    <a:solidFill>
                      <a:srgbClr val="F0F0EF">
                        <a:lumMod val="10000"/>
                      </a:srgbClr>
                    </a:solidFill>
                    <a:effectLst/>
                    <a:uLnTx/>
                    <a:uFillTx/>
                    <a:ea typeface="+mn-ea"/>
                    <a:cs typeface="+mn-cs"/>
                  </a:rPr>
                  <a:t>Curated</a:t>
                </a:r>
              </a:p>
            </p:txBody>
          </p:sp>
        </p:grpSp>
      </p:grpSp>
      <p:cxnSp>
        <p:nvCxnSpPr>
          <p:cNvPr id="158" name="Straight Arrow Connector 157">
            <a:extLst>
              <a:ext uri="{FF2B5EF4-FFF2-40B4-BE49-F238E27FC236}">
                <a16:creationId xmlns:a16="http://schemas.microsoft.com/office/drawing/2014/main" id="{64A2C90B-2095-95FB-1596-66F494AB1854}"/>
              </a:ext>
            </a:extLst>
          </p:cNvPr>
          <p:cNvCxnSpPr>
            <a:cxnSpLocks/>
            <a:stCxn id="99" idx="3"/>
          </p:cNvCxnSpPr>
          <p:nvPr/>
        </p:nvCxnSpPr>
        <p:spPr>
          <a:xfrm>
            <a:off x="1642310" y="2419868"/>
            <a:ext cx="2279936" cy="0"/>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grpSp>
        <p:nvGrpSpPr>
          <p:cNvPr id="169" name="Group 168">
            <a:extLst>
              <a:ext uri="{FF2B5EF4-FFF2-40B4-BE49-F238E27FC236}">
                <a16:creationId xmlns:a16="http://schemas.microsoft.com/office/drawing/2014/main" id="{1CE14B06-A121-3275-8ADF-62FA19CE1F15}"/>
              </a:ext>
            </a:extLst>
          </p:cNvPr>
          <p:cNvGrpSpPr/>
          <p:nvPr/>
        </p:nvGrpSpPr>
        <p:grpSpPr>
          <a:xfrm>
            <a:off x="3922246" y="1915868"/>
            <a:ext cx="900000" cy="1008000"/>
            <a:chOff x="3922246" y="1899329"/>
            <a:chExt cx="900000" cy="1008000"/>
          </a:xfrm>
        </p:grpSpPr>
        <p:sp>
          <p:nvSpPr>
            <p:cNvPr id="111" name="Rectangle 110">
              <a:extLst>
                <a:ext uri="{FF2B5EF4-FFF2-40B4-BE49-F238E27FC236}">
                  <a16:creationId xmlns:a16="http://schemas.microsoft.com/office/drawing/2014/main" id="{ADD03BCA-B0F8-F5A4-BBA3-609E0AF6A4FE}"/>
                </a:ext>
              </a:extLst>
            </p:cNvPr>
            <p:cNvSpPr/>
            <p:nvPr/>
          </p:nvSpPr>
          <p:spPr>
            <a:xfrm>
              <a:off x="3922246" y="1899329"/>
              <a:ext cx="900000" cy="1008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cxnSp>
          <p:nvCxnSpPr>
            <p:cNvPr id="112" name="Straight Connector 111">
              <a:extLst>
                <a:ext uri="{FF2B5EF4-FFF2-40B4-BE49-F238E27FC236}">
                  <a16:creationId xmlns:a16="http://schemas.microsoft.com/office/drawing/2014/main" id="{C1A4B94B-8923-6CB0-50B6-46EF3E4C1534}"/>
                </a:ext>
              </a:extLst>
            </p:cNvPr>
            <p:cNvCxnSpPr>
              <a:cxnSpLocks/>
            </p:cNvCxnSpPr>
            <p:nvPr/>
          </p:nvCxnSpPr>
          <p:spPr>
            <a:xfrm flipV="1">
              <a:off x="4012246" y="2218856"/>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4" name="Group 156">
              <a:extLst>
                <a:ext uri="{FF2B5EF4-FFF2-40B4-BE49-F238E27FC236}">
                  <a16:creationId xmlns:a16="http://schemas.microsoft.com/office/drawing/2014/main" id="{2BDBB464-EF27-A617-C4B4-C40B64D10F25}"/>
                </a:ext>
              </a:extLst>
            </p:cNvPr>
            <p:cNvGrpSpPr>
              <a:grpSpLocks noChangeAspect="1"/>
            </p:cNvGrpSpPr>
            <p:nvPr/>
          </p:nvGrpSpPr>
          <p:grpSpPr bwMode="auto">
            <a:xfrm>
              <a:off x="4263990" y="2625928"/>
              <a:ext cx="216513" cy="216000"/>
              <a:chOff x="1373" y="1718"/>
              <a:chExt cx="427" cy="426"/>
            </a:xfrm>
            <a:solidFill>
              <a:srgbClr val="A97142"/>
            </a:solidFill>
          </p:grpSpPr>
          <p:sp>
            <p:nvSpPr>
              <p:cNvPr id="117" name="Freeform 157">
                <a:extLst>
                  <a:ext uri="{FF2B5EF4-FFF2-40B4-BE49-F238E27FC236}">
                    <a16:creationId xmlns:a16="http://schemas.microsoft.com/office/drawing/2014/main" id="{3C253145-3E7F-28A5-4A13-83D78B563E33}"/>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8" name="Freeform 158">
                <a:extLst>
                  <a:ext uri="{FF2B5EF4-FFF2-40B4-BE49-F238E27FC236}">
                    <a16:creationId xmlns:a16="http://schemas.microsoft.com/office/drawing/2014/main" id="{5BE4A510-5C84-7B58-BBFE-CFA77CD8DA99}"/>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9" name="Freeform 159">
                <a:extLst>
                  <a:ext uri="{FF2B5EF4-FFF2-40B4-BE49-F238E27FC236}">
                    <a16:creationId xmlns:a16="http://schemas.microsoft.com/office/drawing/2014/main" id="{E0EE213A-5B57-73D1-D38E-4FFAF6BE4CF9}"/>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20" name="Freeform 160">
                <a:extLst>
                  <a:ext uri="{FF2B5EF4-FFF2-40B4-BE49-F238E27FC236}">
                    <a16:creationId xmlns:a16="http://schemas.microsoft.com/office/drawing/2014/main" id="{C4363A05-35EF-6428-3324-74A12658103E}"/>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21" name="Freeform 161">
                <a:extLst>
                  <a:ext uri="{FF2B5EF4-FFF2-40B4-BE49-F238E27FC236}">
                    <a16:creationId xmlns:a16="http://schemas.microsoft.com/office/drawing/2014/main" id="{ED604968-CAFC-76B8-F4F9-C5D50B6CEBDC}"/>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22" name="Freeform 162">
                <a:extLst>
                  <a:ext uri="{FF2B5EF4-FFF2-40B4-BE49-F238E27FC236}">
                    <a16:creationId xmlns:a16="http://schemas.microsoft.com/office/drawing/2014/main" id="{407EA667-92B1-9568-4D63-259AF9BE15EB}"/>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23" name="Freeform 163">
                <a:extLst>
                  <a:ext uri="{FF2B5EF4-FFF2-40B4-BE49-F238E27FC236}">
                    <a16:creationId xmlns:a16="http://schemas.microsoft.com/office/drawing/2014/main" id="{EE00519D-D285-1C58-B136-87E3CA838F74}"/>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grpSp>
        <p:sp>
          <p:nvSpPr>
            <p:cNvPr id="115" name="TextBox 114">
              <a:extLst>
                <a:ext uri="{FF2B5EF4-FFF2-40B4-BE49-F238E27FC236}">
                  <a16:creationId xmlns:a16="http://schemas.microsoft.com/office/drawing/2014/main" id="{0D2A1848-1856-AB15-758F-9027D90143A2}"/>
                </a:ext>
              </a:extLst>
            </p:cNvPr>
            <p:cNvSpPr txBox="1"/>
            <p:nvPr/>
          </p:nvSpPr>
          <p:spPr>
            <a:xfrm>
              <a:off x="3922246" y="1899932"/>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rgbClr val="F0F0EF">
                      <a:lumMod val="10000"/>
                    </a:srgbClr>
                  </a:solidFill>
                  <a:effectLst/>
                  <a:uLnTx/>
                  <a:uFillTx/>
                  <a:ea typeface="+mn-ea"/>
                  <a:cs typeface="+mn-cs"/>
                </a:rPr>
                <a:t>Raw Data storage</a:t>
              </a:r>
            </a:p>
          </p:txBody>
        </p:sp>
        <p:sp>
          <p:nvSpPr>
            <p:cNvPr id="166" name="TextBox 165">
              <a:extLst>
                <a:ext uri="{FF2B5EF4-FFF2-40B4-BE49-F238E27FC236}">
                  <a16:creationId xmlns:a16="http://schemas.microsoft.com/office/drawing/2014/main" id="{22563E67-66E1-1B7D-C2D8-6167958D4998}"/>
                </a:ext>
              </a:extLst>
            </p:cNvPr>
            <p:cNvSpPr txBox="1"/>
            <p:nvPr/>
          </p:nvSpPr>
          <p:spPr>
            <a:xfrm>
              <a:off x="3922246" y="2218856"/>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1" i="0" u="none" strike="noStrike" kern="1200" cap="none" spc="0" normalizeH="0" baseline="0" noProof="0">
                  <a:ln>
                    <a:noFill/>
                  </a:ln>
                  <a:solidFill>
                    <a:srgbClr val="A97142"/>
                  </a:solidFill>
                  <a:effectLst/>
                  <a:uLnTx/>
                  <a:uFillTx/>
                  <a:ea typeface="+mn-ea"/>
                  <a:cs typeface="+mn-cs"/>
                </a:rPr>
                <a:t>Bronze layer</a:t>
              </a:r>
              <a:endParaRPr kumimoji="0" lang="en-CA" sz="700" b="0" i="0" u="none" strike="noStrike" kern="1200" cap="none" spc="0" normalizeH="0" baseline="0" noProof="0">
                <a:ln>
                  <a:noFill/>
                </a:ln>
                <a:solidFill>
                  <a:srgbClr val="A97142"/>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rgbClr val="F0F0EF">
                      <a:lumMod val="10000"/>
                    </a:srgbClr>
                  </a:solidFill>
                  <a:effectLst/>
                  <a:uLnTx/>
                  <a:uFillTx/>
                  <a:ea typeface="+mn-ea"/>
                  <a:cs typeface="+mn-cs"/>
                </a:rPr>
                <a:t>(Data landing zone)</a:t>
              </a:r>
            </a:p>
          </p:txBody>
        </p:sp>
      </p:grpSp>
      <p:grpSp>
        <p:nvGrpSpPr>
          <p:cNvPr id="171" name="Group 170">
            <a:extLst>
              <a:ext uri="{FF2B5EF4-FFF2-40B4-BE49-F238E27FC236}">
                <a16:creationId xmlns:a16="http://schemas.microsoft.com/office/drawing/2014/main" id="{F7269407-1182-3AE7-1DDC-8AB9E6F1994C}"/>
              </a:ext>
            </a:extLst>
          </p:cNvPr>
          <p:cNvGrpSpPr/>
          <p:nvPr/>
        </p:nvGrpSpPr>
        <p:grpSpPr>
          <a:xfrm>
            <a:off x="6218774" y="1915868"/>
            <a:ext cx="900000" cy="1008000"/>
            <a:chOff x="6218774" y="1886306"/>
            <a:chExt cx="900000" cy="1008000"/>
          </a:xfrm>
        </p:grpSpPr>
        <p:cxnSp>
          <p:nvCxnSpPr>
            <p:cNvPr id="125" name="Straight Connector 124">
              <a:extLst>
                <a:ext uri="{FF2B5EF4-FFF2-40B4-BE49-F238E27FC236}">
                  <a16:creationId xmlns:a16="http://schemas.microsoft.com/office/drawing/2014/main" id="{C87A7E5B-75D2-5847-A29B-38AF98579C86}"/>
                </a:ext>
              </a:extLst>
            </p:cNvPr>
            <p:cNvCxnSpPr>
              <a:cxnSpLocks/>
            </p:cNvCxnSpPr>
            <p:nvPr/>
          </p:nvCxnSpPr>
          <p:spPr>
            <a:xfrm flipV="1">
              <a:off x="6380774" y="2205833"/>
              <a:ext cx="576000" cy="0"/>
            </a:xfrm>
            <a:prstGeom prst="line">
              <a:avLst/>
            </a:prstGeom>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588E3F26-CA6A-FD14-FFA2-23B0C7344E29}"/>
                </a:ext>
              </a:extLst>
            </p:cNvPr>
            <p:cNvSpPr/>
            <p:nvPr/>
          </p:nvSpPr>
          <p:spPr>
            <a:xfrm>
              <a:off x="6218774" y="1886306"/>
              <a:ext cx="900000" cy="1008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grpSp>
          <p:nvGrpSpPr>
            <p:cNvPr id="127" name="Group 156">
              <a:extLst>
                <a:ext uri="{FF2B5EF4-FFF2-40B4-BE49-F238E27FC236}">
                  <a16:creationId xmlns:a16="http://schemas.microsoft.com/office/drawing/2014/main" id="{191D29FD-B2B2-0B9A-8519-D36C9A63FA1D}"/>
                </a:ext>
              </a:extLst>
            </p:cNvPr>
            <p:cNvGrpSpPr>
              <a:grpSpLocks noChangeAspect="1"/>
            </p:cNvGrpSpPr>
            <p:nvPr/>
          </p:nvGrpSpPr>
          <p:grpSpPr bwMode="auto">
            <a:xfrm>
              <a:off x="6560518" y="2612905"/>
              <a:ext cx="216513" cy="216000"/>
              <a:chOff x="1373" y="1718"/>
              <a:chExt cx="427" cy="426"/>
            </a:xfrm>
            <a:solidFill>
              <a:srgbClr val="C0C0C0"/>
            </a:solidFill>
          </p:grpSpPr>
          <p:sp>
            <p:nvSpPr>
              <p:cNvPr id="131" name="Freeform 157">
                <a:extLst>
                  <a:ext uri="{FF2B5EF4-FFF2-40B4-BE49-F238E27FC236}">
                    <a16:creationId xmlns:a16="http://schemas.microsoft.com/office/drawing/2014/main" id="{62479F32-39E2-79D0-3F26-31465904DBCD}"/>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32" name="Freeform 158">
                <a:extLst>
                  <a:ext uri="{FF2B5EF4-FFF2-40B4-BE49-F238E27FC236}">
                    <a16:creationId xmlns:a16="http://schemas.microsoft.com/office/drawing/2014/main" id="{BE84B863-733F-3900-6C32-4E0A026A0AC5}"/>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33" name="Freeform 159">
                <a:extLst>
                  <a:ext uri="{FF2B5EF4-FFF2-40B4-BE49-F238E27FC236}">
                    <a16:creationId xmlns:a16="http://schemas.microsoft.com/office/drawing/2014/main" id="{F0636AED-9FBF-B8FB-2B14-DCDA6873B272}"/>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34" name="Freeform 160">
                <a:extLst>
                  <a:ext uri="{FF2B5EF4-FFF2-40B4-BE49-F238E27FC236}">
                    <a16:creationId xmlns:a16="http://schemas.microsoft.com/office/drawing/2014/main" id="{9712E655-E773-548D-B0BF-9AC899D4522E}"/>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36" name="Freeform 161">
                <a:extLst>
                  <a:ext uri="{FF2B5EF4-FFF2-40B4-BE49-F238E27FC236}">
                    <a16:creationId xmlns:a16="http://schemas.microsoft.com/office/drawing/2014/main" id="{798985AA-0122-4452-C2A5-02189A9831E4}"/>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37" name="Freeform 162">
                <a:extLst>
                  <a:ext uri="{FF2B5EF4-FFF2-40B4-BE49-F238E27FC236}">
                    <a16:creationId xmlns:a16="http://schemas.microsoft.com/office/drawing/2014/main" id="{1058806E-4CAA-39E4-6703-8D4BB15310CB}"/>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38" name="Freeform 163">
                <a:extLst>
                  <a:ext uri="{FF2B5EF4-FFF2-40B4-BE49-F238E27FC236}">
                    <a16:creationId xmlns:a16="http://schemas.microsoft.com/office/drawing/2014/main" id="{06F34ABD-E126-F987-B86D-FB6658D95442}"/>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grpSp>
        <p:sp>
          <p:nvSpPr>
            <p:cNvPr id="128" name="TextBox 127">
              <a:extLst>
                <a:ext uri="{FF2B5EF4-FFF2-40B4-BE49-F238E27FC236}">
                  <a16:creationId xmlns:a16="http://schemas.microsoft.com/office/drawing/2014/main" id="{8B7F93BB-411C-A3DF-077B-4A2C607F05C9}"/>
                </a:ext>
              </a:extLst>
            </p:cNvPr>
            <p:cNvSpPr txBox="1"/>
            <p:nvPr/>
          </p:nvSpPr>
          <p:spPr>
            <a:xfrm>
              <a:off x="6218774" y="1886909"/>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rgbClr val="F0F0EF">
                      <a:lumMod val="10000"/>
                    </a:srgbClr>
                  </a:solidFill>
                  <a:effectLst/>
                  <a:uLnTx/>
                  <a:uFillTx/>
                  <a:ea typeface="+mn-ea"/>
                  <a:cs typeface="+mn-cs"/>
                </a:rPr>
                <a:t>Standardized Data storage</a:t>
              </a:r>
            </a:p>
          </p:txBody>
        </p:sp>
        <p:cxnSp>
          <p:nvCxnSpPr>
            <p:cNvPr id="130" name="Straight Connector 129">
              <a:extLst>
                <a:ext uri="{FF2B5EF4-FFF2-40B4-BE49-F238E27FC236}">
                  <a16:creationId xmlns:a16="http://schemas.microsoft.com/office/drawing/2014/main" id="{A6EE5ACE-F9C1-DCA5-E9D6-83EEEEB89F55}"/>
                </a:ext>
              </a:extLst>
            </p:cNvPr>
            <p:cNvCxnSpPr>
              <a:cxnSpLocks/>
            </p:cNvCxnSpPr>
            <p:nvPr/>
          </p:nvCxnSpPr>
          <p:spPr>
            <a:xfrm flipV="1">
              <a:off x="6308774" y="2205833"/>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67" name="TextBox 166">
              <a:extLst>
                <a:ext uri="{FF2B5EF4-FFF2-40B4-BE49-F238E27FC236}">
                  <a16:creationId xmlns:a16="http://schemas.microsoft.com/office/drawing/2014/main" id="{9363EA89-8968-551C-535F-989E0ECCF5AF}"/>
                </a:ext>
              </a:extLst>
            </p:cNvPr>
            <p:cNvSpPr txBox="1"/>
            <p:nvPr/>
          </p:nvSpPr>
          <p:spPr>
            <a:xfrm>
              <a:off x="6218774" y="2205833"/>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1" i="0" u="none" strike="noStrike" kern="1200" cap="none" spc="0" normalizeH="0" baseline="0" noProof="0">
                  <a:ln>
                    <a:noFill/>
                  </a:ln>
                  <a:solidFill>
                    <a:srgbClr val="9F9F9F"/>
                  </a:solidFill>
                  <a:effectLst/>
                  <a:uLnTx/>
                  <a:uFillTx/>
                  <a:ea typeface="+mn-ea"/>
                  <a:cs typeface="+mn-cs"/>
                </a:rPr>
                <a:t>Silver layer</a:t>
              </a:r>
              <a:r>
                <a:rPr kumimoji="0" lang="en-CA" sz="700" b="0" i="0" u="none" strike="noStrike" kern="1200" cap="none" spc="0" normalizeH="0" baseline="0" noProof="0">
                  <a:ln>
                    <a:noFill/>
                  </a:ln>
                  <a:solidFill>
                    <a:srgbClr val="9F9F9F"/>
                  </a:solidFill>
                  <a:effectLst/>
                  <a:uLnTx/>
                  <a:uFillTx/>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rgbClr val="F0F0EF">
                      <a:lumMod val="10000"/>
                    </a:srgbClr>
                  </a:solidFill>
                  <a:effectLst/>
                  <a:uLnTx/>
                  <a:uFillTx/>
                  <a:ea typeface="+mn-ea"/>
                  <a:cs typeface="+mn-cs"/>
                </a:rPr>
                <a:t>(Cleansed &amp; conformed data)</a:t>
              </a:r>
            </a:p>
          </p:txBody>
        </p:sp>
      </p:grpSp>
      <p:cxnSp>
        <p:nvCxnSpPr>
          <p:cNvPr id="140" name="Straight Connector 139">
            <a:extLst>
              <a:ext uri="{FF2B5EF4-FFF2-40B4-BE49-F238E27FC236}">
                <a16:creationId xmlns:a16="http://schemas.microsoft.com/office/drawing/2014/main" id="{B346ABE9-4865-C15D-93C9-DB5E6C5BA37A}"/>
              </a:ext>
            </a:extLst>
          </p:cNvPr>
          <p:cNvCxnSpPr>
            <a:cxnSpLocks/>
          </p:cNvCxnSpPr>
          <p:nvPr/>
        </p:nvCxnSpPr>
        <p:spPr>
          <a:xfrm flipV="1">
            <a:off x="8677302" y="2235395"/>
            <a:ext cx="576000" cy="0"/>
          </a:xfrm>
          <a:prstGeom prst="line">
            <a:avLst/>
          </a:prstGeom>
          <a:solidFill>
            <a:srgbClr val="FFFFC1"/>
          </a:solidFill>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5140E1B9-B949-7CF1-EF8E-C395F24EDBD2}"/>
              </a:ext>
            </a:extLst>
          </p:cNvPr>
          <p:cNvSpPr/>
          <p:nvPr/>
        </p:nvSpPr>
        <p:spPr>
          <a:xfrm>
            <a:off x="8515302" y="1915868"/>
            <a:ext cx="900000" cy="1008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sp>
        <p:nvSpPr>
          <p:cNvPr id="142" name="TextBox 141">
            <a:extLst>
              <a:ext uri="{FF2B5EF4-FFF2-40B4-BE49-F238E27FC236}">
                <a16:creationId xmlns:a16="http://schemas.microsoft.com/office/drawing/2014/main" id="{6A081DEB-D167-7B65-C98E-DD84456B17BA}"/>
              </a:ext>
            </a:extLst>
          </p:cNvPr>
          <p:cNvSpPr txBox="1"/>
          <p:nvPr/>
        </p:nvSpPr>
        <p:spPr>
          <a:xfrm>
            <a:off x="8515302" y="1915868"/>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rgbClr val="F0F0EF">
                    <a:lumMod val="10000"/>
                  </a:srgbClr>
                </a:solidFill>
                <a:effectLst/>
                <a:uLnTx/>
                <a:uFillTx/>
                <a:ea typeface="+mn-ea"/>
                <a:cs typeface="+mn-cs"/>
              </a:rPr>
              <a:t>Curated Data Storage</a:t>
            </a:r>
          </a:p>
        </p:txBody>
      </p:sp>
      <p:cxnSp>
        <p:nvCxnSpPr>
          <p:cNvPr id="144" name="Straight Connector 143">
            <a:extLst>
              <a:ext uri="{FF2B5EF4-FFF2-40B4-BE49-F238E27FC236}">
                <a16:creationId xmlns:a16="http://schemas.microsoft.com/office/drawing/2014/main" id="{1D398BEE-26B1-B9A8-D856-6797EF9C1B92}"/>
              </a:ext>
            </a:extLst>
          </p:cNvPr>
          <p:cNvCxnSpPr>
            <a:cxnSpLocks/>
          </p:cNvCxnSpPr>
          <p:nvPr/>
        </p:nvCxnSpPr>
        <p:spPr>
          <a:xfrm flipV="1">
            <a:off x="8605302" y="222934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68" name="TextBox 167">
            <a:extLst>
              <a:ext uri="{FF2B5EF4-FFF2-40B4-BE49-F238E27FC236}">
                <a16:creationId xmlns:a16="http://schemas.microsoft.com/office/drawing/2014/main" id="{6DF78A8B-73BB-B2E0-FA0A-9D6D46136E78}"/>
              </a:ext>
            </a:extLst>
          </p:cNvPr>
          <p:cNvSpPr txBox="1"/>
          <p:nvPr/>
        </p:nvSpPr>
        <p:spPr>
          <a:xfrm>
            <a:off x="8515302" y="2234792"/>
            <a:ext cx="900000" cy="50359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1" i="0" u="none" strike="noStrike" kern="1200" cap="none" spc="0" normalizeH="0" baseline="0" noProof="0">
                <a:ln>
                  <a:noFill/>
                </a:ln>
                <a:solidFill>
                  <a:srgbClr val="E2AC00"/>
                </a:solidFill>
                <a:effectLst/>
                <a:uLnTx/>
                <a:uFillTx/>
                <a:ea typeface="+mn-ea"/>
                <a:cs typeface="+mn-cs"/>
              </a:rPr>
              <a:t>Gold Layer</a:t>
            </a:r>
            <a:endParaRPr kumimoji="0" lang="en-CA" sz="700" b="0" i="0" u="none" strike="noStrike" kern="1200" cap="none" spc="0" normalizeH="0" baseline="0" noProof="0">
              <a:ln>
                <a:noFill/>
              </a:ln>
              <a:solidFill>
                <a:srgbClr val="E2AC00"/>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chemeClr val="tx1">
                    <a:lumMod val="50000"/>
                  </a:schemeClr>
                </a:solidFill>
                <a:effectLst/>
                <a:uLnTx/>
                <a:uFillTx/>
                <a:ea typeface="+mn-ea"/>
                <a:cs typeface="+mn-cs"/>
              </a:rPr>
              <a:t>Curated data products for analytical use</a:t>
            </a:r>
          </a:p>
        </p:txBody>
      </p:sp>
      <p:cxnSp>
        <p:nvCxnSpPr>
          <p:cNvPr id="63" name="Connector: Elbow 62">
            <a:extLst>
              <a:ext uri="{FF2B5EF4-FFF2-40B4-BE49-F238E27FC236}">
                <a16:creationId xmlns:a16="http://schemas.microsoft.com/office/drawing/2014/main" id="{B086F478-1260-0C62-952C-FE571020FBA7}"/>
              </a:ext>
            </a:extLst>
          </p:cNvPr>
          <p:cNvCxnSpPr>
            <a:cxnSpLocks/>
            <a:stCxn id="141" idx="2"/>
            <a:endCxn id="1085" idx="0"/>
          </p:cNvCxnSpPr>
          <p:nvPr/>
        </p:nvCxnSpPr>
        <p:spPr>
          <a:xfrm rot="5400000">
            <a:off x="6169788" y="1126326"/>
            <a:ext cx="997973" cy="4593056"/>
          </a:xfrm>
          <a:prstGeom prst="bentConnector3">
            <a:avLst>
              <a:gd name="adj1" fmla="val 50000"/>
            </a:avLst>
          </a:prstGeom>
          <a:ln w="19050">
            <a:solidFill>
              <a:schemeClr val="accent1">
                <a:lumMod val="90000"/>
                <a:lumOff val="1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00C743F7-19D5-4118-24BB-16751C0BFAF3}"/>
              </a:ext>
            </a:extLst>
          </p:cNvPr>
          <p:cNvGrpSpPr/>
          <p:nvPr/>
        </p:nvGrpSpPr>
        <p:grpSpPr>
          <a:xfrm>
            <a:off x="3922246" y="3921238"/>
            <a:ext cx="900000" cy="1008000"/>
            <a:chOff x="3982783" y="3921238"/>
            <a:chExt cx="900000" cy="1008000"/>
          </a:xfrm>
        </p:grpSpPr>
        <p:sp>
          <p:nvSpPr>
            <p:cNvPr id="1082" name="Rectangle 1081">
              <a:extLst>
                <a:ext uri="{FF2B5EF4-FFF2-40B4-BE49-F238E27FC236}">
                  <a16:creationId xmlns:a16="http://schemas.microsoft.com/office/drawing/2014/main" id="{4C542EA9-CD5A-1A12-5CA2-7F4B1EB823AF}"/>
                </a:ext>
              </a:extLst>
            </p:cNvPr>
            <p:cNvSpPr/>
            <p:nvPr/>
          </p:nvSpPr>
          <p:spPr>
            <a:xfrm>
              <a:off x="3982783" y="3921238"/>
              <a:ext cx="900000" cy="1008000"/>
            </a:xfrm>
            <a:prstGeom prst="rect">
              <a:avLst/>
            </a:prstGeom>
            <a:solidFill>
              <a:srgbClr val="F7EFE9"/>
            </a:solidFill>
            <a:ln w="9525">
              <a:solidFill>
                <a:srgbClr val="7C523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cxnSp>
          <p:nvCxnSpPr>
            <p:cNvPr id="1083" name="Straight Connector 1082">
              <a:extLst>
                <a:ext uri="{FF2B5EF4-FFF2-40B4-BE49-F238E27FC236}">
                  <a16:creationId xmlns:a16="http://schemas.microsoft.com/office/drawing/2014/main" id="{82FBBC4B-1CEE-0B4B-9654-E1D20DC9F54A}"/>
                </a:ext>
              </a:extLst>
            </p:cNvPr>
            <p:cNvCxnSpPr>
              <a:cxnSpLocks/>
            </p:cNvCxnSpPr>
            <p:nvPr/>
          </p:nvCxnSpPr>
          <p:spPr>
            <a:xfrm flipV="1">
              <a:off x="4072783" y="424076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84" name="Group 156">
              <a:extLst>
                <a:ext uri="{FF2B5EF4-FFF2-40B4-BE49-F238E27FC236}">
                  <a16:creationId xmlns:a16="http://schemas.microsoft.com/office/drawing/2014/main" id="{1D694508-8CA2-C715-52EF-7FDFFBE56D8A}"/>
                </a:ext>
              </a:extLst>
            </p:cNvPr>
            <p:cNvGrpSpPr>
              <a:grpSpLocks noChangeAspect="1"/>
            </p:cNvGrpSpPr>
            <p:nvPr/>
          </p:nvGrpSpPr>
          <p:grpSpPr bwMode="auto">
            <a:xfrm>
              <a:off x="4324527" y="4647837"/>
              <a:ext cx="216513" cy="216000"/>
              <a:chOff x="1373" y="1718"/>
              <a:chExt cx="427" cy="426"/>
            </a:xfrm>
            <a:solidFill>
              <a:srgbClr val="A97142"/>
            </a:solidFill>
          </p:grpSpPr>
          <p:sp>
            <p:nvSpPr>
              <p:cNvPr id="1087" name="Freeform 157">
                <a:extLst>
                  <a:ext uri="{FF2B5EF4-FFF2-40B4-BE49-F238E27FC236}">
                    <a16:creationId xmlns:a16="http://schemas.microsoft.com/office/drawing/2014/main" id="{AF0D265E-9997-5745-D5BC-903231A991F9}"/>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088" name="Freeform 158">
                <a:extLst>
                  <a:ext uri="{FF2B5EF4-FFF2-40B4-BE49-F238E27FC236}">
                    <a16:creationId xmlns:a16="http://schemas.microsoft.com/office/drawing/2014/main" id="{87568F4F-8054-F27E-1982-974B9E9112BE}"/>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089" name="Freeform 159">
                <a:extLst>
                  <a:ext uri="{FF2B5EF4-FFF2-40B4-BE49-F238E27FC236}">
                    <a16:creationId xmlns:a16="http://schemas.microsoft.com/office/drawing/2014/main" id="{E9E6EB7A-E7E5-B5D6-4F28-80DA7784D2F5}"/>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090" name="Freeform 160">
                <a:extLst>
                  <a:ext uri="{FF2B5EF4-FFF2-40B4-BE49-F238E27FC236}">
                    <a16:creationId xmlns:a16="http://schemas.microsoft.com/office/drawing/2014/main" id="{36549B6D-D14A-3715-C99B-8A78BB72BEEC}"/>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091" name="Freeform 161">
                <a:extLst>
                  <a:ext uri="{FF2B5EF4-FFF2-40B4-BE49-F238E27FC236}">
                    <a16:creationId xmlns:a16="http://schemas.microsoft.com/office/drawing/2014/main" id="{14FE590F-35A0-F6F0-23EC-7B91331B6C73}"/>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092" name="Freeform 162">
                <a:extLst>
                  <a:ext uri="{FF2B5EF4-FFF2-40B4-BE49-F238E27FC236}">
                    <a16:creationId xmlns:a16="http://schemas.microsoft.com/office/drawing/2014/main" id="{80DDEF57-EF84-DA3D-9660-F71EEFB8BD82}"/>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093" name="Freeform 163">
                <a:extLst>
                  <a:ext uri="{FF2B5EF4-FFF2-40B4-BE49-F238E27FC236}">
                    <a16:creationId xmlns:a16="http://schemas.microsoft.com/office/drawing/2014/main" id="{9C8EE9B3-0B59-C8A0-B494-DFA926AB0FD3}"/>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grpSp>
        <p:sp>
          <p:nvSpPr>
            <p:cNvPr id="1085" name="TextBox 1084">
              <a:extLst>
                <a:ext uri="{FF2B5EF4-FFF2-40B4-BE49-F238E27FC236}">
                  <a16:creationId xmlns:a16="http://schemas.microsoft.com/office/drawing/2014/main" id="{41D19AA2-0FC3-7158-A4E6-A3AF8ADAACAA}"/>
                </a:ext>
              </a:extLst>
            </p:cNvPr>
            <p:cNvSpPr txBox="1"/>
            <p:nvPr/>
          </p:nvSpPr>
          <p:spPr>
            <a:xfrm>
              <a:off x="3982783" y="3921841"/>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rgbClr val="F0F0EF">
                      <a:lumMod val="10000"/>
                    </a:srgbClr>
                  </a:solidFill>
                  <a:effectLst/>
                  <a:uLnTx/>
                  <a:uFillTx/>
                  <a:ea typeface="+mn-ea"/>
                  <a:cs typeface="+mn-cs"/>
                </a:rPr>
                <a:t>Raw Data storage</a:t>
              </a:r>
            </a:p>
          </p:txBody>
        </p:sp>
        <p:sp>
          <p:nvSpPr>
            <p:cNvPr id="37" name="TextBox 36">
              <a:extLst>
                <a:ext uri="{FF2B5EF4-FFF2-40B4-BE49-F238E27FC236}">
                  <a16:creationId xmlns:a16="http://schemas.microsoft.com/office/drawing/2014/main" id="{2AA2D321-D0A5-9273-36C4-B6237D0478EF}"/>
                </a:ext>
              </a:extLst>
            </p:cNvPr>
            <p:cNvSpPr txBox="1"/>
            <p:nvPr/>
          </p:nvSpPr>
          <p:spPr>
            <a:xfrm>
              <a:off x="3982783" y="4240765"/>
              <a:ext cx="900000"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1" i="0" u="none" strike="noStrike" kern="1200" cap="none" spc="0" normalizeH="0" baseline="0" noProof="0">
                  <a:ln>
                    <a:noFill/>
                  </a:ln>
                  <a:solidFill>
                    <a:srgbClr val="A97142"/>
                  </a:solidFill>
                  <a:effectLst/>
                  <a:uLnTx/>
                  <a:uFillTx/>
                  <a:ea typeface="+mn-ea"/>
                  <a:cs typeface="+mn-cs"/>
                </a:rPr>
                <a:t>Bronze layer</a:t>
              </a:r>
              <a:endParaRPr kumimoji="0" lang="en-CA" sz="700" b="0" i="0" u="none" strike="noStrike" kern="1200" cap="none" spc="0" normalizeH="0" baseline="0" noProof="0">
                <a:ln>
                  <a:noFill/>
                </a:ln>
                <a:solidFill>
                  <a:srgbClr val="A97142"/>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rgbClr val="F0F0EF">
                      <a:lumMod val="10000"/>
                    </a:srgbClr>
                  </a:solidFill>
                  <a:effectLst/>
                  <a:uLnTx/>
                  <a:uFillTx/>
                  <a:ea typeface="+mn-ea"/>
                  <a:cs typeface="+mn-cs"/>
                </a:rPr>
                <a:t>(Data landing zone)</a:t>
              </a:r>
            </a:p>
          </p:txBody>
        </p:sp>
      </p:grpSp>
      <p:grpSp>
        <p:nvGrpSpPr>
          <p:cNvPr id="44" name="Group 43">
            <a:extLst>
              <a:ext uri="{FF2B5EF4-FFF2-40B4-BE49-F238E27FC236}">
                <a16:creationId xmlns:a16="http://schemas.microsoft.com/office/drawing/2014/main" id="{A713108C-628D-C0A2-861E-8CF4E62B5E8C}"/>
              </a:ext>
            </a:extLst>
          </p:cNvPr>
          <p:cNvGrpSpPr/>
          <p:nvPr/>
        </p:nvGrpSpPr>
        <p:grpSpPr>
          <a:xfrm>
            <a:off x="6218774" y="3921238"/>
            <a:ext cx="900000" cy="1008000"/>
            <a:chOff x="6254368" y="3921238"/>
            <a:chExt cx="900000" cy="1008000"/>
          </a:xfrm>
        </p:grpSpPr>
        <p:cxnSp>
          <p:nvCxnSpPr>
            <p:cNvPr id="1095" name="Straight Connector 1094">
              <a:extLst>
                <a:ext uri="{FF2B5EF4-FFF2-40B4-BE49-F238E27FC236}">
                  <a16:creationId xmlns:a16="http://schemas.microsoft.com/office/drawing/2014/main" id="{7B325240-F1DD-7E47-EAE5-B945A6304BA4}"/>
                </a:ext>
              </a:extLst>
            </p:cNvPr>
            <p:cNvCxnSpPr>
              <a:cxnSpLocks/>
            </p:cNvCxnSpPr>
            <p:nvPr/>
          </p:nvCxnSpPr>
          <p:spPr>
            <a:xfrm flipV="1">
              <a:off x="6416368" y="4240765"/>
              <a:ext cx="576000" cy="0"/>
            </a:xfrm>
            <a:prstGeom prst="line">
              <a:avLst/>
            </a:prstGeom>
          </p:spPr>
          <p:style>
            <a:lnRef idx="1">
              <a:schemeClr val="accent1"/>
            </a:lnRef>
            <a:fillRef idx="0">
              <a:schemeClr val="accent1"/>
            </a:fillRef>
            <a:effectRef idx="0">
              <a:schemeClr val="accent1"/>
            </a:effectRef>
            <a:fontRef idx="minor">
              <a:schemeClr val="tx1"/>
            </a:fontRef>
          </p:style>
        </p:cxnSp>
        <p:sp>
          <p:nvSpPr>
            <p:cNvPr id="1096" name="Rectangle 1095">
              <a:extLst>
                <a:ext uri="{FF2B5EF4-FFF2-40B4-BE49-F238E27FC236}">
                  <a16:creationId xmlns:a16="http://schemas.microsoft.com/office/drawing/2014/main" id="{0EE00946-3FB0-870F-4007-03B236179529}"/>
                </a:ext>
              </a:extLst>
            </p:cNvPr>
            <p:cNvSpPr/>
            <p:nvPr/>
          </p:nvSpPr>
          <p:spPr>
            <a:xfrm>
              <a:off x="6254368" y="3921238"/>
              <a:ext cx="900000" cy="1008000"/>
            </a:xfrm>
            <a:prstGeom prst="rect">
              <a:avLst/>
            </a:prstGeom>
            <a:solidFill>
              <a:schemeClr val="bg1">
                <a:lumMod val="95000"/>
              </a:schemeClr>
            </a:solidFill>
            <a:ln w="9525">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grpSp>
          <p:nvGrpSpPr>
            <p:cNvPr id="1097" name="Group 156">
              <a:extLst>
                <a:ext uri="{FF2B5EF4-FFF2-40B4-BE49-F238E27FC236}">
                  <a16:creationId xmlns:a16="http://schemas.microsoft.com/office/drawing/2014/main" id="{8FBAA813-24D2-D87B-FC53-7C8D68C043F0}"/>
                </a:ext>
              </a:extLst>
            </p:cNvPr>
            <p:cNvGrpSpPr>
              <a:grpSpLocks noChangeAspect="1"/>
            </p:cNvGrpSpPr>
            <p:nvPr/>
          </p:nvGrpSpPr>
          <p:grpSpPr bwMode="auto">
            <a:xfrm>
              <a:off x="6596112" y="4647837"/>
              <a:ext cx="216513" cy="216000"/>
              <a:chOff x="1373" y="1718"/>
              <a:chExt cx="427" cy="426"/>
            </a:xfrm>
            <a:solidFill>
              <a:srgbClr val="C0C0C0"/>
            </a:solidFill>
          </p:grpSpPr>
          <p:sp>
            <p:nvSpPr>
              <p:cNvPr id="1101" name="Freeform 157">
                <a:extLst>
                  <a:ext uri="{FF2B5EF4-FFF2-40B4-BE49-F238E27FC236}">
                    <a16:creationId xmlns:a16="http://schemas.microsoft.com/office/drawing/2014/main" id="{0D6C478F-F9BF-54E1-E940-17B5D5552F86}"/>
                  </a:ext>
                </a:extLst>
              </p:cNvPr>
              <p:cNvSpPr>
                <a:spLocks noEditPoints="1"/>
              </p:cNvSpPr>
              <p:nvPr/>
            </p:nvSpPr>
            <p:spPr bwMode="auto">
              <a:xfrm>
                <a:off x="1569" y="1913"/>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02" name="Freeform 158">
                <a:extLst>
                  <a:ext uri="{FF2B5EF4-FFF2-40B4-BE49-F238E27FC236}">
                    <a16:creationId xmlns:a16="http://schemas.microsoft.com/office/drawing/2014/main" id="{17ED7F1B-C1EF-AD5C-6822-57BC24612DC5}"/>
                  </a:ext>
                </a:extLst>
              </p:cNvPr>
              <p:cNvSpPr>
                <a:spLocks/>
              </p:cNvSpPr>
              <p:nvPr/>
            </p:nvSpPr>
            <p:spPr bwMode="auto">
              <a:xfrm>
                <a:off x="1621" y="1992"/>
                <a:ext cx="127" cy="87"/>
              </a:xfrm>
              <a:custGeom>
                <a:avLst/>
                <a:gdLst>
                  <a:gd name="T0" fmla="*/ 37 w 86"/>
                  <a:gd name="T1" fmla="*/ 59 h 59"/>
                  <a:gd name="T2" fmla="*/ 33 w 86"/>
                  <a:gd name="T3" fmla="*/ 57 h 59"/>
                  <a:gd name="T4" fmla="*/ 3 w 86"/>
                  <a:gd name="T5" fmla="*/ 27 h 59"/>
                  <a:gd name="T6" fmla="*/ 3 w 86"/>
                  <a:gd name="T7" fmla="*/ 18 h 59"/>
                  <a:gd name="T8" fmla="*/ 11 w 86"/>
                  <a:gd name="T9" fmla="*/ 18 h 59"/>
                  <a:gd name="T10" fmla="*/ 37 w 86"/>
                  <a:gd name="T11" fmla="*/ 44 h 59"/>
                  <a:gd name="T12" fmla="*/ 74 w 86"/>
                  <a:gd name="T13" fmla="*/ 3 h 59"/>
                  <a:gd name="T14" fmla="*/ 83 w 86"/>
                  <a:gd name="T15" fmla="*/ 2 h 59"/>
                  <a:gd name="T16" fmla="*/ 83 w 86"/>
                  <a:gd name="T17" fmla="*/ 11 h 59"/>
                  <a:gd name="T18" fmla="*/ 41 w 86"/>
                  <a:gd name="T19" fmla="*/ 57 h 59"/>
                  <a:gd name="T20" fmla="*/ 37 w 86"/>
                  <a:gd name="T21" fmla="*/ 59 h 59"/>
                  <a:gd name="T22" fmla="*/ 37 w 86"/>
                  <a:gd name="T23"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59">
                    <a:moveTo>
                      <a:pt x="37" y="59"/>
                    </a:moveTo>
                    <a:cubicBezTo>
                      <a:pt x="35" y="59"/>
                      <a:pt x="34" y="58"/>
                      <a:pt x="33" y="57"/>
                    </a:cubicBezTo>
                    <a:cubicBezTo>
                      <a:pt x="3" y="27"/>
                      <a:pt x="3" y="27"/>
                      <a:pt x="3" y="27"/>
                    </a:cubicBezTo>
                    <a:cubicBezTo>
                      <a:pt x="0" y="25"/>
                      <a:pt x="0" y="21"/>
                      <a:pt x="3" y="18"/>
                    </a:cubicBezTo>
                    <a:cubicBezTo>
                      <a:pt x="5" y="16"/>
                      <a:pt x="9" y="16"/>
                      <a:pt x="11" y="18"/>
                    </a:cubicBezTo>
                    <a:cubicBezTo>
                      <a:pt x="37" y="44"/>
                      <a:pt x="37" y="44"/>
                      <a:pt x="37" y="44"/>
                    </a:cubicBezTo>
                    <a:cubicBezTo>
                      <a:pt x="74" y="3"/>
                      <a:pt x="74" y="3"/>
                      <a:pt x="74" y="3"/>
                    </a:cubicBezTo>
                    <a:cubicBezTo>
                      <a:pt x="77" y="0"/>
                      <a:pt x="80" y="0"/>
                      <a:pt x="83" y="2"/>
                    </a:cubicBezTo>
                    <a:cubicBezTo>
                      <a:pt x="85" y="4"/>
                      <a:pt x="86" y="8"/>
                      <a:pt x="83" y="11"/>
                    </a:cubicBezTo>
                    <a:cubicBezTo>
                      <a:pt x="41" y="57"/>
                      <a:pt x="41" y="57"/>
                      <a:pt x="41" y="57"/>
                    </a:cubicBezTo>
                    <a:cubicBezTo>
                      <a:pt x="40" y="58"/>
                      <a:pt x="39" y="59"/>
                      <a:pt x="37" y="59"/>
                    </a:cubicBezTo>
                    <a:cubicBezTo>
                      <a:pt x="37" y="59"/>
                      <a:pt x="37" y="59"/>
                      <a:pt x="37"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03" name="Freeform 159">
                <a:extLst>
                  <a:ext uri="{FF2B5EF4-FFF2-40B4-BE49-F238E27FC236}">
                    <a16:creationId xmlns:a16="http://schemas.microsoft.com/office/drawing/2014/main" id="{BA29E546-37FF-6D5A-E31D-CA6882AB97DB}"/>
                  </a:ext>
                </a:extLst>
              </p:cNvPr>
              <p:cNvSpPr>
                <a:spLocks noEditPoints="1"/>
              </p:cNvSpPr>
              <p:nvPr/>
            </p:nvSpPr>
            <p:spPr bwMode="auto">
              <a:xfrm>
                <a:off x="1373" y="1718"/>
                <a:ext cx="356" cy="160"/>
              </a:xfrm>
              <a:custGeom>
                <a:avLst/>
                <a:gdLst>
                  <a:gd name="T0" fmla="*/ 120 w 240"/>
                  <a:gd name="T1" fmla="*/ 108 h 108"/>
                  <a:gd name="T2" fmla="*/ 0 w 240"/>
                  <a:gd name="T3" fmla="*/ 54 h 108"/>
                  <a:gd name="T4" fmla="*/ 120 w 240"/>
                  <a:gd name="T5" fmla="*/ 0 h 108"/>
                  <a:gd name="T6" fmla="*/ 240 w 240"/>
                  <a:gd name="T7" fmla="*/ 54 h 108"/>
                  <a:gd name="T8" fmla="*/ 120 w 240"/>
                  <a:gd name="T9" fmla="*/ 108 h 108"/>
                  <a:gd name="T10" fmla="*/ 120 w 240"/>
                  <a:gd name="T11" fmla="*/ 12 h 108"/>
                  <a:gd name="T12" fmla="*/ 12 w 240"/>
                  <a:gd name="T13" fmla="*/ 54 h 108"/>
                  <a:gd name="T14" fmla="*/ 120 w 240"/>
                  <a:gd name="T15" fmla="*/ 96 h 108"/>
                  <a:gd name="T16" fmla="*/ 228 w 240"/>
                  <a:gd name="T17" fmla="*/ 54 h 108"/>
                  <a:gd name="T18" fmla="*/ 120 w 240"/>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0" h="108">
                    <a:moveTo>
                      <a:pt x="120" y="108"/>
                    </a:moveTo>
                    <a:cubicBezTo>
                      <a:pt x="53" y="108"/>
                      <a:pt x="0" y="84"/>
                      <a:pt x="0" y="54"/>
                    </a:cubicBezTo>
                    <a:cubicBezTo>
                      <a:pt x="0" y="23"/>
                      <a:pt x="53" y="0"/>
                      <a:pt x="120" y="0"/>
                    </a:cubicBezTo>
                    <a:cubicBezTo>
                      <a:pt x="187" y="0"/>
                      <a:pt x="240" y="23"/>
                      <a:pt x="240" y="54"/>
                    </a:cubicBezTo>
                    <a:cubicBezTo>
                      <a:pt x="240" y="84"/>
                      <a:pt x="187" y="108"/>
                      <a:pt x="120" y="108"/>
                    </a:cubicBezTo>
                    <a:close/>
                    <a:moveTo>
                      <a:pt x="120" y="12"/>
                    </a:moveTo>
                    <a:cubicBezTo>
                      <a:pt x="56" y="12"/>
                      <a:pt x="12" y="34"/>
                      <a:pt x="12" y="54"/>
                    </a:cubicBezTo>
                    <a:cubicBezTo>
                      <a:pt x="12" y="74"/>
                      <a:pt x="56" y="96"/>
                      <a:pt x="120" y="96"/>
                    </a:cubicBezTo>
                    <a:cubicBezTo>
                      <a:pt x="183" y="96"/>
                      <a:pt x="228" y="74"/>
                      <a:pt x="228" y="54"/>
                    </a:cubicBezTo>
                    <a:cubicBezTo>
                      <a:pt x="228" y="34"/>
                      <a:pt x="183" y="12"/>
                      <a:pt x="1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04" name="Freeform 160">
                <a:extLst>
                  <a:ext uri="{FF2B5EF4-FFF2-40B4-BE49-F238E27FC236}">
                    <a16:creationId xmlns:a16="http://schemas.microsoft.com/office/drawing/2014/main" id="{C4675B8A-1050-C7E5-8004-692EB06B2676}"/>
                  </a:ext>
                </a:extLst>
              </p:cNvPr>
              <p:cNvSpPr>
                <a:spLocks/>
              </p:cNvSpPr>
              <p:nvPr/>
            </p:nvSpPr>
            <p:spPr bwMode="auto">
              <a:xfrm>
                <a:off x="1373" y="1860"/>
                <a:ext cx="187" cy="89"/>
              </a:xfrm>
              <a:custGeom>
                <a:avLst/>
                <a:gdLst>
                  <a:gd name="T0" fmla="*/ 120 w 126"/>
                  <a:gd name="T1" fmla="*/ 60 h 60"/>
                  <a:gd name="T2" fmla="*/ 0 w 126"/>
                  <a:gd name="T3" fmla="*/ 6 h 60"/>
                  <a:gd name="T4" fmla="*/ 6 w 126"/>
                  <a:gd name="T5" fmla="*/ 0 h 60"/>
                  <a:gd name="T6" fmla="*/ 12 w 126"/>
                  <a:gd name="T7" fmla="*/ 6 h 60"/>
                  <a:gd name="T8" fmla="*/ 120 w 126"/>
                  <a:gd name="T9" fmla="*/ 48 h 60"/>
                  <a:gd name="T10" fmla="*/ 126 w 126"/>
                  <a:gd name="T11" fmla="*/ 54 h 60"/>
                  <a:gd name="T12" fmla="*/ 120 w 126"/>
                  <a:gd name="T13" fmla="*/ 60 h 60"/>
                </a:gdLst>
                <a:ahLst/>
                <a:cxnLst>
                  <a:cxn ang="0">
                    <a:pos x="T0" y="T1"/>
                  </a:cxn>
                  <a:cxn ang="0">
                    <a:pos x="T2" y="T3"/>
                  </a:cxn>
                  <a:cxn ang="0">
                    <a:pos x="T4" y="T5"/>
                  </a:cxn>
                  <a:cxn ang="0">
                    <a:pos x="T6" y="T7"/>
                  </a:cxn>
                  <a:cxn ang="0">
                    <a:pos x="T8" y="T9"/>
                  </a:cxn>
                  <a:cxn ang="0">
                    <a:pos x="T10" y="T11"/>
                  </a:cxn>
                  <a:cxn ang="0">
                    <a:pos x="T12" y="T13"/>
                  </a:cxn>
                </a:cxnLst>
                <a:rect l="0" t="0" r="r" b="b"/>
                <a:pathLst>
                  <a:path w="126" h="60">
                    <a:moveTo>
                      <a:pt x="120" y="60"/>
                    </a:moveTo>
                    <a:cubicBezTo>
                      <a:pt x="53" y="60"/>
                      <a:pt x="0" y="36"/>
                      <a:pt x="0" y="6"/>
                    </a:cubicBezTo>
                    <a:cubicBezTo>
                      <a:pt x="0" y="2"/>
                      <a:pt x="3" y="0"/>
                      <a:pt x="6" y="0"/>
                    </a:cubicBezTo>
                    <a:cubicBezTo>
                      <a:pt x="9" y="0"/>
                      <a:pt x="12" y="2"/>
                      <a:pt x="12" y="6"/>
                    </a:cubicBezTo>
                    <a:cubicBezTo>
                      <a:pt x="12" y="26"/>
                      <a:pt x="56" y="48"/>
                      <a:pt x="120" y="48"/>
                    </a:cubicBezTo>
                    <a:cubicBezTo>
                      <a:pt x="123" y="48"/>
                      <a:pt x="126" y="50"/>
                      <a:pt x="126" y="54"/>
                    </a:cubicBezTo>
                    <a:cubicBezTo>
                      <a:pt x="126" y="57"/>
                      <a:pt x="123" y="60"/>
                      <a:pt x="120"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05" name="Freeform 161">
                <a:extLst>
                  <a:ext uri="{FF2B5EF4-FFF2-40B4-BE49-F238E27FC236}">
                    <a16:creationId xmlns:a16="http://schemas.microsoft.com/office/drawing/2014/main" id="{B4C32B7F-B7B2-85B0-61FA-A132C3066FB1}"/>
                  </a:ext>
                </a:extLst>
              </p:cNvPr>
              <p:cNvSpPr>
                <a:spLocks/>
              </p:cNvSpPr>
              <p:nvPr/>
            </p:nvSpPr>
            <p:spPr bwMode="auto">
              <a:xfrm>
                <a:off x="1373" y="1940"/>
                <a:ext cx="160" cy="87"/>
              </a:xfrm>
              <a:custGeom>
                <a:avLst/>
                <a:gdLst>
                  <a:gd name="T0" fmla="*/ 102 w 108"/>
                  <a:gd name="T1" fmla="*/ 59 h 59"/>
                  <a:gd name="T2" fmla="*/ 101 w 108"/>
                  <a:gd name="T3" fmla="*/ 59 h 59"/>
                  <a:gd name="T4" fmla="*/ 0 w 108"/>
                  <a:gd name="T5" fmla="*/ 6 h 59"/>
                  <a:gd name="T6" fmla="*/ 6 w 108"/>
                  <a:gd name="T7" fmla="*/ 0 h 59"/>
                  <a:gd name="T8" fmla="*/ 12 w 108"/>
                  <a:gd name="T9" fmla="*/ 6 h 59"/>
                  <a:gd name="T10" fmla="*/ 102 w 108"/>
                  <a:gd name="T11" fmla="*/ 47 h 59"/>
                  <a:gd name="T12" fmla="*/ 108 w 108"/>
                  <a:gd name="T13" fmla="*/ 53 h 59"/>
                  <a:gd name="T14" fmla="*/ 102 w 10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8" h="59">
                    <a:moveTo>
                      <a:pt x="102" y="59"/>
                    </a:moveTo>
                    <a:cubicBezTo>
                      <a:pt x="102" y="59"/>
                      <a:pt x="102" y="59"/>
                      <a:pt x="101" y="59"/>
                    </a:cubicBezTo>
                    <a:cubicBezTo>
                      <a:pt x="42" y="55"/>
                      <a:pt x="0" y="33"/>
                      <a:pt x="0" y="6"/>
                    </a:cubicBezTo>
                    <a:cubicBezTo>
                      <a:pt x="0" y="2"/>
                      <a:pt x="3" y="0"/>
                      <a:pt x="6" y="0"/>
                    </a:cubicBezTo>
                    <a:cubicBezTo>
                      <a:pt x="9" y="0"/>
                      <a:pt x="12" y="2"/>
                      <a:pt x="12" y="6"/>
                    </a:cubicBezTo>
                    <a:cubicBezTo>
                      <a:pt x="12" y="25"/>
                      <a:pt x="52" y="44"/>
                      <a:pt x="102" y="47"/>
                    </a:cubicBezTo>
                    <a:cubicBezTo>
                      <a:pt x="106" y="47"/>
                      <a:pt x="108" y="50"/>
                      <a:pt x="108" y="53"/>
                    </a:cubicBezTo>
                    <a:cubicBezTo>
                      <a:pt x="108" y="57"/>
                      <a:pt x="105" y="59"/>
                      <a:pt x="10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06" name="Freeform 162">
                <a:extLst>
                  <a:ext uri="{FF2B5EF4-FFF2-40B4-BE49-F238E27FC236}">
                    <a16:creationId xmlns:a16="http://schemas.microsoft.com/office/drawing/2014/main" id="{68936DEB-ABAB-F905-728E-B3E6BAE65E42}"/>
                  </a:ext>
                </a:extLst>
              </p:cNvPr>
              <p:cNvSpPr>
                <a:spLocks/>
              </p:cNvSpPr>
              <p:nvPr/>
            </p:nvSpPr>
            <p:spPr bwMode="auto">
              <a:xfrm>
                <a:off x="1373" y="1789"/>
                <a:ext cx="169" cy="318"/>
              </a:xfrm>
              <a:custGeom>
                <a:avLst/>
                <a:gdLst>
                  <a:gd name="T0" fmla="*/ 108 w 114"/>
                  <a:gd name="T1" fmla="*/ 215 h 215"/>
                  <a:gd name="T2" fmla="*/ 108 w 114"/>
                  <a:gd name="T3" fmla="*/ 215 h 215"/>
                  <a:gd name="T4" fmla="*/ 0 w 114"/>
                  <a:gd name="T5" fmla="*/ 162 h 215"/>
                  <a:gd name="T6" fmla="*/ 0 w 114"/>
                  <a:gd name="T7" fmla="*/ 6 h 215"/>
                  <a:gd name="T8" fmla="*/ 6 w 114"/>
                  <a:gd name="T9" fmla="*/ 0 h 215"/>
                  <a:gd name="T10" fmla="*/ 12 w 114"/>
                  <a:gd name="T11" fmla="*/ 6 h 215"/>
                  <a:gd name="T12" fmla="*/ 12 w 114"/>
                  <a:gd name="T13" fmla="*/ 162 h 215"/>
                  <a:gd name="T14" fmla="*/ 108 w 114"/>
                  <a:gd name="T15" fmla="*/ 203 h 215"/>
                  <a:gd name="T16" fmla="*/ 114 w 114"/>
                  <a:gd name="T17" fmla="*/ 210 h 215"/>
                  <a:gd name="T18" fmla="*/ 108 w 114"/>
                  <a:gd name="T19" fmla="*/ 215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215">
                    <a:moveTo>
                      <a:pt x="108" y="215"/>
                    </a:moveTo>
                    <a:cubicBezTo>
                      <a:pt x="108" y="215"/>
                      <a:pt x="108" y="215"/>
                      <a:pt x="108" y="215"/>
                    </a:cubicBezTo>
                    <a:cubicBezTo>
                      <a:pt x="45" y="213"/>
                      <a:pt x="0" y="190"/>
                      <a:pt x="0" y="162"/>
                    </a:cubicBezTo>
                    <a:cubicBezTo>
                      <a:pt x="0" y="6"/>
                      <a:pt x="0" y="6"/>
                      <a:pt x="0" y="6"/>
                    </a:cubicBezTo>
                    <a:cubicBezTo>
                      <a:pt x="0" y="2"/>
                      <a:pt x="3" y="0"/>
                      <a:pt x="6" y="0"/>
                    </a:cubicBezTo>
                    <a:cubicBezTo>
                      <a:pt x="9" y="0"/>
                      <a:pt x="12" y="2"/>
                      <a:pt x="12" y="6"/>
                    </a:cubicBezTo>
                    <a:cubicBezTo>
                      <a:pt x="12" y="162"/>
                      <a:pt x="12" y="162"/>
                      <a:pt x="12" y="162"/>
                    </a:cubicBezTo>
                    <a:cubicBezTo>
                      <a:pt x="12" y="180"/>
                      <a:pt x="49" y="201"/>
                      <a:pt x="108" y="203"/>
                    </a:cubicBezTo>
                    <a:cubicBezTo>
                      <a:pt x="111" y="204"/>
                      <a:pt x="114" y="206"/>
                      <a:pt x="114" y="210"/>
                    </a:cubicBezTo>
                    <a:cubicBezTo>
                      <a:pt x="114" y="213"/>
                      <a:pt x="111" y="215"/>
                      <a:pt x="10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sp>
            <p:nvSpPr>
              <p:cNvPr id="1107" name="Freeform 163">
                <a:extLst>
                  <a:ext uri="{FF2B5EF4-FFF2-40B4-BE49-F238E27FC236}">
                    <a16:creationId xmlns:a16="http://schemas.microsoft.com/office/drawing/2014/main" id="{A5335E01-2E94-0F1B-FC04-D4984E9261DF}"/>
                  </a:ext>
                </a:extLst>
              </p:cNvPr>
              <p:cNvSpPr>
                <a:spLocks/>
              </p:cNvSpPr>
              <p:nvPr/>
            </p:nvSpPr>
            <p:spPr bwMode="auto">
              <a:xfrm>
                <a:off x="1711" y="1789"/>
                <a:ext cx="18" cy="98"/>
              </a:xfrm>
              <a:custGeom>
                <a:avLst/>
                <a:gdLst>
                  <a:gd name="T0" fmla="*/ 6 w 12"/>
                  <a:gd name="T1" fmla="*/ 66 h 66"/>
                  <a:gd name="T2" fmla="*/ 0 w 12"/>
                  <a:gd name="T3" fmla="*/ 60 h 66"/>
                  <a:gd name="T4" fmla="*/ 0 w 12"/>
                  <a:gd name="T5" fmla="*/ 6 h 66"/>
                  <a:gd name="T6" fmla="*/ 6 w 12"/>
                  <a:gd name="T7" fmla="*/ 0 h 66"/>
                  <a:gd name="T8" fmla="*/ 12 w 12"/>
                  <a:gd name="T9" fmla="*/ 6 h 66"/>
                  <a:gd name="T10" fmla="*/ 12 w 12"/>
                  <a:gd name="T11" fmla="*/ 60 h 66"/>
                  <a:gd name="T12" fmla="*/ 6 w 12"/>
                  <a:gd name="T13" fmla="*/ 66 h 66"/>
                </a:gdLst>
                <a:ahLst/>
                <a:cxnLst>
                  <a:cxn ang="0">
                    <a:pos x="T0" y="T1"/>
                  </a:cxn>
                  <a:cxn ang="0">
                    <a:pos x="T2" y="T3"/>
                  </a:cxn>
                  <a:cxn ang="0">
                    <a:pos x="T4" y="T5"/>
                  </a:cxn>
                  <a:cxn ang="0">
                    <a:pos x="T6" y="T7"/>
                  </a:cxn>
                  <a:cxn ang="0">
                    <a:pos x="T8" y="T9"/>
                  </a:cxn>
                  <a:cxn ang="0">
                    <a:pos x="T10" y="T11"/>
                  </a:cxn>
                  <a:cxn ang="0">
                    <a:pos x="T12" y="T13"/>
                  </a:cxn>
                </a:cxnLst>
                <a:rect l="0" t="0" r="r" b="b"/>
                <a:pathLst>
                  <a:path w="12" h="66">
                    <a:moveTo>
                      <a:pt x="6" y="66"/>
                    </a:moveTo>
                    <a:cubicBezTo>
                      <a:pt x="3" y="66"/>
                      <a:pt x="0" y="63"/>
                      <a:pt x="0" y="60"/>
                    </a:cubicBezTo>
                    <a:cubicBezTo>
                      <a:pt x="0" y="6"/>
                      <a:pt x="0" y="6"/>
                      <a:pt x="0" y="6"/>
                    </a:cubicBezTo>
                    <a:cubicBezTo>
                      <a:pt x="0" y="2"/>
                      <a:pt x="3" y="0"/>
                      <a:pt x="6" y="0"/>
                    </a:cubicBezTo>
                    <a:cubicBezTo>
                      <a:pt x="9" y="0"/>
                      <a:pt x="12" y="2"/>
                      <a:pt x="12" y="6"/>
                    </a:cubicBezTo>
                    <a:cubicBezTo>
                      <a:pt x="12" y="60"/>
                      <a:pt x="12" y="60"/>
                      <a:pt x="12" y="60"/>
                    </a:cubicBezTo>
                    <a:cubicBezTo>
                      <a:pt x="12" y="63"/>
                      <a:pt x="9" y="66"/>
                      <a:pt x="6"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1800" b="0" i="0" u="none" strike="noStrike" kern="0" cap="none" spc="0" normalizeH="0" baseline="0" noProof="0">
                  <a:ln>
                    <a:noFill/>
                  </a:ln>
                  <a:solidFill>
                    <a:srgbClr val="000000"/>
                  </a:solidFill>
                  <a:effectLst/>
                  <a:uLnTx/>
                  <a:uFillTx/>
                  <a:ea typeface="+mn-ea"/>
                  <a:cs typeface="Arial" charset="0"/>
                </a:endParaRPr>
              </a:p>
            </p:txBody>
          </p:sp>
        </p:grpSp>
        <p:sp>
          <p:nvSpPr>
            <p:cNvPr id="1098" name="TextBox 1097">
              <a:extLst>
                <a:ext uri="{FF2B5EF4-FFF2-40B4-BE49-F238E27FC236}">
                  <a16:creationId xmlns:a16="http://schemas.microsoft.com/office/drawing/2014/main" id="{47F77701-E7ED-7F03-CEDE-0FAFAF2CD789}"/>
                </a:ext>
              </a:extLst>
            </p:cNvPr>
            <p:cNvSpPr txBox="1"/>
            <p:nvPr/>
          </p:nvSpPr>
          <p:spPr>
            <a:xfrm>
              <a:off x="6254368" y="3921841"/>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rgbClr val="F0F0EF">
                      <a:lumMod val="10000"/>
                    </a:srgbClr>
                  </a:solidFill>
                  <a:effectLst/>
                  <a:uLnTx/>
                  <a:uFillTx/>
                  <a:ea typeface="+mn-ea"/>
                  <a:cs typeface="+mn-cs"/>
                </a:rPr>
                <a:t>Standardized Data storage</a:t>
              </a:r>
            </a:p>
          </p:txBody>
        </p:sp>
        <p:cxnSp>
          <p:nvCxnSpPr>
            <p:cNvPr id="1100" name="Straight Connector 1099">
              <a:extLst>
                <a:ext uri="{FF2B5EF4-FFF2-40B4-BE49-F238E27FC236}">
                  <a16:creationId xmlns:a16="http://schemas.microsoft.com/office/drawing/2014/main" id="{CAE27ACB-2AFD-AEE8-D6FE-2359B2751055}"/>
                </a:ext>
              </a:extLst>
            </p:cNvPr>
            <p:cNvCxnSpPr>
              <a:cxnSpLocks/>
            </p:cNvCxnSpPr>
            <p:nvPr/>
          </p:nvCxnSpPr>
          <p:spPr>
            <a:xfrm flipV="1">
              <a:off x="6344368" y="4240765"/>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A9988A8-92EB-DA78-3745-C5BF7656DA35}"/>
                </a:ext>
              </a:extLst>
            </p:cNvPr>
            <p:cNvSpPr txBox="1"/>
            <p:nvPr/>
          </p:nvSpPr>
          <p:spPr>
            <a:xfrm>
              <a:off x="6254368" y="4240765"/>
              <a:ext cx="900000" cy="39586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1" i="0" u="none" strike="noStrike" kern="1200" cap="none" spc="0" normalizeH="0" baseline="0" noProof="0">
                  <a:ln>
                    <a:noFill/>
                  </a:ln>
                  <a:solidFill>
                    <a:srgbClr val="9F9F9F"/>
                  </a:solidFill>
                  <a:effectLst/>
                  <a:uLnTx/>
                  <a:uFillTx/>
                  <a:ea typeface="+mn-ea"/>
                  <a:cs typeface="+mn-cs"/>
                </a:rPr>
                <a:t>Silver layer</a:t>
              </a:r>
              <a:r>
                <a:rPr kumimoji="0" lang="en-CA" sz="700" b="0" i="0" u="none" strike="noStrike" kern="1200" cap="none" spc="0" normalizeH="0" baseline="0" noProof="0">
                  <a:ln>
                    <a:noFill/>
                  </a:ln>
                  <a:solidFill>
                    <a:srgbClr val="9F9F9F"/>
                  </a:solidFill>
                  <a:effectLst/>
                  <a:uLnTx/>
                  <a:uFillTx/>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rgbClr val="F0F0EF">
                      <a:lumMod val="10000"/>
                    </a:srgbClr>
                  </a:solidFill>
                  <a:effectLst/>
                  <a:uLnTx/>
                  <a:uFillTx/>
                  <a:ea typeface="+mn-ea"/>
                  <a:cs typeface="+mn-cs"/>
                </a:rPr>
                <a:t>(Cleansed &amp; conformed data)</a:t>
              </a:r>
            </a:p>
          </p:txBody>
        </p:sp>
      </p:grpSp>
      <p:grpSp>
        <p:nvGrpSpPr>
          <p:cNvPr id="45" name="Group 44">
            <a:extLst>
              <a:ext uri="{FF2B5EF4-FFF2-40B4-BE49-F238E27FC236}">
                <a16:creationId xmlns:a16="http://schemas.microsoft.com/office/drawing/2014/main" id="{D18DE23D-6C1D-5285-EB18-B1C112E7F0F7}"/>
              </a:ext>
            </a:extLst>
          </p:cNvPr>
          <p:cNvGrpSpPr/>
          <p:nvPr/>
        </p:nvGrpSpPr>
        <p:grpSpPr>
          <a:xfrm>
            <a:off x="8515302" y="3921238"/>
            <a:ext cx="900000" cy="1008000"/>
            <a:chOff x="8525952" y="3921238"/>
            <a:chExt cx="900000" cy="1008000"/>
          </a:xfrm>
        </p:grpSpPr>
        <p:cxnSp>
          <p:nvCxnSpPr>
            <p:cNvPr id="1116" name="Straight Connector 1115">
              <a:extLst>
                <a:ext uri="{FF2B5EF4-FFF2-40B4-BE49-F238E27FC236}">
                  <a16:creationId xmlns:a16="http://schemas.microsoft.com/office/drawing/2014/main" id="{CA460C2F-24E0-F404-0E08-D29EAA86D50E}"/>
                </a:ext>
              </a:extLst>
            </p:cNvPr>
            <p:cNvCxnSpPr>
              <a:cxnSpLocks/>
            </p:cNvCxnSpPr>
            <p:nvPr/>
          </p:nvCxnSpPr>
          <p:spPr>
            <a:xfrm flipV="1">
              <a:off x="8687952" y="4240765"/>
              <a:ext cx="576000" cy="0"/>
            </a:xfrm>
            <a:prstGeom prst="line">
              <a:avLst/>
            </a:prstGeom>
            <a:solidFill>
              <a:srgbClr val="FFFFC1"/>
            </a:solidFill>
          </p:spPr>
          <p:style>
            <a:lnRef idx="1">
              <a:schemeClr val="accent1"/>
            </a:lnRef>
            <a:fillRef idx="0">
              <a:schemeClr val="accent1"/>
            </a:fillRef>
            <a:effectRef idx="0">
              <a:schemeClr val="accent1"/>
            </a:effectRef>
            <a:fontRef idx="minor">
              <a:schemeClr val="tx1"/>
            </a:fontRef>
          </p:style>
        </p:cxnSp>
        <p:sp>
          <p:nvSpPr>
            <p:cNvPr id="1118" name="Rectangle 1117">
              <a:extLst>
                <a:ext uri="{FF2B5EF4-FFF2-40B4-BE49-F238E27FC236}">
                  <a16:creationId xmlns:a16="http://schemas.microsoft.com/office/drawing/2014/main" id="{26D22054-89B8-22AF-A96F-75DC3BAC4515}"/>
                </a:ext>
              </a:extLst>
            </p:cNvPr>
            <p:cNvSpPr/>
            <p:nvPr/>
          </p:nvSpPr>
          <p:spPr>
            <a:xfrm>
              <a:off x="8525952" y="3921238"/>
              <a:ext cx="900000" cy="1008000"/>
            </a:xfrm>
            <a:prstGeom prst="rect">
              <a:avLst/>
            </a:prstGeom>
            <a:solidFill>
              <a:srgbClr val="FFFFC1"/>
            </a:solidFill>
            <a:ln w="9525">
              <a:solidFill>
                <a:srgbClr val="E2AC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100" b="0" i="0" u="none" strike="noStrike" kern="1200" cap="none" spc="0" normalizeH="0" baseline="0" noProof="0">
                <a:ln>
                  <a:noFill/>
                </a:ln>
                <a:solidFill>
                  <a:srgbClr val="FFFFFF"/>
                </a:solidFill>
                <a:effectLst/>
                <a:uLnTx/>
                <a:uFillTx/>
                <a:ea typeface="+mn-ea"/>
                <a:cs typeface="+mn-cs"/>
              </a:endParaRPr>
            </a:p>
          </p:txBody>
        </p:sp>
        <p:sp>
          <p:nvSpPr>
            <p:cNvPr id="1119" name="TextBox 1118">
              <a:extLst>
                <a:ext uri="{FF2B5EF4-FFF2-40B4-BE49-F238E27FC236}">
                  <a16:creationId xmlns:a16="http://schemas.microsoft.com/office/drawing/2014/main" id="{2B2FB5FA-AB5C-F9A4-55BD-F0B3D8BE5808}"/>
                </a:ext>
              </a:extLst>
            </p:cNvPr>
            <p:cNvSpPr txBox="1"/>
            <p:nvPr/>
          </p:nvSpPr>
          <p:spPr>
            <a:xfrm>
              <a:off x="8525952" y="3921238"/>
              <a:ext cx="90000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rgbClr val="F0F0EF">
                      <a:lumMod val="10000"/>
                    </a:srgbClr>
                  </a:solidFill>
                  <a:effectLst/>
                  <a:uLnTx/>
                  <a:uFillTx/>
                  <a:ea typeface="+mn-ea"/>
                  <a:cs typeface="+mn-cs"/>
                </a:rPr>
                <a:t>Curated Data Storage</a:t>
              </a:r>
            </a:p>
          </p:txBody>
        </p:sp>
        <p:cxnSp>
          <p:nvCxnSpPr>
            <p:cNvPr id="1125" name="Straight Connector 1124">
              <a:extLst>
                <a:ext uri="{FF2B5EF4-FFF2-40B4-BE49-F238E27FC236}">
                  <a16:creationId xmlns:a16="http://schemas.microsoft.com/office/drawing/2014/main" id="{6E7A0EF9-0002-475D-C392-C5D2BD1DD893}"/>
                </a:ext>
              </a:extLst>
            </p:cNvPr>
            <p:cNvCxnSpPr>
              <a:cxnSpLocks/>
            </p:cNvCxnSpPr>
            <p:nvPr/>
          </p:nvCxnSpPr>
          <p:spPr>
            <a:xfrm flipV="1">
              <a:off x="8615952" y="4240162"/>
              <a:ext cx="720000"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27" name="Group 1126">
              <a:extLst>
                <a:ext uri="{FF2B5EF4-FFF2-40B4-BE49-F238E27FC236}">
                  <a16:creationId xmlns:a16="http://schemas.microsoft.com/office/drawing/2014/main" id="{F589E1C7-1785-85EC-02DE-039F51D4725A}"/>
                </a:ext>
              </a:extLst>
            </p:cNvPr>
            <p:cNvGrpSpPr/>
            <p:nvPr/>
          </p:nvGrpSpPr>
          <p:grpSpPr>
            <a:xfrm>
              <a:off x="8604954" y="4730820"/>
              <a:ext cx="741996" cy="180000"/>
              <a:chOff x="5696206" y="3021971"/>
              <a:chExt cx="741996" cy="180000"/>
            </a:xfrm>
          </p:grpSpPr>
          <p:sp>
            <p:nvSpPr>
              <p:cNvPr id="1129" name="Hexagon 1128">
                <a:extLst>
                  <a:ext uri="{FF2B5EF4-FFF2-40B4-BE49-F238E27FC236}">
                    <a16:creationId xmlns:a16="http://schemas.microsoft.com/office/drawing/2014/main" id="{C311A848-D2E7-B027-04A7-8113D3FE579E}"/>
                  </a:ext>
                </a:extLst>
              </p:cNvPr>
              <p:cNvSpPr>
                <a:spLocks noChangeAspect="1"/>
              </p:cNvSpPr>
              <p:nvPr/>
            </p:nvSpPr>
            <p:spPr>
              <a:xfrm rot="5400000">
                <a:off x="5703538"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298B68"/>
                  </a:solidFill>
                  <a:effectLst/>
                  <a:uLnTx/>
                  <a:uFillTx/>
                  <a:ea typeface="+mn-ea"/>
                  <a:cs typeface="+mn-cs"/>
                </a:endParaRPr>
              </a:p>
            </p:txBody>
          </p:sp>
          <p:sp>
            <p:nvSpPr>
              <p:cNvPr id="1130" name="Hexagon 1129">
                <a:extLst>
                  <a:ext uri="{FF2B5EF4-FFF2-40B4-BE49-F238E27FC236}">
                    <a16:creationId xmlns:a16="http://schemas.microsoft.com/office/drawing/2014/main" id="{62D9E939-06B0-8C82-956D-75A3BD1129CD}"/>
                  </a:ext>
                </a:extLst>
              </p:cNvPr>
              <p:cNvSpPr>
                <a:spLocks noChangeAspect="1"/>
              </p:cNvSpPr>
              <p:nvPr/>
            </p:nvSpPr>
            <p:spPr>
              <a:xfrm rot="5400000">
                <a:off x="5977204"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298B68"/>
                  </a:solidFill>
                  <a:effectLst/>
                  <a:uLnTx/>
                  <a:uFillTx/>
                  <a:ea typeface="+mn-ea"/>
                  <a:cs typeface="+mn-cs"/>
                </a:endParaRPr>
              </a:p>
            </p:txBody>
          </p:sp>
          <p:sp>
            <p:nvSpPr>
              <p:cNvPr id="1132" name="Hexagon 1131">
                <a:extLst>
                  <a:ext uri="{FF2B5EF4-FFF2-40B4-BE49-F238E27FC236}">
                    <a16:creationId xmlns:a16="http://schemas.microsoft.com/office/drawing/2014/main" id="{2FF44D9B-1301-0FBF-6A16-5228E46EB90F}"/>
                  </a:ext>
                </a:extLst>
              </p:cNvPr>
              <p:cNvSpPr>
                <a:spLocks noChangeAspect="1"/>
              </p:cNvSpPr>
              <p:nvPr/>
            </p:nvSpPr>
            <p:spPr>
              <a:xfrm rot="5400000">
                <a:off x="6250870"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298B68"/>
                  </a:solidFill>
                  <a:effectLst/>
                  <a:uLnTx/>
                  <a:uFillTx/>
                  <a:ea typeface="+mn-ea"/>
                  <a:cs typeface="+mn-cs"/>
                </a:endParaRPr>
              </a:p>
            </p:txBody>
          </p:sp>
        </p:grpSp>
        <p:sp>
          <p:nvSpPr>
            <p:cNvPr id="39" name="TextBox 38">
              <a:extLst>
                <a:ext uri="{FF2B5EF4-FFF2-40B4-BE49-F238E27FC236}">
                  <a16:creationId xmlns:a16="http://schemas.microsoft.com/office/drawing/2014/main" id="{259A3C5B-264C-FC4B-712D-F56EE4B881D0}"/>
                </a:ext>
              </a:extLst>
            </p:cNvPr>
            <p:cNvSpPr txBox="1"/>
            <p:nvPr/>
          </p:nvSpPr>
          <p:spPr>
            <a:xfrm>
              <a:off x="8525952" y="4240162"/>
              <a:ext cx="900000" cy="50359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36000" tIns="36000" r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1" i="0" u="none" strike="noStrike" kern="1200" cap="none" spc="0" normalizeH="0" baseline="0" noProof="0">
                  <a:ln>
                    <a:noFill/>
                  </a:ln>
                  <a:solidFill>
                    <a:srgbClr val="E2AC00"/>
                  </a:solidFill>
                  <a:effectLst/>
                  <a:uLnTx/>
                  <a:uFillTx/>
                  <a:ea typeface="+mn-ea"/>
                  <a:cs typeface="+mn-cs"/>
                </a:rPr>
                <a:t>Gold Layer</a:t>
              </a:r>
              <a:endParaRPr kumimoji="0" lang="en-CA" sz="700" b="0" i="0" u="none" strike="noStrike" kern="1200" cap="none" spc="0" normalizeH="0" baseline="0" noProof="0">
                <a:ln>
                  <a:noFill/>
                </a:ln>
                <a:solidFill>
                  <a:srgbClr val="E2AC00"/>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700" b="0" i="0" u="none" strike="noStrike" kern="1200" cap="none" spc="0" normalizeH="0" baseline="0" noProof="0">
                  <a:ln>
                    <a:noFill/>
                  </a:ln>
                  <a:solidFill>
                    <a:schemeClr val="tx1">
                      <a:lumMod val="50000"/>
                    </a:schemeClr>
                  </a:solidFill>
                  <a:effectLst/>
                  <a:uLnTx/>
                  <a:uFillTx/>
                  <a:ea typeface="+mn-ea"/>
                  <a:cs typeface="+mn-cs"/>
                </a:rPr>
                <a:t>Curated data products for analytical use</a:t>
              </a:r>
            </a:p>
          </p:txBody>
        </p:sp>
      </p:grpSp>
      <p:sp>
        <p:nvSpPr>
          <p:cNvPr id="16" name="Oval 15">
            <a:extLst>
              <a:ext uri="{FF2B5EF4-FFF2-40B4-BE49-F238E27FC236}">
                <a16:creationId xmlns:a16="http://schemas.microsoft.com/office/drawing/2014/main" id="{22961FAD-FD3F-DE15-456A-FAECAAA4F6FF}"/>
              </a:ext>
            </a:extLst>
          </p:cNvPr>
          <p:cNvSpPr>
            <a:spLocks noChangeAspect="1"/>
          </p:cNvSpPr>
          <p:nvPr/>
        </p:nvSpPr>
        <p:spPr>
          <a:xfrm>
            <a:off x="2770275" y="4566858"/>
            <a:ext cx="252000" cy="252000"/>
          </a:xfrm>
          <a:prstGeom prst="ellipse">
            <a:avLst/>
          </a:prstGeom>
          <a:solidFill>
            <a:schemeClr val="bg1"/>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A20A28"/>
                </a:solidFill>
                <a:effectLst/>
                <a:uLnTx/>
                <a:uFillTx/>
                <a:ea typeface="+mn-ea"/>
                <a:cs typeface="+mn-cs"/>
              </a:rPr>
              <a:t>1</a:t>
            </a:r>
          </a:p>
        </p:txBody>
      </p:sp>
      <p:sp>
        <p:nvSpPr>
          <p:cNvPr id="9" name="TextBox 8">
            <a:extLst>
              <a:ext uri="{FF2B5EF4-FFF2-40B4-BE49-F238E27FC236}">
                <a16:creationId xmlns:a16="http://schemas.microsoft.com/office/drawing/2014/main" id="{F8F14716-7EB0-1EE9-FD55-2BFB49D11F10}"/>
              </a:ext>
            </a:extLst>
          </p:cNvPr>
          <p:cNvSpPr txBox="1"/>
          <p:nvPr/>
        </p:nvSpPr>
        <p:spPr>
          <a:xfrm>
            <a:off x="2145015" y="4838950"/>
            <a:ext cx="1502520" cy="972000"/>
          </a:xfrm>
          <a:prstGeom prst="roundRect">
            <a:avLst>
              <a:gd name="adj" fmla="val 3601"/>
            </a:avLst>
          </a:prstGeom>
          <a:solidFill>
            <a:schemeClr val="bg1"/>
          </a:solidFill>
          <a:ln w="19050" cap="flat" cmpd="sng" algn="ctr">
            <a:solidFill>
              <a:schemeClr val="tx2"/>
            </a:solidFill>
            <a:prstDash val="dash"/>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800" b="1" i="0" u="none" strike="noStrike" kern="1200" cap="none" spc="0" normalizeH="0" baseline="0" noProof="0">
                <a:ln>
                  <a:noFill/>
                </a:ln>
                <a:solidFill>
                  <a:srgbClr val="F0F0EF">
                    <a:lumMod val="10000"/>
                  </a:srgbClr>
                </a:solidFill>
                <a:effectLst/>
                <a:uLnTx/>
                <a:uFillTx/>
              </a:rPr>
              <a:t>Preferred method </a:t>
            </a:r>
            <a:r>
              <a:rPr kumimoji="0" lang="en-CA" sz="800" b="0" i="0" u="none" strike="noStrike" kern="1200" cap="none" spc="0" normalizeH="0" baseline="0" noProof="0">
                <a:ln>
                  <a:noFill/>
                </a:ln>
                <a:solidFill>
                  <a:srgbClr val="F0F0EF">
                    <a:lumMod val="10000"/>
                  </a:srgbClr>
                </a:solidFill>
                <a:effectLst/>
                <a:uLnTx/>
                <a:uFillTx/>
              </a:rPr>
              <a:t>of ingesting cross segment data into NORTH is via </a:t>
            </a:r>
            <a:r>
              <a:rPr lang="en-CA" sz="800" noProof="0">
                <a:solidFill>
                  <a:srgbClr val="F0F0EF">
                    <a:lumMod val="10000"/>
                  </a:srgbClr>
                </a:solidFill>
              </a:rPr>
              <a:t>Query Federation with the segment’s Data Platforms unless technically not feasible.</a:t>
            </a:r>
            <a:endParaRPr kumimoji="0" lang="en-CA" sz="800" b="0" i="0" u="none" strike="noStrike" kern="1200" cap="none" spc="0" normalizeH="0" baseline="0" noProof="0">
              <a:ln>
                <a:noFill/>
              </a:ln>
              <a:solidFill>
                <a:srgbClr val="F0F0EF">
                  <a:lumMod val="10000"/>
                </a:srgbClr>
              </a:solidFill>
              <a:effectLst/>
              <a:uLnTx/>
              <a:uFillTx/>
            </a:endParaRPr>
          </a:p>
        </p:txBody>
      </p:sp>
      <p:grpSp>
        <p:nvGrpSpPr>
          <p:cNvPr id="21" name="Group 20">
            <a:extLst>
              <a:ext uri="{FF2B5EF4-FFF2-40B4-BE49-F238E27FC236}">
                <a16:creationId xmlns:a16="http://schemas.microsoft.com/office/drawing/2014/main" id="{B33EC155-3113-E2BB-9113-BAF396C8630A}"/>
              </a:ext>
            </a:extLst>
          </p:cNvPr>
          <p:cNvGrpSpPr/>
          <p:nvPr/>
        </p:nvGrpSpPr>
        <p:grpSpPr>
          <a:xfrm>
            <a:off x="8594304" y="2725450"/>
            <a:ext cx="741996" cy="180000"/>
            <a:chOff x="5696206" y="3021971"/>
            <a:chExt cx="741996" cy="180000"/>
          </a:xfrm>
        </p:grpSpPr>
        <p:sp>
          <p:nvSpPr>
            <p:cNvPr id="23" name="Hexagon 22">
              <a:extLst>
                <a:ext uri="{FF2B5EF4-FFF2-40B4-BE49-F238E27FC236}">
                  <a16:creationId xmlns:a16="http://schemas.microsoft.com/office/drawing/2014/main" id="{4793050E-4F55-8031-F3C7-31E9CC24A63C}"/>
                </a:ext>
              </a:extLst>
            </p:cNvPr>
            <p:cNvSpPr>
              <a:spLocks noChangeAspect="1"/>
            </p:cNvSpPr>
            <p:nvPr/>
          </p:nvSpPr>
          <p:spPr>
            <a:xfrm rot="5400000">
              <a:off x="5703538"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298B68"/>
                </a:solidFill>
                <a:effectLst/>
                <a:uLnTx/>
                <a:uFillTx/>
                <a:ea typeface="+mn-ea"/>
                <a:cs typeface="+mn-cs"/>
              </a:endParaRPr>
            </a:p>
          </p:txBody>
        </p:sp>
        <p:sp>
          <p:nvSpPr>
            <p:cNvPr id="27" name="Hexagon 26">
              <a:extLst>
                <a:ext uri="{FF2B5EF4-FFF2-40B4-BE49-F238E27FC236}">
                  <a16:creationId xmlns:a16="http://schemas.microsoft.com/office/drawing/2014/main" id="{847EACFB-D8C5-4DFB-8FF5-4123E9E9617D}"/>
                </a:ext>
              </a:extLst>
            </p:cNvPr>
            <p:cNvSpPr>
              <a:spLocks noChangeAspect="1"/>
            </p:cNvSpPr>
            <p:nvPr/>
          </p:nvSpPr>
          <p:spPr>
            <a:xfrm rot="5400000">
              <a:off x="5977204"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298B68"/>
                </a:solidFill>
                <a:effectLst/>
                <a:uLnTx/>
                <a:uFillTx/>
                <a:ea typeface="+mn-ea"/>
                <a:cs typeface="+mn-cs"/>
              </a:endParaRPr>
            </a:p>
          </p:txBody>
        </p:sp>
        <p:sp>
          <p:nvSpPr>
            <p:cNvPr id="31" name="Hexagon 30">
              <a:extLst>
                <a:ext uri="{FF2B5EF4-FFF2-40B4-BE49-F238E27FC236}">
                  <a16:creationId xmlns:a16="http://schemas.microsoft.com/office/drawing/2014/main" id="{4CA503C9-8AED-4E64-A383-60B4382CB33E}"/>
                </a:ext>
              </a:extLst>
            </p:cNvPr>
            <p:cNvSpPr>
              <a:spLocks noChangeAspect="1"/>
            </p:cNvSpPr>
            <p:nvPr/>
          </p:nvSpPr>
          <p:spPr>
            <a:xfrm rot="5400000">
              <a:off x="6250870" y="3014639"/>
              <a:ext cx="180000" cy="194664"/>
            </a:xfrm>
            <a:prstGeom prst="hexagon">
              <a:avLst/>
            </a:prstGeom>
            <a:solidFill>
              <a:srgbClr val="D3EADE"/>
            </a:solidFill>
            <a:ln w="9525">
              <a:solidFill>
                <a:srgbClr val="037348"/>
              </a:solidFill>
            </a:ln>
            <a:effectLst>
              <a:outerShdw blurRad="50800" dist="38100" dir="2700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000" b="0" i="0" u="none" strike="noStrike" kern="1200" cap="none" spc="0" normalizeH="0" baseline="0" noProof="0">
                <a:ln>
                  <a:noFill/>
                </a:ln>
                <a:solidFill>
                  <a:srgbClr val="298B68"/>
                </a:solidFill>
                <a:effectLst/>
                <a:uLnTx/>
                <a:uFillTx/>
                <a:ea typeface="+mn-ea"/>
                <a:cs typeface="+mn-cs"/>
              </a:endParaRPr>
            </a:p>
          </p:txBody>
        </p:sp>
      </p:grpSp>
      <p:sp>
        <p:nvSpPr>
          <p:cNvPr id="11" name="TextBox 10">
            <a:extLst>
              <a:ext uri="{FF2B5EF4-FFF2-40B4-BE49-F238E27FC236}">
                <a16:creationId xmlns:a16="http://schemas.microsoft.com/office/drawing/2014/main" id="{0608BE92-3BBD-4349-1EA6-FF400B894567}"/>
              </a:ext>
            </a:extLst>
          </p:cNvPr>
          <p:cNvSpPr txBox="1"/>
          <p:nvPr/>
        </p:nvSpPr>
        <p:spPr>
          <a:xfrm>
            <a:off x="3555565" y="844039"/>
            <a:ext cx="6096000" cy="261610"/>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en-CA" sz="1050" b="1" noProof="0">
                <a:solidFill>
                  <a:schemeClr val="accent1"/>
                </a:solidFill>
              </a:rPr>
              <a:t>Illustrative example</a:t>
            </a:r>
          </a:p>
        </p:txBody>
      </p:sp>
    </p:spTree>
    <p:extLst>
      <p:ext uri="{BB962C8B-B14F-4D97-AF65-F5344CB8AC3E}">
        <p14:creationId xmlns:p14="http://schemas.microsoft.com/office/powerpoint/2010/main" val="3711294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A015B-754E-8828-3511-E5B418649D2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CDACDF9-C54E-6C9E-6BFB-876801314439}"/>
              </a:ext>
            </a:extLst>
          </p:cNvPr>
          <p:cNvSpPr>
            <a:spLocks noGrp="1"/>
          </p:cNvSpPr>
          <p:nvPr>
            <p:ph type="title"/>
          </p:nvPr>
        </p:nvSpPr>
        <p:spPr/>
        <p:txBody>
          <a:bodyPr/>
          <a:lstStyle/>
          <a:p>
            <a:r>
              <a:rPr lang="en-CA" noProof="0">
                <a:latin typeface="+mj-lt"/>
              </a:rPr>
              <a:t>Enterprise Data Domains</a:t>
            </a:r>
          </a:p>
        </p:txBody>
      </p:sp>
      <p:sp>
        <p:nvSpPr>
          <p:cNvPr id="8" name="Text Placeholder 7">
            <a:extLst>
              <a:ext uri="{FF2B5EF4-FFF2-40B4-BE49-F238E27FC236}">
                <a16:creationId xmlns:a16="http://schemas.microsoft.com/office/drawing/2014/main" id="{A744CD3B-DAD8-14AE-3D16-ECCBEAF7C43F}"/>
              </a:ext>
            </a:extLst>
          </p:cNvPr>
          <p:cNvSpPr>
            <a:spLocks noGrp="1"/>
          </p:cNvSpPr>
          <p:nvPr>
            <p:ph type="body" idx="1"/>
          </p:nvPr>
        </p:nvSpPr>
        <p:spPr/>
        <p:txBody>
          <a:bodyPr/>
          <a:lstStyle/>
          <a:p>
            <a:r>
              <a:rPr lang="en-CA" noProof="0">
                <a:latin typeface="+mj-lt"/>
              </a:rPr>
              <a:t> </a:t>
            </a:r>
          </a:p>
        </p:txBody>
      </p:sp>
      <p:sp>
        <p:nvSpPr>
          <p:cNvPr id="4" name="Date Placeholder 3">
            <a:extLst>
              <a:ext uri="{FF2B5EF4-FFF2-40B4-BE49-F238E27FC236}">
                <a16:creationId xmlns:a16="http://schemas.microsoft.com/office/drawing/2014/main" id="{10159F64-63D3-E3AD-A427-A543CDE0F249}"/>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11EAE-16B7-464E-91D8-413C5CE9C268}" type="datetime4">
              <a:rPr kumimoji="0" lang="en-CA" sz="900" b="0" i="0" u="none" strike="noStrike" kern="1200" cap="none" spc="0" normalizeH="0" baseline="0" noProof="0" smtClean="0">
                <a:ln>
                  <a:noFill/>
                </a:ln>
                <a:solidFill>
                  <a:srgbClr val="515146">
                    <a:tint val="75000"/>
                  </a:srgbClr>
                </a:solidFill>
                <a:effectLst/>
                <a:uLnTx/>
                <a:uFillTx/>
                <a:latin typeface="+mj-lt"/>
              </a:rPr>
              <a:pPr marL="0" marR="0" lvl="0" indent="0" algn="r" defTabSz="914400" rtl="0" eaLnBrk="1" fontAlgn="auto" latinLnBrk="0" hangingPunct="1">
                <a:lnSpc>
                  <a:spcPct val="100000"/>
                </a:lnSpc>
                <a:spcBef>
                  <a:spcPts val="0"/>
                </a:spcBef>
                <a:spcAft>
                  <a:spcPts val="0"/>
                </a:spcAft>
                <a:buClrTx/>
                <a:buSzTx/>
                <a:buFontTx/>
                <a:buNone/>
                <a:tabLst/>
                <a:defRPr/>
              </a:pPr>
              <a:t>August 10, 2026</a:t>
            </a:fld>
            <a:endParaRPr kumimoji="0" lang="en-CA" sz="900" b="0" i="0" u="none" strike="noStrike" kern="1200" cap="none" spc="0" normalizeH="0" baseline="0" noProof="0">
              <a:ln>
                <a:noFill/>
              </a:ln>
              <a:solidFill>
                <a:srgbClr val="515146">
                  <a:tint val="75000"/>
                </a:srgbClr>
              </a:solidFill>
              <a:effectLst/>
              <a:uLnTx/>
              <a:uFillTx/>
              <a:latin typeface="+mj-lt"/>
            </a:endParaRPr>
          </a:p>
        </p:txBody>
      </p:sp>
      <p:sp>
        <p:nvSpPr>
          <p:cNvPr id="5" name="Footer Placeholder 4">
            <a:extLst>
              <a:ext uri="{FF2B5EF4-FFF2-40B4-BE49-F238E27FC236}">
                <a16:creationId xmlns:a16="http://schemas.microsoft.com/office/drawing/2014/main" id="{6A245642-86E1-0D12-CA25-B6DE1474D13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515146">
                    <a:tint val="75000"/>
                  </a:srgbClr>
                </a:solidFill>
                <a:effectLst/>
                <a:uLnTx/>
                <a:uFillTx/>
                <a:latin typeface="+mj-lt"/>
              </a:rPr>
              <a:t> </a:t>
            </a:r>
          </a:p>
        </p:txBody>
      </p:sp>
      <p:sp>
        <p:nvSpPr>
          <p:cNvPr id="6" name="Slide Number Placeholder 5">
            <a:extLst>
              <a:ext uri="{FF2B5EF4-FFF2-40B4-BE49-F238E27FC236}">
                <a16:creationId xmlns:a16="http://schemas.microsoft.com/office/drawing/2014/main" id="{97D249AB-6F0E-6BB2-3FE4-3C2DBB1F974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CBD822F-ED39-4FC2-B5B5-D2EAB6238DC3}" type="slidenum">
              <a:rPr kumimoji="0" lang="en-CA" sz="900" b="0" i="0" u="none" strike="noStrike" kern="1200" cap="none" spc="0" normalizeH="0" baseline="0" noProof="0" smtClean="0">
                <a:ln>
                  <a:noFill/>
                </a:ln>
                <a:solidFill>
                  <a:srgbClr val="515146">
                    <a:tint val="75000"/>
                  </a:srgbClr>
                </a:solidFill>
                <a:effectLst/>
                <a:uLnTx/>
                <a:uFillTx/>
                <a:latin typeface="+mn-lt"/>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CA" sz="900" b="0" i="0" u="none" strike="noStrike" kern="1200" cap="none" spc="0" normalizeH="0" baseline="0" noProof="0">
              <a:ln>
                <a:noFill/>
              </a:ln>
              <a:solidFill>
                <a:srgbClr val="515146">
                  <a:tint val="75000"/>
                </a:srgbClr>
              </a:solidFill>
              <a:effectLst/>
              <a:uLnTx/>
              <a:uFillTx/>
              <a:latin typeface="+mn-lt"/>
            </a:endParaRPr>
          </a:p>
        </p:txBody>
      </p:sp>
    </p:spTree>
    <p:extLst>
      <p:ext uri="{BB962C8B-B14F-4D97-AF65-F5344CB8AC3E}">
        <p14:creationId xmlns:p14="http://schemas.microsoft.com/office/powerpoint/2010/main" val="4258250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11CF4-33CB-C6D9-1EDF-530FB2A6E3BE}"/>
              </a:ext>
            </a:extLst>
          </p:cNvPr>
          <p:cNvSpPr>
            <a:spLocks noGrp="1"/>
          </p:cNvSpPr>
          <p:nvPr>
            <p:ph type="title"/>
          </p:nvPr>
        </p:nvSpPr>
        <p:spPr>
          <a:xfrm>
            <a:off x="192024" y="192695"/>
            <a:ext cx="11412000" cy="405102"/>
          </a:xfrm>
        </p:spPr>
        <p:txBody>
          <a:bodyPr/>
          <a:lstStyle/>
          <a:p>
            <a:r>
              <a:rPr lang="en-CA" b="1" noProof="0">
                <a:latin typeface="+mj-lt"/>
              </a:rPr>
              <a:t>3.1 Enterprise Information Model - Domains</a:t>
            </a:r>
          </a:p>
        </p:txBody>
      </p:sp>
      <p:sp>
        <p:nvSpPr>
          <p:cNvPr id="3" name="Slide Number Placeholder 2">
            <a:extLst>
              <a:ext uri="{FF2B5EF4-FFF2-40B4-BE49-F238E27FC236}">
                <a16:creationId xmlns:a16="http://schemas.microsoft.com/office/drawing/2014/main" id="{D677A85D-17C1-2A22-C0C4-2808D680C815}"/>
              </a:ext>
            </a:extLst>
          </p:cNvPr>
          <p:cNvSpPr>
            <a:spLocks noGrp="1"/>
          </p:cNvSpPr>
          <p:nvPr>
            <p:ph type="sldNum" sz="quarter" idx="12"/>
          </p:nvPr>
        </p:nvSpPr>
        <p:spPr/>
        <p:txBody>
          <a:bodyPr/>
          <a:lstStyle/>
          <a:p>
            <a:fld id="{3CBD822F-ED39-4FC2-B5B5-D2EAB6238DC3}" type="slidenum">
              <a:rPr lang="en-CA" noProof="0" smtClean="0">
                <a:latin typeface="+mn-lt"/>
              </a:rPr>
              <a:pPr/>
              <a:t>17</a:t>
            </a:fld>
            <a:endParaRPr lang="en-CA" noProof="0">
              <a:latin typeface="+mn-lt"/>
            </a:endParaRPr>
          </a:p>
        </p:txBody>
      </p:sp>
      <p:sp>
        <p:nvSpPr>
          <p:cNvPr id="4" name="Text Placeholder 3">
            <a:extLst>
              <a:ext uri="{FF2B5EF4-FFF2-40B4-BE49-F238E27FC236}">
                <a16:creationId xmlns:a16="http://schemas.microsoft.com/office/drawing/2014/main" id="{ED4E0530-62E2-B7EC-FCB8-11B24BB37CFE}"/>
              </a:ext>
            </a:extLst>
          </p:cNvPr>
          <p:cNvSpPr>
            <a:spLocks noGrp="1"/>
          </p:cNvSpPr>
          <p:nvPr>
            <p:ph type="body" sz="quarter" idx="13"/>
          </p:nvPr>
        </p:nvSpPr>
        <p:spPr>
          <a:xfrm>
            <a:off x="282774" y="609788"/>
            <a:ext cx="11230500" cy="503590"/>
          </a:xfrm>
        </p:spPr>
        <p:txBody>
          <a:bodyPr/>
          <a:lstStyle/>
          <a:p>
            <a:r>
              <a:rPr lang="en-CA" noProof="0">
                <a:latin typeface="+mn-lt"/>
                <a:ea typeface="Arial" pitchFamily="34" charset="-122"/>
                <a:cs typeface="Arial" pitchFamily="34" charset="-120"/>
              </a:rPr>
              <a:t>All data across Canada Life is organized into 9 data domains with a shared business language to classify, govern, and align data across the enterprise</a:t>
            </a:r>
            <a:endParaRPr lang="en-CA" noProof="0">
              <a:latin typeface="+mn-lt"/>
            </a:endParaRPr>
          </a:p>
        </p:txBody>
      </p:sp>
      <p:sp>
        <p:nvSpPr>
          <p:cNvPr id="6" name="Rectangle: Rounded Corners 5">
            <a:extLst>
              <a:ext uri="{FF2B5EF4-FFF2-40B4-BE49-F238E27FC236}">
                <a16:creationId xmlns:a16="http://schemas.microsoft.com/office/drawing/2014/main" id="{518AC332-4168-584C-49D8-164495FE8790}"/>
              </a:ext>
            </a:extLst>
          </p:cNvPr>
          <p:cNvSpPr/>
          <p:nvPr/>
        </p:nvSpPr>
        <p:spPr>
          <a:xfrm>
            <a:off x="571499" y="1330260"/>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5" name="Rectangle: Rounded Corners 4">
            <a:extLst>
              <a:ext uri="{FF2B5EF4-FFF2-40B4-BE49-F238E27FC236}">
                <a16:creationId xmlns:a16="http://schemas.microsoft.com/office/drawing/2014/main" id="{C5CB9622-33FF-DE9E-69C4-0ABD86C72054}"/>
              </a:ext>
            </a:extLst>
          </p:cNvPr>
          <p:cNvSpPr/>
          <p:nvPr/>
        </p:nvSpPr>
        <p:spPr>
          <a:xfrm>
            <a:off x="571499" y="1330260"/>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t>Party</a:t>
            </a:r>
            <a:endParaRPr lang="en-CA" sz="900" b="1" noProof="0"/>
          </a:p>
        </p:txBody>
      </p:sp>
      <p:sp>
        <p:nvSpPr>
          <p:cNvPr id="8" name="TextBox 7">
            <a:extLst>
              <a:ext uri="{FF2B5EF4-FFF2-40B4-BE49-F238E27FC236}">
                <a16:creationId xmlns:a16="http://schemas.microsoft.com/office/drawing/2014/main" id="{662DB809-4AED-1A08-DD3C-BC93CB54B7B7}"/>
              </a:ext>
            </a:extLst>
          </p:cNvPr>
          <p:cNvSpPr txBox="1"/>
          <p:nvPr/>
        </p:nvSpPr>
        <p:spPr>
          <a:xfrm>
            <a:off x="571499" y="1618260"/>
            <a:ext cx="3600000" cy="68825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noProof="0">
                <a:solidFill>
                  <a:schemeClr val="bg2">
                    <a:lumMod val="10000"/>
                  </a:schemeClr>
                </a:solidFill>
                <a:ea typeface="Arial" pitchFamily="34" charset="-122"/>
                <a:cs typeface="Arial" pitchFamily="34" charset="-120"/>
              </a:rPr>
              <a:t>A person, organization, or legal entity that participates in business activities (e.g., </a:t>
            </a:r>
            <a:r>
              <a:rPr lang="en-CA" sz="1000" b="1" noProof="0">
                <a:solidFill>
                  <a:schemeClr val="bg2">
                    <a:lumMod val="10000"/>
                  </a:schemeClr>
                </a:solidFill>
                <a:ea typeface="Arial" pitchFamily="34" charset="-122"/>
                <a:cs typeface="Arial" pitchFamily="34" charset="-120"/>
              </a:rPr>
              <a:t>Customer</a:t>
            </a:r>
            <a:r>
              <a:rPr lang="en-CA" sz="1000" noProof="0">
                <a:solidFill>
                  <a:schemeClr val="bg2">
                    <a:lumMod val="10000"/>
                  </a:schemeClr>
                </a:solidFill>
                <a:ea typeface="Arial" pitchFamily="34" charset="-122"/>
                <a:cs typeface="Arial" pitchFamily="34" charset="-120"/>
              </a:rPr>
              <a:t>, </a:t>
            </a:r>
            <a:r>
              <a:rPr lang="en-CA" sz="1000" b="1" noProof="0">
                <a:solidFill>
                  <a:schemeClr val="bg2">
                    <a:lumMod val="10000"/>
                  </a:schemeClr>
                </a:solidFill>
                <a:ea typeface="Arial" pitchFamily="34" charset="-122"/>
                <a:cs typeface="Arial" pitchFamily="34" charset="-120"/>
              </a:rPr>
              <a:t>Advisor</a:t>
            </a:r>
            <a:r>
              <a:rPr lang="en-CA" sz="1000" noProof="0">
                <a:solidFill>
                  <a:schemeClr val="bg2">
                    <a:lumMod val="10000"/>
                  </a:schemeClr>
                </a:solidFill>
                <a:ea typeface="Arial" pitchFamily="34" charset="-122"/>
                <a:cs typeface="Arial" pitchFamily="34" charset="-120"/>
              </a:rPr>
              <a:t>, </a:t>
            </a:r>
            <a:r>
              <a:rPr lang="en-CA" sz="1000" b="1" noProof="0">
                <a:solidFill>
                  <a:schemeClr val="bg2">
                    <a:lumMod val="10000"/>
                  </a:schemeClr>
                </a:solidFill>
                <a:ea typeface="Arial" pitchFamily="34" charset="-122"/>
                <a:cs typeface="Arial" pitchFamily="34" charset="-120"/>
              </a:rPr>
              <a:t>Sponsor</a:t>
            </a:r>
            <a:r>
              <a:rPr lang="en-CA" sz="1000" noProof="0">
                <a:solidFill>
                  <a:schemeClr val="bg2">
                    <a:lumMod val="10000"/>
                  </a:schemeClr>
                </a:solidFill>
                <a:ea typeface="Arial" pitchFamily="34" charset="-122"/>
                <a:cs typeface="Arial" pitchFamily="34" charset="-120"/>
              </a:rPr>
              <a:t>, </a:t>
            </a:r>
            <a:r>
              <a:rPr lang="en-CA" sz="1000" b="1" noProof="0">
                <a:solidFill>
                  <a:schemeClr val="bg2">
                    <a:lumMod val="10000"/>
                  </a:schemeClr>
                </a:solidFill>
                <a:ea typeface="Arial" pitchFamily="34" charset="-122"/>
                <a:cs typeface="Arial" pitchFamily="34" charset="-120"/>
              </a:rPr>
              <a:t>Provider</a:t>
            </a:r>
            <a:r>
              <a:rPr lang="en-CA" sz="1000" noProof="0">
                <a:solidFill>
                  <a:schemeClr val="bg2">
                    <a:lumMod val="10000"/>
                  </a:schemeClr>
                </a:solidFill>
                <a:ea typeface="Arial" pitchFamily="34" charset="-122"/>
                <a:cs typeface="Arial" pitchFamily="34" charset="-120"/>
              </a:rPr>
              <a:t>). Includes demographic attributes, consents, preferences, and contact methods.</a:t>
            </a:r>
            <a:endParaRPr lang="en-CA" sz="1000" noProof="0">
              <a:solidFill>
                <a:schemeClr val="bg2">
                  <a:lumMod val="10000"/>
                </a:schemeClr>
              </a:solidFill>
            </a:endParaRPr>
          </a:p>
        </p:txBody>
      </p:sp>
      <p:sp>
        <p:nvSpPr>
          <p:cNvPr id="11" name="Rectangle: Rounded Corners 10">
            <a:extLst>
              <a:ext uri="{FF2B5EF4-FFF2-40B4-BE49-F238E27FC236}">
                <a16:creationId xmlns:a16="http://schemas.microsoft.com/office/drawing/2014/main" id="{E5A2469A-E16E-31F2-F427-D7E28AADD988}"/>
              </a:ext>
            </a:extLst>
          </p:cNvPr>
          <p:cNvSpPr/>
          <p:nvPr/>
        </p:nvSpPr>
        <p:spPr>
          <a:xfrm>
            <a:off x="4386749" y="1330260"/>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2" name="Rectangle: Rounded Corners 11">
            <a:extLst>
              <a:ext uri="{FF2B5EF4-FFF2-40B4-BE49-F238E27FC236}">
                <a16:creationId xmlns:a16="http://schemas.microsoft.com/office/drawing/2014/main" id="{48457A3D-BF58-D7E8-446E-056954EE32E3}"/>
              </a:ext>
            </a:extLst>
          </p:cNvPr>
          <p:cNvSpPr/>
          <p:nvPr/>
        </p:nvSpPr>
        <p:spPr>
          <a:xfrm>
            <a:off x="4386749" y="1330260"/>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t>Agreement</a:t>
            </a:r>
          </a:p>
        </p:txBody>
      </p:sp>
      <p:sp>
        <p:nvSpPr>
          <p:cNvPr id="13" name="TextBox 12">
            <a:extLst>
              <a:ext uri="{FF2B5EF4-FFF2-40B4-BE49-F238E27FC236}">
                <a16:creationId xmlns:a16="http://schemas.microsoft.com/office/drawing/2014/main" id="{C0CB8A59-B4FD-2558-91C6-BF58FAB388FD}"/>
              </a:ext>
            </a:extLst>
          </p:cNvPr>
          <p:cNvSpPr txBox="1"/>
          <p:nvPr/>
        </p:nvSpPr>
        <p:spPr>
          <a:xfrm>
            <a:off x="4386749" y="1618260"/>
            <a:ext cx="360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noProof="0">
                <a:solidFill>
                  <a:schemeClr val="bg2">
                    <a:lumMod val="10000"/>
                  </a:schemeClr>
                </a:solidFill>
                <a:ea typeface="Arial" pitchFamily="34" charset="-122"/>
                <a:cs typeface="Arial" pitchFamily="34" charset="-120"/>
              </a:rPr>
              <a:t>Legally binding rights and obligations between parties. Includes </a:t>
            </a:r>
            <a:r>
              <a:rPr lang="en-CA" sz="1000" b="1" noProof="0">
                <a:solidFill>
                  <a:schemeClr val="bg2">
                    <a:lumMod val="10000"/>
                  </a:schemeClr>
                </a:solidFill>
                <a:ea typeface="Arial" pitchFamily="34" charset="-122"/>
                <a:cs typeface="Arial" pitchFamily="34" charset="-120"/>
              </a:rPr>
              <a:t>policies</a:t>
            </a:r>
            <a:r>
              <a:rPr lang="en-CA" sz="1000" noProof="0">
                <a:solidFill>
                  <a:schemeClr val="bg2">
                    <a:lumMod val="10000"/>
                  </a:schemeClr>
                </a:solidFill>
                <a:ea typeface="Arial" pitchFamily="34" charset="-122"/>
                <a:cs typeface="Arial" pitchFamily="34" charset="-120"/>
              </a:rPr>
              <a:t>, </a:t>
            </a:r>
            <a:r>
              <a:rPr lang="en-CA" sz="1000" b="1" noProof="0">
                <a:solidFill>
                  <a:schemeClr val="bg2">
                    <a:lumMod val="10000"/>
                  </a:schemeClr>
                </a:solidFill>
                <a:ea typeface="Arial" pitchFamily="34" charset="-122"/>
                <a:cs typeface="Arial" pitchFamily="34" charset="-120"/>
              </a:rPr>
              <a:t>contracts</a:t>
            </a:r>
            <a:r>
              <a:rPr lang="en-CA" sz="1000" noProof="0">
                <a:solidFill>
                  <a:schemeClr val="bg2">
                    <a:lumMod val="10000"/>
                  </a:schemeClr>
                </a:solidFill>
                <a:ea typeface="Arial" pitchFamily="34" charset="-122"/>
                <a:cs typeface="Arial" pitchFamily="34" charset="-120"/>
              </a:rPr>
              <a:t>, applications, and financial instruments.</a:t>
            </a:r>
            <a:endParaRPr lang="en-CA" sz="1000" noProof="0">
              <a:solidFill>
                <a:schemeClr val="bg2">
                  <a:lumMod val="10000"/>
                </a:schemeClr>
              </a:solidFill>
            </a:endParaRPr>
          </a:p>
        </p:txBody>
      </p:sp>
      <p:sp>
        <p:nvSpPr>
          <p:cNvPr id="15" name="Rectangle: Rounded Corners 14">
            <a:extLst>
              <a:ext uri="{FF2B5EF4-FFF2-40B4-BE49-F238E27FC236}">
                <a16:creationId xmlns:a16="http://schemas.microsoft.com/office/drawing/2014/main" id="{136140ED-8728-68BB-497F-7136F4D10B99}"/>
              </a:ext>
            </a:extLst>
          </p:cNvPr>
          <p:cNvSpPr/>
          <p:nvPr/>
        </p:nvSpPr>
        <p:spPr>
          <a:xfrm>
            <a:off x="8202000" y="1330260"/>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6" name="Rectangle: Rounded Corners 15">
            <a:extLst>
              <a:ext uri="{FF2B5EF4-FFF2-40B4-BE49-F238E27FC236}">
                <a16:creationId xmlns:a16="http://schemas.microsoft.com/office/drawing/2014/main" id="{27644C2D-DD77-0981-FCD1-4167327CDD7E}"/>
              </a:ext>
            </a:extLst>
          </p:cNvPr>
          <p:cNvSpPr/>
          <p:nvPr/>
        </p:nvSpPr>
        <p:spPr>
          <a:xfrm>
            <a:off x="8202000" y="1330260"/>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t>Product Shelf</a:t>
            </a:r>
          </a:p>
        </p:txBody>
      </p:sp>
      <p:sp>
        <p:nvSpPr>
          <p:cNvPr id="17" name="TextBox 16">
            <a:extLst>
              <a:ext uri="{FF2B5EF4-FFF2-40B4-BE49-F238E27FC236}">
                <a16:creationId xmlns:a16="http://schemas.microsoft.com/office/drawing/2014/main" id="{3EA8760C-C6B2-BD5B-EB93-4827249F53C5}"/>
              </a:ext>
            </a:extLst>
          </p:cNvPr>
          <p:cNvSpPr txBox="1"/>
          <p:nvPr/>
        </p:nvSpPr>
        <p:spPr>
          <a:xfrm>
            <a:off x="8202000" y="1618260"/>
            <a:ext cx="360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noProof="0">
                <a:solidFill>
                  <a:schemeClr val="bg2">
                    <a:lumMod val="10000"/>
                  </a:schemeClr>
                </a:solidFill>
                <a:ea typeface="Arial" pitchFamily="34" charset="-122"/>
                <a:cs typeface="Arial" pitchFamily="34" charset="-120"/>
              </a:rPr>
              <a:t>The enterprise catalog of </a:t>
            </a:r>
            <a:r>
              <a:rPr lang="en-CA" sz="1000" b="1" noProof="0">
                <a:solidFill>
                  <a:schemeClr val="bg2">
                    <a:lumMod val="10000"/>
                  </a:schemeClr>
                </a:solidFill>
                <a:ea typeface="Arial" pitchFamily="34" charset="-122"/>
                <a:cs typeface="Arial" pitchFamily="34" charset="-120"/>
              </a:rPr>
              <a:t>products</a:t>
            </a:r>
            <a:r>
              <a:rPr lang="en-CA" sz="1000" noProof="0">
                <a:solidFill>
                  <a:schemeClr val="bg2">
                    <a:lumMod val="10000"/>
                  </a:schemeClr>
                </a:solidFill>
                <a:ea typeface="Arial" pitchFamily="34" charset="-122"/>
                <a:cs typeface="Arial" pitchFamily="34" charset="-120"/>
              </a:rPr>
              <a:t> and </a:t>
            </a:r>
            <a:r>
              <a:rPr lang="en-CA" sz="1000" b="1" noProof="0">
                <a:solidFill>
                  <a:schemeClr val="bg2">
                    <a:lumMod val="10000"/>
                  </a:schemeClr>
                </a:solidFill>
                <a:ea typeface="Arial" pitchFamily="34" charset="-122"/>
                <a:cs typeface="Arial" pitchFamily="34" charset="-120"/>
              </a:rPr>
              <a:t>services</a:t>
            </a:r>
            <a:r>
              <a:rPr lang="en-CA" sz="1000" noProof="0">
                <a:solidFill>
                  <a:schemeClr val="bg2">
                    <a:lumMod val="10000"/>
                  </a:schemeClr>
                </a:solidFill>
                <a:ea typeface="Arial" pitchFamily="34" charset="-122"/>
                <a:cs typeface="Arial" pitchFamily="34" charset="-120"/>
              </a:rPr>
              <a:t> that are offered, administered, or retired. Includes insurance, wealth, banking, and real estate products.</a:t>
            </a:r>
            <a:endParaRPr lang="en-CA" sz="1000" noProof="0">
              <a:solidFill>
                <a:schemeClr val="bg2">
                  <a:lumMod val="10000"/>
                </a:schemeClr>
              </a:solidFill>
            </a:endParaRPr>
          </a:p>
        </p:txBody>
      </p:sp>
      <p:sp>
        <p:nvSpPr>
          <p:cNvPr id="7" name="Rectangle: Rounded Corners 6">
            <a:extLst>
              <a:ext uri="{FF2B5EF4-FFF2-40B4-BE49-F238E27FC236}">
                <a16:creationId xmlns:a16="http://schemas.microsoft.com/office/drawing/2014/main" id="{B37FA620-E980-E3E1-1831-8E64E19B62C8}"/>
              </a:ext>
            </a:extLst>
          </p:cNvPr>
          <p:cNvSpPr/>
          <p:nvPr/>
        </p:nvSpPr>
        <p:spPr>
          <a:xfrm>
            <a:off x="571499" y="2479691"/>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9" name="Rectangle: Rounded Corners 8">
            <a:extLst>
              <a:ext uri="{FF2B5EF4-FFF2-40B4-BE49-F238E27FC236}">
                <a16:creationId xmlns:a16="http://schemas.microsoft.com/office/drawing/2014/main" id="{BC450374-9299-A645-E836-3035D1CC25E6}"/>
              </a:ext>
            </a:extLst>
          </p:cNvPr>
          <p:cNvSpPr/>
          <p:nvPr/>
        </p:nvSpPr>
        <p:spPr>
          <a:xfrm>
            <a:off x="571499" y="2479691"/>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t>Event</a:t>
            </a:r>
            <a:endParaRPr lang="en-CA" sz="900" b="1" noProof="0"/>
          </a:p>
        </p:txBody>
      </p:sp>
      <p:sp>
        <p:nvSpPr>
          <p:cNvPr id="10" name="TextBox 9">
            <a:extLst>
              <a:ext uri="{FF2B5EF4-FFF2-40B4-BE49-F238E27FC236}">
                <a16:creationId xmlns:a16="http://schemas.microsoft.com/office/drawing/2014/main" id="{DD4F5835-0639-1277-6049-C62DBED90954}"/>
              </a:ext>
            </a:extLst>
          </p:cNvPr>
          <p:cNvSpPr txBox="1"/>
          <p:nvPr/>
        </p:nvSpPr>
        <p:spPr>
          <a:xfrm>
            <a:off x="571499" y="2767691"/>
            <a:ext cx="360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noProof="0">
                <a:solidFill>
                  <a:schemeClr val="bg2">
                    <a:lumMod val="10000"/>
                  </a:schemeClr>
                </a:solidFill>
                <a:ea typeface="Arial" pitchFamily="34" charset="-122"/>
                <a:cs typeface="Arial" pitchFamily="34" charset="-120"/>
              </a:rPr>
              <a:t>Any interaction, transaction, or occurrence involving a party and/or agreement. Includes </a:t>
            </a:r>
            <a:r>
              <a:rPr lang="en-CA" sz="1000" b="1" noProof="0">
                <a:solidFill>
                  <a:schemeClr val="bg2">
                    <a:lumMod val="10000"/>
                  </a:schemeClr>
                </a:solidFill>
                <a:ea typeface="Arial" pitchFamily="34" charset="-122"/>
                <a:cs typeface="Arial" pitchFamily="34" charset="-120"/>
              </a:rPr>
              <a:t>claims</a:t>
            </a:r>
            <a:r>
              <a:rPr lang="en-CA" sz="1000" noProof="0">
                <a:solidFill>
                  <a:schemeClr val="bg2">
                    <a:lumMod val="10000"/>
                  </a:schemeClr>
                </a:solidFill>
                <a:ea typeface="Arial" pitchFamily="34" charset="-122"/>
                <a:cs typeface="Arial" pitchFamily="34" charset="-120"/>
              </a:rPr>
              <a:t>, </a:t>
            </a:r>
            <a:r>
              <a:rPr lang="en-CA" sz="1000" b="1" noProof="0">
                <a:solidFill>
                  <a:schemeClr val="bg2">
                    <a:lumMod val="10000"/>
                  </a:schemeClr>
                </a:solidFill>
                <a:ea typeface="Arial" pitchFamily="34" charset="-122"/>
                <a:cs typeface="Arial" pitchFamily="34" charset="-120"/>
              </a:rPr>
              <a:t>payments</a:t>
            </a:r>
            <a:r>
              <a:rPr lang="en-CA" sz="1000" noProof="0">
                <a:solidFill>
                  <a:schemeClr val="bg2">
                    <a:lumMod val="10000"/>
                  </a:schemeClr>
                </a:solidFill>
                <a:ea typeface="Arial" pitchFamily="34" charset="-122"/>
                <a:cs typeface="Arial" pitchFamily="34" charset="-120"/>
              </a:rPr>
              <a:t>, inquiries, incidents, and governance actions.</a:t>
            </a:r>
          </a:p>
        </p:txBody>
      </p:sp>
      <p:sp>
        <p:nvSpPr>
          <p:cNvPr id="14" name="Rectangle: Rounded Corners 13">
            <a:extLst>
              <a:ext uri="{FF2B5EF4-FFF2-40B4-BE49-F238E27FC236}">
                <a16:creationId xmlns:a16="http://schemas.microsoft.com/office/drawing/2014/main" id="{C6B51507-5A69-9B63-E77B-09028E8D9852}"/>
              </a:ext>
            </a:extLst>
          </p:cNvPr>
          <p:cNvSpPr/>
          <p:nvPr/>
        </p:nvSpPr>
        <p:spPr>
          <a:xfrm>
            <a:off x="4386749" y="2479691"/>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8" name="Rectangle: Rounded Corners 17">
            <a:extLst>
              <a:ext uri="{FF2B5EF4-FFF2-40B4-BE49-F238E27FC236}">
                <a16:creationId xmlns:a16="http://schemas.microsoft.com/office/drawing/2014/main" id="{1918967D-DA48-8062-6F64-E12BE9C76B1B}"/>
              </a:ext>
            </a:extLst>
          </p:cNvPr>
          <p:cNvSpPr/>
          <p:nvPr/>
        </p:nvSpPr>
        <p:spPr>
          <a:xfrm>
            <a:off x="4386749" y="2479691"/>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solidFill>
                  <a:srgbClr val="FFFFFF"/>
                </a:solidFill>
                <a:ea typeface="Arial" pitchFamily="34" charset="-122"/>
                <a:cs typeface="Arial" pitchFamily="34" charset="-120"/>
              </a:rPr>
              <a:t>Asset</a:t>
            </a:r>
            <a:endParaRPr lang="en-CA" sz="1400" noProof="0"/>
          </a:p>
        </p:txBody>
      </p:sp>
      <p:sp>
        <p:nvSpPr>
          <p:cNvPr id="19" name="TextBox 18">
            <a:extLst>
              <a:ext uri="{FF2B5EF4-FFF2-40B4-BE49-F238E27FC236}">
                <a16:creationId xmlns:a16="http://schemas.microsoft.com/office/drawing/2014/main" id="{BFC7636D-DFE1-4093-CC6D-A16B17002921}"/>
              </a:ext>
            </a:extLst>
          </p:cNvPr>
          <p:cNvSpPr txBox="1"/>
          <p:nvPr/>
        </p:nvSpPr>
        <p:spPr>
          <a:xfrm>
            <a:off x="4386749" y="2767691"/>
            <a:ext cx="3600000"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noProof="0">
                <a:solidFill>
                  <a:schemeClr val="bg2">
                    <a:lumMod val="10000"/>
                  </a:schemeClr>
                </a:solidFill>
                <a:ea typeface="Arial" pitchFamily="34" charset="-122"/>
                <a:cs typeface="Arial" pitchFamily="34" charset="-120"/>
              </a:rPr>
              <a:t>Tangible and intangible items of value, including </a:t>
            </a:r>
            <a:r>
              <a:rPr lang="en-CA" sz="1000" b="1" noProof="0">
                <a:solidFill>
                  <a:schemeClr val="bg2">
                    <a:lumMod val="10000"/>
                  </a:schemeClr>
                </a:solidFill>
                <a:ea typeface="Arial" pitchFamily="34" charset="-122"/>
                <a:cs typeface="Arial" pitchFamily="34" charset="-120"/>
              </a:rPr>
              <a:t>securities</a:t>
            </a:r>
            <a:r>
              <a:rPr lang="en-CA" sz="1000" noProof="0">
                <a:solidFill>
                  <a:schemeClr val="bg2">
                    <a:lumMod val="10000"/>
                  </a:schemeClr>
                </a:solidFill>
                <a:ea typeface="Arial" pitchFamily="34" charset="-122"/>
                <a:cs typeface="Arial" pitchFamily="34" charset="-120"/>
              </a:rPr>
              <a:t>, </a:t>
            </a:r>
            <a:r>
              <a:rPr lang="en-CA" sz="1000" b="1" noProof="0">
                <a:solidFill>
                  <a:schemeClr val="bg2">
                    <a:lumMod val="10000"/>
                  </a:schemeClr>
                </a:solidFill>
                <a:ea typeface="Arial" pitchFamily="34" charset="-122"/>
                <a:cs typeface="Arial" pitchFamily="34" charset="-120"/>
              </a:rPr>
              <a:t>facilities</a:t>
            </a:r>
            <a:r>
              <a:rPr lang="en-CA" sz="1000" noProof="0">
                <a:solidFill>
                  <a:schemeClr val="bg2">
                    <a:lumMod val="10000"/>
                  </a:schemeClr>
                </a:solidFill>
                <a:ea typeface="Arial" pitchFamily="34" charset="-122"/>
                <a:cs typeface="Arial" pitchFamily="34" charset="-120"/>
              </a:rPr>
              <a:t>, digital solutions, real estate, and vehicles.</a:t>
            </a:r>
          </a:p>
        </p:txBody>
      </p:sp>
      <p:sp>
        <p:nvSpPr>
          <p:cNvPr id="20" name="Rectangle: Rounded Corners 19">
            <a:extLst>
              <a:ext uri="{FF2B5EF4-FFF2-40B4-BE49-F238E27FC236}">
                <a16:creationId xmlns:a16="http://schemas.microsoft.com/office/drawing/2014/main" id="{594BD2CC-D25D-7C71-5F53-52399F66E094}"/>
              </a:ext>
            </a:extLst>
          </p:cNvPr>
          <p:cNvSpPr/>
          <p:nvPr/>
        </p:nvSpPr>
        <p:spPr>
          <a:xfrm>
            <a:off x="8202000" y="2479691"/>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21" name="Rectangle: Rounded Corners 20">
            <a:extLst>
              <a:ext uri="{FF2B5EF4-FFF2-40B4-BE49-F238E27FC236}">
                <a16:creationId xmlns:a16="http://schemas.microsoft.com/office/drawing/2014/main" id="{D79B1FE5-51F8-624A-191B-4242FAA31D7D}"/>
              </a:ext>
            </a:extLst>
          </p:cNvPr>
          <p:cNvSpPr/>
          <p:nvPr/>
        </p:nvSpPr>
        <p:spPr>
          <a:xfrm>
            <a:off x="8202000" y="2479691"/>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t>Finance</a:t>
            </a:r>
          </a:p>
        </p:txBody>
      </p:sp>
      <p:sp>
        <p:nvSpPr>
          <p:cNvPr id="22" name="TextBox 21">
            <a:extLst>
              <a:ext uri="{FF2B5EF4-FFF2-40B4-BE49-F238E27FC236}">
                <a16:creationId xmlns:a16="http://schemas.microsoft.com/office/drawing/2014/main" id="{FFEF4DD5-9CFA-A73A-A8BD-87DA48BBFE60}"/>
              </a:ext>
            </a:extLst>
          </p:cNvPr>
          <p:cNvSpPr txBox="1"/>
          <p:nvPr/>
        </p:nvSpPr>
        <p:spPr>
          <a:xfrm>
            <a:off x="8202000" y="2767691"/>
            <a:ext cx="3600000"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noProof="0">
                <a:solidFill>
                  <a:schemeClr val="bg2">
                    <a:lumMod val="10000"/>
                  </a:schemeClr>
                </a:solidFill>
                <a:ea typeface="Arial" pitchFamily="34" charset="-122"/>
                <a:cs typeface="Arial" pitchFamily="34" charset="-120"/>
              </a:rPr>
              <a:t>Internal financial and accounting records, including </a:t>
            </a:r>
            <a:r>
              <a:rPr lang="en-CA" sz="1000" b="1" noProof="0">
                <a:solidFill>
                  <a:schemeClr val="bg2">
                    <a:lumMod val="10000"/>
                  </a:schemeClr>
                </a:solidFill>
                <a:ea typeface="Arial" pitchFamily="34" charset="-122"/>
                <a:cs typeface="Arial" pitchFamily="34" charset="-120"/>
              </a:rPr>
              <a:t>general ledger, journals, reconciliations, solvency, and reserves</a:t>
            </a:r>
            <a:r>
              <a:rPr lang="en-CA" sz="1000" noProof="0">
                <a:solidFill>
                  <a:schemeClr val="bg2">
                    <a:lumMod val="10000"/>
                  </a:schemeClr>
                </a:solidFill>
                <a:ea typeface="Arial" pitchFamily="34" charset="-122"/>
                <a:cs typeface="Arial" pitchFamily="34" charset="-120"/>
              </a:rPr>
              <a:t>.</a:t>
            </a:r>
          </a:p>
        </p:txBody>
      </p:sp>
      <p:sp>
        <p:nvSpPr>
          <p:cNvPr id="23" name="Rectangle: Rounded Corners 22">
            <a:extLst>
              <a:ext uri="{FF2B5EF4-FFF2-40B4-BE49-F238E27FC236}">
                <a16:creationId xmlns:a16="http://schemas.microsoft.com/office/drawing/2014/main" id="{85B22F52-7A01-CCCF-25A2-BD1DCB30F091}"/>
              </a:ext>
            </a:extLst>
          </p:cNvPr>
          <p:cNvSpPr/>
          <p:nvPr/>
        </p:nvSpPr>
        <p:spPr>
          <a:xfrm>
            <a:off x="571499" y="3629122"/>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24" name="Rectangle: Rounded Corners 23">
            <a:extLst>
              <a:ext uri="{FF2B5EF4-FFF2-40B4-BE49-F238E27FC236}">
                <a16:creationId xmlns:a16="http://schemas.microsoft.com/office/drawing/2014/main" id="{7013E732-590A-92E5-828F-B090886AFC8F}"/>
              </a:ext>
            </a:extLst>
          </p:cNvPr>
          <p:cNvSpPr/>
          <p:nvPr/>
        </p:nvSpPr>
        <p:spPr>
          <a:xfrm>
            <a:off x="571499" y="3629122"/>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solidFill>
                  <a:srgbClr val="FFFFFF"/>
                </a:solidFill>
                <a:ea typeface="Arial" pitchFamily="34" charset="-122"/>
                <a:cs typeface="Arial" pitchFamily="34" charset="-120"/>
              </a:rPr>
              <a:t>Internal Organization Unit</a:t>
            </a:r>
            <a:endParaRPr lang="en-CA" sz="1400" noProof="0"/>
          </a:p>
        </p:txBody>
      </p:sp>
      <p:sp>
        <p:nvSpPr>
          <p:cNvPr id="25" name="TextBox 24">
            <a:extLst>
              <a:ext uri="{FF2B5EF4-FFF2-40B4-BE49-F238E27FC236}">
                <a16:creationId xmlns:a16="http://schemas.microsoft.com/office/drawing/2014/main" id="{CD1BACF7-4F74-59B0-B1E9-1DA559DB58A5}"/>
              </a:ext>
            </a:extLst>
          </p:cNvPr>
          <p:cNvSpPr txBox="1"/>
          <p:nvPr/>
        </p:nvSpPr>
        <p:spPr>
          <a:xfrm>
            <a:off x="571499" y="3917122"/>
            <a:ext cx="360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noProof="0">
                <a:solidFill>
                  <a:schemeClr val="bg2">
                    <a:lumMod val="10000"/>
                  </a:schemeClr>
                </a:solidFill>
                <a:ea typeface="Arial" pitchFamily="34" charset="-122"/>
                <a:cs typeface="Arial" pitchFamily="34" charset="-120"/>
              </a:rPr>
              <a:t>Enterprise organizational constructs, including </a:t>
            </a:r>
            <a:r>
              <a:rPr lang="en-CA" sz="1000" b="1" noProof="0">
                <a:solidFill>
                  <a:schemeClr val="bg2">
                    <a:lumMod val="10000"/>
                  </a:schemeClr>
                </a:solidFill>
                <a:ea typeface="Arial" pitchFamily="34" charset="-122"/>
                <a:cs typeface="Arial" pitchFamily="34" charset="-120"/>
              </a:rPr>
              <a:t>structures</a:t>
            </a:r>
            <a:r>
              <a:rPr lang="en-CA" sz="1000" noProof="0">
                <a:solidFill>
                  <a:schemeClr val="bg2">
                    <a:lumMod val="10000"/>
                  </a:schemeClr>
                </a:solidFill>
                <a:ea typeface="Arial" pitchFamily="34" charset="-122"/>
                <a:cs typeface="Arial" pitchFamily="34" charset="-120"/>
              </a:rPr>
              <a:t>, </a:t>
            </a:r>
            <a:r>
              <a:rPr lang="en-CA" sz="1000" b="1" noProof="0">
                <a:solidFill>
                  <a:schemeClr val="bg2">
                    <a:lumMod val="10000"/>
                  </a:schemeClr>
                </a:solidFill>
                <a:ea typeface="Arial" pitchFamily="34" charset="-122"/>
                <a:cs typeface="Arial" pitchFamily="34" charset="-120"/>
              </a:rPr>
              <a:t>strategies</a:t>
            </a:r>
            <a:r>
              <a:rPr lang="en-CA" sz="1000" noProof="0">
                <a:solidFill>
                  <a:schemeClr val="bg2">
                    <a:lumMod val="10000"/>
                  </a:schemeClr>
                </a:solidFill>
                <a:ea typeface="Arial" pitchFamily="34" charset="-122"/>
                <a:cs typeface="Arial" pitchFamily="34" charset="-120"/>
              </a:rPr>
              <a:t>, plans, policies, programs, </a:t>
            </a:r>
            <a:r>
              <a:rPr lang="en-CA" sz="1000" b="1" noProof="0">
                <a:solidFill>
                  <a:schemeClr val="bg2">
                    <a:lumMod val="10000"/>
                  </a:schemeClr>
                </a:solidFill>
                <a:ea typeface="Arial" pitchFamily="34" charset="-122"/>
                <a:cs typeface="Arial" pitchFamily="34" charset="-120"/>
              </a:rPr>
              <a:t>campaigns</a:t>
            </a:r>
            <a:r>
              <a:rPr lang="en-CA" sz="1000" noProof="0">
                <a:solidFill>
                  <a:schemeClr val="bg2">
                    <a:lumMod val="10000"/>
                  </a:schemeClr>
                </a:solidFill>
                <a:ea typeface="Arial" pitchFamily="34" charset="-122"/>
                <a:cs typeface="Arial" pitchFamily="34" charset="-120"/>
              </a:rPr>
              <a:t>, and business processes.</a:t>
            </a:r>
          </a:p>
        </p:txBody>
      </p:sp>
      <p:sp>
        <p:nvSpPr>
          <p:cNvPr id="26" name="Rectangle: Rounded Corners 25">
            <a:extLst>
              <a:ext uri="{FF2B5EF4-FFF2-40B4-BE49-F238E27FC236}">
                <a16:creationId xmlns:a16="http://schemas.microsoft.com/office/drawing/2014/main" id="{E6CBB03A-F445-826E-8FFB-ABAFB2E41543}"/>
              </a:ext>
            </a:extLst>
          </p:cNvPr>
          <p:cNvSpPr/>
          <p:nvPr/>
        </p:nvSpPr>
        <p:spPr>
          <a:xfrm>
            <a:off x="4386749" y="3629122"/>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27" name="Rectangle: Rounded Corners 26">
            <a:extLst>
              <a:ext uri="{FF2B5EF4-FFF2-40B4-BE49-F238E27FC236}">
                <a16:creationId xmlns:a16="http://schemas.microsoft.com/office/drawing/2014/main" id="{2388DD96-D51C-9FCE-E486-878970D2D336}"/>
              </a:ext>
            </a:extLst>
          </p:cNvPr>
          <p:cNvSpPr/>
          <p:nvPr/>
        </p:nvSpPr>
        <p:spPr>
          <a:xfrm>
            <a:off x="4386749" y="3629122"/>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solidFill>
                  <a:srgbClr val="FFFFFF"/>
                </a:solidFill>
                <a:ea typeface="Arial" pitchFamily="34" charset="-122"/>
                <a:cs typeface="Arial" pitchFamily="34" charset="-120"/>
              </a:rPr>
              <a:t>Digital Identity</a:t>
            </a:r>
            <a:endParaRPr lang="en-CA" sz="1400" noProof="0"/>
          </a:p>
        </p:txBody>
      </p:sp>
      <p:sp>
        <p:nvSpPr>
          <p:cNvPr id="28" name="TextBox 27">
            <a:extLst>
              <a:ext uri="{FF2B5EF4-FFF2-40B4-BE49-F238E27FC236}">
                <a16:creationId xmlns:a16="http://schemas.microsoft.com/office/drawing/2014/main" id="{604ED05B-0244-E02A-E200-2CDA0324DE0A}"/>
              </a:ext>
            </a:extLst>
          </p:cNvPr>
          <p:cNvSpPr txBox="1"/>
          <p:nvPr/>
        </p:nvSpPr>
        <p:spPr>
          <a:xfrm>
            <a:off x="4386749" y="3917122"/>
            <a:ext cx="360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b="1" noProof="0">
                <a:solidFill>
                  <a:schemeClr val="bg2">
                    <a:lumMod val="10000"/>
                  </a:schemeClr>
                </a:solidFill>
                <a:ea typeface="Arial" pitchFamily="34" charset="-122"/>
                <a:cs typeface="Arial" pitchFamily="34" charset="-120"/>
              </a:rPr>
              <a:t>Authentication</a:t>
            </a:r>
            <a:r>
              <a:rPr lang="en-CA" sz="1000" noProof="0">
                <a:solidFill>
                  <a:schemeClr val="bg2">
                    <a:lumMod val="10000"/>
                  </a:schemeClr>
                </a:solidFill>
                <a:ea typeface="Arial" pitchFamily="34" charset="-122"/>
                <a:cs typeface="Arial" pitchFamily="34" charset="-120"/>
              </a:rPr>
              <a:t> and </a:t>
            </a:r>
            <a:r>
              <a:rPr lang="en-CA" sz="1000" b="1" noProof="0">
                <a:solidFill>
                  <a:schemeClr val="bg2">
                    <a:lumMod val="10000"/>
                  </a:schemeClr>
                </a:solidFill>
                <a:ea typeface="Arial" pitchFamily="34" charset="-122"/>
                <a:cs typeface="Arial" pitchFamily="34" charset="-120"/>
              </a:rPr>
              <a:t>Authorization</a:t>
            </a:r>
            <a:r>
              <a:rPr lang="en-CA" sz="1000" noProof="0">
                <a:solidFill>
                  <a:schemeClr val="bg2">
                    <a:lumMod val="10000"/>
                  </a:schemeClr>
                </a:solidFill>
                <a:ea typeface="Arial" pitchFamily="34" charset="-122"/>
                <a:cs typeface="Arial" pitchFamily="34" charset="-120"/>
              </a:rPr>
              <a:t> information for internal and external users, including roles, permissions, and multi‑factor authentication details.</a:t>
            </a:r>
          </a:p>
        </p:txBody>
      </p:sp>
      <p:sp>
        <p:nvSpPr>
          <p:cNvPr id="29" name="Rectangle: Rounded Corners 28">
            <a:extLst>
              <a:ext uri="{FF2B5EF4-FFF2-40B4-BE49-F238E27FC236}">
                <a16:creationId xmlns:a16="http://schemas.microsoft.com/office/drawing/2014/main" id="{C59ACAA0-B2F3-6A92-C32B-9F4944FE57DC}"/>
              </a:ext>
            </a:extLst>
          </p:cNvPr>
          <p:cNvSpPr/>
          <p:nvPr/>
        </p:nvSpPr>
        <p:spPr>
          <a:xfrm>
            <a:off x="8202000" y="3629122"/>
            <a:ext cx="3600000" cy="1008000"/>
          </a:xfrm>
          <a:prstGeom prst="roundRect">
            <a:avLst>
              <a:gd name="adj" fmla="val 371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30" name="Rectangle: Rounded Corners 29">
            <a:extLst>
              <a:ext uri="{FF2B5EF4-FFF2-40B4-BE49-F238E27FC236}">
                <a16:creationId xmlns:a16="http://schemas.microsoft.com/office/drawing/2014/main" id="{ED6AAE01-75E0-90EF-BCFD-5265BF7AC4F1}"/>
              </a:ext>
            </a:extLst>
          </p:cNvPr>
          <p:cNvSpPr/>
          <p:nvPr/>
        </p:nvSpPr>
        <p:spPr>
          <a:xfrm>
            <a:off x="8202000" y="3629122"/>
            <a:ext cx="3600000" cy="288000"/>
          </a:xfrm>
          <a:prstGeom prst="roundRect">
            <a:avLst/>
          </a:prstGeom>
          <a:solidFill>
            <a:schemeClr val="tx2">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r>
              <a:rPr lang="en-CA" sz="1400" b="1" noProof="0">
                <a:solidFill>
                  <a:srgbClr val="FFFFFF"/>
                </a:solidFill>
                <a:ea typeface="Arial" pitchFamily="34" charset="-122"/>
                <a:cs typeface="Arial" pitchFamily="34" charset="-120"/>
              </a:rPr>
              <a:t>Reference Data</a:t>
            </a:r>
            <a:endParaRPr lang="en-CA" sz="1400" noProof="0"/>
          </a:p>
        </p:txBody>
      </p:sp>
      <p:sp>
        <p:nvSpPr>
          <p:cNvPr id="31" name="TextBox 30">
            <a:extLst>
              <a:ext uri="{FF2B5EF4-FFF2-40B4-BE49-F238E27FC236}">
                <a16:creationId xmlns:a16="http://schemas.microsoft.com/office/drawing/2014/main" id="{20E04C63-4987-AC4E-6D12-43EE81706ABA}"/>
              </a:ext>
            </a:extLst>
          </p:cNvPr>
          <p:cNvSpPr txBox="1"/>
          <p:nvPr/>
        </p:nvSpPr>
        <p:spPr>
          <a:xfrm>
            <a:off x="8202000" y="3917122"/>
            <a:ext cx="3600000" cy="534368"/>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r>
              <a:rPr lang="en-CA" sz="1000" b="1" noProof="0">
                <a:solidFill>
                  <a:schemeClr val="bg2">
                    <a:lumMod val="10000"/>
                  </a:schemeClr>
                </a:solidFill>
                <a:ea typeface="Arial" pitchFamily="34" charset="-122"/>
                <a:cs typeface="Arial" pitchFamily="34" charset="-120"/>
              </a:rPr>
              <a:t>Standardized and governed reference data </a:t>
            </a:r>
            <a:r>
              <a:rPr lang="en-CA" sz="1000" noProof="0">
                <a:solidFill>
                  <a:schemeClr val="bg2">
                    <a:lumMod val="10000"/>
                  </a:schemeClr>
                </a:solidFill>
                <a:ea typeface="Arial" pitchFamily="34" charset="-122"/>
                <a:cs typeface="Arial" pitchFamily="34" charset="-120"/>
              </a:rPr>
              <a:t>used across domains, including codes, statuses, languages, and payment methods.</a:t>
            </a:r>
            <a:endParaRPr lang="en-CA" sz="1000" noProof="0">
              <a:solidFill>
                <a:schemeClr val="bg2">
                  <a:lumMod val="10000"/>
                </a:schemeClr>
              </a:solidFill>
            </a:endParaRPr>
          </a:p>
        </p:txBody>
      </p:sp>
      <p:sp>
        <p:nvSpPr>
          <p:cNvPr id="32" name="Rectangle: Rounded Corners 31">
            <a:extLst>
              <a:ext uri="{FF2B5EF4-FFF2-40B4-BE49-F238E27FC236}">
                <a16:creationId xmlns:a16="http://schemas.microsoft.com/office/drawing/2014/main" id="{E0ACB4A5-52D4-0BC3-D4CA-7C232AE3086D}"/>
              </a:ext>
            </a:extLst>
          </p:cNvPr>
          <p:cNvSpPr/>
          <p:nvPr/>
        </p:nvSpPr>
        <p:spPr>
          <a:xfrm>
            <a:off x="571498" y="4809880"/>
            <a:ext cx="11230501" cy="1296000"/>
          </a:xfrm>
          <a:prstGeom prst="roundRect">
            <a:avLst>
              <a:gd name="adj" fmla="val 622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spcAft>
                <a:spcPts val="300"/>
              </a:spcAft>
            </a:pPr>
            <a:r>
              <a:rPr lang="en-CA" sz="1100" b="1" noProof="0">
                <a:solidFill>
                  <a:schemeClr val="tx2">
                    <a:lumMod val="75000"/>
                  </a:schemeClr>
                </a:solidFill>
              </a:rPr>
              <a:t>Why establish Data Domains?</a:t>
            </a:r>
            <a:endParaRPr lang="en-CA" sz="1100" b="1" noProof="0">
              <a:solidFill>
                <a:schemeClr val="tx1">
                  <a:lumMod val="50000"/>
                </a:schemeClr>
              </a:solidFill>
            </a:endParaRPr>
          </a:p>
          <a:p>
            <a:pPr marL="171450" indent="-171450">
              <a:spcAft>
                <a:spcPts val="300"/>
              </a:spcAft>
              <a:buFont typeface="Wingdings" panose="05000000000000000000" pitchFamily="2" charset="2"/>
              <a:buChar char="ü"/>
            </a:pPr>
            <a:r>
              <a:rPr lang="en-CA" sz="1100" b="1" noProof="0">
                <a:solidFill>
                  <a:schemeClr val="tx1">
                    <a:lumMod val="50000"/>
                  </a:schemeClr>
                </a:solidFill>
              </a:rPr>
              <a:t>Creates a shared enterprise language</a:t>
            </a:r>
            <a:r>
              <a:rPr lang="en-CA" sz="1100" noProof="0">
                <a:solidFill>
                  <a:schemeClr val="tx1">
                    <a:lumMod val="50000"/>
                  </a:schemeClr>
                </a:solidFill>
              </a:rPr>
              <a:t>: Core business concepts are defined once within domains and used consistently across products, channels, and systems.</a:t>
            </a:r>
          </a:p>
          <a:p>
            <a:pPr marL="171450" indent="-171450">
              <a:spcAft>
                <a:spcPts val="300"/>
              </a:spcAft>
              <a:buFont typeface="Wingdings" panose="05000000000000000000" pitchFamily="2" charset="2"/>
              <a:buChar char="ü"/>
            </a:pPr>
            <a:r>
              <a:rPr lang="en-CA" sz="1100" b="1" noProof="0">
                <a:solidFill>
                  <a:schemeClr val="tx1">
                    <a:lumMod val="50000"/>
                  </a:schemeClr>
                </a:solidFill>
              </a:rPr>
              <a:t>Enables trusted, reusable insight at scale</a:t>
            </a:r>
            <a:r>
              <a:rPr lang="en-CA" sz="1100" noProof="0">
                <a:solidFill>
                  <a:schemeClr val="tx1">
                    <a:lumMod val="50000"/>
                  </a:schemeClr>
                </a:solidFill>
              </a:rPr>
              <a:t>: Business‑owned domains support consistent reporting, analytics, and decision‑making across the enterprise.</a:t>
            </a:r>
          </a:p>
          <a:p>
            <a:pPr marL="171450" indent="-171450">
              <a:spcAft>
                <a:spcPts val="300"/>
              </a:spcAft>
              <a:buFont typeface="Wingdings" panose="05000000000000000000" pitchFamily="2" charset="2"/>
              <a:buChar char="ü"/>
            </a:pPr>
            <a:r>
              <a:rPr lang="en-CA" sz="1100" b="1" noProof="0">
                <a:solidFill>
                  <a:schemeClr val="tx1">
                    <a:lumMod val="50000"/>
                  </a:schemeClr>
                </a:solidFill>
              </a:rPr>
              <a:t>Provides a stable foundation for governance and growth</a:t>
            </a:r>
            <a:r>
              <a:rPr lang="en-CA" sz="1100" noProof="0">
                <a:solidFill>
                  <a:schemeClr val="tx1">
                    <a:lumMod val="50000"/>
                  </a:schemeClr>
                </a:solidFill>
              </a:rPr>
              <a:t>: Ownership, privacy, quality, and regulatory controls are anchored to domains, remaining stable as platforms and use cases evolve.</a:t>
            </a:r>
            <a:endParaRPr lang="en-CA" sz="1100" b="1" noProof="0">
              <a:solidFill>
                <a:schemeClr val="tx1">
                  <a:lumMod val="50000"/>
                </a:schemeClr>
              </a:solidFill>
            </a:endParaRPr>
          </a:p>
        </p:txBody>
      </p:sp>
    </p:spTree>
    <p:extLst>
      <p:ext uri="{BB962C8B-B14F-4D97-AF65-F5344CB8AC3E}">
        <p14:creationId xmlns:p14="http://schemas.microsoft.com/office/powerpoint/2010/main" val="2206540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D26B9-B8D3-2320-65B3-B3B013F56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C3E5C-5CC5-3F5F-0E59-FC7648F25640}"/>
              </a:ext>
            </a:extLst>
          </p:cNvPr>
          <p:cNvSpPr>
            <a:spLocks noGrp="1"/>
          </p:cNvSpPr>
          <p:nvPr>
            <p:ph type="title"/>
          </p:nvPr>
        </p:nvSpPr>
        <p:spPr>
          <a:xfrm>
            <a:off x="192024" y="192615"/>
            <a:ext cx="11412000" cy="405102"/>
          </a:xfrm>
        </p:spPr>
        <p:txBody>
          <a:bodyPr/>
          <a:lstStyle/>
          <a:p>
            <a:r>
              <a:rPr lang="en-CA" b="1" noProof="0">
                <a:latin typeface="+mj-lt"/>
              </a:rPr>
              <a:t>3.2 Person – Canada Life Ontology Model</a:t>
            </a:r>
          </a:p>
        </p:txBody>
      </p:sp>
      <p:sp>
        <p:nvSpPr>
          <p:cNvPr id="3" name="Slide Number Placeholder 2">
            <a:extLst>
              <a:ext uri="{FF2B5EF4-FFF2-40B4-BE49-F238E27FC236}">
                <a16:creationId xmlns:a16="http://schemas.microsoft.com/office/drawing/2014/main" id="{A5CC88CB-24F9-52DE-D559-022EA494664B}"/>
              </a:ext>
            </a:extLst>
          </p:cNvPr>
          <p:cNvSpPr>
            <a:spLocks noGrp="1"/>
          </p:cNvSpPr>
          <p:nvPr>
            <p:ph type="sldNum" sz="quarter" idx="12"/>
          </p:nvPr>
        </p:nvSpPr>
        <p:spPr>
          <a:xfrm>
            <a:off x="131756" y="6286624"/>
            <a:ext cx="190779" cy="365125"/>
          </a:xfrm>
        </p:spPr>
        <p:txBody>
          <a:bodyPr/>
          <a:lstStyle/>
          <a:p>
            <a:fld id="{3CBD822F-ED39-4FC2-B5B5-D2EAB6238DC3}" type="slidenum">
              <a:rPr lang="en-CA" noProof="0" smtClean="0">
                <a:latin typeface="+mn-lt"/>
              </a:rPr>
              <a:pPr/>
              <a:t>18</a:t>
            </a:fld>
            <a:endParaRPr lang="en-CA" noProof="0">
              <a:latin typeface="+mn-lt"/>
            </a:endParaRPr>
          </a:p>
        </p:txBody>
      </p:sp>
      <p:sp>
        <p:nvSpPr>
          <p:cNvPr id="4" name="Text Placeholder 3">
            <a:extLst>
              <a:ext uri="{FF2B5EF4-FFF2-40B4-BE49-F238E27FC236}">
                <a16:creationId xmlns:a16="http://schemas.microsoft.com/office/drawing/2014/main" id="{1DCF0807-36A9-FF93-9854-CD1E6D2E8864}"/>
              </a:ext>
            </a:extLst>
          </p:cNvPr>
          <p:cNvSpPr>
            <a:spLocks noGrp="1"/>
          </p:cNvSpPr>
          <p:nvPr>
            <p:ph type="body" sz="quarter" idx="13"/>
          </p:nvPr>
        </p:nvSpPr>
        <p:spPr>
          <a:xfrm>
            <a:off x="192024" y="571310"/>
            <a:ext cx="11412000" cy="288147"/>
          </a:xfrm>
        </p:spPr>
        <p:txBody>
          <a:bodyPr/>
          <a:lstStyle/>
          <a:p>
            <a:r>
              <a:rPr lang="en-CA" noProof="0">
                <a:latin typeface="+mn-lt"/>
              </a:rPr>
              <a:t>A unified person model with a single canonical view of an individual across LOBs, with roles and relationships activated by context.</a:t>
            </a:r>
          </a:p>
        </p:txBody>
      </p:sp>
      <p:sp>
        <p:nvSpPr>
          <p:cNvPr id="133" name="Shape 5">
            <a:extLst>
              <a:ext uri="{FF2B5EF4-FFF2-40B4-BE49-F238E27FC236}">
                <a16:creationId xmlns:a16="http://schemas.microsoft.com/office/drawing/2014/main" id="{E97B7AA8-B85C-2EBD-251C-D72E828B4CB2}"/>
              </a:ext>
            </a:extLst>
          </p:cNvPr>
          <p:cNvSpPr/>
          <p:nvPr/>
        </p:nvSpPr>
        <p:spPr>
          <a:xfrm>
            <a:off x="5120640" y="3858481"/>
            <a:ext cx="1920240" cy="405305"/>
          </a:xfrm>
          <a:prstGeom prst="rect">
            <a:avLst/>
          </a:prstGeom>
          <a:solidFill>
            <a:srgbClr val="6B1E2E"/>
          </a:solidFill>
          <a:ln w="12700">
            <a:solidFill>
              <a:srgbClr val="6B1E2E"/>
            </a:solidFill>
            <a:prstDash val="solid"/>
          </a:ln>
          <a:effectLst>
            <a:outerShdw blurRad="101600" dist="38100" dir="16200000" algn="bl" rotWithShape="0">
              <a:srgbClr val="000000">
                <a:alpha val="20000"/>
              </a:srgbClr>
            </a:outerShdw>
          </a:effectLst>
        </p:spPr>
        <p:txBody>
          <a:bodyPr/>
          <a:lstStyle/>
          <a:p>
            <a:endParaRPr lang="en-CA" noProof="0"/>
          </a:p>
        </p:txBody>
      </p:sp>
      <p:sp>
        <p:nvSpPr>
          <p:cNvPr id="136" name="Text 6">
            <a:extLst>
              <a:ext uri="{FF2B5EF4-FFF2-40B4-BE49-F238E27FC236}">
                <a16:creationId xmlns:a16="http://schemas.microsoft.com/office/drawing/2014/main" id="{42BB3A09-2CEC-9CCC-5387-1EA80A04C886}"/>
              </a:ext>
            </a:extLst>
          </p:cNvPr>
          <p:cNvSpPr/>
          <p:nvPr/>
        </p:nvSpPr>
        <p:spPr>
          <a:xfrm>
            <a:off x="5120640" y="3858481"/>
            <a:ext cx="1920240" cy="548640"/>
          </a:xfrm>
          <a:prstGeom prst="rect">
            <a:avLst/>
          </a:prstGeom>
          <a:noFill/>
          <a:ln/>
        </p:spPr>
        <p:txBody>
          <a:bodyPr wrap="square" rtlCol="0" anchor="t"/>
          <a:lstStyle/>
          <a:p>
            <a:pPr marL="0" indent="0" algn="ctr">
              <a:buNone/>
            </a:pPr>
            <a:r>
              <a:rPr lang="en-CA" sz="1300" b="1" kern="0" spc="300" noProof="0">
                <a:solidFill>
                  <a:srgbClr val="FFFFFF"/>
                </a:solidFill>
              </a:rPr>
              <a:t>PERSON</a:t>
            </a:r>
            <a:endParaRPr lang="en-CA" sz="1300" noProof="0"/>
          </a:p>
          <a:p>
            <a:pPr marL="0" indent="0" algn="ctr">
              <a:buNone/>
            </a:pPr>
            <a:r>
              <a:rPr lang="en-CA" sz="800" noProof="0">
                <a:solidFill>
                  <a:srgbClr val="FFFFFF"/>
                </a:solidFill>
              </a:rPr>
              <a:t>Universal entity · one record</a:t>
            </a:r>
            <a:endParaRPr lang="en-CA" sz="1300" noProof="0"/>
          </a:p>
        </p:txBody>
      </p:sp>
      <p:sp>
        <p:nvSpPr>
          <p:cNvPr id="142" name="Shape 8">
            <a:extLst>
              <a:ext uri="{FF2B5EF4-FFF2-40B4-BE49-F238E27FC236}">
                <a16:creationId xmlns:a16="http://schemas.microsoft.com/office/drawing/2014/main" id="{BA1E3455-0C69-78EF-724A-105BE6FBDB47}"/>
              </a:ext>
            </a:extLst>
          </p:cNvPr>
          <p:cNvSpPr/>
          <p:nvPr/>
        </p:nvSpPr>
        <p:spPr>
          <a:xfrm>
            <a:off x="3840480" y="3317774"/>
            <a:ext cx="1005840" cy="310896"/>
          </a:xfrm>
          <a:prstGeom prst="ellipse">
            <a:avLst/>
          </a:prstGeom>
          <a:solidFill>
            <a:srgbClr val="F8FAFF"/>
          </a:solidFill>
          <a:ln w="10160">
            <a:solidFill>
              <a:srgbClr val="7C3AED"/>
            </a:solidFill>
            <a:prstDash val="solid"/>
          </a:ln>
        </p:spPr>
        <p:txBody>
          <a:bodyPr/>
          <a:lstStyle/>
          <a:p>
            <a:endParaRPr lang="en-CA" noProof="0"/>
          </a:p>
        </p:txBody>
      </p:sp>
      <p:sp>
        <p:nvSpPr>
          <p:cNvPr id="145" name="Text 9">
            <a:extLst>
              <a:ext uri="{FF2B5EF4-FFF2-40B4-BE49-F238E27FC236}">
                <a16:creationId xmlns:a16="http://schemas.microsoft.com/office/drawing/2014/main" id="{BACE0115-D947-BE35-72AF-3BB9EE71CE84}"/>
              </a:ext>
            </a:extLst>
          </p:cNvPr>
          <p:cNvSpPr/>
          <p:nvPr/>
        </p:nvSpPr>
        <p:spPr>
          <a:xfrm>
            <a:off x="3840480" y="3317774"/>
            <a:ext cx="1005840" cy="310896"/>
          </a:xfrm>
          <a:prstGeom prst="rect">
            <a:avLst/>
          </a:prstGeom>
          <a:noFill/>
          <a:ln/>
        </p:spPr>
        <p:txBody>
          <a:bodyPr wrap="square" rtlCol="0" anchor="ctr"/>
          <a:lstStyle/>
          <a:p>
            <a:pPr marL="0" indent="0" algn="ctr">
              <a:buNone/>
            </a:pPr>
            <a:r>
              <a:rPr lang="en-CA" sz="750" noProof="0">
                <a:solidFill>
                  <a:srgbClr val="3B0764"/>
                </a:solidFill>
              </a:rPr>
              <a:t>Person ID</a:t>
            </a:r>
            <a:endParaRPr lang="en-CA" sz="750" noProof="0"/>
          </a:p>
        </p:txBody>
      </p:sp>
      <p:sp>
        <p:nvSpPr>
          <p:cNvPr id="149" name="Shape 11">
            <a:extLst>
              <a:ext uri="{FF2B5EF4-FFF2-40B4-BE49-F238E27FC236}">
                <a16:creationId xmlns:a16="http://schemas.microsoft.com/office/drawing/2014/main" id="{7D7BD91E-50FE-37A4-E567-200CF83DF396}"/>
              </a:ext>
            </a:extLst>
          </p:cNvPr>
          <p:cNvSpPr/>
          <p:nvPr/>
        </p:nvSpPr>
        <p:spPr>
          <a:xfrm>
            <a:off x="4846320" y="3025166"/>
            <a:ext cx="1005840" cy="310896"/>
          </a:xfrm>
          <a:prstGeom prst="ellipse">
            <a:avLst/>
          </a:prstGeom>
          <a:solidFill>
            <a:srgbClr val="F8FAFF"/>
          </a:solidFill>
          <a:ln w="10160">
            <a:solidFill>
              <a:srgbClr val="7C3AED"/>
            </a:solidFill>
            <a:prstDash val="solid"/>
          </a:ln>
        </p:spPr>
        <p:txBody>
          <a:bodyPr/>
          <a:lstStyle/>
          <a:p>
            <a:endParaRPr lang="en-CA" noProof="0"/>
          </a:p>
        </p:txBody>
      </p:sp>
      <p:sp>
        <p:nvSpPr>
          <p:cNvPr id="151" name="Text 12">
            <a:extLst>
              <a:ext uri="{FF2B5EF4-FFF2-40B4-BE49-F238E27FC236}">
                <a16:creationId xmlns:a16="http://schemas.microsoft.com/office/drawing/2014/main" id="{FB15079D-7373-8AA2-133A-89FF1D4194C4}"/>
              </a:ext>
            </a:extLst>
          </p:cNvPr>
          <p:cNvSpPr/>
          <p:nvPr/>
        </p:nvSpPr>
        <p:spPr>
          <a:xfrm>
            <a:off x="4846320" y="3025166"/>
            <a:ext cx="1005840" cy="310896"/>
          </a:xfrm>
          <a:prstGeom prst="rect">
            <a:avLst/>
          </a:prstGeom>
          <a:noFill/>
          <a:ln/>
        </p:spPr>
        <p:txBody>
          <a:bodyPr wrap="square" rtlCol="0" anchor="ctr"/>
          <a:lstStyle/>
          <a:p>
            <a:pPr marL="0" indent="0" algn="ctr">
              <a:buNone/>
            </a:pPr>
            <a:r>
              <a:rPr lang="en-CA" sz="750" noProof="0">
                <a:solidFill>
                  <a:srgbClr val="3B0764"/>
                </a:solidFill>
              </a:rPr>
              <a:t>Full Name</a:t>
            </a:r>
            <a:endParaRPr lang="en-CA" sz="750" noProof="0"/>
          </a:p>
        </p:txBody>
      </p:sp>
      <p:sp>
        <p:nvSpPr>
          <p:cNvPr id="153" name="Shape 14">
            <a:extLst>
              <a:ext uri="{FF2B5EF4-FFF2-40B4-BE49-F238E27FC236}">
                <a16:creationId xmlns:a16="http://schemas.microsoft.com/office/drawing/2014/main" id="{4D0B57F4-EE4F-7283-7DBD-FA9F36671370}"/>
              </a:ext>
            </a:extLst>
          </p:cNvPr>
          <p:cNvSpPr/>
          <p:nvPr/>
        </p:nvSpPr>
        <p:spPr>
          <a:xfrm>
            <a:off x="6309360" y="3025166"/>
            <a:ext cx="1005840" cy="310896"/>
          </a:xfrm>
          <a:prstGeom prst="ellipse">
            <a:avLst/>
          </a:prstGeom>
          <a:solidFill>
            <a:srgbClr val="F8FAFF"/>
          </a:solidFill>
          <a:ln w="10160">
            <a:solidFill>
              <a:srgbClr val="7C3AED"/>
            </a:solidFill>
            <a:prstDash val="solid"/>
          </a:ln>
        </p:spPr>
        <p:txBody>
          <a:bodyPr/>
          <a:lstStyle/>
          <a:p>
            <a:endParaRPr lang="en-CA" noProof="0"/>
          </a:p>
        </p:txBody>
      </p:sp>
      <p:sp>
        <p:nvSpPr>
          <p:cNvPr id="154" name="Text 15">
            <a:extLst>
              <a:ext uri="{FF2B5EF4-FFF2-40B4-BE49-F238E27FC236}">
                <a16:creationId xmlns:a16="http://schemas.microsoft.com/office/drawing/2014/main" id="{54112249-F4CF-3ADC-6153-37C862CD53D5}"/>
              </a:ext>
            </a:extLst>
          </p:cNvPr>
          <p:cNvSpPr/>
          <p:nvPr/>
        </p:nvSpPr>
        <p:spPr>
          <a:xfrm>
            <a:off x="6309360" y="3025166"/>
            <a:ext cx="1005840" cy="310896"/>
          </a:xfrm>
          <a:prstGeom prst="rect">
            <a:avLst/>
          </a:prstGeom>
          <a:noFill/>
          <a:ln/>
        </p:spPr>
        <p:txBody>
          <a:bodyPr wrap="square" rtlCol="0" anchor="ctr"/>
          <a:lstStyle/>
          <a:p>
            <a:pPr marL="0" indent="0" algn="ctr">
              <a:buNone/>
            </a:pPr>
            <a:r>
              <a:rPr lang="en-CA" sz="750" noProof="0">
                <a:solidFill>
                  <a:srgbClr val="3B0764"/>
                </a:solidFill>
              </a:rPr>
              <a:t>Date of Birth</a:t>
            </a:r>
            <a:endParaRPr lang="en-CA" sz="750" noProof="0"/>
          </a:p>
        </p:txBody>
      </p:sp>
      <p:sp>
        <p:nvSpPr>
          <p:cNvPr id="156" name="Shape 17">
            <a:extLst>
              <a:ext uri="{FF2B5EF4-FFF2-40B4-BE49-F238E27FC236}">
                <a16:creationId xmlns:a16="http://schemas.microsoft.com/office/drawing/2014/main" id="{1C9007D0-C091-6000-6810-0D4CAD3BCE92}"/>
              </a:ext>
            </a:extLst>
          </p:cNvPr>
          <p:cNvSpPr/>
          <p:nvPr/>
        </p:nvSpPr>
        <p:spPr>
          <a:xfrm>
            <a:off x="6821089" y="3391850"/>
            <a:ext cx="1005840" cy="310896"/>
          </a:xfrm>
          <a:prstGeom prst="ellipse">
            <a:avLst/>
          </a:prstGeom>
          <a:solidFill>
            <a:srgbClr val="F8FAFF"/>
          </a:solidFill>
          <a:ln w="10160">
            <a:solidFill>
              <a:srgbClr val="7C3AED"/>
            </a:solidFill>
            <a:prstDash val="solid"/>
          </a:ln>
        </p:spPr>
        <p:txBody>
          <a:bodyPr/>
          <a:lstStyle/>
          <a:p>
            <a:endParaRPr lang="en-CA" noProof="0"/>
          </a:p>
        </p:txBody>
      </p:sp>
      <p:sp>
        <p:nvSpPr>
          <p:cNvPr id="157" name="Text 18">
            <a:extLst>
              <a:ext uri="{FF2B5EF4-FFF2-40B4-BE49-F238E27FC236}">
                <a16:creationId xmlns:a16="http://schemas.microsoft.com/office/drawing/2014/main" id="{85B19FAD-79DD-A8F6-096C-0CDB08E7928F}"/>
              </a:ext>
            </a:extLst>
          </p:cNvPr>
          <p:cNvSpPr/>
          <p:nvPr/>
        </p:nvSpPr>
        <p:spPr>
          <a:xfrm>
            <a:off x="6853456" y="3401442"/>
            <a:ext cx="1005840" cy="310896"/>
          </a:xfrm>
          <a:prstGeom prst="rect">
            <a:avLst/>
          </a:prstGeom>
          <a:noFill/>
          <a:ln/>
        </p:spPr>
        <p:txBody>
          <a:bodyPr wrap="square" rtlCol="0" anchor="ctr"/>
          <a:lstStyle/>
          <a:p>
            <a:pPr marL="0" indent="0" algn="ctr">
              <a:buNone/>
            </a:pPr>
            <a:r>
              <a:rPr lang="en-CA" sz="750" noProof="0">
                <a:solidFill>
                  <a:srgbClr val="3B0764"/>
                </a:solidFill>
              </a:rPr>
              <a:t>Contact</a:t>
            </a:r>
            <a:endParaRPr lang="en-CA" sz="750" noProof="0"/>
          </a:p>
        </p:txBody>
      </p:sp>
      <p:sp>
        <p:nvSpPr>
          <p:cNvPr id="161" name="Text 30">
            <a:extLst>
              <a:ext uri="{FF2B5EF4-FFF2-40B4-BE49-F238E27FC236}">
                <a16:creationId xmlns:a16="http://schemas.microsoft.com/office/drawing/2014/main" id="{AF7A94CE-F116-5F1F-9502-62B00851B34F}"/>
              </a:ext>
            </a:extLst>
          </p:cNvPr>
          <p:cNvSpPr/>
          <p:nvPr/>
        </p:nvSpPr>
        <p:spPr>
          <a:xfrm>
            <a:off x="2019745" y="3868976"/>
            <a:ext cx="694944" cy="199156"/>
          </a:xfrm>
          <a:prstGeom prst="rect">
            <a:avLst/>
          </a:prstGeom>
          <a:noFill/>
          <a:ln/>
        </p:spPr>
        <p:txBody>
          <a:bodyPr wrap="square" rtlCol="0" anchor="ctr"/>
          <a:lstStyle/>
          <a:p>
            <a:pPr marL="0" indent="0" algn="ctr">
              <a:buNone/>
            </a:pPr>
            <a:r>
              <a:rPr lang="en-CA" sz="800" i="1" noProof="0"/>
              <a:t>belongs to</a:t>
            </a:r>
          </a:p>
          <a:p>
            <a:pPr marL="0" indent="0" algn="ctr">
              <a:buNone/>
            </a:pPr>
            <a:r>
              <a:rPr lang="en-CA" sz="800" i="1" noProof="0"/>
              <a:t> LOB</a:t>
            </a:r>
            <a:endParaRPr lang="en-CA" sz="800" noProof="0"/>
          </a:p>
        </p:txBody>
      </p:sp>
      <p:grpSp>
        <p:nvGrpSpPr>
          <p:cNvPr id="158" name="Group 157">
            <a:extLst>
              <a:ext uri="{FF2B5EF4-FFF2-40B4-BE49-F238E27FC236}">
                <a16:creationId xmlns:a16="http://schemas.microsoft.com/office/drawing/2014/main" id="{CDC2A861-57A8-81BD-8B41-5FC4C24AE145}"/>
              </a:ext>
            </a:extLst>
          </p:cNvPr>
          <p:cNvGrpSpPr/>
          <p:nvPr/>
        </p:nvGrpSpPr>
        <p:grpSpPr>
          <a:xfrm>
            <a:off x="402593" y="3057032"/>
            <a:ext cx="1305305" cy="392966"/>
            <a:chOff x="228600" y="1284732"/>
            <a:chExt cx="1737360" cy="475488"/>
          </a:xfrm>
        </p:grpSpPr>
        <p:sp>
          <p:nvSpPr>
            <p:cNvPr id="159" name="Shape 19">
              <a:extLst>
                <a:ext uri="{FF2B5EF4-FFF2-40B4-BE49-F238E27FC236}">
                  <a16:creationId xmlns:a16="http://schemas.microsoft.com/office/drawing/2014/main" id="{1F0EFE8A-4FFF-C10A-E686-A27E0E7DBDED}"/>
                </a:ext>
              </a:extLst>
            </p:cNvPr>
            <p:cNvSpPr/>
            <p:nvPr/>
          </p:nvSpPr>
          <p:spPr>
            <a:xfrm>
              <a:off x="228600" y="1284732"/>
              <a:ext cx="1737360" cy="475488"/>
            </a:xfrm>
            <a:prstGeom prst="roundRect">
              <a:avLst>
                <a:gd name="adj" fmla="val 13462"/>
              </a:avLst>
            </a:prstGeom>
            <a:solidFill>
              <a:srgbClr val="D1FAE5"/>
            </a:solidFill>
            <a:ln w="19050">
              <a:solidFill>
                <a:srgbClr val="059669"/>
              </a:solidFill>
              <a:prstDash val="solid"/>
            </a:ln>
            <a:effectLst>
              <a:outerShdw blurRad="50800" dist="12700" dir="16200000" algn="bl" rotWithShape="0">
                <a:srgbClr val="000000">
                  <a:alpha val="10000"/>
                </a:srgbClr>
              </a:outerShdw>
            </a:effectLst>
          </p:spPr>
          <p:txBody>
            <a:bodyPr/>
            <a:lstStyle/>
            <a:p>
              <a:endParaRPr lang="en-CA" noProof="0"/>
            </a:p>
          </p:txBody>
        </p:sp>
        <p:sp>
          <p:nvSpPr>
            <p:cNvPr id="160" name="Text 20">
              <a:extLst>
                <a:ext uri="{FF2B5EF4-FFF2-40B4-BE49-F238E27FC236}">
                  <a16:creationId xmlns:a16="http://schemas.microsoft.com/office/drawing/2014/main" id="{E587CCE3-6493-6245-BD87-3BE5FFAA8E20}"/>
                </a:ext>
              </a:extLst>
            </p:cNvPr>
            <p:cNvSpPr/>
            <p:nvPr/>
          </p:nvSpPr>
          <p:spPr>
            <a:xfrm>
              <a:off x="228600" y="1284732"/>
              <a:ext cx="1737360" cy="475488"/>
            </a:xfrm>
            <a:prstGeom prst="rect">
              <a:avLst/>
            </a:prstGeom>
            <a:noFill/>
            <a:ln/>
          </p:spPr>
          <p:txBody>
            <a:bodyPr wrap="square" rtlCol="0" anchor="ctr"/>
            <a:lstStyle/>
            <a:p>
              <a:pPr marL="0" indent="0" algn="ctr">
                <a:buNone/>
              </a:pPr>
              <a:r>
                <a:rPr lang="en-CA" sz="950" b="1" noProof="0">
                  <a:solidFill>
                    <a:srgbClr val="4A1B0C"/>
                  </a:solidFill>
                </a:rPr>
                <a:t>Insurance Solutions</a:t>
              </a:r>
              <a:endParaRPr lang="en-CA" sz="950" noProof="0"/>
            </a:p>
            <a:p>
              <a:pPr marL="0" indent="0" algn="ctr">
                <a:buNone/>
              </a:pPr>
              <a:r>
                <a:rPr lang="en-CA" sz="800" noProof="0">
                  <a:solidFill>
                    <a:schemeClr val="accent6">
                      <a:lumMod val="75000"/>
                    </a:schemeClr>
                  </a:solidFill>
                </a:rPr>
                <a:t>Individual protection</a:t>
              </a:r>
              <a:endParaRPr lang="en-CA" sz="950" noProof="0">
                <a:solidFill>
                  <a:schemeClr val="accent6">
                    <a:lumMod val="75000"/>
                  </a:schemeClr>
                </a:solidFill>
              </a:endParaRPr>
            </a:p>
          </p:txBody>
        </p:sp>
      </p:grpSp>
      <p:grpSp>
        <p:nvGrpSpPr>
          <p:cNvPr id="162" name="Group 161">
            <a:extLst>
              <a:ext uri="{FF2B5EF4-FFF2-40B4-BE49-F238E27FC236}">
                <a16:creationId xmlns:a16="http://schemas.microsoft.com/office/drawing/2014/main" id="{8D904281-E821-FBF1-1C0C-4D5B696F8542}"/>
              </a:ext>
            </a:extLst>
          </p:cNvPr>
          <p:cNvGrpSpPr/>
          <p:nvPr/>
        </p:nvGrpSpPr>
        <p:grpSpPr>
          <a:xfrm>
            <a:off x="402593" y="3591183"/>
            <a:ext cx="1305305" cy="392966"/>
            <a:chOff x="228600" y="2103120"/>
            <a:chExt cx="1737360" cy="475488"/>
          </a:xfrm>
        </p:grpSpPr>
        <p:sp>
          <p:nvSpPr>
            <p:cNvPr id="163" name="Shape 31">
              <a:extLst>
                <a:ext uri="{FF2B5EF4-FFF2-40B4-BE49-F238E27FC236}">
                  <a16:creationId xmlns:a16="http://schemas.microsoft.com/office/drawing/2014/main" id="{135B0A2A-C85B-E73D-CD8E-CC051E9C31ED}"/>
                </a:ext>
              </a:extLst>
            </p:cNvPr>
            <p:cNvSpPr/>
            <p:nvPr/>
          </p:nvSpPr>
          <p:spPr>
            <a:xfrm>
              <a:off x="228600" y="2103120"/>
              <a:ext cx="1737360" cy="475488"/>
            </a:xfrm>
            <a:prstGeom prst="roundRect">
              <a:avLst>
                <a:gd name="adj" fmla="val 13462"/>
              </a:avLst>
            </a:prstGeom>
            <a:solidFill>
              <a:srgbClr val="D1FAE5"/>
            </a:solidFill>
            <a:ln w="19050">
              <a:solidFill>
                <a:srgbClr val="059669"/>
              </a:solidFill>
              <a:prstDash val="solid"/>
            </a:ln>
            <a:effectLst>
              <a:outerShdw blurRad="50800" dist="12700" dir="16200000" algn="bl" rotWithShape="0">
                <a:srgbClr val="000000">
                  <a:alpha val="10000"/>
                </a:srgbClr>
              </a:outerShdw>
            </a:effectLst>
          </p:spPr>
          <p:txBody>
            <a:bodyPr/>
            <a:lstStyle/>
            <a:p>
              <a:endParaRPr lang="en-CA" noProof="0"/>
            </a:p>
          </p:txBody>
        </p:sp>
        <p:sp>
          <p:nvSpPr>
            <p:cNvPr id="164" name="Text 32">
              <a:extLst>
                <a:ext uri="{FF2B5EF4-FFF2-40B4-BE49-F238E27FC236}">
                  <a16:creationId xmlns:a16="http://schemas.microsoft.com/office/drawing/2014/main" id="{C83B57C6-A2F3-0055-4FA4-B23874FC31AB}"/>
                </a:ext>
              </a:extLst>
            </p:cNvPr>
            <p:cNvSpPr/>
            <p:nvPr/>
          </p:nvSpPr>
          <p:spPr>
            <a:xfrm>
              <a:off x="228600" y="2103120"/>
              <a:ext cx="1737360" cy="475488"/>
            </a:xfrm>
            <a:prstGeom prst="rect">
              <a:avLst/>
            </a:prstGeom>
            <a:noFill/>
            <a:ln/>
          </p:spPr>
          <p:txBody>
            <a:bodyPr wrap="square" rtlCol="0" anchor="ctr"/>
            <a:lstStyle/>
            <a:p>
              <a:pPr marL="0" indent="0" algn="ctr">
                <a:buNone/>
              </a:pPr>
              <a:r>
                <a:rPr lang="en-CA" sz="950" b="1" noProof="0">
                  <a:solidFill>
                    <a:srgbClr val="4A1B0C"/>
                  </a:solidFill>
                </a:rPr>
                <a:t>WBR</a:t>
              </a:r>
            </a:p>
            <a:p>
              <a:pPr marL="0" indent="0" algn="ctr">
                <a:buNone/>
              </a:pPr>
              <a:r>
                <a:rPr lang="en-CA" sz="800" noProof="0">
                  <a:solidFill>
                    <a:schemeClr val="accent6">
                      <a:lumMod val="75000"/>
                    </a:schemeClr>
                  </a:solidFill>
                </a:rPr>
                <a:t>Group benefits &amp; retirement</a:t>
              </a:r>
              <a:endParaRPr lang="en-CA" sz="950" noProof="0">
                <a:solidFill>
                  <a:schemeClr val="accent6">
                    <a:lumMod val="75000"/>
                  </a:schemeClr>
                </a:solidFill>
              </a:endParaRPr>
            </a:p>
          </p:txBody>
        </p:sp>
      </p:grpSp>
      <p:grpSp>
        <p:nvGrpSpPr>
          <p:cNvPr id="165" name="Group 164">
            <a:extLst>
              <a:ext uri="{FF2B5EF4-FFF2-40B4-BE49-F238E27FC236}">
                <a16:creationId xmlns:a16="http://schemas.microsoft.com/office/drawing/2014/main" id="{DEB6FAC7-EE27-509F-0A7B-B1C23AB3E285}"/>
              </a:ext>
            </a:extLst>
          </p:cNvPr>
          <p:cNvGrpSpPr/>
          <p:nvPr/>
        </p:nvGrpSpPr>
        <p:grpSpPr>
          <a:xfrm>
            <a:off x="403606" y="4125334"/>
            <a:ext cx="1325572" cy="416756"/>
            <a:chOff x="228600" y="3227832"/>
            <a:chExt cx="1764335" cy="504275"/>
          </a:xfrm>
        </p:grpSpPr>
        <p:sp>
          <p:nvSpPr>
            <p:cNvPr id="166" name="Shape 43">
              <a:extLst>
                <a:ext uri="{FF2B5EF4-FFF2-40B4-BE49-F238E27FC236}">
                  <a16:creationId xmlns:a16="http://schemas.microsoft.com/office/drawing/2014/main" id="{529D8C3B-6327-7DED-029E-8E35F8FE1283}"/>
                </a:ext>
              </a:extLst>
            </p:cNvPr>
            <p:cNvSpPr/>
            <p:nvPr/>
          </p:nvSpPr>
          <p:spPr>
            <a:xfrm>
              <a:off x="228600" y="3227832"/>
              <a:ext cx="1737360" cy="475488"/>
            </a:xfrm>
            <a:prstGeom prst="roundRect">
              <a:avLst>
                <a:gd name="adj" fmla="val 13462"/>
              </a:avLst>
            </a:prstGeom>
            <a:solidFill>
              <a:srgbClr val="D1FAE5"/>
            </a:solidFill>
            <a:ln w="19050">
              <a:solidFill>
                <a:srgbClr val="059669"/>
              </a:solidFill>
              <a:prstDash val="solid"/>
            </a:ln>
            <a:effectLst>
              <a:outerShdw blurRad="50800" dist="12700" dir="16200000" algn="bl" rotWithShape="0">
                <a:srgbClr val="000000">
                  <a:alpha val="10000"/>
                </a:srgbClr>
              </a:outerShdw>
            </a:effectLst>
          </p:spPr>
          <p:txBody>
            <a:bodyPr/>
            <a:lstStyle/>
            <a:p>
              <a:endParaRPr lang="en-CA" noProof="0"/>
            </a:p>
          </p:txBody>
        </p:sp>
        <p:sp>
          <p:nvSpPr>
            <p:cNvPr id="167" name="Text 44">
              <a:extLst>
                <a:ext uri="{FF2B5EF4-FFF2-40B4-BE49-F238E27FC236}">
                  <a16:creationId xmlns:a16="http://schemas.microsoft.com/office/drawing/2014/main" id="{D37268B7-8932-049D-AF08-94C8DBC4CD85}"/>
                </a:ext>
              </a:extLst>
            </p:cNvPr>
            <p:cNvSpPr/>
            <p:nvPr/>
          </p:nvSpPr>
          <p:spPr>
            <a:xfrm>
              <a:off x="255575" y="3256619"/>
              <a:ext cx="1737360" cy="475488"/>
            </a:xfrm>
            <a:prstGeom prst="rect">
              <a:avLst/>
            </a:prstGeom>
            <a:noFill/>
            <a:ln/>
          </p:spPr>
          <p:txBody>
            <a:bodyPr wrap="square" rtlCol="0" anchor="ctr"/>
            <a:lstStyle/>
            <a:p>
              <a:pPr marL="0" indent="0" algn="ctr">
                <a:buNone/>
              </a:pPr>
              <a:r>
                <a:rPr lang="en-CA" sz="950" b="1" noProof="0">
                  <a:solidFill>
                    <a:srgbClr val="4A1B0C"/>
                  </a:solidFill>
                </a:rPr>
                <a:t>Wealth</a:t>
              </a:r>
            </a:p>
            <a:p>
              <a:pPr marL="0" indent="0" algn="ctr">
                <a:buNone/>
              </a:pPr>
              <a:r>
                <a:rPr lang="en-CA" sz="800" noProof="0">
                  <a:solidFill>
                    <a:schemeClr val="accent6">
                      <a:lumMod val="75000"/>
                    </a:schemeClr>
                  </a:solidFill>
                </a:rPr>
                <a:t>Investments &amp; savings</a:t>
              </a:r>
              <a:endParaRPr lang="en-CA" sz="950" noProof="0">
                <a:solidFill>
                  <a:schemeClr val="accent6">
                    <a:lumMod val="75000"/>
                  </a:schemeClr>
                </a:solidFill>
              </a:endParaRPr>
            </a:p>
          </p:txBody>
        </p:sp>
      </p:grpSp>
      <p:grpSp>
        <p:nvGrpSpPr>
          <p:cNvPr id="168" name="Group 167">
            <a:extLst>
              <a:ext uri="{FF2B5EF4-FFF2-40B4-BE49-F238E27FC236}">
                <a16:creationId xmlns:a16="http://schemas.microsoft.com/office/drawing/2014/main" id="{CDCB86A8-7700-F67D-B884-A505F2B0835B}"/>
              </a:ext>
            </a:extLst>
          </p:cNvPr>
          <p:cNvGrpSpPr/>
          <p:nvPr/>
        </p:nvGrpSpPr>
        <p:grpSpPr>
          <a:xfrm>
            <a:off x="402593" y="4683276"/>
            <a:ext cx="1305305" cy="392966"/>
            <a:chOff x="228600" y="4389120"/>
            <a:chExt cx="1737360" cy="475488"/>
          </a:xfrm>
        </p:grpSpPr>
        <p:sp>
          <p:nvSpPr>
            <p:cNvPr id="169" name="Shape 55">
              <a:extLst>
                <a:ext uri="{FF2B5EF4-FFF2-40B4-BE49-F238E27FC236}">
                  <a16:creationId xmlns:a16="http://schemas.microsoft.com/office/drawing/2014/main" id="{20EFFEAA-DA34-5717-F220-C76DE628CE78}"/>
                </a:ext>
              </a:extLst>
            </p:cNvPr>
            <p:cNvSpPr/>
            <p:nvPr/>
          </p:nvSpPr>
          <p:spPr>
            <a:xfrm>
              <a:off x="228600" y="4389120"/>
              <a:ext cx="1737360" cy="475488"/>
            </a:xfrm>
            <a:prstGeom prst="roundRect">
              <a:avLst>
                <a:gd name="adj" fmla="val 13462"/>
              </a:avLst>
            </a:prstGeom>
            <a:solidFill>
              <a:srgbClr val="D1FAE5"/>
            </a:solidFill>
            <a:ln w="19050">
              <a:solidFill>
                <a:srgbClr val="059669"/>
              </a:solidFill>
              <a:prstDash val="solid"/>
            </a:ln>
            <a:effectLst>
              <a:outerShdw blurRad="50800" dist="12700" dir="16200000" algn="bl" rotWithShape="0">
                <a:srgbClr val="000000">
                  <a:alpha val="10000"/>
                </a:srgbClr>
              </a:outerShdw>
            </a:effectLst>
          </p:spPr>
          <p:txBody>
            <a:bodyPr/>
            <a:lstStyle/>
            <a:p>
              <a:endParaRPr lang="en-CA" noProof="0"/>
            </a:p>
          </p:txBody>
        </p:sp>
        <p:sp>
          <p:nvSpPr>
            <p:cNvPr id="170" name="Text 56">
              <a:extLst>
                <a:ext uri="{FF2B5EF4-FFF2-40B4-BE49-F238E27FC236}">
                  <a16:creationId xmlns:a16="http://schemas.microsoft.com/office/drawing/2014/main" id="{3E6F17C9-A3B3-1F3D-1939-96EBA035A808}"/>
                </a:ext>
              </a:extLst>
            </p:cNvPr>
            <p:cNvSpPr/>
            <p:nvPr/>
          </p:nvSpPr>
          <p:spPr>
            <a:xfrm>
              <a:off x="228600" y="4389120"/>
              <a:ext cx="1737360" cy="475488"/>
            </a:xfrm>
            <a:prstGeom prst="rect">
              <a:avLst/>
            </a:prstGeom>
            <a:noFill/>
            <a:ln/>
          </p:spPr>
          <p:txBody>
            <a:bodyPr wrap="square" rtlCol="0" anchor="ctr"/>
            <a:lstStyle/>
            <a:p>
              <a:pPr marL="0" indent="0" algn="ctr">
                <a:buNone/>
              </a:pPr>
              <a:r>
                <a:rPr lang="en-CA" sz="950" b="1" noProof="0">
                  <a:solidFill>
                    <a:srgbClr val="1F2937"/>
                  </a:solidFill>
                </a:rPr>
                <a:t>Reinsurance</a:t>
              </a:r>
              <a:endParaRPr lang="en-CA" sz="950" noProof="0"/>
            </a:p>
            <a:p>
              <a:pPr marL="0" indent="0" algn="ctr">
                <a:buNone/>
              </a:pPr>
              <a:r>
                <a:rPr lang="en-CA" sz="800" noProof="0">
                  <a:solidFill>
                    <a:schemeClr val="accent6">
                      <a:lumMod val="75000"/>
                    </a:schemeClr>
                  </a:solidFill>
                </a:rPr>
                <a:t>Risk transfer</a:t>
              </a:r>
              <a:endParaRPr lang="en-CA" sz="950" noProof="0">
                <a:solidFill>
                  <a:schemeClr val="accent6">
                    <a:lumMod val="75000"/>
                  </a:schemeClr>
                </a:solidFill>
              </a:endParaRPr>
            </a:p>
          </p:txBody>
        </p:sp>
      </p:grpSp>
      <p:sp>
        <p:nvSpPr>
          <p:cNvPr id="174" name="Text 77">
            <a:extLst>
              <a:ext uri="{FF2B5EF4-FFF2-40B4-BE49-F238E27FC236}">
                <a16:creationId xmlns:a16="http://schemas.microsoft.com/office/drawing/2014/main" id="{1BE38CD2-64AD-1431-3F09-359503D0AF3C}"/>
              </a:ext>
            </a:extLst>
          </p:cNvPr>
          <p:cNvSpPr/>
          <p:nvPr/>
        </p:nvSpPr>
        <p:spPr>
          <a:xfrm>
            <a:off x="8070739" y="3826962"/>
            <a:ext cx="857164" cy="163677"/>
          </a:xfrm>
          <a:prstGeom prst="rect">
            <a:avLst/>
          </a:prstGeom>
          <a:noFill/>
          <a:ln/>
        </p:spPr>
        <p:txBody>
          <a:bodyPr wrap="square" rtlCol="0" anchor="ctr"/>
          <a:lstStyle/>
          <a:p>
            <a:pPr marL="0" indent="0" algn="ctr">
              <a:buNone/>
            </a:pPr>
            <a:r>
              <a:rPr lang="en-CA" sz="800" i="1" noProof="0"/>
              <a:t>works with/ works for</a:t>
            </a:r>
            <a:endParaRPr lang="en-CA" sz="800" noProof="0"/>
          </a:p>
        </p:txBody>
      </p:sp>
      <p:grpSp>
        <p:nvGrpSpPr>
          <p:cNvPr id="179" name="Group 178">
            <a:extLst>
              <a:ext uri="{FF2B5EF4-FFF2-40B4-BE49-F238E27FC236}">
                <a16:creationId xmlns:a16="http://schemas.microsoft.com/office/drawing/2014/main" id="{8869783A-F50F-3040-D54F-1D733F234824}"/>
              </a:ext>
            </a:extLst>
          </p:cNvPr>
          <p:cNvGrpSpPr/>
          <p:nvPr/>
        </p:nvGrpSpPr>
        <p:grpSpPr>
          <a:xfrm>
            <a:off x="2702078" y="3866113"/>
            <a:ext cx="1828800" cy="392966"/>
            <a:chOff x="9784080" y="3749039"/>
            <a:chExt cx="1828800" cy="475489"/>
          </a:xfrm>
        </p:grpSpPr>
        <p:sp>
          <p:nvSpPr>
            <p:cNvPr id="180" name="Shape 89">
              <a:extLst>
                <a:ext uri="{FF2B5EF4-FFF2-40B4-BE49-F238E27FC236}">
                  <a16:creationId xmlns:a16="http://schemas.microsoft.com/office/drawing/2014/main" id="{6B5CF1D4-C610-1DA7-2DB0-5EBC3BCB9F11}"/>
                </a:ext>
              </a:extLst>
            </p:cNvPr>
            <p:cNvSpPr/>
            <p:nvPr/>
          </p:nvSpPr>
          <p:spPr>
            <a:xfrm>
              <a:off x="9784080" y="3749040"/>
              <a:ext cx="1828800" cy="475488"/>
            </a:xfrm>
            <a:prstGeom prst="roundRect">
              <a:avLst>
                <a:gd name="adj" fmla="val 13462"/>
              </a:avLst>
            </a:prstGeom>
            <a:solidFill>
              <a:srgbClr val="FFFBEB"/>
            </a:solidFill>
            <a:ln w="19050">
              <a:solidFill>
                <a:srgbClr val="D97706"/>
              </a:solidFill>
              <a:prstDash val="solid"/>
            </a:ln>
            <a:effectLst>
              <a:outerShdw blurRad="50800" dist="12700" dir="16200000" algn="bl" rotWithShape="0">
                <a:srgbClr val="000000">
                  <a:alpha val="10000"/>
                </a:srgbClr>
              </a:outerShdw>
            </a:effectLst>
          </p:spPr>
          <p:txBody>
            <a:bodyPr/>
            <a:lstStyle/>
            <a:p>
              <a:endParaRPr lang="en-CA" noProof="0"/>
            </a:p>
          </p:txBody>
        </p:sp>
        <p:sp>
          <p:nvSpPr>
            <p:cNvPr id="181" name="Text 90">
              <a:extLst>
                <a:ext uri="{FF2B5EF4-FFF2-40B4-BE49-F238E27FC236}">
                  <a16:creationId xmlns:a16="http://schemas.microsoft.com/office/drawing/2014/main" id="{2181CDB2-1D91-5671-793B-2A38F89ABCA1}"/>
                </a:ext>
              </a:extLst>
            </p:cNvPr>
            <p:cNvSpPr/>
            <p:nvPr/>
          </p:nvSpPr>
          <p:spPr>
            <a:xfrm>
              <a:off x="9784080" y="3749039"/>
              <a:ext cx="1828800" cy="475488"/>
            </a:xfrm>
            <a:prstGeom prst="rect">
              <a:avLst/>
            </a:prstGeom>
            <a:noFill/>
            <a:ln/>
          </p:spPr>
          <p:txBody>
            <a:bodyPr wrap="square" rtlCol="0" anchor="ctr"/>
            <a:lstStyle/>
            <a:p>
              <a:pPr marL="0" indent="0" algn="ctr">
                <a:buNone/>
              </a:pPr>
              <a:r>
                <a:rPr lang="en-CA" sz="1000" b="1" noProof="0">
                  <a:solidFill>
                    <a:srgbClr val="451A03"/>
                  </a:solidFill>
                </a:rPr>
                <a:t>Products</a:t>
              </a:r>
              <a:r>
                <a:rPr lang="en-CA" sz="1000" b="1" noProof="0"/>
                <a:t> </a:t>
              </a:r>
              <a:r>
                <a:rPr lang="en-CA" sz="1000" b="1" noProof="0">
                  <a:solidFill>
                    <a:srgbClr val="451A03"/>
                  </a:solidFill>
                </a:rPr>
                <a:t>&amp; Plans</a:t>
              </a:r>
            </a:p>
            <a:p>
              <a:pPr marL="0" indent="0" algn="ctr">
                <a:buNone/>
              </a:pPr>
              <a:r>
                <a:rPr lang="en-CA" sz="850" noProof="0">
                  <a:solidFill>
                    <a:srgbClr val="D97706"/>
                  </a:solidFill>
                </a:rPr>
                <a:t>Policies, Certificates, Accounts, Treaties</a:t>
              </a:r>
              <a:endParaRPr lang="en-CA" sz="1000" noProof="0"/>
            </a:p>
          </p:txBody>
        </p:sp>
      </p:grpSp>
      <p:sp>
        <p:nvSpPr>
          <p:cNvPr id="182" name="Text 99">
            <a:extLst>
              <a:ext uri="{FF2B5EF4-FFF2-40B4-BE49-F238E27FC236}">
                <a16:creationId xmlns:a16="http://schemas.microsoft.com/office/drawing/2014/main" id="{D2730D6A-BD3B-6503-45FC-15A74B571ABD}"/>
              </a:ext>
            </a:extLst>
          </p:cNvPr>
          <p:cNvSpPr/>
          <p:nvPr/>
        </p:nvSpPr>
        <p:spPr>
          <a:xfrm>
            <a:off x="4518267" y="3895627"/>
            <a:ext cx="640080" cy="164592"/>
          </a:xfrm>
          <a:prstGeom prst="rect">
            <a:avLst/>
          </a:prstGeom>
          <a:noFill/>
          <a:ln/>
        </p:spPr>
        <p:txBody>
          <a:bodyPr wrap="square" rtlCol="0" anchor="ctr"/>
          <a:lstStyle/>
          <a:p>
            <a:pPr marL="0" indent="0" algn="ctr">
              <a:buNone/>
            </a:pPr>
            <a:r>
              <a:rPr lang="en-CA" sz="800" noProof="0"/>
              <a:t>buys</a:t>
            </a:r>
          </a:p>
        </p:txBody>
      </p:sp>
      <p:sp>
        <p:nvSpPr>
          <p:cNvPr id="185" name="Text 108">
            <a:extLst>
              <a:ext uri="{FF2B5EF4-FFF2-40B4-BE49-F238E27FC236}">
                <a16:creationId xmlns:a16="http://schemas.microsoft.com/office/drawing/2014/main" id="{E64EA9DA-9BE5-7800-ABBE-7CFB7343D668}"/>
              </a:ext>
            </a:extLst>
          </p:cNvPr>
          <p:cNvSpPr/>
          <p:nvPr/>
        </p:nvSpPr>
        <p:spPr>
          <a:xfrm rot="16200000">
            <a:off x="5667815" y="3377305"/>
            <a:ext cx="548640" cy="146304"/>
          </a:xfrm>
          <a:prstGeom prst="rect">
            <a:avLst/>
          </a:prstGeom>
          <a:noFill/>
          <a:ln/>
        </p:spPr>
        <p:txBody>
          <a:bodyPr wrap="square" rtlCol="0" anchor="ctr"/>
          <a:lstStyle/>
          <a:p>
            <a:pPr marL="0" indent="0">
              <a:buNone/>
            </a:pPr>
            <a:r>
              <a:rPr lang="en-CA" sz="800" i="1" noProof="0"/>
              <a:t>Plays role of </a:t>
            </a:r>
            <a:endParaRPr lang="en-CA" sz="800" noProof="0"/>
          </a:p>
        </p:txBody>
      </p:sp>
      <p:grpSp>
        <p:nvGrpSpPr>
          <p:cNvPr id="219" name="Group 218">
            <a:extLst>
              <a:ext uri="{FF2B5EF4-FFF2-40B4-BE49-F238E27FC236}">
                <a16:creationId xmlns:a16="http://schemas.microsoft.com/office/drawing/2014/main" id="{7DA42BBF-6997-9E08-501D-56EFF6269943}"/>
              </a:ext>
            </a:extLst>
          </p:cNvPr>
          <p:cNvGrpSpPr/>
          <p:nvPr/>
        </p:nvGrpSpPr>
        <p:grpSpPr>
          <a:xfrm>
            <a:off x="3849466" y="4965585"/>
            <a:ext cx="4422164" cy="457200"/>
            <a:chOff x="3383280" y="1419352"/>
            <a:chExt cx="5350818" cy="457200"/>
          </a:xfrm>
        </p:grpSpPr>
        <p:sp>
          <p:nvSpPr>
            <p:cNvPr id="186" name="Shape 109">
              <a:extLst>
                <a:ext uri="{FF2B5EF4-FFF2-40B4-BE49-F238E27FC236}">
                  <a16:creationId xmlns:a16="http://schemas.microsoft.com/office/drawing/2014/main" id="{92FE4B40-87C2-F804-05F9-365C8100571E}"/>
                </a:ext>
              </a:extLst>
            </p:cNvPr>
            <p:cNvSpPr/>
            <p:nvPr/>
          </p:nvSpPr>
          <p:spPr>
            <a:xfrm>
              <a:off x="3430578" y="1419352"/>
              <a:ext cx="5303520" cy="457200"/>
            </a:xfrm>
            <a:prstGeom prst="roundRect">
              <a:avLst>
                <a:gd name="adj" fmla="val 14000"/>
              </a:avLst>
            </a:prstGeom>
            <a:solidFill>
              <a:srgbClr val="FAF5FF"/>
            </a:solidFill>
            <a:ln w="19050">
              <a:solidFill>
                <a:srgbClr val="7C3AED"/>
              </a:solidFill>
              <a:prstDash val="solid"/>
            </a:ln>
            <a:effectLst>
              <a:outerShdw blurRad="50800" dist="12700" dir="16200000" algn="bl" rotWithShape="0">
                <a:srgbClr val="000000">
                  <a:alpha val="10000"/>
                </a:srgbClr>
              </a:outerShdw>
            </a:effectLst>
          </p:spPr>
          <p:txBody>
            <a:bodyPr/>
            <a:lstStyle/>
            <a:p>
              <a:endParaRPr lang="en-CA" noProof="0"/>
            </a:p>
          </p:txBody>
        </p:sp>
        <p:sp>
          <p:nvSpPr>
            <p:cNvPr id="187" name="Text 110">
              <a:extLst>
                <a:ext uri="{FF2B5EF4-FFF2-40B4-BE49-F238E27FC236}">
                  <a16:creationId xmlns:a16="http://schemas.microsoft.com/office/drawing/2014/main" id="{22296835-61CE-B9D7-3800-4C50C61B5BB0}"/>
                </a:ext>
              </a:extLst>
            </p:cNvPr>
            <p:cNvSpPr/>
            <p:nvPr/>
          </p:nvSpPr>
          <p:spPr>
            <a:xfrm>
              <a:off x="3383280" y="1419352"/>
              <a:ext cx="5303520" cy="457200"/>
            </a:xfrm>
            <a:prstGeom prst="rect">
              <a:avLst/>
            </a:prstGeom>
            <a:noFill/>
            <a:ln/>
          </p:spPr>
          <p:txBody>
            <a:bodyPr wrap="square" rtlCol="0" anchor="ctr"/>
            <a:lstStyle/>
            <a:p>
              <a:pPr marL="0" indent="0" algn="ctr">
                <a:buNone/>
              </a:pPr>
              <a:r>
                <a:rPr lang="en-CA" sz="950" b="1" noProof="0">
                  <a:solidFill>
                    <a:srgbClr val="3B0764"/>
                  </a:solidFill>
                </a:rPr>
                <a:t>CHANNEL  (entry mechanism)</a:t>
              </a:r>
              <a:endParaRPr lang="en-CA" sz="950" noProof="0"/>
            </a:p>
            <a:p>
              <a:pPr marL="0" indent="0" algn="ctr">
                <a:buNone/>
              </a:pPr>
              <a:r>
                <a:rPr lang="en-CA" sz="800" noProof="0">
                  <a:solidFill>
                    <a:srgbClr val="7C3AED"/>
                  </a:solidFill>
                </a:rPr>
                <a:t>Individual · Group/Employer · Voluntary/Worksite · Direct/Digital · Broker/Advisor</a:t>
              </a:r>
              <a:endParaRPr lang="en-CA" sz="950" noProof="0"/>
            </a:p>
          </p:txBody>
        </p:sp>
      </p:grpSp>
      <p:cxnSp>
        <p:nvCxnSpPr>
          <p:cNvPr id="201" name="Connector: Elbow 200">
            <a:extLst>
              <a:ext uri="{FF2B5EF4-FFF2-40B4-BE49-F238E27FC236}">
                <a16:creationId xmlns:a16="http://schemas.microsoft.com/office/drawing/2014/main" id="{F861888A-E48F-12A0-80C3-395FCBFC85B6}"/>
              </a:ext>
            </a:extLst>
          </p:cNvPr>
          <p:cNvCxnSpPr>
            <a:cxnSpLocks noGrp="1" noRot="1" noMove="1" noResize="1" noEditPoints="1" noAdjustHandles="1" noChangeArrowheads="1" noChangeShapeType="1"/>
          </p:cNvCxnSpPr>
          <p:nvPr/>
        </p:nvCxnSpPr>
        <p:spPr>
          <a:xfrm rot="10800000">
            <a:off x="1707898" y="3253515"/>
            <a:ext cx="994180" cy="80908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2" name="Connector: Elbow 201">
            <a:extLst>
              <a:ext uri="{FF2B5EF4-FFF2-40B4-BE49-F238E27FC236}">
                <a16:creationId xmlns:a16="http://schemas.microsoft.com/office/drawing/2014/main" id="{B11C10B5-550D-CC6E-A1B2-BF7ACB0470EC}"/>
              </a:ext>
            </a:extLst>
          </p:cNvPr>
          <p:cNvCxnSpPr>
            <a:cxnSpLocks noGrp="1" noRot="1" noMove="1" noResize="1" noEditPoints="1" noAdjustHandles="1" noChangeArrowheads="1" noChangeShapeType="1"/>
          </p:cNvCxnSpPr>
          <p:nvPr/>
        </p:nvCxnSpPr>
        <p:spPr>
          <a:xfrm rot="10800000" flipV="1">
            <a:off x="1708912" y="4062597"/>
            <a:ext cx="993167" cy="2592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3" name="Connector: Elbow 202">
            <a:extLst>
              <a:ext uri="{FF2B5EF4-FFF2-40B4-BE49-F238E27FC236}">
                <a16:creationId xmlns:a16="http://schemas.microsoft.com/office/drawing/2014/main" id="{35B2BD6A-C791-A08B-ED65-A675EDBC94B3}"/>
              </a:ext>
            </a:extLst>
          </p:cNvPr>
          <p:cNvCxnSpPr>
            <a:cxnSpLocks noGrp="1" noRot="1" noMove="1" noResize="1" noEditPoints="1" noAdjustHandles="1" noChangeArrowheads="1" noChangeShapeType="1"/>
          </p:cNvCxnSpPr>
          <p:nvPr/>
        </p:nvCxnSpPr>
        <p:spPr>
          <a:xfrm rot="10800000" flipV="1">
            <a:off x="1707898" y="4062597"/>
            <a:ext cx="994180" cy="81716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 name="Connector: Elbow 204">
            <a:extLst>
              <a:ext uri="{FF2B5EF4-FFF2-40B4-BE49-F238E27FC236}">
                <a16:creationId xmlns:a16="http://schemas.microsoft.com/office/drawing/2014/main" id="{8AD06274-64A8-7988-886C-465C914FB6C0}"/>
              </a:ext>
            </a:extLst>
          </p:cNvPr>
          <p:cNvCxnSpPr>
            <a:cxnSpLocks/>
            <a:stCxn id="133" idx="3"/>
          </p:cNvCxnSpPr>
          <p:nvPr/>
        </p:nvCxnSpPr>
        <p:spPr>
          <a:xfrm flipV="1">
            <a:off x="7040880" y="4060219"/>
            <a:ext cx="2609060" cy="91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8" name="Connector: Elbow 207">
            <a:extLst>
              <a:ext uri="{FF2B5EF4-FFF2-40B4-BE49-F238E27FC236}">
                <a16:creationId xmlns:a16="http://schemas.microsoft.com/office/drawing/2014/main" id="{FD407FD9-94F6-2A6A-D50B-34EEA81C5449}"/>
              </a:ext>
            </a:extLst>
          </p:cNvPr>
          <p:cNvCxnSpPr>
            <a:cxnSpLocks/>
            <a:stCxn id="133" idx="0"/>
          </p:cNvCxnSpPr>
          <p:nvPr/>
        </p:nvCxnSpPr>
        <p:spPr>
          <a:xfrm rot="5400000" flipH="1" flipV="1">
            <a:off x="5601999" y="3376442"/>
            <a:ext cx="960800" cy="327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 name="Connector: Elbow 208">
            <a:extLst>
              <a:ext uri="{FF2B5EF4-FFF2-40B4-BE49-F238E27FC236}">
                <a16:creationId xmlns:a16="http://schemas.microsoft.com/office/drawing/2014/main" id="{32C19992-884D-8147-B681-74F1D716E93C}"/>
              </a:ext>
            </a:extLst>
          </p:cNvPr>
          <p:cNvCxnSpPr>
            <a:cxnSpLocks/>
            <a:stCxn id="133" idx="2"/>
          </p:cNvCxnSpPr>
          <p:nvPr/>
        </p:nvCxnSpPr>
        <p:spPr>
          <a:xfrm rot="5400000">
            <a:off x="5729528" y="4614352"/>
            <a:ext cx="701799" cy="667"/>
          </a:xfrm>
          <a:prstGeom prst="bentConnector3">
            <a:avLst>
              <a:gd name="adj1" fmla="val 5732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65521EC8-EBBD-6B24-9D96-17B8C5094622}"/>
              </a:ext>
            </a:extLst>
          </p:cNvPr>
          <p:cNvGrpSpPr/>
          <p:nvPr/>
        </p:nvGrpSpPr>
        <p:grpSpPr>
          <a:xfrm>
            <a:off x="1595950" y="5819020"/>
            <a:ext cx="9000100" cy="380480"/>
            <a:chOff x="391600" y="5819020"/>
            <a:chExt cx="9000100" cy="380480"/>
          </a:xfrm>
        </p:grpSpPr>
        <p:sp>
          <p:nvSpPr>
            <p:cNvPr id="189" name="Rectangle: Rounded Corners 188">
              <a:extLst>
                <a:ext uri="{FF2B5EF4-FFF2-40B4-BE49-F238E27FC236}">
                  <a16:creationId xmlns:a16="http://schemas.microsoft.com/office/drawing/2014/main" id="{78B05F72-6C3B-9A73-3CC2-34E596F3C913}"/>
                </a:ext>
              </a:extLst>
            </p:cNvPr>
            <p:cNvSpPr/>
            <p:nvPr/>
          </p:nvSpPr>
          <p:spPr>
            <a:xfrm>
              <a:off x="391600" y="5829320"/>
              <a:ext cx="9000100" cy="359881"/>
            </a:xfrm>
            <a:prstGeom prst="roundRect">
              <a:avLst/>
            </a:prstGeom>
            <a:noFill/>
            <a:ln w="9525">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sp>
          <p:nvSpPr>
            <p:cNvPr id="190" name="TextBox 189">
              <a:extLst>
                <a:ext uri="{FF2B5EF4-FFF2-40B4-BE49-F238E27FC236}">
                  <a16:creationId xmlns:a16="http://schemas.microsoft.com/office/drawing/2014/main" id="{4088C3AB-D75D-5C91-9DC9-0C79DA2C9EB9}"/>
                </a:ext>
              </a:extLst>
            </p:cNvPr>
            <p:cNvSpPr txBox="1"/>
            <p:nvPr/>
          </p:nvSpPr>
          <p:spPr>
            <a:xfrm>
              <a:off x="512942" y="5892117"/>
              <a:ext cx="535153" cy="234286"/>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1200" cap="none" spc="0" normalizeH="0" baseline="0" noProof="0">
                  <a:ln>
                    <a:noFill/>
                  </a:ln>
                  <a:solidFill>
                    <a:srgbClr val="F0F0EF">
                      <a:lumMod val="10000"/>
                    </a:srgbClr>
                  </a:solidFill>
                  <a:effectLst/>
                  <a:uLnTx/>
                  <a:uFillTx/>
                  <a:ea typeface="+mn-ea"/>
                  <a:cs typeface="+mn-cs"/>
                </a:rPr>
                <a:t>Legend</a:t>
              </a:r>
            </a:p>
          </p:txBody>
        </p:sp>
        <p:cxnSp>
          <p:nvCxnSpPr>
            <p:cNvPr id="191" name="Straight Connector 190">
              <a:extLst>
                <a:ext uri="{FF2B5EF4-FFF2-40B4-BE49-F238E27FC236}">
                  <a16:creationId xmlns:a16="http://schemas.microsoft.com/office/drawing/2014/main" id="{51CE011D-602F-F240-8BFC-255DA2783919}"/>
                </a:ext>
              </a:extLst>
            </p:cNvPr>
            <p:cNvCxnSpPr>
              <a:cxnSpLocks/>
            </p:cNvCxnSpPr>
            <p:nvPr/>
          </p:nvCxnSpPr>
          <p:spPr>
            <a:xfrm>
              <a:off x="1169437" y="5901260"/>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D71433E-8833-5E31-6F83-1A0BE9ACF9CB}"/>
                </a:ext>
              </a:extLst>
            </p:cNvPr>
            <p:cNvCxnSpPr>
              <a:cxnSpLocks/>
            </p:cNvCxnSpPr>
            <p:nvPr/>
          </p:nvCxnSpPr>
          <p:spPr>
            <a:xfrm>
              <a:off x="2592174" y="5901260"/>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6C68521-757C-FFF8-96E5-C1E991B5DB23}"/>
                </a:ext>
              </a:extLst>
            </p:cNvPr>
            <p:cNvGrpSpPr/>
            <p:nvPr/>
          </p:nvGrpSpPr>
          <p:grpSpPr>
            <a:xfrm>
              <a:off x="1290779" y="5895965"/>
              <a:ext cx="1180053" cy="226591"/>
              <a:chOff x="1345253" y="5895965"/>
              <a:chExt cx="1180053" cy="226591"/>
            </a:xfrm>
          </p:grpSpPr>
          <p:sp>
            <p:nvSpPr>
              <p:cNvPr id="193" name="TextBox 192">
                <a:extLst>
                  <a:ext uri="{FF2B5EF4-FFF2-40B4-BE49-F238E27FC236}">
                    <a16:creationId xmlns:a16="http://schemas.microsoft.com/office/drawing/2014/main" id="{D920AB9B-C52B-C88E-753A-435911E4FCE0}"/>
                  </a:ext>
                </a:extLst>
              </p:cNvPr>
              <p:cNvSpPr txBox="1"/>
              <p:nvPr/>
            </p:nvSpPr>
            <p:spPr>
              <a:xfrm>
                <a:off x="1751230" y="5895965"/>
                <a:ext cx="774076"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F0F0EF">
                        <a:lumMod val="10000"/>
                      </a:srgbClr>
                    </a:solidFill>
                    <a:effectLst/>
                    <a:uLnTx/>
                    <a:uFillTx/>
                    <a:ea typeface="+mn-ea"/>
                    <a:cs typeface="+mn-cs"/>
                  </a:rPr>
                  <a:t>Root Entity </a:t>
                </a:r>
              </a:p>
            </p:txBody>
          </p:sp>
          <p:sp>
            <p:nvSpPr>
              <p:cNvPr id="194" name="Rectangle: Rounded Corners 193">
                <a:extLst>
                  <a:ext uri="{FF2B5EF4-FFF2-40B4-BE49-F238E27FC236}">
                    <a16:creationId xmlns:a16="http://schemas.microsoft.com/office/drawing/2014/main" id="{7C67779C-17AF-C4CC-487B-89A91E0818FE}"/>
                  </a:ext>
                </a:extLst>
              </p:cNvPr>
              <p:cNvSpPr/>
              <p:nvPr/>
            </p:nvSpPr>
            <p:spPr>
              <a:xfrm>
                <a:off x="1345253" y="5917820"/>
                <a:ext cx="405977" cy="182880"/>
              </a:xfrm>
              <a:prstGeom prst="roundRect">
                <a:avLst/>
              </a:prstGeom>
              <a:solidFill>
                <a:srgbClr val="6B1E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a:p>
            </p:txBody>
          </p:sp>
        </p:grpSp>
        <p:cxnSp>
          <p:nvCxnSpPr>
            <p:cNvPr id="195" name="Straight Connector 194">
              <a:extLst>
                <a:ext uri="{FF2B5EF4-FFF2-40B4-BE49-F238E27FC236}">
                  <a16:creationId xmlns:a16="http://schemas.microsoft.com/office/drawing/2014/main" id="{3676F0D7-CFCC-83D3-63BE-4BAEF9BB4EC1}"/>
                </a:ext>
              </a:extLst>
            </p:cNvPr>
            <p:cNvCxnSpPr>
              <a:cxnSpLocks/>
            </p:cNvCxnSpPr>
            <p:nvPr/>
          </p:nvCxnSpPr>
          <p:spPr>
            <a:xfrm>
              <a:off x="3775828" y="5901260"/>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BBFE88C4-C609-5A07-2DEA-47784440FC50}"/>
                </a:ext>
              </a:extLst>
            </p:cNvPr>
            <p:cNvGrpSpPr/>
            <p:nvPr/>
          </p:nvGrpSpPr>
          <p:grpSpPr>
            <a:xfrm>
              <a:off x="2713516" y="5895965"/>
              <a:ext cx="940970" cy="226591"/>
              <a:chOff x="2680522" y="5895965"/>
              <a:chExt cx="940970" cy="226591"/>
            </a:xfrm>
          </p:grpSpPr>
          <p:sp>
            <p:nvSpPr>
              <p:cNvPr id="196" name="TextBox 195">
                <a:extLst>
                  <a:ext uri="{FF2B5EF4-FFF2-40B4-BE49-F238E27FC236}">
                    <a16:creationId xmlns:a16="http://schemas.microsoft.com/office/drawing/2014/main" id="{AD755D7F-6CE8-68B9-7B85-2D5B2BC6D50A}"/>
                  </a:ext>
                </a:extLst>
              </p:cNvPr>
              <p:cNvSpPr txBox="1"/>
              <p:nvPr/>
            </p:nvSpPr>
            <p:spPr>
              <a:xfrm>
                <a:off x="3140851" y="5895965"/>
                <a:ext cx="480641"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F0F0EF">
                        <a:lumMod val="10000"/>
                      </a:srgbClr>
                    </a:solidFill>
                    <a:effectLst/>
                    <a:uLnTx/>
                    <a:uFillTx/>
                    <a:ea typeface="+mn-ea"/>
                    <a:cs typeface="+mn-cs"/>
                  </a:rPr>
                  <a:t>Roles</a:t>
                </a:r>
              </a:p>
            </p:txBody>
          </p:sp>
          <p:sp>
            <p:nvSpPr>
              <p:cNvPr id="197" name="Rectangle: Rounded Corners 196">
                <a:extLst>
                  <a:ext uri="{FF2B5EF4-FFF2-40B4-BE49-F238E27FC236}">
                    <a16:creationId xmlns:a16="http://schemas.microsoft.com/office/drawing/2014/main" id="{E432BB03-D641-8FE0-D663-13C1F7785B83}"/>
                  </a:ext>
                </a:extLst>
              </p:cNvPr>
              <p:cNvSpPr/>
              <p:nvPr/>
            </p:nvSpPr>
            <p:spPr>
              <a:xfrm>
                <a:off x="2680522" y="5917820"/>
                <a:ext cx="405977" cy="182880"/>
              </a:xfrm>
              <a:prstGeom prst="roundRect">
                <a:avLst/>
              </a:prstGeom>
              <a:solidFill>
                <a:srgbClr val="DBEAFE"/>
              </a:solidFill>
              <a:ln w="19050">
                <a:solidFill>
                  <a:srgbClr val="2563EB"/>
                </a:solidFill>
                <a:prstDash val="solid"/>
              </a:ln>
              <a:effectLst/>
            </p:spPr>
            <p:txBody>
              <a:bodyPr/>
              <a:lstStyle/>
              <a:p>
                <a:endParaRPr lang="en-CA" noProof="0">
                  <a:solidFill>
                    <a:schemeClr val="tx1"/>
                  </a:solidFill>
                </a:endParaRPr>
              </a:p>
            </p:txBody>
          </p:sp>
        </p:grpSp>
        <p:cxnSp>
          <p:nvCxnSpPr>
            <p:cNvPr id="198" name="Straight Connector 197">
              <a:extLst>
                <a:ext uri="{FF2B5EF4-FFF2-40B4-BE49-F238E27FC236}">
                  <a16:creationId xmlns:a16="http://schemas.microsoft.com/office/drawing/2014/main" id="{0027CEE4-8EC9-0F8A-0EA7-6F3E4FD06216}"/>
                </a:ext>
              </a:extLst>
            </p:cNvPr>
            <p:cNvCxnSpPr>
              <a:cxnSpLocks/>
            </p:cNvCxnSpPr>
            <p:nvPr/>
          </p:nvCxnSpPr>
          <p:spPr>
            <a:xfrm>
              <a:off x="4866691" y="5901260"/>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BABAD67-825C-9530-A0F3-539346825032}"/>
                </a:ext>
              </a:extLst>
            </p:cNvPr>
            <p:cNvGrpSpPr/>
            <p:nvPr/>
          </p:nvGrpSpPr>
          <p:grpSpPr>
            <a:xfrm>
              <a:off x="3897170" y="5895965"/>
              <a:ext cx="848179" cy="226591"/>
              <a:chOff x="3910771" y="5895965"/>
              <a:chExt cx="848179" cy="226591"/>
            </a:xfrm>
          </p:grpSpPr>
          <p:sp>
            <p:nvSpPr>
              <p:cNvPr id="199" name="TextBox 198">
                <a:extLst>
                  <a:ext uri="{FF2B5EF4-FFF2-40B4-BE49-F238E27FC236}">
                    <a16:creationId xmlns:a16="http://schemas.microsoft.com/office/drawing/2014/main" id="{F431E0E6-A4F1-EB50-DD33-C9A0DEA96AF4}"/>
                  </a:ext>
                </a:extLst>
              </p:cNvPr>
              <p:cNvSpPr txBox="1"/>
              <p:nvPr/>
            </p:nvSpPr>
            <p:spPr>
              <a:xfrm>
                <a:off x="4397837" y="5895965"/>
                <a:ext cx="361113"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F0F0EF">
                        <a:lumMod val="10000"/>
                      </a:srgbClr>
                    </a:solidFill>
                    <a:effectLst/>
                    <a:uLnTx/>
                    <a:uFillTx/>
                    <a:ea typeface="+mn-ea"/>
                    <a:cs typeface="+mn-cs"/>
                  </a:rPr>
                  <a:t>LOB</a:t>
                </a:r>
              </a:p>
            </p:txBody>
          </p:sp>
          <p:sp>
            <p:nvSpPr>
              <p:cNvPr id="200" name="Rectangle: Rounded Corners 199">
                <a:extLst>
                  <a:ext uri="{FF2B5EF4-FFF2-40B4-BE49-F238E27FC236}">
                    <a16:creationId xmlns:a16="http://schemas.microsoft.com/office/drawing/2014/main" id="{88221BB4-86BB-5A9C-2CC6-1D8C0E316C95}"/>
                  </a:ext>
                </a:extLst>
              </p:cNvPr>
              <p:cNvSpPr/>
              <p:nvPr/>
            </p:nvSpPr>
            <p:spPr>
              <a:xfrm>
                <a:off x="3910771" y="5917820"/>
                <a:ext cx="405977" cy="182880"/>
              </a:xfrm>
              <a:prstGeom prst="roundRect">
                <a:avLst/>
              </a:prstGeom>
              <a:solidFill>
                <a:srgbClr val="D1FAE5"/>
              </a:solidFill>
              <a:ln w="19050">
                <a:solidFill>
                  <a:srgbClr val="059669"/>
                </a:solidFill>
                <a:prstDash val="solid"/>
              </a:ln>
              <a:effectLst/>
            </p:spPr>
            <p:txBody>
              <a:bodyPr/>
              <a:lstStyle/>
              <a:p>
                <a:endParaRPr lang="en-CA" noProof="0">
                  <a:solidFill>
                    <a:schemeClr val="tx1"/>
                  </a:solidFill>
                </a:endParaRPr>
              </a:p>
            </p:txBody>
          </p:sp>
        </p:grpSp>
        <p:cxnSp>
          <p:nvCxnSpPr>
            <p:cNvPr id="210" name="Straight Connector 209">
              <a:extLst>
                <a:ext uri="{FF2B5EF4-FFF2-40B4-BE49-F238E27FC236}">
                  <a16:creationId xmlns:a16="http://schemas.microsoft.com/office/drawing/2014/main" id="{0772EFB5-2060-26A1-FFA1-C6EC20326D72}"/>
                </a:ext>
              </a:extLst>
            </p:cNvPr>
            <p:cNvCxnSpPr>
              <a:cxnSpLocks/>
            </p:cNvCxnSpPr>
            <p:nvPr/>
          </p:nvCxnSpPr>
          <p:spPr>
            <a:xfrm>
              <a:off x="6203094" y="5901260"/>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B0854E58-B63D-F6DB-4EE7-9CF38AFD4E51}"/>
                </a:ext>
              </a:extLst>
            </p:cNvPr>
            <p:cNvGrpSpPr/>
            <p:nvPr/>
          </p:nvGrpSpPr>
          <p:grpSpPr>
            <a:xfrm>
              <a:off x="4988033" y="5895965"/>
              <a:ext cx="1093719" cy="226591"/>
              <a:chOff x="5110457" y="5895965"/>
              <a:chExt cx="1093719" cy="226591"/>
            </a:xfrm>
          </p:grpSpPr>
          <p:sp>
            <p:nvSpPr>
              <p:cNvPr id="211" name="TextBox 210">
                <a:extLst>
                  <a:ext uri="{FF2B5EF4-FFF2-40B4-BE49-F238E27FC236}">
                    <a16:creationId xmlns:a16="http://schemas.microsoft.com/office/drawing/2014/main" id="{8CAEFABE-6C06-6BD7-F8DB-AAA8EC729D69}"/>
                  </a:ext>
                </a:extLst>
              </p:cNvPr>
              <p:cNvSpPr txBox="1"/>
              <p:nvPr/>
            </p:nvSpPr>
            <p:spPr>
              <a:xfrm>
                <a:off x="5564444" y="5895965"/>
                <a:ext cx="639732"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F0F0EF">
                        <a:lumMod val="10000"/>
                      </a:srgbClr>
                    </a:solidFill>
                    <a:effectLst/>
                    <a:uLnTx/>
                    <a:uFillTx/>
                    <a:ea typeface="+mn-ea"/>
                    <a:cs typeface="+mn-cs"/>
                  </a:rPr>
                  <a:t>Channels</a:t>
                </a:r>
              </a:p>
            </p:txBody>
          </p:sp>
          <p:sp>
            <p:nvSpPr>
              <p:cNvPr id="212" name="Rectangle: Rounded Corners 211">
                <a:extLst>
                  <a:ext uri="{FF2B5EF4-FFF2-40B4-BE49-F238E27FC236}">
                    <a16:creationId xmlns:a16="http://schemas.microsoft.com/office/drawing/2014/main" id="{285CC782-CB48-70D2-2F6E-D293D53B0C55}"/>
                  </a:ext>
                </a:extLst>
              </p:cNvPr>
              <p:cNvSpPr/>
              <p:nvPr/>
            </p:nvSpPr>
            <p:spPr>
              <a:xfrm>
                <a:off x="5110457" y="5917820"/>
                <a:ext cx="405977" cy="182880"/>
              </a:xfrm>
              <a:prstGeom prst="roundRect">
                <a:avLst/>
              </a:prstGeom>
              <a:solidFill>
                <a:srgbClr val="FAF5FF"/>
              </a:solidFill>
              <a:ln w="19050">
                <a:solidFill>
                  <a:srgbClr val="7C3AED"/>
                </a:solidFill>
                <a:prstDash val="solid"/>
              </a:ln>
              <a:effectLst/>
            </p:spPr>
            <p:txBody>
              <a:bodyPr/>
              <a:lstStyle/>
              <a:p>
                <a:endParaRPr lang="en-CA" noProof="0"/>
              </a:p>
            </p:txBody>
          </p:sp>
        </p:grpSp>
        <p:cxnSp>
          <p:nvCxnSpPr>
            <p:cNvPr id="213" name="Straight Connector 212">
              <a:extLst>
                <a:ext uri="{FF2B5EF4-FFF2-40B4-BE49-F238E27FC236}">
                  <a16:creationId xmlns:a16="http://schemas.microsoft.com/office/drawing/2014/main" id="{7D56B50E-88CC-75B4-6FF9-CCF683CA2A99}"/>
                </a:ext>
              </a:extLst>
            </p:cNvPr>
            <p:cNvCxnSpPr>
              <a:cxnSpLocks/>
            </p:cNvCxnSpPr>
            <p:nvPr/>
          </p:nvCxnSpPr>
          <p:spPr>
            <a:xfrm>
              <a:off x="7909731" y="5901260"/>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BD9886B1-C741-48FD-F2FE-9309FFCCA758}"/>
                </a:ext>
              </a:extLst>
            </p:cNvPr>
            <p:cNvSpPr txBox="1"/>
            <p:nvPr/>
          </p:nvSpPr>
          <p:spPr>
            <a:xfrm>
              <a:off x="6851755" y="5819020"/>
              <a:ext cx="936634" cy="38048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F0F0EF">
                      <a:lumMod val="10000"/>
                    </a:srgbClr>
                  </a:solidFill>
                  <a:effectLst/>
                  <a:uLnTx/>
                  <a:uFillTx/>
                  <a:ea typeface="+mn-ea"/>
                  <a:cs typeface="+mn-cs"/>
                </a:rPr>
                <a:t>Organizational Relationships</a:t>
              </a:r>
            </a:p>
          </p:txBody>
        </p:sp>
        <p:sp>
          <p:nvSpPr>
            <p:cNvPr id="215" name="Rectangle: Rounded Corners 214">
              <a:extLst>
                <a:ext uri="{FF2B5EF4-FFF2-40B4-BE49-F238E27FC236}">
                  <a16:creationId xmlns:a16="http://schemas.microsoft.com/office/drawing/2014/main" id="{BBAE1DB8-4039-C3BE-F4F9-49C8AECAAEA4}"/>
                </a:ext>
              </a:extLst>
            </p:cNvPr>
            <p:cNvSpPr/>
            <p:nvPr/>
          </p:nvSpPr>
          <p:spPr>
            <a:xfrm>
              <a:off x="6324436" y="5917820"/>
              <a:ext cx="405977" cy="182880"/>
            </a:xfrm>
            <a:prstGeom prst="roundRect">
              <a:avLst/>
            </a:prstGeom>
            <a:solidFill>
              <a:srgbClr val="FFFBEB"/>
            </a:solidFill>
            <a:ln w="19050">
              <a:solidFill>
                <a:srgbClr val="D97706"/>
              </a:solidFill>
              <a:prstDash val="solid"/>
            </a:ln>
            <a:effectLst/>
          </p:spPr>
          <p:txBody>
            <a:bodyPr/>
            <a:lstStyle/>
            <a:p>
              <a:endParaRPr lang="en-CA" noProof="0"/>
            </a:p>
          </p:txBody>
        </p:sp>
        <p:grpSp>
          <p:nvGrpSpPr>
            <p:cNvPr id="5" name="Group 4">
              <a:extLst>
                <a:ext uri="{FF2B5EF4-FFF2-40B4-BE49-F238E27FC236}">
                  <a16:creationId xmlns:a16="http://schemas.microsoft.com/office/drawing/2014/main" id="{B00F9D92-6530-C4B7-CF3A-6391EFCCAA4B}"/>
                </a:ext>
              </a:extLst>
            </p:cNvPr>
            <p:cNvGrpSpPr/>
            <p:nvPr/>
          </p:nvGrpSpPr>
          <p:grpSpPr>
            <a:xfrm>
              <a:off x="8031073" y="5895965"/>
              <a:ext cx="1239280" cy="226591"/>
              <a:chOff x="8104182" y="5895965"/>
              <a:chExt cx="1239280" cy="226591"/>
            </a:xfrm>
          </p:grpSpPr>
          <p:sp>
            <p:nvSpPr>
              <p:cNvPr id="216" name="Shape 17">
                <a:extLst>
                  <a:ext uri="{FF2B5EF4-FFF2-40B4-BE49-F238E27FC236}">
                    <a16:creationId xmlns:a16="http://schemas.microsoft.com/office/drawing/2014/main" id="{DD196A0A-52A7-9C4A-1999-B6513A52E5A5}"/>
                  </a:ext>
                </a:extLst>
              </p:cNvPr>
              <p:cNvSpPr/>
              <p:nvPr/>
            </p:nvSpPr>
            <p:spPr>
              <a:xfrm>
                <a:off x="8104182" y="5929491"/>
                <a:ext cx="387795" cy="159539"/>
              </a:xfrm>
              <a:prstGeom prst="ellipse">
                <a:avLst/>
              </a:prstGeom>
              <a:solidFill>
                <a:srgbClr val="F8FAFF"/>
              </a:solidFill>
              <a:ln w="10160">
                <a:solidFill>
                  <a:srgbClr val="7C3AED"/>
                </a:solidFill>
                <a:prstDash val="solid"/>
              </a:ln>
            </p:spPr>
            <p:txBody>
              <a:bodyPr/>
              <a:lstStyle/>
              <a:p>
                <a:endParaRPr lang="en-CA" noProof="0"/>
              </a:p>
            </p:txBody>
          </p:sp>
          <p:sp>
            <p:nvSpPr>
              <p:cNvPr id="217" name="TextBox 216">
                <a:extLst>
                  <a:ext uri="{FF2B5EF4-FFF2-40B4-BE49-F238E27FC236}">
                    <a16:creationId xmlns:a16="http://schemas.microsoft.com/office/drawing/2014/main" id="{D6F36C26-E7F3-B125-9F7B-B7FCCE6D3F9B}"/>
                  </a:ext>
                </a:extLst>
              </p:cNvPr>
              <p:cNvSpPr txBox="1"/>
              <p:nvPr/>
            </p:nvSpPr>
            <p:spPr>
              <a:xfrm>
                <a:off x="8491977" y="5895965"/>
                <a:ext cx="851485" cy="226591"/>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a:ln>
                      <a:noFill/>
                    </a:ln>
                    <a:solidFill>
                      <a:srgbClr val="F0F0EF">
                        <a:lumMod val="10000"/>
                      </a:srgbClr>
                    </a:solidFill>
                    <a:effectLst/>
                    <a:uLnTx/>
                    <a:uFillTx/>
                    <a:ea typeface="+mn-ea"/>
                    <a:cs typeface="+mn-cs"/>
                  </a:rPr>
                  <a:t>Attributes</a:t>
                </a:r>
              </a:p>
            </p:txBody>
          </p:sp>
        </p:grpSp>
      </p:grpSp>
      <p:cxnSp>
        <p:nvCxnSpPr>
          <p:cNvPr id="28" name="Straight Connector 27">
            <a:extLst>
              <a:ext uri="{FF2B5EF4-FFF2-40B4-BE49-F238E27FC236}">
                <a16:creationId xmlns:a16="http://schemas.microsoft.com/office/drawing/2014/main" id="{0FEFBE0D-476F-0CAA-1C53-EEF5EBB56B9F}"/>
              </a:ext>
            </a:extLst>
          </p:cNvPr>
          <p:cNvCxnSpPr>
            <a:cxnSpLocks/>
            <a:stCxn id="142" idx="5"/>
            <a:endCxn id="133" idx="0"/>
          </p:cNvCxnSpPr>
          <p:nvPr/>
        </p:nvCxnSpPr>
        <p:spPr>
          <a:xfrm>
            <a:off x="4699018" y="3583140"/>
            <a:ext cx="1381742" cy="275341"/>
          </a:xfrm>
          <a:prstGeom prst="line">
            <a:avLst/>
          </a:prstGeom>
          <a:ln w="63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6696CE4-39AA-32C2-81E8-8A4342DC3ED5}"/>
              </a:ext>
            </a:extLst>
          </p:cNvPr>
          <p:cNvCxnSpPr>
            <a:cxnSpLocks/>
            <a:stCxn id="151" idx="2"/>
            <a:endCxn id="133" idx="0"/>
          </p:cNvCxnSpPr>
          <p:nvPr/>
        </p:nvCxnSpPr>
        <p:spPr>
          <a:xfrm>
            <a:off x="5349240" y="3336062"/>
            <a:ext cx="731520" cy="522419"/>
          </a:xfrm>
          <a:prstGeom prst="line">
            <a:avLst/>
          </a:prstGeom>
          <a:ln w="63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9D90810-8350-3865-72D3-321C940980DC}"/>
              </a:ext>
            </a:extLst>
          </p:cNvPr>
          <p:cNvCxnSpPr>
            <a:cxnSpLocks/>
            <a:stCxn id="153" idx="3"/>
            <a:endCxn id="133" idx="0"/>
          </p:cNvCxnSpPr>
          <p:nvPr/>
        </p:nvCxnSpPr>
        <p:spPr>
          <a:xfrm flipH="1">
            <a:off x="6080760" y="3290532"/>
            <a:ext cx="375902" cy="567949"/>
          </a:xfrm>
          <a:prstGeom prst="line">
            <a:avLst/>
          </a:prstGeom>
          <a:ln w="63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73AF344-2BD6-CB26-A8A7-EBED02DB297B}"/>
              </a:ext>
            </a:extLst>
          </p:cNvPr>
          <p:cNvCxnSpPr>
            <a:cxnSpLocks/>
            <a:stCxn id="156" idx="2"/>
            <a:endCxn id="133" idx="0"/>
          </p:cNvCxnSpPr>
          <p:nvPr/>
        </p:nvCxnSpPr>
        <p:spPr>
          <a:xfrm flipH="1">
            <a:off x="6080760" y="3547298"/>
            <a:ext cx="740329" cy="311183"/>
          </a:xfrm>
          <a:prstGeom prst="line">
            <a:avLst/>
          </a:prstGeom>
          <a:ln w="63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6" name="Text 99">
            <a:extLst>
              <a:ext uri="{FF2B5EF4-FFF2-40B4-BE49-F238E27FC236}">
                <a16:creationId xmlns:a16="http://schemas.microsoft.com/office/drawing/2014/main" id="{74E249F0-7B9D-9AE5-2AF1-B16AF35660AE}"/>
              </a:ext>
            </a:extLst>
          </p:cNvPr>
          <p:cNvSpPr/>
          <p:nvPr/>
        </p:nvSpPr>
        <p:spPr>
          <a:xfrm>
            <a:off x="1900269" y="6304594"/>
            <a:ext cx="8391462" cy="164592"/>
          </a:xfrm>
          <a:prstGeom prst="rect">
            <a:avLst/>
          </a:prstGeom>
          <a:noFill/>
          <a:ln/>
        </p:spPr>
        <p:txBody>
          <a:bodyPr wrap="square" rtlCol="0" anchor="ctr"/>
          <a:lstStyle/>
          <a:p>
            <a:pPr marL="0" indent="0" algn="ctr">
              <a:buNone/>
            </a:pPr>
            <a:r>
              <a:rPr lang="en-CA" sz="1100" i="1" u="sng" noProof="0">
                <a:solidFill>
                  <a:schemeClr val="tx1">
                    <a:lumMod val="50000"/>
                  </a:schemeClr>
                </a:solidFill>
              </a:rPr>
              <a:t>Note</a:t>
            </a:r>
            <a:r>
              <a:rPr lang="en-CA" sz="1100" i="1" noProof="0">
                <a:solidFill>
                  <a:schemeClr val="tx1">
                    <a:lumMod val="50000"/>
                  </a:schemeClr>
                </a:solidFill>
              </a:rPr>
              <a:t> : Relationships shown in this diagram are not the exhaustive list of relations we have between entities</a:t>
            </a:r>
            <a:endParaRPr lang="en-CA" sz="1100" noProof="0">
              <a:solidFill>
                <a:schemeClr val="tx1">
                  <a:lumMod val="50000"/>
                </a:schemeClr>
              </a:solidFill>
            </a:endParaRPr>
          </a:p>
        </p:txBody>
      </p:sp>
      <p:cxnSp>
        <p:nvCxnSpPr>
          <p:cNvPr id="40" name="Connector: Elbow 39">
            <a:extLst>
              <a:ext uri="{FF2B5EF4-FFF2-40B4-BE49-F238E27FC236}">
                <a16:creationId xmlns:a16="http://schemas.microsoft.com/office/drawing/2014/main" id="{D305B5B2-5FCB-2B09-F7B8-E57E642B2B75}"/>
              </a:ext>
            </a:extLst>
          </p:cNvPr>
          <p:cNvCxnSpPr>
            <a:cxnSpLocks noGrp="1" noRot="1" noMove="1" noResize="1" noEditPoints="1" noAdjustHandles="1" noChangeArrowheads="1" noChangeShapeType="1"/>
          </p:cNvCxnSpPr>
          <p:nvPr/>
        </p:nvCxnSpPr>
        <p:spPr>
          <a:xfrm rot="10800000">
            <a:off x="1707898" y="3787667"/>
            <a:ext cx="994180" cy="27493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AE116239-DB82-0181-EB76-7966F3BD7482}"/>
              </a:ext>
            </a:extLst>
          </p:cNvPr>
          <p:cNvCxnSpPr>
            <a:cxnSpLocks/>
            <a:stCxn id="133" idx="1"/>
          </p:cNvCxnSpPr>
          <p:nvPr/>
        </p:nvCxnSpPr>
        <p:spPr>
          <a:xfrm rot="10800000" flipV="1">
            <a:off x="4530878" y="4061133"/>
            <a:ext cx="589762" cy="14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83" name="Shape 100">
            <a:extLst>
              <a:ext uri="{FF2B5EF4-FFF2-40B4-BE49-F238E27FC236}">
                <a16:creationId xmlns:a16="http://schemas.microsoft.com/office/drawing/2014/main" id="{8079DB6B-0CAC-A969-99C1-30E568D42036}"/>
              </a:ext>
            </a:extLst>
          </p:cNvPr>
          <p:cNvSpPr/>
          <p:nvPr/>
        </p:nvSpPr>
        <p:spPr>
          <a:xfrm>
            <a:off x="2393984" y="1558647"/>
            <a:ext cx="7225916" cy="1251865"/>
          </a:xfrm>
          <a:prstGeom prst="roundRect">
            <a:avLst>
              <a:gd name="adj" fmla="val 12727"/>
            </a:avLst>
          </a:prstGeom>
          <a:noFill/>
          <a:ln w="19050">
            <a:solidFill>
              <a:srgbClr val="2563EB"/>
            </a:solidFill>
            <a:prstDash val="solid"/>
          </a:ln>
          <a:effectLst>
            <a:outerShdw blurRad="50800" dist="12700" dir="16200000" algn="bl" rotWithShape="0">
              <a:srgbClr val="000000">
                <a:alpha val="10000"/>
              </a:srgbClr>
            </a:outerShdw>
          </a:effectLst>
        </p:spPr>
        <p:txBody>
          <a:bodyPr/>
          <a:lstStyle/>
          <a:p>
            <a:endParaRPr lang="en-CA" noProof="0"/>
          </a:p>
        </p:txBody>
      </p:sp>
      <p:sp>
        <p:nvSpPr>
          <p:cNvPr id="184" name="Text 101">
            <a:extLst>
              <a:ext uri="{FF2B5EF4-FFF2-40B4-BE49-F238E27FC236}">
                <a16:creationId xmlns:a16="http://schemas.microsoft.com/office/drawing/2014/main" id="{ECC0E744-47CA-9A0F-0EBA-496B723819C1}"/>
              </a:ext>
            </a:extLst>
          </p:cNvPr>
          <p:cNvSpPr/>
          <p:nvPr/>
        </p:nvSpPr>
        <p:spPr>
          <a:xfrm>
            <a:off x="4570592" y="1326613"/>
            <a:ext cx="3288704" cy="392231"/>
          </a:xfrm>
          <a:prstGeom prst="rect">
            <a:avLst/>
          </a:prstGeom>
          <a:noFill/>
          <a:ln/>
        </p:spPr>
        <p:txBody>
          <a:bodyPr wrap="square" rtlCol="0" anchor="t"/>
          <a:lstStyle/>
          <a:p>
            <a:pPr marL="0" indent="0" algn="ctr">
              <a:buNone/>
            </a:pPr>
            <a:r>
              <a:rPr lang="en-CA" sz="1000" b="1" noProof="0">
                <a:solidFill>
                  <a:srgbClr val="14532D"/>
                </a:solidFill>
              </a:rPr>
              <a:t>ROLES  (1 person · many simultaneous roles)</a:t>
            </a:r>
            <a:endParaRPr lang="en-CA" sz="1000" noProof="0"/>
          </a:p>
        </p:txBody>
      </p:sp>
      <p:sp>
        <p:nvSpPr>
          <p:cNvPr id="20" name="Shape 28">
            <a:extLst>
              <a:ext uri="{FF2B5EF4-FFF2-40B4-BE49-F238E27FC236}">
                <a16:creationId xmlns:a16="http://schemas.microsoft.com/office/drawing/2014/main" id="{8E53C59F-2FBD-B1AC-0742-F30D1972A900}"/>
              </a:ext>
            </a:extLst>
          </p:cNvPr>
          <p:cNvSpPr/>
          <p:nvPr/>
        </p:nvSpPr>
        <p:spPr>
          <a:xfrm>
            <a:off x="8555374" y="1836214"/>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Contractor</a:t>
            </a:r>
            <a:endParaRPr lang="en-CA" sz="2000" noProof="0"/>
          </a:p>
        </p:txBody>
      </p:sp>
      <p:sp>
        <p:nvSpPr>
          <p:cNvPr id="11" name="Shape 28">
            <a:extLst>
              <a:ext uri="{FF2B5EF4-FFF2-40B4-BE49-F238E27FC236}">
                <a16:creationId xmlns:a16="http://schemas.microsoft.com/office/drawing/2014/main" id="{CDEF35AA-E680-D8F0-4A6E-8FC8002F0E49}"/>
              </a:ext>
            </a:extLst>
          </p:cNvPr>
          <p:cNvSpPr/>
          <p:nvPr/>
        </p:nvSpPr>
        <p:spPr>
          <a:xfrm>
            <a:off x="7089738" y="1836350"/>
            <a:ext cx="871200" cy="237744"/>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Advisor</a:t>
            </a:r>
            <a:endParaRPr lang="en-CA" sz="2000" noProof="0"/>
          </a:p>
        </p:txBody>
      </p:sp>
      <p:sp>
        <p:nvSpPr>
          <p:cNvPr id="18" name="Shape 28">
            <a:extLst>
              <a:ext uri="{FF2B5EF4-FFF2-40B4-BE49-F238E27FC236}">
                <a16:creationId xmlns:a16="http://schemas.microsoft.com/office/drawing/2014/main" id="{0E0D02FC-F451-6D57-56F8-E9DEEF93719F}"/>
              </a:ext>
            </a:extLst>
          </p:cNvPr>
          <p:cNvSpPr/>
          <p:nvPr/>
        </p:nvSpPr>
        <p:spPr>
          <a:xfrm>
            <a:off x="2642983" y="1836214"/>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Customer</a:t>
            </a:r>
            <a:endParaRPr lang="en-CA" sz="2000" noProof="0"/>
          </a:p>
        </p:txBody>
      </p:sp>
      <p:cxnSp>
        <p:nvCxnSpPr>
          <p:cNvPr id="36" name="Straight Connector 35">
            <a:extLst>
              <a:ext uri="{FF2B5EF4-FFF2-40B4-BE49-F238E27FC236}">
                <a16:creationId xmlns:a16="http://schemas.microsoft.com/office/drawing/2014/main" id="{73ECF23A-08A0-0B02-93E6-CE6784B27183}"/>
              </a:ext>
            </a:extLst>
          </p:cNvPr>
          <p:cNvCxnSpPr>
            <a:cxnSpLocks/>
          </p:cNvCxnSpPr>
          <p:nvPr/>
        </p:nvCxnSpPr>
        <p:spPr>
          <a:xfrm>
            <a:off x="6924336" y="1614436"/>
            <a:ext cx="0" cy="114899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Text 101">
            <a:extLst>
              <a:ext uri="{FF2B5EF4-FFF2-40B4-BE49-F238E27FC236}">
                <a16:creationId xmlns:a16="http://schemas.microsoft.com/office/drawing/2014/main" id="{0B9A9BC1-D791-2342-647F-47A6029907D9}"/>
              </a:ext>
            </a:extLst>
          </p:cNvPr>
          <p:cNvSpPr/>
          <p:nvPr/>
        </p:nvSpPr>
        <p:spPr>
          <a:xfrm>
            <a:off x="3649386" y="1573027"/>
            <a:ext cx="922179" cy="288147"/>
          </a:xfrm>
          <a:prstGeom prst="rect">
            <a:avLst/>
          </a:prstGeom>
          <a:noFill/>
          <a:ln/>
        </p:spPr>
        <p:txBody>
          <a:bodyPr wrap="square" rtlCol="0" anchor="t"/>
          <a:lstStyle/>
          <a:p>
            <a:pPr marL="0" indent="0" algn="ctr">
              <a:buNone/>
            </a:pPr>
            <a:r>
              <a:rPr lang="en-CA" sz="1000" b="1" noProof="0">
                <a:solidFill>
                  <a:srgbClr val="14532D"/>
                </a:solidFill>
              </a:rPr>
              <a:t>Person</a:t>
            </a:r>
          </a:p>
        </p:txBody>
      </p:sp>
      <p:sp>
        <p:nvSpPr>
          <p:cNvPr id="39" name="Text 101">
            <a:extLst>
              <a:ext uri="{FF2B5EF4-FFF2-40B4-BE49-F238E27FC236}">
                <a16:creationId xmlns:a16="http://schemas.microsoft.com/office/drawing/2014/main" id="{A344123C-55F1-54EA-8F64-3C5C515039AF}"/>
              </a:ext>
            </a:extLst>
          </p:cNvPr>
          <p:cNvSpPr/>
          <p:nvPr/>
        </p:nvSpPr>
        <p:spPr>
          <a:xfrm>
            <a:off x="7064248" y="1579603"/>
            <a:ext cx="922179" cy="288147"/>
          </a:xfrm>
          <a:prstGeom prst="rect">
            <a:avLst/>
          </a:prstGeom>
          <a:noFill/>
          <a:ln/>
        </p:spPr>
        <p:txBody>
          <a:bodyPr wrap="square" rtlCol="0" anchor="t"/>
          <a:lstStyle/>
          <a:p>
            <a:pPr marL="0" indent="0" algn="ctr">
              <a:buNone/>
            </a:pPr>
            <a:r>
              <a:rPr lang="en-CA" sz="1000" b="1" noProof="0">
                <a:solidFill>
                  <a:srgbClr val="14532D"/>
                </a:solidFill>
              </a:rPr>
              <a:t>Advisor</a:t>
            </a:r>
          </a:p>
        </p:txBody>
      </p:sp>
      <p:cxnSp>
        <p:nvCxnSpPr>
          <p:cNvPr id="41" name="Straight Connector 40">
            <a:extLst>
              <a:ext uri="{FF2B5EF4-FFF2-40B4-BE49-F238E27FC236}">
                <a16:creationId xmlns:a16="http://schemas.microsoft.com/office/drawing/2014/main" id="{4FAA6A94-2361-59ED-F9FE-6D21BF0ECBC2}"/>
              </a:ext>
            </a:extLst>
          </p:cNvPr>
          <p:cNvCxnSpPr>
            <a:cxnSpLocks/>
          </p:cNvCxnSpPr>
          <p:nvPr/>
        </p:nvCxnSpPr>
        <p:spPr>
          <a:xfrm>
            <a:off x="8276537" y="1601826"/>
            <a:ext cx="0" cy="1161600"/>
          </a:xfrm>
          <a:prstGeom prst="line">
            <a:avLst/>
          </a:prstGeom>
          <a:ln w="1905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2" name="Text 101">
            <a:extLst>
              <a:ext uri="{FF2B5EF4-FFF2-40B4-BE49-F238E27FC236}">
                <a16:creationId xmlns:a16="http://schemas.microsoft.com/office/drawing/2014/main" id="{7C6D8011-2086-4EB9-1866-39DEC23CE711}"/>
              </a:ext>
            </a:extLst>
          </p:cNvPr>
          <p:cNvSpPr/>
          <p:nvPr/>
        </p:nvSpPr>
        <p:spPr>
          <a:xfrm>
            <a:off x="8504484" y="1578836"/>
            <a:ext cx="922179" cy="288147"/>
          </a:xfrm>
          <a:prstGeom prst="rect">
            <a:avLst/>
          </a:prstGeom>
          <a:noFill/>
          <a:ln/>
        </p:spPr>
        <p:txBody>
          <a:bodyPr wrap="square" rtlCol="0" anchor="t"/>
          <a:lstStyle/>
          <a:p>
            <a:pPr marL="0" indent="0" algn="ctr">
              <a:buNone/>
            </a:pPr>
            <a:r>
              <a:rPr lang="en-CA" sz="1000" b="1" noProof="0">
                <a:solidFill>
                  <a:srgbClr val="14532D"/>
                </a:solidFill>
              </a:rPr>
              <a:t>Workforce</a:t>
            </a:r>
          </a:p>
        </p:txBody>
      </p:sp>
      <p:sp>
        <p:nvSpPr>
          <p:cNvPr id="43" name="Shape 28">
            <a:extLst>
              <a:ext uri="{FF2B5EF4-FFF2-40B4-BE49-F238E27FC236}">
                <a16:creationId xmlns:a16="http://schemas.microsoft.com/office/drawing/2014/main" id="{6EB9C38F-0325-D182-0B37-CF7FB7A9CC5E}"/>
              </a:ext>
            </a:extLst>
          </p:cNvPr>
          <p:cNvSpPr/>
          <p:nvPr/>
        </p:nvSpPr>
        <p:spPr>
          <a:xfrm>
            <a:off x="8555463" y="2186365"/>
            <a:ext cx="871200" cy="237744"/>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Employee </a:t>
            </a:r>
            <a:endParaRPr lang="en-CA" sz="2000" noProof="0"/>
          </a:p>
        </p:txBody>
      </p:sp>
      <p:sp>
        <p:nvSpPr>
          <p:cNvPr id="44" name="Shape 28">
            <a:extLst>
              <a:ext uri="{FF2B5EF4-FFF2-40B4-BE49-F238E27FC236}">
                <a16:creationId xmlns:a16="http://schemas.microsoft.com/office/drawing/2014/main" id="{B5305C57-41F4-62DE-E9F8-2B8E317EEFF7}"/>
              </a:ext>
            </a:extLst>
          </p:cNvPr>
          <p:cNvSpPr/>
          <p:nvPr/>
        </p:nvSpPr>
        <p:spPr>
          <a:xfrm>
            <a:off x="4679246" y="1836214"/>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Prospect</a:t>
            </a:r>
            <a:endParaRPr lang="en-CA" sz="2000" noProof="0"/>
          </a:p>
        </p:txBody>
      </p:sp>
      <p:sp>
        <p:nvSpPr>
          <p:cNvPr id="45" name="Shape 28">
            <a:extLst>
              <a:ext uri="{FF2B5EF4-FFF2-40B4-BE49-F238E27FC236}">
                <a16:creationId xmlns:a16="http://schemas.microsoft.com/office/drawing/2014/main" id="{F5726191-A85F-B920-8647-7BF976FD142E}"/>
              </a:ext>
            </a:extLst>
          </p:cNvPr>
          <p:cNvSpPr/>
          <p:nvPr/>
        </p:nvSpPr>
        <p:spPr>
          <a:xfrm>
            <a:off x="5771765" y="1836214"/>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Member</a:t>
            </a:r>
            <a:endParaRPr lang="en-CA" sz="2000" noProof="0"/>
          </a:p>
        </p:txBody>
      </p:sp>
      <p:sp>
        <p:nvSpPr>
          <p:cNvPr id="46" name="Shape 28">
            <a:extLst>
              <a:ext uri="{FF2B5EF4-FFF2-40B4-BE49-F238E27FC236}">
                <a16:creationId xmlns:a16="http://schemas.microsoft.com/office/drawing/2014/main" id="{DA532C5E-61C4-2001-0738-0F06C5AF0AC7}"/>
              </a:ext>
            </a:extLst>
          </p:cNvPr>
          <p:cNvSpPr/>
          <p:nvPr/>
        </p:nvSpPr>
        <p:spPr>
          <a:xfrm>
            <a:off x="2642983" y="2186229"/>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Dependent</a:t>
            </a:r>
            <a:endParaRPr lang="en-CA" sz="2000" noProof="0"/>
          </a:p>
        </p:txBody>
      </p:sp>
      <p:sp>
        <p:nvSpPr>
          <p:cNvPr id="48" name="Shape 28">
            <a:extLst>
              <a:ext uri="{FF2B5EF4-FFF2-40B4-BE49-F238E27FC236}">
                <a16:creationId xmlns:a16="http://schemas.microsoft.com/office/drawing/2014/main" id="{CD90C60D-3D7F-5F1B-3061-A5CB064B8F28}"/>
              </a:ext>
            </a:extLst>
          </p:cNvPr>
          <p:cNvSpPr/>
          <p:nvPr/>
        </p:nvSpPr>
        <p:spPr>
          <a:xfrm>
            <a:off x="3666957" y="1836214"/>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Beneficiary</a:t>
            </a:r>
            <a:endParaRPr lang="en-CA" sz="2000" noProof="0"/>
          </a:p>
        </p:txBody>
      </p:sp>
      <p:sp>
        <p:nvSpPr>
          <p:cNvPr id="49" name="Shape 28">
            <a:extLst>
              <a:ext uri="{FF2B5EF4-FFF2-40B4-BE49-F238E27FC236}">
                <a16:creationId xmlns:a16="http://schemas.microsoft.com/office/drawing/2014/main" id="{44B88642-E218-4CB6-876F-EC162132AE75}"/>
              </a:ext>
            </a:extLst>
          </p:cNvPr>
          <p:cNvSpPr/>
          <p:nvPr/>
        </p:nvSpPr>
        <p:spPr>
          <a:xfrm>
            <a:off x="5769075" y="2522008"/>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Policyholder</a:t>
            </a:r>
            <a:endParaRPr lang="en-CA" sz="2000" noProof="0"/>
          </a:p>
        </p:txBody>
      </p:sp>
      <p:sp>
        <p:nvSpPr>
          <p:cNvPr id="51" name="Shape 28">
            <a:extLst>
              <a:ext uri="{FF2B5EF4-FFF2-40B4-BE49-F238E27FC236}">
                <a16:creationId xmlns:a16="http://schemas.microsoft.com/office/drawing/2014/main" id="{57C36ABB-AC24-EF64-CD8D-AE785DE158C8}"/>
              </a:ext>
            </a:extLst>
          </p:cNvPr>
          <p:cNvSpPr/>
          <p:nvPr/>
        </p:nvSpPr>
        <p:spPr>
          <a:xfrm>
            <a:off x="4678887" y="2186229"/>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Retiree</a:t>
            </a:r>
            <a:endParaRPr lang="en-CA" sz="2000" noProof="0"/>
          </a:p>
        </p:txBody>
      </p:sp>
      <p:sp>
        <p:nvSpPr>
          <p:cNvPr id="52" name="Shape 28">
            <a:extLst>
              <a:ext uri="{FF2B5EF4-FFF2-40B4-BE49-F238E27FC236}">
                <a16:creationId xmlns:a16="http://schemas.microsoft.com/office/drawing/2014/main" id="{66AF2EFF-066A-9486-4059-C6CAF81A4CAD}"/>
              </a:ext>
            </a:extLst>
          </p:cNvPr>
          <p:cNvSpPr/>
          <p:nvPr/>
        </p:nvSpPr>
        <p:spPr>
          <a:xfrm>
            <a:off x="5769075" y="2186229"/>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Investor</a:t>
            </a:r>
            <a:endParaRPr lang="en-CA" sz="2000" noProof="0"/>
          </a:p>
        </p:txBody>
      </p:sp>
      <p:sp>
        <p:nvSpPr>
          <p:cNvPr id="53" name="Shape 28">
            <a:extLst>
              <a:ext uri="{FF2B5EF4-FFF2-40B4-BE49-F238E27FC236}">
                <a16:creationId xmlns:a16="http://schemas.microsoft.com/office/drawing/2014/main" id="{7440EA8D-FE90-84B7-1553-1DCE9BB0DBB9}"/>
              </a:ext>
            </a:extLst>
          </p:cNvPr>
          <p:cNvSpPr/>
          <p:nvPr/>
        </p:nvSpPr>
        <p:spPr>
          <a:xfrm>
            <a:off x="3666957" y="2522008"/>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Annuitant</a:t>
            </a:r>
            <a:endParaRPr lang="en-CA" sz="2000" noProof="0"/>
          </a:p>
        </p:txBody>
      </p:sp>
      <p:sp>
        <p:nvSpPr>
          <p:cNvPr id="54" name="Shape 28">
            <a:extLst>
              <a:ext uri="{FF2B5EF4-FFF2-40B4-BE49-F238E27FC236}">
                <a16:creationId xmlns:a16="http://schemas.microsoft.com/office/drawing/2014/main" id="{44F465F2-97B3-F2DE-D618-4D376B7EFB7A}"/>
              </a:ext>
            </a:extLst>
          </p:cNvPr>
          <p:cNvSpPr/>
          <p:nvPr/>
        </p:nvSpPr>
        <p:spPr>
          <a:xfrm>
            <a:off x="4675298" y="2522008"/>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lang="en-CA" sz="900" noProof="0">
                <a:solidFill>
                  <a:srgbClr val="4A1B0C"/>
                </a:solidFill>
              </a:rPr>
              <a:t>Ceding Insurer</a:t>
            </a:r>
            <a:endParaRPr lang="en-CA" sz="2000" noProof="0"/>
          </a:p>
        </p:txBody>
      </p:sp>
      <p:sp>
        <p:nvSpPr>
          <p:cNvPr id="55" name="Shape 28">
            <a:extLst>
              <a:ext uri="{FF2B5EF4-FFF2-40B4-BE49-F238E27FC236}">
                <a16:creationId xmlns:a16="http://schemas.microsoft.com/office/drawing/2014/main" id="{09F3B40B-C5A5-5FC7-4C1D-4FB0ACFD3430}"/>
              </a:ext>
            </a:extLst>
          </p:cNvPr>
          <p:cNvSpPr/>
          <p:nvPr/>
        </p:nvSpPr>
        <p:spPr>
          <a:xfrm>
            <a:off x="3664285" y="2186229"/>
            <a:ext cx="871200" cy="238016"/>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Claimant</a:t>
            </a:r>
            <a:endParaRPr lang="en-CA" sz="2000" noProof="0"/>
          </a:p>
        </p:txBody>
      </p:sp>
      <p:sp>
        <p:nvSpPr>
          <p:cNvPr id="56" name="Shape 28">
            <a:extLst>
              <a:ext uri="{FF2B5EF4-FFF2-40B4-BE49-F238E27FC236}">
                <a16:creationId xmlns:a16="http://schemas.microsoft.com/office/drawing/2014/main" id="{DB0C78CE-2298-FA9F-1B7F-19A814FD6112}"/>
              </a:ext>
            </a:extLst>
          </p:cNvPr>
          <p:cNvSpPr/>
          <p:nvPr/>
        </p:nvSpPr>
        <p:spPr>
          <a:xfrm>
            <a:off x="2642983" y="2522144"/>
            <a:ext cx="871200" cy="237744"/>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Trustee</a:t>
            </a:r>
            <a:endParaRPr lang="en-CA" sz="2000" noProof="0"/>
          </a:p>
        </p:txBody>
      </p:sp>
      <p:sp>
        <p:nvSpPr>
          <p:cNvPr id="24" name="Shape 67">
            <a:extLst>
              <a:ext uri="{FF2B5EF4-FFF2-40B4-BE49-F238E27FC236}">
                <a16:creationId xmlns:a16="http://schemas.microsoft.com/office/drawing/2014/main" id="{96307112-9B1E-2646-5CC8-1F1AABBFA209}"/>
              </a:ext>
            </a:extLst>
          </p:cNvPr>
          <p:cNvSpPr/>
          <p:nvPr/>
        </p:nvSpPr>
        <p:spPr>
          <a:xfrm>
            <a:off x="9873251" y="3848442"/>
            <a:ext cx="1219675" cy="367301"/>
          </a:xfrm>
          <a:prstGeom prst="roundRect">
            <a:avLst>
              <a:gd name="adj" fmla="val 13462"/>
            </a:avLst>
          </a:prstGeom>
          <a:solidFill>
            <a:srgbClr val="FFFBEB"/>
          </a:solidFill>
          <a:ln w="19050">
            <a:solidFill>
              <a:srgbClr val="D97706"/>
            </a:solidFill>
            <a:prstDash val="solid"/>
          </a:ln>
          <a:effectLst>
            <a:outerShdw blurRad="50800" dist="12700" dir="16200000" algn="bl" rotWithShape="0">
              <a:srgbClr val="000000">
                <a:alpha val="10000"/>
              </a:srgbClr>
            </a:outerShdw>
          </a:effectLst>
        </p:spPr>
        <p:txBody>
          <a:bodyPr anchor="ctr"/>
          <a:lstStyle/>
          <a:p>
            <a:pPr algn="ctr"/>
            <a:r>
              <a:rPr lang="en-CA" sz="1000" b="1" noProof="0"/>
              <a:t>Vendor</a:t>
            </a:r>
          </a:p>
        </p:txBody>
      </p:sp>
      <p:sp>
        <p:nvSpPr>
          <p:cNvPr id="25" name="Shape 67">
            <a:extLst>
              <a:ext uri="{FF2B5EF4-FFF2-40B4-BE49-F238E27FC236}">
                <a16:creationId xmlns:a16="http://schemas.microsoft.com/office/drawing/2014/main" id="{DB9195CC-4CEE-6FB2-961D-9C23499DFB58}"/>
              </a:ext>
            </a:extLst>
          </p:cNvPr>
          <p:cNvSpPr/>
          <p:nvPr/>
        </p:nvSpPr>
        <p:spPr>
          <a:xfrm>
            <a:off x="9868444" y="4333728"/>
            <a:ext cx="1229288" cy="392965"/>
          </a:xfrm>
          <a:prstGeom prst="roundRect">
            <a:avLst>
              <a:gd name="adj" fmla="val 13462"/>
            </a:avLst>
          </a:prstGeom>
          <a:solidFill>
            <a:srgbClr val="FFFBEB"/>
          </a:solidFill>
          <a:ln w="19050">
            <a:solidFill>
              <a:srgbClr val="D97706"/>
            </a:solidFill>
            <a:prstDash val="solid"/>
          </a:ln>
          <a:effectLst>
            <a:outerShdw blurRad="50800" dist="12700" dir="16200000" algn="bl" rotWithShape="0">
              <a:srgbClr val="000000">
                <a:alpha val="10000"/>
              </a:srgbClr>
            </a:outerShdw>
          </a:effectLst>
        </p:spPr>
        <p:txBody>
          <a:bodyPr anchor="ctr"/>
          <a:lstStyle/>
          <a:p>
            <a:pPr algn="ctr"/>
            <a:r>
              <a:rPr lang="en-CA" sz="1000" b="1" noProof="0"/>
              <a:t>Service Provider</a:t>
            </a:r>
          </a:p>
        </p:txBody>
      </p:sp>
      <p:sp>
        <p:nvSpPr>
          <p:cNvPr id="27" name="Shape 67">
            <a:extLst>
              <a:ext uri="{FF2B5EF4-FFF2-40B4-BE49-F238E27FC236}">
                <a16:creationId xmlns:a16="http://schemas.microsoft.com/office/drawing/2014/main" id="{BC0DB03C-A8D3-2C69-13CD-7D2520CEBF04}"/>
              </a:ext>
            </a:extLst>
          </p:cNvPr>
          <p:cNvSpPr/>
          <p:nvPr/>
        </p:nvSpPr>
        <p:spPr>
          <a:xfrm>
            <a:off x="9873251" y="3363157"/>
            <a:ext cx="1219675" cy="367301"/>
          </a:xfrm>
          <a:prstGeom prst="roundRect">
            <a:avLst>
              <a:gd name="adj" fmla="val 13462"/>
            </a:avLst>
          </a:prstGeom>
          <a:solidFill>
            <a:srgbClr val="FFFBEB"/>
          </a:solidFill>
          <a:ln w="19050">
            <a:solidFill>
              <a:srgbClr val="D97706"/>
            </a:solidFill>
            <a:prstDash val="solid"/>
          </a:ln>
          <a:effectLst>
            <a:outerShdw blurRad="50800" dist="12700" dir="16200000" algn="bl" rotWithShape="0">
              <a:srgbClr val="000000">
                <a:alpha val="10000"/>
              </a:srgbClr>
            </a:outerShdw>
          </a:effectLst>
        </p:spPr>
        <p:txBody>
          <a:bodyPr anchor="ctr"/>
          <a:lstStyle/>
          <a:p>
            <a:pPr algn="ctr"/>
            <a:r>
              <a:rPr lang="en-CA" sz="1000" b="1" noProof="0"/>
              <a:t>Plan Sponsor</a:t>
            </a:r>
          </a:p>
          <a:p>
            <a:pPr algn="ctr"/>
            <a:endParaRPr lang="en-CA" sz="1000" noProof="0"/>
          </a:p>
        </p:txBody>
      </p:sp>
      <p:sp>
        <p:nvSpPr>
          <p:cNvPr id="30" name="Shape 67">
            <a:extLst>
              <a:ext uri="{FF2B5EF4-FFF2-40B4-BE49-F238E27FC236}">
                <a16:creationId xmlns:a16="http://schemas.microsoft.com/office/drawing/2014/main" id="{0B41879F-AC10-5C8D-8DBC-1673080427C7}"/>
              </a:ext>
            </a:extLst>
          </p:cNvPr>
          <p:cNvSpPr/>
          <p:nvPr/>
        </p:nvSpPr>
        <p:spPr>
          <a:xfrm>
            <a:off x="9649940" y="2764808"/>
            <a:ext cx="1666297" cy="2590821"/>
          </a:xfrm>
          <a:prstGeom prst="roundRect">
            <a:avLst>
              <a:gd name="adj" fmla="val 8317"/>
            </a:avLst>
          </a:prstGeom>
          <a:noFill/>
          <a:ln w="19050">
            <a:solidFill>
              <a:srgbClr val="D97706"/>
            </a:solidFill>
            <a:prstDash val="solid"/>
          </a:ln>
          <a:effectLst>
            <a:outerShdw blurRad="50800" dist="12700" dir="16200000" algn="bl" rotWithShape="0">
              <a:srgbClr val="000000">
                <a:alpha val="10000"/>
              </a:srgbClr>
            </a:outerShdw>
          </a:effectLst>
        </p:spPr>
        <p:txBody>
          <a:bodyPr/>
          <a:lstStyle/>
          <a:p>
            <a:pPr algn="ctr"/>
            <a:endParaRPr lang="en-CA" sz="1000" noProof="0"/>
          </a:p>
        </p:txBody>
      </p:sp>
      <p:sp>
        <p:nvSpPr>
          <p:cNvPr id="7" name="Shape 67">
            <a:extLst>
              <a:ext uri="{FF2B5EF4-FFF2-40B4-BE49-F238E27FC236}">
                <a16:creationId xmlns:a16="http://schemas.microsoft.com/office/drawing/2014/main" id="{C69B3040-6B66-1E1D-7021-FFC27D770372}"/>
              </a:ext>
            </a:extLst>
          </p:cNvPr>
          <p:cNvSpPr/>
          <p:nvPr/>
        </p:nvSpPr>
        <p:spPr>
          <a:xfrm>
            <a:off x="9873251" y="2877872"/>
            <a:ext cx="1219675" cy="367301"/>
          </a:xfrm>
          <a:prstGeom prst="roundRect">
            <a:avLst>
              <a:gd name="adj" fmla="val 13462"/>
            </a:avLst>
          </a:prstGeom>
          <a:solidFill>
            <a:srgbClr val="FFFBEB"/>
          </a:solidFill>
          <a:ln w="19050">
            <a:solidFill>
              <a:srgbClr val="D97706"/>
            </a:solidFill>
            <a:prstDash val="solid"/>
          </a:ln>
          <a:effectLst>
            <a:outerShdw blurRad="50800" dist="12700" dir="16200000" algn="bl" rotWithShape="0">
              <a:srgbClr val="000000">
                <a:alpha val="10000"/>
              </a:srgbClr>
            </a:outerShdw>
          </a:effectLst>
        </p:spPr>
        <p:txBody>
          <a:bodyPr anchor="ctr"/>
          <a:lstStyle/>
          <a:p>
            <a:pPr algn="ctr"/>
            <a:r>
              <a:rPr lang="en-CA" sz="1000" b="1" noProof="0"/>
              <a:t>Organization</a:t>
            </a:r>
            <a:endParaRPr lang="en-CA" sz="1000" noProof="0"/>
          </a:p>
        </p:txBody>
      </p:sp>
      <p:sp>
        <p:nvSpPr>
          <p:cNvPr id="16" name="Text 117">
            <a:extLst>
              <a:ext uri="{FF2B5EF4-FFF2-40B4-BE49-F238E27FC236}">
                <a16:creationId xmlns:a16="http://schemas.microsoft.com/office/drawing/2014/main" id="{FA3908E8-3477-6FBE-585B-EAC10FCA4B37}"/>
              </a:ext>
            </a:extLst>
          </p:cNvPr>
          <p:cNvSpPr/>
          <p:nvPr/>
        </p:nvSpPr>
        <p:spPr>
          <a:xfrm rot="16200000">
            <a:off x="5674433" y="4532531"/>
            <a:ext cx="665018" cy="146304"/>
          </a:xfrm>
          <a:prstGeom prst="rect">
            <a:avLst/>
          </a:prstGeom>
          <a:noFill/>
          <a:ln/>
        </p:spPr>
        <p:txBody>
          <a:bodyPr wrap="square" rtlCol="0" anchor="ctr"/>
          <a:lstStyle/>
          <a:p>
            <a:pPr marL="0" indent="0">
              <a:buNone/>
            </a:pPr>
            <a:r>
              <a:rPr lang="en-CA" sz="800" i="1" noProof="0"/>
              <a:t>enters via</a:t>
            </a:r>
            <a:endParaRPr lang="en-CA" sz="800" noProof="0"/>
          </a:p>
        </p:txBody>
      </p:sp>
      <p:sp>
        <p:nvSpPr>
          <p:cNvPr id="19" name="Shape 28">
            <a:extLst>
              <a:ext uri="{FF2B5EF4-FFF2-40B4-BE49-F238E27FC236}">
                <a16:creationId xmlns:a16="http://schemas.microsoft.com/office/drawing/2014/main" id="{37B79C24-7EAC-62CD-BA88-F2180BABF24A}"/>
              </a:ext>
            </a:extLst>
          </p:cNvPr>
          <p:cNvSpPr/>
          <p:nvPr/>
        </p:nvSpPr>
        <p:spPr>
          <a:xfrm>
            <a:off x="7089738" y="2186365"/>
            <a:ext cx="871200" cy="237744"/>
          </a:xfrm>
          <a:prstGeom prst="roundRect">
            <a:avLst>
              <a:gd name="adj" fmla="val 13158"/>
            </a:avLst>
          </a:prstGeom>
          <a:solidFill>
            <a:srgbClr val="DBEAFE"/>
          </a:solidFill>
          <a:ln w="12700">
            <a:solidFill>
              <a:schemeClr val="accent6">
                <a:lumMod val="75000"/>
              </a:schemeClr>
            </a:solidFill>
            <a:prstDash val="solid"/>
          </a:ln>
        </p:spPr>
        <p:txBody>
          <a:bodyPr lIns="36000" tIns="36000" rIns="36000" bIns="36000" anchor="ctr"/>
          <a:lstStyle/>
          <a:p>
            <a:pPr algn="ctr"/>
            <a:r>
              <a:rPr kumimoji="0" lang="en-CA" sz="900" b="0" i="0" u="none" strike="noStrike" kern="1200" cap="none" spc="0" normalizeH="0" baseline="0" noProof="0">
                <a:ln>
                  <a:noFill/>
                </a:ln>
                <a:solidFill>
                  <a:srgbClr val="4A1B0C"/>
                </a:solidFill>
                <a:effectLst/>
                <a:uLnTx/>
                <a:uFillTx/>
              </a:rPr>
              <a:t>Broker</a:t>
            </a:r>
            <a:endParaRPr lang="en-CA" sz="2000" noProof="0"/>
          </a:p>
        </p:txBody>
      </p:sp>
      <p:sp>
        <p:nvSpPr>
          <p:cNvPr id="35" name="Text 68">
            <a:extLst>
              <a:ext uri="{FF2B5EF4-FFF2-40B4-BE49-F238E27FC236}">
                <a16:creationId xmlns:a16="http://schemas.microsoft.com/office/drawing/2014/main" id="{B3B93D23-F6CD-112B-B0B2-071D76C946A7}"/>
              </a:ext>
            </a:extLst>
          </p:cNvPr>
          <p:cNvSpPr/>
          <p:nvPr/>
        </p:nvSpPr>
        <p:spPr>
          <a:xfrm>
            <a:off x="9868445" y="4844678"/>
            <a:ext cx="1229287" cy="392966"/>
          </a:xfrm>
          <a:prstGeom prst="roundRect">
            <a:avLst/>
          </a:prstGeom>
          <a:solidFill>
            <a:srgbClr val="FFFBEB"/>
          </a:solidFill>
          <a:ln w="19050">
            <a:solidFill>
              <a:srgbClr val="D97706"/>
            </a:solidFill>
            <a:prstDash val="solid"/>
          </a:ln>
          <a:effectLst>
            <a:outerShdw blurRad="50800" dist="12700" dir="16200000" algn="bl" rotWithShape="0">
              <a:srgbClr val="000000">
                <a:alpha val="10000"/>
              </a:srgbClr>
            </a:outerShdw>
          </a:effectLst>
        </p:spPr>
        <p:txBody>
          <a:bodyPr anchor="ctr"/>
          <a:lstStyle/>
          <a:p>
            <a:pPr algn="ctr"/>
            <a:r>
              <a:rPr lang="en-CA" sz="1000" b="1" noProof="0"/>
              <a:t>Canada Life Org Unit </a:t>
            </a:r>
          </a:p>
        </p:txBody>
      </p:sp>
    </p:spTree>
    <p:extLst>
      <p:ext uri="{BB962C8B-B14F-4D97-AF65-F5344CB8AC3E}">
        <p14:creationId xmlns:p14="http://schemas.microsoft.com/office/powerpoint/2010/main" val="2901252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C3968-0872-F197-BFA5-FA18D62DA70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FAC30CF-B9E0-DAFE-4DBC-F2B43B014589}"/>
              </a:ext>
            </a:extLst>
          </p:cNvPr>
          <p:cNvSpPr>
            <a:spLocks noGrp="1"/>
          </p:cNvSpPr>
          <p:nvPr>
            <p:ph type="title"/>
          </p:nvPr>
        </p:nvSpPr>
        <p:spPr/>
        <p:txBody>
          <a:bodyPr/>
          <a:lstStyle/>
          <a:p>
            <a:r>
              <a:rPr lang="en-CA" noProof="0">
                <a:latin typeface="+mj-lt"/>
              </a:rPr>
              <a:t>Enterprise Data Patterns</a:t>
            </a:r>
          </a:p>
        </p:txBody>
      </p:sp>
      <p:sp>
        <p:nvSpPr>
          <p:cNvPr id="8" name="Text Placeholder 7">
            <a:extLst>
              <a:ext uri="{FF2B5EF4-FFF2-40B4-BE49-F238E27FC236}">
                <a16:creationId xmlns:a16="http://schemas.microsoft.com/office/drawing/2014/main" id="{35B035C6-980F-0A5B-B136-EDAFAB15CEBE}"/>
              </a:ext>
            </a:extLst>
          </p:cNvPr>
          <p:cNvSpPr>
            <a:spLocks noGrp="1"/>
          </p:cNvSpPr>
          <p:nvPr>
            <p:ph type="body" idx="1"/>
          </p:nvPr>
        </p:nvSpPr>
        <p:spPr/>
        <p:txBody>
          <a:bodyPr/>
          <a:lstStyle/>
          <a:p>
            <a:r>
              <a:rPr lang="en-CA" noProof="0"/>
              <a:t> </a:t>
            </a:r>
          </a:p>
        </p:txBody>
      </p:sp>
      <p:sp>
        <p:nvSpPr>
          <p:cNvPr id="4" name="Date Placeholder 3">
            <a:extLst>
              <a:ext uri="{FF2B5EF4-FFF2-40B4-BE49-F238E27FC236}">
                <a16:creationId xmlns:a16="http://schemas.microsoft.com/office/drawing/2014/main" id="{AF6E74D8-E692-0862-0CFB-C478D90DE540}"/>
              </a:ext>
            </a:extLst>
          </p:cNvPr>
          <p:cNvSpPr>
            <a:spLocks noGrp="1"/>
          </p:cNvSpPr>
          <p:nvPr>
            <p:ph type="dt" sz="half" idx="10"/>
          </p:nvPr>
        </p:nvSpPr>
        <p:spPr/>
        <p:txBody>
          <a:bodyPr/>
          <a:lstStyle/>
          <a:p>
            <a:fld id="{E6E11EAE-16B7-464E-91D8-413C5CE9C268}" type="datetime4">
              <a:rPr lang="en-CA" noProof="0" smtClean="0"/>
              <a:t>August 10, 2026</a:t>
            </a:fld>
            <a:endParaRPr lang="en-CA" noProof="0"/>
          </a:p>
        </p:txBody>
      </p:sp>
      <p:sp>
        <p:nvSpPr>
          <p:cNvPr id="5" name="Footer Placeholder 4">
            <a:extLst>
              <a:ext uri="{FF2B5EF4-FFF2-40B4-BE49-F238E27FC236}">
                <a16:creationId xmlns:a16="http://schemas.microsoft.com/office/drawing/2014/main" id="{5405CF93-9EA4-7D1D-26A1-F78051257B4C}"/>
              </a:ext>
            </a:extLst>
          </p:cNvPr>
          <p:cNvSpPr>
            <a:spLocks noGrp="1"/>
          </p:cNvSpPr>
          <p:nvPr>
            <p:ph type="ftr" sz="quarter" idx="11"/>
          </p:nvPr>
        </p:nvSpPr>
        <p:spPr/>
        <p:txBody>
          <a:bodyPr/>
          <a:lstStyle/>
          <a:p>
            <a:r>
              <a:rPr lang="en-CA" noProof="0"/>
              <a:t> </a:t>
            </a:r>
          </a:p>
        </p:txBody>
      </p:sp>
      <p:sp>
        <p:nvSpPr>
          <p:cNvPr id="6" name="Slide Number Placeholder 5">
            <a:extLst>
              <a:ext uri="{FF2B5EF4-FFF2-40B4-BE49-F238E27FC236}">
                <a16:creationId xmlns:a16="http://schemas.microsoft.com/office/drawing/2014/main" id="{0FC5EB8D-EB79-469B-A28C-6538980029AC}"/>
              </a:ext>
            </a:extLst>
          </p:cNvPr>
          <p:cNvSpPr>
            <a:spLocks noGrp="1"/>
          </p:cNvSpPr>
          <p:nvPr>
            <p:ph type="sldNum" sz="quarter" idx="12"/>
          </p:nvPr>
        </p:nvSpPr>
        <p:spPr/>
        <p:txBody>
          <a:bodyPr/>
          <a:lstStyle/>
          <a:p>
            <a:fld id="{3CBD822F-ED39-4FC2-B5B5-D2EAB6238DC3}" type="slidenum">
              <a:rPr lang="en-CA" noProof="0" smtClean="0"/>
              <a:pPr/>
              <a:t>19</a:t>
            </a:fld>
            <a:endParaRPr lang="en-CA" noProof="0"/>
          </a:p>
        </p:txBody>
      </p:sp>
    </p:spTree>
    <p:extLst>
      <p:ext uri="{BB962C8B-B14F-4D97-AF65-F5344CB8AC3E}">
        <p14:creationId xmlns:p14="http://schemas.microsoft.com/office/powerpoint/2010/main" val="3806084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7DFDE-88D9-B5EE-607E-00C64969BB3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9AAA019-CBF8-2C1A-F000-7849912EB4A0}"/>
              </a:ext>
            </a:extLst>
          </p:cNvPr>
          <p:cNvSpPr>
            <a:spLocks noGrp="1"/>
          </p:cNvSpPr>
          <p:nvPr>
            <p:ph type="sldNum" sz="quarter" idx="12"/>
          </p:nvPr>
        </p:nvSpPr>
        <p:spPr/>
        <p:txBody>
          <a:bodyPr/>
          <a:lstStyle/>
          <a:p>
            <a:fld id="{3CBD822F-ED39-4FC2-B5B5-D2EAB6238DC3}" type="slidenum">
              <a:rPr lang="en-US" smtClean="0"/>
              <a:pPr/>
              <a:t>20</a:t>
            </a:fld>
            <a:endParaRPr lang="en-US"/>
          </a:p>
        </p:txBody>
      </p:sp>
      <p:sp>
        <p:nvSpPr>
          <p:cNvPr id="2" name="Text 0">
            <a:extLst>
              <a:ext uri="{FF2B5EF4-FFF2-40B4-BE49-F238E27FC236}">
                <a16:creationId xmlns:a16="http://schemas.microsoft.com/office/drawing/2014/main" id="{6EDA6947-5480-450A-932E-3D91CB4A1078}"/>
              </a:ext>
            </a:extLst>
          </p:cNvPr>
          <p:cNvSpPr/>
          <p:nvPr/>
        </p:nvSpPr>
        <p:spPr>
          <a:xfrm>
            <a:off x="457200" y="256032"/>
            <a:ext cx="11247120" cy="457200"/>
          </a:xfrm>
          <a:prstGeom prst="rect">
            <a:avLst/>
          </a:prstGeom>
          <a:noFill/>
          <a:ln/>
        </p:spPr>
        <p:txBody>
          <a:bodyPr wrap="square" lIns="91440" tIns="45720" rIns="91440" bIns="45720" rtlCol="0" anchor="ctr"/>
          <a:lstStyle/>
          <a:p>
            <a:r>
              <a:rPr lang="en-US" sz="2400" b="1">
                <a:solidFill>
                  <a:srgbClr val="8B1A2E"/>
                </a:solidFill>
                <a:latin typeface="Arial"/>
                <a:ea typeface="Arial" pitchFamily="34" charset="-122"/>
                <a:cs typeface="Arial"/>
              </a:rPr>
              <a:t>4.1 North Architecture Patterns</a:t>
            </a:r>
            <a:endParaRPr lang="en-US" sz="2400">
              <a:latin typeface="Arial"/>
              <a:cs typeface="Arial"/>
            </a:endParaRPr>
          </a:p>
        </p:txBody>
      </p:sp>
      <p:sp>
        <p:nvSpPr>
          <p:cNvPr id="3" name="Text 1">
            <a:extLst>
              <a:ext uri="{FF2B5EF4-FFF2-40B4-BE49-F238E27FC236}">
                <a16:creationId xmlns:a16="http://schemas.microsoft.com/office/drawing/2014/main" id="{27793F6B-C289-0478-498A-3C9C24268555}"/>
              </a:ext>
            </a:extLst>
          </p:cNvPr>
          <p:cNvSpPr/>
          <p:nvPr/>
        </p:nvSpPr>
        <p:spPr>
          <a:xfrm>
            <a:off x="457200" y="731520"/>
            <a:ext cx="11365992" cy="256032"/>
          </a:xfrm>
          <a:prstGeom prst="rect">
            <a:avLst/>
          </a:prstGeom>
          <a:noFill/>
          <a:ln/>
        </p:spPr>
        <p:txBody>
          <a:bodyPr wrap="square" rtlCol="0" anchor="ctr"/>
          <a:lstStyle/>
          <a:p>
            <a:pPr marL="0" indent="0">
              <a:buNone/>
            </a:pPr>
            <a:r>
              <a:rPr lang="en-US" sz="1400">
                <a:solidFill>
                  <a:schemeClr val="bg2">
                    <a:lumMod val="10000"/>
                  </a:schemeClr>
                </a:solidFill>
                <a:latin typeface="Arial" panose="020B0604020202020204" pitchFamily="34" charset="0"/>
                <a:ea typeface="Arial" pitchFamily="34" charset="-122"/>
                <a:cs typeface="Arial" panose="020B0604020202020204" pitchFamily="34" charset="0"/>
              </a:rPr>
              <a:t>Architecture patterns are repeatable design standards that define how data in NORTH is: Ingested → Stored → Processed → Governed → Consumed</a:t>
            </a:r>
            <a:endParaRPr lang="en-US" sz="1400">
              <a:solidFill>
                <a:schemeClr val="bg2">
                  <a:lumMod val="10000"/>
                </a:schemeClr>
              </a:solidFill>
              <a:latin typeface="Arial" panose="020B0604020202020204" pitchFamily="34" charset="0"/>
              <a:cs typeface="Arial" panose="020B0604020202020204" pitchFamily="34" charset="0"/>
            </a:endParaRPr>
          </a:p>
        </p:txBody>
      </p:sp>
      <p:sp>
        <p:nvSpPr>
          <p:cNvPr id="5" name="Shape 2">
            <a:extLst>
              <a:ext uri="{FF2B5EF4-FFF2-40B4-BE49-F238E27FC236}">
                <a16:creationId xmlns:a16="http://schemas.microsoft.com/office/drawing/2014/main" id="{C4B6BC7C-FBBF-59F9-0B72-D16C946CC354}"/>
              </a:ext>
            </a:extLst>
          </p:cNvPr>
          <p:cNvSpPr/>
          <p:nvPr/>
        </p:nvSpPr>
        <p:spPr>
          <a:xfrm>
            <a:off x="457200" y="1051560"/>
            <a:ext cx="11247120" cy="0"/>
          </a:xfrm>
          <a:prstGeom prst="line">
            <a:avLst/>
          </a:prstGeom>
          <a:noFill/>
          <a:ln w="6350">
            <a:solidFill>
              <a:srgbClr val="E0E0E0"/>
            </a:solidFill>
            <a:prstDash val="solid"/>
          </a:ln>
        </p:spPr>
        <p:txBody>
          <a:bodyPr/>
          <a:lstStyle/>
          <a:p>
            <a:endParaRPr lang="en-US"/>
          </a:p>
        </p:txBody>
      </p:sp>
      <p:sp>
        <p:nvSpPr>
          <p:cNvPr id="7" name="Shape 3">
            <a:extLst>
              <a:ext uri="{FF2B5EF4-FFF2-40B4-BE49-F238E27FC236}">
                <a16:creationId xmlns:a16="http://schemas.microsoft.com/office/drawing/2014/main" id="{941EDF75-554B-9C8A-A2DB-447DDB3654CE}"/>
              </a:ext>
            </a:extLst>
          </p:cNvPr>
          <p:cNvSpPr/>
          <p:nvPr/>
        </p:nvSpPr>
        <p:spPr>
          <a:xfrm>
            <a:off x="1097280" y="1920240"/>
            <a:ext cx="3474720" cy="3474720"/>
          </a:xfrm>
          <a:prstGeom prst="ellipse">
            <a:avLst/>
          </a:prstGeom>
          <a:solidFill>
            <a:schemeClr val="bg1">
              <a:lumMod val="65000"/>
            </a:schemeClr>
          </a:solidFill>
          <a:ln w="12700">
            <a:solidFill>
              <a:srgbClr val="E8E8E8"/>
            </a:solidFill>
            <a:prstDash val="solid"/>
          </a:ln>
        </p:spPr>
        <p:txBody>
          <a:bodyPr/>
          <a:lstStyle/>
          <a:p>
            <a:endParaRPr lang="en-US"/>
          </a:p>
        </p:txBody>
      </p:sp>
      <p:sp>
        <p:nvSpPr>
          <p:cNvPr id="8" name="Shape 4">
            <a:extLst>
              <a:ext uri="{FF2B5EF4-FFF2-40B4-BE49-F238E27FC236}">
                <a16:creationId xmlns:a16="http://schemas.microsoft.com/office/drawing/2014/main" id="{5EEFFB1C-9958-1B60-1317-1613855BDA9C}"/>
              </a:ext>
            </a:extLst>
          </p:cNvPr>
          <p:cNvSpPr/>
          <p:nvPr/>
        </p:nvSpPr>
        <p:spPr>
          <a:xfrm>
            <a:off x="1719072" y="2542032"/>
            <a:ext cx="2231136" cy="2231136"/>
          </a:xfrm>
          <a:prstGeom prst="ellipse">
            <a:avLst/>
          </a:prstGeom>
          <a:solidFill>
            <a:srgbClr val="F7F7F7"/>
          </a:solidFill>
          <a:ln w="12700">
            <a:solidFill>
              <a:srgbClr val="F7F7F7"/>
            </a:solidFill>
            <a:prstDash val="solid"/>
          </a:ln>
        </p:spPr>
        <p:txBody>
          <a:bodyPr/>
          <a:lstStyle/>
          <a:p>
            <a:endParaRPr lang="en-US"/>
          </a:p>
        </p:txBody>
      </p:sp>
      <p:sp>
        <p:nvSpPr>
          <p:cNvPr id="9" name="Shape 5">
            <a:extLst>
              <a:ext uri="{FF2B5EF4-FFF2-40B4-BE49-F238E27FC236}">
                <a16:creationId xmlns:a16="http://schemas.microsoft.com/office/drawing/2014/main" id="{48277A47-AE8F-8011-6F8E-2A6417CE7069}"/>
              </a:ext>
            </a:extLst>
          </p:cNvPr>
          <p:cNvSpPr/>
          <p:nvPr/>
        </p:nvSpPr>
        <p:spPr>
          <a:xfrm>
            <a:off x="1737360" y="2560320"/>
            <a:ext cx="2194560" cy="2194560"/>
          </a:xfrm>
          <a:prstGeom prst="ellipse">
            <a:avLst/>
          </a:prstGeom>
          <a:solidFill>
            <a:schemeClr val="accent1"/>
          </a:solidFill>
          <a:ln w="12700">
            <a:solidFill>
              <a:schemeClr val="accent1"/>
            </a:solidFill>
            <a:prstDash val="solid"/>
          </a:ln>
        </p:spPr>
        <p:txBody>
          <a:bodyPr/>
          <a:lstStyle/>
          <a:p>
            <a:endParaRPr lang="en-US"/>
          </a:p>
        </p:txBody>
      </p:sp>
      <p:sp>
        <p:nvSpPr>
          <p:cNvPr id="10" name="Text 6">
            <a:extLst>
              <a:ext uri="{FF2B5EF4-FFF2-40B4-BE49-F238E27FC236}">
                <a16:creationId xmlns:a16="http://schemas.microsoft.com/office/drawing/2014/main" id="{B4B92759-D9AB-C45D-0B4F-9EC59C4109D3}"/>
              </a:ext>
            </a:extLst>
          </p:cNvPr>
          <p:cNvSpPr/>
          <p:nvPr/>
        </p:nvSpPr>
        <p:spPr>
          <a:xfrm>
            <a:off x="1773936" y="3182112"/>
            <a:ext cx="2121408" cy="530352"/>
          </a:xfrm>
          <a:prstGeom prst="rect">
            <a:avLst/>
          </a:prstGeom>
          <a:noFill/>
          <a:ln/>
        </p:spPr>
        <p:txBody>
          <a:bodyPr wrap="square" lIns="0" tIns="0" rIns="0" bIns="0" rtlCol="0" anchor="b"/>
          <a:lstStyle/>
          <a:p>
            <a:pPr marL="0" indent="0" algn="ctr">
              <a:buNone/>
            </a:pPr>
            <a:r>
              <a:rPr lang="en-US" sz="4200" b="1">
                <a:solidFill>
                  <a:srgbClr val="FFFFFF"/>
                </a:solidFill>
                <a:latin typeface="Arial" pitchFamily="34" charset="0"/>
                <a:ea typeface="Arial" pitchFamily="34" charset="-122"/>
                <a:cs typeface="Arial" pitchFamily="34" charset="-120"/>
              </a:rPr>
              <a:t>20</a:t>
            </a:r>
            <a:endParaRPr lang="en-US" sz="4200"/>
          </a:p>
        </p:txBody>
      </p:sp>
      <p:sp>
        <p:nvSpPr>
          <p:cNvPr id="11" name="Text 7">
            <a:extLst>
              <a:ext uri="{FF2B5EF4-FFF2-40B4-BE49-F238E27FC236}">
                <a16:creationId xmlns:a16="http://schemas.microsoft.com/office/drawing/2014/main" id="{91391A53-075F-2D57-01D6-B4CF7277A5FB}"/>
              </a:ext>
            </a:extLst>
          </p:cNvPr>
          <p:cNvSpPr/>
          <p:nvPr/>
        </p:nvSpPr>
        <p:spPr>
          <a:xfrm>
            <a:off x="1773936" y="3749040"/>
            <a:ext cx="2121408" cy="237744"/>
          </a:xfrm>
          <a:prstGeom prst="rect">
            <a:avLst/>
          </a:prstGeom>
          <a:noFill/>
          <a:ln/>
        </p:spPr>
        <p:txBody>
          <a:bodyPr wrap="square" lIns="0" tIns="0" rIns="0" bIns="0" rtlCol="0" anchor="t"/>
          <a:lstStyle/>
          <a:p>
            <a:pPr marL="0" indent="0" algn="ctr">
              <a:buNone/>
            </a:pPr>
            <a:r>
              <a:rPr lang="en-US" sz="1200">
                <a:solidFill>
                  <a:schemeClr val="bg1"/>
                </a:solidFill>
                <a:latin typeface="Arial" pitchFamily="34" charset="0"/>
                <a:ea typeface="Arial" pitchFamily="34" charset="-122"/>
                <a:cs typeface="Arial" pitchFamily="34" charset="-120"/>
              </a:rPr>
              <a:t>Core patterns</a:t>
            </a:r>
            <a:endParaRPr lang="en-US" sz="1200">
              <a:solidFill>
                <a:schemeClr val="bg1"/>
              </a:solidFill>
            </a:endParaRPr>
          </a:p>
        </p:txBody>
      </p:sp>
      <p:sp>
        <p:nvSpPr>
          <p:cNvPr id="12" name="Text 8">
            <a:extLst>
              <a:ext uri="{FF2B5EF4-FFF2-40B4-BE49-F238E27FC236}">
                <a16:creationId xmlns:a16="http://schemas.microsoft.com/office/drawing/2014/main" id="{91E4A699-00C0-F976-F98A-F10415863895}"/>
              </a:ext>
            </a:extLst>
          </p:cNvPr>
          <p:cNvSpPr/>
          <p:nvPr/>
        </p:nvSpPr>
        <p:spPr>
          <a:xfrm>
            <a:off x="1097280" y="2011680"/>
            <a:ext cx="3474720" cy="365760"/>
          </a:xfrm>
          <a:prstGeom prst="rect">
            <a:avLst/>
          </a:prstGeom>
          <a:noFill/>
          <a:ln/>
        </p:spPr>
        <p:txBody>
          <a:bodyPr wrap="square" lIns="0" tIns="0" rIns="0" bIns="0" rtlCol="0" anchor="t"/>
          <a:lstStyle/>
          <a:p>
            <a:pPr marL="0" indent="0" algn="ctr">
              <a:buNone/>
            </a:pPr>
            <a:r>
              <a:rPr lang="en-US" sz="2200" b="1">
                <a:solidFill>
                  <a:schemeClr val="bg1"/>
                </a:solidFill>
                <a:latin typeface="Arial" pitchFamily="34" charset="0"/>
                <a:ea typeface="Arial" pitchFamily="34" charset="-122"/>
                <a:cs typeface="Arial" pitchFamily="34" charset="-120"/>
              </a:rPr>
              <a:t>30</a:t>
            </a:r>
            <a:endParaRPr lang="en-US" sz="2200">
              <a:solidFill>
                <a:schemeClr val="bg1"/>
              </a:solidFill>
            </a:endParaRPr>
          </a:p>
        </p:txBody>
      </p:sp>
      <p:sp>
        <p:nvSpPr>
          <p:cNvPr id="13" name="Text 9">
            <a:extLst>
              <a:ext uri="{FF2B5EF4-FFF2-40B4-BE49-F238E27FC236}">
                <a16:creationId xmlns:a16="http://schemas.microsoft.com/office/drawing/2014/main" id="{3EDDBF72-B1DC-C527-B9E5-40B622AC7252}"/>
              </a:ext>
            </a:extLst>
          </p:cNvPr>
          <p:cNvSpPr/>
          <p:nvPr/>
        </p:nvSpPr>
        <p:spPr>
          <a:xfrm>
            <a:off x="1097280" y="2359152"/>
            <a:ext cx="3474720" cy="219456"/>
          </a:xfrm>
          <a:prstGeom prst="rect">
            <a:avLst/>
          </a:prstGeom>
          <a:noFill/>
          <a:ln/>
        </p:spPr>
        <p:txBody>
          <a:bodyPr wrap="square" lIns="0" tIns="0" rIns="0" bIns="0" rtlCol="0" anchor="t"/>
          <a:lstStyle/>
          <a:p>
            <a:pPr marL="0" indent="0" algn="ctr">
              <a:buNone/>
            </a:pPr>
            <a:r>
              <a:rPr lang="en-US" sz="1100">
                <a:solidFill>
                  <a:schemeClr val="bg1"/>
                </a:solidFill>
                <a:latin typeface="Arial" pitchFamily="34" charset="0"/>
                <a:ea typeface="Arial" pitchFamily="34" charset="-122"/>
                <a:cs typeface="Arial" pitchFamily="34" charset="-120"/>
              </a:rPr>
              <a:t>Extended</a:t>
            </a:r>
            <a:endParaRPr lang="en-US" sz="1100">
              <a:solidFill>
                <a:schemeClr val="bg1"/>
              </a:solidFill>
            </a:endParaRPr>
          </a:p>
        </p:txBody>
      </p:sp>
      <p:sp>
        <p:nvSpPr>
          <p:cNvPr id="14" name="Shape 10">
            <a:extLst>
              <a:ext uri="{FF2B5EF4-FFF2-40B4-BE49-F238E27FC236}">
                <a16:creationId xmlns:a16="http://schemas.microsoft.com/office/drawing/2014/main" id="{4024D79C-BC4A-913C-17B5-23D820F9D5FF}"/>
              </a:ext>
            </a:extLst>
          </p:cNvPr>
          <p:cNvSpPr/>
          <p:nvPr/>
        </p:nvSpPr>
        <p:spPr>
          <a:xfrm>
            <a:off x="2176272" y="5486400"/>
            <a:ext cx="1316736" cy="256032"/>
          </a:xfrm>
          <a:prstGeom prst="roundRect">
            <a:avLst>
              <a:gd name="adj" fmla="val 28571"/>
            </a:avLst>
          </a:prstGeom>
          <a:solidFill>
            <a:srgbClr val="8B1A2E"/>
          </a:solidFill>
          <a:ln w="12700">
            <a:solidFill>
              <a:srgbClr val="8B1A2E"/>
            </a:solidFill>
            <a:prstDash val="solid"/>
          </a:ln>
        </p:spPr>
        <p:txBody>
          <a:bodyPr/>
          <a:lstStyle/>
          <a:p>
            <a:endParaRPr lang="en-US"/>
          </a:p>
        </p:txBody>
      </p:sp>
      <p:sp>
        <p:nvSpPr>
          <p:cNvPr id="15" name="Text 11">
            <a:extLst>
              <a:ext uri="{FF2B5EF4-FFF2-40B4-BE49-F238E27FC236}">
                <a16:creationId xmlns:a16="http://schemas.microsoft.com/office/drawing/2014/main" id="{B12E5997-DE09-B8AD-59CB-4C9C4B2E1C7F}"/>
              </a:ext>
            </a:extLst>
          </p:cNvPr>
          <p:cNvSpPr/>
          <p:nvPr/>
        </p:nvSpPr>
        <p:spPr>
          <a:xfrm>
            <a:off x="2176272" y="5486400"/>
            <a:ext cx="1316736" cy="256032"/>
          </a:xfrm>
          <a:prstGeom prst="rect">
            <a:avLst/>
          </a:prstGeom>
          <a:noFill/>
          <a:ln/>
        </p:spPr>
        <p:txBody>
          <a:bodyPr wrap="square" lIns="0" tIns="0" rIns="0" bIns="0" rtlCol="0" anchor="ctr"/>
          <a:lstStyle/>
          <a:p>
            <a:pPr marL="0" indent="0" algn="ctr">
              <a:buNone/>
            </a:pPr>
            <a:r>
              <a:rPr lang="en-US" sz="1000" b="1">
                <a:solidFill>
                  <a:srgbClr val="FFFFFF"/>
                </a:solidFill>
                <a:latin typeface="Arial" pitchFamily="34" charset="0"/>
                <a:ea typeface="Arial" pitchFamily="34" charset="-122"/>
                <a:cs typeface="Arial" pitchFamily="34" charset="-120"/>
              </a:rPr>
              <a:t>50 patterns total</a:t>
            </a:r>
            <a:endParaRPr lang="en-US" sz="1000"/>
          </a:p>
        </p:txBody>
      </p:sp>
      <p:sp>
        <p:nvSpPr>
          <p:cNvPr id="20" name="Shape 12">
            <a:extLst>
              <a:ext uri="{FF2B5EF4-FFF2-40B4-BE49-F238E27FC236}">
                <a16:creationId xmlns:a16="http://schemas.microsoft.com/office/drawing/2014/main" id="{81D4AF34-7013-2554-25E2-2BE14E35C0A1}"/>
              </a:ext>
            </a:extLst>
          </p:cNvPr>
          <p:cNvSpPr/>
          <p:nvPr/>
        </p:nvSpPr>
        <p:spPr>
          <a:xfrm>
            <a:off x="5669279" y="1170432"/>
            <a:ext cx="33527" cy="4956047"/>
          </a:xfrm>
          <a:prstGeom prst="line">
            <a:avLst/>
          </a:prstGeom>
          <a:noFill/>
          <a:ln w="6350">
            <a:solidFill>
              <a:srgbClr val="E0E0E0"/>
            </a:solidFill>
            <a:prstDash val="solid"/>
          </a:ln>
        </p:spPr>
        <p:txBody>
          <a:bodyPr/>
          <a:lstStyle/>
          <a:p>
            <a:endParaRPr lang="en-US"/>
          </a:p>
        </p:txBody>
      </p:sp>
      <p:sp>
        <p:nvSpPr>
          <p:cNvPr id="21" name="Shape 13">
            <a:extLst>
              <a:ext uri="{FF2B5EF4-FFF2-40B4-BE49-F238E27FC236}">
                <a16:creationId xmlns:a16="http://schemas.microsoft.com/office/drawing/2014/main" id="{88F7BAA8-B723-5B5B-6DCC-EBB429274595}"/>
              </a:ext>
            </a:extLst>
          </p:cNvPr>
          <p:cNvSpPr/>
          <p:nvPr/>
        </p:nvSpPr>
        <p:spPr>
          <a:xfrm>
            <a:off x="5897880" y="1225296"/>
            <a:ext cx="91440" cy="91440"/>
          </a:xfrm>
          <a:prstGeom prst="rect">
            <a:avLst/>
          </a:prstGeom>
          <a:solidFill>
            <a:schemeClr val="accent1"/>
          </a:solidFill>
          <a:ln w="12700">
            <a:solidFill>
              <a:schemeClr val="accent1"/>
            </a:solidFill>
            <a:prstDash val="solid"/>
          </a:ln>
        </p:spPr>
        <p:txBody>
          <a:bodyPr/>
          <a:lstStyle/>
          <a:p>
            <a:endParaRPr lang="en-US"/>
          </a:p>
        </p:txBody>
      </p:sp>
      <p:sp>
        <p:nvSpPr>
          <p:cNvPr id="24" name="Text 14">
            <a:extLst>
              <a:ext uri="{FF2B5EF4-FFF2-40B4-BE49-F238E27FC236}">
                <a16:creationId xmlns:a16="http://schemas.microsoft.com/office/drawing/2014/main" id="{93777E48-4977-83A1-EDAE-69088BE21FE7}"/>
              </a:ext>
            </a:extLst>
          </p:cNvPr>
          <p:cNvSpPr/>
          <p:nvPr/>
        </p:nvSpPr>
        <p:spPr>
          <a:xfrm>
            <a:off x="6062472" y="1179576"/>
            <a:ext cx="5760720" cy="237744"/>
          </a:xfrm>
          <a:prstGeom prst="rect">
            <a:avLst/>
          </a:prstGeom>
          <a:noFill/>
          <a:ln/>
        </p:spPr>
        <p:txBody>
          <a:bodyPr wrap="square" rtlCol="0" anchor="ctr"/>
          <a:lstStyle/>
          <a:p>
            <a:pPr marL="0" indent="0">
              <a:buNone/>
            </a:pPr>
            <a:r>
              <a:rPr lang="en-US" sz="1600" b="1">
                <a:solidFill>
                  <a:schemeClr val="accent1"/>
                </a:solidFill>
                <a:latin typeface="Arial" pitchFamily="34" charset="0"/>
                <a:ea typeface="Arial" pitchFamily="34" charset="-122"/>
                <a:cs typeface="Arial" pitchFamily="34" charset="-120"/>
              </a:rPr>
              <a:t>Core — Run the Platform</a:t>
            </a:r>
            <a:endParaRPr lang="en-US" sz="1600">
              <a:solidFill>
                <a:schemeClr val="accent1"/>
              </a:solidFill>
            </a:endParaRPr>
          </a:p>
        </p:txBody>
      </p:sp>
      <p:sp>
        <p:nvSpPr>
          <p:cNvPr id="56" name="Text 20">
            <a:extLst>
              <a:ext uri="{FF2B5EF4-FFF2-40B4-BE49-F238E27FC236}">
                <a16:creationId xmlns:a16="http://schemas.microsoft.com/office/drawing/2014/main" id="{3A56A4CC-1F71-EFBD-9147-D4764DB8106F}"/>
              </a:ext>
            </a:extLst>
          </p:cNvPr>
          <p:cNvSpPr/>
          <p:nvPr/>
        </p:nvSpPr>
        <p:spPr>
          <a:xfrm>
            <a:off x="6324599" y="2245290"/>
            <a:ext cx="1254465" cy="219456"/>
          </a:xfrm>
          <a:prstGeom prst="rect">
            <a:avLst/>
          </a:prstGeom>
          <a:noFill/>
          <a:ln/>
        </p:spPr>
        <p:txBody>
          <a:bodyPr wrap="square" rtlCol="0" anchor="ctr"/>
          <a:lstStyle/>
          <a:p>
            <a:pPr marL="0" indent="0">
              <a:buNone/>
            </a:pPr>
            <a:r>
              <a:rPr lang="en-US" sz="1100" b="1" kern="0" spc="200">
                <a:solidFill>
                  <a:schemeClr val="accent1"/>
                </a:solidFill>
                <a:latin typeface="Arial" pitchFamily="34" charset="0"/>
                <a:ea typeface="Arial" pitchFamily="34" charset="-122"/>
                <a:cs typeface="Arial" pitchFamily="34" charset="-120"/>
              </a:rPr>
              <a:t>EXAMPLES</a:t>
            </a:r>
            <a:endParaRPr lang="en-US" sz="1000" b="1">
              <a:solidFill>
                <a:schemeClr val="accent1"/>
              </a:solidFill>
            </a:endParaRPr>
          </a:p>
        </p:txBody>
      </p:sp>
      <p:sp>
        <p:nvSpPr>
          <p:cNvPr id="64" name="Shape 29">
            <a:extLst>
              <a:ext uri="{FF2B5EF4-FFF2-40B4-BE49-F238E27FC236}">
                <a16:creationId xmlns:a16="http://schemas.microsoft.com/office/drawing/2014/main" id="{F21D3236-7230-85E7-B5EE-8F72ABC469CF}"/>
              </a:ext>
            </a:extLst>
          </p:cNvPr>
          <p:cNvSpPr/>
          <p:nvPr/>
        </p:nvSpPr>
        <p:spPr>
          <a:xfrm>
            <a:off x="5783362" y="3959351"/>
            <a:ext cx="91440" cy="91440"/>
          </a:xfrm>
          <a:prstGeom prst="rect">
            <a:avLst/>
          </a:prstGeom>
          <a:solidFill>
            <a:schemeClr val="bg1">
              <a:lumMod val="65000"/>
            </a:schemeClr>
          </a:solidFill>
          <a:ln w="12700">
            <a:solidFill>
              <a:srgbClr val="888888"/>
            </a:solidFill>
            <a:prstDash val="solid"/>
          </a:ln>
        </p:spPr>
        <p:txBody>
          <a:bodyPr/>
          <a:lstStyle/>
          <a:p>
            <a:endParaRPr lang="en-US"/>
          </a:p>
        </p:txBody>
      </p:sp>
      <p:sp>
        <p:nvSpPr>
          <p:cNvPr id="65" name="Text 30">
            <a:extLst>
              <a:ext uri="{FF2B5EF4-FFF2-40B4-BE49-F238E27FC236}">
                <a16:creationId xmlns:a16="http://schemas.microsoft.com/office/drawing/2014/main" id="{1C624A40-7894-0029-8A79-CDC0652DAC0E}"/>
              </a:ext>
            </a:extLst>
          </p:cNvPr>
          <p:cNvSpPr/>
          <p:nvPr/>
        </p:nvSpPr>
        <p:spPr>
          <a:xfrm>
            <a:off x="5943600" y="3886199"/>
            <a:ext cx="5760720" cy="237744"/>
          </a:xfrm>
          <a:prstGeom prst="rect">
            <a:avLst/>
          </a:prstGeom>
          <a:noFill/>
          <a:ln/>
        </p:spPr>
        <p:txBody>
          <a:bodyPr wrap="square" rtlCol="0" anchor="ctr"/>
          <a:lstStyle/>
          <a:p>
            <a:pPr marL="0" indent="0">
              <a:buNone/>
            </a:pPr>
            <a:r>
              <a:rPr lang="en-US" sz="1600" b="1">
                <a:solidFill>
                  <a:schemeClr val="bg1">
                    <a:lumMod val="50000"/>
                  </a:schemeClr>
                </a:solidFill>
                <a:latin typeface="Arial" pitchFamily="34" charset="0"/>
                <a:ea typeface="Arial" pitchFamily="34" charset="-122"/>
                <a:cs typeface="Arial" pitchFamily="34" charset="-120"/>
              </a:rPr>
              <a:t>Extended — Scale &amp; Innovate</a:t>
            </a:r>
            <a:endParaRPr lang="en-US" sz="1600">
              <a:solidFill>
                <a:schemeClr val="bg1">
                  <a:lumMod val="50000"/>
                </a:schemeClr>
              </a:solidFill>
            </a:endParaRPr>
          </a:p>
        </p:txBody>
      </p:sp>
      <p:sp>
        <p:nvSpPr>
          <p:cNvPr id="80" name="Shape 45">
            <a:extLst>
              <a:ext uri="{FF2B5EF4-FFF2-40B4-BE49-F238E27FC236}">
                <a16:creationId xmlns:a16="http://schemas.microsoft.com/office/drawing/2014/main" id="{993C2953-EDDB-6463-E56B-B5E2FB06A6A6}"/>
              </a:ext>
            </a:extLst>
          </p:cNvPr>
          <p:cNvSpPr/>
          <p:nvPr/>
        </p:nvSpPr>
        <p:spPr>
          <a:xfrm>
            <a:off x="3895344" y="3182112"/>
            <a:ext cx="1773936" cy="0"/>
          </a:xfrm>
          <a:prstGeom prst="line">
            <a:avLst/>
          </a:prstGeom>
          <a:noFill/>
          <a:ln w="19050">
            <a:solidFill>
              <a:schemeClr val="accent1"/>
            </a:solidFill>
            <a:prstDash val="dash"/>
          </a:ln>
        </p:spPr>
        <p:txBody>
          <a:bodyPr/>
          <a:lstStyle/>
          <a:p>
            <a:endParaRPr lang="en-US"/>
          </a:p>
        </p:txBody>
      </p:sp>
      <p:sp>
        <p:nvSpPr>
          <p:cNvPr id="81" name="Shape 46">
            <a:extLst>
              <a:ext uri="{FF2B5EF4-FFF2-40B4-BE49-F238E27FC236}">
                <a16:creationId xmlns:a16="http://schemas.microsoft.com/office/drawing/2014/main" id="{689BA4AF-2929-843C-45ED-3D9E363F0838}"/>
              </a:ext>
            </a:extLst>
          </p:cNvPr>
          <p:cNvSpPr/>
          <p:nvPr/>
        </p:nvSpPr>
        <p:spPr>
          <a:xfrm>
            <a:off x="4136572" y="4718304"/>
            <a:ext cx="1554480" cy="0"/>
          </a:xfrm>
          <a:prstGeom prst="line">
            <a:avLst/>
          </a:prstGeom>
          <a:noFill/>
          <a:ln w="19050">
            <a:solidFill>
              <a:schemeClr val="bg2">
                <a:lumMod val="25000"/>
              </a:schemeClr>
            </a:solidFill>
            <a:prstDash val="dash"/>
          </a:ln>
        </p:spPr>
        <p:txBody>
          <a:bodyPr/>
          <a:lstStyle/>
          <a:p>
            <a:endParaRPr lang="en-US"/>
          </a:p>
        </p:txBody>
      </p:sp>
      <p:sp>
        <p:nvSpPr>
          <p:cNvPr id="84" name="Text 18">
            <a:extLst>
              <a:ext uri="{FF2B5EF4-FFF2-40B4-BE49-F238E27FC236}">
                <a16:creationId xmlns:a16="http://schemas.microsoft.com/office/drawing/2014/main" id="{5BA352B1-DE9A-3D93-11BB-5AA4513B213F}"/>
              </a:ext>
            </a:extLst>
          </p:cNvPr>
          <p:cNvSpPr/>
          <p:nvPr/>
        </p:nvSpPr>
        <p:spPr>
          <a:xfrm>
            <a:off x="6096000" y="2464746"/>
            <a:ext cx="5120640" cy="9601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Data movement — batch, streaming, API</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Platform foundation — Lakehouse, operational stores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Standard structured data pipelines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Governance — quality, metadata, security</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Access and consumption — analytics and reporting</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p:txBody>
      </p:sp>
      <p:sp>
        <p:nvSpPr>
          <p:cNvPr id="85" name="Text 15">
            <a:extLst>
              <a:ext uri="{FF2B5EF4-FFF2-40B4-BE49-F238E27FC236}">
                <a16:creationId xmlns:a16="http://schemas.microsoft.com/office/drawing/2014/main" id="{D4499AF1-4A65-D92A-2246-55B95DE94A7B}"/>
              </a:ext>
            </a:extLst>
          </p:cNvPr>
          <p:cNvSpPr/>
          <p:nvPr/>
        </p:nvSpPr>
        <p:spPr>
          <a:xfrm>
            <a:off x="5693664" y="1390326"/>
            <a:ext cx="5120640" cy="804672"/>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Cover the end-to-end data lifecycle</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Enable trusted, governed data products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Support most business use cases across all domains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Required for reporting, analytics, and AI readiness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p:txBody>
      </p:sp>
      <p:sp>
        <p:nvSpPr>
          <p:cNvPr id="86" name="Shape 31">
            <a:extLst>
              <a:ext uri="{FF2B5EF4-FFF2-40B4-BE49-F238E27FC236}">
                <a16:creationId xmlns:a16="http://schemas.microsoft.com/office/drawing/2014/main" id="{094C6DFF-B0F3-5D5D-0B3B-11EBA7D9A50F}"/>
              </a:ext>
            </a:extLst>
          </p:cNvPr>
          <p:cNvSpPr/>
          <p:nvPr/>
        </p:nvSpPr>
        <p:spPr>
          <a:xfrm>
            <a:off x="5669280" y="3749040"/>
            <a:ext cx="5760720" cy="0"/>
          </a:xfrm>
          <a:prstGeom prst="line">
            <a:avLst/>
          </a:prstGeom>
          <a:noFill/>
          <a:ln w="6350">
            <a:solidFill>
              <a:srgbClr val="E0E0E0"/>
            </a:solidFill>
            <a:prstDash val="solid"/>
          </a:ln>
        </p:spPr>
        <p:txBody>
          <a:bodyPr/>
          <a:lstStyle/>
          <a:p>
            <a:endParaRPr lang="en-US"/>
          </a:p>
        </p:txBody>
      </p:sp>
      <p:sp>
        <p:nvSpPr>
          <p:cNvPr id="87" name="Text 28">
            <a:extLst>
              <a:ext uri="{FF2B5EF4-FFF2-40B4-BE49-F238E27FC236}">
                <a16:creationId xmlns:a16="http://schemas.microsoft.com/office/drawing/2014/main" id="{49C3D72C-F5BE-5FB7-526B-BC3E68A86D76}"/>
              </a:ext>
            </a:extLst>
          </p:cNvPr>
          <p:cNvSpPr/>
          <p:nvPr/>
        </p:nvSpPr>
        <p:spPr>
          <a:xfrm>
            <a:off x="5691052" y="4178808"/>
            <a:ext cx="5120640" cy="59436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Enable advanced and future-focused use cases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Improve operational efficiency and platform maturity</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Applied selectively based on business needs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p:txBody>
      </p:sp>
      <p:sp>
        <p:nvSpPr>
          <p:cNvPr id="88" name="Text 31">
            <a:extLst>
              <a:ext uri="{FF2B5EF4-FFF2-40B4-BE49-F238E27FC236}">
                <a16:creationId xmlns:a16="http://schemas.microsoft.com/office/drawing/2014/main" id="{ACB5025D-D1F3-D4E2-8D61-9B15E8A88C04}"/>
              </a:ext>
            </a:extLst>
          </p:cNvPr>
          <p:cNvSpPr/>
          <p:nvPr/>
        </p:nvSpPr>
        <p:spPr>
          <a:xfrm>
            <a:off x="6096000" y="5016138"/>
            <a:ext cx="5120640" cy="960120"/>
          </a:xfrm>
          <a:prstGeom prst="rect">
            <a:avLst/>
          </a:prstGeom>
          <a:noFill/>
          <a:ln/>
        </p:spPr>
        <p:txBody>
          <a:bodyPr wrap="square"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AI and machine learning pipelines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Unstructured data and document processing</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Advanced governance and controls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Monitoring, automation, and cost management</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a:ln>
                  <a:noFill/>
                </a:ln>
                <a:solidFill>
                  <a:schemeClr val="bg2">
                    <a:lumMod val="10000"/>
                  </a:schemeClr>
                </a:solidFill>
                <a:effectLst/>
                <a:uLnTx/>
                <a:uFillTx/>
                <a:latin typeface="Arial" pitchFamily="34" charset="0"/>
                <a:ea typeface="Arial" pitchFamily="34" charset="-122"/>
                <a:cs typeface="Arial" pitchFamily="34" charset="-120"/>
              </a:rPr>
              <a:t>New storage types — graph, vector databases</a:t>
            </a:r>
            <a:endParaRPr kumimoji="0" lang="en-US" sz="1100" b="0" i="0" u="none" strike="noStrike" kern="1200" cap="none" spc="0" normalizeH="0" baseline="0" noProof="0">
              <a:ln>
                <a:noFill/>
              </a:ln>
              <a:solidFill>
                <a:schemeClr val="bg2">
                  <a:lumMod val="10000"/>
                </a:schemeClr>
              </a:solidFill>
              <a:effectLst/>
              <a:uLnTx/>
              <a:uFillTx/>
              <a:latin typeface="Arial" panose="020B0604020202020204"/>
              <a:ea typeface="+mn-ea"/>
              <a:cs typeface="+mn-cs"/>
            </a:endParaRPr>
          </a:p>
        </p:txBody>
      </p:sp>
      <p:sp>
        <p:nvSpPr>
          <p:cNvPr id="89" name="Text 30">
            <a:extLst>
              <a:ext uri="{FF2B5EF4-FFF2-40B4-BE49-F238E27FC236}">
                <a16:creationId xmlns:a16="http://schemas.microsoft.com/office/drawing/2014/main" id="{B32C9247-3C1A-146A-3800-0D454986F83B}"/>
              </a:ext>
            </a:extLst>
          </p:cNvPr>
          <p:cNvSpPr/>
          <p:nvPr/>
        </p:nvSpPr>
        <p:spPr>
          <a:xfrm>
            <a:off x="6300215" y="4833258"/>
            <a:ext cx="1828800" cy="1828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a:ln>
                  <a:noFill/>
                </a:ln>
                <a:solidFill>
                  <a:schemeClr val="bg1">
                    <a:lumMod val="50000"/>
                  </a:schemeClr>
                </a:solidFill>
                <a:effectLst/>
                <a:uLnTx/>
                <a:uFillTx/>
                <a:latin typeface="Arial" pitchFamily="34" charset="0"/>
                <a:ea typeface="Arial" pitchFamily="34" charset="-122"/>
                <a:cs typeface="Arial" pitchFamily="34" charset="-120"/>
              </a:rPr>
              <a:t>EXAMPLES</a:t>
            </a:r>
            <a:endParaRPr kumimoji="0" lang="en-US" sz="1050" b="1" i="0" u="none" strike="noStrike" kern="1200" cap="none" spc="0" normalizeH="0" baseline="0" noProof="0">
              <a:ln>
                <a:noFill/>
              </a:ln>
              <a:solidFill>
                <a:schemeClr val="bg1">
                  <a:lumMod val="50000"/>
                </a:scheme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549932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0CC72-FD94-2C5C-ABC7-3CBD9363E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197B60-9299-4FFF-DD5E-260FC0A88D08}"/>
              </a:ext>
            </a:extLst>
          </p:cNvPr>
          <p:cNvSpPr>
            <a:spLocks noGrp="1"/>
          </p:cNvSpPr>
          <p:nvPr>
            <p:ph type="title"/>
          </p:nvPr>
        </p:nvSpPr>
        <p:spPr/>
        <p:txBody>
          <a:bodyPr/>
          <a:lstStyle/>
          <a:p>
            <a:r>
              <a:rPr lang="en-CA" b="1" noProof="0">
                <a:latin typeface="+mj-lt"/>
              </a:rPr>
              <a:t>4.2 North Platform Data Patterns</a:t>
            </a:r>
          </a:p>
        </p:txBody>
      </p:sp>
      <p:sp>
        <p:nvSpPr>
          <p:cNvPr id="12" name="Text Placeholder 11">
            <a:extLst>
              <a:ext uri="{FF2B5EF4-FFF2-40B4-BE49-F238E27FC236}">
                <a16:creationId xmlns:a16="http://schemas.microsoft.com/office/drawing/2014/main" id="{7909BC79-9D6C-1FA6-37F5-B37979FDD8AF}"/>
              </a:ext>
            </a:extLst>
          </p:cNvPr>
          <p:cNvSpPr>
            <a:spLocks noGrp="1"/>
          </p:cNvSpPr>
          <p:nvPr>
            <p:ph type="body" sz="quarter" idx="13"/>
          </p:nvPr>
        </p:nvSpPr>
        <p:spPr>
          <a:xfrm>
            <a:off x="390000" y="707174"/>
            <a:ext cx="11412000" cy="241980"/>
          </a:xfrm>
          <a:ln>
            <a:noFill/>
          </a:ln>
        </p:spPr>
        <p:txBody>
          <a:bodyPr vert="horz" lIns="72000" tIns="36000" rIns="72000" bIns="36000" rtlCol="0" anchor="t">
            <a:spAutoFit/>
          </a:bodyPr>
          <a:lstStyle/>
          <a:p>
            <a:r>
              <a:rPr lang="en-CA" sz="1100" noProof="0">
                <a:latin typeface="+mn-lt"/>
                <a:cs typeface="Arial"/>
              </a:rPr>
              <a:t>A summary view of how the </a:t>
            </a:r>
            <a:r>
              <a:rPr lang="en-CA" sz="1100" b="1" noProof="0">
                <a:latin typeface="+mn-lt"/>
                <a:cs typeface="Arial"/>
              </a:rPr>
              <a:t>50 </a:t>
            </a:r>
            <a:r>
              <a:rPr lang="en-CA" sz="1100" noProof="0">
                <a:latin typeface="+mn-lt"/>
                <a:cs typeface="Arial"/>
              </a:rPr>
              <a:t>enterprise data patterns </a:t>
            </a:r>
            <a:r>
              <a:rPr lang="en-CA" sz="1100" noProof="0">
                <a:solidFill>
                  <a:schemeClr val="tx1">
                    <a:lumMod val="50000"/>
                  </a:schemeClr>
                </a:solidFill>
                <a:latin typeface="+mn-lt"/>
              </a:rPr>
              <a:t>including 20 core and 30 extended patterns</a:t>
            </a:r>
            <a:r>
              <a:rPr lang="en-CA" sz="1100" noProof="0">
                <a:latin typeface="+mn-lt"/>
                <a:cs typeface="Arial"/>
              </a:rPr>
              <a:t> are distributed across the NORTH platform from ingestion to consumption.</a:t>
            </a:r>
            <a:endParaRPr lang="en-CA" sz="1200" noProof="0">
              <a:latin typeface="+mn-lt"/>
            </a:endParaRPr>
          </a:p>
        </p:txBody>
      </p:sp>
      <p:grpSp>
        <p:nvGrpSpPr>
          <p:cNvPr id="2048" name="Group 2047">
            <a:extLst>
              <a:ext uri="{FF2B5EF4-FFF2-40B4-BE49-F238E27FC236}">
                <a16:creationId xmlns:a16="http://schemas.microsoft.com/office/drawing/2014/main" id="{E7C5C084-02C4-BABD-DE2B-B0C57DAAF662}"/>
              </a:ext>
            </a:extLst>
          </p:cNvPr>
          <p:cNvGrpSpPr/>
          <p:nvPr/>
        </p:nvGrpSpPr>
        <p:grpSpPr>
          <a:xfrm>
            <a:off x="1398000" y="5146047"/>
            <a:ext cx="9396000" cy="1003236"/>
            <a:chOff x="776302" y="5212722"/>
            <a:chExt cx="9396000" cy="1003236"/>
          </a:xfrm>
        </p:grpSpPr>
        <p:sp>
          <p:nvSpPr>
            <p:cNvPr id="8" name="Rectangle: Rounded Corners 7">
              <a:extLst>
                <a:ext uri="{FF2B5EF4-FFF2-40B4-BE49-F238E27FC236}">
                  <a16:creationId xmlns:a16="http://schemas.microsoft.com/office/drawing/2014/main" id="{6EBDDD59-7B2B-954C-789F-C6D019A8AC25}"/>
                </a:ext>
              </a:extLst>
            </p:cNvPr>
            <p:cNvSpPr/>
            <p:nvPr/>
          </p:nvSpPr>
          <p:spPr>
            <a:xfrm>
              <a:off x="776302" y="5212722"/>
              <a:ext cx="9396000" cy="1003236"/>
            </a:xfrm>
            <a:prstGeom prst="roundRect">
              <a:avLst>
                <a:gd name="adj" fmla="val 9455"/>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228600" marR="0" lvl="0" indent="-228600" algn="l" defTabSz="914400" rtl="0" eaLnBrk="1" fontAlgn="auto" latinLnBrk="0" hangingPunct="1">
                <a:lnSpc>
                  <a:spcPct val="100000"/>
                </a:lnSpc>
                <a:spcBef>
                  <a:spcPts val="300"/>
                </a:spcBef>
                <a:spcAft>
                  <a:spcPts val="300"/>
                </a:spcAft>
                <a:buClrTx/>
                <a:buSzTx/>
                <a:buFont typeface="+mj-lt"/>
                <a:buAutoNum type="arabicPeriod"/>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sp>
          <p:nvSpPr>
            <p:cNvPr id="10" name="TextBox 9">
              <a:extLst>
                <a:ext uri="{FF2B5EF4-FFF2-40B4-BE49-F238E27FC236}">
                  <a16:creationId xmlns:a16="http://schemas.microsoft.com/office/drawing/2014/main" id="{8DDCE361-32E7-A083-D9FA-CC6DD2E48956}"/>
                </a:ext>
              </a:extLst>
            </p:cNvPr>
            <p:cNvSpPr txBox="1"/>
            <p:nvPr/>
          </p:nvSpPr>
          <p:spPr>
            <a:xfrm>
              <a:off x="4034302" y="5212722"/>
              <a:ext cx="2880000" cy="276999"/>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A20A28"/>
                  </a:solidFill>
                  <a:effectLst/>
                  <a:uLnTx/>
                  <a:uFillTx/>
                  <a:ea typeface="+mn-ea"/>
                  <a:cs typeface="+mn-cs"/>
                </a:rPr>
                <a:t>Pattern Criteria</a:t>
              </a:r>
            </a:p>
          </p:txBody>
        </p:sp>
        <p:cxnSp>
          <p:nvCxnSpPr>
            <p:cNvPr id="13" name="Straight Connector 12">
              <a:extLst>
                <a:ext uri="{FF2B5EF4-FFF2-40B4-BE49-F238E27FC236}">
                  <a16:creationId xmlns:a16="http://schemas.microsoft.com/office/drawing/2014/main" id="{7DB972C3-B0A0-C578-256A-C33C9DDB539A}"/>
                </a:ext>
              </a:extLst>
            </p:cNvPr>
            <p:cNvCxnSpPr>
              <a:cxnSpLocks/>
            </p:cNvCxnSpPr>
            <p:nvPr/>
          </p:nvCxnSpPr>
          <p:spPr>
            <a:xfrm>
              <a:off x="3674302" y="5478905"/>
              <a:ext cx="3600000" cy="0"/>
            </a:xfrm>
            <a:prstGeom prst="line">
              <a:avLst/>
            </a:prstGeom>
            <a:ln w="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129C9B1F-2042-FF25-2ADC-30ED73994944}"/>
                </a:ext>
              </a:extLst>
            </p:cNvPr>
            <p:cNvGrpSpPr/>
            <p:nvPr/>
          </p:nvGrpSpPr>
          <p:grpSpPr>
            <a:xfrm>
              <a:off x="902302" y="5526530"/>
              <a:ext cx="9144000" cy="658367"/>
              <a:chOff x="776302" y="5526530"/>
              <a:chExt cx="9144000" cy="658367"/>
            </a:xfrm>
          </p:grpSpPr>
          <p:sp>
            <p:nvSpPr>
              <p:cNvPr id="14" name="TextBox 13">
                <a:extLst>
                  <a:ext uri="{FF2B5EF4-FFF2-40B4-BE49-F238E27FC236}">
                    <a16:creationId xmlns:a16="http://schemas.microsoft.com/office/drawing/2014/main" id="{128826D5-8F47-99A9-5BF5-E065CC9AD8FC}"/>
                  </a:ext>
                </a:extLst>
              </p:cNvPr>
              <p:cNvSpPr txBox="1"/>
              <p:nvPr/>
            </p:nvSpPr>
            <p:spPr>
              <a:xfrm>
                <a:off x="776302" y="5526530"/>
                <a:ext cx="4572000" cy="504479"/>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108000" rIns="36000" bIns="36000" rtlCol="0" anchor="t" anchorCtr="0">
                <a:spAutoFit/>
              </a:bodyPr>
              <a:lstStyle/>
              <a:p>
                <a:pPr marL="228600" marR="0" lvl="0" indent="-228600" algn="l" defTabSz="914400" rtl="0" eaLnBrk="1" fontAlgn="auto" latinLnBrk="0" hangingPunct="1">
                  <a:lnSpc>
                    <a:spcPct val="100000"/>
                  </a:lnSpc>
                  <a:spcBef>
                    <a:spcPts val="200"/>
                  </a:spcBef>
                  <a:spcAft>
                    <a:spcPts val="200"/>
                  </a:spcAft>
                  <a:buClrTx/>
                  <a:buSzTx/>
                  <a:buFont typeface="Wingdings" panose="05000000000000000000" pitchFamily="2" charset="2"/>
                  <a:buChar char="ü"/>
                  <a:tabLst/>
                  <a:defRPr/>
                </a:pPr>
                <a:r>
                  <a:rPr kumimoji="0" lang="en-CA" sz="1000" b="0" i="0" u="none" strike="noStrike" kern="1200" cap="none" spc="0" normalizeH="0" baseline="0" noProof="0">
                    <a:ln>
                      <a:noFill/>
                    </a:ln>
                    <a:solidFill>
                      <a:srgbClr val="515146">
                        <a:lumMod val="50000"/>
                      </a:srgbClr>
                    </a:solidFill>
                    <a:effectLst/>
                    <a:uLnTx/>
                    <a:uFillTx/>
                    <a:ea typeface="+mn-ea"/>
                    <a:cs typeface="+mn-cs"/>
                  </a:rPr>
                  <a:t>Complements Canada Life </a:t>
                </a:r>
                <a:r>
                  <a:rPr kumimoji="0" lang="en-CA" sz="1000" b="1" i="0" u="none" strike="noStrike" kern="1200" cap="none" spc="0" normalizeH="0" baseline="0" noProof="0">
                    <a:ln>
                      <a:noFill/>
                    </a:ln>
                    <a:solidFill>
                      <a:srgbClr val="515146">
                        <a:lumMod val="50000"/>
                      </a:srgbClr>
                    </a:solidFill>
                    <a:effectLst/>
                    <a:uLnTx/>
                    <a:uFillTx/>
                    <a:ea typeface="+mn-ea"/>
                    <a:cs typeface="+mn-cs"/>
                  </a:rPr>
                  <a:t>NORTH</a:t>
                </a:r>
                <a:r>
                  <a:rPr kumimoji="0" lang="en-CA" sz="1000" b="0" i="0" u="none" strike="noStrike" kern="1200" cap="none" spc="0" normalizeH="0" baseline="0" noProof="0">
                    <a:ln>
                      <a:noFill/>
                    </a:ln>
                    <a:solidFill>
                      <a:srgbClr val="515146">
                        <a:lumMod val="50000"/>
                      </a:srgbClr>
                    </a:solidFill>
                    <a:effectLst/>
                    <a:uLnTx/>
                    <a:uFillTx/>
                    <a:ea typeface="+mn-ea"/>
                    <a:cs typeface="+mn-cs"/>
                  </a:rPr>
                  <a:t> target Platform.</a:t>
                </a:r>
              </a:p>
              <a:p>
                <a:pPr marL="228600" marR="0" lvl="0" indent="-228600" algn="l" defTabSz="914400" rtl="0" eaLnBrk="1" fontAlgn="auto" latinLnBrk="0" hangingPunct="1">
                  <a:lnSpc>
                    <a:spcPct val="100000"/>
                  </a:lnSpc>
                  <a:spcBef>
                    <a:spcPts val="200"/>
                  </a:spcBef>
                  <a:spcAft>
                    <a:spcPts val="200"/>
                  </a:spcAft>
                  <a:buClrTx/>
                  <a:buSzTx/>
                  <a:buFont typeface="Wingdings" panose="05000000000000000000" pitchFamily="2" charset="2"/>
                  <a:buChar char="ü"/>
                  <a:tabLst/>
                  <a:defRPr/>
                </a:pPr>
                <a:r>
                  <a:rPr kumimoji="0" lang="en-CA" sz="1000" b="0" i="0" u="none" strike="noStrike" kern="1200" cap="none" spc="0" normalizeH="0" baseline="0" noProof="0">
                    <a:ln>
                      <a:noFill/>
                    </a:ln>
                    <a:solidFill>
                      <a:srgbClr val="515146">
                        <a:lumMod val="50000"/>
                      </a:srgbClr>
                    </a:solidFill>
                    <a:effectLst/>
                    <a:uLnTx/>
                    <a:uFillTx/>
                    <a:ea typeface="+mn-ea"/>
                    <a:cs typeface="+mn-cs"/>
                  </a:rPr>
                  <a:t>Spans the </a:t>
                </a:r>
                <a:r>
                  <a:rPr kumimoji="0" lang="en-CA" sz="1000" b="1" i="0" u="none" strike="noStrike" kern="1200" cap="none" spc="0" normalizeH="0" baseline="0" noProof="0">
                    <a:ln>
                      <a:noFill/>
                    </a:ln>
                    <a:solidFill>
                      <a:srgbClr val="515146">
                        <a:lumMod val="50000"/>
                      </a:srgbClr>
                    </a:solidFill>
                    <a:effectLst/>
                    <a:uLnTx/>
                    <a:uFillTx/>
                    <a:ea typeface="+mn-ea"/>
                    <a:cs typeface="+mn-cs"/>
                  </a:rPr>
                  <a:t>end‑to‑end data lifecycle</a:t>
                </a:r>
                <a:r>
                  <a:rPr kumimoji="0" lang="en-CA" sz="1000" b="0" i="0" u="none" strike="noStrike" kern="1200" cap="none" spc="0" normalizeH="0" baseline="0" noProof="0">
                    <a:ln>
                      <a:noFill/>
                    </a:ln>
                    <a:solidFill>
                      <a:srgbClr val="515146">
                        <a:lumMod val="50000"/>
                      </a:srgbClr>
                    </a:solidFill>
                    <a:effectLst/>
                    <a:uLnTx/>
                    <a:uFillTx/>
                    <a:ea typeface="+mn-ea"/>
                    <a:cs typeface="+mn-cs"/>
                  </a:rPr>
                  <a:t>, from ingestion to consumption.</a:t>
                </a:r>
              </a:p>
            </p:txBody>
          </p:sp>
          <p:sp>
            <p:nvSpPr>
              <p:cNvPr id="15" name="TextBox 14">
                <a:extLst>
                  <a:ext uri="{FF2B5EF4-FFF2-40B4-BE49-F238E27FC236}">
                    <a16:creationId xmlns:a16="http://schemas.microsoft.com/office/drawing/2014/main" id="{6CFDC84C-C797-97FB-1876-48A7F49D6AE9}"/>
                  </a:ext>
                </a:extLst>
              </p:cNvPr>
              <p:cNvSpPr txBox="1"/>
              <p:nvPr/>
            </p:nvSpPr>
            <p:spPr>
              <a:xfrm>
                <a:off x="5348302" y="5526530"/>
                <a:ext cx="4572000" cy="65836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108000" rIns="72000" bIns="36000" rtlCol="0" anchor="t" anchorCtr="0">
                <a:spAutoFit/>
              </a:bodyPr>
              <a:lstStyle/>
              <a:p>
                <a:pPr marL="228600" marR="0" lvl="0" indent="-228600" algn="l" defTabSz="914400" rtl="0" eaLnBrk="1" fontAlgn="auto" latinLnBrk="0" hangingPunct="1">
                  <a:lnSpc>
                    <a:spcPct val="100000"/>
                  </a:lnSpc>
                  <a:spcBef>
                    <a:spcPts val="200"/>
                  </a:spcBef>
                  <a:spcAft>
                    <a:spcPts val="200"/>
                  </a:spcAft>
                  <a:buClrTx/>
                  <a:buSzTx/>
                  <a:buFont typeface="Wingdings" panose="05000000000000000000" pitchFamily="2" charset="2"/>
                  <a:buChar char="ü"/>
                  <a:tabLst/>
                  <a:defRPr/>
                </a:pPr>
                <a:r>
                  <a:rPr kumimoji="0" lang="en-CA" sz="1000" b="1" i="0" u="none" strike="noStrike" kern="1200" cap="none" spc="0" normalizeH="0" baseline="0" noProof="0">
                    <a:ln>
                      <a:noFill/>
                    </a:ln>
                    <a:solidFill>
                      <a:srgbClr val="515146">
                        <a:lumMod val="50000"/>
                      </a:srgbClr>
                    </a:solidFill>
                    <a:effectLst/>
                    <a:uLnTx/>
                    <a:uFillTx/>
                    <a:ea typeface="+mn-ea"/>
                    <a:cs typeface="+mn-cs"/>
                  </a:rPr>
                  <a:t>Aligned to existing WDR journey</a:t>
                </a:r>
                <a:r>
                  <a:rPr kumimoji="0" lang="en-CA" sz="1000" b="0" i="0" u="none" strike="noStrike" kern="1200" cap="none" spc="0" normalizeH="0" baseline="0" noProof="0">
                    <a:ln>
                      <a:noFill/>
                    </a:ln>
                    <a:solidFill>
                      <a:srgbClr val="515146">
                        <a:lumMod val="50000"/>
                      </a:srgbClr>
                    </a:solidFill>
                    <a:effectLst/>
                    <a:uLnTx/>
                    <a:uFillTx/>
                    <a:ea typeface="+mn-ea"/>
                    <a:cs typeface="+mn-cs"/>
                  </a:rPr>
                  <a:t> and enterprise direction.</a:t>
                </a:r>
              </a:p>
              <a:p>
                <a:pPr marL="228600" marR="0" lvl="0" indent="-228600" algn="l" defTabSz="914400" rtl="0" eaLnBrk="1" fontAlgn="auto" latinLnBrk="0" hangingPunct="1">
                  <a:lnSpc>
                    <a:spcPct val="100000"/>
                  </a:lnSpc>
                  <a:spcBef>
                    <a:spcPts val="200"/>
                  </a:spcBef>
                  <a:spcAft>
                    <a:spcPts val="200"/>
                  </a:spcAft>
                  <a:buClrTx/>
                  <a:buSzTx/>
                  <a:buFont typeface="Wingdings" panose="05000000000000000000" pitchFamily="2" charset="2"/>
                  <a:buChar char="ü"/>
                  <a:tabLst/>
                  <a:defRPr/>
                </a:pPr>
                <a:r>
                  <a:rPr kumimoji="0" lang="en-CA" sz="1000" b="1" i="0" u="none" strike="noStrike" kern="1200" cap="none" spc="0" normalizeH="0" baseline="0" noProof="0">
                    <a:ln>
                      <a:noFill/>
                    </a:ln>
                    <a:solidFill>
                      <a:srgbClr val="515146">
                        <a:lumMod val="50000"/>
                      </a:srgbClr>
                    </a:solidFill>
                    <a:effectLst/>
                    <a:uLnTx/>
                    <a:uFillTx/>
                    <a:ea typeface="+mn-ea"/>
                    <a:cs typeface="+mn-cs"/>
                  </a:rPr>
                  <a:t>Highly reusable</a:t>
                </a:r>
                <a:r>
                  <a:rPr kumimoji="0" lang="en-CA" sz="1000" b="0" i="0" u="none" strike="noStrike" kern="1200" cap="none" spc="0" normalizeH="0" baseline="0" noProof="0">
                    <a:ln>
                      <a:noFill/>
                    </a:ln>
                    <a:solidFill>
                      <a:srgbClr val="515146">
                        <a:lumMod val="50000"/>
                      </a:srgbClr>
                    </a:solidFill>
                    <a:effectLst/>
                    <a:uLnTx/>
                    <a:uFillTx/>
                    <a:ea typeface="+mn-ea"/>
                    <a:cs typeface="+mn-cs"/>
                  </a:rPr>
                  <a:t> across domains, consumers, and strategic initiatives aligned with priority </a:t>
                </a:r>
                <a:r>
                  <a:rPr kumimoji="0" lang="en-CA" sz="1000" b="1" i="0" u="none" strike="noStrike" kern="1200" cap="none" spc="0" normalizeH="0" baseline="0" noProof="0">
                    <a:ln>
                      <a:noFill/>
                    </a:ln>
                    <a:solidFill>
                      <a:srgbClr val="515146">
                        <a:lumMod val="50000"/>
                      </a:srgbClr>
                    </a:solidFill>
                    <a:effectLst/>
                    <a:uLnTx/>
                    <a:uFillTx/>
                    <a:ea typeface="+mn-ea"/>
                    <a:cs typeface="+mn-cs"/>
                  </a:rPr>
                  <a:t>Business Outcomes.</a:t>
                </a:r>
              </a:p>
            </p:txBody>
          </p:sp>
        </p:grpSp>
      </p:grpSp>
      <p:sp>
        <p:nvSpPr>
          <p:cNvPr id="16" name="Slide Number Placeholder 2">
            <a:extLst>
              <a:ext uri="{FF2B5EF4-FFF2-40B4-BE49-F238E27FC236}">
                <a16:creationId xmlns:a16="http://schemas.microsoft.com/office/drawing/2014/main" id="{0900D67B-448F-C2ED-2899-9443871233EC}"/>
              </a:ext>
            </a:extLst>
          </p:cNvPr>
          <p:cNvSpPr>
            <a:spLocks noGrp="1"/>
          </p:cNvSpPr>
          <p:nvPr>
            <p:ph type="sldNum" sz="quarter" idx="12"/>
          </p:nvPr>
        </p:nvSpPr>
        <p:spPr>
          <a:xfrm>
            <a:off x="87852" y="6286624"/>
            <a:ext cx="201619"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CBD822F-ED39-4FC2-B5B5-D2EAB6238DC3}" type="slidenum">
              <a:rPr kumimoji="0" lang="en-CA" sz="900" b="0" i="0" u="none" strike="noStrike" kern="1200" cap="none" spc="0" normalizeH="0" baseline="0" noProof="0" smtClean="0">
                <a:ln>
                  <a:noFill/>
                </a:ln>
                <a:solidFill>
                  <a:srgbClr val="515146">
                    <a:tint val="75000"/>
                  </a:srgbClr>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CA" sz="900" b="0" i="0" u="none" strike="noStrike" kern="1200" cap="none" spc="0" normalizeH="0" baseline="0" noProof="0">
              <a:ln>
                <a:noFill/>
              </a:ln>
              <a:solidFill>
                <a:srgbClr val="515146">
                  <a:tint val="75000"/>
                </a:srgbClr>
              </a:solidFill>
              <a:effectLst/>
              <a:uLnTx/>
              <a:uFillTx/>
              <a:latin typeface="+mn-lt"/>
              <a:ea typeface="+mn-ea"/>
              <a:cs typeface="+mn-cs"/>
            </a:endParaRPr>
          </a:p>
        </p:txBody>
      </p:sp>
      <p:grpSp>
        <p:nvGrpSpPr>
          <p:cNvPr id="62" name="Group 61">
            <a:extLst>
              <a:ext uri="{FF2B5EF4-FFF2-40B4-BE49-F238E27FC236}">
                <a16:creationId xmlns:a16="http://schemas.microsoft.com/office/drawing/2014/main" id="{077A6C1E-3584-8794-6A8B-CECCF3393F59}"/>
              </a:ext>
            </a:extLst>
          </p:cNvPr>
          <p:cNvGrpSpPr/>
          <p:nvPr/>
        </p:nvGrpSpPr>
        <p:grpSpPr>
          <a:xfrm>
            <a:off x="776303" y="1164509"/>
            <a:ext cx="10639394" cy="3793150"/>
            <a:chOff x="432555" y="1164509"/>
            <a:chExt cx="10639394" cy="3793150"/>
          </a:xfrm>
        </p:grpSpPr>
        <p:sp>
          <p:nvSpPr>
            <p:cNvPr id="6" name="Arrow: Chevron 5">
              <a:extLst>
                <a:ext uri="{FF2B5EF4-FFF2-40B4-BE49-F238E27FC236}">
                  <a16:creationId xmlns:a16="http://schemas.microsoft.com/office/drawing/2014/main" id="{D1987B84-B54F-5631-4010-65029C7C58AD}"/>
                </a:ext>
              </a:extLst>
            </p:cNvPr>
            <p:cNvSpPr/>
            <p:nvPr/>
          </p:nvSpPr>
          <p:spPr>
            <a:xfrm>
              <a:off x="8911949" y="1164509"/>
              <a:ext cx="2160000" cy="324000"/>
            </a:xfrm>
            <a:prstGeom prst="chevron">
              <a:avLst/>
            </a:prstGeom>
            <a:solidFill>
              <a:schemeClr val="tx2">
                <a:lumMod val="5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none" lIns="72000" tIns="137160" rIns="0" bIns="13716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FFFFFF"/>
                  </a:solidFill>
                  <a:effectLst/>
                  <a:uLnTx/>
                  <a:uFillTx/>
                  <a:ea typeface="+mn-ea"/>
                  <a:cs typeface="+mn-cs"/>
                </a:rPr>
                <a:t>Enterprise Intelligence</a:t>
              </a:r>
            </a:p>
          </p:txBody>
        </p:sp>
        <p:grpSp>
          <p:nvGrpSpPr>
            <p:cNvPr id="59" name="Group 58">
              <a:extLst>
                <a:ext uri="{FF2B5EF4-FFF2-40B4-BE49-F238E27FC236}">
                  <a16:creationId xmlns:a16="http://schemas.microsoft.com/office/drawing/2014/main" id="{3950A549-2F1B-6336-77F2-04EFC43184F4}"/>
                </a:ext>
              </a:extLst>
            </p:cNvPr>
            <p:cNvGrpSpPr/>
            <p:nvPr/>
          </p:nvGrpSpPr>
          <p:grpSpPr>
            <a:xfrm>
              <a:off x="432555" y="1164509"/>
              <a:ext cx="2160000" cy="3793150"/>
              <a:chOff x="946905" y="1164509"/>
              <a:chExt cx="2160000" cy="3793150"/>
            </a:xfrm>
          </p:grpSpPr>
          <p:sp>
            <p:nvSpPr>
              <p:cNvPr id="18" name="Arrow: Pentagon 17">
                <a:extLst>
                  <a:ext uri="{FF2B5EF4-FFF2-40B4-BE49-F238E27FC236}">
                    <a16:creationId xmlns:a16="http://schemas.microsoft.com/office/drawing/2014/main" id="{C0BDC8A1-4B76-3DE6-5A35-D50679CBD7C8}"/>
                  </a:ext>
                </a:extLst>
              </p:cNvPr>
              <p:cNvSpPr/>
              <p:nvPr/>
            </p:nvSpPr>
            <p:spPr>
              <a:xfrm>
                <a:off x="946905" y="1164509"/>
                <a:ext cx="2160000" cy="324000"/>
              </a:xfrm>
              <a:prstGeom prst="homePlate">
                <a:avLst/>
              </a:prstGeom>
              <a:solidFill>
                <a:schemeClr val="tx2">
                  <a:lumMod val="60000"/>
                  <a:lumOff val="4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FFFFFF"/>
                    </a:solidFill>
                    <a:effectLst/>
                    <a:uLnTx/>
                    <a:uFillTx/>
                    <a:ea typeface="+mn-ea"/>
                    <a:cs typeface="+mn-cs"/>
                  </a:rPr>
                  <a:t>Enterprise Sources</a:t>
                </a:r>
              </a:p>
            </p:txBody>
          </p:sp>
          <p:sp>
            <p:nvSpPr>
              <p:cNvPr id="25" name="Rounded Rectangle 129">
                <a:extLst>
                  <a:ext uri="{FF2B5EF4-FFF2-40B4-BE49-F238E27FC236}">
                    <a16:creationId xmlns:a16="http://schemas.microsoft.com/office/drawing/2014/main" id="{7DEDDA90-7D77-C2E4-87A4-AFE4C3104342}"/>
                  </a:ext>
                </a:extLst>
              </p:cNvPr>
              <p:cNvSpPr/>
              <p:nvPr/>
            </p:nvSpPr>
            <p:spPr>
              <a:xfrm>
                <a:off x="961105" y="1537659"/>
                <a:ext cx="1944000" cy="3420000"/>
              </a:xfrm>
              <a:prstGeom prst="roundRect">
                <a:avLst>
                  <a:gd name="adj" fmla="val 2921"/>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600" b="1" i="0" u="none" strike="noStrike" kern="1200" cap="none" spc="0" normalizeH="0" baseline="0" noProof="0">
                  <a:ln>
                    <a:noFill/>
                  </a:ln>
                  <a:solidFill>
                    <a:srgbClr val="9A0A26"/>
                  </a:solidFill>
                  <a:effectLst/>
                  <a:uLnTx/>
                  <a:uFillTx/>
                  <a:ea typeface="+mn-ea"/>
                  <a:cs typeface="+mn-cs"/>
                </a:endParaRPr>
              </a:p>
            </p:txBody>
          </p:sp>
          <p:sp>
            <p:nvSpPr>
              <p:cNvPr id="26" name="Rectangle: Rounded Corners 25">
                <a:extLst>
                  <a:ext uri="{FF2B5EF4-FFF2-40B4-BE49-F238E27FC236}">
                    <a16:creationId xmlns:a16="http://schemas.microsoft.com/office/drawing/2014/main" id="{ABEC12DD-BDC0-0FAD-BFED-2F38D33E72A1}"/>
                  </a:ext>
                </a:extLst>
              </p:cNvPr>
              <p:cNvSpPr/>
              <p:nvPr/>
            </p:nvSpPr>
            <p:spPr>
              <a:xfrm>
                <a:off x="1015105" y="1933659"/>
                <a:ext cx="1836000" cy="360000"/>
              </a:xfrm>
              <a:prstGeom prst="roundRect">
                <a:avLst/>
              </a:prstGeom>
              <a:solidFill>
                <a:srgbClr val="BC2435"/>
              </a:solidFill>
              <a:ln w="12700" cap="flat" cmpd="sng" algn="ctr">
                <a:solidFill>
                  <a:schemeClr val="tx2"/>
                </a:solidFill>
                <a:prstDash val="solid"/>
                <a:miter lim="800000"/>
              </a:ln>
              <a:effectLst/>
            </p:spPr>
            <p:txBody>
              <a:bodyPr lIns="91383" tIns="45691" rIns="91383" bIns="45691"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prstClr val="white"/>
                    </a:solidFill>
                    <a:effectLst/>
                    <a:uLnTx/>
                    <a:uFillTx/>
                    <a:ea typeface="+mn-ea"/>
                    <a:cs typeface="Arial"/>
                  </a:rPr>
                  <a:t>Canada Life</a:t>
                </a:r>
                <a:endParaRPr kumimoji="0" lang="en-CA" sz="1200" b="1" i="0" u="none" strike="noStrike" kern="0" cap="none" spc="0" normalizeH="0" baseline="0" noProof="0">
                  <a:ln>
                    <a:noFill/>
                  </a:ln>
                  <a:solidFill>
                    <a:prstClr val="white"/>
                  </a:solidFill>
                  <a:effectLst/>
                  <a:uLnTx/>
                  <a:uFillTx/>
                  <a:ea typeface="+mn-ea"/>
                  <a:cs typeface="+mn-cs"/>
                </a:endParaRPr>
              </a:p>
            </p:txBody>
          </p:sp>
          <p:sp>
            <p:nvSpPr>
              <p:cNvPr id="27" name="Rectangle: Rounded Corners 26">
                <a:extLst>
                  <a:ext uri="{FF2B5EF4-FFF2-40B4-BE49-F238E27FC236}">
                    <a16:creationId xmlns:a16="http://schemas.microsoft.com/office/drawing/2014/main" id="{8A9443C5-F1D2-1B6F-D723-586DFA95BECA}"/>
                  </a:ext>
                </a:extLst>
              </p:cNvPr>
              <p:cNvSpPr/>
              <p:nvPr/>
            </p:nvSpPr>
            <p:spPr>
              <a:xfrm>
                <a:off x="1015105" y="2689659"/>
                <a:ext cx="1836000" cy="360000"/>
              </a:xfrm>
              <a:prstGeom prst="roundRect">
                <a:avLst/>
              </a:prstGeom>
              <a:solidFill>
                <a:srgbClr val="BC2435"/>
              </a:solidFill>
              <a:ln w="12700" cap="flat" cmpd="sng" algn="ctr">
                <a:solidFill>
                  <a:schemeClr val="tx2"/>
                </a:solidFill>
                <a:prstDash val="solid"/>
                <a:miter lim="800000"/>
              </a:ln>
              <a:effectLst/>
            </p:spPr>
            <p:txBody>
              <a:bodyPr lIns="91383" tIns="45691" rIns="91383" bIns="45691"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prstClr val="white"/>
                    </a:solidFill>
                    <a:effectLst/>
                    <a:uLnTx/>
                    <a:uFillTx/>
                    <a:ea typeface="+mn-ea"/>
                    <a:cs typeface="Arial"/>
                  </a:rPr>
                  <a:t>CRS</a:t>
                </a:r>
                <a:endParaRPr kumimoji="0" lang="en-CA" sz="1200" b="1" i="0" u="none" strike="noStrike" kern="0" cap="none" spc="0" normalizeH="0" baseline="0" noProof="0">
                  <a:ln>
                    <a:noFill/>
                  </a:ln>
                  <a:solidFill>
                    <a:prstClr val="white"/>
                  </a:solidFill>
                  <a:effectLst/>
                  <a:uLnTx/>
                  <a:uFillTx/>
                  <a:ea typeface="+mn-ea"/>
                  <a:cs typeface="+mn-cs"/>
                </a:endParaRPr>
              </a:p>
            </p:txBody>
          </p:sp>
          <p:sp>
            <p:nvSpPr>
              <p:cNvPr id="28" name="Rectangle: Rounded Corners 27">
                <a:extLst>
                  <a:ext uri="{FF2B5EF4-FFF2-40B4-BE49-F238E27FC236}">
                    <a16:creationId xmlns:a16="http://schemas.microsoft.com/office/drawing/2014/main" id="{46B73E24-E14E-EE01-9345-641EB71F10A8}"/>
                  </a:ext>
                </a:extLst>
              </p:cNvPr>
              <p:cNvSpPr/>
              <p:nvPr/>
            </p:nvSpPr>
            <p:spPr>
              <a:xfrm>
                <a:off x="1015105" y="3445659"/>
                <a:ext cx="1836000" cy="360000"/>
              </a:xfrm>
              <a:prstGeom prst="roundRect">
                <a:avLst/>
              </a:prstGeom>
              <a:solidFill>
                <a:srgbClr val="BC2435"/>
              </a:solidFill>
              <a:ln w="12700" cap="flat" cmpd="sng" algn="ctr">
                <a:solidFill>
                  <a:schemeClr val="tx2"/>
                </a:solidFill>
                <a:prstDash val="solid"/>
                <a:miter lim="800000"/>
              </a:ln>
              <a:effectLst/>
            </p:spPr>
            <p:txBody>
              <a:bodyPr lIns="91383" tIns="45691" rIns="91383" bIns="45691"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prstClr val="white"/>
                    </a:solidFill>
                    <a:effectLst/>
                    <a:uLnTx/>
                    <a:uFillTx/>
                    <a:ea typeface="+mn-ea"/>
                    <a:cs typeface="Arial"/>
                  </a:rPr>
                  <a:t>Empower</a:t>
                </a:r>
                <a:endParaRPr kumimoji="0" lang="en-CA" sz="1200" b="1" i="0" u="none" strike="noStrike" kern="0" cap="none" spc="0" normalizeH="0" baseline="0" noProof="0">
                  <a:ln>
                    <a:noFill/>
                  </a:ln>
                  <a:solidFill>
                    <a:prstClr val="white"/>
                  </a:solidFill>
                  <a:effectLst/>
                  <a:uLnTx/>
                  <a:uFillTx/>
                  <a:ea typeface="+mn-ea"/>
                  <a:cs typeface="+mn-cs"/>
                </a:endParaRPr>
              </a:p>
            </p:txBody>
          </p:sp>
          <p:sp>
            <p:nvSpPr>
              <p:cNvPr id="29" name="Rectangle: Rounded Corners 28">
                <a:extLst>
                  <a:ext uri="{FF2B5EF4-FFF2-40B4-BE49-F238E27FC236}">
                    <a16:creationId xmlns:a16="http://schemas.microsoft.com/office/drawing/2014/main" id="{37F2AEB9-7116-1863-14B3-AFE37DB476DB}"/>
                  </a:ext>
                </a:extLst>
              </p:cNvPr>
              <p:cNvSpPr/>
              <p:nvPr/>
            </p:nvSpPr>
            <p:spPr>
              <a:xfrm>
                <a:off x="1015105" y="4201659"/>
                <a:ext cx="1836000" cy="360000"/>
              </a:xfrm>
              <a:prstGeom prst="roundRect">
                <a:avLst/>
              </a:prstGeom>
              <a:solidFill>
                <a:srgbClr val="BC2435"/>
              </a:solidFill>
              <a:ln w="12700" cap="flat" cmpd="sng" algn="ctr">
                <a:solidFill>
                  <a:schemeClr val="tx2"/>
                </a:solidFill>
                <a:prstDash val="solid"/>
                <a:miter lim="800000"/>
              </a:ln>
              <a:effectLst/>
            </p:spPr>
            <p:txBody>
              <a:bodyPr lIns="91383" tIns="45691" rIns="91383" bIns="45691"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prstClr val="white"/>
                    </a:solidFill>
                    <a:effectLst/>
                    <a:uLnTx/>
                    <a:uFillTx/>
                    <a:ea typeface="+mn-ea"/>
                    <a:cs typeface="Arial"/>
                  </a:rPr>
                  <a:t>Europe</a:t>
                </a:r>
                <a:endParaRPr kumimoji="0" lang="en-CA" sz="1200" b="1" i="0" u="none" strike="noStrike" kern="0" cap="none" spc="0" normalizeH="0" baseline="0" noProof="0">
                  <a:ln>
                    <a:noFill/>
                  </a:ln>
                  <a:solidFill>
                    <a:prstClr val="white"/>
                  </a:solidFill>
                  <a:effectLst/>
                  <a:uLnTx/>
                  <a:uFillTx/>
                  <a:ea typeface="+mn-ea"/>
                  <a:cs typeface="+mn-cs"/>
                </a:endParaRPr>
              </a:p>
            </p:txBody>
          </p:sp>
        </p:grpSp>
        <p:sp>
          <p:nvSpPr>
            <p:cNvPr id="39" name="Rounded Rectangle 129">
              <a:extLst>
                <a:ext uri="{FF2B5EF4-FFF2-40B4-BE49-F238E27FC236}">
                  <a16:creationId xmlns:a16="http://schemas.microsoft.com/office/drawing/2014/main" id="{7EA6DD63-7FEE-5D06-705D-695CD95A461C}"/>
                </a:ext>
              </a:extLst>
            </p:cNvPr>
            <p:cNvSpPr/>
            <p:nvPr/>
          </p:nvSpPr>
          <p:spPr>
            <a:xfrm>
              <a:off x="9019949" y="1537659"/>
              <a:ext cx="1944000" cy="3420000"/>
            </a:xfrm>
            <a:prstGeom prst="roundRect">
              <a:avLst>
                <a:gd name="adj" fmla="val 2921"/>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600" b="1" i="0" u="none" strike="noStrike" kern="1200" cap="none" spc="0" normalizeH="0" baseline="0" noProof="0">
                <a:ln>
                  <a:noFill/>
                </a:ln>
                <a:solidFill>
                  <a:srgbClr val="9A0A26"/>
                </a:solidFill>
                <a:effectLst/>
                <a:uLnTx/>
                <a:uFillTx/>
                <a:ea typeface="+mn-ea"/>
                <a:cs typeface="+mn-cs"/>
              </a:endParaRPr>
            </a:p>
          </p:txBody>
        </p:sp>
        <p:sp>
          <p:nvSpPr>
            <p:cNvPr id="40" name="Rectangle: Rounded Corners 39">
              <a:extLst>
                <a:ext uri="{FF2B5EF4-FFF2-40B4-BE49-F238E27FC236}">
                  <a16:creationId xmlns:a16="http://schemas.microsoft.com/office/drawing/2014/main" id="{1F2F1F60-136A-4F82-2596-982ED4291528}"/>
                </a:ext>
              </a:extLst>
            </p:cNvPr>
            <p:cNvSpPr/>
            <p:nvPr/>
          </p:nvSpPr>
          <p:spPr>
            <a:xfrm>
              <a:off x="9073949" y="2396998"/>
              <a:ext cx="1836000" cy="540000"/>
            </a:xfrm>
            <a:prstGeom prst="round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1" u="none" strike="noStrike" kern="1200" cap="none" spc="0" normalizeH="0" baseline="0" noProof="0">
                  <a:ln>
                    <a:noFill/>
                  </a:ln>
                  <a:solidFill>
                    <a:srgbClr val="FFFFFF"/>
                  </a:solidFill>
                  <a:effectLst/>
                  <a:uLnTx/>
                  <a:uFillTx/>
                  <a:ea typeface="+mn-ea"/>
                  <a:cs typeface="+mn-cs"/>
                </a:rPr>
                <a:t>Experience:</a:t>
              </a:r>
              <a:r>
                <a:rPr kumimoji="0" lang="en-CA" sz="1200" b="0" i="1" u="none" strike="noStrike" kern="1200" cap="none" spc="0" normalizeH="0" baseline="0" noProof="0">
                  <a:ln>
                    <a:noFill/>
                  </a:ln>
                  <a:solidFill>
                    <a:srgbClr val="FFFFFF"/>
                  </a:solidFill>
                  <a:effectLst/>
                  <a:uLnTx/>
                  <a:uFillTx/>
                  <a:ea typeface="+mn-ea"/>
                  <a:cs typeface="+mn-cs"/>
                </a:rPr>
                <a:t> Enterprise Applications &amp; Omni-Channel</a:t>
              </a:r>
            </a:p>
          </p:txBody>
        </p:sp>
        <p:sp>
          <p:nvSpPr>
            <p:cNvPr id="41" name="Rectangle: Rounded Corners 40">
              <a:extLst>
                <a:ext uri="{FF2B5EF4-FFF2-40B4-BE49-F238E27FC236}">
                  <a16:creationId xmlns:a16="http://schemas.microsoft.com/office/drawing/2014/main" id="{34D812DE-A696-005A-543C-0A1BE2395242}"/>
                </a:ext>
              </a:extLst>
            </p:cNvPr>
            <p:cNvSpPr/>
            <p:nvPr/>
          </p:nvSpPr>
          <p:spPr>
            <a:xfrm>
              <a:off x="9073949" y="3100163"/>
              <a:ext cx="1836000" cy="540000"/>
            </a:xfrm>
            <a:prstGeom prst="round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FFFFFF"/>
                  </a:solidFill>
                  <a:effectLst/>
                  <a:uLnTx/>
                  <a:uFillTx/>
                  <a:ea typeface="+mn-ea"/>
                  <a:cs typeface="+mn-cs"/>
                </a:rPr>
                <a:t> </a:t>
              </a:r>
              <a:r>
                <a:rPr kumimoji="0" lang="en-CA" sz="1200" b="1" i="1" u="none" strike="noStrike" kern="1200" cap="none" spc="0" normalizeH="0" baseline="0" noProof="0">
                  <a:ln>
                    <a:noFill/>
                  </a:ln>
                  <a:solidFill>
                    <a:srgbClr val="FFFFFF"/>
                  </a:solidFill>
                  <a:effectLst/>
                  <a:uLnTx/>
                  <a:uFillTx/>
                  <a:ea typeface="+mn-ea"/>
                  <a:cs typeface="+mn-cs"/>
                </a:rPr>
                <a:t>Insights:</a:t>
              </a:r>
              <a:r>
                <a:rPr kumimoji="0" lang="en-CA" sz="1200" b="0" i="1" u="none" strike="noStrike" kern="1200" cap="none" spc="0" normalizeH="0" baseline="0" noProof="0">
                  <a:ln>
                    <a:noFill/>
                  </a:ln>
                  <a:solidFill>
                    <a:srgbClr val="FFFFFF"/>
                  </a:solidFill>
                  <a:effectLst/>
                  <a:uLnTx/>
                  <a:uFillTx/>
                  <a:ea typeface="+mn-ea"/>
                  <a:cs typeface="+mn-cs"/>
                </a:rPr>
                <a:t> Self Serve Analytics </a:t>
              </a:r>
            </a:p>
          </p:txBody>
        </p:sp>
        <p:sp>
          <p:nvSpPr>
            <p:cNvPr id="42" name="Rectangle: Rounded Corners 41">
              <a:extLst>
                <a:ext uri="{FF2B5EF4-FFF2-40B4-BE49-F238E27FC236}">
                  <a16:creationId xmlns:a16="http://schemas.microsoft.com/office/drawing/2014/main" id="{85D7A4E1-996A-470A-B2EC-9BC272441DC1}"/>
                </a:ext>
              </a:extLst>
            </p:cNvPr>
            <p:cNvSpPr/>
            <p:nvPr/>
          </p:nvSpPr>
          <p:spPr>
            <a:xfrm>
              <a:off x="9073949" y="1693833"/>
              <a:ext cx="1836000" cy="540000"/>
            </a:xfrm>
            <a:prstGeom prst="round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1" u="none" strike="noStrike" kern="1200" cap="none" spc="0" normalizeH="0" baseline="0" noProof="0">
                  <a:ln>
                    <a:noFill/>
                  </a:ln>
                  <a:solidFill>
                    <a:srgbClr val="FFFFFF"/>
                  </a:solidFill>
                  <a:effectLst/>
                  <a:uLnTx/>
                  <a:uFillTx/>
                  <a:ea typeface="+mn-ea"/>
                  <a:cs typeface="+mn-cs"/>
                </a:rPr>
                <a:t>AI:</a:t>
              </a:r>
              <a:r>
                <a:rPr kumimoji="0" lang="en-CA" sz="1200" b="0" i="1" u="none" strike="noStrike" kern="1200" cap="none" spc="0" normalizeH="0" baseline="0" noProof="0">
                  <a:ln>
                    <a:noFill/>
                  </a:ln>
                  <a:solidFill>
                    <a:srgbClr val="FFFFFF"/>
                  </a:solidFill>
                  <a:effectLst/>
                  <a:uLnTx/>
                  <a:uFillTx/>
                  <a:ea typeface="+mn-ea"/>
                  <a:cs typeface="+mn-cs"/>
                </a:rPr>
                <a:t> Gen AI/ Agentic AI / ML</a:t>
              </a:r>
            </a:p>
          </p:txBody>
        </p:sp>
        <p:sp>
          <p:nvSpPr>
            <p:cNvPr id="43" name="Rectangle: Rounded Corners 42">
              <a:extLst>
                <a:ext uri="{FF2B5EF4-FFF2-40B4-BE49-F238E27FC236}">
                  <a16:creationId xmlns:a16="http://schemas.microsoft.com/office/drawing/2014/main" id="{F8700121-85E5-D709-789B-69D2A59D4E6B}"/>
                </a:ext>
              </a:extLst>
            </p:cNvPr>
            <p:cNvSpPr/>
            <p:nvPr/>
          </p:nvSpPr>
          <p:spPr>
            <a:xfrm>
              <a:off x="9073949" y="3803328"/>
              <a:ext cx="1836000" cy="540000"/>
            </a:xfrm>
            <a:prstGeom prst="round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1" u="none" strike="noStrike" kern="1200" cap="none" spc="0" normalizeH="0" baseline="0" noProof="0">
                  <a:ln>
                    <a:noFill/>
                  </a:ln>
                  <a:solidFill>
                    <a:srgbClr val="FFFFFF"/>
                  </a:solidFill>
                  <a:effectLst/>
                  <a:uLnTx/>
                  <a:uFillTx/>
                  <a:ea typeface="+mn-ea"/>
                  <a:cs typeface="+mn-cs"/>
                </a:rPr>
                <a:t>Business Intelligence:</a:t>
              </a:r>
              <a:r>
                <a:rPr kumimoji="0" lang="en-CA" sz="1200" b="0" i="1" u="none" strike="noStrike" kern="1200" cap="none" spc="0" normalizeH="0" baseline="0" noProof="0">
                  <a:ln>
                    <a:noFill/>
                  </a:ln>
                  <a:solidFill>
                    <a:srgbClr val="FFFFFF"/>
                  </a:solidFill>
                  <a:effectLst/>
                  <a:uLnTx/>
                  <a:uFillTx/>
                  <a:ea typeface="+mn-ea"/>
                  <a:cs typeface="+mn-cs"/>
                </a:rPr>
                <a:t> Reporting</a:t>
              </a:r>
            </a:p>
          </p:txBody>
        </p:sp>
        <p:grpSp>
          <p:nvGrpSpPr>
            <p:cNvPr id="61" name="Group 60">
              <a:extLst>
                <a:ext uri="{FF2B5EF4-FFF2-40B4-BE49-F238E27FC236}">
                  <a16:creationId xmlns:a16="http://schemas.microsoft.com/office/drawing/2014/main" id="{B0FAF28B-1A1F-BF8C-9B9A-99F5FA50951D}"/>
                </a:ext>
              </a:extLst>
            </p:cNvPr>
            <p:cNvGrpSpPr/>
            <p:nvPr/>
          </p:nvGrpSpPr>
          <p:grpSpPr>
            <a:xfrm>
              <a:off x="2516354" y="1164509"/>
              <a:ext cx="6480000" cy="3793150"/>
              <a:chOff x="3106904" y="1164509"/>
              <a:chExt cx="6480000" cy="3793150"/>
            </a:xfrm>
          </p:grpSpPr>
          <p:sp>
            <p:nvSpPr>
              <p:cNvPr id="7" name="Arrow: Chevron 6">
                <a:extLst>
                  <a:ext uri="{FF2B5EF4-FFF2-40B4-BE49-F238E27FC236}">
                    <a16:creationId xmlns:a16="http://schemas.microsoft.com/office/drawing/2014/main" id="{ABB0495F-FEDB-15CF-2A18-DCB20346D91D}"/>
                  </a:ext>
                </a:extLst>
              </p:cNvPr>
              <p:cNvSpPr/>
              <p:nvPr/>
            </p:nvSpPr>
            <p:spPr>
              <a:xfrm>
                <a:off x="3106904" y="1164509"/>
                <a:ext cx="6480000" cy="324000"/>
              </a:xfrm>
              <a:prstGeom prst="chevron">
                <a:avLst/>
              </a:prstGeom>
              <a:solidFill>
                <a:srgbClr val="A20A28"/>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FFFFFF"/>
                    </a:solidFill>
                    <a:effectLst/>
                    <a:uLnTx/>
                    <a:uFillTx/>
                    <a:ea typeface="+mn-ea"/>
                    <a:cs typeface="+mn-cs"/>
                  </a:rPr>
                  <a:t>Next-Gen Organizational Repository for Trusted and High Value Data</a:t>
                </a:r>
              </a:p>
            </p:txBody>
          </p:sp>
          <p:grpSp>
            <p:nvGrpSpPr>
              <p:cNvPr id="60" name="Group 59">
                <a:extLst>
                  <a:ext uri="{FF2B5EF4-FFF2-40B4-BE49-F238E27FC236}">
                    <a16:creationId xmlns:a16="http://schemas.microsoft.com/office/drawing/2014/main" id="{06625437-F568-00EE-E240-3BEFDA393BDE}"/>
                  </a:ext>
                </a:extLst>
              </p:cNvPr>
              <p:cNvGrpSpPr/>
              <p:nvPr/>
            </p:nvGrpSpPr>
            <p:grpSpPr>
              <a:xfrm>
                <a:off x="3179694" y="1537659"/>
                <a:ext cx="6201071" cy="3420000"/>
                <a:chOff x="3156709" y="1537659"/>
                <a:chExt cx="6201071" cy="3420000"/>
              </a:xfrm>
            </p:grpSpPr>
            <p:sp>
              <p:nvSpPr>
                <p:cNvPr id="20" name="Rounded Rectangle 12">
                  <a:extLst>
                    <a:ext uri="{FF2B5EF4-FFF2-40B4-BE49-F238E27FC236}">
                      <a16:creationId xmlns:a16="http://schemas.microsoft.com/office/drawing/2014/main" id="{E76896EF-AC0B-12CB-7A03-523300906691}"/>
                    </a:ext>
                  </a:extLst>
                </p:cNvPr>
                <p:cNvSpPr/>
                <p:nvPr/>
              </p:nvSpPr>
              <p:spPr>
                <a:xfrm>
                  <a:off x="6329245" y="1551908"/>
                  <a:ext cx="1440000" cy="1944000"/>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Data Products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200" b="1" i="0" u="none" strike="noStrike" kern="0" cap="none" spc="0" normalizeH="0" baseline="0" noProof="0">
                    <a:ln>
                      <a:noFill/>
                    </a:ln>
                    <a:solidFill>
                      <a:srgbClr val="FFFFFF"/>
                    </a:solidFill>
                    <a:effectLst/>
                    <a:uLnTx/>
                    <a:uFillTx/>
                    <a:ea typeface="+mn-ea"/>
                    <a:cs typeface="+mn-cs"/>
                  </a:endParaRPr>
                </a:p>
              </p:txBody>
            </p:sp>
            <p:sp>
              <p:nvSpPr>
                <p:cNvPr id="22" name="Rounded Rectangle 12">
                  <a:extLst>
                    <a:ext uri="{FF2B5EF4-FFF2-40B4-BE49-F238E27FC236}">
                      <a16:creationId xmlns:a16="http://schemas.microsoft.com/office/drawing/2014/main" id="{AB341300-4D61-C0FD-E59D-E1596E5CE1D0}"/>
                    </a:ext>
                  </a:extLst>
                </p:cNvPr>
                <p:cNvSpPr/>
                <p:nvPr/>
              </p:nvSpPr>
              <p:spPr>
                <a:xfrm>
                  <a:off x="3156709" y="1537659"/>
                  <a:ext cx="1440000" cy="3420000"/>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720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Data Integration</a:t>
                  </a:r>
                  <a:endParaRPr kumimoji="0" lang="en-CA" sz="1200" b="0" i="0" u="none" strike="noStrike" kern="0" cap="none" spc="0" normalizeH="0" baseline="0" noProof="0">
                    <a:ln>
                      <a:noFill/>
                    </a:ln>
                    <a:solidFill>
                      <a:srgbClr val="FFFFFF"/>
                    </a:solidFill>
                    <a:effectLst/>
                    <a:uLnTx/>
                    <a:uFillTx/>
                    <a:ea typeface="+mn-ea"/>
                    <a:cs typeface="+mn-cs"/>
                  </a:endParaRPr>
                </a:p>
              </p:txBody>
            </p:sp>
            <p:sp>
              <p:nvSpPr>
                <p:cNvPr id="23" name="Rounded Rectangle 12">
                  <a:extLst>
                    <a:ext uri="{FF2B5EF4-FFF2-40B4-BE49-F238E27FC236}">
                      <a16:creationId xmlns:a16="http://schemas.microsoft.com/office/drawing/2014/main" id="{728E8D32-7B7B-EAFD-4A8D-2FB0F28A183E}"/>
                    </a:ext>
                  </a:extLst>
                </p:cNvPr>
                <p:cNvSpPr/>
                <p:nvPr/>
              </p:nvSpPr>
              <p:spPr>
                <a:xfrm>
                  <a:off x="4745245" y="1551909"/>
                  <a:ext cx="1440000" cy="936000"/>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Data Repositories</a:t>
                  </a:r>
                  <a:endParaRPr kumimoji="0" lang="en-CA" sz="1200" b="0" i="0" u="none" strike="noStrike" kern="0" cap="none" spc="0" normalizeH="0" baseline="0" noProof="0">
                    <a:ln>
                      <a:noFill/>
                    </a:ln>
                    <a:solidFill>
                      <a:srgbClr val="FFFFFF"/>
                    </a:solidFill>
                    <a:effectLst/>
                    <a:uLnTx/>
                    <a:uFillTx/>
                    <a:ea typeface="+mn-ea"/>
                    <a:cs typeface="+mn-cs"/>
                  </a:endParaRPr>
                </a:p>
              </p:txBody>
            </p:sp>
            <p:sp>
              <p:nvSpPr>
                <p:cNvPr id="33" name="Rounded Rectangle 12">
                  <a:extLst>
                    <a:ext uri="{FF2B5EF4-FFF2-40B4-BE49-F238E27FC236}">
                      <a16:creationId xmlns:a16="http://schemas.microsoft.com/office/drawing/2014/main" id="{7EA667C5-D64B-402D-D8FB-94DB782F529B}"/>
                    </a:ext>
                  </a:extLst>
                </p:cNvPr>
                <p:cNvSpPr/>
                <p:nvPr/>
              </p:nvSpPr>
              <p:spPr>
                <a:xfrm>
                  <a:off x="4745245" y="2559908"/>
                  <a:ext cx="1440000" cy="936000"/>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Supply Chain</a:t>
                  </a:r>
                  <a:endParaRPr kumimoji="0" lang="en-CA" sz="1200" b="0" i="0" u="none" strike="noStrike" kern="0" cap="none" spc="0" normalizeH="0" baseline="0" noProof="0">
                    <a:ln>
                      <a:noFill/>
                    </a:ln>
                    <a:solidFill>
                      <a:srgbClr val="FFFFFF"/>
                    </a:solidFill>
                    <a:effectLst/>
                    <a:uLnTx/>
                    <a:uFillTx/>
                    <a:ea typeface="+mn-ea"/>
                    <a:cs typeface="+mn-cs"/>
                  </a:endParaRPr>
                </a:p>
              </p:txBody>
            </p:sp>
            <p:sp>
              <p:nvSpPr>
                <p:cNvPr id="35" name="Rounded Rectangle 12">
                  <a:extLst>
                    <a:ext uri="{FF2B5EF4-FFF2-40B4-BE49-F238E27FC236}">
                      <a16:creationId xmlns:a16="http://schemas.microsoft.com/office/drawing/2014/main" id="{A1882FD9-53BD-8D1E-12D2-105EE2D48832}"/>
                    </a:ext>
                  </a:extLst>
                </p:cNvPr>
                <p:cNvSpPr/>
                <p:nvPr/>
              </p:nvSpPr>
              <p:spPr>
                <a:xfrm>
                  <a:off x="7917780" y="1537659"/>
                  <a:ext cx="1440000" cy="3420000"/>
                </a:xfrm>
                <a:prstGeom prst="roundRect">
                  <a:avLst>
                    <a:gd name="adj" fmla="val 814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720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Information Access Layer</a:t>
                  </a:r>
                  <a:endParaRPr kumimoji="0" lang="en-CA" sz="1200" b="0" i="0" u="none" strike="noStrike" kern="0" cap="none" spc="0" normalizeH="0" baseline="0" noProof="0">
                    <a:ln>
                      <a:noFill/>
                    </a:ln>
                    <a:solidFill>
                      <a:srgbClr val="FFFFFF"/>
                    </a:solidFill>
                    <a:effectLst/>
                    <a:uLnTx/>
                    <a:uFillTx/>
                    <a:ea typeface="+mn-ea"/>
                    <a:cs typeface="+mn-cs"/>
                  </a:endParaRPr>
                </a:p>
              </p:txBody>
            </p:sp>
            <p:sp>
              <p:nvSpPr>
                <p:cNvPr id="45" name="Rounded Rectangle 12">
                  <a:extLst>
                    <a:ext uri="{FF2B5EF4-FFF2-40B4-BE49-F238E27FC236}">
                      <a16:creationId xmlns:a16="http://schemas.microsoft.com/office/drawing/2014/main" id="{C15459CD-1C2D-2E2F-B038-40C79EF2CB85}"/>
                    </a:ext>
                  </a:extLst>
                </p:cNvPr>
                <p:cNvSpPr/>
                <p:nvPr/>
              </p:nvSpPr>
              <p:spPr>
                <a:xfrm>
                  <a:off x="4817245" y="3142928"/>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7 Data Patterns</a:t>
                  </a:r>
                </a:p>
              </p:txBody>
            </p:sp>
            <p:sp>
              <p:nvSpPr>
                <p:cNvPr id="46" name="Rounded Rectangle 12">
                  <a:extLst>
                    <a:ext uri="{FF2B5EF4-FFF2-40B4-BE49-F238E27FC236}">
                      <a16:creationId xmlns:a16="http://schemas.microsoft.com/office/drawing/2014/main" id="{D8725115-42CE-07C2-4EB9-6D7784C910E4}"/>
                    </a:ext>
                  </a:extLst>
                </p:cNvPr>
                <p:cNvSpPr/>
                <p:nvPr/>
              </p:nvSpPr>
              <p:spPr>
                <a:xfrm>
                  <a:off x="3230977" y="3142928"/>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4 Data Patterns</a:t>
                  </a:r>
                </a:p>
              </p:txBody>
            </p:sp>
            <p:sp>
              <p:nvSpPr>
                <p:cNvPr id="47" name="Rounded Rectangle 12">
                  <a:extLst>
                    <a:ext uri="{FF2B5EF4-FFF2-40B4-BE49-F238E27FC236}">
                      <a16:creationId xmlns:a16="http://schemas.microsoft.com/office/drawing/2014/main" id="{5E67E391-B2AC-6F42-A552-2E89F63A1CD9}"/>
                    </a:ext>
                  </a:extLst>
                </p:cNvPr>
                <p:cNvSpPr/>
                <p:nvPr/>
              </p:nvSpPr>
              <p:spPr>
                <a:xfrm>
                  <a:off x="4817245" y="2133269"/>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4 Data Patterns</a:t>
                  </a:r>
                </a:p>
              </p:txBody>
            </p:sp>
            <p:sp>
              <p:nvSpPr>
                <p:cNvPr id="48" name="Rounded Rectangle 12">
                  <a:extLst>
                    <a:ext uri="{FF2B5EF4-FFF2-40B4-BE49-F238E27FC236}">
                      <a16:creationId xmlns:a16="http://schemas.microsoft.com/office/drawing/2014/main" id="{B6F6C59F-3716-32E6-15E9-7CF33696D65E}"/>
                    </a:ext>
                  </a:extLst>
                </p:cNvPr>
                <p:cNvSpPr/>
                <p:nvPr/>
              </p:nvSpPr>
              <p:spPr>
                <a:xfrm>
                  <a:off x="6403512" y="3133500"/>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3 Data Patterns</a:t>
                  </a:r>
                </a:p>
              </p:txBody>
            </p:sp>
            <p:sp>
              <p:nvSpPr>
                <p:cNvPr id="24" name="Rounded Rectangle 12">
                  <a:extLst>
                    <a:ext uri="{FF2B5EF4-FFF2-40B4-BE49-F238E27FC236}">
                      <a16:creationId xmlns:a16="http://schemas.microsoft.com/office/drawing/2014/main" id="{829FBC53-E642-07E8-8B4A-CD077418E31D}"/>
                    </a:ext>
                  </a:extLst>
                </p:cNvPr>
                <p:cNvSpPr/>
                <p:nvPr/>
              </p:nvSpPr>
              <p:spPr>
                <a:xfrm>
                  <a:off x="4745245" y="4309659"/>
                  <a:ext cx="3024000" cy="648000"/>
                </a:xfrm>
                <a:prstGeom prst="roundRect">
                  <a:avLst>
                    <a:gd name="adj" fmla="val 1549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Governance, Security &amp; Metadata</a:t>
                  </a:r>
                </a:p>
              </p:txBody>
            </p:sp>
            <p:sp>
              <p:nvSpPr>
                <p:cNvPr id="34" name="Rounded Rectangle 12">
                  <a:extLst>
                    <a:ext uri="{FF2B5EF4-FFF2-40B4-BE49-F238E27FC236}">
                      <a16:creationId xmlns:a16="http://schemas.microsoft.com/office/drawing/2014/main" id="{58F4BE30-43F9-5CF3-4226-6DAAF986B69E}"/>
                    </a:ext>
                  </a:extLst>
                </p:cNvPr>
                <p:cNvSpPr/>
                <p:nvPr/>
              </p:nvSpPr>
              <p:spPr>
                <a:xfrm>
                  <a:off x="4745245" y="3581135"/>
                  <a:ext cx="3024000" cy="648000"/>
                </a:xfrm>
                <a:prstGeom prst="roundRect">
                  <a:avLst>
                    <a:gd name="adj" fmla="val 12559"/>
                  </a:avLst>
                </a:prstGeom>
                <a:solidFill>
                  <a:schemeClr val="tx2"/>
                </a:solidFill>
                <a:ln w="12700" cap="flat" cmpd="sng" algn="ctr">
                  <a:noFill/>
                  <a:prstDash val="solid"/>
                  <a:miter lim="800000"/>
                </a:ln>
                <a:effectLst>
                  <a:outerShdw blurRad="50800" dist="38100" dir="2700000" algn="tl" rotWithShape="0">
                    <a:prstClr val="black">
                      <a:alpha val="40000"/>
                    </a:prstClr>
                  </a:outerShdw>
                </a:effectLst>
              </p:spPr>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1" i="0" u="none" strike="noStrike" kern="0" cap="none" spc="0" normalizeH="0" baseline="0" noProof="0">
                      <a:ln>
                        <a:noFill/>
                      </a:ln>
                      <a:solidFill>
                        <a:srgbClr val="FFFFFF"/>
                      </a:solidFill>
                      <a:effectLst/>
                      <a:uLnTx/>
                      <a:uFillTx/>
                      <a:ea typeface="+mn-ea"/>
                      <a:cs typeface="+mn-cs"/>
                    </a:rPr>
                    <a:t>MDM &amp; 360 views</a:t>
                  </a:r>
                </a:p>
              </p:txBody>
            </p:sp>
            <p:sp>
              <p:nvSpPr>
                <p:cNvPr id="49" name="Rounded Rectangle 12">
                  <a:extLst>
                    <a:ext uri="{FF2B5EF4-FFF2-40B4-BE49-F238E27FC236}">
                      <a16:creationId xmlns:a16="http://schemas.microsoft.com/office/drawing/2014/main" id="{A798F8C9-6227-D71D-4CC8-E2B48686A7CE}"/>
                    </a:ext>
                  </a:extLst>
                </p:cNvPr>
                <p:cNvSpPr/>
                <p:nvPr/>
              </p:nvSpPr>
              <p:spPr>
                <a:xfrm>
                  <a:off x="5609245" y="3866977"/>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2 Data Patterns</a:t>
                  </a:r>
                </a:p>
              </p:txBody>
            </p:sp>
            <p:sp>
              <p:nvSpPr>
                <p:cNvPr id="50" name="Rounded Rectangle 12">
                  <a:extLst>
                    <a:ext uri="{FF2B5EF4-FFF2-40B4-BE49-F238E27FC236}">
                      <a16:creationId xmlns:a16="http://schemas.microsoft.com/office/drawing/2014/main" id="{474151F0-A304-09E5-7809-89FF63F7192A}"/>
                    </a:ext>
                  </a:extLst>
                </p:cNvPr>
                <p:cNvSpPr/>
                <p:nvPr/>
              </p:nvSpPr>
              <p:spPr>
                <a:xfrm>
                  <a:off x="5609245" y="4603670"/>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19 Data Patterns</a:t>
                  </a:r>
                </a:p>
              </p:txBody>
            </p:sp>
            <p:sp>
              <p:nvSpPr>
                <p:cNvPr id="54" name="Rounded Rectangle 12">
                  <a:extLst>
                    <a:ext uri="{FF2B5EF4-FFF2-40B4-BE49-F238E27FC236}">
                      <a16:creationId xmlns:a16="http://schemas.microsoft.com/office/drawing/2014/main" id="{5339148A-6873-22DB-EFEE-85B5CF4D4EF1}"/>
                    </a:ext>
                  </a:extLst>
                </p:cNvPr>
                <p:cNvSpPr/>
                <p:nvPr/>
              </p:nvSpPr>
              <p:spPr>
                <a:xfrm>
                  <a:off x="7989780" y="3133500"/>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7 Data Patterns</a:t>
                  </a:r>
                </a:p>
              </p:txBody>
            </p:sp>
          </p:grpSp>
        </p:grpSp>
        <p:sp>
          <p:nvSpPr>
            <p:cNvPr id="55" name="Rounded Rectangle 12">
              <a:extLst>
                <a:ext uri="{FF2B5EF4-FFF2-40B4-BE49-F238E27FC236}">
                  <a16:creationId xmlns:a16="http://schemas.microsoft.com/office/drawing/2014/main" id="{79125118-9841-E296-0181-0DC3E8D8C68E}"/>
                </a:ext>
              </a:extLst>
            </p:cNvPr>
            <p:cNvSpPr/>
            <p:nvPr/>
          </p:nvSpPr>
          <p:spPr>
            <a:xfrm>
              <a:off x="9343949" y="4506493"/>
              <a:ext cx="1296000" cy="288000"/>
            </a:xfrm>
            <a:prstGeom prst="roundRect">
              <a:avLst>
                <a:gd name="adj" fmla="val 15590"/>
              </a:avLst>
            </a:prstGeom>
            <a:solidFill>
              <a:schemeClr val="tx1">
                <a:lumMod val="75000"/>
              </a:schemeClr>
            </a:solidFill>
            <a:ln w="12700" cap="flat" cmpd="sng" algn="ctr">
              <a:noFill/>
              <a:prstDash val="solid"/>
              <a:miter lim="800000"/>
            </a:ln>
            <a:effectLst/>
          </p:spPr>
          <p:txBody>
            <a:bodyPr lIns="72000" tIns="36000" rIns="72000" bIns="36000" rtlCol="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50" b="1" i="0" u="none" strike="noStrike" kern="0" cap="none" spc="0" normalizeH="0" baseline="0" noProof="0">
                  <a:ln>
                    <a:noFill/>
                  </a:ln>
                  <a:solidFill>
                    <a:srgbClr val="FFFFFF"/>
                  </a:solidFill>
                  <a:effectLst/>
                  <a:uLnTx/>
                  <a:uFillTx/>
                  <a:ea typeface="+mn-ea"/>
                  <a:cs typeface="+mn-cs"/>
                </a:rPr>
                <a:t>4 Data Patterns</a:t>
              </a:r>
            </a:p>
          </p:txBody>
        </p:sp>
      </p:grpSp>
    </p:spTree>
    <p:extLst>
      <p:ext uri="{BB962C8B-B14F-4D97-AF65-F5344CB8AC3E}">
        <p14:creationId xmlns:p14="http://schemas.microsoft.com/office/powerpoint/2010/main" val="347145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09CD-9425-1291-D5DF-89E65C0ADA75}"/>
            </a:ext>
          </a:extLst>
        </p:cNvPr>
        <p:cNvGrpSpPr/>
        <p:nvPr/>
      </p:nvGrpSpPr>
      <p:grpSpPr>
        <a:xfrm>
          <a:off x="0" y="0"/>
          <a:ext cx="0" cy="0"/>
          <a:chOff x="0" y="0"/>
          <a:chExt cx="0" cy="0"/>
        </a:xfrm>
      </p:grpSpPr>
      <p:sp>
        <p:nvSpPr>
          <p:cNvPr id="87" name="Rounded Rectangle 12">
            <a:extLst>
              <a:ext uri="{FF2B5EF4-FFF2-40B4-BE49-F238E27FC236}">
                <a16:creationId xmlns:a16="http://schemas.microsoft.com/office/drawing/2014/main" id="{CD914B71-B95F-C274-2A74-D45B910575FD}"/>
              </a:ext>
            </a:extLst>
          </p:cNvPr>
          <p:cNvSpPr/>
          <p:nvPr/>
        </p:nvSpPr>
        <p:spPr>
          <a:xfrm>
            <a:off x="7853513" y="1093702"/>
            <a:ext cx="1599618" cy="3505837"/>
          </a:xfrm>
          <a:prstGeom prst="roundRect">
            <a:avLst>
              <a:gd name="adj" fmla="val 8149"/>
            </a:avLst>
          </a:prstGeom>
          <a:solidFill>
            <a:schemeClr val="bg1"/>
          </a:solidFill>
          <a:ln w="12700" cap="flat" cmpd="sng" algn="ctr">
            <a:solidFill>
              <a:schemeClr val="tx2"/>
            </a:solidFill>
            <a:prstDash val="dash"/>
            <a:miter lim="800000"/>
          </a:ln>
          <a:effectLst/>
        </p:spPr>
        <p:txBody>
          <a:bodyPr lIns="72000" tIns="36000" rIns="72000" bIns="720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rgbClr val="F0F0EF">
                    <a:lumMod val="10000"/>
                  </a:srgbClr>
                </a:solidFill>
                <a:effectLst/>
                <a:uLnTx/>
                <a:uFillTx/>
                <a:ea typeface="+mn-ea"/>
                <a:cs typeface="+mn-cs"/>
              </a:rPr>
              <a:t>Information Access Layer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0" cap="none" spc="0" normalizeH="0" baseline="0" noProof="0">
              <a:ln>
                <a:noFill/>
              </a:ln>
              <a:solidFill>
                <a:srgbClr val="F0F0EF">
                  <a:lumMod val="10000"/>
                </a:srgbClr>
              </a:solidFill>
              <a:effectLst/>
              <a:uLnTx/>
              <a:uFillTx/>
              <a:ea typeface="+mn-ea"/>
              <a:cs typeface="+mn-cs"/>
            </a:endParaRPr>
          </a:p>
        </p:txBody>
      </p:sp>
      <p:sp>
        <p:nvSpPr>
          <p:cNvPr id="86" name="Rounded Rectangle 12">
            <a:extLst>
              <a:ext uri="{FF2B5EF4-FFF2-40B4-BE49-F238E27FC236}">
                <a16:creationId xmlns:a16="http://schemas.microsoft.com/office/drawing/2014/main" id="{82374E54-524E-34DD-9AC7-A29A2F155026}"/>
              </a:ext>
            </a:extLst>
          </p:cNvPr>
          <p:cNvSpPr/>
          <p:nvPr/>
        </p:nvSpPr>
        <p:spPr>
          <a:xfrm>
            <a:off x="6049607" y="1093702"/>
            <a:ext cx="1767602" cy="2860809"/>
          </a:xfrm>
          <a:prstGeom prst="roundRect">
            <a:avLst>
              <a:gd name="adj" fmla="val 8149"/>
            </a:avLst>
          </a:prstGeom>
          <a:solidFill>
            <a:schemeClr val="bg1"/>
          </a:solidFill>
          <a:ln w="12700" cap="flat" cmpd="sng" algn="ctr">
            <a:solidFill>
              <a:schemeClr val="tx2"/>
            </a:solidFill>
            <a:prstDash val="dash"/>
            <a:miter lim="800000"/>
          </a:ln>
          <a:effectLst/>
        </p:spPr>
        <p:txBody>
          <a:bodyPr lIns="72000" tIns="36000" rIns="72000" bIns="720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rgbClr val="F0F0EF">
                    <a:lumMod val="10000"/>
                  </a:srgbClr>
                </a:solidFill>
                <a:effectLst/>
                <a:uLnTx/>
                <a:uFillTx/>
                <a:ea typeface="+mn-ea"/>
                <a:cs typeface="+mn-cs"/>
              </a:rPr>
              <a:t>Data Products</a:t>
            </a:r>
            <a:endParaRPr kumimoji="0" lang="en-CA" sz="1000" b="0" i="0" u="none" strike="noStrike" kern="0" cap="none" spc="0" normalizeH="0" baseline="0" noProof="0">
              <a:ln>
                <a:noFill/>
              </a:ln>
              <a:solidFill>
                <a:srgbClr val="F0F0EF">
                  <a:lumMod val="10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0" cap="none" spc="0" normalizeH="0" baseline="0" noProof="0">
              <a:ln>
                <a:noFill/>
              </a:ln>
              <a:solidFill>
                <a:srgbClr val="F0F0EF">
                  <a:lumMod val="10000"/>
                </a:srgbClr>
              </a:solidFill>
              <a:effectLst/>
              <a:uLnTx/>
              <a:uFillTx/>
              <a:ea typeface="+mn-ea"/>
              <a:cs typeface="+mn-cs"/>
            </a:endParaRPr>
          </a:p>
        </p:txBody>
      </p:sp>
      <p:sp>
        <p:nvSpPr>
          <p:cNvPr id="85" name="Rounded Rectangle 12">
            <a:extLst>
              <a:ext uri="{FF2B5EF4-FFF2-40B4-BE49-F238E27FC236}">
                <a16:creationId xmlns:a16="http://schemas.microsoft.com/office/drawing/2014/main" id="{50FF7C3B-3A8A-C5EE-F806-FE523FAD4E1E}"/>
              </a:ext>
            </a:extLst>
          </p:cNvPr>
          <p:cNvSpPr/>
          <p:nvPr/>
        </p:nvSpPr>
        <p:spPr>
          <a:xfrm>
            <a:off x="2753091" y="1112276"/>
            <a:ext cx="3224189" cy="1073764"/>
          </a:xfrm>
          <a:prstGeom prst="roundRect">
            <a:avLst>
              <a:gd name="adj" fmla="val 8149"/>
            </a:avLst>
          </a:prstGeom>
          <a:solidFill>
            <a:schemeClr val="bg1"/>
          </a:solidFill>
          <a:ln w="12700" cap="flat" cmpd="sng" algn="ctr">
            <a:solidFill>
              <a:schemeClr val="tx2"/>
            </a:solidFill>
            <a:prstDash val="dash"/>
            <a:miter lim="800000"/>
          </a:ln>
          <a:effectLst/>
        </p:spPr>
        <p:txBody>
          <a:bodyPr lIns="72000" tIns="36000" rIns="72000" bIns="720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rgbClr val="F0F0EF">
                    <a:lumMod val="10000"/>
                  </a:srgbClr>
                </a:solidFill>
                <a:effectLst/>
                <a:uLnTx/>
                <a:uFillTx/>
                <a:ea typeface="+mn-ea"/>
                <a:cs typeface="+mn-cs"/>
              </a:rPr>
              <a:t>Data Repositories</a:t>
            </a:r>
            <a:endParaRPr kumimoji="0" lang="en-CA" sz="1000" b="0" i="0" u="none" strike="noStrike" kern="0" cap="none" spc="0" normalizeH="0" baseline="0" noProof="0">
              <a:ln>
                <a:noFill/>
              </a:ln>
              <a:solidFill>
                <a:srgbClr val="F0F0EF">
                  <a:lumMod val="10000"/>
                </a:srgbClr>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0" cap="none" spc="0" normalizeH="0" baseline="0" noProof="0">
              <a:ln>
                <a:noFill/>
              </a:ln>
              <a:solidFill>
                <a:srgbClr val="F0F0EF">
                  <a:lumMod val="10000"/>
                </a:srgbClr>
              </a:solidFill>
              <a:effectLst/>
              <a:uLnTx/>
              <a:uFillTx/>
              <a:ea typeface="+mn-ea"/>
              <a:cs typeface="+mn-cs"/>
            </a:endParaRPr>
          </a:p>
        </p:txBody>
      </p:sp>
      <p:sp>
        <p:nvSpPr>
          <p:cNvPr id="84" name="Rounded Rectangle 12">
            <a:extLst>
              <a:ext uri="{FF2B5EF4-FFF2-40B4-BE49-F238E27FC236}">
                <a16:creationId xmlns:a16="http://schemas.microsoft.com/office/drawing/2014/main" id="{E9A0B425-ADCE-1F80-DFE6-89FBBA7A62C2}"/>
              </a:ext>
            </a:extLst>
          </p:cNvPr>
          <p:cNvSpPr/>
          <p:nvPr/>
        </p:nvSpPr>
        <p:spPr>
          <a:xfrm>
            <a:off x="342982" y="4858332"/>
            <a:ext cx="11785603" cy="1663036"/>
          </a:xfrm>
          <a:prstGeom prst="roundRect">
            <a:avLst>
              <a:gd name="adj" fmla="val 15499"/>
            </a:avLst>
          </a:prstGeom>
          <a:solidFill>
            <a:schemeClr val="bg1"/>
          </a:solidFill>
          <a:ln w="12700" cap="flat" cmpd="sng" algn="ctr">
            <a:solidFill>
              <a:schemeClr val="tx2"/>
            </a:solidFill>
            <a:prstDash val="dash"/>
            <a:miter lim="800000"/>
          </a:ln>
          <a:effectLst/>
        </p:spPr>
        <p:txBody>
          <a:bodyPr lIns="72000" tIns="36000" rIns="72000" bIns="36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rgbClr val="F0F0EF">
                    <a:lumMod val="10000"/>
                  </a:srgbClr>
                </a:solidFill>
                <a:effectLst/>
                <a:uLnTx/>
                <a:uFillTx/>
                <a:ea typeface="+mn-ea"/>
                <a:cs typeface="+mn-cs"/>
              </a:rPr>
              <a:t>Governance, Security &amp; Metadata</a:t>
            </a:r>
          </a:p>
        </p:txBody>
      </p:sp>
      <p:sp>
        <p:nvSpPr>
          <p:cNvPr id="2" name="Title 1">
            <a:extLst>
              <a:ext uri="{FF2B5EF4-FFF2-40B4-BE49-F238E27FC236}">
                <a16:creationId xmlns:a16="http://schemas.microsoft.com/office/drawing/2014/main" id="{6C0D5583-ABAA-AFD4-DEC2-CC04349790AC}"/>
              </a:ext>
            </a:extLst>
          </p:cNvPr>
          <p:cNvSpPr>
            <a:spLocks noGrp="1"/>
          </p:cNvSpPr>
          <p:nvPr>
            <p:ph type="title"/>
          </p:nvPr>
        </p:nvSpPr>
        <p:spPr/>
        <p:txBody>
          <a:bodyPr/>
          <a:lstStyle/>
          <a:p>
            <a:r>
              <a:rPr lang="en-CA" b="1" noProof="0">
                <a:latin typeface="+mn-lt"/>
              </a:rPr>
              <a:t>4.3 Data Patterns – Inventory</a:t>
            </a:r>
          </a:p>
        </p:txBody>
      </p:sp>
      <p:sp>
        <p:nvSpPr>
          <p:cNvPr id="4" name="Text Placeholder 3">
            <a:extLst>
              <a:ext uri="{FF2B5EF4-FFF2-40B4-BE49-F238E27FC236}">
                <a16:creationId xmlns:a16="http://schemas.microsoft.com/office/drawing/2014/main" id="{350850A2-5E52-F123-D1C0-06DA4A4C0BE7}"/>
              </a:ext>
            </a:extLst>
          </p:cNvPr>
          <p:cNvSpPr>
            <a:spLocks noGrp="1"/>
          </p:cNvSpPr>
          <p:nvPr>
            <p:ph type="body" sz="quarter" idx="13"/>
          </p:nvPr>
        </p:nvSpPr>
        <p:spPr>
          <a:xfrm>
            <a:off x="389999" y="716467"/>
            <a:ext cx="11412000" cy="257369"/>
          </a:xfrm>
        </p:spPr>
        <p:txBody>
          <a:bodyPr vert="horz" lIns="72000" tIns="36000" rIns="72000" bIns="36000" rtlCol="0" anchor="t">
            <a:spAutoFit/>
          </a:bodyPr>
          <a:lstStyle/>
          <a:p>
            <a:r>
              <a:rPr lang="en-CA" sz="1200" noProof="0">
                <a:solidFill>
                  <a:schemeClr val="tx1">
                    <a:lumMod val="50000"/>
                  </a:schemeClr>
                </a:solidFill>
                <a:latin typeface="+mn-lt"/>
              </a:rPr>
              <a:t>A visual representation of 50 enterprise data patterns, including 20 core and 30 extended patterns, mapped across all layers of the NORTH platform.</a:t>
            </a:r>
            <a:endParaRPr lang="en-CA" noProof="0">
              <a:solidFill>
                <a:schemeClr val="tx1">
                  <a:lumMod val="50000"/>
                </a:schemeClr>
              </a:solidFill>
              <a:latin typeface="+mn-lt"/>
            </a:endParaRPr>
          </a:p>
        </p:txBody>
      </p:sp>
      <p:graphicFrame>
        <p:nvGraphicFramePr>
          <p:cNvPr id="36" name="Table 35">
            <a:extLst>
              <a:ext uri="{FF2B5EF4-FFF2-40B4-BE49-F238E27FC236}">
                <a16:creationId xmlns:a16="http://schemas.microsoft.com/office/drawing/2014/main" id="{1422E315-21DF-B783-E3A4-9B72D67B23A1}"/>
              </a:ext>
            </a:extLst>
          </p:cNvPr>
          <p:cNvGraphicFramePr>
            <a:graphicFrameLocks noGrp="1"/>
          </p:cNvGraphicFramePr>
          <p:nvPr>
            <p:extLst>
              <p:ext uri="{D42A27DB-BD31-4B8C-83A1-F6EECF244321}">
                <p14:modId xmlns:p14="http://schemas.microsoft.com/office/powerpoint/2010/main" val="2784858042"/>
              </p:ext>
            </p:extLst>
          </p:nvPr>
        </p:nvGraphicFramePr>
        <p:xfrm>
          <a:off x="372058" y="2054255"/>
          <a:ext cx="2141409" cy="958276"/>
        </p:xfrm>
        <a:graphic>
          <a:graphicData uri="http://schemas.openxmlformats.org/drawingml/2006/table">
            <a:tbl>
              <a:tblPr firstRow="1">
                <a:tableStyleId>{5C22544A-7EE6-4342-B048-85BDC9FD1C3A}</a:tableStyleId>
              </a:tblPr>
              <a:tblGrid>
                <a:gridCol w="2141409">
                  <a:extLst>
                    <a:ext uri="{9D8B030D-6E8A-4147-A177-3AD203B41FA5}">
                      <a16:colId xmlns:a16="http://schemas.microsoft.com/office/drawing/2014/main" val="3806160613"/>
                    </a:ext>
                  </a:extLst>
                </a:gridCol>
              </a:tblGrid>
              <a:tr h="239569">
                <a:tc>
                  <a:txBody>
                    <a:bodyPr/>
                    <a:lstStyle/>
                    <a:p>
                      <a:pPr algn="ctr"/>
                      <a:r>
                        <a:rPr lang="en-CA" sz="800" b="0" noProof="0">
                          <a:solidFill>
                            <a:schemeClr val="bg2">
                              <a:lumMod val="10000"/>
                            </a:schemeClr>
                          </a:solidFill>
                          <a:latin typeface="+mn-lt"/>
                        </a:rPr>
                        <a:t>Batch Data Movement</a:t>
                      </a:r>
                    </a:p>
                  </a:txBody>
                  <a:tcPr marL="36000" marR="36000" marT="36000" marB="3600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43356147"/>
                  </a:ext>
                </a:extLst>
              </a:tr>
              <a:tr h="239569">
                <a:tc>
                  <a:txBody>
                    <a:bodyPr/>
                    <a:lstStyle/>
                    <a:p>
                      <a:pPr algn="ctr"/>
                      <a:r>
                        <a:rPr lang="en-CA" sz="800" noProof="0">
                          <a:solidFill>
                            <a:schemeClr val="bg2">
                              <a:lumMod val="10000"/>
                            </a:schemeClr>
                          </a:solidFill>
                          <a:latin typeface="+mn-lt"/>
                        </a:rPr>
                        <a:t>Streaming Data Movement</a:t>
                      </a:r>
                    </a:p>
                  </a:txBody>
                  <a:tcPr marL="36000" marR="36000" marT="36000" marB="3600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77828982"/>
                  </a:ext>
                </a:extLst>
              </a:tr>
              <a:tr h="239569">
                <a:tc>
                  <a:txBody>
                    <a:bodyPr/>
                    <a:lstStyle/>
                    <a:p>
                      <a:pPr algn="ctr"/>
                      <a:r>
                        <a:rPr lang="en-CA" sz="800" noProof="0">
                          <a:solidFill>
                            <a:schemeClr val="bg2">
                              <a:lumMod val="10000"/>
                            </a:schemeClr>
                          </a:solidFill>
                          <a:latin typeface="+mn-lt"/>
                        </a:rPr>
                        <a:t>CDC</a:t>
                      </a:r>
                    </a:p>
                  </a:txBody>
                  <a:tcPr marL="36000" marR="36000" marT="36000" marB="3600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914279539"/>
                  </a:ext>
                </a:extLst>
              </a:tr>
              <a:tr h="239569">
                <a:tc>
                  <a:txBody>
                    <a:bodyPr/>
                    <a:lstStyle/>
                    <a:p>
                      <a:pPr algn="ctr"/>
                      <a:r>
                        <a:rPr lang="en-CA" sz="800" noProof="0">
                          <a:solidFill>
                            <a:schemeClr val="bg2">
                              <a:lumMod val="10000"/>
                            </a:schemeClr>
                          </a:solidFill>
                          <a:latin typeface="+mn-lt"/>
                        </a:rPr>
                        <a:t>API</a:t>
                      </a:r>
                    </a:p>
                  </a:txBody>
                  <a:tcPr marL="36000" marR="36000" marT="36000" marB="3600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96378273"/>
                  </a:ext>
                </a:extLst>
              </a:tr>
            </a:tbl>
          </a:graphicData>
        </a:graphic>
      </p:graphicFrame>
      <p:graphicFrame>
        <p:nvGraphicFramePr>
          <p:cNvPr id="40" name="Table 39">
            <a:extLst>
              <a:ext uri="{FF2B5EF4-FFF2-40B4-BE49-F238E27FC236}">
                <a16:creationId xmlns:a16="http://schemas.microsoft.com/office/drawing/2014/main" id="{EF0CDF8A-7315-8EA5-1E19-91676B9433A6}"/>
              </a:ext>
            </a:extLst>
          </p:cNvPr>
          <p:cNvGraphicFramePr>
            <a:graphicFrameLocks noGrp="1"/>
          </p:cNvGraphicFramePr>
          <p:nvPr>
            <p:extLst>
              <p:ext uri="{D42A27DB-BD31-4B8C-83A1-F6EECF244321}">
                <p14:modId xmlns:p14="http://schemas.microsoft.com/office/powerpoint/2010/main" val="2260996201"/>
              </p:ext>
            </p:extLst>
          </p:nvPr>
        </p:nvGraphicFramePr>
        <p:xfrm>
          <a:off x="2873054" y="4348747"/>
          <a:ext cx="4906970" cy="213360"/>
        </p:xfrm>
        <a:graphic>
          <a:graphicData uri="http://schemas.openxmlformats.org/drawingml/2006/table">
            <a:tbl>
              <a:tblPr firstRow="1">
                <a:tableStyleId>{5C22544A-7EE6-4342-B048-85BDC9FD1C3A}</a:tableStyleId>
              </a:tblPr>
              <a:tblGrid>
                <a:gridCol w="2453485">
                  <a:extLst>
                    <a:ext uri="{9D8B030D-6E8A-4147-A177-3AD203B41FA5}">
                      <a16:colId xmlns:a16="http://schemas.microsoft.com/office/drawing/2014/main" val="3806160613"/>
                    </a:ext>
                  </a:extLst>
                </a:gridCol>
                <a:gridCol w="2453485">
                  <a:extLst>
                    <a:ext uri="{9D8B030D-6E8A-4147-A177-3AD203B41FA5}">
                      <a16:colId xmlns:a16="http://schemas.microsoft.com/office/drawing/2014/main" val="1983922519"/>
                    </a:ext>
                  </a:extLst>
                </a:gridCol>
              </a:tblGrid>
              <a:tr h="178624">
                <a:tc>
                  <a:txBody>
                    <a:bodyPr/>
                    <a:lstStyle/>
                    <a:p>
                      <a:pPr algn="ctr"/>
                      <a:r>
                        <a:rPr lang="en-CA" sz="800" b="0" kern="1200" noProof="0">
                          <a:solidFill>
                            <a:schemeClr val="bg2">
                              <a:lumMod val="10000"/>
                            </a:schemeClr>
                          </a:solidFill>
                          <a:latin typeface="+mn-lt"/>
                          <a:ea typeface="+mn-ea"/>
                          <a:cs typeface="+mn-cs"/>
                        </a:rPr>
                        <a:t>MDM</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solidFill>
                      <a:schemeClr val="accent2">
                        <a:lumMod val="20000"/>
                        <a:lumOff val="80000"/>
                      </a:schemeClr>
                    </a:solidFill>
                  </a:tcPr>
                </a:tc>
                <a:tc>
                  <a:txBody>
                    <a:bodyPr/>
                    <a:lstStyle/>
                    <a:p>
                      <a:pPr algn="ctr"/>
                      <a:r>
                        <a:rPr lang="en-CA" sz="800" b="0" kern="1200" noProof="0">
                          <a:solidFill>
                            <a:schemeClr val="bg2">
                              <a:lumMod val="10000"/>
                            </a:schemeClr>
                          </a:solidFill>
                          <a:latin typeface="+mn-lt"/>
                          <a:ea typeface="+mn-ea"/>
                          <a:cs typeface="+mn-cs"/>
                        </a:rPr>
                        <a:t>360 Views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43356147"/>
                  </a:ext>
                </a:extLst>
              </a:tr>
            </a:tbl>
          </a:graphicData>
        </a:graphic>
      </p:graphicFrame>
      <p:graphicFrame>
        <p:nvGraphicFramePr>
          <p:cNvPr id="43" name="Table 42">
            <a:extLst>
              <a:ext uri="{FF2B5EF4-FFF2-40B4-BE49-F238E27FC236}">
                <a16:creationId xmlns:a16="http://schemas.microsoft.com/office/drawing/2014/main" id="{3411D922-EABD-7B75-DE21-CB971A0D61B8}"/>
              </a:ext>
            </a:extLst>
          </p:cNvPr>
          <p:cNvGraphicFramePr>
            <a:graphicFrameLocks noGrp="1"/>
          </p:cNvGraphicFramePr>
          <p:nvPr>
            <p:extLst>
              <p:ext uri="{D42A27DB-BD31-4B8C-83A1-F6EECF244321}">
                <p14:modId xmlns:p14="http://schemas.microsoft.com/office/powerpoint/2010/main" val="2020006273"/>
              </p:ext>
            </p:extLst>
          </p:nvPr>
        </p:nvGraphicFramePr>
        <p:xfrm>
          <a:off x="2840017" y="2554179"/>
          <a:ext cx="3132000" cy="552850"/>
        </p:xfrm>
        <a:graphic>
          <a:graphicData uri="http://schemas.openxmlformats.org/drawingml/2006/table">
            <a:tbl>
              <a:tblPr firstRow="1">
                <a:tableStyleId>{5C22544A-7EE6-4342-B048-85BDC9FD1C3A}</a:tableStyleId>
              </a:tblPr>
              <a:tblGrid>
                <a:gridCol w="1566000">
                  <a:extLst>
                    <a:ext uri="{9D8B030D-6E8A-4147-A177-3AD203B41FA5}">
                      <a16:colId xmlns:a16="http://schemas.microsoft.com/office/drawing/2014/main" val="3806160613"/>
                    </a:ext>
                  </a:extLst>
                </a:gridCol>
                <a:gridCol w="1566000">
                  <a:extLst>
                    <a:ext uri="{9D8B030D-6E8A-4147-A177-3AD203B41FA5}">
                      <a16:colId xmlns:a16="http://schemas.microsoft.com/office/drawing/2014/main" val="392195813"/>
                    </a:ext>
                  </a:extLst>
                </a:gridCol>
              </a:tblGrid>
              <a:tr h="339490">
                <a:tc>
                  <a:txBody>
                    <a:bodyPr/>
                    <a:lstStyle/>
                    <a:p>
                      <a:pPr algn="ctr"/>
                      <a:r>
                        <a:rPr lang="en-CA" sz="800" b="0" kern="1200" noProof="0">
                          <a:solidFill>
                            <a:schemeClr val="bg2">
                              <a:lumMod val="10000"/>
                            </a:schemeClr>
                          </a:solidFill>
                          <a:latin typeface="+mn-lt"/>
                          <a:ea typeface="+mn-ea"/>
                          <a:cs typeface="+mn-cs"/>
                        </a:rPr>
                        <a:t>Medallion </a:t>
                      </a:r>
                    </a:p>
                    <a:p>
                      <a:pPr algn="ctr"/>
                      <a:r>
                        <a:rPr lang="en-CA" sz="800" b="0" kern="1200" noProof="0">
                          <a:solidFill>
                            <a:schemeClr val="bg2">
                              <a:lumMod val="10000"/>
                            </a:schemeClr>
                          </a:solidFill>
                          <a:latin typeface="+mn-lt"/>
                          <a:ea typeface="+mn-ea"/>
                          <a:cs typeface="+mn-cs"/>
                        </a:rPr>
                        <a:t>Architecture</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tc>
                  <a:txBody>
                    <a:bodyPr/>
                    <a:lstStyle/>
                    <a:p>
                      <a:pPr algn="ctr"/>
                      <a:r>
                        <a:rPr lang="en-CA" sz="800" b="0" kern="1200" noProof="0">
                          <a:solidFill>
                            <a:schemeClr val="bg2">
                              <a:lumMod val="10000"/>
                            </a:schemeClr>
                          </a:solidFill>
                          <a:latin typeface="+mn-lt"/>
                          <a:ea typeface="+mn-ea"/>
                          <a:cs typeface="+mn-cs"/>
                        </a:rPr>
                        <a:t>Incremental vs full processing</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1143356147"/>
                  </a:ext>
                </a:extLst>
              </a:tr>
              <a:tr h="192859">
                <a:tc gridSpan="2">
                  <a:txBody>
                    <a:bodyPr/>
                    <a:lstStyle/>
                    <a:p>
                      <a:pPr algn="ctr"/>
                      <a:r>
                        <a:rPr lang="en-CA" sz="800" kern="1200" noProof="0">
                          <a:solidFill>
                            <a:schemeClr val="bg2">
                              <a:lumMod val="10000"/>
                            </a:schemeClr>
                          </a:solidFill>
                          <a:latin typeface="+mn-lt"/>
                          <a:ea typeface="+mn-ea"/>
                          <a:cs typeface="+mn-cs"/>
                        </a:rPr>
                        <a:t>Streaming vs batch transformations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tc hMerge="1">
                  <a:txBody>
                    <a:bodyPr/>
                    <a:lstStyle/>
                    <a:p>
                      <a:endParaRPr/>
                    </a:p>
                  </a:txBody>
                  <a:tcPr>
                    <a:lnL w="12700" cap="flat" cmpd="sng" algn="ctr">
                      <a:solidFill>
                        <a:schemeClr val="bg2">
                          <a:lumMod val="25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extLst>
                  <a:ext uri="{0D108BD9-81ED-4DB2-BD59-A6C34878D82A}">
                    <a16:rowId xmlns:a16="http://schemas.microsoft.com/office/drawing/2014/main" val="1877828982"/>
                  </a:ext>
                </a:extLst>
              </a:tr>
            </a:tbl>
          </a:graphicData>
        </a:graphic>
      </p:graphicFrame>
      <p:graphicFrame>
        <p:nvGraphicFramePr>
          <p:cNvPr id="44" name="Table 43">
            <a:extLst>
              <a:ext uri="{FF2B5EF4-FFF2-40B4-BE49-F238E27FC236}">
                <a16:creationId xmlns:a16="http://schemas.microsoft.com/office/drawing/2014/main" id="{2A67AF50-742F-27D3-8D51-75E5C865EE0E}"/>
              </a:ext>
            </a:extLst>
          </p:cNvPr>
          <p:cNvGraphicFramePr>
            <a:graphicFrameLocks noGrp="1"/>
          </p:cNvGraphicFramePr>
          <p:nvPr>
            <p:extLst>
              <p:ext uri="{D42A27DB-BD31-4B8C-83A1-F6EECF244321}">
                <p14:modId xmlns:p14="http://schemas.microsoft.com/office/powerpoint/2010/main" val="3985588213"/>
              </p:ext>
            </p:extLst>
          </p:nvPr>
        </p:nvGraphicFramePr>
        <p:xfrm>
          <a:off x="9940216" y="1653324"/>
          <a:ext cx="1267456" cy="2354560"/>
        </p:xfrm>
        <a:graphic>
          <a:graphicData uri="http://schemas.openxmlformats.org/drawingml/2006/table">
            <a:tbl>
              <a:tblPr firstRow="1">
                <a:tableStyleId>{5C22544A-7EE6-4342-B048-85BDC9FD1C3A}</a:tableStyleId>
              </a:tblPr>
              <a:tblGrid>
                <a:gridCol w="1267456">
                  <a:extLst>
                    <a:ext uri="{9D8B030D-6E8A-4147-A177-3AD203B41FA5}">
                      <a16:colId xmlns:a16="http://schemas.microsoft.com/office/drawing/2014/main" val="3806160613"/>
                    </a:ext>
                  </a:extLst>
                </a:gridCol>
              </a:tblGrid>
              <a:tr h="588640">
                <a:tc>
                  <a:txBody>
                    <a:bodyPr/>
                    <a:lstStyle/>
                    <a:p>
                      <a:pPr algn="ctr"/>
                      <a:r>
                        <a:rPr lang="en-CA" sz="800" b="0" kern="1200" noProof="0">
                          <a:solidFill>
                            <a:schemeClr val="bg2">
                              <a:lumMod val="10000"/>
                            </a:schemeClr>
                          </a:solidFill>
                          <a:latin typeface="+mn-lt"/>
                          <a:ea typeface="+mn-ea"/>
                          <a:cs typeface="+mn-cs"/>
                        </a:rPr>
                        <a:t> Reporting &amp; Analytics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427069647"/>
                  </a:ext>
                </a:extLst>
              </a:tr>
              <a:tr h="588640">
                <a:tc>
                  <a:txBody>
                    <a:bodyPr/>
                    <a:lstStyle/>
                    <a:p>
                      <a:pPr algn="ctr"/>
                      <a:r>
                        <a:rPr lang="en-CA" sz="800" b="0" kern="1200" noProof="0">
                          <a:solidFill>
                            <a:schemeClr val="bg2">
                              <a:lumMod val="10000"/>
                            </a:schemeClr>
                          </a:solidFill>
                          <a:latin typeface="+mn-lt"/>
                          <a:ea typeface="+mn-ea"/>
                          <a:cs typeface="+mn-cs"/>
                        </a:rPr>
                        <a:t>AI &amp; ML </a:t>
                      </a:r>
                    </a:p>
                    <a:p>
                      <a:pPr algn="ctr"/>
                      <a:r>
                        <a:rPr lang="en-CA" sz="800" b="0" kern="1200" noProof="0">
                          <a:solidFill>
                            <a:schemeClr val="bg2">
                              <a:lumMod val="10000"/>
                            </a:schemeClr>
                          </a:solidFill>
                          <a:latin typeface="+mn-lt"/>
                          <a:ea typeface="+mn-ea"/>
                          <a:cs typeface="+mn-cs"/>
                        </a:rPr>
                        <a:t>Consumption</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1143356147"/>
                  </a:ext>
                </a:extLst>
              </a:tr>
              <a:tr h="588640">
                <a:tc>
                  <a:txBody>
                    <a:bodyPr/>
                    <a:lstStyle/>
                    <a:p>
                      <a:pPr algn="ctr"/>
                      <a:r>
                        <a:rPr lang="en-CA" sz="800" kern="1200" noProof="0">
                          <a:solidFill>
                            <a:schemeClr val="bg2">
                              <a:lumMod val="10000"/>
                            </a:schemeClr>
                          </a:solidFill>
                          <a:latin typeface="+mn-lt"/>
                          <a:ea typeface="+mn-ea"/>
                          <a:cs typeface="+mn-cs"/>
                        </a:rPr>
                        <a:t>   Operational Applications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1877828982"/>
                  </a:ext>
                </a:extLst>
              </a:tr>
              <a:tr h="588640">
                <a:tc>
                  <a:txBody>
                    <a:bodyPr/>
                    <a:lstStyle/>
                    <a:p>
                      <a:pPr algn="ctr"/>
                      <a:r>
                        <a:rPr lang="en-CA" sz="800" kern="1200" noProof="0">
                          <a:solidFill>
                            <a:schemeClr val="bg2">
                              <a:lumMod val="10000"/>
                            </a:schemeClr>
                          </a:solidFill>
                          <a:latin typeface="+mn-lt"/>
                          <a:ea typeface="+mn-ea"/>
                          <a:cs typeface="+mn-cs"/>
                        </a:rPr>
                        <a:t>Self-Service</a:t>
                      </a:r>
                    </a:p>
                    <a:p>
                      <a:pPr algn="ctr"/>
                      <a:r>
                        <a:rPr lang="en-CA" sz="800" kern="1200" noProof="0">
                          <a:solidFill>
                            <a:schemeClr val="bg2">
                              <a:lumMod val="10000"/>
                            </a:schemeClr>
                          </a:solidFill>
                          <a:latin typeface="+mn-lt"/>
                          <a:ea typeface="+mn-ea"/>
                          <a:cs typeface="+mn-cs"/>
                        </a:rPr>
                        <a:t> Tools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extLst>
                  <a:ext uri="{0D108BD9-81ED-4DB2-BD59-A6C34878D82A}">
                    <a16:rowId xmlns:a16="http://schemas.microsoft.com/office/drawing/2014/main" val="3218440589"/>
                  </a:ext>
                </a:extLst>
              </a:tr>
            </a:tbl>
          </a:graphicData>
        </a:graphic>
      </p:graphicFrame>
      <p:graphicFrame>
        <p:nvGraphicFramePr>
          <p:cNvPr id="48" name="Table 47">
            <a:extLst>
              <a:ext uri="{FF2B5EF4-FFF2-40B4-BE49-F238E27FC236}">
                <a16:creationId xmlns:a16="http://schemas.microsoft.com/office/drawing/2014/main" id="{40E4E73F-587C-7A6A-6518-9A313E58EA06}"/>
              </a:ext>
            </a:extLst>
          </p:cNvPr>
          <p:cNvGraphicFramePr>
            <a:graphicFrameLocks noGrp="1"/>
          </p:cNvGraphicFramePr>
          <p:nvPr>
            <p:extLst>
              <p:ext uri="{D42A27DB-BD31-4B8C-83A1-F6EECF244321}">
                <p14:modId xmlns:p14="http://schemas.microsoft.com/office/powerpoint/2010/main" val="3803627286"/>
              </p:ext>
            </p:extLst>
          </p:nvPr>
        </p:nvGraphicFramePr>
        <p:xfrm>
          <a:off x="785585" y="5180108"/>
          <a:ext cx="11120604" cy="335280"/>
        </p:xfrm>
        <a:graphic>
          <a:graphicData uri="http://schemas.openxmlformats.org/drawingml/2006/table">
            <a:tbl>
              <a:tblPr firstRow="1">
                <a:tableStyleId>{5C22544A-7EE6-4342-B048-85BDC9FD1C3A}</a:tableStyleId>
              </a:tblPr>
              <a:tblGrid>
                <a:gridCol w="1853434">
                  <a:extLst>
                    <a:ext uri="{9D8B030D-6E8A-4147-A177-3AD203B41FA5}">
                      <a16:colId xmlns:a16="http://schemas.microsoft.com/office/drawing/2014/main" val="3806160613"/>
                    </a:ext>
                  </a:extLst>
                </a:gridCol>
                <a:gridCol w="1853434">
                  <a:extLst>
                    <a:ext uri="{9D8B030D-6E8A-4147-A177-3AD203B41FA5}">
                      <a16:colId xmlns:a16="http://schemas.microsoft.com/office/drawing/2014/main" val="392195813"/>
                    </a:ext>
                  </a:extLst>
                </a:gridCol>
                <a:gridCol w="1853434">
                  <a:extLst>
                    <a:ext uri="{9D8B030D-6E8A-4147-A177-3AD203B41FA5}">
                      <a16:colId xmlns:a16="http://schemas.microsoft.com/office/drawing/2014/main" val="3240411196"/>
                    </a:ext>
                  </a:extLst>
                </a:gridCol>
                <a:gridCol w="1853434">
                  <a:extLst>
                    <a:ext uri="{9D8B030D-6E8A-4147-A177-3AD203B41FA5}">
                      <a16:colId xmlns:a16="http://schemas.microsoft.com/office/drawing/2014/main" val="2193147458"/>
                    </a:ext>
                  </a:extLst>
                </a:gridCol>
                <a:gridCol w="1853434">
                  <a:extLst>
                    <a:ext uri="{9D8B030D-6E8A-4147-A177-3AD203B41FA5}">
                      <a16:colId xmlns:a16="http://schemas.microsoft.com/office/drawing/2014/main" val="891201290"/>
                    </a:ext>
                  </a:extLst>
                </a:gridCol>
                <a:gridCol w="1853434">
                  <a:extLst>
                    <a:ext uri="{9D8B030D-6E8A-4147-A177-3AD203B41FA5}">
                      <a16:colId xmlns:a16="http://schemas.microsoft.com/office/drawing/2014/main" val="2558506464"/>
                    </a:ext>
                  </a:extLst>
                </a:gridCol>
              </a:tblGrid>
              <a:tr h="298339">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Technical &amp; Business Metadata</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Data Quality</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Ownership &amp; Stewardship Model</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  Data Catalogue &amp; Marketplace</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Data Contracts</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Common Information</a:t>
                      </a:r>
                    </a:p>
                    <a:p>
                      <a:pPr marL="0" algn="ctr" defTabSz="914400" rtl="0" eaLnBrk="1" latinLnBrk="0" hangingPunct="1"/>
                      <a:r>
                        <a:rPr lang="en-CA" sz="800" b="0" kern="1200" noProof="0">
                          <a:solidFill>
                            <a:schemeClr val="bg2">
                              <a:lumMod val="10000"/>
                            </a:schemeClr>
                          </a:solidFill>
                          <a:latin typeface="+mn-lt"/>
                          <a:ea typeface="+mn-ea"/>
                          <a:cs typeface="+mn-cs"/>
                        </a:rPr>
                        <a:t>Model</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143356147"/>
                  </a:ext>
                </a:extLst>
              </a:tr>
            </a:tbl>
          </a:graphicData>
        </a:graphic>
      </p:graphicFrame>
      <p:graphicFrame>
        <p:nvGraphicFramePr>
          <p:cNvPr id="50" name="Table 49">
            <a:extLst>
              <a:ext uri="{FF2B5EF4-FFF2-40B4-BE49-F238E27FC236}">
                <a16:creationId xmlns:a16="http://schemas.microsoft.com/office/drawing/2014/main" id="{837E6DCD-FC1D-E050-94E9-27E1F17DBB32}"/>
              </a:ext>
            </a:extLst>
          </p:cNvPr>
          <p:cNvGraphicFramePr>
            <a:graphicFrameLocks noGrp="1"/>
          </p:cNvGraphicFramePr>
          <p:nvPr>
            <p:extLst>
              <p:ext uri="{D42A27DB-BD31-4B8C-83A1-F6EECF244321}">
                <p14:modId xmlns:p14="http://schemas.microsoft.com/office/powerpoint/2010/main" val="2825781704"/>
              </p:ext>
            </p:extLst>
          </p:nvPr>
        </p:nvGraphicFramePr>
        <p:xfrm>
          <a:off x="6150408" y="1391508"/>
          <a:ext cx="1566000" cy="2111722"/>
        </p:xfrm>
        <a:graphic>
          <a:graphicData uri="http://schemas.openxmlformats.org/drawingml/2006/table">
            <a:tbl>
              <a:tblPr firstRow="1">
                <a:tableStyleId>{5C22544A-7EE6-4342-B048-85BDC9FD1C3A}</a:tableStyleId>
              </a:tblPr>
              <a:tblGrid>
                <a:gridCol w="1566000">
                  <a:extLst>
                    <a:ext uri="{9D8B030D-6E8A-4147-A177-3AD203B41FA5}">
                      <a16:colId xmlns:a16="http://schemas.microsoft.com/office/drawing/2014/main" val="3806160613"/>
                    </a:ext>
                  </a:extLst>
                </a:gridCol>
              </a:tblGrid>
              <a:tr h="892325">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Structured Data Products (Analytical &amp; Operational)</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43356147"/>
                  </a:ext>
                </a:extLst>
              </a:tr>
              <a:tr h="716542">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Synthetic Data Products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1877828982"/>
                  </a:ext>
                </a:extLst>
              </a:tr>
              <a:tr h="502855">
                <a:tc>
                  <a:txBody>
                    <a:bodyPr/>
                    <a:lstStyle/>
                    <a:p>
                      <a:pPr marL="0" algn="ctr" defTabSz="914400" rtl="0" eaLnBrk="1" latinLnBrk="0" hangingPunct="1"/>
                      <a:r>
                        <a:rPr lang="en-CA" sz="800" b="0" kern="1200" noProof="0">
                          <a:solidFill>
                            <a:schemeClr val="bg2">
                              <a:lumMod val="10000"/>
                            </a:schemeClr>
                          </a:solidFill>
                          <a:latin typeface="+mn-lt"/>
                          <a:ea typeface="+mn-ea"/>
                          <a:cs typeface="+mn-cs"/>
                        </a:rPr>
                        <a:t> Unstructured Data Products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extLst>
                  <a:ext uri="{0D108BD9-81ED-4DB2-BD59-A6C34878D82A}">
                    <a16:rowId xmlns:a16="http://schemas.microsoft.com/office/drawing/2014/main" val="635366212"/>
                  </a:ext>
                </a:extLst>
              </a:tr>
            </a:tbl>
          </a:graphicData>
        </a:graphic>
      </p:graphicFrame>
      <p:graphicFrame>
        <p:nvGraphicFramePr>
          <p:cNvPr id="51" name="Table 50">
            <a:extLst>
              <a:ext uri="{FF2B5EF4-FFF2-40B4-BE49-F238E27FC236}">
                <a16:creationId xmlns:a16="http://schemas.microsoft.com/office/drawing/2014/main" id="{A69F48C9-21FA-DBAC-12B0-F089654A6955}"/>
              </a:ext>
            </a:extLst>
          </p:cNvPr>
          <p:cNvGraphicFramePr>
            <a:graphicFrameLocks noGrp="1"/>
          </p:cNvGraphicFramePr>
          <p:nvPr>
            <p:extLst>
              <p:ext uri="{D42A27DB-BD31-4B8C-83A1-F6EECF244321}">
                <p14:modId xmlns:p14="http://schemas.microsoft.com/office/powerpoint/2010/main" val="4266576166"/>
              </p:ext>
            </p:extLst>
          </p:nvPr>
        </p:nvGraphicFramePr>
        <p:xfrm>
          <a:off x="2821129" y="1430658"/>
          <a:ext cx="3132000" cy="554794"/>
        </p:xfrm>
        <a:graphic>
          <a:graphicData uri="http://schemas.openxmlformats.org/drawingml/2006/table">
            <a:tbl>
              <a:tblPr firstRow="1">
                <a:tableStyleId>{5C22544A-7EE6-4342-B048-85BDC9FD1C3A}</a:tableStyleId>
              </a:tblPr>
              <a:tblGrid>
                <a:gridCol w="1566000">
                  <a:extLst>
                    <a:ext uri="{9D8B030D-6E8A-4147-A177-3AD203B41FA5}">
                      <a16:colId xmlns:a16="http://schemas.microsoft.com/office/drawing/2014/main" val="3806160613"/>
                    </a:ext>
                  </a:extLst>
                </a:gridCol>
                <a:gridCol w="1566000">
                  <a:extLst>
                    <a:ext uri="{9D8B030D-6E8A-4147-A177-3AD203B41FA5}">
                      <a16:colId xmlns:a16="http://schemas.microsoft.com/office/drawing/2014/main" val="392195813"/>
                    </a:ext>
                  </a:extLst>
                </a:gridCol>
              </a:tblGrid>
              <a:tr h="312169">
                <a:tc>
                  <a:txBody>
                    <a:bodyPr/>
                    <a:lstStyle/>
                    <a:p>
                      <a:pPr marL="0" algn="ctr" defTabSz="914400" rtl="0" eaLnBrk="1" latinLnBrk="0" hangingPunct="1"/>
                      <a:r>
                        <a:rPr lang="en-CA" sz="800" b="0" kern="1200" noProof="0">
                          <a:solidFill>
                            <a:schemeClr val="bg2">
                              <a:lumMod val="10000"/>
                            </a:schemeClr>
                          </a:solidFill>
                          <a:latin typeface="+mj-lt"/>
                          <a:ea typeface="+mn-ea"/>
                          <a:cs typeface="+mn-cs"/>
                        </a:rPr>
                        <a:t>Lakehouse</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tc>
                  <a:txBody>
                    <a:bodyPr/>
                    <a:lstStyle/>
                    <a:p>
                      <a:pPr marL="0" algn="ctr" defTabSz="914400" rtl="0" eaLnBrk="1" latinLnBrk="0" hangingPunct="1"/>
                      <a:r>
                        <a:rPr lang="en-CA" sz="800" b="0" kern="1200" noProof="0">
                          <a:solidFill>
                            <a:schemeClr val="bg2">
                              <a:lumMod val="10000"/>
                            </a:schemeClr>
                          </a:solidFill>
                          <a:latin typeface="+mj-lt"/>
                          <a:ea typeface="+mn-ea"/>
                          <a:cs typeface="+mn-cs"/>
                        </a:rPr>
                        <a:t>ODS (operational Data Store)</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43356147"/>
                  </a:ext>
                </a:extLst>
              </a:tr>
              <a:tr h="242625">
                <a:tc>
                  <a:txBody>
                    <a:bodyPr/>
                    <a:lstStyle/>
                    <a:p>
                      <a:pPr marL="0" algn="ctr" defTabSz="914400" rtl="0" eaLnBrk="1" latinLnBrk="0" hangingPunct="1"/>
                      <a:r>
                        <a:rPr lang="en-CA" sz="800" kern="1200" noProof="0">
                          <a:solidFill>
                            <a:schemeClr val="bg2">
                              <a:lumMod val="10000"/>
                            </a:schemeClr>
                          </a:solidFill>
                          <a:latin typeface="+mj-lt"/>
                          <a:ea typeface="+mn-ea"/>
                          <a:cs typeface="+mn-cs"/>
                        </a:rPr>
                        <a:t>Graph DB</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tc>
                  <a:txBody>
                    <a:bodyPr/>
                    <a:lstStyle/>
                    <a:p>
                      <a:pPr marL="0" algn="ctr" defTabSz="914400" rtl="0" eaLnBrk="1" latinLnBrk="0" hangingPunct="1"/>
                      <a:r>
                        <a:rPr lang="en-CA" sz="800" kern="1200" noProof="0">
                          <a:solidFill>
                            <a:schemeClr val="bg2">
                              <a:lumMod val="10000"/>
                            </a:schemeClr>
                          </a:solidFill>
                          <a:latin typeface="+mj-lt"/>
                          <a:ea typeface="+mn-ea"/>
                          <a:cs typeface="+mn-cs"/>
                        </a:rPr>
                        <a:t>Vector DB</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extLst>
                  <a:ext uri="{0D108BD9-81ED-4DB2-BD59-A6C34878D82A}">
                    <a16:rowId xmlns:a16="http://schemas.microsoft.com/office/drawing/2014/main" val="1877828982"/>
                  </a:ext>
                </a:extLst>
              </a:tr>
            </a:tbl>
          </a:graphicData>
        </a:graphic>
      </p:graphicFrame>
      <p:graphicFrame>
        <p:nvGraphicFramePr>
          <p:cNvPr id="57" name="Table 56">
            <a:extLst>
              <a:ext uri="{FF2B5EF4-FFF2-40B4-BE49-F238E27FC236}">
                <a16:creationId xmlns:a16="http://schemas.microsoft.com/office/drawing/2014/main" id="{A2732D63-DB2A-6DC9-BAB8-5653C43D9106}"/>
              </a:ext>
            </a:extLst>
          </p:cNvPr>
          <p:cNvGraphicFramePr>
            <a:graphicFrameLocks noGrp="1"/>
          </p:cNvGraphicFramePr>
          <p:nvPr>
            <p:extLst>
              <p:ext uri="{D42A27DB-BD31-4B8C-83A1-F6EECF244321}">
                <p14:modId xmlns:p14="http://schemas.microsoft.com/office/powerpoint/2010/main" val="3494846510"/>
              </p:ext>
            </p:extLst>
          </p:nvPr>
        </p:nvGraphicFramePr>
        <p:xfrm>
          <a:off x="2835051" y="3203700"/>
          <a:ext cx="3141932" cy="335280"/>
        </p:xfrm>
        <a:graphic>
          <a:graphicData uri="http://schemas.openxmlformats.org/drawingml/2006/table">
            <a:tbl>
              <a:tblPr firstRow="1">
                <a:tableStyleId>{5C22544A-7EE6-4342-B048-85BDC9FD1C3A}</a:tableStyleId>
              </a:tblPr>
              <a:tblGrid>
                <a:gridCol w="1570966">
                  <a:extLst>
                    <a:ext uri="{9D8B030D-6E8A-4147-A177-3AD203B41FA5}">
                      <a16:colId xmlns:a16="http://schemas.microsoft.com/office/drawing/2014/main" val="3806160613"/>
                    </a:ext>
                  </a:extLst>
                </a:gridCol>
                <a:gridCol w="1570966">
                  <a:extLst>
                    <a:ext uri="{9D8B030D-6E8A-4147-A177-3AD203B41FA5}">
                      <a16:colId xmlns:a16="http://schemas.microsoft.com/office/drawing/2014/main" val="2582732974"/>
                    </a:ext>
                  </a:extLst>
                </a:gridCol>
              </a:tblGrid>
              <a:tr h="275703">
                <a:tc>
                  <a:txBody>
                    <a:bodyPr/>
                    <a:lstStyle/>
                    <a:p>
                      <a:pPr algn="ctr"/>
                      <a:r>
                        <a:rPr lang="en-CA" sz="800" b="0" kern="1200" noProof="0">
                          <a:solidFill>
                            <a:schemeClr val="bg2">
                              <a:lumMod val="10000"/>
                            </a:schemeClr>
                          </a:solidFill>
                          <a:latin typeface="+mn-lt"/>
                          <a:ea typeface="+mn-ea"/>
                          <a:cs typeface="+mn-cs"/>
                        </a:rPr>
                        <a:t>Masking &amp; </a:t>
                      </a:r>
                    </a:p>
                    <a:p>
                      <a:pPr algn="ctr"/>
                      <a:r>
                        <a:rPr lang="en-CA" sz="800" b="0" kern="1200" noProof="0">
                          <a:solidFill>
                            <a:schemeClr val="bg2">
                              <a:lumMod val="10000"/>
                            </a:schemeClr>
                          </a:solidFill>
                          <a:latin typeface="+mn-lt"/>
                          <a:ea typeface="+mn-ea"/>
                          <a:cs typeface="+mn-cs"/>
                        </a:rPr>
                        <a:t>Anonymization</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tc>
                  <a:txBody>
                    <a:bodyPr/>
                    <a:lstStyle/>
                    <a:p>
                      <a:pPr algn="ctr"/>
                      <a:r>
                        <a:rPr lang="en-CA" sz="800" b="0" kern="1200" noProof="0">
                          <a:solidFill>
                            <a:schemeClr val="bg2">
                              <a:lumMod val="10000"/>
                            </a:schemeClr>
                          </a:solidFill>
                          <a:latin typeface="+mn-lt"/>
                          <a:ea typeface="+mn-ea"/>
                          <a:cs typeface="+mn-cs"/>
                        </a:rPr>
                        <a:t>Synthetic Data </a:t>
                      </a:r>
                    </a:p>
                    <a:p>
                      <a:pPr algn="ctr"/>
                      <a:r>
                        <a:rPr lang="en-CA" sz="800" b="0" kern="1200" noProof="0">
                          <a:solidFill>
                            <a:schemeClr val="bg2">
                              <a:lumMod val="10000"/>
                            </a:schemeClr>
                          </a:solidFill>
                          <a:latin typeface="+mn-lt"/>
                          <a:ea typeface="+mn-ea"/>
                          <a:cs typeface="+mn-cs"/>
                        </a:rPr>
                        <a:t>Generation</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extLst>
                  <a:ext uri="{0D108BD9-81ED-4DB2-BD59-A6C34878D82A}">
                    <a16:rowId xmlns:a16="http://schemas.microsoft.com/office/drawing/2014/main" val="1143356147"/>
                  </a:ext>
                </a:extLst>
              </a:tr>
            </a:tbl>
          </a:graphicData>
        </a:graphic>
      </p:graphicFrame>
      <p:graphicFrame>
        <p:nvGraphicFramePr>
          <p:cNvPr id="58" name="Table 57">
            <a:extLst>
              <a:ext uri="{FF2B5EF4-FFF2-40B4-BE49-F238E27FC236}">
                <a16:creationId xmlns:a16="http://schemas.microsoft.com/office/drawing/2014/main" id="{7AB477F8-30C0-8C17-C68C-F3BD0FE4C7C6}"/>
              </a:ext>
            </a:extLst>
          </p:cNvPr>
          <p:cNvGraphicFramePr>
            <a:graphicFrameLocks noGrp="1"/>
          </p:cNvGraphicFramePr>
          <p:nvPr>
            <p:extLst>
              <p:ext uri="{D42A27DB-BD31-4B8C-83A1-F6EECF244321}">
                <p14:modId xmlns:p14="http://schemas.microsoft.com/office/powerpoint/2010/main" val="1725588112"/>
              </p:ext>
            </p:extLst>
          </p:nvPr>
        </p:nvGraphicFramePr>
        <p:xfrm>
          <a:off x="785584" y="5591237"/>
          <a:ext cx="11120606" cy="670560"/>
        </p:xfrm>
        <a:graphic>
          <a:graphicData uri="http://schemas.openxmlformats.org/drawingml/2006/table">
            <a:tbl>
              <a:tblPr firstRow="1">
                <a:tableStyleId>{5C22544A-7EE6-4342-B048-85BDC9FD1C3A}</a:tableStyleId>
              </a:tblPr>
              <a:tblGrid>
                <a:gridCol w="1588658">
                  <a:extLst>
                    <a:ext uri="{9D8B030D-6E8A-4147-A177-3AD203B41FA5}">
                      <a16:colId xmlns:a16="http://schemas.microsoft.com/office/drawing/2014/main" val="3806160613"/>
                    </a:ext>
                  </a:extLst>
                </a:gridCol>
                <a:gridCol w="1588658">
                  <a:extLst>
                    <a:ext uri="{9D8B030D-6E8A-4147-A177-3AD203B41FA5}">
                      <a16:colId xmlns:a16="http://schemas.microsoft.com/office/drawing/2014/main" val="2402874352"/>
                    </a:ext>
                  </a:extLst>
                </a:gridCol>
                <a:gridCol w="1588658">
                  <a:extLst>
                    <a:ext uri="{9D8B030D-6E8A-4147-A177-3AD203B41FA5}">
                      <a16:colId xmlns:a16="http://schemas.microsoft.com/office/drawing/2014/main" val="392195813"/>
                    </a:ext>
                  </a:extLst>
                </a:gridCol>
                <a:gridCol w="1588658">
                  <a:extLst>
                    <a:ext uri="{9D8B030D-6E8A-4147-A177-3AD203B41FA5}">
                      <a16:colId xmlns:a16="http://schemas.microsoft.com/office/drawing/2014/main" val="910640305"/>
                    </a:ext>
                  </a:extLst>
                </a:gridCol>
                <a:gridCol w="1588658">
                  <a:extLst>
                    <a:ext uri="{9D8B030D-6E8A-4147-A177-3AD203B41FA5}">
                      <a16:colId xmlns:a16="http://schemas.microsoft.com/office/drawing/2014/main" val="3008555891"/>
                    </a:ext>
                  </a:extLst>
                </a:gridCol>
                <a:gridCol w="1588658">
                  <a:extLst>
                    <a:ext uri="{9D8B030D-6E8A-4147-A177-3AD203B41FA5}">
                      <a16:colId xmlns:a16="http://schemas.microsoft.com/office/drawing/2014/main" val="3101279573"/>
                    </a:ext>
                  </a:extLst>
                </a:gridCol>
                <a:gridCol w="1588658">
                  <a:extLst>
                    <a:ext uri="{9D8B030D-6E8A-4147-A177-3AD203B41FA5}">
                      <a16:colId xmlns:a16="http://schemas.microsoft.com/office/drawing/2014/main" val="1509490195"/>
                    </a:ext>
                  </a:extLst>
                </a:gridCol>
              </a:tblGrid>
              <a:tr h="290883">
                <a:tc>
                  <a:txBody>
                    <a:bodyPr/>
                    <a:lstStyle/>
                    <a:p>
                      <a:pPr algn="ctr"/>
                      <a:r>
                        <a:rPr lang="en-CA" sz="800" b="0" kern="1200" noProof="0">
                          <a:solidFill>
                            <a:schemeClr val="bg2">
                              <a:lumMod val="10000"/>
                            </a:schemeClr>
                          </a:solidFill>
                          <a:latin typeface="+mn-lt"/>
                          <a:ea typeface="+mn-ea"/>
                          <a:cs typeface="+mn-cs"/>
                        </a:rPr>
                        <a:t>DataOps &amp; </a:t>
                      </a:r>
                    </a:p>
                    <a:p>
                      <a:pPr algn="ctr"/>
                      <a:r>
                        <a:rPr lang="en-CA" sz="800" b="0" kern="1200" noProof="0">
                          <a:solidFill>
                            <a:schemeClr val="bg2">
                              <a:lumMod val="10000"/>
                            </a:schemeClr>
                          </a:solidFill>
                          <a:latin typeface="+mn-lt"/>
                          <a:ea typeface="+mn-ea"/>
                          <a:cs typeface="+mn-cs"/>
                        </a:rPr>
                        <a:t>CI/CD</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kern="1200" noProof="0">
                          <a:solidFill>
                            <a:schemeClr val="bg2">
                              <a:lumMod val="10000"/>
                            </a:schemeClr>
                          </a:solidFill>
                          <a:latin typeface="+mn-lt"/>
                          <a:ea typeface="+mn-ea"/>
                          <a:cs typeface="+mn-cs"/>
                        </a:rPr>
                        <a:t>Support Models</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kern="1200" noProof="0">
                          <a:solidFill>
                            <a:schemeClr val="bg2">
                              <a:lumMod val="10000"/>
                            </a:schemeClr>
                          </a:solidFill>
                          <a:latin typeface="+mn-lt"/>
                          <a:ea typeface="+mn-ea"/>
                          <a:cs typeface="+mn-cs"/>
                        </a:rPr>
                        <a:t>    Cost Management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kern="1200" noProof="0">
                          <a:solidFill>
                            <a:schemeClr val="bg2">
                              <a:lumMod val="10000"/>
                            </a:schemeClr>
                          </a:solidFill>
                          <a:latin typeface="+mn-lt"/>
                          <a:ea typeface="+mn-ea"/>
                          <a:cs typeface="+mn-cs"/>
                        </a:rPr>
                        <a:t>&amp; FinOps</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algn="ctr"/>
                      <a:r>
                        <a:rPr lang="en-CA" sz="800" b="0" kern="1200" noProof="0">
                          <a:solidFill>
                            <a:schemeClr val="bg2">
                              <a:lumMod val="10000"/>
                            </a:schemeClr>
                          </a:solidFill>
                          <a:latin typeface="+mn-lt"/>
                          <a:ea typeface="+mn-ea"/>
                          <a:cs typeface="+mn-cs"/>
                        </a:rPr>
                        <a:t>Versioning</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lvl="0" algn="ctr">
                        <a:buNone/>
                      </a:pPr>
                      <a:r>
                        <a:rPr lang="en-CA" sz="800" b="0" kern="1200" noProof="0">
                          <a:solidFill>
                            <a:schemeClr val="bg2">
                              <a:lumMod val="10000"/>
                            </a:schemeClr>
                          </a:solidFill>
                          <a:latin typeface="+mn-lt"/>
                          <a:ea typeface="+mn-ea"/>
                          <a:cs typeface="+mn-cs"/>
                        </a:rPr>
                        <a:t>   Data Classification</a:t>
                      </a:r>
                      <a:endParaRPr lang="en-CA" noProof="0">
                        <a:latin typeface="+mn-lt"/>
                      </a:endParaRPr>
                    </a:p>
                    <a:p>
                      <a:pPr lvl="0" algn="ctr">
                        <a:buNone/>
                      </a:pPr>
                      <a:r>
                        <a:rPr lang="en-CA" sz="800" b="0" kern="1200" noProof="0">
                          <a:solidFill>
                            <a:schemeClr val="bg2">
                              <a:lumMod val="10000"/>
                            </a:schemeClr>
                          </a:solidFill>
                          <a:latin typeface="+mn-lt"/>
                          <a:ea typeface="+mn-ea"/>
                          <a:cs typeface="+mn-cs"/>
                        </a:rPr>
                        <a:t>&amp; Protection</a:t>
                      </a:r>
                      <a:endParaRPr lang="en-CA" noProof="0">
                        <a:latin typeface="+mn-lt"/>
                      </a:endParaRP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tc>
                  <a:txBody>
                    <a:bodyPr/>
                    <a:lstStyle/>
                    <a:p>
                      <a:pPr lvl="0" algn="ctr">
                        <a:buNone/>
                      </a:pPr>
                      <a:r>
                        <a:rPr lang="en-CA" sz="800" b="0" kern="1200" noProof="0">
                          <a:solidFill>
                            <a:schemeClr val="bg2">
                              <a:lumMod val="10000"/>
                            </a:schemeClr>
                          </a:solidFill>
                          <a:latin typeface="+mn-lt"/>
                          <a:ea typeface="+mn-ea"/>
                          <a:cs typeface="+mn-cs"/>
                        </a:rPr>
                        <a:t>Fine-grained</a:t>
                      </a:r>
                      <a:endParaRPr lang="en-CA" noProof="0">
                        <a:latin typeface="+mn-lt"/>
                      </a:endParaRPr>
                    </a:p>
                    <a:p>
                      <a:pPr lvl="0" algn="ctr">
                        <a:buNone/>
                      </a:pPr>
                      <a:r>
                        <a:rPr lang="en-CA" sz="800" b="0" kern="1200" noProof="0">
                          <a:solidFill>
                            <a:schemeClr val="bg2">
                              <a:lumMod val="10000"/>
                            </a:schemeClr>
                          </a:solidFill>
                          <a:latin typeface="+mn-lt"/>
                          <a:ea typeface="+mn-ea"/>
                          <a:cs typeface="+mn-cs"/>
                        </a:rPr>
                        <a:t>Access Control</a:t>
                      </a:r>
                      <a:endParaRPr lang="en-CA" noProof="0">
                        <a:latin typeface="+mn-lt"/>
                      </a:endParaRP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lvl="0" algn="ctr">
                        <a:buNone/>
                      </a:pPr>
                      <a:r>
                        <a:rPr lang="en-CA" sz="800" b="0" kern="1200" noProof="0">
                          <a:solidFill>
                            <a:schemeClr val="bg2">
                              <a:lumMod val="10000"/>
                            </a:schemeClr>
                          </a:solidFill>
                          <a:latin typeface="+mn-lt"/>
                          <a:ea typeface="+mn-ea"/>
                          <a:cs typeface="+mn-cs"/>
                        </a:rPr>
                        <a:t>Policy Enforcement Pattern</a:t>
                      </a:r>
                      <a:endParaRPr lang="en-CA" noProof="0">
                        <a:latin typeface="+mn-lt"/>
                      </a:endParaRPr>
                    </a:p>
                    <a:p>
                      <a:pPr lvl="0" algn="ctr">
                        <a:buNone/>
                      </a:pPr>
                      <a:endParaRPr lang="en-CA" sz="800" b="0" kern="1200" noProof="0">
                        <a:solidFill>
                          <a:schemeClr val="bg2">
                            <a:lumMod val="10000"/>
                          </a:schemeClr>
                        </a:solidFill>
                        <a:latin typeface="+mn-lt"/>
                        <a:ea typeface="+mn-ea"/>
                        <a:cs typeface="+mn-cs"/>
                      </a:endParaRP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43356147"/>
                  </a:ext>
                </a:extLst>
              </a:tr>
              <a:tr h="309237">
                <a:tc>
                  <a:txBody>
                    <a:bodyPr/>
                    <a:lstStyle/>
                    <a:p>
                      <a:pPr algn="ctr"/>
                      <a:r>
                        <a:rPr lang="en-CA" sz="800" kern="1200" noProof="0">
                          <a:solidFill>
                            <a:schemeClr val="bg2">
                              <a:lumMod val="10000"/>
                            </a:schemeClr>
                          </a:solidFill>
                          <a:latin typeface="+mn-lt"/>
                          <a:ea typeface="+mn-ea"/>
                          <a:cs typeface="+mn-cs"/>
                        </a:rPr>
                        <a:t>Monitoring</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algn="ctr"/>
                      <a:r>
                        <a:rPr lang="en-CA" sz="800" kern="1200" noProof="0">
                          <a:solidFill>
                            <a:schemeClr val="bg2">
                              <a:lumMod val="10000"/>
                            </a:schemeClr>
                          </a:solidFill>
                          <a:latin typeface="+mn-lt"/>
                          <a:ea typeface="+mn-ea"/>
                          <a:cs typeface="+mn-cs"/>
                        </a:rPr>
                        <a:t>Lifecycle Management</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algn="ctr"/>
                      <a:r>
                        <a:rPr lang="en-CA" sz="800" kern="1200" noProof="0">
                          <a:solidFill>
                            <a:schemeClr val="bg2">
                              <a:lumMod val="10000"/>
                            </a:schemeClr>
                          </a:solidFill>
                          <a:latin typeface="+mn-lt"/>
                          <a:ea typeface="+mn-ea"/>
                          <a:cs typeface="+mn-cs"/>
                        </a:rPr>
                        <a:t>Alerting</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algn="ctr"/>
                      <a:r>
                        <a:rPr lang="en-CA" sz="800" kern="1200" noProof="0">
                          <a:solidFill>
                            <a:schemeClr val="bg2">
                              <a:lumMod val="10000"/>
                            </a:schemeClr>
                          </a:solidFill>
                          <a:latin typeface="+mn-lt"/>
                          <a:ea typeface="+mn-ea"/>
                          <a:cs typeface="+mn-cs"/>
                        </a:rPr>
                        <a:t>Observability</a:t>
                      </a:r>
                    </a:p>
                    <a:p>
                      <a:pPr algn="ctr"/>
                      <a:r>
                        <a:rPr lang="en-CA" sz="800" kern="1200" noProof="0">
                          <a:solidFill>
                            <a:schemeClr val="bg2">
                              <a:lumMod val="10000"/>
                            </a:schemeClr>
                          </a:solidFill>
                          <a:latin typeface="+mn-lt"/>
                          <a:ea typeface="+mn-ea"/>
                          <a:cs typeface="+mn-cs"/>
                        </a:rPr>
                        <a:t>(SLAs, Anomalies)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a:txBody>
                    <a:bodyPr/>
                    <a:lstStyle/>
                    <a:p>
                      <a:pPr lvl="0" algn="ctr">
                        <a:buNone/>
                      </a:pPr>
                      <a:r>
                        <a:rPr lang="en-CA" sz="800" b="0" kern="1200" noProof="0">
                          <a:solidFill>
                            <a:schemeClr val="bg2">
                              <a:lumMod val="10000"/>
                            </a:schemeClr>
                          </a:solidFill>
                          <a:latin typeface="+mn-lt"/>
                          <a:ea typeface="+mn-ea"/>
                          <a:cs typeface="+mn-cs"/>
                        </a:rPr>
                        <a:t>Audit, Retention &amp; Disposition</a:t>
                      </a:r>
                      <a:endParaRPr lang="en-CA" noProof="0">
                        <a:latin typeface="+mn-lt"/>
                      </a:endParaRP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gridSpan="2">
                  <a:txBody>
                    <a:bodyPr/>
                    <a:lstStyle/>
                    <a:p>
                      <a:pPr lvl="0" algn="ctr">
                        <a:buNone/>
                      </a:pPr>
                      <a:r>
                        <a:rPr lang="en-CA" sz="800" b="0" kern="1200" noProof="0">
                          <a:solidFill>
                            <a:schemeClr val="bg2">
                              <a:lumMod val="10000"/>
                            </a:schemeClr>
                          </a:solidFill>
                          <a:latin typeface="+mn-lt"/>
                          <a:ea typeface="+mn-ea"/>
                          <a:cs typeface="+mn-cs"/>
                        </a:rPr>
                        <a:t>    Consent &amp; Purpose-based Usage</a:t>
                      </a:r>
                      <a:endParaRPr lang="en-CA" noProof="0">
                        <a:latin typeface="+mn-lt"/>
                      </a:endParaRP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tc hMerge="1">
                  <a:txBody>
                    <a:bodyPr/>
                    <a:lstStyle/>
                    <a:p>
                      <a:endParaRPr lang="en-US"/>
                    </a:p>
                  </a:txBody>
                  <a:tcPr anchor="ctr">
                    <a:lnL w="12700">
                      <a:solidFill>
                        <a:schemeClr val="bg2">
                          <a:lumMod val="10000"/>
                        </a:schemeClr>
                      </a:solidFill>
                    </a:lnL>
                    <a:lnR w="12700">
                      <a:solidFill>
                        <a:schemeClr val="bg2">
                          <a:lumMod val="10000"/>
                        </a:schemeClr>
                      </a:solidFill>
                    </a:lnR>
                    <a:lnT w="12700">
                      <a:solidFill>
                        <a:schemeClr val="bg2">
                          <a:lumMod val="25000"/>
                        </a:schemeClr>
                      </a:solidFill>
                    </a:lnT>
                    <a:lnB w="12700">
                      <a:solidFill>
                        <a:schemeClr val="bg2">
                          <a:lumMod val="25000"/>
                        </a:schemeClr>
                      </a:solidFill>
                    </a:lnB>
                    <a:solidFill>
                      <a:schemeClr val="bg1"/>
                    </a:solidFill>
                  </a:tcPr>
                </a:tc>
                <a:extLst>
                  <a:ext uri="{0D108BD9-81ED-4DB2-BD59-A6C34878D82A}">
                    <a16:rowId xmlns:a16="http://schemas.microsoft.com/office/drawing/2014/main" val="1877828982"/>
                  </a:ext>
                </a:extLst>
              </a:tr>
            </a:tbl>
          </a:graphicData>
        </a:graphic>
      </p:graphicFrame>
      <p:graphicFrame>
        <p:nvGraphicFramePr>
          <p:cNvPr id="60" name="Table 59">
            <a:extLst>
              <a:ext uri="{FF2B5EF4-FFF2-40B4-BE49-F238E27FC236}">
                <a16:creationId xmlns:a16="http://schemas.microsoft.com/office/drawing/2014/main" id="{077ECEE0-8FB5-F868-A00D-84CFA64BDEA8}"/>
              </a:ext>
            </a:extLst>
          </p:cNvPr>
          <p:cNvGraphicFramePr>
            <a:graphicFrameLocks noGrp="1"/>
          </p:cNvGraphicFramePr>
          <p:nvPr>
            <p:extLst>
              <p:ext uri="{D42A27DB-BD31-4B8C-83A1-F6EECF244321}">
                <p14:modId xmlns:p14="http://schemas.microsoft.com/office/powerpoint/2010/main" val="1494214888"/>
              </p:ext>
            </p:extLst>
          </p:nvPr>
        </p:nvGraphicFramePr>
        <p:xfrm>
          <a:off x="7954237" y="1640821"/>
          <a:ext cx="1398169" cy="2700551"/>
        </p:xfrm>
        <a:graphic>
          <a:graphicData uri="http://schemas.openxmlformats.org/drawingml/2006/table">
            <a:tbl>
              <a:tblPr firstRow="1">
                <a:tableStyleId>{5C22544A-7EE6-4342-B048-85BDC9FD1C3A}</a:tableStyleId>
              </a:tblPr>
              <a:tblGrid>
                <a:gridCol w="1398169">
                  <a:extLst>
                    <a:ext uri="{9D8B030D-6E8A-4147-A177-3AD203B41FA5}">
                      <a16:colId xmlns:a16="http://schemas.microsoft.com/office/drawing/2014/main" val="3806160613"/>
                    </a:ext>
                  </a:extLst>
                </a:gridCol>
              </a:tblGrid>
              <a:tr h="385793">
                <a:tc>
                  <a:txBody>
                    <a:bodyPr/>
                    <a:lstStyle/>
                    <a:p>
                      <a:pPr algn="ctr"/>
                      <a:r>
                        <a:rPr lang="en-CA" sz="800" b="0" kern="1200" noProof="0">
                          <a:solidFill>
                            <a:schemeClr val="bg2">
                              <a:lumMod val="10000"/>
                            </a:schemeClr>
                          </a:solidFill>
                          <a:latin typeface="+mn-lt"/>
                          <a:ea typeface="+mn-ea"/>
                          <a:cs typeface="+mn-cs"/>
                        </a:rPr>
                        <a:t> Database Access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560232780"/>
                  </a:ext>
                </a:extLst>
              </a:tr>
              <a:tr h="385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kern="1200" noProof="0">
                          <a:solidFill>
                            <a:schemeClr val="bg2">
                              <a:lumMod val="10000"/>
                            </a:schemeClr>
                          </a:solidFill>
                          <a:latin typeface="+mn-lt"/>
                          <a:ea typeface="+mn-ea"/>
                          <a:cs typeface="+mn-cs"/>
                        </a:rPr>
                        <a:t>Internal Data Marketplace</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651155756"/>
                  </a:ext>
                </a:extLst>
              </a:tr>
              <a:tr h="385793">
                <a:tc>
                  <a:txBody>
                    <a:bodyPr/>
                    <a:lstStyle/>
                    <a:p>
                      <a:pPr algn="ctr"/>
                      <a:r>
                        <a:rPr lang="en-CA" sz="800" b="0" kern="1200" noProof="0">
                          <a:solidFill>
                            <a:schemeClr val="bg2">
                              <a:lumMod val="10000"/>
                            </a:schemeClr>
                          </a:solidFill>
                          <a:latin typeface="+mn-lt"/>
                          <a:ea typeface="+mn-ea"/>
                          <a:cs typeface="+mn-cs"/>
                        </a:rPr>
                        <a:t>Virtualization &amp; Federation</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4266026237"/>
                  </a:ext>
                </a:extLst>
              </a:tr>
              <a:tr h="385793">
                <a:tc>
                  <a:txBody>
                    <a:bodyPr/>
                    <a:lstStyle/>
                    <a:p>
                      <a:pPr algn="ctr"/>
                      <a:r>
                        <a:rPr lang="en-CA" sz="800" b="0" kern="1200" noProof="0">
                          <a:solidFill>
                            <a:schemeClr val="bg2">
                              <a:lumMod val="10000"/>
                            </a:schemeClr>
                          </a:solidFill>
                          <a:latin typeface="+mn-lt"/>
                          <a:ea typeface="+mn-ea"/>
                          <a:cs typeface="+mn-cs"/>
                        </a:rPr>
                        <a:t>    API / Batch / Streaming / CDC Access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593984670"/>
                  </a:ext>
                </a:extLst>
              </a:tr>
              <a:tr h="3857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800" b="0" kern="1200" noProof="0">
                          <a:solidFill>
                            <a:schemeClr val="bg2">
                              <a:lumMod val="10000"/>
                            </a:schemeClr>
                          </a:solidFill>
                          <a:latin typeface="+mn-lt"/>
                          <a:ea typeface="+mn-ea"/>
                          <a:cs typeface="+mn-cs"/>
                        </a:rPr>
                        <a:t>External Data Monetization</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71191458"/>
                  </a:ext>
                </a:extLst>
              </a:tr>
              <a:tr h="385793">
                <a:tc>
                  <a:txBody>
                    <a:bodyPr/>
                    <a:lstStyle/>
                    <a:p>
                      <a:pPr algn="ctr"/>
                      <a:r>
                        <a:rPr lang="en-CA" sz="800" b="0" kern="1200" noProof="0">
                          <a:solidFill>
                            <a:schemeClr val="bg2">
                              <a:lumMod val="10000"/>
                            </a:schemeClr>
                          </a:solidFill>
                          <a:latin typeface="+mn-lt"/>
                          <a:ea typeface="+mn-ea"/>
                          <a:cs typeface="+mn-cs"/>
                        </a:rPr>
                        <a:t>Graph Models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59688458"/>
                  </a:ext>
                </a:extLst>
              </a:tr>
              <a:tr h="385793">
                <a:tc>
                  <a:txBody>
                    <a:bodyPr/>
                    <a:lstStyle/>
                    <a:p>
                      <a:pPr algn="ctr"/>
                      <a:r>
                        <a:rPr lang="en-CA" sz="800" b="0" kern="1200" noProof="0">
                          <a:solidFill>
                            <a:schemeClr val="bg2">
                              <a:lumMod val="10000"/>
                            </a:schemeClr>
                          </a:solidFill>
                          <a:latin typeface="+mn-lt"/>
                          <a:ea typeface="+mn-ea"/>
                          <a:cs typeface="+mn-cs"/>
                        </a:rPr>
                        <a:t>   Search &amp; Vectorized Access</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52321540"/>
                  </a:ext>
                </a:extLst>
              </a:tr>
            </a:tbl>
          </a:graphicData>
        </a:graphic>
      </p:graphicFrame>
      <p:sp>
        <p:nvSpPr>
          <p:cNvPr id="64" name="Rectangle: Rounded Corners 63">
            <a:extLst>
              <a:ext uri="{FF2B5EF4-FFF2-40B4-BE49-F238E27FC236}">
                <a16:creationId xmlns:a16="http://schemas.microsoft.com/office/drawing/2014/main" id="{51990813-9DE8-4F88-F703-B066720CB635}"/>
              </a:ext>
            </a:extLst>
          </p:cNvPr>
          <p:cNvSpPr/>
          <p:nvPr/>
        </p:nvSpPr>
        <p:spPr>
          <a:xfrm>
            <a:off x="4504331" y="6555928"/>
            <a:ext cx="4948800" cy="227259"/>
          </a:xfrm>
          <a:prstGeom prst="roundRect">
            <a:avLst/>
          </a:prstGeom>
          <a:noFill/>
          <a:ln w="9525">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sp>
        <p:nvSpPr>
          <p:cNvPr id="65" name="TextBox 64">
            <a:extLst>
              <a:ext uri="{FF2B5EF4-FFF2-40B4-BE49-F238E27FC236}">
                <a16:creationId xmlns:a16="http://schemas.microsoft.com/office/drawing/2014/main" id="{3A74992D-FBC5-7238-745A-4F4E2E68034A}"/>
              </a:ext>
            </a:extLst>
          </p:cNvPr>
          <p:cNvSpPr txBox="1"/>
          <p:nvPr/>
        </p:nvSpPr>
        <p:spPr>
          <a:xfrm>
            <a:off x="4579600" y="6571019"/>
            <a:ext cx="486503"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Legend</a:t>
            </a:r>
          </a:p>
        </p:txBody>
      </p:sp>
      <p:cxnSp>
        <p:nvCxnSpPr>
          <p:cNvPr id="66" name="Straight Connector 65">
            <a:extLst>
              <a:ext uri="{FF2B5EF4-FFF2-40B4-BE49-F238E27FC236}">
                <a16:creationId xmlns:a16="http://schemas.microsoft.com/office/drawing/2014/main" id="{6E689485-642A-AE2E-7740-7FFA4385C234}"/>
              </a:ext>
            </a:extLst>
          </p:cNvPr>
          <p:cNvCxnSpPr>
            <a:cxnSpLocks/>
          </p:cNvCxnSpPr>
          <p:nvPr/>
        </p:nvCxnSpPr>
        <p:spPr>
          <a:xfrm>
            <a:off x="5171292" y="6580162"/>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F826635-9900-4A65-C4FB-52A28E5E592C}"/>
              </a:ext>
            </a:extLst>
          </p:cNvPr>
          <p:cNvSpPr txBox="1"/>
          <p:nvPr/>
        </p:nvSpPr>
        <p:spPr>
          <a:xfrm>
            <a:off x="4979337" y="6568772"/>
            <a:ext cx="2066169"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Prioritized Core Patterns</a:t>
            </a:r>
          </a:p>
        </p:txBody>
      </p:sp>
      <p:sp>
        <p:nvSpPr>
          <p:cNvPr id="69" name="Rectangle 68">
            <a:extLst>
              <a:ext uri="{FF2B5EF4-FFF2-40B4-BE49-F238E27FC236}">
                <a16:creationId xmlns:a16="http://schemas.microsoft.com/office/drawing/2014/main" id="{01A06E95-5566-5581-D86C-A3FB7CCA52C5}"/>
              </a:ext>
            </a:extLst>
          </p:cNvPr>
          <p:cNvSpPr/>
          <p:nvPr/>
        </p:nvSpPr>
        <p:spPr>
          <a:xfrm>
            <a:off x="5228945" y="6592077"/>
            <a:ext cx="164592" cy="164592"/>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900" b="0" i="0" u="none" strike="noStrike" kern="1200" cap="none" spc="0" normalizeH="0" baseline="0" noProof="0">
              <a:ln>
                <a:noFill/>
              </a:ln>
              <a:solidFill>
                <a:srgbClr val="FFFFFF"/>
              </a:solidFill>
              <a:effectLst/>
              <a:uLnTx/>
              <a:uFillTx/>
              <a:ea typeface="+mn-ea"/>
              <a:cs typeface="+mn-cs"/>
            </a:endParaRPr>
          </a:p>
        </p:txBody>
      </p:sp>
      <p:cxnSp>
        <p:nvCxnSpPr>
          <p:cNvPr id="3" name="Straight Connector 2">
            <a:extLst>
              <a:ext uri="{FF2B5EF4-FFF2-40B4-BE49-F238E27FC236}">
                <a16:creationId xmlns:a16="http://schemas.microsoft.com/office/drawing/2014/main" id="{3004A679-E6D7-89C6-B407-E6DB1727F8FD}"/>
              </a:ext>
            </a:extLst>
          </p:cNvPr>
          <p:cNvCxnSpPr>
            <a:cxnSpLocks/>
          </p:cNvCxnSpPr>
          <p:nvPr/>
        </p:nvCxnSpPr>
        <p:spPr>
          <a:xfrm>
            <a:off x="6863042" y="6563975"/>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752E22DA-6A05-41A1-2E7A-3408D5FF8E7A}"/>
              </a:ext>
            </a:extLst>
          </p:cNvPr>
          <p:cNvSpPr>
            <a:spLocks noChangeAspect="1"/>
          </p:cNvSpPr>
          <p:nvPr/>
        </p:nvSpPr>
        <p:spPr>
          <a:xfrm>
            <a:off x="6968232" y="6592077"/>
            <a:ext cx="164592" cy="164592"/>
          </a:xfrm>
          <a:prstGeom prst="rect">
            <a:avLst/>
          </a:pr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900" b="1" i="0" u="none" strike="noStrike" kern="1200" cap="none" spc="0" normalizeH="0" baseline="0" noProof="0">
              <a:ln>
                <a:noFill/>
              </a:ln>
              <a:solidFill>
                <a:srgbClr val="FFFFFF"/>
              </a:solidFill>
              <a:effectLst/>
              <a:uLnTx/>
              <a:uFillTx/>
              <a:ea typeface="+mn-ea"/>
              <a:cs typeface="+mn-cs"/>
            </a:endParaRPr>
          </a:p>
        </p:txBody>
      </p:sp>
      <p:sp>
        <p:nvSpPr>
          <p:cNvPr id="76" name="TextBox 75">
            <a:extLst>
              <a:ext uri="{FF2B5EF4-FFF2-40B4-BE49-F238E27FC236}">
                <a16:creationId xmlns:a16="http://schemas.microsoft.com/office/drawing/2014/main" id="{4B438F73-13A0-6834-154B-F6975CDACC55}"/>
              </a:ext>
            </a:extLst>
          </p:cNvPr>
          <p:cNvSpPr txBox="1"/>
          <p:nvPr/>
        </p:nvSpPr>
        <p:spPr>
          <a:xfrm>
            <a:off x="7143795" y="6568772"/>
            <a:ext cx="999725"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F0F0EF">
                    <a:lumMod val="10000"/>
                  </a:srgbClr>
                </a:solidFill>
                <a:effectLst/>
                <a:uLnTx/>
                <a:uFillTx/>
                <a:ea typeface="+mn-ea"/>
                <a:cs typeface="+mn-cs"/>
              </a:rPr>
              <a:t>Core Patterns</a:t>
            </a:r>
          </a:p>
        </p:txBody>
      </p:sp>
      <p:sp>
        <p:nvSpPr>
          <p:cNvPr id="71" name="Slide Number Placeholder 2">
            <a:extLst>
              <a:ext uri="{FF2B5EF4-FFF2-40B4-BE49-F238E27FC236}">
                <a16:creationId xmlns:a16="http://schemas.microsoft.com/office/drawing/2014/main" id="{C810977C-417B-84EF-09F6-DDF3820ECA58}"/>
              </a:ext>
            </a:extLst>
          </p:cNvPr>
          <p:cNvSpPr>
            <a:spLocks noGrp="1"/>
          </p:cNvSpPr>
          <p:nvPr>
            <p:ph type="sldNum" sz="quarter" idx="12"/>
          </p:nvPr>
        </p:nvSpPr>
        <p:spPr>
          <a:xfrm>
            <a:off x="141363" y="6454264"/>
            <a:ext cx="201619"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CBD822F-ED39-4FC2-B5B5-D2EAB6238DC3}" type="slidenum">
              <a:rPr kumimoji="0" lang="en-CA" sz="1000" b="0" i="0" u="none" strike="noStrike" kern="1200" cap="none" spc="0" normalizeH="0" baseline="0" noProof="0" smtClean="0">
                <a:ln>
                  <a:noFill/>
                </a:ln>
                <a:solidFill>
                  <a:srgbClr val="515146">
                    <a:tint val="75000"/>
                  </a:srgbClr>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CA" sz="1000" b="0" i="0" u="none" strike="noStrike" kern="1200" cap="none" spc="0" normalizeH="0" baseline="0" noProof="0">
              <a:ln>
                <a:noFill/>
              </a:ln>
              <a:solidFill>
                <a:srgbClr val="515146">
                  <a:tint val="75000"/>
                </a:srgbClr>
              </a:solidFill>
              <a:effectLst/>
              <a:uLnTx/>
              <a:uFillTx/>
              <a:latin typeface="+mn-lt"/>
              <a:ea typeface="+mn-ea"/>
              <a:cs typeface="+mn-cs"/>
            </a:endParaRPr>
          </a:p>
        </p:txBody>
      </p:sp>
      <p:sp>
        <p:nvSpPr>
          <p:cNvPr id="81" name="Rounded Rectangle 12">
            <a:extLst>
              <a:ext uri="{FF2B5EF4-FFF2-40B4-BE49-F238E27FC236}">
                <a16:creationId xmlns:a16="http://schemas.microsoft.com/office/drawing/2014/main" id="{CBADA3E7-9664-4CEE-A4AA-D8343D6FA89E}"/>
              </a:ext>
            </a:extLst>
          </p:cNvPr>
          <p:cNvSpPr/>
          <p:nvPr/>
        </p:nvSpPr>
        <p:spPr>
          <a:xfrm>
            <a:off x="214357" y="1739357"/>
            <a:ext cx="2404690" cy="1464343"/>
          </a:xfrm>
          <a:prstGeom prst="roundRect">
            <a:avLst>
              <a:gd name="adj" fmla="val 8149"/>
            </a:avLst>
          </a:prstGeom>
          <a:noFill/>
          <a:ln w="12700" cap="flat" cmpd="sng" algn="ctr">
            <a:solidFill>
              <a:schemeClr val="tx2"/>
            </a:solidFill>
            <a:prstDash val="dash"/>
            <a:miter lim="800000"/>
          </a:ln>
          <a:effectLst/>
        </p:spPr>
        <p:txBody>
          <a:bodyPr lIns="72000" tIns="36000" rIns="72000" bIns="720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rgbClr val="F0F0EF">
                    <a:lumMod val="10000"/>
                  </a:srgbClr>
                </a:solidFill>
                <a:effectLst/>
                <a:uLnTx/>
                <a:uFillTx/>
                <a:ea typeface="+mn-ea"/>
                <a:cs typeface="+mn-cs"/>
              </a:rPr>
              <a:t>Data Integration</a:t>
            </a:r>
            <a:endParaRPr kumimoji="0" lang="en-CA" sz="1000" b="0" i="0" u="none" strike="noStrike" kern="0" cap="none" spc="0" normalizeH="0" baseline="0" noProof="0">
              <a:ln>
                <a:noFill/>
              </a:ln>
              <a:solidFill>
                <a:srgbClr val="F0F0EF">
                  <a:lumMod val="10000"/>
                </a:srgbClr>
              </a:solidFill>
              <a:effectLst/>
              <a:uLnTx/>
              <a:uFillTx/>
              <a:ea typeface="+mn-ea"/>
              <a:cs typeface="+mn-cs"/>
            </a:endParaRPr>
          </a:p>
        </p:txBody>
      </p:sp>
      <p:sp>
        <p:nvSpPr>
          <p:cNvPr id="82" name="Rounded Rectangle 12">
            <a:extLst>
              <a:ext uri="{FF2B5EF4-FFF2-40B4-BE49-F238E27FC236}">
                <a16:creationId xmlns:a16="http://schemas.microsoft.com/office/drawing/2014/main" id="{C16C3417-5D11-670B-0195-3BC2B951D3D0}"/>
              </a:ext>
            </a:extLst>
          </p:cNvPr>
          <p:cNvSpPr/>
          <p:nvPr/>
        </p:nvSpPr>
        <p:spPr>
          <a:xfrm>
            <a:off x="2788233" y="4133022"/>
            <a:ext cx="5020255" cy="616244"/>
          </a:xfrm>
          <a:prstGeom prst="roundRect">
            <a:avLst>
              <a:gd name="adj" fmla="val 8149"/>
            </a:avLst>
          </a:prstGeom>
          <a:noFill/>
          <a:ln w="12700" cap="flat" cmpd="sng" algn="ctr">
            <a:solidFill>
              <a:schemeClr val="tx2"/>
            </a:solidFill>
            <a:prstDash val="dash"/>
            <a:miter lim="800000"/>
          </a:ln>
          <a:effectLst/>
        </p:spPr>
        <p:txBody>
          <a:bodyPr lIns="72000" tIns="36000" rIns="72000" bIns="612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rgbClr val="F0F0EF">
                    <a:lumMod val="10000"/>
                  </a:srgbClr>
                </a:solidFill>
                <a:effectLst/>
                <a:uLnTx/>
                <a:uFillTx/>
                <a:ea typeface="+mn-ea"/>
                <a:cs typeface="+mn-cs"/>
              </a:rPr>
              <a:t>MDM</a:t>
            </a:r>
          </a:p>
        </p:txBody>
      </p:sp>
      <p:sp>
        <p:nvSpPr>
          <p:cNvPr id="83" name="Rounded Rectangle 12">
            <a:extLst>
              <a:ext uri="{FF2B5EF4-FFF2-40B4-BE49-F238E27FC236}">
                <a16:creationId xmlns:a16="http://schemas.microsoft.com/office/drawing/2014/main" id="{2D248179-E3DF-74AF-7E1C-8988918285BB}"/>
              </a:ext>
            </a:extLst>
          </p:cNvPr>
          <p:cNvSpPr/>
          <p:nvPr/>
        </p:nvSpPr>
        <p:spPr>
          <a:xfrm>
            <a:off x="2788233" y="2291478"/>
            <a:ext cx="3224189" cy="1663036"/>
          </a:xfrm>
          <a:prstGeom prst="roundRect">
            <a:avLst>
              <a:gd name="adj" fmla="val 8149"/>
            </a:avLst>
          </a:prstGeom>
          <a:noFill/>
          <a:ln w="12700" cap="flat" cmpd="sng" algn="ctr">
            <a:solidFill>
              <a:schemeClr val="tx2"/>
            </a:solidFill>
            <a:prstDash val="dash"/>
            <a:miter lim="800000"/>
          </a:ln>
          <a:effectLst/>
        </p:spPr>
        <p:txBody>
          <a:bodyPr lIns="72000" tIns="36000" rIns="72000" bIns="720000" rtlCol="0" anchor="t"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0" cap="none" spc="0" normalizeH="0" baseline="0" noProof="0">
                <a:ln>
                  <a:noFill/>
                </a:ln>
                <a:solidFill>
                  <a:srgbClr val="F0F0EF">
                    <a:lumMod val="10000"/>
                  </a:srgbClr>
                </a:solidFill>
                <a:effectLst/>
                <a:uLnTx/>
                <a:uFillTx/>
                <a:ea typeface="+mn-ea"/>
                <a:cs typeface="+mn-cs"/>
              </a:rPr>
              <a:t>Data Supply Chain</a:t>
            </a:r>
          </a:p>
        </p:txBody>
      </p:sp>
      <p:sp>
        <p:nvSpPr>
          <p:cNvPr id="88" name="Rounded Rectangle 129">
            <a:extLst>
              <a:ext uri="{FF2B5EF4-FFF2-40B4-BE49-F238E27FC236}">
                <a16:creationId xmlns:a16="http://schemas.microsoft.com/office/drawing/2014/main" id="{FC7C7ABC-6A97-1B2B-1EC3-9F99348DFD59}"/>
              </a:ext>
            </a:extLst>
          </p:cNvPr>
          <p:cNvSpPr/>
          <p:nvPr/>
        </p:nvSpPr>
        <p:spPr>
          <a:xfrm>
            <a:off x="9650881" y="1221640"/>
            <a:ext cx="1846127" cy="2982967"/>
          </a:xfrm>
          <a:prstGeom prst="roundRect">
            <a:avLst>
              <a:gd name="adj" fmla="val 4284"/>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000" b="1" i="0" u="none" strike="noStrike" kern="1200" cap="none" spc="0" normalizeH="0" baseline="0" noProof="0">
                <a:ln>
                  <a:noFill/>
                </a:ln>
                <a:solidFill>
                  <a:srgbClr val="F0F0EF">
                    <a:lumMod val="10000"/>
                  </a:srgbClr>
                </a:solidFill>
                <a:effectLst/>
                <a:uLnTx/>
                <a:uFillTx/>
                <a:ea typeface="+mn-ea"/>
                <a:cs typeface="+mn-cs"/>
              </a:rPr>
              <a:t>Enterprise Intelligence</a:t>
            </a:r>
          </a:p>
        </p:txBody>
      </p:sp>
      <p:graphicFrame>
        <p:nvGraphicFramePr>
          <p:cNvPr id="6" name="Table 5">
            <a:extLst>
              <a:ext uri="{FF2B5EF4-FFF2-40B4-BE49-F238E27FC236}">
                <a16:creationId xmlns:a16="http://schemas.microsoft.com/office/drawing/2014/main" id="{97D038AE-3888-9CA1-953F-395A49C0D540}"/>
              </a:ext>
            </a:extLst>
          </p:cNvPr>
          <p:cNvGraphicFramePr>
            <a:graphicFrameLocks noGrp="1"/>
          </p:cNvGraphicFramePr>
          <p:nvPr>
            <p:extLst>
              <p:ext uri="{D42A27DB-BD31-4B8C-83A1-F6EECF244321}">
                <p14:modId xmlns:p14="http://schemas.microsoft.com/office/powerpoint/2010/main" val="4156898816"/>
              </p:ext>
            </p:extLst>
          </p:nvPr>
        </p:nvGraphicFramePr>
        <p:xfrm>
          <a:off x="2834640" y="3575569"/>
          <a:ext cx="3142754" cy="335280"/>
        </p:xfrm>
        <a:graphic>
          <a:graphicData uri="http://schemas.openxmlformats.org/drawingml/2006/table">
            <a:tbl>
              <a:tblPr firstRow="1">
                <a:tableStyleId>{5C22544A-7EE6-4342-B048-85BDC9FD1C3A}</a:tableStyleId>
              </a:tblPr>
              <a:tblGrid>
                <a:gridCol w="1571377">
                  <a:extLst>
                    <a:ext uri="{9D8B030D-6E8A-4147-A177-3AD203B41FA5}">
                      <a16:colId xmlns:a16="http://schemas.microsoft.com/office/drawing/2014/main" val="3806160613"/>
                    </a:ext>
                  </a:extLst>
                </a:gridCol>
                <a:gridCol w="1571377">
                  <a:extLst>
                    <a:ext uri="{9D8B030D-6E8A-4147-A177-3AD203B41FA5}">
                      <a16:colId xmlns:a16="http://schemas.microsoft.com/office/drawing/2014/main" val="2582732974"/>
                    </a:ext>
                  </a:extLst>
                </a:gridCol>
              </a:tblGrid>
              <a:tr h="284512">
                <a:tc>
                  <a:txBody>
                    <a:bodyPr/>
                    <a:lstStyle/>
                    <a:p>
                      <a:pPr algn="ctr"/>
                      <a:r>
                        <a:rPr lang="en-CA" sz="800" b="0" noProof="0">
                          <a:solidFill>
                            <a:schemeClr val="bg2">
                              <a:lumMod val="10000"/>
                            </a:schemeClr>
                          </a:solidFill>
                          <a:latin typeface="+mn-lt"/>
                        </a:rPr>
                        <a:t>Text Extraction / OCR</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tc>
                  <a:txBody>
                    <a:bodyPr/>
                    <a:lstStyle/>
                    <a:p>
                      <a:pPr algn="ctr"/>
                      <a:r>
                        <a:rPr lang="en-CA" sz="800" b="0" kern="1200" noProof="0">
                          <a:solidFill>
                            <a:schemeClr val="bg2">
                              <a:lumMod val="10000"/>
                            </a:schemeClr>
                          </a:solidFill>
                          <a:latin typeface="+mn-lt"/>
                          <a:ea typeface="+mn-ea"/>
                          <a:cs typeface="+mn-cs"/>
                        </a:rPr>
                        <a:t>Vectorization, Content Enrichment &amp; Chunking</a:t>
                      </a:r>
                    </a:p>
                  </a:txBody>
                  <a:tcPr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noFill/>
                  </a:tcPr>
                </a:tc>
                <a:extLst>
                  <a:ext uri="{0D108BD9-81ED-4DB2-BD59-A6C34878D82A}">
                    <a16:rowId xmlns:a16="http://schemas.microsoft.com/office/drawing/2014/main" val="1143356147"/>
                  </a:ext>
                </a:extLst>
              </a:tr>
            </a:tbl>
          </a:graphicData>
        </a:graphic>
      </p:graphicFrame>
      <p:sp>
        <p:nvSpPr>
          <p:cNvPr id="5" name="Rectangle 4">
            <a:extLst>
              <a:ext uri="{FF2B5EF4-FFF2-40B4-BE49-F238E27FC236}">
                <a16:creationId xmlns:a16="http://schemas.microsoft.com/office/drawing/2014/main" id="{D16EAFCC-4E5B-EED2-F023-457E2A15635B}"/>
              </a:ext>
            </a:extLst>
          </p:cNvPr>
          <p:cNvSpPr>
            <a:spLocks noChangeAspect="1"/>
          </p:cNvSpPr>
          <p:nvPr/>
        </p:nvSpPr>
        <p:spPr>
          <a:xfrm>
            <a:off x="8128410" y="6592077"/>
            <a:ext cx="164592" cy="164592"/>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0" rIns="3600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900" b="1" i="0" u="none" strike="noStrike" kern="1200" cap="none" spc="0" normalizeH="0" baseline="0" noProof="0">
              <a:ln>
                <a:noFill/>
              </a:ln>
              <a:solidFill>
                <a:srgbClr val="FFFFFF"/>
              </a:solidFill>
              <a:effectLst/>
              <a:uLnTx/>
              <a:uFillTx/>
              <a:ea typeface="+mn-ea"/>
              <a:cs typeface="+mn-cs"/>
            </a:endParaRPr>
          </a:p>
        </p:txBody>
      </p:sp>
      <p:sp>
        <p:nvSpPr>
          <p:cNvPr id="7" name="TextBox 6">
            <a:extLst>
              <a:ext uri="{FF2B5EF4-FFF2-40B4-BE49-F238E27FC236}">
                <a16:creationId xmlns:a16="http://schemas.microsoft.com/office/drawing/2014/main" id="{0688D4A3-DBC9-2A25-5782-9B4358251C5F}"/>
              </a:ext>
            </a:extLst>
          </p:cNvPr>
          <p:cNvSpPr txBox="1"/>
          <p:nvPr/>
        </p:nvSpPr>
        <p:spPr>
          <a:xfrm>
            <a:off x="8322557" y="6568772"/>
            <a:ext cx="1130574" cy="211203"/>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0" tIns="36000" rIns="0" bIns="36000" rtlCol="0" anchor="t"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CA" sz="900">
                <a:solidFill>
                  <a:srgbClr val="F0F0EF">
                    <a:lumMod val="10000"/>
                  </a:srgbClr>
                </a:solidFill>
              </a:rPr>
              <a:t>Extended</a:t>
            </a:r>
            <a:r>
              <a:rPr kumimoji="0" lang="en-CA" sz="900" b="0" i="0" u="none" strike="noStrike" kern="1200" cap="none" spc="0" normalizeH="0" baseline="0" noProof="0">
                <a:ln>
                  <a:noFill/>
                </a:ln>
                <a:solidFill>
                  <a:srgbClr val="F0F0EF">
                    <a:lumMod val="10000"/>
                  </a:srgbClr>
                </a:solidFill>
                <a:effectLst/>
                <a:uLnTx/>
                <a:uFillTx/>
                <a:ea typeface="+mn-ea"/>
                <a:cs typeface="+mn-cs"/>
              </a:rPr>
              <a:t> Patterns</a:t>
            </a:r>
          </a:p>
        </p:txBody>
      </p:sp>
      <p:cxnSp>
        <p:nvCxnSpPr>
          <p:cNvPr id="8" name="Straight Connector 7">
            <a:extLst>
              <a:ext uri="{FF2B5EF4-FFF2-40B4-BE49-F238E27FC236}">
                <a16:creationId xmlns:a16="http://schemas.microsoft.com/office/drawing/2014/main" id="{700C0F56-D28F-E07A-93BF-7B29072AC36F}"/>
              </a:ext>
            </a:extLst>
          </p:cNvPr>
          <p:cNvCxnSpPr>
            <a:cxnSpLocks/>
          </p:cNvCxnSpPr>
          <p:nvPr/>
        </p:nvCxnSpPr>
        <p:spPr>
          <a:xfrm>
            <a:off x="8009090" y="6563975"/>
            <a:ext cx="0" cy="21600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4966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D380-1C4D-05B3-CD62-5D599E05EF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A9E0AE4-11A0-6694-AF05-17241908CCF6}"/>
              </a:ext>
            </a:extLst>
          </p:cNvPr>
          <p:cNvSpPr>
            <a:spLocks noGrp="1"/>
          </p:cNvSpPr>
          <p:nvPr>
            <p:ph type="title"/>
          </p:nvPr>
        </p:nvSpPr>
        <p:spPr/>
        <p:txBody>
          <a:bodyPr/>
          <a:lstStyle/>
          <a:p>
            <a:r>
              <a:rPr lang="en-CA" noProof="0">
                <a:latin typeface="Graphik" panose="020B0503030202060203" pitchFamily="34" charset="0"/>
              </a:rPr>
              <a:t>Appendix</a:t>
            </a:r>
          </a:p>
        </p:txBody>
      </p:sp>
      <p:sp>
        <p:nvSpPr>
          <p:cNvPr id="8" name="Text Placeholder 7">
            <a:extLst>
              <a:ext uri="{FF2B5EF4-FFF2-40B4-BE49-F238E27FC236}">
                <a16:creationId xmlns:a16="http://schemas.microsoft.com/office/drawing/2014/main" id="{6D5E3CAE-8B47-4EE6-4C1B-64D82619F0CC}"/>
              </a:ext>
            </a:extLst>
          </p:cNvPr>
          <p:cNvSpPr>
            <a:spLocks noGrp="1"/>
          </p:cNvSpPr>
          <p:nvPr>
            <p:ph type="body" idx="1"/>
          </p:nvPr>
        </p:nvSpPr>
        <p:spPr/>
        <p:txBody>
          <a:bodyPr/>
          <a:lstStyle/>
          <a:p>
            <a:r>
              <a:rPr lang="en-CA" noProof="0">
                <a:latin typeface="Graphik" panose="020B0503030202060203" pitchFamily="34" charset="0"/>
              </a:rPr>
              <a:t> </a:t>
            </a:r>
          </a:p>
        </p:txBody>
      </p:sp>
      <p:sp>
        <p:nvSpPr>
          <p:cNvPr id="4" name="Date Placeholder 3">
            <a:extLst>
              <a:ext uri="{FF2B5EF4-FFF2-40B4-BE49-F238E27FC236}">
                <a16:creationId xmlns:a16="http://schemas.microsoft.com/office/drawing/2014/main" id="{60A1936A-F318-9B62-F5B3-389792C897D2}"/>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11EAE-16B7-464E-91D8-413C5CE9C268}" type="datetime4">
              <a:rPr kumimoji="0" lang="en-CA" sz="900" b="0" i="0" u="none" strike="noStrike" kern="1200" cap="none" spc="0" normalizeH="0" baseline="0" noProof="0" smtClean="0">
                <a:ln>
                  <a:noFill/>
                </a:ln>
                <a:solidFill>
                  <a:srgbClr val="515146">
                    <a:tint val="75000"/>
                  </a:srgbClr>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August 10, 2026</a:t>
            </a:fld>
            <a:endParaRPr kumimoji="0" lang="en-CA" sz="900" b="0" i="0" u="none" strike="noStrike" kern="1200" cap="none" spc="0" normalizeH="0" baseline="0" noProof="0">
              <a:ln>
                <a:noFill/>
              </a:ln>
              <a:solidFill>
                <a:srgbClr val="515146">
                  <a:tint val="75000"/>
                </a:srgbClr>
              </a:solidFill>
              <a:effectLst/>
              <a:uLnTx/>
              <a:uFillTx/>
              <a:latin typeface="Graphik" panose="020B0503030202060203" pitchFamily="34" charset="0"/>
              <a:ea typeface="+mn-ea"/>
              <a:cs typeface="+mn-cs"/>
            </a:endParaRPr>
          </a:p>
        </p:txBody>
      </p:sp>
      <p:sp>
        <p:nvSpPr>
          <p:cNvPr id="5" name="Footer Placeholder 4">
            <a:extLst>
              <a:ext uri="{FF2B5EF4-FFF2-40B4-BE49-F238E27FC236}">
                <a16:creationId xmlns:a16="http://schemas.microsoft.com/office/drawing/2014/main" id="{ACECDDEE-130F-3F25-9662-7F4124EE3D8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900" b="0" i="0" u="none" strike="noStrike" kern="1200" cap="none" spc="0" normalizeH="0" baseline="0" noProof="0">
                <a:ln>
                  <a:noFill/>
                </a:ln>
                <a:solidFill>
                  <a:srgbClr val="515146">
                    <a:tint val="75000"/>
                  </a:srgbClr>
                </a:solidFill>
                <a:effectLst/>
                <a:uLnTx/>
                <a:uFillTx/>
                <a:latin typeface="Graphik" panose="020B0503030202060203" pitchFamily="34" charset="0"/>
                <a:ea typeface="+mn-ea"/>
                <a:cs typeface="+mn-cs"/>
              </a:rPr>
              <a:t> </a:t>
            </a:r>
          </a:p>
        </p:txBody>
      </p:sp>
      <p:sp>
        <p:nvSpPr>
          <p:cNvPr id="6" name="Slide Number Placeholder 5">
            <a:extLst>
              <a:ext uri="{FF2B5EF4-FFF2-40B4-BE49-F238E27FC236}">
                <a16:creationId xmlns:a16="http://schemas.microsoft.com/office/drawing/2014/main" id="{9B3E01AA-5BF1-F4D7-B18F-3BCB92AA91F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CBD822F-ED39-4FC2-B5B5-D2EAB6238DC3}" type="slidenum">
              <a:rPr kumimoji="0" lang="en-CA" sz="900" b="0" i="0" u="none" strike="noStrike" kern="1200" cap="none" spc="0" normalizeH="0" baseline="0" noProof="0" smtClean="0">
                <a:ln>
                  <a:noFill/>
                </a:ln>
                <a:solidFill>
                  <a:srgbClr val="515146">
                    <a:tint val="75000"/>
                  </a:srgbClr>
                </a:solidFill>
                <a:effectLst/>
                <a:uLnTx/>
                <a:uFillTx/>
                <a:latin typeface="Graphik" panose="020B0503030202060203"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CA" sz="900" b="0" i="0" u="none" strike="noStrike" kern="1200" cap="none" spc="0" normalizeH="0" baseline="0" noProof="0">
              <a:ln>
                <a:noFill/>
              </a:ln>
              <a:solidFill>
                <a:srgbClr val="515146">
                  <a:tint val="75000"/>
                </a:srgbClr>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4187085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44F00-7D9B-F462-2169-71039E6C7789}"/>
            </a:ext>
          </a:extLst>
        </p:cNvPr>
        <p:cNvGrpSpPr/>
        <p:nvPr/>
      </p:nvGrpSpPr>
      <p:grpSpPr>
        <a:xfrm>
          <a:off x="0" y="0"/>
          <a:ext cx="0" cy="0"/>
          <a:chOff x="0" y="0"/>
          <a:chExt cx="0" cy="0"/>
        </a:xfrm>
      </p:grpSpPr>
      <p:sp>
        <p:nvSpPr>
          <p:cNvPr id="5" name="Title 2">
            <a:extLst>
              <a:ext uri="{FF2B5EF4-FFF2-40B4-BE49-F238E27FC236}">
                <a16:creationId xmlns:a16="http://schemas.microsoft.com/office/drawing/2014/main" id="{B02885E4-0461-DD28-D99E-733CF2340B0B}"/>
              </a:ext>
            </a:extLst>
          </p:cNvPr>
          <p:cNvSpPr txBox="1">
            <a:spLocks/>
          </p:cNvSpPr>
          <p:nvPr/>
        </p:nvSpPr>
        <p:spPr>
          <a:xfrm>
            <a:off x="86965" y="43179"/>
            <a:ext cx="11412000" cy="405102"/>
          </a:xfrm>
          <a:prstGeom prst="rect">
            <a:avLst/>
          </a:prstGeom>
        </p:spPr>
        <p:txBody>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r>
              <a:rPr lang="en-CA" sz="2000" b="1" noProof="0">
                <a:latin typeface="Graphik" panose="020B0503030202060203" pitchFamily="34" charset="0"/>
              </a:rPr>
              <a:t>Enterprise 360 Views – Master Data and Architecture Perspective</a:t>
            </a:r>
            <a:endParaRPr lang="en-CA" sz="2000" noProof="0">
              <a:latin typeface="Graphik" panose="020B0503030202060203" pitchFamily="34" charset="0"/>
            </a:endParaRPr>
          </a:p>
        </p:txBody>
      </p:sp>
      <p:sp>
        <p:nvSpPr>
          <p:cNvPr id="28" name="Text Placeholder 3">
            <a:extLst>
              <a:ext uri="{FF2B5EF4-FFF2-40B4-BE49-F238E27FC236}">
                <a16:creationId xmlns:a16="http://schemas.microsoft.com/office/drawing/2014/main" id="{117796B5-EE55-E9A4-998D-C5EEB5252360}"/>
              </a:ext>
            </a:extLst>
          </p:cNvPr>
          <p:cNvSpPr txBox="1">
            <a:spLocks/>
          </p:cNvSpPr>
          <p:nvPr/>
        </p:nvSpPr>
        <p:spPr>
          <a:xfrm>
            <a:off x="86965" y="314775"/>
            <a:ext cx="11834978" cy="345950"/>
          </a:xfrm>
          <a:prstGeom prst="rect">
            <a:avLst/>
          </a:prstGeom>
        </p:spPr>
        <p:txBody>
          <a:bodyPr/>
          <a:lst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CA" sz="1100" noProof="0">
                <a:solidFill>
                  <a:schemeClr val="tx1">
                    <a:lumMod val="50000"/>
                  </a:schemeClr>
                </a:solidFill>
                <a:latin typeface="Graphik" panose="020B0503030202060203" pitchFamily="34" charset="0"/>
              </a:rPr>
              <a:t>Logical Hierarchy, Scope and Representation in Gold Layer</a:t>
            </a:r>
          </a:p>
        </p:txBody>
      </p:sp>
      <p:graphicFrame>
        <p:nvGraphicFramePr>
          <p:cNvPr id="16" name="Table 15">
            <a:extLst>
              <a:ext uri="{FF2B5EF4-FFF2-40B4-BE49-F238E27FC236}">
                <a16:creationId xmlns:a16="http://schemas.microsoft.com/office/drawing/2014/main" id="{6CA23F81-9E5F-DB93-D753-912292870E75}"/>
              </a:ext>
            </a:extLst>
          </p:cNvPr>
          <p:cNvGraphicFramePr>
            <a:graphicFrameLocks noGrp="1"/>
          </p:cNvGraphicFramePr>
          <p:nvPr>
            <p:extLst>
              <p:ext uri="{D42A27DB-BD31-4B8C-83A1-F6EECF244321}">
                <p14:modId xmlns:p14="http://schemas.microsoft.com/office/powerpoint/2010/main" val="344820467"/>
              </p:ext>
            </p:extLst>
          </p:nvPr>
        </p:nvGraphicFramePr>
        <p:xfrm>
          <a:off x="373711" y="731564"/>
          <a:ext cx="11203388" cy="4797222"/>
        </p:xfrm>
        <a:graphic>
          <a:graphicData uri="http://schemas.openxmlformats.org/drawingml/2006/table">
            <a:tbl>
              <a:tblPr firstRow="1" firstCol="1">
                <a:tableStyleId>{21E4AEA4-8DFA-4A89-87EB-49C32662AFE0}</a:tableStyleId>
              </a:tblPr>
              <a:tblGrid>
                <a:gridCol w="2091193">
                  <a:extLst>
                    <a:ext uri="{9D8B030D-6E8A-4147-A177-3AD203B41FA5}">
                      <a16:colId xmlns:a16="http://schemas.microsoft.com/office/drawing/2014/main" val="1080561749"/>
                    </a:ext>
                  </a:extLst>
                </a:gridCol>
                <a:gridCol w="3260035">
                  <a:extLst>
                    <a:ext uri="{9D8B030D-6E8A-4147-A177-3AD203B41FA5}">
                      <a16:colId xmlns:a16="http://schemas.microsoft.com/office/drawing/2014/main" val="3291971625"/>
                    </a:ext>
                  </a:extLst>
                </a:gridCol>
                <a:gridCol w="3051313">
                  <a:extLst>
                    <a:ext uri="{9D8B030D-6E8A-4147-A177-3AD203B41FA5}">
                      <a16:colId xmlns:a16="http://schemas.microsoft.com/office/drawing/2014/main" val="356442184"/>
                    </a:ext>
                  </a:extLst>
                </a:gridCol>
                <a:gridCol w="2800847">
                  <a:extLst>
                    <a:ext uri="{9D8B030D-6E8A-4147-A177-3AD203B41FA5}">
                      <a16:colId xmlns:a16="http://schemas.microsoft.com/office/drawing/2014/main" val="4246504360"/>
                    </a:ext>
                  </a:extLst>
                </a:gridCol>
              </a:tblGrid>
              <a:tr h="122114">
                <a:tc>
                  <a:txBody>
                    <a:bodyPr/>
                    <a:lstStyle/>
                    <a:p>
                      <a:pPr>
                        <a:buNone/>
                      </a:pPr>
                      <a:r>
                        <a:rPr lang="en-CA" sz="950" b="1" noProof="0">
                          <a:solidFill>
                            <a:schemeClr val="bg1"/>
                          </a:solidFill>
                          <a:effectLst/>
                          <a:latin typeface="Graphik" panose="020B0503030202060203" pitchFamily="34" charset="0"/>
                        </a:rPr>
                        <a:t>360 View</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b="1" noProof="0">
                          <a:solidFill>
                            <a:schemeClr val="bg1"/>
                          </a:solidFill>
                          <a:effectLst/>
                          <a:latin typeface="Graphik" panose="020B0503030202060203" pitchFamily="34" charset="0"/>
                        </a:rPr>
                        <a:t>What It Is (Includes)</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b="1" noProof="0">
                          <a:solidFill>
                            <a:schemeClr val="bg1"/>
                          </a:solidFill>
                          <a:effectLst/>
                          <a:latin typeface="Graphik" panose="020B0503030202060203" pitchFamily="34" charset="0"/>
                        </a:rPr>
                        <a:t>What It Is Not (Excludes)</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b="1" noProof="0">
                          <a:solidFill>
                            <a:schemeClr val="bg1"/>
                          </a:solidFill>
                          <a:effectLst/>
                          <a:latin typeface="Graphik" panose="020B0503030202060203" pitchFamily="34" charset="0"/>
                        </a:rPr>
                        <a:t>Notes / Gold Layer Architecture</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extLst>
                  <a:ext uri="{0D108BD9-81ED-4DB2-BD59-A6C34878D82A}">
                    <a16:rowId xmlns:a16="http://schemas.microsoft.com/office/drawing/2014/main" val="69294148"/>
                  </a:ext>
                </a:extLst>
              </a:tr>
              <a:tr h="645462">
                <a:tc>
                  <a:txBody>
                    <a:bodyPr/>
                    <a:lstStyle/>
                    <a:p>
                      <a:pPr>
                        <a:buNone/>
                      </a:pPr>
                      <a:r>
                        <a:rPr lang="en-CA" sz="950" b="1" noProof="0">
                          <a:solidFill>
                            <a:schemeClr val="bg1"/>
                          </a:solidFill>
                          <a:effectLst/>
                          <a:latin typeface="Graphik" panose="020B0503030202060203" pitchFamily="34" charset="0"/>
                        </a:rPr>
                        <a:t>Party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complete view of all entities that interact with the enterprise, including individuals and organizations such as employees, advisors, service providers, beneficiaries, prospects, and partners.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Narrow views limited to a single role, entity type, or business context.</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Serves as the authoritative master record in the gold layer; acts as the central hub from which all other 360 views are derived.</a:t>
                      </a:r>
                    </a:p>
                  </a:txBody>
                  <a:tcPr marL="17445" marR="17445" marT="8722" marB="8722" anchor="ctr">
                    <a:solidFill>
                      <a:schemeClr val="bg1">
                        <a:lumMod val="95000"/>
                      </a:schemeClr>
                    </a:solidFill>
                  </a:tcPr>
                </a:tc>
                <a:extLst>
                  <a:ext uri="{0D108BD9-81ED-4DB2-BD59-A6C34878D82A}">
                    <a16:rowId xmlns:a16="http://schemas.microsoft.com/office/drawing/2014/main" val="636326564"/>
                  </a:ext>
                </a:extLst>
              </a:tr>
              <a:tr h="488458">
                <a:tc>
                  <a:txBody>
                    <a:bodyPr/>
                    <a:lstStyle/>
                    <a:p>
                      <a:pPr>
                        <a:buNone/>
                      </a:pPr>
                      <a:r>
                        <a:rPr lang="en-CA" sz="950" b="1" noProof="0">
                          <a:solidFill>
                            <a:schemeClr val="bg1"/>
                          </a:solidFill>
                          <a:effectLst/>
                          <a:latin typeface="Graphik" panose="020B0503030202060203" pitchFamily="34" charset="0"/>
                        </a:rPr>
                        <a:t>Human / Person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consolidated view of individual people, including employees, members or participants, beneficiaries, advisors, and prospects.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Legal entities, organizations, or corporate structures.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from Party 360; may include enriched attributes such as identity, compliance, and HR‑related information.</a:t>
                      </a:r>
                    </a:p>
                  </a:txBody>
                  <a:tcPr marL="17445" marR="17445" marT="8722" marB="8722" anchor="ctr">
                    <a:solidFill>
                      <a:schemeClr val="bg1">
                        <a:lumMod val="95000"/>
                      </a:schemeClr>
                    </a:solidFill>
                  </a:tcPr>
                </a:tc>
                <a:extLst>
                  <a:ext uri="{0D108BD9-81ED-4DB2-BD59-A6C34878D82A}">
                    <a16:rowId xmlns:a16="http://schemas.microsoft.com/office/drawing/2014/main" val="1685075050"/>
                  </a:ext>
                </a:extLst>
              </a:tr>
              <a:tr h="383788">
                <a:tc>
                  <a:txBody>
                    <a:bodyPr/>
                    <a:lstStyle/>
                    <a:p>
                      <a:pPr>
                        <a:buNone/>
                      </a:pPr>
                      <a:r>
                        <a:rPr lang="en-CA" sz="950" b="1" noProof="0">
                          <a:solidFill>
                            <a:schemeClr val="bg1"/>
                          </a:solidFill>
                          <a:effectLst/>
                          <a:latin typeface="Graphik" panose="020B0503030202060203" pitchFamily="34" charset="0"/>
                        </a:rPr>
                        <a:t>Organization / Org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consolidated view of structured legal entities such as employers, sponsors, advisor firms, and partner organizations.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Individual people, dependents, or employee‑specific records.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from Party 360; captures organizational hierarchies and inter‑entity relationships.</a:t>
                      </a:r>
                    </a:p>
                  </a:txBody>
                  <a:tcPr marL="17445" marR="17445" marT="8722" marB="8722" anchor="ctr">
                    <a:solidFill>
                      <a:schemeClr val="bg1">
                        <a:lumMod val="95000"/>
                      </a:schemeClr>
                    </a:solidFill>
                  </a:tcPr>
                </a:tc>
                <a:extLst>
                  <a:ext uri="{0D108BD9-81ED-4DB2-BD59-A6C34878D82A}">
                    <a16:rowId xmlns:a16="http://schemas.microsoft.com/office/drawing/2014/main" val="2696184564"/>
                  </a:ext>
                </a:extLst>
              </a:tr>
              <a:tr h="436123">
                <a:tc>
                  <a:txBody>
                    <a:bodyPr/>
                    <a:lstStyle/>
                    <a:p>
                      <a:pPr>
                        <a:buNone/>
                      </a:pPr>
                      <a:r>
                        <a:rPr lang="en-CA" sz="950" b="1" noProof="0">
                          <a:solidFill>
                            <a:schemeClr val="bg1"/>
                          </a:solidFill>
                          <a:effectLst/>
                          <a:latin typeface="Graphik" panose="020B0503030202060203" pitchFamily="34" charset="0"/>
                        </a:rPr>
                        <a:t>Customer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Parties—individuals or organizations—that generate revenue for the enterprise.</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Non‑revenue roles such as employees, internal users, or advisors not acting in a customer capacity.</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purpose‑specific derived view focused on revenue and relationship management; supports commercial and marketing decisions.</a:t>
                      </a:r>
                    </a:p>
                  </a:txBody>
                  <a:tcPr marL="17445" marR="17445" marT="8722" marB="8722" anchor="ctr">
                    <a:solidFill>
                      <a:schemeClr val="bg1">
                        <a:lumMod val="95000"/>
                      </a:schemeClr>
                    </a:solidFill>
                  </a:tcPr>
                </a:tc>
                <a:extLst>
                  <a:ext uri="{0D108BD9-81ED-4DB2-BD59-A6C34878D82A}">
                    <a16:rowId xmlns:a16="http://schemas.microsoft.com/office/drawing/2014/main" val="3731209518"/>
                  </a:ext>
                </a:extLst>
              </a:tr>
              <a:tr h="383788">
                <a:tc>
                  <a:txBody>
                    <a:bodyPr/>
                    <a:lstStyle/>
                    <a:p>
                      <a:pPr>
                        <a:buNone/>
                      </a:pPr>
                      <a:r>
                        <a:rPr lang="en-CA" sz="950" b="1" noProof="0">
                          <a:solidFill>
                            <a:schemeClr val="bg1"/>
                          </a:solidFill>
                          <a:effectLst/>
                          <a:latin typeface="Graphik" panose="020B0503030202060203" pitchFamily="34" charset="0"/>
                        </a:rPr>
                        <a:t>Advisor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Individuals or organizations acting as licensed intermediaries or professional advisors.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Parties with no advisory role, including employees or beneficiaries.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filtered from Party 360; supports sales enablement, distribution management, and regulatory oversight.</a:t>
                      </a:r>
                    </a:p>
                  </a:txBody>
                  <a:tcPr marL="17445" marR="17445" marT="8722" marB="8722" anchor="ctr">
                    <a:solidFill>
                      <a:schemeClr val="bg1">
                        <a:lumMod val="95000"/>
                      </a:schemeClr>
                    </a:solidFill>
                  </a:tcPr>
                </a:tc>
                <a:extLst>
                  <a:ext uri="{0D108BD9-81ED-4DB2-BD59-A6C34878D82A}">
                    <a16:rowId xmlns:a16="http://schemas.microsoft.com/office/drawing/2014/main" val="2903812086"/>
                  </a:ext>
                </a:extLst>
              </a:tr>
              <a:tr h="331454">
                <a:tc>
                  <a:txBody>
                    <a:bodyPr/>
                    <a:lstStyle/>
                    <a:p>
                      <a:pPr>
                        <a:buNone/>
                      </a:pPr>
                      <a:r>
                        <a:rPr lang="en-CA" sz="950" b="1" noProof="0">
                          <a:solidFill>
                            <a:schemeClr val="bg1"/>
                          </a:solidFill>
                          <a:effectLst/>
                          <a:latin typeface="Graphik" panose="020B0503030202060203" pitchFamily="34" charset="0"/>
                        </a:rPr>
                        <a:t>Sponsor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Organizations that fund, sponsor, or administer plans or services.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Individuals or organizations without sponsorship responsibilities.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filtered from Party 360; supports plan governance, funding oversight, and financial controls.</a:t>
                      </a:r>
                    </a:p>
                  </a:txBody>
                  <a:tcPr marL="17445" marR="17445" marT="8722" marB="8722" anchor="ctr">
                    <a:solidFill>
                      <a:schemeClr val="bg1">
                        <a:lumMod val="95000"/>
                      </a:schemeClr>
                    </a:solidFill>
                  </a:tcPr>
                </a:tc>
                <a:extLst>
                  <a:ext uri="{0D108BD9-81ED-4DB2-BD59-A6C34878D82A}">
                    <a16:rowId xmlns:a16="http://schemas.microsoft.com/office/drawing/2014/main" val="18541239"/>
                  </a:ext>
                </a:extLst>
              </a:tr>
              <a:tr h="383788">
                <a:tc>
                  <a:txBody>
                    <a:bodyPr/>
                    <a:lstStyle/>
                    <a:p>
                      <a:pPr>
                        <a:buNone/>
                      </a:pPr>
                      <a:r>
                        <a:rPr lang="en-CA" sz="950" b="1" noProof="0">
                          <a:solidFill>
                            <a:schemeClr val="bg1"/>
                          </a:solidFill>
                          <a:effectLst/>
                          <a:latin typeface="Graphik" panose="020B0503030202060203" pitchFamily="34" charset="0"/>
                        </a:rPr>
                        <a:t>Employee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comprehensive view of enterprise employees, including identity, roles, access, performance, and training.</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External advisors, contractors, service providers, or beneficiaries.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operational view from Party 360; supports HR operations, compliance, and workforce planning.</a:t>
                      </a:r>
                    </a:p>
                  </a:txBody>
                  <a:tcPr marL="17445" marR="17445" marT="8722" marB="8722" anchor="ctr">
                    <a:solidFill>
                      <a:schemeClr val="bg1">
                        <a:lumMod val="95000"/>
                      </a:schemeClr>
                    </a:solidFill>
                  </a:tcPr>
                </a:tc>
                <a:extLst>
                  <a:ext uri="{0D108BD9-81ED-4DB2-BD59-A6C34878D82A}">
                    <a16:rowId xmlns:a16="http://schemas.microsoft.com/office/drawing/2014/main" val="3791581491"/>
                  </a:ext>
                </a:extLst>
              </a:tr>
              <a:tr h="436123">
                <a:tc>
                  <a:txBody>
                    <a:bodyPr/>
                    <a:lstStyle/>
                    <a:p>
                      <a:pPr>
                        <a:buNone/>
                      </a:pPr>
                      <a:r>
                        <a:rPr lang="en-CA" sz="950" b="1" noProof="0">
                          <a:solidFill>
                            <a:schemeClr val="bg1"/>
                          </a:solidFill>
                          <a:effectLst/>
                          <a:latin typeface="Graphik" panose="020B0503030202060203" pitchFamily="34" charset="0"/>
                        </a:rPr>
                        <a:t>Service Provider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External or networked service providers engaged by the enterprise.</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Parties not delivering services to the organization.</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filtered from Party 360; supports provider management, network operations, and quality oversight.</a:t>
                      </a:r>
                    </a:p>
                  </a:txBody>
                  <a:tcPr marL="17445" marR="17445" marT="8722" marB="8722" anchor="ctr">
                    <a:solidFill>
                      <a:schemeClr val="bg1">
                        <a:lumMod val="95000"/>
                      </a:schemeClr>
                    </a:solidFill>
                  </a:tcPr>
                </a:tc>
                <a:extLst>
                  <a:ext uri="{0D108BD9-81ED-4DB2-BD59-A6C34878D82A}">
                    <a16:rowId xmlns:a16="http://schemas.microsoft.com/office/drawing/2014/main" val="808391335"/>
                  </a:ext>
                </a:extLst>
              </a:tr>
              <a:tr h="383788">
                <a:tc>
                  <a:txBody>
                    <a:bodyPr/>
                    <a:lstStyle/>
                    <a:p>
                      <a:pPr>
                        <a:buNone/>
                      </a:pPr>
                      <a:r>
                        <a:rPr lang="en-CA" sz="950" b="1" noProof="0">
                          <a:solidFill>
                            <a:schemeClr val="bg1"/>
                          </a:solidFill>
                          <a:effectLst/>
                          <a:latin typeface="Graphik" panose="020B0503030202060203" pitchFamily="34" charset="0"/>
                        </a:rPr>
                        <a:t>Beneficiary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Individuals or parties receiving benefits under enterprise plans or programs.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Employees, sponsors, advisors, or unrelated organizations.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filtered from Party 360; supports benefit administration and regulatory compliance.</a:t>
                      </a:r>
                    </a:p>
                  </a:txBody>
                  <a:tcPr marL="17445" marR="17445" marT="8722" marB="8722" anchor="ctr">
                    <a:solidFill>
                      <a:schemeClr val="bg1">
                        <a:lumMod val="95000"/>
                      </a:schemeClr>
                    </a:solidFill>
                  </a:tcPr>
                </a:tc>
                <a:extLst>
                  <a:ext uri="{0D108BD9-81ED-4DB2-BD59-A6C34878D82A}">
                    <a16:rowId xmlns:a16="http://schemas.microsoft.com/office/drawing/2014/main" val="4011212145"/>
                  </a:ext>
                </a:extLst>
              </a:tr>
              <a:tr h="331454">
                <a:tc>
                  <a:txBody>
                    <a:bodyPr/>
                    <a:lstStyle/>
                    <a:p>
                      <a:pPr>
                        <a:buNone/>
                      </a:pPr>
                      <a:r>
                        <a:rPr lang="en-CA" sz="950" b="1" noProof="0">
                          <a:solidFill>
                            <a:schemeClr val="bg1"/>
                          </a:solidFill>
                          <a:effectLst/>
                          <a:latin typeface="Graphik" panose="020B0503030202060203" pitchFamily="34" charset="0"/>
                        </a:rPr>
                        <a:t>Member / Participant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Individuals enrolled in enterprise programs or plans.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Non‑participants or individuals without active enrollment.</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filtered from Party 360; supports participation tracking and program management.</a:t>
                      </a:r>
                    </a:p>
                  </a:txBody>
                  <a:tcPr marL="17445" marR="17445" marT="8722" marB="8722" anchor="ctr">
                    <a:solidFill>
                      <a:schemeClr val="bg1">
                        <a:lumMod val="95000"/>
                      </a:schemeClr>
                    </a:solidFill>
                  </a:tcPr>
                </a:tc>
                <a:extLst>
                  <a:ext uri="{0D108BD9-81ED-4DB2-BD59-A6C34878D82A}">
                    <a16:rowId xmlns:a16="http://schemas.microsoft.com/office/drawing/2014/main" val="2347773426"/>
                  </a:ext>
                </a:extLst>
              </a:tr>
              <a:tr h="331454">
                <a:tc>
                  <a:txBody>
                    <a:bodyPr/>
                    <a:lstStyle/>
                    <a:p>
                      <a:pPr>
                        <a:buNone/>
                      </a:pPr>
                      <a:r>
                        <a:rPr lang="en-CA" sz="950" b="1" noProof="0">
                          <a:solidFill>
                            <a:schemeClr val="bg1"/>
                          </a:solidFill>
                          <a:effectLst/>
                          <a:latin typeface="Graphik" panose="020B0503030202060203" pitchFamily="34" charset="0"/>
                        </a:rPr>
                        <a:t>Prospect 360</a:t>
                      </a:r>
                      <a:endParaRPr lang="en-CA" sz="950" noProof="0">
                        <a:solidFill>
                          <a:schemeClr val="bg1"/>
                        </a:solidFill>
                        <a:effectLst/>
                        <a:latin typeface="Graphik" panose="020B0503030202060203" pitchFamily="34" charset="0"/>
                      </a:endParaRPr>
                    </a:p>
                  </a:txBody>
                  <a:tcPr marL="17445" marR="17445" marT="8722" marB="8722" anchor="ctr">
                    <a:solidFill>
                      <a:schemeClr val="tx2">
                        <a:lumMod val="75000"/>
                      </a:schemeClr>
                    </a:solidFill>
                  </a:tcPr>
                </a:tc>
                <a:tc>
                  <a:txBody>
                    <a:bodyPr/>
                    <a:lstStyle/>
                    <a:p>
                      <a:pPr>
                        <a:buNone/>
                      </a:pPr>
                      <a:r>
                        <a:rPr lang="en-CA" sz="950" noProof="0">
                          <a:solidFill>
                            <a:schemeClr val="tx1">
                              <a:lumMod val="50000"/>
                            </a:schemeClr>
                          </a:solidFill>
                          <a:effectLst/>
                          <a:latin typeface="Graphik" panose="020B0503030202060203" pitchFamily="34" charset="0"/>
                        </a:rPr>
                        <a:t>Individuals or organizations identified for future engagement or conversion.</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Existing customers, employees, or active advisors.</a:t>
                      </a:r>
                    </a:p>
                  </a:txBody>
                  <a:tcPr marL="17445" marR="17445" marT="8722" marB="8722" anchor="ctr">
                    <a:solidFill>
                      <a:schemeClr val="bg1">
                        <a:lumMod val="95000"/>
                      </a:schemeClr>
                    </a:solidFill>
                  </a:tcPr>
                </a:tc>
                <a:tc>
                  <a:txBody>
                    <a:bodyPr/>
                    <a:lstStyle/>
                    <a:p>
                      <a:pPr>
                        <a:buNone/>
                      </a:pPr>
                      <a:r>
                        <a:rPr lang="en-CA" sz="950" noProof="0">
                          <a:solidFill>
                            <a:schemeClr val="tx1">
                              <a:lumMod val="50000"/>
                            </a:schemeClr>
                          </a:solidFill>
                          <a:effectLst/>
                          <a:latin typeface="Graphik" panose="020B0503030202060203" pitchFamily="34" charset="0"/>
                        </a:rPr>
                        <a:t>A derived view filtered from Party 360; supports marketing, sales pipeline, and growth initiatives.</a:t>
                      </a:r>
                    </a:p>
                  </a:txBody>
                  <a:tcPr marL="17445" marR="17445" marT="8722" marB="8722" anchor="ctr">
                    <a:solidFill>
                      <a:schemeClr val="bg1">
                        <a:lumMod val="95000"/>
                      </a:schemeClr>
                    </a:solidFill>
                  </a:tcPr>
                </a:tc>
                <a:extLst>
                  <a:ext uri="{0D108BD9-81ED-4DB2-BD59-A6C34878D82A}">
                    <a16:rowId xmlns:a16="http://schemas.microsoft.com/office/drawing/2014/main" val="145038916"/>
                  </a:ext>
                </a:extLst>
              </a:tr>
            </a:tbl>
          </a:graphicData>
        </a:graphic>
      </p:graphicFrame>
    </p:spTree>
    <p:extLst>
      <p:ext uri="{BB962C8B-B14F-4D97-AF65-F5344CB8AC3E}">
        <p14:creationId xmlns:p14="http://schemas.microsoft.com/office/powerpoint/2010/main" val="3642039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96D5D-158E-A339-31FC-97B0FC20780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10C18CE-B543-1A25-1727-DD2859415798}"/>
              </a:ext>
            </a:extLst>
          </p:cNvPr>
          <p:cNvSpPr>
            <a:spLocks noGrp="1"/>
          </p:cNvSpPr>
          <p:nvPr>
            <p:ph type="title"/>
          </p:nvPr>
        </p:nvSpPr>
        <p:spPr/>
        <p:txBody>
          <a:bodyPr/>
          <a:lstStyle/>
          <a:p>
            <a:r>
              <a:rPr lang="en-CA" noProof="0">
                <a:latin typeface="Graphik" panose="020B0503030202060203" pitchFamily="34" charset="0"/>
              </a:rPr>
              <a:t>Enterprise Data Principles</a:t>
            </a:r>
          </a:p>
        </p:txBody>
      </p:sp>
      <p:sp>
        <p:nvSpPr>
          <p:cNvPr id="8" name="Text Placeholder 7">
            <a:extLst>
              <a:ext uri="{FF2B5EF4-FFF2-40B4-BE49-F238E27FC236}">
                <a16:creationId xmlns:a16="http://schemas.microsoft.com/office/drawing/2014/main" id="{B367F6FD-5EE4-B401-585C-51D71C4F3E57}"/>
              </a:ext>
            </a:extLst>
          </p:cNvPr>
          <p:cNvSpPr>
            <a:spLocks noGrp="1"/>
          </p:cNvSpPr>
          <p:nvPr>
            <p:ph type="body" idx="1"/>
          </p:nvPr>
        </p:nvSpPr>
        <p:spPr/>
        <p:txBody>
          <a:bodyPr/>
          <a:lstStyle/>
          <a:p>
            <a:r>
              <a:rPr lang="en-CA" noProof="0">
                <a:latin typeface="Graphik" panose="020B0503030202060203" pitchFamily="34" charset="0"/>
              </a:rPr>
              <a:t> </a:t>
            </a:r>
          </a:p>
        </p:txBody>
      </p:sp>
      <p:sp>
        <p:nvSpPr>
          <p:cNvPr id="4" name="Date Placeholder 3">
            <a:extLst>
              <a:ext uri="{FF2B5EF4-FFF2-40B4-BE49-F238E27FC236}">
                <a16:creationId xmlns:a16="http://schemas.microsoft.com/office/drawing/2014/main" id="{1A7245D3-4C19-A82C-F97F-4F8E083A3A4B}"/>
              </a:ext>
            </a:extLst>
          </p:cNvPr>
          <p:cNvSpPr>
            <a:spLocks noGrp="1"/>
          </p:cNvSpPr>
          <p:nvPr>
            <p:ph type="dt" sz="half" idx="10"/>
          </p:nvPr>
        </p:nvSpPr>
        <p:spPr/>
        <p:txBody>
          <a:bodyPr/>
          <a:lstStyle/>
          <a:p>
            <a:fld id="{E6E11EAE-16B7-464E-91D8-413C5CE9C268}" type="datetime4">
              <a:rPr lang="en-CA" noProof="0" smtClean="0">
                <a:latin typeface="Graphik" panose="020B0503030202060203" pitchFamily="34" charset="0"/>
              </a:rPr>
              <a:t>August 10, 2026</a:t>
            </a:fld>
            <a:endParaRPr lang="en-CA" noProof="0">
              <a:latin typeface="Graphik" panose="020B0503030202060203" pitchFamily="34" charset="0"/>
            </a:endParaRPr>
          </a:p>
        </p:txBody>
      </p:sp>
      <p:sp>
        <p:nvSpPr>
          <p:cNvPr id="5" name="Footer Placeholder 4">
            <a:extLst>
              <a:ext uri="{FF2B5EF4-FFF2-40B4-BE49-F238E27FC236}">
                <a16:creationId xmlns:a16="http://schemas.microsoft.com/office/drawing/2014/main" id="{1CC68B3D-3BFB-CA11-1805-F6000577B689}"/>
              </a:ext>
            </a:extLst>
          </p:cNvPr>
          <p:cNvSpPr>
            <a:spLocks noGrp="1"/>
          </p:cNvSpPr>
          <p:nvPr>
            <p:ph type="ftr" sz="quarter" idx="11"/>
          </p:nvPr>
        </p:nvSpPr>
        <p:spPr/>
        <p:txBody>
          <a:bodyPr/>
          <a:lstStyle/>
          <a:p>
            <a:r>
              <a:rPr lang="en-CA" noProof="0">
                <a:latin typeface="Graphik" panose="020B0503030202060203" pitchFamily="34" charset="0"/>
              </a:rPr>
              <a:t> </a:t>
            </a:r>
          </a:p>
        </p:txBody>
      </p:sp>
      <p:sp>
        <p:nvSpPr>
          <p:cNvPr id="6" name="Slide Number Placeholder 5">
            <a:extLst>
              <a:ext uri="{FF2B5EF4-FFF2-40B4-BE49-F238E27FC236}">
                <a16:creationId xmlns:a16="http://schemas.microsoft.com/office/drawing/2014/main" id="{0BF64853-C42E-C942-16F2-E79CBB9F3013}"/>
              </a:ext>
            </a:extLst>
          </p:cNvPr>
          <p:cNvSpPr>
            <a:spLocks noGrp="1"/>
          </p:cNvSpPr>
          <p:nvPr>
            <p:ph type="sldNum" sz="quarter" idx="12"/>
          </p:nvPr>
        </p:nvSpPr>
        <p:spPr/>
        <p:txBody>
          <a:bodyPr/>
          <a:lstStyle/>
          <a:p>
            <a:fld id="{3CBD822F-ED39-4FC2-B5B5-D2EAB6238DC3}" type="slidenum">
              <a:rPr lang="en-CA" noProof="0" smtClean="0">
                <a:latin typeface="Graphik" panose="020B0503030202060203" pitchFamily="34" charset="0"/>
              </a:rPr>
              <a:pPr/>
              <a:t>25</a:t>
            </a:fld>
            <a:endParaRPr lang="en-CA" noProof="0">
              <a:latin typeface="Graphik" panose="020B0503030202060203" pitchFamily="34" charset="0"/>
            </a:endParaRPr>
          </a:p>
        </p:txBody>
      </p:sp>
    </p:spTree>
    <p:extLst>
      <p:ext uri="{BB962C8B-B14F-4D97-AF65-F5344CB8AC3E}">
        <p14:creationId xmlns:p14="http://schemas.microsoft.com/office/powerpoint/2010/main" val="4264872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0968C-BF9A-1329-AC9E-118B71635909}"/>
            </a:ext>
          </a:extLst>
        </p:cNvPr>
        <p:cNvGrpSpPr/>
        <p:nvPr/>
      </p:nvGrpSpPr>
      <p:grpSpPr>
        <a:xfrm>
          <a:off x="0" y="0"/>
          <a:ext cx="0" cy="0"/>
          <a:chOff x="0" y="0"/>
          <a:chExt cx="0" cy="0"/>
        </a:xfrm>
      </p:grpSpPr>
      <p:sp>
        <p:nvSpPr>
          <p:cNvPr id="40" name="Rectangle: Rounded Corners 39">
            <a:extLst>
              <a:ext uri="{FF2B5EF4-FFF2-40B4-BE49-F238E27FC236}">
                <a16:creationId xmlns:a16="http://schemas.microsoft.com/office/drawing/2014/main" id="{A4DDE254-53E9-20E6-6464-2DBEC3DD8DCF}"/>
              </a:ext>
            </a:extLst>
          </p:cNvPr>
          <p:cNvSpPr/>
          <p:nvPr/>
        </p:nvSpPr>
        <p:spPr>
          <a:xfrm>
            <a:off x="102000" y="1149184"/>
            <a:ext cx="11988000" cy="2340000"/>
          </a:xfrm>
          <a:prstGeom prst="roundRect">
            <a:avLst>
              <a:gd name="adj" fmla="val 2941"/>
            </a:avLst>
          </a:prstGeom>
          <a:solidFill>
            <a:srgbClr val="FFE7ED"/>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2" name="Title 1">
            <a:extLst>
              <a:ext uri="{FF2B5EF4-FFF2-40B4-BE49-F238E27FC236}">
                <a16:creationId xmlns:a16="http://schemas.microsoft.com/office/drawing/2014/main" id="{CF8D78B1-6AA6-2671-EB9F-53FC716F12C5}"/>
              </a:ext>
            </a:extLst>
          </p:cNvPr>
          <p:cNvSpPr>
            <a:spLocks noGrp="1"/>
          </p:cNvSpPr>
          <p:nvPr>
            <p:ph type="title"/>
          </p:nvPr>
        </p:nvSpPr>
        <p:spPr>
          <a:xfrm>
            <a:off x="192024" y="301752"/>
            <a:ext cx="11412000" cy="405102"/>
          </a:xfrm>
        </p:spPr>
        <p:txBody>
          <a:bodyPr/>
          <a:lstStyle/>
          <a:p>
            <a:r>
              <a:rPr lang="en-CA" b="1" noProof="0">
                <a:latin typeface="+mj-lt"/>
              </a:rPr>
              <a:t>1. Canada Life Data Principles – Framework</a:t>
            </a:r>
          </a:p>
        </p:txBody>
      </p:sp>
      <p:sp>
        <p:nvSpPr>
          <p:cNvPr id="3" name="Slide Number Placeholder 2">
            <a:extLst>
              <a:ext uri="{FF2B5EF4-FFF2-40B4-BE49-F238E27FC236}">
                <a16:creationId xmlns:a16="http://schemas.microsoft.com/office/drawing/2014/main" id="{3D9E07BA-A2B4-AFCA-0F37-B31826CA29B2}"/>
              </a:ext>
            </a:extLst>
          </p:cNvPr>
          <p:cNvSpPr>
            <a:spLocks noGrp="1"/>
          </p:cNvSpPr>
          <p:nvPr>
            <p:ph type="sldNum" sz="quarter" idx="12"/>
          </p:nvPr>
        </p:nvSpPr>
        <p:spPr/>
        <p:txBody>
          <a:bodyPr/>
          <a:lstStyle/>
          <a:p>
            <a:fld id="{3CBD822F-ED39-4FC2-B5B5-D2EAB6238DC3}" type="slidenum">
              <a:rPr lang="en-CA" noProof="0" smtClean="0">
                <a:latin typeface="+mn-lt"/>
              </a:rPr>
              <a:pPr/>
              <a:t>26</a:t>
            </a:fld>
            <a:endParaRPr lang="en-CA" noProof="0">
              <a:latin typeface="+mn-lt"/>
            </a:endParaRPr>
          </a:p>
        </p:txBody>
      </p:sp>
      <p:sp>
        <p:nvSpPr>
          <p:cNvPr id="4" name="Text Placeholder 3">
            <a:extLst>
              <a:ext uri="{FF2B5EF4-FFF2-40B4-BE49-F238E27FC236}">
                <a16:creationId xmlns:a16="http://schemas.microsoft.com/office/drawing/2014/main" id="{CCA24BB2-6F81-1BD3-15C5-245570FE9CB7}"/>
              </a:ext>
            </a:extLst>
          </p:cNvPr>
          <p:cNvSpPr>
            <a:spLocks noGrp="1"/>
          </p:cNvSpPr>
          <p:nvPr>
            <p:ph type="body" sz="quarter" idx="13"/>
          </p:nvPr>
        </p:nvSpPr>
        <p:spPr>
          <a:xfrm>
            <a:off x="192024" y="612648"/>
            <a:ext cx="11412000" cy="288147"/>
          </a:xfrm>
        </p:spPr>
        <p:txBody>
          <a:bodyPr/>
          <a:lstStyle/>
          <a:p>
            <a:r>
              <a:rPr lang="en-CA" noProof="0">
                <a:latin typeface="+mn-lt"/>
              </a:rPr>
              <a:t>A unified framework guiding how data is created, governed, and used across the enterprise</a:t>
            </a:r>
          </a:p>
        </p:txBody>
      </p:sp>
      <p:grpSp>
        <p:nvGrpSpPr>
          <p:cNvPr id="25" name="Group 24">
            <a:extLst>
              <a:ext uri="{FF2B5EF4-FFF2-40B4-BE49-F238E27FC236}">
                <a16:creationId xmlns:a16="http://schemas.microsoft.com/office/drawing/2014/main" id="{0FF03625-FC21-460D-9760-C96C025561A9}"/>
              </a:ext>
            </a:extLst>
          </p:cNvPr>
          <p:cNvGrpSpPr/>
          <p:nvPr/>
        </p:nvGrpSpPr>
        <p:grpSpPr>
          <a:xfrm>
            <a:off x="209187" y="1886940"/>
            <a:ext cx="2808000" cy="1440000"/>
            <a:chOff x="188661" y="1607454"/>
            <a:chExt cx="2808000" cy="1440000"/>
          </a:xfrm>
        </p:grpSpPr>
        <p:sp>
          <p:nvSpPr>
            <p:cNvPr id="6" name="Rectangle: Rounded Corners 5">
              <a:extLst>
                <a:ext uri="{FF2B5EF4-FFF2-40B4-BE49-F238E27FC236}">
                  <a16:creationId xmlns:a16="http://schemas.microsoft.com/office/drawing/2014/main" id="{D63C4E4B-BF72-A33B-E255-4B6D05617E3C}"/>
                </a:ext>
              </a:extLst>
            </p:cNvPr>
            <p:cNvSpPr/>
            <p:nvPr/>
          </p:nvSpPr>
          <p:spPr>
            <a:xfrm>
              <a:off x="188661" y="1607454"/>
              <a:ext cx="2808000" cy="1440000"/>
            </a:xfrm>
            <a:prstGeom prst="roundRect">
              <a:avLst>
                <a:gd name="adj" fmla="val 6033"/>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0" name="Rectangle: Rounded Corners 9">
              <a:extLst>
                <a:ext uri="{FF2B5EF4-FFF2-40B4-BE49-F238E27FC236}">
                  <a16:creationId xmlns:a16="http://schemas.microsoft.com/office/drawing/2014/main" id="{4107889E-A2C8-68CA-A5E4-B29F6B86072D}"/>
                </a:ext>
              </a:extLst>
            </p:cNvPr>
            <p:cNvSpPr/>
            <p:nvPr/>
          </p:nvSpPr>
          <p:spPr>
            <a:xfrm>
              <a:off x="188661" y="1607454"/>
              <a:ext cx="2808000" cy="540000"/>
            </a:xfrm>
            <a:prstGeom prst="round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lnSpc>
                  <a:spcPct val="115000"/>
                </a:lnSpc>
                <a:spcAft>
                  <a:spcPts val="800"/>
                </a:spcAft>
              </a:pPr>
              <a:r>
                <a:rPr lang="en-CA" sz="1400" b="1" kern="100" noProof="0">
                  <a:solidFill>
                    <a:schemeClr val="bg1"/>
                  </a:solidFill>
                </a:rPr>
                <a:t>Business / Strategic Principles</a:t>
              </a:r>
              <a:endParaRPr lang="en-CA" sz="1400" b="1" kern="100" noProof="0">
                <a:solidFill>
                  <a:schemeClr val="bg1"/>
                </a:solidFill>
                <a:ea typeface="Aptos" panose="020B000402020202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58D50F2C-BB52-7505-6B84-E666CC8B8CF1}"/>
                </a:ext>
              </a:extLst>
            </p:cNvPr>
            <p:cNvSpPr txBox="1"/>
            <p:nvPr/>
          </p:nvSpPr>
          <p:spPr>
            <a:xfrm>
              <a:off x="188661" y="2147454"/>
              <a:ext cx="2808000" cy="69940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108000" rIns="72000" bIns="36000" rtlCol="0" anchor="t" anchorCtr="0">
              <a:spAutoFit/>
            </a:bodyPr>
            <a:lstStyle/>
            <a:p>
              <a:r>
                <a:rPr lang="en-CA" sz="1200" noProof="0">
                  <a:solidFill>
                    <a:schemeClr val="bg2">
                      <a:lumMod val="10000"/>
                    </a:schemeClr>
                  </a:solidFill>
                  <a:ea typeface="Arial" pitchFamily="34" charset="-122"/>
                  <a:cs typeface="Arial" pitchFamily="34" charset="-120"/>
                </a:rPr>
                <a:t>Define what must be true for data to deliver business value, accountability, and leadership confidence. </a:t>
              </a:r>
            </a:p>
          </p:txBody>
        </p:sp>
      </p:grpSp>
      <p:grpSp>
        <p:nvGrpSpPr>
          <p:cNvPr id="35" name="Group 34">
            <a:extLst>
              <a:ext uri="{FF2B5EF4-FFF2-40B4-BE49-F238E27FC236}">
                <a16:creationId xmlns:a16="http://schemas.microsoft.com/office/drawing/2014/main" id="{A242A05B-8D8C-8868-4577-35EEF2CB5636}"/>
              </a:ext>
            </a:extLst>
          </p:cNvPr>
          <p:cNvGrpSpPr/>
          <p:nvPr/>
        </p:nvGrpSpPr>
        <p:grpSpPr>
          <a:xfrm>
            <a:off x="3197729" y="1886940"/>
            <a:ext cx="2808000" cy="1440000"/>
            <a:chOff x="9154288" y="1607454"/>
            <a:chExt cx="2808000" cy="1440000"/>
          </a:xfrm>
        </p:grpSpPr>
        <p:sp>
          <p:nvSpPr>
            <p:cNvPr id="14" name="Rectangle: Rounded Corners 13">
              <a:extLst>
                <a:ext uri="{FF2B5EF4-FFF2-40B4-BE49-F238E27FC236}">
                  <a16:creationId xmlns:a16="http://schemas.microsoft.com/office/drawing/2014/main" id="{495CB5EE-69E9-0FCC-D519-CF6CE61AE2C4}"/>
                </a:ext>
              </a:extLst>
            </p:cNvPr>
            <p:cNvSpPr/>
            <p:nvPr/>
          </p:nvSpPr>
          <p:spPr>
            <a:xfrm>
              <a:off x="9154288" y="1607454"/>
              <a:ext cx="2808000" cy="1440000"/>
            </a:xfrm>
            <a:prstGeom prst="roundRect">
              <a:avLst>
                <a:gd name="adj" fmla="val 586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5" name="Rectangle: Rounded Corners 14">
              <a:extLst>
                <a:ext uri="{FF2B5EF4-FFF2-40B4-BE49-F238E27FC236}">
                  <a16:creationId xmlns:a16="http://schemas.microsoft.com/office/drawing/2014/main" id="{4C6FB048-E2E1-C100-D2B3-747672CEC5B4}"/>
                </a:ext>
              </a:extLst>
            </p:cNvPr>
            <p:cNvSpPr/>
            <p:nvPr/>
          </p:nvSpPr>
          <p:spPr>
            <a:xfrm>
              <a:off x="9154288" y="1607454"/>
              <a:ext cx="2808000" cy="540000"/>
            </a:xfrm>
            <a:prstGeom prst="round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lnSpc>
                  <a:spcPct val="115000"/>
                </a:lnSpc>
                <a:spcAft>
                  <a:spcPts val="800"/>
                </a:spcAft>
              </a:pPr>
              <a:r>
                <a:rPr lang="en-CA" sz="1400" b="1" kern="100" noProof="0">
                  <a:solidFill>
                    <a:schemeClr val="bg1"/>
                  </a:solidFill>
                </a:rPr>
                <a:t>Trust, Governance &amp; Security Principles</a:t>
              </a:r>
              <a:endParaRPr lang="en-CA" sz="1400" b="1" kern="100" noProof="0">
                <a:solidFill>
                  <a:schemeClr val="bg1"/>
                </a:solidFill>
                <a:ea typeface="Aptos" panose="020B0004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82BC04B0-E4F5-5235-15AD-80613A29D2FF}"/>
                </a:ext>
              </a:extLst>
            </p:cNvPr>
            <p:cNvSpPr txBox="1"/>
            <p:nvPr/>
          </p:nvSpPr>
          <p:spPr>
            <a:xfrm>
              <a:off x="9154288" y="2147454"/>
              <a:ext cx="2808000" cy="69940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108000" rIns="72000" bIns="36000" rtlCol="0" anchor="t" anchorCtr="0">
              <a:spAutoFit/>
            </a:bodyPr>
            <a:lstStyle/>
            <a:p>
              <a:r>
                <a:rPr lang="en-CA" sz="1200" noProof="0">
                  <a:solidFill>
                    <a:schemeClr val="bg2">
                      <a:lumMod val="10000"/>
                    </a:schemeClr>
                  </a:solidFill>
                  <a:ea typeface="Arial" pitchFamily="34" charset="-122"/>
                  <a:cs typeface="Arial" pitchFamily="34" charset="-120"/>
                </a:rPr>
                <a:t>Define what must be true for data to deliver business value, accountability, and leadership confidence. </a:t>
              </a:r>
            </a:p>
          </p:txBody>
        </p:sp>
      </p:grpSp>
      <p:grpSp>
        <p:nvGrpSpPr>
          <p:cNvPr id="27" name="Group 26">
            <a:extLst>
              <a:ext uri="{FF2B5EF4-FFF2-40B4-BE49-F238E27FC236}">
                <a16:creationId xmlns:a16="http://schemas.microsoft.com/office/drawing/2014/main" id="{F5FC2741-D466-8B2E-D5DE-465786E0EF0C}"/>
              </a:ext>
            </a:extLst>
          </p:cNvPr>
          <p:cNvGrpSpPr/>
          <p:nvPr/>
        </p:nvGrpSpPr>
        <p:grpSpPr>
          <a:xfrm>
            <a:off x="9174814" y="1886940"/>
            <a:ext cx="2808000" cy="1440000"/>
            <a:chOff x="6165745" y="1607454"/>
            <a:chExt cx="2808000" cy="1440000"/>
          </a:xfrm>
        </p:grpSpPr>
        <p:sp>
          <p:nvSpPr>
            <p:cNvPr id="17" name="Rectangle: Rounded Corners 16">
              <a:extLst>
                <a:ext uri="{FF2B5EF4-FFF2-40B4-BE49-F238E27FC236}">
                  <a16:creationId xmlns:a16="http://schemas.microsoft.com/office/drawing/2014/main" id="{CB5DAD6B-01EA-D73B-CF58-A134E13D2C9C}"/>
                </a:ext>
              </a:extLst>
            </p:cNvPr>
            <p:cNvSpPr/>
            <p:nvPr/>
          </p:nvSpPr>
          <p:spPr>
            <a:xfrm>
              <a:off x="6165745" y="1607454"/>
              <a:ext cx="2808000" cy="1440000"/>
            </a:xfrm>
            <a:prstGeom prst="roundRect">
              <a:avLst>
                <a:gd name="adj" fmla="val 6033"/>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18" name="Rectangle: Rounded Corners 17">
              <a:extLst>
                <a:ext uri="{FF2B5EF4-FFF2-40B4-BE49-F238E27FC236}">
                  <a16:creationId xmlns:a16="http://schemas.microsoft.com/office/drawing/2014/main" id="{D9C84970-385C-D7DE-454E-E6F283EBD413}"/>
                </a:ext>
              </a:extLst>
            </p:cNvPr>
            <p:cNvSpPr/>
            <p:nvPr/>
          </p:nvSpPr>
          <p:spPr>
            <a:xfrm>
              <a:off x="6165745" y="1607454"/>
              <a:ext cx="2808000" cy="540000"/>
            </a:xfrm>
            <a:prstGeom prst="round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lnSpc>
                  <a:spcPct val="115000"/>
                </a:lnSpc>
                <a:spcAft>
                  <a:spcPts val="800"/>
                </a:spcAft>
              </a:pPr>
              <a:r>
                <a:rPr lang="en-CA" sz="1400" b="1" kern="100" noProof="0">
                  <a:solidFill>
                    <a:schemeClr val="bg1"/>
                  </a:solidFill>
                </a:rPr>
                <a:t>Execution Principles</a:t>
              </a:r>
              <a:endParaRPr lang="en-CA" sz="1400" b="1" kern="100" noProof="0">
                <a:solidFill>
                  <a:schemeClr val="bg1"/>
                </a:solidFill>
                <a:ea typeface="Aptos" panose="020B000402020202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6CB898C8-854F-74ED-8F90-846B9EFDBEA6}"/>
                </a:ext>
              </a:extLst>
            </p:cNvPr>
            <p:cNvSpPr txBox="1"/>
            <p:nvPr/>
          </p:nvSpPr>
          <p:spPr>
            <a:xfrm>
              <a:off x="6165745" y="2147454"/>
              <a:ext cx="2808000" cy="69940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108000" rIns="72000" bIns="36000" rtlCol="0" anchor="t" anchorCtr="0">
              <a:spAutoFit/>
            </a:bodyPr>
            <a:lstStyle/>
            <a:p>
              <a:r>
                <a:rPr lang="en-CA" sz="1200" noProof="0">
                  <a:solidFill>
                    <a:schemeClr val="bg2">
                      <a:lumMod val="10000"/>
                    </a:schemeClr>
                  </a:solidFill>
                  <a:ea typeface="Arial" pitchFamily="34" charset="-122"/>
                  <a:cs typeface="Arial" pitchFamily="34" charset="-120"/>
                </a:rPr>
                <a:t>Define what must be true in delivery and operations to ensure consistency, speed, quality, and control.</a:t>
              </a:r>
            </a:p>
          </p:txBody>
        </p:sp>
      </p:grpSp>
      <p:grpSp>
        <p:nvGrpSpPr>
          <p:cNvPr id="26" name="Group 25">
            <a:extLst>
              <a:ext uri="{FF2B5EF4-FFF2-40B4-BE49-F238E27FC236}">
                <a16:creationId xmlns:a16="http://schemas.microsoft.com/office/drawing/2014/main" id="{C3C0844F-5DA3-A60A-7E09-7A126F5863F5}"/>
              </a:ext>
            </a:extLst>
          </p:cNvPr>
          <p:cNvGrpSpPr/>
          <p:nvPr/>
        </p:nvGrpSpPr>
        <p:grpSpPr>
          <a:xfrm>
            <a:off x="6186271" y="1886940"/>
            <a:ext cx="2808000" cy="1440000"/>
            <a:chOff x="3177203" y="1607454"/>
            <a:chExt cx="2808000" cy="1440000"/>
          </a:xfrm>
        </p:grpSpPr>
        <p:sp>
          <p:nvSpPr>
            <p:cNvPr id="20" name="Rectangle: Rounded Corners 19">
              <a:extLst>
                <a:ext uri="{FF2B5EF4-FFF2-40B4-BE49-F238E27FC236}">
                  <a16:creationId xmlns:a16="http://schemas.microsoft.com/office/drawing/2014/main" id="{1E28CD02-914B-9C4F-F8B8-E8659DAFC3FB}"/>
                </a:ext>
              </a:extLst>
            </p:cNvPr>
            <p:cNvSpPr/>
            <p:nvPr/>
          </p:nvSpPr>
          <p:spPr>
            <a:xfrm>
              <a:off x="3177203" y="1607454"/>
              <a:ext cx="2808000" cy="1440000"/>
            </a:xfrm>
            <a:prstGeom prst="roundRect">
              <a:avLst>
                <a:gd name="adj" fmla="val 5868"/>
              </a:avLst>
            </a:prstGeom>
            <a:solidFill>
              <a:schemeClr val="bg1">
                <a:lumMod val="95000"/>
              </a:schemeClr>
            </a:solid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21" name="Rectangle: Rounded Corners 20">
              <a:extLst>
                <a:ext uri="{FF2B5EF4-FFF2-40B4-BE49-F238E27FC236}">
                  <a16:creationId xmlns:a16="http://schemas.microsoft.com/office/drawing/2014/main" id="{9FD7F641-A8AF-243A-FBEC-645057D23384}"/>
                </a:ext>
              </a:extLst>
            </p:cNvPr>
            <p:cNvSpPr/>
            <p:nvPr/>
          </p:nvSpPr>
          <p:spPr>
            <a:xfrm>
              <a:off x="3177203" y="1607454"/>
              <a:ext cx="2808000" cy="540000"/>
            </a:xfrm>
            <a:prstGeom prst="round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lnSpc>
                  <a:spcPct val="115000"/>
                </a:lnSpc>
                <a:spcAft>
                  <a:spcPts val="800"/>
                </a:spcAft>
              </a:pPr>
              <a:r>
                <a:rPr lang="en-CA" sz="1400" b="1" kern="100" noProof="0">
                  <a:solidFill>
                    <a:schemeClr val="bg1"/>
                  </a:solidFill>
                </a:rPr>
                <a:t>Platform Architecture Principles</a:t>
              </a:r>
              <a:endParaRPr lang="en-CA" sz="1400" b="1" kern="100" noProof="0">
                <a:solidFill>
                  <a:schemeClr val="bg1"/>
                </a:solidFill>
                <a:ea typeface="Aptos" panose="020B000402020202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757F2F3C-DDC2-E60C-7119-63E923BC7758}"/>
                </a:ext>
              </a:extLst>
            </p:cNvPr>
            <p:cNvSpPr txBox="1"/>
            <p:nvPr/>
          </p:nvSpPr>
          <p:spPr>
            <a:xfrm>
              <a:off x="3177203" y="2147454"/>
              <a:ext cx="2808000" cy="884070"/>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108000" rIns="72000" bIns="36000" rtlCol="0" anchor="t" anchorCtr="0">
              <a:spAutoFit/>
            </a:bodyPr>
            <a:lstStyle/>
            <a:p>
              <a:r>
                <a:rPr lang="en-CA" sz="1200" noProof="0">
                  <a:solidFill>
                    <a:schemeClr val="bg2">
                      <a:lumMod val="10000"/>
                    </a:schemeClr>
                  </a:solidFill>
                  <a:ea typeface="Arial" pitchFamily="34" charset="-122"/>
                  <a:cs typeface="Arial" pitchFamily="34" charset="-120"/>
                </a:rPr>
                <a:t>Define what must be true in the data architecture to enable scale, reuse, interoperability, and secure data sharing.</a:t>
              </a:r>
            </a:p>
          </p:txBody>
        </p:sp>
      </p:grpSp>
      <p:sp>
        <p:nvSpPr>
          <p:cNvPr id="41" name="TextBox 40">
            <a:extLst>
              <a:ext uri="{FF2B5EF4-FFF2-40B4-BE49-F238E27FC236}">
                <a16:creationId xmlns:a16="http://schemas.microsoft.com/office/drawing/2014/main" id="{0D563DFF-6A87-EED3-35F9-CB8864CF9D18}"/>
              </a:ext>
            </a:extLst>
          </p:cNvPr>
          <p:cNvSpPr txBox="1"/>
          <p:nvPr/>
        </p:nvSpPr>
        <p:spPr>
          <a:xfrm>
            <a:off x="4466575" y="1146402"/>
            <a:ext cx="3258850" cy="318924"/>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ctr"/>
            <a:r>
              <a:rPr lang="en-CA" sz="1600" b="1" noProof="0">
                <a:solidFill>
                  <a:schemeClr val="tx2"/>
                </a:solidFill>
              </a:rPr>
              <a:t>The 4 Data Principles Pillars</a:t>
            </a:r>
          </a:p>
        </p:txBody>
      </p:sp>
      <p:sp>
        <p:nvSpPr>
          <p:cNvPr id="42" name="Text Placeholder 3">
            <a:extLst>
              <a:ext uri="{FF2B5EF4-FFF2-40B4-BE49-F238E27FC236}">
                <a16:creationId xmlns:a16="http://schemas.microsoft.com/office/drawing/2014/main" id="{70B627C6-8A7F-D101-E7AF-C2A3BE04A38F}"/>
              </a:ext>
            </a:extLst>
          </p:cNvPr>
          <p:cNvSpPr txBox="1">
            <a:spLocks/>
          </p:cNvSpPr>
          <p:nvPr/>
        </p:nvSpPr>
        <p:spPr>
          <a:xfrm>
            <a:off x="1956000" y="1468108"/>
            <a:ext cx="8280000" cy="257369"/>
          </a:xfrm>
          <a:prstGeom prst="rect">
            <a:avLst/>
          </a:prstGeom>
        </p:spPr>
        <p:txBody>
          <a:bodyPr vert="horz" wrap="square" lIns="72000" tIns="36000" rIns="72000" bIns="36000" rtlCol="0">
            <a:spAutoFit/>
          </a:bodyPr>
          <a:lstStyle>
            <a:lvl1pPr marL="0" indent="0" algn="l" defTabSz="914400" rtl="0" eaLnBrk="1" latinLnBrk="0" hangingPunct="1">
              <a:lnSpc>
                <a:spcPct val="100000"/>
              </a:lnSpc>
              <a:spcBef>
                <a:spcPts val="1000"/>
              </a:spcBef>
              <a:spcAft>
                <a:spcPts val="300"/>
              </a:spcAft>
              <a:buFont typeface="Arial" panose="020B0604020202020204" pitchFamily="34" charset="0"/>
              <a:buNone/>
              <a:defRPr sz="1400" kern="1200">
                <a:solidFill>
                  <a:schemeClr val="bg2">
                    <a:lumMod val="10000"/>
                  </a:schemeClr>
                </a:solidFill>
                <a:latin typeface="+mn-lt"/>
                <a:ea typeface="+mn-ea"/>
                <a:cs typeface="+mn-cs"/>
              </a:defRPr>
            </a:lvl1pPr>
            <a:lvl2pPr marL="685800" indent="-228600" algn="l" defTabSz="914400" rtl="0" eaLnBrk="1" latinLnBrk="0" hangingPunct="1">
              <a:lnSpc>
                <a:spcPct val="100000"/>
              </a:lnSpc>
              <a:spcBef>
                <a:spcPts val="500"/>
              </a:spcBef>
              <a:spcAft>
                <a:spcPts val="300"/>
              </a:spcAft>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300"/>
              </a:spcAft>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CA" sz="1200" noProof="0"/>
              <a:t>The following represent the four pillars which the North Platform will build and govern upon. </a:t>
            </a:r>
          </a:p>
        </p:txBody>
      </p:sp>
      <p:cxnSp>
        <p:nvCxnSpPr>
          <p:cNvPr id="44" name="Straight Connector 43">
            <a:extLst>
              <a:ext uri="{FF2B5EF4-FFF2-40B4-BE49-F238E27FC236}">
                <a16:creationId xmlns:a16="http://schemas.microsoft.com/office/drawing/2014/main" id="{9317C919-7EC7-89ED-0CB5-C86EE33D78DE}"/>
              </a:ext>
            </a:extLst>
          </p:cNvPr>
          <p:cNvCxnSpPr>
            <a:cxnSpLocks/>
          </p:cNvCxnSpPr>
          <p:nvPr/>
        </p:nvCxnSpPr>
        <p:spPr>
          <a:xfrm>
            <a:off x="2496000" y="1725477"/>
            <a:ext cx="7200000" cy="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72F795E-6C19-B6BF-D6C1-EB47C14C5703}"/>
              </a:ext>
            </a:extLst>
          </p:cNvPr>
          <p:cNvSpPr txBox="1"/>
          <p:nvPr/>
        </p:nvSpPr>
        <p:spPr>
          <a:xfrm>
            <a:off x="5055130" y="3659983"/>
            <a:ext cx="2584196"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400" b="1" noProof="0">
                <a:solidFill>
                  <a:schemeClr val="bg2">
                    <a:lumMod val="10000"/>
                  </a:schemeClr>
                </a:solidFill>
              </a:rPr>
              <a:t>Why have Data Principles?</a:t>
            </a:r>
          </a:p>
        </p:txBody>
      </p:sp>
      <p:grpSp>
        <p:nvGrpSpPr>
          <p:cNvPr id="62" name="Group 61">
            <a:extLst>
              <a:ext uri="{FF2B5EF4-FFF2-40B4-BE49-F238E27FC236}">
                <a16:creationId xmlns:a16="http://schemas.microsoft.com/office/drawing/2014/main" id="{A63B6026-A721-A670-3354-5B2DF2C7BC55}"/>
              </a:ext>
            </a:extLst>
          </p:cNvPr>
          <p:cNvGrpSpPr>
            <a:grpSpLocks noChangeAspect="1"/>
          </p:cNvGrpSpPr>
          <p:nvPr/>
        </p:nvGrpSpPr>
        <p:grpSpPr>
          <a:xfrm>
            <a:off x="4552673" y="3626774"/>
            <a:ext cx="360000" cy="360000"/>
            <a:chOff x="195039" y="3751845"/>
            <a:chExt cx="432000" cy="432000"/>
          </a:xfrm>
        </p:grpSpPr>
        <p:sp>
          <p:nvSpPr>
            <p:cNvPr id="47" name="Oval 46">
              <a:extLst>
                <a:ext uri="{FF2B5EF4-FFF2-40B4-BE49-F238E27FC236}">
                  <a16:creationId xmlns:a16="http://schemas.microsoft.com/office/drawing/2014/main" id="{419BC29A-291E-BBB1-48BE-B1FB477B25EE}"/>
                </a:ext>
              </a:extLst>
            </p:cNvPr>
            <p:cNvSpPr>
              <a:spLocks noChangeAspect="1"/>
            </p:cNvSpPr>
            <p:nvPr/>
          </p:nvSpPr>
          <p:spPr>
            <a:xfrm>
              <a:off x="195039" y="3751845"/>
              <a:ext cx="432000" cy="432000"/>
            </a:xfrm>
            <a:prstGeom prst="ellipse">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grpSp>
          <p:nvGrpSpPr>
            <p:cNvPr id="58" name="Graphic 56" descr="Information outline">
              <a:extLst>
                <a:ext uri="{FF2B5EF4-FFF2-40B4-BE49-F238E27FC236}">
                  <a16:creationId xmlns:a16="http://schemas.microsoft.com/office/drawing/2014/main" id="{53FD2E35-5362-EF99-46A2-718EEA5969A4}"/>
                </a:ext>
              </a:extLst>
            </p:cNvPr>
            <p:cNvGrpSpPr>
              <a:grpSpLocks noChangeAspect="1"/>
            </p:cNvGrpSpPr>
            <p:nvPr/>
          </p:nvGrpSpPr>
          <p:grpSpPr>
            <a:xfrm>
              <a:off x="365989" y="3823855"/>
              <a:ext cx="90101" cy="252001"/>
              <a:chOff x="5312790" y="4272653"/>
              <a:chExt cx="152400" cy="426244"/>
            </a:xfrm>
            <a:solidFill>
              <a:schemeClr val="tx2"/>
            </a:solidFill>
          </p:grpSpPr>
          <p:sp>
            <p:nvSpPr>
              <p:cNvPr id="60" name="Freeform: Shape 59">
                <a:extLst>
                  <a:ext uri="{FF2B5EF4-FFF2-40B4-BE49-F238E27FC236}">
                    <a16:creationId xmlns:a16="http://schemas.microsoft.com/office/drawing/2014/main" id="{736ED3A3-ED7E-8540-FADE-3050F17746D6}"/>
                  </a:ext>
                </a:extLst>
              </p:cNvPr>
              <p:cNvSpPr/>
              <p:nvPr/>
            </p:nvSpPr>
            <p:spPr>
              <a:xfrm>
                <a:off x="5312790" y="4375047"/>
                <a:ext cx="152400" cy="323850"/>
              </a:xfrm>
              <a:custGeom>
                <a:avLst/>
                <a:gdLst>
                  <a:gd name="csX0" fmla="*/ 85725 w 152400"/>
                  <a:gd name="csY0" fmla="*/ 0 h 323850"/>
                  <a:gd name="csX1" fmla="*/ 9525 w 152400"/>
                  <a:gd name="csY1" fmla="*/ 0 h 323850"/>
                  <a:gd name="csX2" fmla="*/ 9525 w 152400"/>
                  <a:gd name="csY2" fmla="*/ 19050 h 323850"/>
                  <a:gd name="csX3" fmla="*/ 66675 w 152400"/>
                  <a:gd name="csY3" fmla="*/ 19050 h 323850"/>
                  <a:gd name="csX4" fmla="*/ 66675 w 152400"/>
                  <a:gd name="csY4" fmla="*/ 304800 h 323850"/>
                  <a:gd name="csX5" fmla="*/ 0 w 152400"/>
                  <a:gd name="csY5" fmla="*/ 304800 h 323850"/>
                  <a:gd name="csX6" fmla="*/ 0 w 152400"/>
                  <a:gd name="csY6" fmla="*/ 323850 h 323850"/>
                  <a:gd name="csX7" fmla="*/ 152400 w 152400"/>
                  <a:gd name="csY7" fmla="*/ 323850 h 323850"/>
                  <a:gd name="csX8" fmla="*/ 152400 w 152400"/>
                  <a:gd name="csY8" fmla="*/ 304800 h 323850"/>
                  <a:gd name="csX9" fmla="*/ 85725 w 152400"/>
                  <a:gd name="csY9" fmla="*/ 304800 h 323850"/>
                  <a:gd name="csX10" fmla="*/ 85725 w 152400"/>
                  <a:gd name="csY10" fmla="*/ 0 h 3238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2400" h="323850">
                    <a:moveTo>
                      <a:pt x="85725" y="0"/>
                    </a:moveTo>
                    <a:lnTo>
                      <a:pt x="9525" y="0"/>
                    </a:lnTo>
                    <a:lnTo>
                      <a:pt x="9525" y="19050"/>
                    </a:lnTo>
                    <a:lnTo>
                      <a:pt x="66675" y="19050"/>
                    </a:lnTo>
                    <a:lnTo>
                      <a:pt x="66675" y="304800"/>
                    </a:lnTo>
                    <a:lnTo>
                      <a:pt x="0" y="304800"/>
                    </a:lnTo>
                    <a:lnTo>
                      <a:pt x="0" y="323850"/>
                    </a:lnTo>
                    <a:lnTo>
                      <a:pt x="152400" y="323850"/>
                    </a:lnTo>
                    <a:lnTo>
                      <a:pt x="152400" y="304800"/>
                    </a:lnTo>
                    <a:lnTo>
                      <a:pt x="85725" y="304800"/>
                    </a:lnTo>
                    <a:lnTo>
                      <a:pt x="85725" y="0"/>
                    </a:lnTo>
                    <a:close/>
                  </a:path>
                </a:pathLst>
              </a:custGeom>
              <a:grpFill/>
              <a:ln w="15875" cap="flat">
                <a:solidFill>
                  <a:schemeClr val="tx2"/>
                </a:solidFill>
                <a:prstDash val="solid"/>
                <a:miter/>
              </a:ln>
            </p:spPr>
            <p:txBody>
              <a:bodyPr/>
              <a:lstStyle/>
              <a:p>
                <a:endParaRPr lang="en-CA" noProof="0"/>
              </a:p>
            </p:txBody>
          </p:sp>
          <p:sp>
            <p:nvSpPr>
              <p:cNvPr id="61" name="Freeform: Shape 60">
                <a:extLst>
                  <a:ext uri="{FF2B5EF4-FFF2-40B4-BE49-F238E27FC236}">
                    <a16:creationId xmlns:a16="http://schemas.microsoft.com/office/drawing/2014/main" id="{673DCAA3-29CB-D8C0-2B45-FB9AFF1BB1F5}"/>
                  </a:ext>
                </a:extLst>
              </p:cNvPr>
              <p:cNvSpPr/>
              <p:nvPr/>
            </p:nvSpPr>
            <p:spPr>
              <a:xfrm>
                <a:off x="5356262" y="4272653"/>
                <a:ext cx="42862" cy="42862"/>
              </a:xfrm>
              <a:custGeom>
                <a:avLst/>
                <a:gdLst>
                  <a:gd name="csX0" fmla="*/ 42862 w 42862"/>
                  <a:gd name="csY0" fmla="*/ 21431 h 42862"/>
                  <a:gd name="csX1" fmla="*/ 21431 w 42862"/>
                  <a:gd name="csY1" fmla="*/ 42863 h 42862"/>
                  <a:gd name="csX2" fmla="*/ 0 w 42862"/>
                  <a:gd name="csY2" fmla="*/ 21431 h 42862"/>
                  <a:gd name="csX3" fmla="*/ 21431 w 42862"/>
                  <a:gd name="csY3" fmla="*/ 0 h 42862"/>
                  <a:gd name="csX4" fmla="*/ 42862 w 42862"/>
                  <a:gd name="csY4" fmla="*/ 21431 h 42862"/>
                </a:gdLst>
                <a:ahLst/>
                <a:cxnLst>
                  <a:cxn ang="0">
                    <a:pos x="csX0" y="csY0"/>
                  </a:cxn>
                  <a:cxn ang="0">
                    <a:pos x="csX1" y="csY1"/>
                  </a:cxn>
                  <a:cxn ang="0">
                    <a:pos x="csX2" y="csY2"/>
                  </a:cxn>
                  <a:cxn ang="0">
                    <a:pos x="csX3" y="csY3"/>
                  </a:cxn>
                  <a:cxn ang="0">
                    <a:pos x="csX4" y="csY4"/>
                  </a:cxn>
                </a:cxnLst>
                <a:rect l="l" t="t" r="r" b="b"/>
                <a:pathLst>
                  <a:path w="42862" h="42862">
                    <a:moveTo>
                      <a:pt x="42862" y="21431"/>
                    </a:moveTo>
                    <a:cubicBezTo>
                      <a:pt x="42862" y="33267"/>
                      <a:pt x="33267" y="42863"/>
                      <a:pt x="21431" y="42863"/>
                    </a:cubicBezTo>
                    <a:cubicBezTo>
                      <a:pt x="9595" y="42863"/>
                      <a:pt x="0" y="33267"/>
                      <a:pt x="0" y="21431"/>
                    </a:cubicBezTo>
                    <a:cubicBezTo>
                      <a:pt x="0" y="9595"/>
                      <a:pt x="9595" y="0"/>
                      <a:pt x="21431" y="0"/>
                    </a:cubicBezTo>
                    <a:cubicBezTo>
                      <a:pt x="33267" y="0"/>
                      <a:pt x="42862" y="9595"/>
                      <a:pt x="42862" y="21431"/>
                    </a:cubicBezTo>
                    <a:close/>
                  </a:path>
                </a:pathLst>
              </a:custGeom>
              <a:grpFill/>
              <a:ln w="15875" cap="flat">
                <a:solidFill>
                  <a:schemeClr val="tx2"/>
                </a:solidFill>
                <a:prstDash val="solid"/>
                <a:miter/>
              </a:ln>
            </p:spPr>
            <p:txBody>
              <a:bodyPr/>
              <a:lstStyle/>
              <a:p>
                <a:endParaRPr lang="en-CA" noProof="0"/>
              </a:p>
            </p:txBody>
          </p:sp>
        </p:grpSp>
      </p:grpSp>
      <p:sp>
        <p:nvSpPr>
          <p:cNvPr id="64" name="TextBox 63">
            <a:extLst>
              <a:ext uri="{FF2B5EF4-FFF2-40B4-BE49-F238E27FC236}">
                <a16:creationId xmlns:a16="http://schemas.microsoft.com/office/drawing/2014/main" id="{AB97475C-80C9-BBD9-A4C8-EFB3302F512D}"/>
              </a:ext>
            </a:extLst>
          </p:cNvPr>
          <p:cNvSpPr txBox="1"/>
          <p:nvPr/>
        </p:nvSpPr>
        <p:spPr>
          <a:xfrm>
            <a:off x="209187" y="4071615"/>
            <a:ext cx="11773627" cy="461665"/>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200" noProof="0">
                <a:solidFill>
                  <a:schemeClr val="tx1">
                    <a:lumMod val="50000"/>
                  </a:schemeClr>
                </a:solidFill>
              </a:rPr>
              <a:t>We organize principles into four pillars because delivering data at scale requires alignment across four enterprise directions: business value, trust/governance, architecture, and execution.</a:t>
            </a:r>
          </a:p>
        </p:txBody>
      </p:sp>
      <p:cxnSp>
        <p:nvCxnSpPr>
          <p:cNvPr id="67" name="Straight Connector 66">
            <a:extLst>
              <a:ext uri="{FF2B5EF4-FFF2-40B4-BE49-F238E27FC236}">
                <a16:creationId xmlns:a16="http://schemas.microsoft.com/office/drawing/2014/main" id="{D1F907D9-6ACA-E695-E311-2F1407E25BF7}"/>
              </a:ext>
            </a:extLst>
          </p:cNvPr>
          <p:cNvCxnSpPr>
            <a:cxnSpLocks/>
          </p:cNvCxnSpPr>
          <p:nvPr/>
        </p:nvCxnSpPr>
        <p:spPr>
          <a:xfrm>
            <a:off x="2496000" y="4670870"/>
            <a:ext cx="7200000" cy="0"/>
          </a:xfrm>
          <a:prstGeom prst="line">
            <a:avLst/>
          </a:prstGeom>
          <a:ln w="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A4357186-99FA-C7DA-386E-1FE840477B4F}"/>
              </a:ext>
            </a:extLst>
          </p:cNvPr>
          <p:cNvGrpSpPr/>
          <p:nvPr/>
        </p:nvGrpSpPr>
        <p:grpSpPr>
          <a:xfrm>
            <a:off x="4552673" y="4808460"/>
            <a:ext cx="3550796" cy="360000"/>
            <a:chOff x="4552673" y="4704763"/>
            <a:chExt cx="3550796" cy="360000"/>
          </a:xfrm>
        </p:grpSpPr>
        <p:sp>
          <p:nvSpPr>
            <p:cNvPr id="89" name="TextBox 88">
              <a:extLst>
                <a:ext uri="{FF2B5EF4-FFF2-40B4-BE49-F238E27FC236}">
                  <a16:creationId xmlns:a16="http://schemas.microsoft.com/office/drawing/2014/main" id="{3141F908-908F-F486-F606-02E66FA6A4C3}"/>
                </a:ext>
              </a:extLst>
            </p:cNvPr>
            <p:cNvSpPr txBox="1"/>
            <p:nvPr/>
          </p:nvSpPr>
          <p:spPr>
            <a:xfrm>
              <a:off x="5055130" y="4737972"/>
              <a:ext cx="3048339" cy="288147"/>
            </a:xfrm>
            <a:prstGeom prst="rect">
              <a:avLst/>
            </a:prstGeom>
            <a:noFill/>
            <a:ln>
              <a:noFill/>
            </a:ln>
          </p:spPr>
          <p:style>
            <a:lnRef idx="3">
              <a:schemeClr val="lt1"/>
            </a:lnRef>
            <a:fillRef idx="1">
              <a:schemeClr val="accent2"/>
            </a:fillRef>
            <a:effectRef idx="1">
              <a:schemeClr val="accent2"/>
            </a:effectRef>
            <a:fontRef idx="minor">
              <a:schemeClr val="lt1"/>
            </a:fontRef>
          </p:style>
          <p:txBody>
            <a:bodyPr wrap="square" lIns="72000" tIns="36000" rIns="72000" bIns="36000" rtlCol="0" anchor="t" anchorCtr="0">
              <a:spAutoFit/>
            </a:bodyPr>
            <a:lstStyle/>
            <a:p>
              <a:pPr algn="l"/>
              <a:r>
                <a:rPr lang="en-CA" sz="1400" b="1" noProof="0">
                  <a:solidFill>
                    <a:schemeClr val="bg2">
                      <a:lumMod val="10000"/>
                    </a:schemeClr>
                  </a:solidFill>
                </a:rPr>
                <a:t>How Data Principles came to be?</a:t>
              </a:r>
            </a:p>
          </p:txBody>
        </p:sp>
        <p:grpSp>
          <p:nvGrpSpPr>
            <p:cNvPr id="101" name="Group 100">
              <a:extLst>
                <a:ext uri="{FF2B5EF4-FFF2-40B4-BE49-F238E27FC236}">
                  <a16:creationId xmlns:a16="http://schemas.microsoft.com/office/drawing/2014/main" id="{8157AEBD-8E79-64D8-CF8C-ECC195658CF8}"/>
                </a:ext>
              </a:extLst>
            </p:cNvPr>
            <p:cNvGrpSpPr/>
            <p:nvPr/>
          </p:nvGrpSpPr>
          <p:grpSpPr>
            <a:xfrm>
              <a:off x="4552673" y="4704763"/>
              <a:ext cx="360000" cy="360000"/>
              <a:chOff x="4552673" y="4704763"/>
              <a:chExt cx="360000" cy="360000"/>
            </a:xfrm>
          </p:grpSpPr>
          <p:sp>
            <p:nvSpPr>
              <p:cNvPr id="91" name="Oval 90">
                <a:extLst>
                  <a:ext uri="{FF2B5EF4-FFF2-40B4-BE49-F238E27FC236}">
                    <a16:creationId xmlns:a16="http://schemas.microsoft.com/office/drawing/2014/main" id="{53A0A145-825F-5455-CF9C-4D56462B88F5}"/>
                  </a:ext>
                </a:extLst>
              </p:cNvPr>
              <p:cNvSpPr>
                <a:spLocks noChangeAspect="1"/>
              </p:cNvSpPr>
              <p:nvPr/>
            </p:nvSpPr>
            <p:spPr>
              <a:xfrm>
                <a:off x="4552673" y="4704763"/>
                <a:ext cx="360000" cy="360000"/>
              </a:xfrm>
              <a:prstGeom prst="ellipse">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grpSp>
            <p:nvGrpSpPr>
              <p:cNvPr id="100" name="Group 99">
                <a:extLst>
                  <a:ext uri="{FF2B5EF4-FFF2-40B4-BE49-F238E27FC236}">
                    <a16:creationId xmlns:a16="http://schemas.microsoft.com/office/drawing/2014/main" id="{3A0716A3-C301-0EC5-A45C-68FF60B764A2}"/>
                  </a:ext>
                </a:extLst>
              </p:cNvPr>
              <p:cNvGrpSpPr>
                <a:grpSpLocks noChangeAspect="1"/>
              </p:cNvGrpSpPr>
              <p:nvPr/>
            </p:nvGrpSpPr>
            <p:grpSpPr>
              <a:xfrm>
                <a:off x="4656734" y="4759683"/>
                <a:ext cx="151879" cy="250160"/>
                <a:chOff x="4640611" y="4760153"/>
                <a:chExt cx="151879" cy="250160"/>
              </a:xfrm>
            </p:grpSpPr>
            <p:sp>
              <p:nvSpPr>
                <p:cNvPr id="98" name="Freeform: Shape 97">
                  <a:extLst>
                    <a:ext uri="{FF2B5EF4-FFF2-40B4-BE49-F238E27FC236}">
                      <a16:creationId xmlns:a16="http://schemas.microsoft.com/office/drawing/2014/main" id="{342CCE1A-361E-383F-4137-7C7FEBC947EE}"/>
                    </a:ext>
                  </a:extLst>
                </p:cNvPr>
                <p:cNvSpPr/>
                <p:nvPr/>
              </p:nvSpPr>
              <p:spPr>
                <a:xfrm>
                  <a:off x="4694206" y="4965628"/>
                  <a:ext cx="44684" cy="44685"/>
                </a:xfrm>
                <a:custGeom>
                  <a:avLst/>
                  <a:gdLst>
                    <a:gd name="csX0" fmla="*/ 44685 w 44684"/>
                    <a:gd name="csY0" fmla="*/ 22343 h 44685"/>
                    <a:gd name="csX1" fmla="*/ 22343 w 44684"/>
                    <a:gd name="csY1" fmla="*/ 44685 h 44685"/>
                    <a:gd name="csX2" fmla="*/ 0 w 44684"/>
                    <a:gd name="csY2" fmla="*/ 22343 h 44685"/>
                    <a:gd name="csX3" fmla="*/ 22343 w 44684"/>
                    <a:gd name="csY3" fmla="*/ 0 h 44685"/>
                    <a:gd name="csX4" fmla="*/ 44685 w 44684"/>
                    <a:gd name="csY4" fmla="*/ 22343 h 44685"/>
                  </a:gdLst>
                  <a:ahLst/>
                  <a:cxnLst>
                    <a:cxn ang="0">
                      <a:pos x="csX0" y="csY0"/>
                    </a:cxn>
                    <a:cxn ang="0">
                      <a:pos x="csX1" y="csY1"/>
                    </a:cxn>
                    <a:cxn ang="0">
                      <a:pos x="csX2" y="csY2"/>
                    </a:cxn>
                    <a:cxn ang="0">
                      <a:pos x="csX3" y="csY3"/>
                    </a:cxn>
                    <a:cxn ang="0">
                      <a:pos x="csX4" y="csY4"/>
                    </a:cxn>
                  </a:cxnLst>
                  <a:rect l="l" t="t" r="r" b="b"/>
                  <a:pathLst>
                    <a:path w="44684" h="44685">
                      <a:moveTo>
                        <a:pt x="44685" y="22343"/>
                      </a:moveTo>
                      <a:cubicBezTo>
                        <a:pt x="44685" y="34682"/>
                        <a:pt x="34682" y="44685"/>
                        <a:pt x="22343" y="44685"/>
                      </a:cubicBezTo>
                      <a:cubicBezTo>
                        <a:pt x="10003" y="44685"/>
                        <a:pt x="0" y="34682"/>
                        <a:pt x="0" y="22343"/>
                      </a:cubicBezTo>
                      <a:cubicBezTo>
                        <a:pt x="0" y="10003"/>
                        <a:pt x="10003" y="0"/>
                        <a:pt x="22343" y="0"/>
                      </a:cubicBezTo>
                      <a:cubicBezTo>
                        <a:pt x="34682" y="0"/>
                        <a:pt x="44685" y="10003"/>
                        <a:pt x="44685" y="22343"/>
                      </a:cubicBezTo>
                      <a:close/>
                    </a:path>
                  </a:pathLst>
                </a:custGeom>
                <a:solidFill>
                  <a:schemeClr val="tx2"/>
                </a:solidFill>
                <a:ln w="3373" cap="flat">
                  <a:noFill/>
                  <a:prstDash val="solid"/>
                  <a:miter/>
                </a:ln>
              </p:spPr>
              <p:txBody>
                <a:bodyPr/>
                <a:lstStyle/>
                <a:p>
                  <a:endParaRPr lang="en-CA" noProof="0"/>
                </a:p>
              </p:txBody>
            </p:sp>
            <p:sp>
              <p:nvSpPr>
                <p:cNvPr id="99" name="Freeform: Shape 98">
                  <a:extLst>
                    <a:ext uri="{FF2B5EF4-FFF2-40B4-BE49-F238E27FC236}">
                      <a16:creationId xmlns:a16="http://schemas.microsoft.com/office/drawing/2014/main" id="{0A1F03D1-FCC0-8C77-FCF5-A32F827B9EDA}"/>
                    </a:ext>
                  </a:extLst>
                </p:cNvPr>
                <p:cNvSpPr/>
                <p:nvPr/>
              </p:nvSpPr>
              <p:spPr>
                <a:xfrm>
                  <a:off x="4640611" y="4760153"/>
                  <a:ext cx="151879" cy="189207"/>
                </a:xfrm>
                <a:custGeom>
                  <a:avLst/>
                  <a:gdLst>
                    <a:gd name="csX0" fmla="*/ 89438 w 151879"/>
                    <a:gd name="csY0" fmla="*/ 146513 h 189207"/>
                    <a:gd name="csX1" fmla="*/ 89438 w 151879"/>
                    <a:gd name="csY1" fmla="*/ 189207 h 189207"/>
                    <a:gd name="csX2" fmla="*/ 62438 w 151879"/>
                    <a:gd name="csY2" fmla="*/ 189207 h 189207"/>
                    <a:gd name="csX3" fmla="*/ 62438 w 151879"/>
                    <a:gd name="csY3" fmla="*/ 120627 h 189207"/>
                    <a:gd name="csX4" fmla="*/ 75938 w 151879"/>
                    <a:gd name="csY4" fmla="*/ 120627 h 189207"/>
                    <a:gd name="csX5" fmla="*/ 125078 w 151879"/>
                    <a:gd name="csY5" fmla="*/ 75942 h 189207"/>
                    <a:gd name="csX6" fmla="*/ 78122 w 151879"/>
                    <a:gd name="csY6" fmla="*/ 26802 h 189207"/>
                    <a:gd name="csX7" fmla="*/ 75938 w 151879"/>
                    <a:gd name="csY7" fmla="*/ 26802 h 189207"/>
                    <a:gd name="csX8" fmla="*/ 26797 w 151879"/>
                    <a:gd name="csY8" fmla="*/ 77832 h 189207"/>
                    <a:gd name="csX9" fmla="*/ 0 w 151879"/>
                    <a:gd name="csY9" fmla="*/ 77832 h 189207"/>
                    <a:gd name="csX10" fmla="*/ 75938 w 151879"/>
                    <a:gd name="csY10" fmla="*/ 5 h 189207"/>
                    <a:gd name="csX11" fmla="*/ 151875 w 151879"/>
                    <a:gd name="csY11" fmla="*/ 74313 h 189207"/>
                    <a:gd name="csX12" fmla="*/ 151875 w 151879"/>
                    <a:gd name="csY12" fmla="*/ 75942 h 189207"/>
                    <a:gd name="csX13" fmla="*/ 89438 w 151879"/>
                    <a:gd name="csY13" fmla="*/ 146513 h 189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51879" h="189207">
                      <a:moveTo>
                        <a:pt x="89438" y="146513"/>
                      </a:moveTo>
                      <a:lnTo>
                        <a:pt x="89438" y="189207"/>
                      </a:lnTo>
                      <a:lnTo>
                        <a:pt x="62438" y="189207"/>
                      </a:lnTo>
                      <a:lnTo>
                        <a:pt x="62438" y="120627"/>
                      </a:lnTo>
                      <a:lnTo>
                        <a:pt x="75938" y="120627"/>
                      </a:lnTo>
                      <a:cubicBezTo>
                        <a:pt x="105773" y="120627"/>
                        <a:pt x="125078" y="103077"/>
                        <a:pt x="125078" y="75942"/>
                      </a:cubicBezTo>
                      <a:cubicBezTo>
                        <a:pt x="125681" y="49406"/>
                        <a:pt x="104658" y="27405"/>
                        <a:pt x="78122" y="26802"/>
                      </a:cubicBezTo>
                      <a:cubicBezTo>
                        <a:pt x="77394" y="26785"/>
                        <a:pt x="76666" y="26785"/>
                        <a:pt x="75938" y="26802"/>
                      </a:cubicBezTo>
                      <a:cubicBezTo>
                        <a:pt x="45158" y="26802"/>
                        <a:pt x="26797" y="47052"/>
                        <a:pt x="26797" y="77832"/>
                      </a:cubicBezTo>
                      <a:lnTo>
                        <a:pt x="0" y="77832"/>
                      </a:lnTo>
                      <a:cubicBezTo>
                        <a:pt x="0" y="32405"/>
                        <a:pt x="30375" y="5"/>
                        <a:pt x="75938" y="5"/>
                      </a:cubicBezTo>
                      <a:cubicBezTo>
                        <a:pt x="117427" y="-445"/>
                        <a:pt x="151425" y="32824"/>
                        <a:pt x="151875" y="74313"/>
                      </a:cubicBezTo>
                      <a:cubicBezTo>
                        <a:pt x="151881" y="74856"/>
                        <a:pt x="151881" y="75399"/>
                        <a:pt x="151875" y="75942"/>
                      </a:cubicBezTo>
                      <a:cubicBezTo>
                        <a:pt x="151875" y="113708"/>
                        <a:pt x="126900" y="141248"/>
                        <a:pt x="89438" y="146513"/>
                      </a:cubicBezTo>
                      <a:close/>
                    </a:path>
                  </a:pathLst>
                </a:custGeom>
                <a:solidFill>
                  <a:schemeClr val="tx2"/>
                </a:solidFill>
                <a:ln w="3373" cap="flat">
                  <a:noFill/>
                  <a:prstDash val="solid"/>
                  <a:miter/>
                </a:ln>
              </p:spPr>
              <p:txBody>
                <a:bodyPr/>
                <a:lstStyle/>
                <a:p>
                  <a:endParaRPr lang="en-CA" noProof="0"/>
                </a:p>
              </p:txBody>
            </p:sp>
          </p:grpSp>
        </p:grpSp>
      </p:grpSp>
      <p:sp>
        <p:nvSpPr>
          <p:cNvPr id="102" name="TextBox 101">
            <a:extLst>
              <a:ext uri="{FF2B5EF4-FFF2-40B4-BE49-F238E27FC236}">
                <a16:creationId xmlns:a16="http://schemas.microsoft.com/office/drawing/2014/main" id="{F7C822AB-FE5B-B9F6-CF53-6BCEBE221296}"/>
              </a:ext>
            </a:extLst>
          </p:cNvPr>
          <p:cNvSpPr txBox="1"/>
          <p:nvPr/>
        </p:nvSpPr>
        <p:spPr>
          <a:xfrm>
            <a:off x="209187" y="5247173"/>
            <a:ext cx="11773627" cy="461665"/>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a:spAutoFit/>
          </a:bodyPr>
          <a:lstStyle/>
          <a:p>
            <a:r>
              <a:rPr lang="en-CA" sz="1200" noProof="0">
                <a:solidFill>
                  <a:schemeClr val="tx1">
                    <a:lumMod val="50000"/>
                  </a:schemeClr>
                </a:solidFill>
              </a:rPr>
              <a:t>Data principles </a:t>
            </a:r>
            <a:r>
              <a:rPr lang="en-CA" sz="1200" b="1" noProof="0">
                <a:solidFill>
                  <a:schemeClr val="tx1">
                    <a:lumMod val="50000"/>
                  </a:schemeClr>
                </a:solidFill>
              </a:rPr>
              <a:t>originate from the need for change and the expected Business Outcomes </a:t>
            </a:r>
            <a:r>
              <a:rPr lang="en-CA" sz="1200" noProof="0">
                <a:solidFill>
                  <a:schemeClr val="tx1">
                    <a:lumMod val="50000"/>
                  </a:schemeClr>
                </a:solidFill>
              </a:rPr>
              <a:t>of the North Platform. Having </a:t>
            </a:r>
            <a:r>
              <a:rPr lang="en-CA" sz="1200" b="1" noProof="0">
                <a:solidFill>
                  <a:schemeClr val="tx1">
                    <a:lumMod val="50000"/>
                  </a:schemeClr>
                </a:solidFill>
              </a:rPr>
              <a:t>these Principles enable </a:t>
            </a:r>
            <a:r>
              <a:rPr lang="en-CA" sz="1200" noProof="0">
                <a:solidFill>
                  <a:schemeClr val="tx1">
                    <a:lumMod val="50000"/>
                  </a:schemeClr>
                </a:solidFill>
              </a:rPr>
              <a:t>the platform to be </a:t>
            </a:r>
            <a:r>
              <a:rPr lang="en-CA" sz="1200" b="1" noProof="0">
                <a:solidFill>
                  <a:schemeClr val="tx1">
                    <a:lumMod val="50000"/>
                  </a:schemeClr>
                </a:solidFill>
              </a:rPr>
              <a:t>designed and implemented with coherence </a:t>
            </a:r>
            <a:r>
              <a:rPr lang="en-CA" sz="1200" noProof="0">
                <a:solidFill>
                  <a:schemeClr val="tx1">
                    <a:lumMod val="50000"/>
                  </a:schemeClr>
                </a:solidFill>
              </a:rPr>
              <a:t>while being aligned to what truly matter for Canada Life</a:t>
            </a:r>
          </a:p>
        </p:txBody>
      </p:sp>
      <p:grpSp>
        <p:nvGrpSpPr>
          <p:cNvPr id="5" name="Group 4">
            <a:extLst>
              <a:ext uri="{FF2B5EF4-FFF2-40B4-BE49-F238E27FC236}">
                <a16:creationId xmlns:a16="http://schemas.microsoft.com/office/drawing/2014/main" id="{9EC4271D-2791-48AA-A734-AFEC2FA5A8B8}"/>
              </a:ext>
            </a:extLst>
          </p:cNvPr>
          <p:cNvGrpSpPr/>
          <p:nvPr/>
        </p:nvGrpSpPr>
        <p:grpSpPr>
          <a:xfrm>
            <a:off x="102000" y="5786559"/>
            <a:ext cx="11988000" cy="406158"/>
            <a:chOff x="188661" y="5843709"/>
            <a:chExt cx="11988000" cy="406158"/>
          </a:xfrm>
        </p:grpSpPr>
        <p:sp>
          <p:nvSpPr>
            <p:cNvPr id="7" name="Rectangle: Rounded Corners 6">
              <a:extLst>
                <a:ext uri="{FF2B5EF4-FFF2-40B4-BE49-F238E27FC236}">
                  <a16:creationId xmlns:a16="http://schemas.microsoft.com/office/drawing/2014/main" id="{57579968-D6E7-FEEB-F017-AAF8BB5CB54E}"/>
                </a:ext>
              </a:extLst>
            </p:cNvPr>
            <p:cNvSpPr/>
            <p:nvPr/>
          </p:nvSpPr>
          <p:spPr>
            <a:xfrm>
              <a:off x="188661" y="5843709"/>
              <a:ext cx="11988000" cy="406158"/>
            </a:xfrm>
            <a:prstGeom prst="roundRect">
              <a:avLst>
                <a:gd name="adj" fmla="val 19357"/>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l"/>
              <a:endParaRPr lang="en-CA" sz="900" noProof="0"/>
            </a:p>
          </p:txBody>
        </p:sp>
        <p:sp>
          <p:nvSpPr>
            <p:cNvPr id="8" name="TextBox 7">
              <a:extLst>
                <a:ext uri="{FF2B5EF4-FFF2-40B4-BE49-F238E27FC236}">
                  <a16:creationId xmlns:a16="http://schemas.microsoft.com/office/drawing/2014/main" id="{819497CE-2168-6860-DE15-D5158C6E5022}"/>
                </a:ext>
              </a:extLst>
            </p:cNvPr>
            <p:cNvSpPr txBox="1"/>
            <p:nvPr/>
          </p:nvSpPr>
          <p:spPr>
            <a:xfrm>
              <a:off x="196330" y="5895208"/>
              <a:ext cx="11972663" cy="276999"/>
            </a:xfrm>
            <a:prstGeom prst="rect">
              <a:avLst/>
            </a:prstGeom>
            <a:noFill/>
            <a:ln w="19050" cap="flat" cmpd="sng" algn="ctr">
              <a:noFill/>
              <a:prstDash val="solid"/>
              <a:miter lim="800000"/>
            </a:ln>
            <a:effectLst/>
          </p:spPr>
          <p:style>
            <a:lnRef idx="3">
              <a:schemeClr val="lt1"/>
            </a:lnRef>
            <a:fillRef idx="1">
              <a:schemeClr val="accent2"/>
            </a:fillRef>
            <a:effectRef idx="1">
              <a:schemeClr val="accent2"/>
            </a:effectRef>
            <a:fontRef idx="minor">
              <a:schemeClr val="lt1"/>
            </a:fontRef>
          </p:style>
          <p:txBody>
            <a:bodyPr wrap="square" lIns="36000" rIns="36000">
              <a:spAutoFit/>
            </a:bodyPr>
            <a:lstStyle/>
            <a:p>
              <a:pPr algn="ctr"/>
              <a:r>
                <a:rPr lang="en-CA" sz="1050" b="1" noProof="0">
                  <a:solidFill>
                    <a:schemeClr val="bg2">
                      <a:lumMod val="10000"/>
                    </a:schemeClr>
                  </a:solidFill>
                </a:rPr>
                <a:t>Case for Change</a:t>
              </a:r>
              <a:r>
                <a:rPr lang="en-CA" sz="1050" noProof="0">
                  <a:solidFill>
                    <a:schemeClr val="bg2">
                      <a:lumMod val="10000"/>
                    </a:schemeClr>
                  </a:solidFill>
                </a:rPr>
                <a:t> </a:t>
              </a:r>
              <a:r>
                <a:rPr lang="en-CA" sz="1050" noProof="0">
                  <a:solidFill>
                    <a:schemeClr val="tx1">
                      <a:lumMod val="50000"/>
                    </a:schemeClr>
                  </a:solidFill>
                </a:rPr>
                <a:t>(Why act) → </a:t>
              </a:r>
              <a:r>
                <a:rPr lang="en-CA" sz="1050" b="1" noProof="0">
                  <a:solidFill>
                    <a:schemeClr val="bg2">
                      <a:lumMod val="10000"/>
                    </a:schemeClr>
                  </a:solidFill>
                </a:rPr>
                <a:t>Business Outcomes </a:t>
              </a:r>
              <a:r>
                <a:rPr lang="en-CA" sz="1050" noProof="0">
                  <a:solidFill>
                    <a:schemeClr val="tx1">
                      <a:lumMod val="50000"/>
                    </a:schemeClr>
                  </a:solidFill>
                </a:rPr>
                <a:t>(What success look like) → </a:t>
              </a:r>
              <a:r>
                <a:rPr lang="en-CA" sz="1200" b="1" i="1" u="sng" noProof="0">
                  <a:solidFill>
                    <a:schemeClr val="tx2"/>
                  </a:solidFill>
                </a:rPr>
                <a:t>Principles</a:t>
              </a:r>
              <a:r>
                <a:rPr lang="en-CA" sz="1050" noProof="0">
                  <a:solidFill>
                    <a:schemeClr val="tx1">
                      <a:lumMod val="50000"/>
                    </a:schemeClr>
                  </a:solidFill>
                </a:rPr>
                <a:t> (What must be true) → </a:t>
              </a:r>
              <a:r>
                <a:rPr lang="en-CA" sz="1050" b="1" noProof="0">
                  <a:solidFill>
                    <a:schemeClr val="bg2">
                      <a:lumMod val="10000"/>
                    </a:schemeClr>
                  </a:solidFill>
                </a:rPr>
                <a:t>Patterns</a:t>
              </a:r>
              <a:r>
                <a:rPr lang="en-CA" sz="1050" noProof="0">
                  <a:solidFill>
                    <a:schemeClr val="tx1">
                      <a:lumMod val="50000"/>
                    </a:schemeClr>
                  </a:solidFill>
                </a:rPr>
                <a:t> (How we design for it ) → </a:t>
              </a:r>
              <a:r>
                <a:rPr lang="en-CA" sz="1050" b="1" noProof="0">
                  <a:solidFill>
                    <a:schemeClr val="bg2">
                      <a:lumMod val="10000"/>
                    </a:schemeClr>
                  </a:solidFill>
                </a:rPr>
                <a:t>Implementation</a:t>
              </a:r>
              <a:r>
                <a:rPr lang="en-CA" sz="1050" noProof="0">
                  <a:solidFill>
                    <a:schemeClr val="tx1">
                      <a:lumMod val="50000"/>
                    </a:schemeClr>
                  </a:solidFill>
                </a:rPr>
                <a:t> (How we build it)</a:t>
              </a:r>
            </a:p>
          </p:txBody>
        </p:sp>
      </p:grpSp>
    </p:spTree>
    <p:extLst>
      <p:ext uri="{BB962C8B-B14F-4D97-AF65-F5344CB8AC3E}">
        <p14:creationId xmlns:p14="http://schemas.microsoft.com/office/powerpoint/2010/main" val="14399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82605-80AF-6AF0-512B-71D20CBAC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50071-E84C-315D-26EC-97EC88897A37}"/>
              </a:ext>
            </a:extLst>
          </p:cNvPr>
          <p:cNvSpPr>
            <a:spLocks noGrp="1"/>
          </p:cNvSpPr>
          <p:nvPr>
            <p:ph type="title"/>
          </p:nvPr>
        </p:nvSpPr>
        <p:spPr>
          <a:xfrm>
            <a:off x="188661" y="207546"/>
            <a:ext cx="11412000" cy="405102"/>
          </a:xfrm>
        </p:spPr>
        <p:txBody>
          <a:bodyPr/>
          <a:lstStyle/>
          <a:p>
            <a:r>
              <a:rPr lang="en-CA" b="1" noProof="0">
                <a:latin typeface="+mj-lt"/>
              </a:rPr>
              <a:t>2. Canada Life Data Principles</a:t>
            </a:r>
          </a:p>
        </p:txBody>
      </p:sp>
      <p:sp>
        <p:nvSpPr>
          <p:cNvPr id="3" name="Slide Number Placeholder 2">
            <a:extLst>
              <a:ext uri="{FF2B5EF4-FFF2-40B4-BE49-F238E27FC236}">
                <a16:creationId xmlns:a16="http://schemas.microsoft.com/office/drawing/2014/main" id="{2175FDF9-6628-35FB-746B-E604FA5F74F8}"/>
              </a:ext>
            </a:extLst>
          </p:cNvPr>
          <p:cNvSpPr>
            <a:spLocks noGrp="1"/>
          </p:cNvSpPr>
          <p:nvPr>
            <p:ph type="sldNum" sz="quarter" idx="12"/>
          </p:nvPr>
        </p:nvSpPr>
        <p:spPr/>
        <p:txBody>
          <a:bodyPr/>
          <a:lstStyle/>
          <a:p>
            <a:fld id="{3CBD822F-ED39-4FC2-B5B5-D2EAB6238DC3}" type="slidenum">
              <a:rPr lang="en-CA" noProof="0" smtClean="0">
                <a:latin typeface="Graphik" panose="020B0503030202060203" pitchFamily="34" charset="0"/>
              </a:rPr>
              <a:pPr/>
              <a:t>27</a:t>
            </a:fld>
            <a:endParaRPr lang="en-CA" noProof="0">
              <a:latin typeface="Graphik" panose="020B0503030202060203" pitchFamily="34" charset="0"/>
            </a:endParaRPr>
          </a:p>
        </p:txBody>
      </p:sp>
      <p:sp>
        <p:nvSpPr>
          <p:cNvPr id="4" name="Text Placeholder 3">
            <a:extLst>
              <a:ext uri="{FF2B5EF4-FFF2-40B4-BE49-F238E27FC236}">
                <a16:creationId xmlns:a16="http://schemas.microsoft.com/office/drawing/2014/main" id="{A9FD90EA-837F-A583-3774-CA93A5127240}"/>
              </a:ext>
            </a:extLst>
          </p:cNvPr>
          <p:cNvSpPr>
            <a:spLocks noGrp="1"/>
          </p:cNvSpPr>
          <p:nvPr>
            <p:ph type="body" sz="quarter" idx="13"/>
          </p:nvPr>
        </p:nvSpPr>
        <p:spPr>
          <a:xfrm>
            <a:off x="192024" y="604194"/>
            <a:ext cx="11647259" cy="503590"/>
          </a:xfrm>
        </p:spPr>
        <p:txBody>
          <a:bodyPr/>
          <a:lstStyle/>
          <a:p>
            <a:r>
              <a:rPr lang="en-CA" b="1" noProof="0">
                <a:latin typeface="+mn-lt"/>
              </a:rPr>
              <a:t>Business principles </a:t>
            </a:r>
            <a:r>
              <a:rPr lang="en-CA" noProof="0">
                <a:latin typeface="+mn-lt"/>
              </a:rPr>
              <a:t>define value, </a:t>
            </a:r>
            <a:r>
              <a:rPr lang="en-CA" b="1" noProof="0">
                <a:latin typeface="+mn-lt"/>
              </a:rPr>
              <a:t>architecture principles</a:t>
            </a:r>
            <a:r>
              <a:rPr lang="en-CA" noProof="0">
                <a:latin typeface="+mn-lt"/>
              </a:rPr>
              <a:t> enable scale, and </a:t>
            </a:r>
            <a:r>
              <a:rPr lang="en-CA" b="1" noProof="0">
                <a:latin typeface="+mn-lt"/>
              </a:rPr>
              <a:t>execution principles</a:t>
            </a:r>
            <a:r>
              <a:rPr lang="en-CA" noProof="0">
                <a:latin typeface="+mn-lt"/>
              </a:rPr>
              <a:t> ensure outcomes are delivered repeatedly and safely</a:t>
            </a:r>
          </a:p>
        </p:txBody>
      </p:sp>
      <p:graphicFrame>
        <p:nvGraphicFramePr>
          <p:cNvPr id="6" name="Table 5">
            <a:extLst>
              <a:ext uri="{FF2B5EF4-FFF2-40B4-BE49-F238E27FC236}">
                <a16:creationId xmlns:a16="http://schemas.microsoft.com/office/drawing/2014/main" id="{416DFEDF-637A-5044-FB40-25E735420148}"/>
              </a:ext>
            </a:extLst>
          </p:cNvPr>
          <p:cNvGraphicFramePr>
            <a:graphicFrameLocks noGrp="1"/>
          </p:cNvGraphicFramePr>
          <p:nvPr>
            <p:extLst>
              <p:ext uri="{D42A27DB-BD31-4B8C-83A1-F6EECF244321}">
                <p14:modId xmlns:p14="http://schemas.microsoft.com/office/powerpoint/2010/main" val="4047906695"/>
              </p:ext>
            </p:extLst>
          </p:nvPr>
        </p:nvGraphicFramePr>
        <p:xfrm>
          <a:off x="352717" y="1190099"/>
          <a:ext cx="11486566" cy="4746136"/>
        </p:xfrm>
        <a:graphic>
          <a:graphicData uri="http://schemas.openxmlformats.org/drawingml/2006/table">
            <a:tbl>
              <a:tblPr firstRow="1" bandRow="1">
                <a:tableStyleId>{5940675A-B579-460E-94D1-54222C63F5DA}</a:tableStyleId>
              </a:tblPr>
              <a:tblGrid>
                <a:gridCol w="2887602">
                  <a:extLst>
                    <a:ext uri="{9D8B030D-6E8A-4147-A177-3AD203B41FA5}">
                      <a16:colId xmlns:a16="http://schemas.microsoft.com/office/drawing/2014/main" val="2437663196"/>
                    </a:ext>
                  </a:extLst>
                </a:gridCol>
                <a:gridCol w="2883900">
                  <a:extLst>
                    <a:ext uri="{9D8B030D-6E8A-4147-A177-3AD203B41FA5}">
                      <a16:colId xmlns:a16="http://schemas.microsoft.com/office/drawing/2014/main" val="2912471149"/>
                    </a:ext>
                  </a:extLst>
                </a:gridCol>
                <a:gridCol w="2883900">
                  <a:extLst>
                    <a:ext uri="{9D8B030D-6E8A-4147-A177-3AD203B41FA5}">
                      <a16:colId xmlns:a16="http://schemas.microsoft.com/office/drawing/2014/main" val="3688091063"/>
                    </a:ext>
                  </a:extLst>
                </a:gridCol>
                <a:gridCol w="2831164">
                  <a:extLst>
                    <a:ext uri="{9D8B030D-6E8A-4147-A177-3AD203B41FA5}">
                      <a16:colId xmlns:a16="http://schemas.microsoft.com/office/drawing/2014/main" val="3082639765"/>
                    </a:ext>
                  </a:extLst>
                </a:gridCol>
              </a:tblGrid>
              <a:tr h="234402">
                <a:tc>
                  <a:txBody>
                    <a:bodyPr/>
                    <a:lstStyle/>
                    <a:p>
                      <a:pPr marL="0" marR="0" algn="ctr">
                        <a:lnSpc>
                          <a:spcPct val="115000"/>
                        </a:lnSpc>
                        <a:spcAft>
                          <a:spcPts val="800"/>
                        </a:spcAft>
                        <a:buNone/>
                      </a:pPr>
                      <a:r>
                        <a:rPr lang="en-CA" sz="1100" b="1" kern="100" noProof="0">
                          <a:solidFill>
                            <a:schemeClr val="bg1"/>
                          </a:solidFill>
                          <a:effectLst/>
                          <a:latin typeface="+mn-lt"/>
                        </a:rPr>
                        <a:t>Business / Strategic Principles</a:t>
                      </a:r>
                      <a:endParaRPr lang="en-CA" sz="1100" b="1" kern="100" noProof="0">
                        <a:solidFill>
                          <a:schemeClr val="bg1"/>
                        </a:solidFill>
                        <a:effectLst/>
                        <a:latin typeface="+mn-lt"/>
                        <a:ea typeface="Aptos" panose="020B0004020202020204" pitchFamily="34" charset="0"/>
                        <a:cs typeface="Times New Roman" panose="02020603050405020304" pitchFamily="18" charset="0"/>
                      </a:endParaRPr>
                    </a:p>
                  </a:txBody>
                  <a:tcPr marL="72000" marR="72000" marT="36000" marB="36000" anchor="ctr">
                    <a:solidFill>
                      <a:schemeClr val="tx2"/>
                    </a:solidFill>
                  </a:tcPr>
                </a:tc>
                <a:tc>
                  <a:txBody>
                    <a:bodyPr/>
                    <a:lstStyle/>
                    <a:p>
                      <a:pPr marL="0" marR="0" algn="ctr">
                        <a:lnSpc>
                          <a:spcPct val="115000"/>
                        </a:lnSpc>
                        <a:spcAft>
                          <a:spcPts val="800"/>
                        </a:spcAft>
                        <a:buNone/>
                      </a:pPr>
                      <a:r>
                        <a:rPr lang="en-CA" sz="1100" b="1" kern="100" noProof="0">
                          <a:solidFill>
                            <a:schemeClr val="bg1"/>
                          </a:solidFill>
                          <a:effectLst/>
                          <a:latin typeface="+mn-lt"/>
                        </a:rPr>
                        <a:t>Trust, Governance &amp; Security Principles</a:t>
                      </a:r>
                      <a:endParaRPr lang="en-CA" sz="1100" b="1" kern="100" noProof="0">
                        <a:solidFill>
                          <a:schemeClr val="bg1"/>
                        </a:solidFill>
                        <a:effectLst/>
                        <a:latin typeface="+mn-lt"/>
                        <a:ea typeface="Aptos" panose="020B0004020202020204" pitchFamily="34" charset="0"/>
                        <a:cs typeface="Times New Roman" panose="02020603050405020304" pitchFamily="18" charset="0"/>
                      </a:endParaRPr>
                    </a:p>
                  </a:txBody>
                  <a:tcPr marL="72000" marR="72000" marT="36000" marB="36000" anchor="ctr">
                    <a:solidFill>
                      <a:schemeClr val="tx2"/>
                    </a:solidFill>
                  </a:tcPr>
                </a:tc>
                <a:tc>
                  <a:txBody>
                    <a:bodyPr/>
                    <a:lstStyle/>
                    <a:p>
                      <a:pPr marL="0" marR="0" algn="ctr">
                        <a:lnSpc>
                          <a:spcPct val="115000"/>
                        </a:lnSpc>
                        <a:spcAft>
                          <a:spcPts val="800"/>
                        </a:spcAft>
                        <a:buNone/>
                      </a:pPr>
                      <a:r>
                        <a:rPr lang="en-CA" sz="1100" b="1" kern="100" noProof="0">
                          <a:solidFill>
                            <a:schemeClr val="bg1"/>
                          </a:solidFill>
                          <a:effectLst/>
                          <a:latin typeface="+mn-lt"/>
                        </a:rPr>
                        <a:t>Platform Architecture Principles</a:t>
                      </a:r>
                      <a:endParaRPr lang="en-CA" sz="1100" b="1" kern="100" noProof="0">
                        <a:solidFill>
                          <a:schemeClr val="bg1"/>
                        </a:solidFill>
                        <a:effectLst/>
                        <a:latin typeface="+mn-lt"/>
                        <a:ea typeface="Aptos" panose="020B0004020202020204" pitchFamily="34" charset="0"/>
                        <a:cs typeface="Times New Roman" panose="02020603050405020304" pitchFamily="18" charset="0"/>
                      </a:endParaRPr>
                    </a:p>
                  </a:txBody>
                  <a:tcPr marL="72000" marR="72000" marT="36000" marB="36000" anchor="ctr">
                    <a:solidFill>
                      <a:schemeClr val="tx2"/>
                    </a:solidFill>
                  </a:tcPr>
                </a:tc>
                <a:tc>
                  <a:txBody>
                    <a:bodyPr/>
                    <a:lstStyle/>
                    <a:p>
                      <a:pPr marL="0" marR="0" algn="ctr">
                        <a:lnSpc>
                          <a:spcPct val="115000"/>
                        </a:lnSpc>
                        <a:spcAft>
                          <a:spcPts val="800"/>
                        </a:spcAft>
                        <a:buNone/>
                      </a:pPr>
                      <a:r>
                        <a:rPr lang="en-CA" sz="1100" b="1" kern="100" noProof="0">
                          <a:solidFill>
                            <a:schemeClr val="bg1"/>
                          </a:solidFill>
                          <a:effectLst/>
                          <a:latin typeface="+mn-lt"/>
                        </a:rPr>
                        <a:t>Execution Principles</a:t>
                      </a:r>
                      <a:endParaRPr lang="en-CA" sz="1100" b="1" kern="100" noProof="0">
                        <a:solidFill>
                          <a:schemeClr val="bg1"/>
                        </a:solidFill>
                        <a:effectLst/>
                        <a:latin typeface="+mn-lt"/>
                        <a:ea typeface="Aptos" panose="020B0004020202020204" pitchFamily="34" charset="0"/>
                        <a:cs typeface="Times New Roman" panose="02020603050405020304" pitchFamily="18" charset="0"/>
                      </a:endParaRPr>
                    </a:p>
                  </a:txBody>
                  <a:tcPr marL="72000" marR="72000" marT="36000" marB="36000" anchor="ctr">
                    <a:solidFill>
                      <a:schemeClr val="tx2"/>
                    </a:solidFill>
                  </a:tcPr>
                </a:tc>
                <a:extLst>
                  <a:ext uri="{0D108BD9-81ED-4DB2-BD59-A6C34878D82A}">
                    <a16:rowId xmlns:a16="http://schemas.microsoft.com/office/drawing/2014/main" val="4021068343"/>
                  </a:ext>
                </a:extLst>
              </a:tr>
              <a:tr h="490048">
                <a:tc>
                  <a:txBody>
                    <a:bodyPr/>
                    <a:lstStyle/>
                    <a:p>
                      <a:pPr marL="0" marR="0">
                        <a:lnSpc>
                          <a:spcPct val="115000"/>
                        </a:lnSpc>
                        <a:spcAft>
                          <a:spcPts val="800"/>
                        </a:spcAft>
                        <a:buNone/>
                      </a:pPr>
                      <a:r>
                        <a:rPr lang="en-CA" sz="1100" i="1" kern="100" noProof="0">
                          <a:solidFill>
                            <a:schemeClr val="tx2"/>
                          </a:solidFill>
                          <a:effectLst/>
                          <a:latin typeface="+mn-lt"/>
                        </a:rPr>
                        <a:t>Define what must be true for data to deliver business value, accountability, and leadership confidence. </a:t>
                      </a:r>
                      <a:endParaRPr lang="en-CA" sz="1100" i="1" kern="100" noProof="0">
                        <a:solidFill>
                          <a:schemeClr val="tx2"/>
                        </a:solidFill>
                        <a:effectLst/>
                        <a:latin typeface="+mn-lt"/>
                        <a:ea typeface="Aptos" panose="020B0004020202020204" pitchFamily="34" charset="0"/>
                        <a:cs typeface="Times New Roman" panose="02020603050405020304" pitchFamily="18" charset="0"/>
                      </a:endParaRPr>
                    </a:p>
                  </a:txBody>
                  <a:tcPr marL="72000" marR="72000" marT="72000" marB="72000"/>
                </a:tc>
                <a:tc>
                  <a:txBody>
                    <a:bodyPr/>
                    <a:lstStyle/>
                    <a:p>
                      <a:pPr marL="0" marR="0">
                        <a:lnSpc>
                          <a:spcPct val="115000"/>
                        </a:lnSpc>
                        <a:spcAft>
                          <a:spcPts val="800"/>
                        </a:spcAft>
                        <a:buNone/>
                      </a:pPr>
                      <a:r>
                        <a:rPr lang="en-CA" sz="1100" i="1" kern="100" noProof="0">
                          <a:solidFill>
                            <a:schemeClr val="tx2"/>
                          </a:solidFill>
                          <a:effectLst/>
                          <a:latin typeface="+mn-lt"/>
                        </a:rPr>
                        <a:t>Define what must be true for data to remain trusted, compliant, protected, and controllable at scale.</a:t>
                      </a:r>
                    </a:p>
                  </a:txBody>
                  <a:tcPr marL="72000" marR="72000" marT="72000" marB="72000"/>
                </a:tc>
                <a:tc>
                  <a:txBody>
                    <a:bodyPr/>
                    <a:lstStyle/>
                    <a:p>
                      <a:pPr marL="0" marR="0">
                        <a:lnSpc>
                          <a:spcPct val="115000"/>
                        </a:lnSpc>
                        <a:spcAft>
                          <a:spcPts val="800"/>
                        </a:spcAft>
                        <a:buNone/>
                      </a:pPr>
                      <a:r>
                        <a:rPr lang="en-CA" sz="1100" i="1" kern="100" noProof="0">
                          <a:solidFill>
                            <a:schemeClr val="tx2"/>
                          </a:solidFill>
                          <a:effectLst/>
                          <a:latin typeface="+mn-lt"/>
                        </a:rPr>
                        <a:t>Define what must be true in the data architecture to enable scale, reuse, interoperability, and secure data sharing.</a:t>
                      </a:r>
                      <a:endParaRPr lang="en-CA" sz="1100" i="1" kern="100" noProof="0">
                        <a:solidFill>
                          <a:schemeClr val="tx2"/>
                        </a:solidFill>
                        <a:effectLst/>
                        <a:latin typeface="+mn-lt"/>
                        <a:ea typeface="Aptos" panose="020B0004020202020204" pitchFamily="34" charset="0"/>
                        <a:cs typeface="Times New Roman" panose="02020603050405020304" pitchFamily="18" charset="0"/>
                      </a:endParaRPr>
                    </a:p>
                  </a:txBody>
                  <a:tcPr marL="72000" marR="72000" marT="72000" marB="72000"/>
                </a:tc>
                <a:tc>
                  <a:txBody>
                    <a:bodyPr/>
                    <a:lstStyle/>
                    <a:p>
                      <a:pPr marL="0" marR="0">
                        <a:lnSpc>
                          <a:spcPct val="115000"/>
                        </a:lnSpc>
                        <a:spcAft>
                          <a:spcPts val="800"/>
                        </a:spcAft>
                        <a:buNone/>
                      </a:pPr>
                      <a:r>
                        <a:rPr lang="en-CA" sz="1100" i="1" kern="100" noProof="0">
                          <a:solidFill>
                            <a:schemeClr val="tx2"/>
                          </a:solidFill>
                          <a:effectLst/>
                          <a:latin typeface="+mn-lt"/>
                        </a:rPr>
                        <a:t>Define what must be true in delivery and operations to ensure consistency, speed, quality, and control.</a:t>
                      </a:r>
                      <a:endParaRPr lang="en-CA" sz="1100" i="1" kern="100" noProof="0">
                        <a:solidFill>
                          <a:schemeClr val="tx2"/>
                        </a:solidFill>
                        <a:effectLst/>
                        <a:latin typeface="+mn-lt"/>
                        <a:ea typeface="Aptos" panose="020B0004020202020204" pitchFamily="34" charset="0"/>
                        <a:cs typeface="Times New Roman" panose="02020603050405020304" pitchFamily="18" charset="0"/>
                      </a:endParaRPr>
                    </a:p>
                  </a:txBody>
                  <a:tcPr marL="72000" marR="72000" marT="72000" marB="72000"/>
                </a:tc>
                <a:extLst>
                  <a:ext uri="{0D108BD9-81ED-4DB2-BD59-A6C34878D82A}">
                    <a16:rowId xmlns:a16="http://schemas.microsoft.com/office/drawing/2014/main" val="4002564338"/>
                  </a:ext>
                </a:extLst>
              </a:tr>
              <a:tr h="3629967">
                <a:tc>
                  <a:txBody>
                    <a:bodyPr/>
                    <a:lstStyle/>
                    <a:p>
                      <a:pPr marL="182563" marR="0" lvl="0" indent="-182563">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Unified Data Platform:</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 All critical data required to enable decision making, automation, AI and business outcomes are made available through </a:t>
                      </a:r>
                      <a:r>
                        <a:rPr lang="en-CA" sz="1000" b="0" kern="100" noProof="0">
                          <a:solidFill>
                            <a:schemeClr val="bg2">
                              <a:lumMod val="10000"/>
                            </a:schemeClr>
                          </a:solidFill>
                          <a:effectLst/>
                          <a:latin typeface="+mn-lt"/>
                          <a:ea typeface="Aptos" panose="020B0004020202020204" pitchFamily="34" charset="0"/>
                          <a:cs typeface="Times New Roman" panose="02020603050405020304" pitchFamily="18" charset="0"/>
                        </a:rPr>
                        <a:t>a unified, enterprise platform.</a:t>
                      </a:r>
                    </a:p>
                    <a:p>
                      <a:pPr marL="182563" marR="0" lvl="0" indent="-182563">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Data as a product: </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Data is managed with clear owners, consumers, contracts, service expectations, and support. </a:t>
                      </a:r>
                    </a:p>
                    <a:p>
                      <a:pPr marL="182563" marR="0" lvl="0" indent="-182563">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Data as a governed business asset: </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Every critical data product has accountable business ownership for meaning, quality, access, and lifecycle. </a:t>
                      </a:r>
                    </a:p>
                    <a:p>
                      <a:pPr marL="182563" marR="0" lvl="0" indent="-182563" algn="l" defTabSz="914400" rtl="0" eaLnBrk="1" fontAlgn="auto" latinLnBrk="0" hangingPunct="1">
                        <a:lnSpc>
                          <a:spcPct val="115000"/>
                        </a:lnSpc>
                        <a:spcBef>
                          <a:spcPts val="0"/>
                        </a:spcBef>
                        <a:spcAft>
                          <a:spcPts val="800"/>
                        </a:spcAft>
                        <a:buClrTx/>
                        <a:buSzTx/>
                        <a:buFont typeface="+mj-lt"/>
                        <a:buAutoNum type="arabicPeriod"/>
                        <a:tabLst/>
                        <a:defRPr/>
                      </a:pPr>
                      <a:r>
                        <a:rPr lang="en-CA" sz="1000" b="1" noProof="0">
                          <a:solidFill>
                            <a:schemeClr val="accent5">
                              <a:lumMod val="50000"/>
                            </a:schemeClr>
                          </a:solidFill>
                          <a:latin typeface="+mn-lt"/>
                        </a:rPr>
                        <a:t>Democratized data access: </a:t>
                      </a:r>
                      <a:r>
                        <a:rPr lang="en-CA" sz="1000" noProof="0">
                          <a:solidFill>
                            <a:schemeClr val="accent5">
                              <a:lumMod val="50000"/>
                            </a:schemeClr>
                          </a:solidFill>
                          <a:latin typeface="+mn-lt"/>
                        </a:rPr>
                        <a:t>Provide timely, intuitive access to high-quality data so users can independently discover, understand, and act on insights.</a:t>
                      </a:r>
                      <a:endPar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endParaRPr>
                    </a:p>
                    <a:p>
                      <a:pPr marL="182563" marR="0" lvl="0" indent="-182563">
                        <a:lnSpc>
                          <a:spcPct val="115000"/>
                        </a:lnSpc>
                        <a:spcAft>
                          <a:spcPts val="800"/>
                        </a:spcAft>
                        <a:buFont typeface="+mj-lt"/>
                        <a:buAutoNum type="arabicPeriod"/>
                      </a:pPr>
                      <a:endPar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endParaRPr>
                    </a:p>
                    <a:p>
                      <a:pPr marL="182563" marR="0" lvl="0" indent="-182563">
                        <a:lnSpc>
                          <a:spcPct val="115000"/>
                        </a:lnSpc>
                        <a:spcAft>
                          <a:spcPts val="800"/>
                        </a:spcAft>
                        <a:buFont typeface="+mj-lt"/>
                        <a:buAutoNum type="arabicPeriod"/>
                      </a:pPr>
                      <a:endPar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endParaRPr>
                    </a:p>
                  </a:txBody>
                  <a:tcPr marL="72000" marR="72000" marT="72000" marB="72000">
                    <a:solidFill>
                      <a:schemeClr val="bg1"/>
                    </a:solidFill>
                  </a:tcPr>
                </a:tc>
                <a:tc>
                  <a:txBody>
                    <a:bodyPr/>
                    <a:lstStyle/>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Trust, security, and privacy by design: </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Privacy, security, regulatory compliance, and auditability are embedded as non-negotiable foundations.</a:t>
                      </a:r>
                    </a:p>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Least-privilege access: </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Access to production and sensitive data is restricted by default, granted based on role, purpose, and context, and fully auditable.</a:t>
                      </a:r>
                    </a:p>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Policy-driven automation: </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Governance policies are enforced automatically through platforms, pipelines, and controls. </a:t>
                      </a:r>
                    </a:p>
                  </a:txBody>
                  <a:tcPr marL="72000" marR="72000" marT="72000" marB="72000">
                    <a:solidFill>
                      <a:schemeClr val="bg1"/>
                    </a:solidFill>
                  </a:tcPr>
                </a:tc>
                <a:tc>
                  <a:txBody>
                    <a:bodyPr/>
                    <a:lstStyle/>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AI-ready &amp; machine-consumable data: </a:t>
                      </a:r>
                      <a:r>
                        <a:rPr lang="en-CA" sz="1000" b="0" kern="100" noProof="0">
                          <a:solidFill>
                            <a:schemeClr val="bg2">
                              <a:lumMod val="10000"/>
                            </a:schemeClr>
                          </a:solidFill>
                          <a:effectLst/>
                          <a:latin typeface="+mn-lt"/>
                          <a:ea typeface="Aptos" panose="020B0004020202020204" pitchFamily="34" charset="0"/>
                          <a:cs typeface="Times New Roman" panose="02020603050405020304" pitchFamily="18" charset="0"/>
                        </a:rPr>
                        <a:t>Data is stored and enriched across structured and unstructured sources to enable analytics, automation, and AI at scale.</a:t>
                      </a: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 </a:t>
                      </a:r>
                    </a:p>
                    <a:p>
                      <a:pPr marL="180975" marR="0" lvl="0" indent="-180975" algn="l" defTabSz="914400" rtl="0" eaLnBrk="1" fontAlgn="auto" latinLnBrk="0" hangingPunct="1">
                        <a:lnSpc>
                          <a:spcPct val="115000"/>
                        </a:lnSpc>
                        <a:spcBef>
                          <a:spcPts val="0"/>
                        </a:spcBef>
                        <a:spcAft>
                          <a:spcPts val="800"/>
                        </a:spcAft>
                        <a:buClrTx/>
                        <a:buSzTx/>
                        <a:buFont typeface="+mj-lt"/>
                        <a:buAutoNum type="arabicPeriod"/>
                        <a:tabLst/>
                        <a:defRPr/>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Modular and Multi-Cloud: </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Architecture is modular and can operate across multiple hyperscalers to avoid unnecessary lock-in and remains adaptable across platforms and environments. </a:t>
                      </a:r>
                    </a:p>
                    <a:p>
                      <a:pPr marL="180975" marR="0" lvl="0" indent="-180975" algn="l" defTabSz="914400" rtl="0" eaLnBrk="1" fontAlgn="auto" latinLnBrk="0" hangingPunct="1">
                        <a:lnSpc>
                          <a:spcPct val="115000"/>
                        </a:lnSpc>
                        <a:spcBef>
                          <a:spcPts val="0"/>
                        </a:spcBef>
                        <a:spcAft>
                          <a:spcPts val="800"/>
                        </a:spcAft>
                        <a:buClrTx/>
                        <a:buSzTx/>
                        <a:buFont typeface="+mj-lt"/>
                        <a:buAutoNum type="arabicPeriod"/>
                        <a:tabLst/>
                        <a:defRPr/>
                      </a:pPr>
                      <a:r>
                        <a:rPr lang="en-CA" sz="1000" b="1" kern="100" noProof="0">
                          <a:solidFill>
                            <a:schemeClr val="bg2">
                              <a:lumMod val="10000"/>
                            </a:schemeClr>
                          </a:solidFill>
                          <a:effectLst/>
                          <a:latin typeface="+mn-lt"/>
                          <a:ea typeface="Aptos" panose="020B0004020202020204" pitchFamily="34" charset="0"/>
                          <a:cs typeface="Times New Roman"/>
                        </a:rPr>
                        <a:t>Near real‑time data is the preferred:</a:t>
                      </a:r>
                      <a:r>
                        <a:rPr lang="en-CA" sz="1000" kern="100" noProof="0">
                          <a:solidFill>
                            <a:schemeClr val="bg2">
                              <a:lumMod val="10000"/>
                            </a:schemeClr>
                          </a:solidFill>
                          <a:effectLst/>
                          <a:latin typeface="+mn-lt"/>
                          <a:ea typeface="Aptos" panose="020B0004020202020204" pitchFamily="34" charset="0"/>
                          <a:cs typeface="Times New Roman"/>
                        </a:rPr>
                        <a:t> Batch processing used only where latency does not impact decisions or outcomes.</a:t>
                      </a:r>
                      <a:endParaRPr lang="en-CA" sz="1000" b="1" kern="100" noProof="0">
                        <a:solidFill>
                          <a:schemeClr val="bg2">
                            <a:lumMod val="10000"/>
                          </a:schemeClr>
                        </a:solidFill>
                        <a:effectLst/>
                        <a:latin typeface="+mn-lt"/>
                        <a:ea typeface="Aptos" panose="020B0004020202020204" pitchFamily="34" charset="0"/>
                        <a:cs typeface="Times New Roman"/>
                      </a:endParaRPr>
                    </a:p>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Domain-oriented design:</a:t>
                      </a:r>
                      <a:r>
                        <a:rPr lang="en-CA" sz="1000" b="0" kern="100" noProof="0">
                          <a:solidFill>
                            <a:schemeClr val="bg2">
                              <a:lumMod val="10000"/>
                            </a:schemeClr>
                          </a:solidFill>
                          <a:effectLst/>
                          <a:latin typeface="+mn-lt"/>
                          <a:ea typeface="Aptos" panose="020B0004020202020204" pitchFamily="34" charset="0"/>
                          <a:cs typeface="Times New Roman" panose="02020603050405020304" pitchFamily="18" charset="0"/>
                        </a:rPr>
                        <a:t> Data is structured using shared definitions and semantics aligned to business domains.</a:t>
                      </a:r>
                    </a:p>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ea typeface="Aptos" panose="020B0004020202020204" pitchFamily="34" charset="0"/>
                          <a:cs typeface="Times New Roman" panose="02020603050405020304" pitchFamily="18" charset="0"/>
                        </a:rPr>
                        <a:t>Interoperable &amp; composable</a:t>
                      </a:r>
                      <a:r>
                        <a:rPr lang="en-CA" sz="1000" kern="100" noProof="0">
                          <a:solidFill>
                            <a:schemeClr val="bg2">
                              <a:lumMod val="10000"/>
                            </a:schemeClr>
                          </a:solidFill>
                          <a:effectLst/>
                          <a:latin typeface="+mn-lt"/>
                          <a:ea typeface="Aptos" panose="020B0004020202020204" pitchFamily="34" charset="0"/>
                          <a:cs typeface="Times New Roman" panose="02020603050405020304" pitchFamily="18" charset="0"/>
                        </a:rPr>
                        <a:t>: Data is built once and reused broadly across use cases, reducing duplication and increasing leverage.</a:t>
                      </a:r>
                    </a:p>
                  </a:txBody>
                  <a:tcPr marL="72000" marR="72000" marT="72000" marB="72000">
                    <a:solidFill>
                      <a:schemeClr val="bg1"/>
                    </a:solidFill>
                  </a:tcPr>
                </a:tc>
                <a:tc>
                  <a:txBody>
                    <a:bodyPr/>
                    <a:lstStyle/>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rPr>
                        <a:t>Business-led &amp; outcome-driven: </a:t>
                      </a:r>
                      <a:r>
                        <a:rPr lang="en-CA" sz="1000" b="0" kern="100" noProof="0">
                          <a:solidFill>
                            <a:schemeClr val="bg2">
                              <a:lumMod val="10000"/>
                            </a:schemeClr>
                          </a:solidFill>
                          <a:effectLst/>
                          <a:latin typeface="+mn-lt"/>
                        </a:rPr>
                        <a:t>Data initiatives are prioritized, funded, and measured based on measurable business outcomes, not technology upgrades. </a:t>
                      </a:r>
                    </a:p>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rPr>
                        <a:t>Incremental delivery: </a:t>
                      </a:r>
                      <a:r>
                        <a:rPr lang="en-CA" sz="1000" kern="100" noProof="0">
                          <a:solidFill>
                            <a:schemeClr val="bg2">
                              <a:lumMod val="10000"/>
                            </a:schemeClr>
                          </a:solidFill>
                          <a:effectLst/>
                          <a:latin typeface="+mn-lt"/>
                        </a:rPr>
                        <a:t>Data capabilities are delivered incrementally to accelerate value and learning. </a:t>
                      </a:r>
                    </a:p>
                    <a:p>
                      <a:pPr marL="180975" marR="0" lvl="0" indent="-180975">
                        <a:lnSpc>
                          <a:spcPct val="115000"/>
                        </a:lnSpc>
                        <a:spcAft>
                          <a:spcPts val="800"/>
                        </a:spcAft>
                        <a:buFont typeface="+mj-lt"/>
                        <a:buAutoNum type="arabicPeriod"/>
                      </a:pPr>
                      <a:r>
                        <a:rPr lang="en-CA" sz="1000" b="1" kern="100" noProof="0">
                          <a:solidFill>
                            <a:schemeClr val="bg2">
                              <a:lumMod val="10000"/>
                            </a:schemeClr>
                          </a:solidFill>
                          <a:effectLst/>
                          <a:latin typeface="+mn-lt"/>
                        </a:rPr>
                        <a:t>Product-oriented teams: </a:t>
                      </a:r>
                      <a:r>
                        <a:rPr lang="en-CA" sz="1000" kern="100" noProof="0">
                          <a:solidFill>
                            <a:schemeClr val="bg2">
                              <a:lumMod val="10000"/>
                            </a:schemeClr>
                          </a:solidFill>
                          <a:effectLst/>
                          <a:latin typeface="+mn-lt"/>
                        </a:rPr>
                        <a:t>Persistent, cross-functional teams own data products end-to-end through build, run, and improvement.</a:t>
                      </a:r>
                    </a:p>
                  </a:txBody>
                  <a:tcPr marL="72000" marR="72000" marT="72000" marB="72000">
                    <a:solidFill>
                      <a:schemeClr val="bg1"/>
                    </a:solidFill>
                  </a:tcPr>
                </a:tc>
                <a:extLst>
                  <a:ext uri="{0D108BD9-81ED-4DB2-BD59-A6C34878D82A}">
                    <a16:rowId xmlns:a16="http://schemas.microsoft.com/office/drawing/2014/main" val="3513778622"/>
                  </a:ext>
                </a:extLst>
              </a:tr>
            </a:tbl>
          </a:graphicData>
        </a:graphic>
      </p:graphicFrame>
    </p:spTree>
    <p:extLst>
      <p:ext uri="{BB962C8B-B14F-4D97-AF65-F5344CB8AC3E}">
        <p14:creationId xmlns:p14="http://schemas.microsoft.com/office/powerpoint/2010/main" val="497462664"/>
      </p:ext>
    </p:extLst>
  </p:cSld>
  <p:clrMapOvr>
    <a:masterClrMapping/>
  </p:clrMapOvr>
</p:sld>
</file>

<file path=ppt/theme/theme1.xml><?xml version="1.0" encoding="utf-8"?>
<a:theme xmlns:a="http://schemas.openxmlformats.org/drawingml/2006/main" name="Office Theme">
  <a:themeElements>
    <a:clrScheme name="2024WCAG-AAA">
      <a:dk1>
        <a:srgbClr val="515146"/>
      </a:dk1>
      <a:lt1>
        <a:srgbClr val="FFFFFF"/>
      </a:lt1>
      <a:dk2>
        <a:srgbClr val="A20A28"/>
      </a:dk2>
      <a:lt2>
        <a:srgbClr val="F0F0EF"/>
      </a:lt2>
      <a:accent1>
        <a:srgbClr val="006565"/>
      </a:accent1>
      <a:accent2>
        <a:srgbClr val="447736"/>
      </a:accent2>
      <a:accent3>
        <a:srgbClr val="55509C"/>
      </a:accent3>
      <a:accent4>
        <a:srgbClr val="007E7F"/>
      </a:accent4>
      <a:accent5>
        <a:srgbClr val="363630"/>
      </a:accent5>
      <a:accent6>
        <a:srgbClr val="005D8F"/>
      </a:accent6>
      <a:hlink>
        <a:srgbClr val="6D071C"/>
      </a:hlink>
      <a:folHlink>
        <a:srgbClr val="005D8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C000"/>
        </a:solidFill>
        <a:ln w="9525">
          <a:noFill/>
        </a:ln>
      </a:spPr>
      <a:bodyPr lIns="36000" tIns="36000" rIns="36000" bIns="36000" rtlCol="0" anchor="ctr">
        <a:noAutofit/>
      </a:bodyPr>
      <a:lstStyle>
        <a:defPPr algn="l">
          <a:defRPr sz="1200" noProof="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0">
          <a:solidFill>
            <a:srgbClr val="FF0000"/>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72000" tIns="36000" rIns="72000" bIns="36000" rtlCol="0" anchor="t" anchorCtr="0">
        <a:spAutoFit/>
      </a:bodyPr>
      <a:lstStyle>
        <a:defPPr algn="l">
          <a:defRPr sz="1050" dirty="0" err="1" smtClean="0">
            <a:solidFill>
              <a:schemeClr val="bg2">
                <a:lumMod val="10000"/>
              </a:schemeClr>
            </a:solidFill>
          </a:defRPr>
        </a:defPPr>
      </a:lstStyle>
      <a:style>
        <a:lnRef idx="3">
          <a:schemeClr val="lt1"/>
        </a:lnRef>
        <a:fillRef idx="1">
          <a:schemeClr val="accent2"/>
        </a:fillRef>
        <a:effectRef idx="1">
          <a:schemeClr val="accent2"/>
        </a:effectRef>
        <a:fontRef idx="minor">
          <a:schemeClr val="lt1"/>
        </a:fontRef>
      </a:style>
    </a:txDef>
  </a:objectDefaults>
  <a:extraClrSchemeLst/>
  <a:extLst>
    <a:ext uri="{05A4C25C-085E-4340-85A3-A5531E510DB2}">
      <thm15:themeFamily xmlns:thm15="http://schemas.microsoft.com/office/thememl/2012/main" name="CanadaLife_PPT_16x9_EN_WithConfidential" id="{B69A840D-5B71-7B45-9513-3BB86FA4D3F2}" vid="{00E05A93-0D47-FD49-AC47-80FB5003A5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itiativeName xmlns="997a95da-3068-438f-ad92-afd1bcb7a315" xsi:nil="true"/>
    <ChargeCode xmlns="997a95da-3068-438f-ad92-afd1bcb7a315" xsi:nil="true"/>
    <_ip_UnifiedCompliancePolicyUIAction xmlns="http://schemas.microsoft.com/sharepoint/v3" xsi:nil="true"/>
    <_ip_UnifiedCompliancePolicyProperties xmlns="http://schemas.microsoft.com/sharepoint/v3" xsi:nil="true"/>
    <TaxCatchAll xmlns="a4d82eda-224d-4c8e-8982-05e0425cb8c1" xsi:nil="true"/>
    <lcf76f155ced4ddcb4097134ff3c332f xmlns="257d4247-a5f3-4abc-972d-3e18405cf8f3">
      <Terms xmlns="http://schemas.microsoft.com/office/infopath/2007/PartnerControls"/>
    </lcf76f155ced4ddcb4097134ff3c332f>
  </documentManagement>
</p:properties>
</file>

<file path=customXml/item3.xml><?xml version="1.0" encoding="utf-8"?>
<?mso-contentType ?>
<SharedContentType xmlns="Microsoft.SharePoint.Taxonomy.ContentTypeSync" SourceId="51a1608f-2208-40e5-9331-733f061a9c11" ContentTypeId="0x0101" PreviousValue="false"/>
</file>

<file path=customXml/item4.xml><?xml version="1.0" encoding="utf-8"?>
<ct:contentTypeSchema xmlns:ct="http://schemas.microsoft.com/office/2006/metadata/contentType" xmlns:ma="http://schemas.microsoft.com/office/2006/metadata/properties/metaAttributes" ct:_="" ma:_="" ma:contentTypeName="Document" ma:contentTypeID="0x0101006F18F6DB3747D847A9601CFB4C4D3FD7" ma:contentTypeVersion="15" ma:contentTypeDescription="Create a new document." ma:contentTypeScope="" ma:versionID="2787d912c051240b20124dad68ff36d1">
  <xsd:schema xmlns:xsd="http://www.w3.org/2001/XMLSchema" xmlns:xs="http://www.w3.org/2001/XMLSchema" xmlns:p="http://schemas.microsoft.com/office/2006/metadata/properties" xmlns:ns1="http://schemas.microsoft.com/sharepoint/v3" xmlns:ns2="997a95da-3068-438f-ad92-afd1bcb7a315" xmlns:ns3="257d4247-a5f3-4abc-972d-3e18405cf8f3" xmlns:ns4="a4d82eda-224d-4c8e-8982-05e0425cb8c1" targetNamespace="http://schemas.microsoft.com/office/2006/metadata/properties" ma:root="true" ma:fieldsID="871df92730311032211bd3c1292d5c0d" ns1:_="" ns2:_="" ns3:_="" ns4:_="">
    <xsd:import namespace="http://schemas.microsoft.com/sharepoint/v3"/>
    <xsd:import namespace="997a95da-3068-438f-ad92-afd1bcb7a315"/>
    <xsd:import namespace="257d4247-a5f3-4abc-972d-3e18405cf8f3"/>
    <xsd:import namespace="a4d82eda-224d-4c8e-8982-05e0425cb8c1"/>
    <xsd:element name="properties">
      <xsd:complexType>
        <xsd:sequence>
          <xsd:element name="documentManagement">
            <xsd:complexType>
              <xsd:all>
                <xsd:element ref="ns2:InitiativeName" minOccurs="0"/>
                <xsd:element ref="ns2:ChargeCode"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element ref="ns1:_ip_UnifiedCompliancePolicyProperties" minOccurs="0"/>
                <xsd:element ref="ns1:_ip_UnifiedCompliancePolicyUIAction" minOccurs="0"/>
                <xsd:element ref="ns3:lcf76f155ced4ddcb4097134ff3c332f" minOccurs="0"/>
                <xsd:element ref="ns4: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97a95da-3068-438f-ad92-afd1bcb7a315" elementFormDefault="qualified">
    <xsd:import namespace="http://schemas.microsoft.com/office/2006/documentManagement/types"/>
    <xsd:import namespace="http://schemas.microsoft.com/office/infopath/2007/PartnerControls"/>
    <xsd:element name="InitiativeName" ma:index="8" nillable="true" ma:displayName="InitiativeName" ma:internalName="InitiativeName">
      <xsd:simpleType>
        <xsd:restriction base="dms:Text">
          <xsd:maxLength value="255"/>
        </xsd:restriction>
      </xsd:simpleType>
    </xsd:element>
    <xsd:element name="ChargeCode" ma:index="9" nillable="true" ma:displayName="ChargeCode" ma:internalName="Charge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7d4247-a5f3-4abc-972d-3e18405cf8f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51a1608f-2208-40e5-9331-733f061a9c11"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4d82eda-224d-4c8e-8982-05e0425cb8c1"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37f24fc-4d46-4482-abbc-e11229eef961}" ma:internalName="TaxCatchAll" ma:showField="CatchAllData" ma:web="a4d82eda-224d-4c8e-8982-05e0425cb8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043757-E0DD-4E62-9D20-3626AA8CDFF9}">
  <ds:schemaRefs>
    <ds:schemaRef ds:uri="http://schemas.microsoft.com/sharepoint/v3/contenttype/forms"/>
  </ds:schemaRefs>
</ds:datastoreItem>
</file>

<file path=customXml/itemProps2.xml><?xml version="1.0" encoding="utf-8"?>
<ds:datastoreItem xmlns:ds="http://schemas.openxmlformats.org/officeDocument/2006/customXml" ds:itemID="{692EB09B-9A46-4B4C-9154-15A3178BAE09}">
  <ds:schemaRefs>
    <ds:schemaRef ds:uri="257d4247-a5f3-4abc-972d-3e18405cf8f3"/>
    <ds:schemaRef ds:uri="997a95da-3068-438f-ad92-afd1bcb7a31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a4d82eda-224d-4c8e-8982-05e0425cb8c1"/>
  </ds:schemaRefs>
</ds:datastoreItem>
</file>

<file path=customXml/itemProps3.xml><?xml version="1.0" encoding="utf-8"?>
<ds:datastoreItem xmlns:ds="http://schemas.openxmlformats.org/officeDocument/2006/customXml" ds:itemID="{3A209EBA-5E23-478F-BC8B-94A9E8D26B23}">
  <ds:schemaRefs>
    <ds:schemaRef ds:uri="Microsoft.SharePoint.Taxonomy.ContentTypeSync"/>
  </ds:schemaRefs>
</ds:datastoreItem>
</file>

<file path=customXml/itemProps4.xml><?xml version="1.0" encoding="utf-8"?>
<ds:datastoreItem xmlns:ds="http://schemas.openxmlformats.org/officeDocument/2006/customXml" ds:itemID="{3B087F7D-A733-4710-9625-E488A93E33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97a95da-3068-438f-ad92-afd1bcb7a315"/>
    <ds:schemaRef ds:uri="257d4247-a5f3-4abc-972d-3e18405cf8f3"/>
    <ds:schemaRef ds:uri="a4d82eda-224d-4c8e-8982-05e0425cb8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CanadaLife_PPT_16x9_EN_WithConfidential (1)</Template>
  <TotalTime>0</TotalTime>
  <Words>5842</Words>
  <Application>Microsoft Office PowerPoint</Application>
  <PresentationFormat>Widescreen</PresentationFormat>
  <Paragraphs>1018</Paragraphs>
  <Slides>27</Slides>
  <Notes>16</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Table of Content</vt:lpstr>
      <vt:lpstr>Table of Content</vt:lpstr>
      <vt:lpstr>Table of Content</vt:lpstr>
      <vt:lpstr>Recall: Canada Life’s Next-Gen Unified Data Platform for Insight, Innovation, &amp; AI</vt:lpstr>
      <vt:lpstr>Platform NORTH Architecture Blueprints</vt:lpstr>
      <vt:lpstr>PowerPoint Presentation</vt:lpstr>
      <vt:lpstr>1.2 NORTH Platform Data Node FAQ</vt:lpstr>
      <vt:lpstr>PowerPoint Presentation</vt:lpstr>
      <vt:lpstr>PowerPoint Presentation</vt:lpstr>
      <vt:lpstr>PowerPoint Presentation</vt:lpstr>
      <vt:lpstr>PowerPoint Presentation</vt:lpstr>
      <vt:lpstr>PowerPoint Presentation</vt:lpstr>
      <vt:lpstr>2.2 Multi‑Cloud Architecture Blueprint</vt:lpstr>
      <vt:lpstr>2.3 Shared Services and Connectivity: Cross-Region Data Product Access</vt:lpstr>
      <vt:lpstr>Enterprise Data Domains</vt:lpstr>
      <vt:lpstr>3.1 Enterprise Information Model - Domains</vt:lpstr>
      <vt:lpstr>3.2 Person – Canada Life Ontology Model</vt:lpstr>
      <vt:lpstr>Enterprise Data Patterns</vt:lpstr>
      <vt:lpstr>PowerPoint Presentation</vt:lpstr>
      <vt:lpstr>4.2 North Platform Data Patterns</vt:lpstr>
      <vt:lpstr>4.3 Data Patterns – Inventory</vt:lpstr>
      <vt:lpstr>Appendix</vt:lpstr>
      <vt:lpstr>PowerPoint Presentation</vt:lpstr>
      <vt:lpstr>Enterprise Data Principles</vt:lpstr>
      <vt:lpstr>1. Canada Life Data Principles – Framework</vt:lpstr>
      <vt:lpstr>2. Canada Life Data Principles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Canada Life - Data Strategy Operationalization</dc:title>
  <dc:creator>Ki, James</dc:creator>
  <cp:keywords>Canada Life</cp:keywords>
  <cp:lastModifiedBy>Shamaei, Ali</cp:lastModifiedBy>
  <cp:revision>2</cp:revision>
  <dcterms:created xsi:type="dcterms:W3CDTF">2025-09-30T17:13:19Z</dcterms:created>
  <dcterms:modified xsi:type="dcterms:W3CDTF">2026-08-10T10:41:20Z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0x0101006F18F6DB3747D847A9601CFB4C4D3FD7</vt:lpwstr>
  </property>
  <property fmtid="{D5CDD505-2E9C-101B-9397-08002B2CF9AE}" pid="3" name="_ExtendedDescription">
    <vt:lpwstr/>
  </property>
  <property fmtid="{D5CDD505-2E9C-101B-9397-08002B2CF9AE}" pid="4" name="MSIP_Label_b07bbe84-2447-47ed-9f95-d9c34bc076ba_Enabled">
    <vt:lpwstr>true</vt:lpwstr>
  </property>
  <property fmtid="{D5CDD505-2E9C-101B-9397-08002B2CF9AE}" pid="5" name="MSIP_Label_b07bbe84-2447-47ed-9f95-d9c34bc076ba_SetDate">
    <vt:lpwstr>2024-05-02T17:47:39Z</vt:lpwstr>
  </property>
  <property fmtid="{D5CDD505-2E9C-101B-9397-08002B2CF9AE}" pid="6" name="MSIP_Label_b07bbe84-2447-47ed-9f95-d9c34bc076ba_Method">
    <vt:lpwstr>Standard</vt:lpwstr>
  </property>
  <property fmtid="{D5CDD505-2E9C-101B-9397-08002B2CF9AE}" pid="7" name="MSIP_Label_b07bbe84-2447-47ed-9f95-d9c34bc076ba_Name">
    <vt:lpwstr>Confidential</vt:lpwstr>
  </property>
  <property fmtid="{D5CDD505-2E9C-101B-9397-08002B2CF9AE}" pid="8" name="MSIP_Label_b07bbe84-2447-47ed-9f95-d9c34bc076ba_SiteId">
    <vt:lpwstr>633f3069-d670-4419-9fee-2ab4251c88ee</vt:lpwstr>
  </property>
  <property fmtid="{D5CDD505-2E9C-101B-9397-08002B2CF9AE}" pid="9" name="MSIP_Label_b07bbe84-2447-47ed-9f95-d9c34bc076ba_ActionId">
    <vt:lpwstr>9fc35289-bf04-44ac-82e4-c94a6323d2db</vt:lpwstr>
  </property>
  <property fmtid="{D5CDD505-2E9C-101B-9397-08002B2CF9AE}" pid="10" name="MSIP_Label_b07bbe84-2447-47ed-9f95-d9c34bc076ba_ContentBits">
    <vt:lpwstr>0</vt:lpwstr>
  </property>
  <property fmtid="{D5CDD505-2E9C-101B-9397-08002B2CF9AE}" pid="11" name="MediaServiceImageTags">
    <vt:lpwstr/>
  </property>
  <property fmtid="{D5CDD505-2E9C-101B-9397-08002B2CF9AE}" pid="12" name="p233537e11824b94a6f79670172bba06">
    <vt:lpwstr>ThisIsDefaultText|bff42692-8382-4fe1-a78c-340b549bf906</vt:lpwstr>
  </property>
  <property fmtid="{D5CDD505-2E9C-101B-9397-08002B2CF9AE}" pid="13" name="hb80f18bccae48d0bfc49f5440c7324d">
    <vt:lpwstr>ThisIsDefaultText|2d06cb3a-e403-403d-ac6e-a1984304e335</vt:lpwstr>
  </property>
  <property fmtid="{D5CDD505-2E9C-101B-9397-08002B2CF9AE}" pid="14" name="da9d0206f29a4763864f6c6256c34325">
    <vt:lpwstr>Article|59119905-1cb4-49a4-bfd7-d16dba9a5726</vt:lpwstr>
  </property>
  <property fmtid="{D5CDD505-2E9C-101B-9397-08002B2CF9AE}" pid="15" name="lcb1ac0b15344672993c59ecf3e6f100">
    <vt:lpwstr>ThisIsDefaultText|172da3e7-34c1-4b68-979d-06b75115b7fe</vt:lpwstr>
  </property>
  <property fmtid="{D5CDD505-2E9C-101B-9397-08002B2CF9AE}" pid="16" name="ReferenceMaterialTopic">
    <vt:lpwstr>367;#ThisIsDefaultText|f4f5f338-7e92-407b-b9aa-25121fad8886</vt:lpwstr>
  </property>
  <property fmtid="{D5CDD505-2E9C-101B-9397-08002B2CF9AE}" pid="17" name="ReferenceMaterialType">
    <vt:lpwstr>366;#ThisIsDefaultText|1a412291-00be-4961-8aa9-9706b9e85612</vt:lpwstr>
  </property>
  <property fmtid="{D5CDD505-2E9C-101B-9397-08002B2CF9AE}" pid="18" name="RelatedLocation">
    <vt:lpwstr>1;#National (All) / Bureaux à l’échelle nationale (tous les bureaux)|56f43640-3277-4d79-b445-bfa1a35c94b5</vt:lpwstr>
  </property>
  <property fmtid="{D5CDD505-2E9C-101B-9397-08002B2CF9AE}" pid="19" name="TaxKeyword">
    <vt:lpwstr/>
  </property>
  <property fmtid="{D5CDD505-2E9C-101B-9397-08002B2CF9AE}" pid="20" name="ItemType">
    <vt:lpwstr>3;#Article|59119905-1cb4-49a4-bfd7-d16dba9a5726</vt:lpwstr>
  </property>
  <property fmtid="{D5CDD505-2E9C-101B-9397-08002B2CF9AE}" pid="21" name="SitePageType">
    <vt:lpwstr>364;#ThisIsDefaultText|2d06cb3a-e403-403d-ac6e-a1984304e335</vt:lpwstr>
  </property>
  <property fmtid="{D5CDD505-2E9C-101B-9397-08002B2CF9AE}" pid="22" name="NewsTopic">
    <vt:lpwstr>368;#ThisIsDefaultText|172da3e7-34c1-4b68-979d-06b75115b7fe</vt:lpwstr>
  </property>
  <property fmtid="{D5CDD505-2E9C-101B-9397-08002B2CF9AE}" pid="23" name="SitePageTopic">
    <vt:lpwstr>365;#ThisIsDefaultText|bff42692-8382-4fe1-a78c-340b549bf906</vt:lpwstr>
  </property>
</Properties>
</file>