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value and alignment conversation, not a template debate. Three built packages are the evidence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only — the council already decided this. Everything that follows is implementation of what was approved, not a new proposal at this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words — problem, intent, applicability, trade-offs, scope — come verbatim from v1.4 section 6. They are the objective test, not my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the agreed I&amp;O approach: never open with criticism. This slide is genuine — EDP-5 really is a good pattern. The convergence point is the strongest: they already agree with the framework’s central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gap has a named, verifiable evidence artifact — this is assessment against v1.4 criteria, not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★ list IS the template-change ask — nine additions, nothing removed. Point at the AWS/Azure EDPs in the packages as the filled-in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room’s two fears at once: EA’s “will intent survive?” and engineering’s “will we lose control?” The answer to both is the same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the live demo here or on the next slide. All three packages ship as linked Word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allows, do this live with the File Ingestion package — EDP-5 up to the style and back down to EDP-4.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conformance story told as bridged gaps rather than a checklist — same substance, value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I&amp;O quadrant is deliberately the longest — theirs is the seat that must say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be left on screen during discussion. It pre-answers the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matters most here: these are governance events being processed correctly, and they only became visible because the framework was applied. That is the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deliberately cost-free to engineering. Phase 2 lands at the Design Authority where it belongs. Phase 3 is pull, not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asks and stop talking. The packages answer the “show me”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Leave-behind slide. The three ZIP packages are the hand-out.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55448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5A2731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0" y="15544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41080" y="15544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Style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18120" y="234086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7A2130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0" y="2340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41080" y="234086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818120" y="312724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9E16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312724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41080" y="31272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Pattern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18120" y="391363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39136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41080" y="39136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Pattern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470001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3A3A40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470001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1080" y="47000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Offerings · referenced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148132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8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LIFE PATTERN FRAMEWORK V1.4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182880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Approved Framework to Working Patterns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66928" y="33832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well-formed Engineering Design Pattern — what it is, how it aligns, and the proof built from our own catalog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" y="5760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Architecture · I&amp;O Solution Architecture &amp; Engineering · Design Authority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99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Portfolio Architecture (Cloud &amp; DevOps, DAAP) · July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approved. The hierarchy is set.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6126480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4650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5A273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81328" y="16916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Style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81328" y="2057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— concept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261518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7A21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25603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81328" y="2926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— structure &amp; flow, no platforms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348386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9E1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34290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Pattern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794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— patterns combined end-to-end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435254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4297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Pattern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81328" y="4663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— CL-approved services &amp; configs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" y="5221224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5555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51663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Offerings Catalog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81328" y="5532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— NOT a pattern (I&amp;O-governed)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" y="5897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Implementations attach to mature patterns · Standards, principles &amp; guardrails influence all levels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the Architecture Council — July 8, 2026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92024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390" y="2021190"/>
            <a:ext cx="218724" cy="21872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516368" y="18653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16368" y="21762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implementation traces back to approved architectural intent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949440" y="2999232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390" y="3100182"/>
            <a:ext cx="218724" cy="21872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516368" y="2944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Single-accountable governance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7516368" y="325526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Authority (joint EA + I&amp;O) accountable for EDPs; I&amp;O authors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949440" y="4078224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390" y="4179174"/>
            <a:ext cx="218724" cy="21872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516368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as a living asset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516368" y="433425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→ Approved → Under Review → Contained → Retired, with defined triggers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6949440" y="5157216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390" y="5258166"/>
            <a:ext cx="218724" cy="21872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516368" y="5102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within scope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7516368" y="541324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pattern, or justify deviation through a governed exception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THE FRAMEWORK SETS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v1.4 requires of every pattern — including every EDP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139696" cy="228600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0078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051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26517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pattern exists — a recurring engineering problem, not a product description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807208" y="1463040"/>
            <a:ext cx="2139696" cy="228600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26664" y="170078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81051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08376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008376" y="26517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approved design guarantees and makes default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047488" y="1463040"/>
            <a:ext cx="2139696" cy="228600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66944" y="170078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81051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48656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48656" y="26517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— and when not to, with the alternative named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287768" y="1463040"/>
            <a:ext cx="2139696" cy="228600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07224" y="170078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81051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88936" y="26517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choosing this design costs; its boundaries and obligations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9528048" y="1463040"/>
            <a:ext cx="2139696" cy="2286000"/>
          </a:xfrm>
          <a:prstGeom prst="roundRect">
            <a:avLst>
              <a:gd name="adj" fmla="val 3846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747504" y="1700784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2" y="181051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9216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729216" y="265176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pattern is authoritative; reuse is intentional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566928" y="411480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BEEF0"/>
          </a:solidFill>
          <a:ln w="9525">
            <a:solidFill>
              <a:srgbClr val="EED2D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86968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two structural obligations: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86968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“Service descriptions are not patterns.”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 or service-only artifacts are not eligible — service mechanics, quotas and pricing belong in the Service Offerings Catalog, referenced by patterns.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is the point.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hierarchy exists so an implementation can be traced to approved intent — a pattern with no parent cannot deliver that.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CREDIT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 already proves engineering can write true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013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110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00200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EDP-5 is an exemplar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0" y="1600200"/>
            <a:ext cx="6400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 (FileNet coupling, SLA risk, scan gaps) · real applicability · real production consumers named in the page: MCLAW, Flywheel, Advisor Workspace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566928" y="2679192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5528" y="29718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081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35608" y="2770632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instinct already there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029200" y="2770632"/>
            <a:ext cx="6400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EDP-5 scopes itself to upload only and explicitly chains to EDP-4 for scanning — the pattern-composition idea, written by engineering before the framework named it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566928" y="3849624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5528" y="41422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2519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3941064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exists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029200" y="3941064"/>
            <a:ext cx="6400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reviewers and review histories are present on recent patterns — the raw material of lifecycle management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566928" y="5020056"/>
            <a:ext cx="1106424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5528" y="53126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42239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5608" y="5111496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has already begun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029200" y="5111496"/>
            <a:ext cx="6400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is merging single-service EDPs into Service Offerings and archiving them — reaching the framework’s own conclusion (“service descriptions are not patterns”) independently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566928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that follow are structural — about the template and the framework connection — not about the quality of engineering’s work.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— STRUCTURAL, WITH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the current EDP structure cannot yet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5844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64208"/>
            <a:ext cx="420624" cy="420624"/>
          </a:xfrm>
          <a:prstGeom prst="ellipse">
            <a:avLst/>
          </a:prstGeom>
          <a:solidFill>
            <a:srgbClr val="8F0B2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334" y="1765158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16642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" y="2157984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“Related Patterns” sections are empty or informal. No EDP can show which approved Solution Pattern it realizes — the framework’s core promise is structurally impossible today.</a:t>
            </a:r>
            <a:endParaRPr lang="en-US" sz="1060" dirty="0"/>
          </a:p>
        </p:txBody>
      </p:sp>
      <p:sp>
        <p:nvSpPr>
          <p:cNvPr id="9" name="Text 6"/>
          <p:cNvSpPr/>
          <p:nvPr/>
        </p:nvSpPr>
        <p:spPr>
          <a:xfrm>
            <a:off x="786384" y="34198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EDP-15, EDP-16; EDP-5 cites “EADP-4”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15968" y="1463040"/>
            <a:ext cx="35844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1664208"/>
            <a:ext cx="420624" cy="420624"/>
          </a:xfrm>
          <a:prstGeom prst="ellipse">
            <a:avLst/>
          </a:prstGeom>
          <a:solidFill>
            <a:srgbClr val="8F0B2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374" y="176515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65776" y="16642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drift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35424" y="2157984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metadata conventions across three patterns — TBM fields, Capability(Primary/Secondary), inconsistent IDs. Each author reinvents structure.</a:t>
            </a:r>
            <a:endParaRPr lang="en-US" sz="1060" dirty="0"/>
          </a:p>
        </p:txBody>
      </p:sp>
      <p:sp>
        <p:nvSpPr>
          <p:cNvPr id="15" name="Text 11"/>
          <p:cNvSpPr/>
          <p:nvPr/>
        </p:nvSpPr>
        <p:spPr>
          <a:xfrm>
            <a:off x="4535424" y="34198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EDP-4/16 vs EDP-5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065008" y="1463040"/>
            <a:ext cx="35844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84464" y="1664208"/>
            <a:ext cx="420624" cy="420624"/>
          </a:xfrm>
          <a:prstGeom prst="ellipse">
            <a:avLst/>
          </a:prstGeom>
          <a:solidFill>
            <a:srgbClr val="8F0B2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414" y="1765158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14816" y="16642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Quotas, not trade-offs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84464" y="2157984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“Limitations” lists service quotas (bucket counts, object sizes) — offering-page content — while design trade-offs and boundaries go unstated.</a:t>
            </a:r>
            <a:endParaRPr lang="en-US" sz="1060" dirty="0"/>
          </a:p>
        </p:txBody>
      </p:sp>
      <p:sp>
        <p:nvSpPr>
          <p:cNvPr id="21" name="Text 16"/>
          <p:cNvSpPr/>
          <p:nvPr/>
        </p:nvSpPr>
        <p:spPr>
          <a:xfrm>
            <a:off x="8284464" y="34198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EDP-16, EDP-4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66928" y="3950208"/>
            <a:ext cx="35844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86384" y="4151376"/>
            <a:ext cx="420624" cy="420624"/>
          </a:xfrm>
          <a:prstGeom prst="ellipse">
            <a:avLst/>
          </a:prstGeom>
          <a:solidFill>
            <a:srgbClr val="8F0B2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334" y="4252326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16736" y="41513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implementation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86384" y="464515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“Deployment Strategy” sections are template boilerplate. Patterns describe; nothing provisions. Compliance stays manual per project.</a:t>
            </a:r>
            <a:endParaRPr lang="en-US" sz="1060" dirty="0"/>
          </a:p>
        </p:txBody>
      </p:sp>
      <p:sp>
        <p:nvSpPr>
          <p:cNvPr id="27" name="Text 21"/>
          <p:cNvSpPr/>
          <p:nvPr/>
        </p:nvSpPr>
        <p:spPr>
          <a:xfrm>
            <a:off x="786384" y="59070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EDP-5, EDP-4 (empty)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15968" y="3950208"/>
            <a:ext cx="35844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35424" y="4151376"/>
            <a:ext cx="420624" cy="420624"/>
          </a:xfrm>
          <a:prstGeom prst="ellipse">
            <a:avLst/>
          </a:prstGeom>
          <a:solidFill>
            <a:srgbClr val="8F0B2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374" y="4252326"/>
            <a:ext cx="218724" cy="2187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65776" y="41513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gaps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4535424" y="464515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values predate v1.4; review triggers unprocessed — a pattern self-declared “tactical pending a 2024 decision” is still simply APPROVED, and its only approver has left.</a:t>
            </a:r>
            <a:endParaRPr lang="en-US" sz="1060" dirty="0"/>
          </a:p>
        </p:txBody>
      </p:sp>
      <p:sp>
        <p:nvSpPr>
          <p:cNvPr id="33" name="Text 26"/>
          <p:cNvSpPr/>
          <p:nvPr/>
        </p:nvSpPr>
        <p:spPr>
          <a:xfrm>
            <a:off x="4535424" y="59070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EDP-4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065008" y="3950208"/>
            <a:ext cx="3584448" cy="2340864"/>
          </a:xfrm>
          <a:prstGeom prst="roundRect">
            <a:avLst>
              <a:gd name="adj" fmla="val 3516"/>
            </a:avLst>
          </a:prstGeom>
          <a:solidFill>
            <a:srgbClr val="FBEEF0"/>
          </a:solidFill>
          <a:ln w="9525">
            <a:solidFill>
              <a:srgbClr val="EED2D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84464" y="4169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8284464" y="4590288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solution using these patterns is re-reviewed from scratch, and no audit can walk from an implementation back to approved intent — the exact costs the framework was approved to remove.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enhanced EDP: your template, completed — nothing replaced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17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engineering EDP template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950208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498848" y="141732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FBEEF0"/>
          </a:solidFill>
          <a:ln w="9525">
            <a:solidFill>
              <a:srgbClr val="EED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1417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additions (★) aligned to v1.4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0416" y="14173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449056" y="1417320"/>
            <a:ext cx="3182112" cy="914400"/>
          </a:xfrm>
          <a:prstGeom prst="roundRect">
            <a:avLst>
              <a:gd name="adj" fmla="val 9000"/>
            </a:avLst>
          </a:prstGeom>
          <a:solidFill>
            <a:srgbClr val="201518"/>
          </a:solidFill>
          <a:ln w="9525">
            <a:solidFill>
              <a:srgbClr val="201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1936" y="1417320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well-formed EDP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2697480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2788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Intent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1078992" y="3172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v1.4 approval criteria, first-class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15968" y="2697480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8032" y="2788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Constraints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4828032" y="3172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costs replace service-quota lists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65008" y="2697480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7072" y="2788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vs Delegated Decisions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8577072" y="31729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vs autonomy, made explicit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3867912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3959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Points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1078992" y="4343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flexibility — no silent drift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15968" y="3867912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28032" y="3959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Lineage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4828032" y="4343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populates Related Patterns with real parents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65008" y="3867912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11312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77072" y="39593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Use, strengthened</a:t>
            </a:r>
            <a:endParaRPr lang="en-US" sz="1230" dirty="0"/>
          </a:p>
        </p:txBody>
      </p:sp>
      <p:sp>
        <p:nvSpPr>
          <p:cNvPr id="35" name="Text 33"/>
          <p:cNvSpPr/>
          <p:nvPr/>
        </p:nvSpPr>
        <p:spPr>
          <a:xfrm>
            <a:off x="8577072" y="4343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 · do-not-use with alternatives · scope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5038344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8992" y="512978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 lifecycle status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1078992" y="55138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/ Approved / Under Review / Contained / Retired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15968" y="5038344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828032" y="512978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Authority + BISO in RACI</a:t>
            </a:r>
            <a:endParaRPr lang="en-US" sz="1230" dirty="0"/>
          </a:p>
        </p:txBody>
      </p:sp>
      <p:sp>
        <p:nvSpPr>
          <p:cNvPr id="43" name="Text 41"/>
          <p:cNvSpPr/>
          <p:nvPr/>
        </p:nvSpPr>
        <p:spPr>
          <a:xfrm>
            <a:off x="4828032" y="55138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approved governance model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65008" y="5038344"/>
            <a:ext cx="3584448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77072" y="512978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— mandatory</a:t>
            </a:r>
            <a:endParaRPr lang="en-US" sz="1230" dirty="0"/>
          </a:p>
        </p:txBody>
      </p:sp>
      <p:sp>
        <p:nvSpPr>
          <p:cNvPr id="47" name="Text 45"/>
          <p:cNvSpPr/>
          <p:nvPr/>
        </p:nvSpPr>
        <p:spPr>
          <a:xfrm>
            <a:off x="8577072" y="551383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without automation is documentation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6309360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IDs, TBM taxonomy, Confluence catalog, approvals and review histories: unchanged and carried over verbatim.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vs Delegated: where assurance and autonomy both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 —  constrained by lineage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the parent patterns already made — trust boundaries, single API entry, federated identity, zone models</a:t>
            </a:r>
            <a:endParaRPr lang="en-US" sz="118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across sibling EDPs (AWS and Azure inherit the same constraints)</a:t>
            </a:r>
            <a:endParaRPr lang="en-US" sz="118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= governed exception via the Design Authority</a:t>
            </a:r>
            <a:endParaRPr lang="en-US" sz="118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EA’s assurance: intent survives into implementation, verifiably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36208" y="146304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642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 —  decided at L4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066544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configuration choices engineering owns — recorded with rationale, significant ones as ADRs</a:t>
            </a:r>
            <a:endParaRPr lang="en-US" sz="118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legitimately differ per CSP or platform</a:t>
            </a:r>
            <a:endParaRPr lang="en-US" sz="118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changes that EDP only — never the lineage above it</a:t>
            </a:r>
            <a:endParaRPr lang="en-US" sz="1180" dirty="0"/>
          </a:p>
          <a:p>
            <a:pPr marL="152400" indent="-1524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engineering’s autonomy: explicit and visible, not assumed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9834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from the packages — SPA identity path: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532180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8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(both siblings): </a:t>
            </a:r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against the enterprise IdP; public-client flow; no local credentials.   </a:t>
            </a:r>
            <a:pPr indent="0" marL="0">
              <a:lnSpc>
                <a:spcPct val="110000"/>
              </a:lnSpc>
              <a:buNone/>
            </a:pPr>
            <a:r>
              <a:rPr lang="en-US" sz="11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Delegated: </a:t>
            </a:r>
            <a:pPr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chose Cognito-brokered federation (native API Gateway integration) · Azure chose Entra-native (zero extra components). Both satisfy the same constraint — divergence is legitimate, and the framework makes it visible instead of accidental.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 · BUILT AND CROSS-LINKED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complete lineages, from our own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64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82496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82496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29968" y="160934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Patterns   </a:t>
            </a:r>
            <a:pPr indent="0" marL="0">
              <a:buNone/>
            </a:pPr>
            <a:r>
              <a:rPr lang="en-US" sz="10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NEW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29968" y="197510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N-Tier → Single Page Web App + Static Content Web Site → four EDPs across AWS and Azure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2029968" y="24688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i="1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documents · dual-CSP siblings ×2 · boundary test on both sides · two Azure gap cells closed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566928" y="3090672"/>
            <a:ext cx="11064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3310128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7A2130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3310128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029968" y="323697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Patterns   </a:t>
            </a:r>
            <a:pPr indent="0" marL="0">
              <a:buNone/>
            </a:pPr>
            <a:r>
              <a:rPr lang="en-US" sz="10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EXISTING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29968" y="360273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→ Pub-Sub + Queue-Based Load Leveling → SaaS-to-SIEM → existing EDP-15, identity preserved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2029968" y="40965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i="1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documents · new Solution Pattern bridges the orphan gap · Azure cell declared · the EDA lineage the team already discussed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66928" y="4718304"/>
            <a:ext cx="11064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937760"/>
            <a:ext cx="1042416" cy="1042416"/>
          </a:xfrm>
          <a:prstGeom prst="roundRect">
            <a:avLst>
              <a:gd name="adj" fmla="val 8772"/>
            </a:avLst>
          </a:prstGeom>
          <a:solidFill>
            <a:srgbClr val="5A2731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937760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029968" y="486460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Ingestion Patterns   </a:t>
            </a:r>
            <a:pPr indent="0" marL="0">
              <a:buNone/>
            </a:pPr>
            <a:r>
              <a:rPr lang="en-US" sz="10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29968" y="52303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Integration (new L1) → Valet Key + Gatekeeper → existing EDP-5 → EDP-4, from their actual pages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2029968" y="57241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i="1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documents · chained-EDP realization · real consumers carried over · live lifecycle findings processed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566928" y="6309360"/>
            <a:ext cx="11064240" cy="402336"/>
          </a:xfrm>
          <a:prstGeom prst="roundRect">
            <a:avLst>
              <a:gd name="adj" fmla="val 20455"/>
            </a:avLst>
          </a:prstGeom>
          <a:solidFill>
            <a:srgbClr val="201518"/>
          </a:solidFill>
          <a:ln w="9525">
            <a:solidFill>
              <a:srgbClr val="2015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6309360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pattern documents · 10 existing catalog EDPs transformed or mapped · every level on its governing template · every document hyperlinked to its parents and children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ONE-MINUTE DEMONSTRATION · CLICK ANY EDP’S LINEAGE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of inheritance resolves to a real document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288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EDP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8346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EDP-5 re-expressed — its Pattern Lineage table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3072384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288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9E16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9312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parent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8346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Client File Ingestion opens — problem, composition, boundary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594360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8288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7A21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0528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composed pattern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0528" y="28346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Valet Key opens — the structural idea EDP-5 realizes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8814816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80576" y="1600200"/>
            <a:ext cx="2487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82880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5A273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81744" y="2286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style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81744" y="28346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Integration opens — the approved intent at the top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566928" y="4297680"/>
            <a:ext cx="11064240" cy="1920240"/>
          </a:xfrm>
          <a:prstGeom prst="roundRect">
            <a:avLst>
              <a:gd name="adj" fmla="val 4286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49884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each side of the room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1248" y="4846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3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 and audit: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3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is demonstrable in one minute — implementation to council-approved intent, no interviews, no archaeology.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endParaRPr lang="en-US" sz="123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3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engineering: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23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walk downward answers “what do I build and what may I change?” — inherited constraints, delegated choices, variation points, and the reference implementation, all one click apart.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ALIGNMENT, VERIFIED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gap, bridged — with the evidence already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402336"/>
          </a:xfrm>
          <a:prstGeom prst="roundRect">
            <a:avLst>
              <a:gd name="adj" fmla="val 11364"/>
            </a:avLst>
          </a:prstGeom>
          <a:solidFill>
            <a:srgbClr val="201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173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0" y="14173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THE PACKAGES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92808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47672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80360" y="194767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Pattern Lineage section + bridging Solution Patterns authored where parents were missing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7132320" y="1947672"/>
            <a:ext cx="4434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EDP-15, EDP-5, EDP-4 now trace to approved intent; two new L3s + one new L1 entered via v1.4 intake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66928" y="2807208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62072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drift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80360" y="286207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enhanced base template — current structure + ★ additions, with author guidance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7132320" y="2862072"/>
            <a:ext cx="4434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EDPs authored or re-expressed on it, across three lineages and both CSPs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66928" y="3721608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76472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description ≠ pattern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80360" y="377647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Intent / Trade-offs first-class; mechanics referenced to Service Offering pages, never restated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7132320" y="3776472"/>
            <a:ext cx="4434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Re-expressions separate design from service content; offerings referenced once, consumed by many patterns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6928" y="4636008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90872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implementation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80360" y="469087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Mandatory section: IaC module + pipeline + “portal = deviation” rule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7132320" y="4690872"/>
            <a:ext cx="4434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specifications per EDP; creation scheduled where pages were empty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66928" y="5550408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605272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gaps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80360" y="5605272"/>
            <a:ext cx="4069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 states adopted; triggers processed transparently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132320" y="5605272"/>
            <a:ext cx="4434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EDP-4 → Under Review (tactical + approver deactivated) · EDP-5 GCP tag → containment candidate · Azure cells → declared coverage-matrix items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BETTER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benefit, by seat at the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132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00784"/>
            <a:ext cx="475488" cy="47548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789" y="1814901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6464" y="16642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32257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without owning L4 · demonstrable traceability for audit and OSFI expectations · review concentrates on deviations, not baselines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6236208" y="1463040"/>
            <a:ext cx="54132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700784"/>
            <a:ext cx="475488" cy="475488"/>
          </a:xfrm>
          <a:prstGeom prst="ellipse">
            <a:avLst/>
          </a:prstGeom>
          <a:solidFill>
            <a:srgbClr val="7A21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69" y="1814901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95744" y="16642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I&amp;O — Solution Architecture &amp; Engineering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322576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retained exactly as v1.4 assigns it (I&amp;O authors, DA accountable) · autonomy explicit in the delegated table · existing EDPs elevated, never replaced — IDs, approvals, history preserved · one intake review instead of one per project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566928" y="3950208"/>
            <a:ext cx="54132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187952"/>
            <a:ext cx="475488" cy="475488"/>
          </a:xfrm>
          <a:prstGeom prst="ellipse">
            <a:avLst/>
          </a:prstGeom>
          <a:solidFill>
            <a:srgbClr val="9E16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430206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26464" y="415137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teams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809744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default via reference implementations · one-question boundary tests answer “which pattern?” · faster starts — sprint one is business capability, not plumbing</a:t>
            </a:r>
            <a:endParaRPr lang="en-US" sz="1120" dirty="0"/>
          </a:p>
        </p:txBody>
      </p:sp>
      <p:sp>
        <p:nvSpPr>
          <p:cNvPr id="19" name="Shape 14"/>
          <p:cNvSpPr/>
          <p:nvPr/>
        </p:nvSpPr>
        <p:spPr>
          <a:xfrm>
            <a:off x="6236208" y="3950208"/>
            <a:ext cx="5413248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4187952"/>
            <a:ext cx="475488" cy="475488"/>
          </a:xfrm>
          <a:prstGeom prst="ellipse">
            <a:avLst/>
          </a:prstGeom>
          <a:solidFill>
            <a:srgbClr val="5A273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69" y="4302069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95744" y="415137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Risk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4809744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BISO consulted in every pattern RACI · controls enforceable in automation, not prose · no unscanned paths, quarantine evidence, verdict trails · gaps become declared roadmap cells, not surprises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NON-DISRUPTION GUARANTEE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489" y="1651041"/>
            <a:ext cx="209215" cy="2092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270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— I&amp;O authors EDPs; the Design Authority is accountable. That is v1.4’s decision, unchanged here.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2304288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9" y="2400849"/>
            <a:ext cx="209215" cy="2092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27685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IDs (EDP-N), the Confluence catalog, and TBM taxonomy fields — kept as-is.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66928" y="3054096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9" y="3150657"/>
            <a:ext cx="209215" cy="209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302666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approvals, reviewers, dates and review histories — carried over verbatim in every re-expression.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66928" y="3803904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9" y="3900465"/>
            <a:ext cx="209215" cy="2092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3776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engineering decisions — re-expression changes document structure, not designs. EDP-5’s flow is EDP-5’s flow.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566928" y="4553712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89" y="4650273"/>
            <a:ext cx="209215" cy="2092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45262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Offerings governance — I&amp;O-owned, referenced by patterns, exactly as the framework states.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566928" y="5303520"/>
            <a:ext cx="402336" cy="402336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89" y="5400081"/>
            <a:ext cx="209215" cy="20921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70432" y="527608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asks for lineage metadata only — existing EDPs need no format change to begin.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566928" y="6172200"/>
            <a:ext cx="11064240" cy="475488"/>
          </a:xfrm>
          <a:prstGeom prst="roundRect">
            <a:avLst>
              <a:gd name="adj" fmla="val 17308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841248" y="617220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completes the current template; it does not compete with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v1.4’s lifecycle, exercised on real assets — working, not fault-finding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6367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EDP-4 → Under Review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35608" y="20025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page declares a tactical engine choice pending the CL antivirus standard; its sole approver is deactivated. Both are textbook v1.4 review triggers.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1435608" y="256946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i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confirm the AV standardization outcome; re-establish a live accountable approver via the Design Authority.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66928" y="3118104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4672" y="3374136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8386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560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EDP-5 (GCP) → Containment candidate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35608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Catalog-tagged AWS + GCP; the enterprise has exited GCP. v1.4 containment: no new implementations, transition guidance to the AWS realization.</a:t>
            </a:r>
            <a:endParaRPr lang="en-US" sz="1130" dirty="0"/>
          </a:p>
        </p:txBody>
      </p:sp>
      <p:sp>
        <p:nvSpPr>
          <p:cNvPr id="15" name="Text 11"/>
          <p:cNvSpPr/>
          <p:nvPr/>
        </p:nvSpPr>
        <p:spPr>
          <a:xfrm>
            <a:off x="1435608" y="417880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i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take the containment decision through governance; keep the AWS realization strategic.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66928" y="4727448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" y="498348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9320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35608" y="48554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cells → Declared, not hidden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435608" y="52212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approved CSPs; the catalog is AWS-only. Each lineage declares its Azure cell: two closed (SPA, static site), two registered (SaaS-to-SIEM, file ingestion).</a:t>
            </a:r>
            <a:endParaRPr lang="en-US" sz="1130" dirty="0"/>
          </a:p>
        </p:txBody>
      </p:sp>
      <p:sp>
        <p:nvSpPr>
          <p:cNvPr id="21" name="Text 16"/>
          <p:cNvSpPr/>
          <p:nvPr/>
        </p:nvSpPr>
        <p:spPr>
          <a:xfrm>
            <a:off x="1435608" y="578815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i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register the coverage matrix as the Design Authority’s prioritization tool.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FROM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adoption — value first, format later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84448" cy="448056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3736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72768" y="173736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·  Lineage first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578608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lineage metadata to existing EDPs — no format change · walk the EDP-5 / EDP-4 / EDP-15 re-expressions with their SAs · register the coverage matrix · process the two lifecycle cases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i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disruption. Traceability starts accruing immediately.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315968" y="1508760"/>
            <a:ext cx="3584448" cy="448056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73736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21808" y="173736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DESIGN AUTHORITY  ·  Template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35424" y="2578608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enhanced structure as the base for new and updated EDPs · adopt the v1.4-derived criteria at intake and review · new L1/L3 patterns through intake as Proposed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35424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i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template, one bar — applied at the natural touchpoints, not retroactively.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065008" y="1508760"/>
            <a:ext cx="3584448" cy="448056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73736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1737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70848" y="173736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DEMAND  ·  Build-out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4464" y="2578608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reference implementation modules · re-express priority EDPs as they come up for review · fill Azure cells per the matrix · extend to the next families (EDA per team plan; bulk data movement)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84464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i="1" dirty="0">
                <a:solidFill>
                  <a:srgbClr val="8F0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shifts from review-time to build-time as modules land.</a:t>
            </a:r>
            <a:endParaRPr lang="en-US" sz="10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15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asks to move from demonstration to adoption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C1E22"/>
          </a:solidFill>
          <a:ln w="9525">
            <a:solidFill>
              <a:srgbClr val="4A32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28216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35024" y="16002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enhanced EDP structure as the base template for new and updated patterns (Design Authority)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C1E22"/>
          </a:solidFill>
          <a:ln w="9525">
            <a:solidFill>
              <a:srgbClr val="4A3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496312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35024" y="2368296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1: lineage metadata on the existing catalog — no format changes required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1363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C1E22"/>
          </a:solidFill>
          <a:ln w="9525">
            <a:solidFill>
              <a:srgbClr val="4A32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264408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35024" y="313639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pattern SAs to walk the EDP-5, EDP-4 and EDP-15 re-expressions (authors first, then review)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90448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C1E22"/>
          </a:solidFill>
          <a:ln w="9525">
            <a:solidFill>
              <a:srgbClr val="4A32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032504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35024" y="3904488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coverage matrix — including the declared Azure cells — as the prioritization tool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6725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C1E22"/>
          </a:solidFill>
          <a:ln w="9525">
            <a:solidFill>
              <a:srgbClr val="4A32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800600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800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35024" y="467258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EDP-4’s review: confirm the antivirus standardization outcome; re-establish a live accountable approver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4406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C1E22"/>
          </a:solidFill>
          <a:ln w="9525">
            <a:solidFill>
              <a:srgbClr val="4A32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568696"/>
            <a:ext cx="402336" cy="402336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35024" y="54406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new patterns (File-Based Integration style; two Solution Patterns) into v1.4 intake as Proposed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packages · 24 documents · the framework, working. Ready when you are.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 — package inventory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64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Patterns (Lineage 1)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784080" y="1682496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documents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048256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N-Tier · L2 Static Content Hosting, Gateway, Federated Identity · L3 Single Page Web App + Static Content Web Site · L4 ×4 (SPA + static, AWS + Azure) · enhanced EDP base template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980944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Patterns (Lineage 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0" y="3108960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34747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Event-Driven Architecture · L2 Publisher-Subscriber, Queue-Based Load Leveling · L3 SaaS-to-SIEM Event Ingestion · L4 EDP-15 re-expressed (AWS) · Azure cell declared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4407408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5171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Ingestion Patterns (Lineage 3)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84080" y="4535424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documents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49011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File-Based Integration (new style) · L2 Valet Key, Gatekeeper · L3 Secure Client File Ingestion · L4 EDP-5 → EDP-4 chained re-expressions (grounded in actual pages) · GCP containment + Azure cell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8978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7F7F9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897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23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document: </a:t>
            </a:r>
            <a:pPr indent="0" marL="0">
              <a:buNone/>
            </a:pPr>
            <a:r>
              <a:rPr lang="en-US" sz="1130" dirty="0">
                <a:solidFill>
                  <a:srgbClr val="64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on its governing template (EA L1–L3 templates; enhanced EDP structure at L4) · v1.4 lifecycle state and terminology · relative hyperlinks parent↔child · Word format, ready for Confluence migration per the tooling ADR.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2026-07-17T13:53:20Z</dcterms:created>
  <dcterms:modified xsi:type="dcterms:W3CDTF">2026-07-17T13:53:20Z</dcterms:modified>
</cp:coreProperties>
</file>