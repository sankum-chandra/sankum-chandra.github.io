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SPOKEN: Every platform initiative we run enters a process designed for something else entirely. The CAQ-CA-E2E framework assumes you are delivering an application. If you are establishing, migrating, or modernizing shared enabling technology, the framework has no model for that work. And the cost of that mismatch does not show up at intake. It shows up months later, mid-CA, after timelines are set and commitments are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SPOKEN: The CAQ Technology Platforms section has three substantive questions. A deployment model checkbox. A free-text field for cloud components. A marketplace flag. There is nothing about who owns and operates the platform, which workloads depend on it, what is triggering the initiative, or which enterprise standards apply. The CA template asks for information models, data flows, and journey maps. Platform work has none of these. Our PAs and SAs leave sections blank or answer questions that were never designed for their work. And across all four DAP domains, we see the same consequence: by the time the gaps surface in the CA, the delivery team has already committed to a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SPOKEN: This undermines three of the five EA goals directly. First, early architectural influence. We have no platform-specific signal at intake, so by the time we are in the room the delivery team has already shaped the solution. Second, surfacing significant challenges early. Platform ownership, dependent workloads, transition approach ,  these are not questions the CAQ can ask. They surface mid-CA, not at intake. Third, standards alignment. There is no platform-layer standards validation in the current framework. Platform initiatives clear governance without it. And the proof is in the CAQ itself ,  Question 23 lists 13 Canada Life strategic platforms. Not one of them is a cloud infrastructure, IaC, or automation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SPOKEN: The fix is two changes, both owned by EA, and both decided at this level. First, add an initiative type classification early in the CAQ. When a platform initiative is identified, a targeted question set activates in place of the application-centric defaults. Application initiatives see nothing different. Platform teams get a question set that actually fits their work, and the net question count goes down. Second, the new Framework being built by this committee needs to define a platform view set as a first-class alternative to the application view set. This is the decision only this committee can make. The CAQ adaptation follows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SPOKEN: The most likely pushback is that this is a DAP issue, not an enterprise one. Here is the response. Look at Question 23 of the CAQ. It lists 13 Canada Life strategic platforms. Not one of them is a cloud infrastructure platform, an IaC tooling platform, or an automation platform. That list was not written by DAP. It was written by EA. The application-centric bias in this framework is an enterprise architectural decision, not a DAP complaint. And we have four domain PAs in DAP, covering Cloud and DevOps, Data and AI, Integration, and Automation, who independently arrived at the same finding. The framework extracts effort without returning proportionate architectural value. That is not a Cloud and DevOps problem. That is a framework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C1C"/>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A50021"/>
          </a:solidFill>
          <a:ln w="12700">
            <a:solidFill>
              <a:srgbClr val="A50021"/>
            </a:solidFill>
            <a:prstDash val="solid"/>
          </a:ln>
        </p:spPr>
      </p:sp>
      <p:sp>
        <p:nvSpPr>
          <p:cNvPr id="3" name="Text 1"/>
          <p:cNvSpPr/>
          <p:nvPr/>
        </p:nvSpPr>
        <p:spPr>
          <a:xfrm>
            <a:off x="365760" y="274320"/>
            <a:ext cx="8412480" cy="274320"/>
          </a:xfrm>
          <a:prstGeom prst="rect">
            <a:avLst/>
          </a:prstGeom>
          <a:noFill/>
          <a:ln/>
        </p:spPr>
        <p:txBody>
          <a:bodyPr wrap="square" rtlCol="0" anchor="ctr"/>
          <a:lstStyle/>
          <a:p>
            <a:pPr algn="r" indent="0" marL="0">
              <a:buNone/>
            </a:pPr>
            <a:r>
              <a:rPr lang="en-US" sz="1000" dirty="0">
                <a:solidFill>
                  <a:srgbClr val="888888"/>
                </a:solidFill>
                <a:latin typeface="Calibri" pitchFamily="34" charset="0"/>
                <a:ea typeface="Calibri" pitchFamily="34" charset="-122"/>
                <a:cs typeface="Calibri" pitchFamily="34" charset="-120"/>
              </a:rPr>
              <a:t>Data, Automation &amp; Platform BU  |  Cloud &amp; DevOps</a:t>
            </a:r>
            <a:endParaRPr lang="en-US" sz="1000" dirty="0"/>
          </a:p>
        </p:txBody>
      </p:sp>
      <p:sp>
        <p:nvSpPr>
          <p:cNvPr id="4" name="Shape 2"/>
          <p:cNvSpPr/>
          <p:nvPr/>
        </p:nvSpPr>
        <p:spPr>
          <a:xfrm>
            <a:off x="365760" y="1234440"/>
            <a:ext cx="1737360" cy="292608"/>
          </a:xfrm>
          <a:prstGeom prst="rect">
            <a:avLst/>
          </a:prstGeom>
          <a:solidFill>
            <a:srgbClr val="A50021"/>
          </a:solidFill>
          <a:ln w="12700">
            <a:solidFill>
              <a:srgbClr val="A50021"/>
            </a:solidFill>
            <a:prstDash val="solid"/>
          </a:ln>
        </p:spPr>
      </p:sp>
      <p:sp>
        <p:nvSpPr>
          <p:cNvPr id="5" name="Text 3"/>
          <p:cNvSpPr/>
          <p:nvPr/>
        </p:nvSpPr>
        <p:spPr>
          <a:xfrm>
            <a:off x="365760" y="1234440"/>
            <a:ext cx="17373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OPENING</a:t>
            </a:r>
            <a:endParaRPr lang="en-US" sz="900" dirty="0"/>
          </a:p>
        </p:txBody>
      </p:sp>
      <p:sp>
        <p:nvSpPr>
          <p:cNvPr id="6" name="Text 4"/>
          <p:cNvSpPr/>
          <p:nvPr/>
        </p:nvSpPr>
        <p:spPr>
          <a:xfrm>
            <a:off x="365760" y="1645920"/>
            <a:ext cx="7132320" cy="1828800"/>
          </a:xfrm>
          <a:prstGeom prst="rect">
            <a:avLst/>
          </a:prstGeom>
          <a:noFill/>
          <a:ln/>
        </p:spPr>
        <p:txBody>
          <a:bodyPr wrap="square" rtlCol="0" anchor="t"/>
          <a:lstStyle/>
          <a:p>
            <a:pPr algn="l" indent="0" marL="0">
              <a:buNone/>
            </a:pPr>
            <a:r>
              <a:rPr lang="en-US" sz="3600" b="1" dirty="0">
                <a:solidFill>
                  <a:srgbClr val="FFFFFF"/>
                </a:solidFill>
                <a:latin typeface="Calibri" pitchFamily="34" charset="0"/>
                <a:ea typeface="Calibri" pitchFamily="34" charset="-122"/>
                <a:cs typeface="Calibri" pitchFamily="34" charset="-120"/>
              </a:rPr>
              <a:t>Every platform initiative we run</a:t>
            </a:r>
            <a:endParaRPr lang="en-US" sz="3600" dirty="0"/>
          </a:p>
          <a:p>
            <a:pPr algn="l" indent="0" marL="0">
              <a:buNone/>
            </a:pPr>
            <a:r>
              <a:rPr lang="en-US" sz="3600" b="1" dirty="0">
                <a:solidFill>
                  <a:srgbClr val="FFFFFF"/>
                </a:solidFill>
                <a:latin typeface="Calibri" pitchFamily="34" charset="0"/>
                <a:ea typeface="Calibri" pitchFamily="34" charset="-122"/>
                <a:cs typeface="Calibri" pitchFamily="34" charset="-120"/>
              </a:rPr>
              <a:t>enters a process designed for</a:t>
            </a:r>
            <a:endParaRPr lang="en-US" sz="3600" dirty="0"/>
          </a:p>
          <a:p>
            <a:pPr algn="l" indent="0" marL="0">
              <a:buNone/>
            </a:pPr>
            <a:r>
              <a:rPr lang="en-US" sz="3600" b="1" dirty="0">
                <a:solidFill>
                  <a:srgbClr val="FFFFFF"/>
                </a:solidFill>
                <a:latin typeface="Calibri" pitchFamily="34" charset="0"/>
                <a:ea typeface="Calibri" pitchFamily="34" charset="-122"/>
                <a:cs typeface="Calibri" pitchFamily="34" charset="-120"/>
              </a:rPr>
              <a:t>something else entirely.</a:t>
            </a:r>
            <a:endParaRPr lang="en-US" sz="3600" dirty="0"/>
          </a:p>
        </p:txBody>
      </p:sp>
      <p:sp>
        <p:nvSpPr>
          <p:cNvPr id="7" name="Text 5"/>
          <p:cNvSpPr/>
          <p:nvPr/>
        </p:nvSpPr>
        <p:spPr>
          <a:xfrm>
            <a:off x="365760" y="3520440"/>
            <a:ext cx="7772400" cy="822960"/>
          </a:xfrm>
          <a:prstGeom prst="rect">
            <a:avLst/>
          </a:prstGeom>
          <a:noFill/>
          <a:ln/>
        </p:spPr>
        <p:txBody>
          <a:bodyPr wrap="square" rtlCol="0" anchor="t"/>
          <a:lstStyle/>
          <a:p>
            <a:pPr algn="l" indent="0" marL="0">
              <a:buNone/>
            </a:pPr>
            <a:r>
              <a:rPr lang="en-US" sz="1500" dirty="0">
                <a:solidFill>
                  <a:srgbClr val="BBBBBB"/>
                </a:solidFill>
                <a:latin typeface="Calibri" pitchFamily="34" charset="0"/>
                <a:ea typeface="Calibri" pitchFamily="34" charset="-122"/>
                <a:cs typeface="Calibri" pitchFamily="34" charset="-120"/>
              </a:rPr>
              <a:t>The CAQ-CA-E2E framework assumes application delivery.</a:t>
            </a:r>
            <a:endParaRPr lang="en-US" sz="1500" dirty="0"/>
          </a:p>
          <a:p>
            <a:pPr algn="l" indent="0" marL="0">
              <a:buNone/>
            </a:pPr>
            <a:r>
              <a:rPr lang="en-US" sz="1500" dirty="0">
                <a:solidFill>
                  <a:srgbClr val="BBBBBB"/>
                </a:solidFill>
                <a:latin typeface="Calibri" pitchFamily="34" charset="0"/>
                <a:ea typeface="Calibri" pitchFamily="34" charset="-122"/>
                <a:cs typeface="Calibri" pitchFamily="34" charset="-120"/>
              </a:rPr>
              <a:t>Platform initiatives have no fit. The cost shows up late.</a:t>
            </a:r>
            <a:endParaRPr lang="en-US" sz="1500" dirty="0"/>
          </a:p>
        </p:txBody>
      </p:sp>
      <p:sp>
        <p:nvSpPr>
          <p:cNvPr id="9" name="Text 6"/>
          <p:cNvSpPr/>
          <p:nvPr/>
        </p:nvSpPr>
        <p:spPr>
          <a:xfrm>
            <a:off x="8229600" y="4754880"/>
            <a:ext cx="731520" cy="274320"/>
          </a:xfrm>
          <a:prstGeom prst="rect">
            <a:avLst/>
          </a:prstGeom>
          <a:noFill/>
          <a:ln/>
        </p:spPr>
        <p:txBody>
          <a:bodyPr wrap="square" rtlCol="0" anchor="ctr"/>
          <a:lstStyle/>
          <a:p>
            <a:pPr algn="r" indent="0" marL="0">
              <a:buNone/>
            </a:pPr>
            <a:r>
              <a:rPr lang="en-US" sz="900" dirty="0">
                <a:solidFill>
                  <a:srgbClr val="555555"/>
                </a:solidFill>
                <a:latin typeface="Calibri" pitchFamily="34" charset="0"/>
                <a:ea typeface="Calibri" pitchFamily="34" charset="-122"/>
                <a:cs typeface="Calibri" pitchFamily="34" charset="-120"/>
              </a:rPr>
              <a:t>1 / 5</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F2"/>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A50021"/>
          </a:solidFill>
          <a:ln w="12700">
            <a:solidFill>
              <a:srgbClr val="A50021"/>
            </a:solidFill>
            <a:prstDash val="solid"/>
          </a:ln>
        </p:spPr>
      </p:sp>
      <p:sp>
        <p:nvSpPr>
          <p:cNvPr id="3" name="Shape 1"/>
          <p:cNvSpPr/>
          <p:nvPr/>
        </p:nvSpPr>
        <p:spPr>
          <a:xfrm>
            <a:off x="457200" y="274320"/>
            <a:ext cx="1463040" cy="274320"/>
          </a:xfrm>
          <a:prstGeom prst="rect">
            <a:avLst/>
          </a:prstGeom>
          <a:solidFill>
            <a:srgbClr val="2E2E2E"/>
          </a:solidFill>
          <a:ln w="12700">
            <a:solidFill>
              <a:srgbClr val="2E2E2E"/>
            </a:solidFill>
            <a:prstDash val="solid"/>
          </a:ln>
        </p:spPr>
      </p:sp>
      <p:sp>
        <p:nvSpPr>
          <p:cNvPr id="4" name="Text 2"/>
          <p:cNvSpPr/>
          <p:nvPr/>
        </p:nvSpPr>
        <p:spPr>
          <a:xfrm>
            <a:off x="457200" y="274320"/>
            <a:ext cx="146304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EVIDENCE</a:t>
            </a:r>
            <a:endParaRPr lang="en-US" sz="900" dirty="0"/>
          </a:p>
        </p:txBody>
      </p:sp>
      <p:sp>
        <p:nvSpPr>
          <p:cNvPr id="5" name="Text 3"/>
          <p:cNvSpPr/>
          <p:nvPr/>
        </p:nvSpPr>
        <p:spPr>
          <a:xfrm>
            <a:off x="457200" y="640080"/>
            <a:ext cx="8229600" cy="457200"/>
          </a:xfrm>
          <a:prstGeom prst="rect">
            <a:avLst/>
          </a:prstGeom>
          <a:noFill/>
          <a:ln/>
        </p:spPr>
        <p:txBody>
          <a:bodyPr wrap="square" rtlCol="0" anchor="ctr"/>
          <a:lstStyle/>
          <a:p>
            <a:pPr algn="l" indent="0" marL="0">
              <a:buNone/>
            </a:pPr>
            <a:r>
              <a:rPr lang="en-US" sz="2200" b="1" dirty="0">
                <a:solidFill>
                  <a:srgbClr val="1C1C1C"/>
                </a:solidFill>
                <a:latin typeface="Calibri" pitchFamily="34" charset="0"/>
                <a:ea typeface="Calibri" pitchFamily="34" charset="-122"/>
                <a:cs typeface="Calibri" pitchFamily="34" charset="-120"/>
              </a:rPr>
              <a:t>What the current process actually does</a:t>
            </a:r>
            <a:endParaRPr lang="en-US" sz="2200" dirty="0"/>
          </a:p>
        </p:txBody>
      </p:sp>
      <p:sp>
        <p:nvSpPr>
          <p:cNvPr id="6" name="Shape 4"/>
          <p:cNvSpPr/>
          <p:nvPr/>
        </p:nvSpPr>
        <p:spPr>
          <a:xfrm>
            <a:off x="457200" y="1234440"/>
            <a:ext cx="2651760" cy="3474720"/>
          </a:xfrm>
          <a:prstGeom prst="rect">
            <a:avLst/>
          </a:prstGeom>
          <a:solidFill>
            <a:srgbClr val="FFFFFF"/>
          </a:solidFill>
          <a:ln w="12700">
            <a:solidFill>
              <a:srgbClr val="E8E6E2"/>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457200" y="1234440"/>
            <a:ext cx="2651760" cy="73152"/>
          </a:xfrm>
          <a:prstGeom prst="rect">
            <a:avLst/>
          </a:prstGeom>
          <a:solidFill>
            <a:srgbClr val="A50021"/>
          </a:solidFill>
          <a:ln w="12700">
            <a:solidFill>
              <a:srgbClr val="A50021"/>
            </a:solidFill>
            <a:prstDash val="solid"/>
          </a:ln>
        </p:spPr>
      </p:sp>
      <p:sp>
        <p:nvSpPr>
          <p:cNvPr id="8" name="Text 6"/>
          <p:cNvSpPr/>
          <p:nvPr/>
        </p:nvSpPr>
        <p:spPr>
          <a:xfrm>
            <a:off x="594360" y="1371600"/>
            <a:ext cx="2377440" cy="320040"/>
          </a:xfrm>
          <a:prstGeom prst="rect">
            <a:avLst/>
          </a:prstGeom>
          <a:noFill/>
          <a:ln/>
        </p:spPr>
        <p:txBody>
          <a:bodyPr wrap="square" lIns="0" tIns="0" rIns="0" bIns="0" rtlCol="0" anchor="ctr"/>
          <a:lstStyle/>
          <a:p>
            <a:pPr algn="l" indent="0" marL="0">
              <a:buNone/>
            </a:pPr>
            <a:r>
              <a:rPr lang="en-US" sz="1300" b="1" dirty="0">
                <a:solidFill>
                  <a:srgbClr val="A50021"/>
                </a:solidFill>
                <a:latin typeface="Calibri" pitchFamily="34" charset="0"/>
                <a:ea typeface="Calibri" pitchFamily="34" charset="-122"/>
                <a:cs typeface="Calibri" pitchFamily="34" charset="-120"/>
              </a:rPr>
              <a:t>CAQ</a:t>
            </a:r>
            <a:endParaRPr lang="en-US" sz="1300" dirty="0"/>
          </a:p>
        </p:txBody>
      </p:sp>
      <p:sp>
        <p:nvSpPr>
          <p:cNvPr id="9" name="Text 7"/>
          <p:cNvSpPr/>
          <p:nvPr/>
        </p:nvSpPr>
        <p:spPr>
          <a:xfrm>
            <a:off x="594360" y="1737360"/>
            <a:ext cx="2377440" cy="2834640"/>
          </a:xfrm>
          <a:prstGeom prst="rect">
            <a:avLst/>
          </a:prstGeom>
          <a:noFill/>
          <a:ln/>
        </p:spPr>
        <p:txBody>
          <a:bodyPr wrap="square" rtlCol="0" anchor="t"/>
          <a:lstStyle/>
          <a:p>
            <a:pPr algn="l" indent="0" marL="0">
              <a:buNone/>
            </a:pPr>
            <a:r>
              <a:rPr lang="en-US" sz="1150" dirty="0">
                <a:solidFill>
                  <a:srgbClr val="2E2E2E"/>
                </a:solidFill>
                <a:latin typeface="Calibri" pitchFamily="34" charset="0"/>
                <a:ea typeface="Calibri" pitchFamily="34" charset="-122"/>
                <a:cs typeface="Calibri" pitchFamily="34" charset="-120"/>
              </a:rPr>
              <a:t>The Technology Platforms section has three questions: a deployment model checkbox, a free-text field for cloud components, and a marketplace flag. Nothing on who owns the platform, which workloads depend on it, what is triggering the initiative, or which standards apply.</a:t>
            </a:r>
            <a:endParaRPr lang="en-US" sz="1150" dirty="0"/>
          </a:p>
        </p:txBody>
      </p:sp>
      <p:sp>
        <p:nvSpPr>
          <p:cNvPr id="10" name="Shape 8"/>
          <p:cNvSpPr/>
          <p:nvPr/>
        </p:nvSpPr>
        <p:spPr>
          <a:xfrm>
            <a:off x="3291840" y="1234440"/>
            <a:ext cx="2651760" cy="3474720"/>
          </a:xfrm>
          <a:prstGeom prst="rect">
            <a:avLst/>
          </a:prstGeom>
          <a:solidFill>
            <a:srgbClr val="FFFFFF"/>
          </a:solidFill>
          <a:ln w="12700">
            <a:solidFill>
              <a:srgbClr val="E8E6E2"/>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3291840" y="1234440"/>
            <a:ext cx="2651760" cy="73152"/>
          </a:xfrm>
          <a:prstGeom prst="rect">
            <a:avLst/>
          </a:prstGeom>
          <a:solidFill>
            <a:srgbClr val="A50021"/>
          </a:solidFill>
          <a:ln w="12700">
            <a:solidFill>
              <a:srgbClr val="A50021"/>
            </a:solidFill>
            <a:prstDash val="solid"/>
          </a:ln>
        </p:spPr>
      </p:sp>
      <p:sp>
        <p:nvSpPr>
          <p:cNvPr id="12" name="Text 10"/>
          <p:cNvSpPr/>
          <p:nvPr/>
        </p:nvSpPr>
        <p:spPr>
          <a:xfrm>
            <a:off x="3429000" y="1371600"/>
            <a:ext cx="2377440" cy="320040"/>
          </a:xfrm>
          <a:prstGeom prst="rect">
            <a:avLst/>
          </a:prstGeom>
          <a:noFill/>
          <a:ln/>
        </p:spPr>
        <p:txBody>
          <a:bodyPr wrap="square" lIns="0" tIns="0" rIns="0" bIns="0" rtlCol="0" anchor="ctr"/>
          <a:lstStyle/>
          <a:p>
            <a:pPr algn="l" indent="0" marL="0">
              <a:buNone/>
            </a:pPr>
            <a:r>
              <a:rPr lang="en-US" sz="1300" b="1" dirty="0">
                <a:solidFill>
                  <a:srgbClr val="A50021"/>
                </a:solidFill>
                <a:latin typeface="Calibri" pitchFamily="34" charset="0"/>
                <a:ea typeface="Calibri" pitchFamily="34" charset="-122"/>
                <a:cs typeface="Calibri" pitchFamily="34" charset="-120"/>
              </a:rPr>
              <a:t>CA Template</a:t>
            </a:r>
            <a:endParaRPr lang="en-US" sz="1300" dirty="0"/>
          </a:p>
        </p:txBody>
      </p:sp>
      <p:sp>
        <p:nvSpPr>
          <p:cNvPr id="13" name="Text 11"/>
          <p:cNvSpPr/>
          <p:nvPr/>
        </p:nvSpPr>
        <p:spPr>
          <a:xfrm>
            <a:off x="3429000" y="1737360"/>
            <a:ext cx="2377440" cy="2834640"/>
          </a:xfrm>
          <a:prstGeom prst="rect">
            <a:avLst/>
          </a:prstGeom>
          <a:noFill/>
          <a:ln/>
        </p:spPr>
        <p:txBody>
          <a:bodyPr wrap="square" rtlCol="0" anchor="t"/>
          <a:lstStyle/>
          <a:p>
            <a:pPr algn="l" indent="0" marL="0">
              <a:buNone/>
            </a:pPr>
            <a:r>
              <a:rPr lang="en-US" sz="1150" dirty="0">
                <a:solidFill>
                  <a:srgbClr val="2E2E2E"/>
                </a:solidFill>
                <a:latin typeface="Calibri" pitchFamily="34" charset="0"/>
                <a:ea typeface="Calibri" pitchFamily="34" charset="-122"/>
                <a:cs typeface="Calibri" pitchFamily="34" charset="-120"/>
              </a:rPr>
              <a:t>Requires information models, data flows, and journey maps. Platform work has none of these. PAs and SAs leave sections blank or answer questions that produce no useful architectural signal, then repeat the same content again in the CA that was already in the CAQ.</a:t>
            </a:r>
            <a:endParaRPr lang="en-US" sz="1150" dirty="0"/>
          </a:p>
        </p:txBody>
      </p:sp>
      <p:sp>
        <p:nvSpPr>
          <p:cNvPr id="14" name="Shape 12"/>
          <p:cNvSpPr/>
          <p:nvPr/>
        </p:nvSpPr>
        <p:spPr>
          <a:xfrm>
            <a:off x="6126480" y="1234440"/>
            <a:ext cx="2651760" cy="3474720"/>
          </a:xfrm>
          <a:prstGeom prst="rect">
            <a:avLst/>
          </a:prstGeom>
          <a:solidFill>
            <a:srgbClr val="FFFFFF"/>
          </a:solidFill>
          <a:ln w="12700">
            <a:solidFill>
              <a:srgbClr val="E8E6E2"/>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6126480" y="1234440"/>
            <a:ext cx="2651760" cy="73152"/>
          </a:xfrm>
          <a:prstGeom prst="rect">
            <a:avLst/>
          </a:prstGeom>
          <a:solidFill>
            <a:srgbClr val="A50021"/>
          </a:solidFill>
          <a:ln w="12700">
            <a:solidFill>
              <a:srgbClr val="A50021"/>
            </a:solidFill>
            <a:prstDash val="solid"/>
          </a:ln>
        </p:spPr>
      </p:sp>
      <p:sp>
        <p:nvSpPr>
          <p:cNvPr id="16" name="Text 14"/>
          <p:cNvSpPr/>
          <p:nvPr/>
        </p:nvSpPr>
        <p:spPr>
          <a:xfrm>
            <a:off x="6263640" y="1371600"/>
            <a:ext cx="2377440" cy="320040"/>
          </a:xfrm>
          <a:prstGeom prst="rect">
            <a:avLst/>
          </a:prstGeom>
          <a:noFill/>
          <a:ln/>
        </p:spPr>
        <p:txBody>
          <a:bodyPr wrap="square" lIns="0" tIns="0" rIns="0" bIns="0" rtlCol="0" anchor="ctr"/>
          <a:lstStyle/>
          <a:p>
            <a:pPr algn="l" indent="0" marL="0">
              <a:buNone/>
            </a:pPr>
            <a:r>
              <a:rPr lang="en-US" sz="1300" b="1" dirty="0">
                <a:solidFill>
                  <a:srgbClr val="A50021"/>
                </a:solidFill>
                <a:latin typeface="Calibri" pitchFamily="34" charset="0"/>
                <a:ea typeface="Calibri" pitchFamily="34" charset="-122"/>
                <a:cs typeface="Calibri" pitchFamily="34" charset="-120"/>
              </a:rPr>
              <a:t>In Practice</a:t>
            </a:r>
            <a:endParaRPr lang="en-US" sz="1300" dirty="0"/>
          </a:p>
        </p:txBody>
      </p:sp>
      <p:sp>
        <p:nvSpPr>
          <p:cNvPr id="17" name="Text 15"/>
          <p:cNvSpPr/>
          <p:nvPr/>
        </p:nvSpPr>
        <p:spPr>
          <a:xfrm>
            <a:off x="6263640" y="1737360"/>
            <a:ext cx="2377440" cy="2834640"/>
          </a:xfrm>
          <a:prstGeom prst="rect">
            <a:avLst/>
          </a:prstGeom>
          <a:noFill/>
          <a:ln/>
        </p:spPr>
        <p:txBody>
          <a:bodyPr wrap="square" rtlCol="0" anchor="t"/>
          <a:lstStyle/>
          <a:p>
            <a:pPr algn="l" indent="0" marL="0">
              <a:buNone/>
            </a:pPr>
            <a:r>
              <a:rPr lang="en-US" sz="1150" dirty="0">
                <a:solidFill>
                  <a:srgbClr val="2E2E2E"/>
                </a:solidFill>
                <a:latin typeface="Calibri" pitchFamily="34" charset="0"/>
                <a:ea typeface="Calibri" pitchFamily="34" charset="-122"/>
                <a:cs typeface="Calibri" pitchFamily="34" charset="-120"/>
              </a:rPr>
              <a:t>On ExaData in Azure (Intake #290), the CAQ recorded 42 dependent applications but could not characterize them architecturally. Migration constraints, sequencing risk, and DR topology decisions surfaced in the CA after the delivery timeline was already fixed.</a:t>
            </a:r>
            <a:endParaRPr lang="en-US" sz="1150" dirty="0"/>
          </a:p>
        </p:txBody>
      </p:sp>
      <p:sp>
        <p:nvSpPr>
          <p:cNvPr id="19" name="Text 16"/>
          <p:cNvSpPr/>
          <p:nvPr/>
        </p:nvSpPr>
        <p:spPr>
          <a:xfrm>
            <a:off x="8229600" y="4754880"/>
            <a:ext cx="73152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2 / 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C1C1C"/>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A50021"/>
          </a:solidFill>
          <a:ln w="12700">
            <a:solidFill>
              <a:srgbClr val="A50021"/>
            </a:solidFill>
            <a:prstDash val="solid"/>
          </a:ln>
        </p:spPr>
      </p:sp>
      <p:sp>
        <p:nvSpPr>
          <p:cNvPr id="3" name="Shape 1"/>
          <p:cNvSpPr/>
          <p:nvPr/>
        </p:nvSpPr>
        <p:spPr>
          <a:xfrm>
            <a:off x="365760" y="274320"/>
            <a:ext cx="2377440" cy="274320"/>
          </a:xfrm>
          <a:prstGeom prst="rect">
            <a:avLst/>
          </a:prstGeom>
          <a:solidFill>
            <a:srgbClr val="A50021"/>
          </a:solidFill>
          <a:ln w="12700">
            <a:solidFill>
              <a:srgbClr val="A50021"/>
            </a:solidFill>
            <a:prstDash val="solid"/>
          </a:ln>
        </p:spPr>
      </p:sp>
      <p:sp>
        <p:nvSpPr>
          <p:cNvPr id="4" name="Text 2"/>
          <p:cNvSpPr/>
          <p:nvPr/>
        </p:nvSpPr>
        <p:spPr>
          <a:xfrm>
            <a:off x="365760" y="274320"/>
            <a:ext cx="237744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EA GOAL IMPACT</a:t>
            </a:r>
            <a:endParaRPr lang="en-US" sz="900" dirty="0"/>
          </a:p>
        </p:txBody>
      </p:sp>
      <p:sp>
        <p:nvSpPr>
          <p:cNvPr id="5" name="Text 3"/>
          <p:cNvSpPr/>
          <p:nvPr/>
        </p:nvSpPr>
        <p:spPr>
          <a:xfrm>
            <a:off x="365760" y="685800"/>
            <a:ext cx="8412480" cy="457200"/>
          </a:xfrm>
          <a:prstGeom prst="rect">
            <a:avLst/>
          </a:prstGeom>
          <a:noFill/>
          <a:ln/>
        </p:spPr>
        <p:txBody>
          <a:bodyPr wrap="square"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Three of the five initiative goals are directly undermined.</a:t>
            </a:r>
            <a:endParaRPr lang="en-US" sz="2000" dirty="0"/>
          </a:p>
        </p:txBody>
      </p:sp>
      <p:sp>
        <p:nvSpPr>
          <p:cNvPr id="6" name="Shape 4"/>
          <p:cNvSpPr/>
          <p:nvPr/>
        </p:nvSpPr>
        <p:spPr>
          <a:xfrm>
            <a:off x="365760" y="1325880"/>
            <a:ext cx="502920" cy="502920"/>
          </a:xfrm>
          <a:prstGeom prst="rect">
            <a:avLst/>
          </a:prstGeom>
          <a:solidFill>
            <a:srgbClr val="A50021"/>
          </a:solidFill>
          <a:ln w="12700">
            <a:solidFill>
              <a:srgbClr val="A50021"/>
            </a:solidFill>
            <a:prstDash val="solid"/>
          </a:ln>
        </p:spPr>
      </p:sp>
      <p:sp>
        <p:nvSpPr>
          <p:cNvPr id="7" name="Text 5"/>
          <p:cNvSpPr/>
          <p:nvPr/>
        </p:nvSpPr>
        <p:spPr>
          <a:xfrm>
            <a:off x="365760" y="13258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8" name="Text 6"/>
          <p:cNvSpPr/>
          <p:nvPr/>
        </p:nvSpPr>
        <p:spPr>
          <a:xfrm>
            <a:off x="1005840" y="1344168"/>
            <a:ext cx="7772400" cy="256032"/>
          </a:xfrm>
          <a:prstGeom prst="rect">
            <a:avLst/>
          </a:prstGeom>
          <a:noFill/>
          <a:ln/>
        </p:spPr>
        <p:txBody>
          <a:bodyPr wrap="square" lIns="0" tIns="0" rIns="0" bIns="0" rtlCol="0" anchor="ctr"/>
          <a:lstStyle/>
          <a:p>
            <a:pPr algn="l" indent="0" marL="0">
              <a:buNone/>
            </a:pPr>
            <a:r>
              <a:rPr lang="en-US" sz="1300" b="1" dirty="0">
                <a:solidFill>
                  <a:srgbClr val="DDDDDD"/>
                </a:solidFill>
                <a:latin typeface="Calibri" pitchFamily="34" charset="0"/>
                <a:ea typeface="Calibri" pitchFamily="34" charset="-122"/>
                <a:cs typeface="Calibri" pitchFamily="34" charset="-120"/>
              </a:rPr>
              <a:t>Early architectural influence</a:t>
            </a:r>
            <a:endParaRPr lang="en-US" sz="1300" dirty="0"/>
          </a:p>
        </p:txBody>
      </p:sp>
      <p:sp>
        <p:nvSpPr>
          <p:cNvPr id="9" name="Text 7"/>
          <p:cNvSpPr/>
          <p:nvPr/>
        </p:nvSpPr>
        <p:spPr>
          <a:xfrm>
            <a:off x="1005840" y="1618488"/>
            <a:ext cx="7772400" cy="685800"/>
          </a:xfrm>
          <a:prstGeom prst="rect">
            <a:avLst/>
          </a:prstGeom>
          <a:noFill/>
          <a:ln/>
        </p:spPr>
        <p:txBody>
          <a:bodyPr wrap="square" rtlCol="0" anchor="t"/>
          <a:lstStyle/>
          <a:p>
            <a:pPr algn="l" indent="0" marL="0">
              <a:buNone/>
            </a:pPr>
            <a:r>
              <a:rPr lang="en-US" sz="1150" dirty="0">
                <a:solidFill>
                  <a:srgbClr val="999999"/>
                </a:solidFill>
                <a:latin typeface="Calibri" pitchFamily="34" charset="0"/>
                <a:ea typeface="Calibri" pitchFamily="34" charset="-122"/>
                <a:cs typeface="Calibri" pitchFamily="34" charset="-120"/>
              </a:rPr>
              <a:t>EA has no platform-specific signal at intake. By the time we are in the room, the delivery team has already shaped the solution and set the timeline.</a:t>
            </a:r>
            <a:endParaRPr lang="en-US" sz="1150" dirty="0"/>
          </a:p>
        </p:txBody>
      </p:sp>
      <p:sp>
        <p:nvSpPr>
          <p:cNvPr id="10" name="Shape 8"/>
          <p:cNvSpPr/>
          <p:nvPr/>
        </p:nvSpPr>
        <p:spPr>
          <a:xfrm>
            <a:off x="365760" y="2514600"/>
            <a:ext cx="502920" cy="502920"/>
          </a:xfrm>
          <a:prstGeom prst="rect">
            <a:avLst/>
          </a:prstGeom>
          <a:solidFill>
            <a:srgbClr val="A50021"/>
          </a:solidFill>
          <a:ln w="12700">
            <a:solidFill>
              <a:srgbClr val="A50021"/>
            </a:solidFill>
            <a:prstDash val="solid"/>
          </a:ln>
        </p:spPr>
      </p:sp>
      <p:sp>
        <p:nvSpPr>
          <p:cNvPr id="11" name="Text 9"/>
          <p:cNvSpPr/>
          <p:nvPr/>
        </p:nvSpPr>
        <p:spPr>
          <a:xfrm>
            <a:off x="365760" y="2514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2" name="Text 10"/>
          <p:cNvSpPr/>
          <p:nvPr/>
        </p:nvSpPr>
        <p:spPr>
          <a:xfrm>
            <a:off x="1005840" y="2532888"/>
            <a:ext cx="7772400" cy="256032"/>
          </a:xfrm>
          <a:prstGeom prst="rect">
            <a:avLst/>
          </a:prstGeom>
          <a:noFill/>
          <a:ln/>
        </p:spPr>
        <p:txBody>
          <a:bodyPr wrap="square" lIns="0" tIns="0" rIns="0" bIns="0" rtlCol="0" anchor="ctr"/>
          <a:lstStyle/>
          <a:p>
            <a:pPr algn="l" indent="0" marL="0">
              <a:buNone/>
            </a:pPr>
            <a:r>
              <a:rPr lang="en-US" sz="1300" b="1" dirty="0">
                <a:solidFill>
                  <a:srgbClr val="DDDDDD"/>
                </a:solidFill>
                <a:latin typeface="Calibri" pitchFamily="34" charset="0"/>
                <a:ea typeface="Calibri" pitchFamily="34" charset="-122"/>
                <a:cs typeface="Calibri" pitchFamily="34" charset="-120"/>
              </a:rPr>
              <a:t>Surface significant challenges early</a:t>
            </a:r>
            <a:endParaRPr lang="en-US" sz="1300" dirty="0"/>
          </a:p>
        </p:txBody>
      </p:sp>
      <p:sp>
        <p:nvSpPr>
          <p:cNvPr id="13" name="Text 11"/>
          <p:cNvSpPr/>
          <p:nvPr/>
        </p:nvSpPr>
        <p:spPr>
          <a:xfrm>
            <a:off x="1005840" y="2807208"/>
            <a:ext cx="7772400" cy="685800"/>
          </a:xfrm>
          <a:prstGeom prst="rect">
            <a:avLst/>
          </a:prstGeom>
          <a:noFill/>
          <a:ln/>
        </p:spPr>
        <p:txBody>
          <a:bodyPr wrap="square" rtlCol="0" anchor="t"/>
          <a:lstStyle/>
          <a:p>
            <a:pPr algn="l" indent="0" marL="0">
              <a:buNone/>
            </a:pPr>
            <a:r>
              <a:rPr lang="en-US" sz="1150" dirty="0">
                <a:solidFill>
                  <a:srgbClr val="999999"/>
                </a:solidFill>
                <a:latin typeface="Calibri" pitchFamily="34" charset="0"/>
                <a:ea typeface="Calibri" pitchFamily="34" charset="-122"/>
                <a:cs typeface="Calibri" pitchFamily="34" charset="-120"/>
              </a:rPr>
              <a:t>Platform ownership, dependent workloads, and transition approach are not questions the CAQ can ask. They surface mid-CA, not at intake where they belong.</a:t>
            </a:r>
            <a:endParaRPr lang="en-US" sz="1150" dirty="0"/>
          </a:p>
        </p:txBody>
      </p:sp>
      <p:sp>
        <p:nvSpPr>
          <p:cNvPr id="14" name="Shape 12"/>
          <p:cNvSpPr/>
          <p:nvPr/>
        </p:nvSpPr>
        <p:spPr>
          <a:xfrm>
            <a:off x="365760" y="3703320"/>
            <a:ext cx="502920" cy="502920"/>
          </a:xfrm>
          <a:prstGeom prst="rect">
            <a:avLst/>
          </a:prstGeom>
          <a:solidFill>
            <a:srgbClr val="A50021"/>
          </a:solidFill>
          <a:ln w="12700">
            <a:solidFill>
              <a:srgbClr val="A50021"/>
            </a:solidFill>
            <a:prstDash val="solid"/>
          </a:ln>
        </p:spPr>
      </p:sp>
      <p:sp>
        <p:nvSpPr>
          <p:cNvPr id="15" name="Text 13"/>
          <p:cNvSpPr/>
          <p:nvPr/>
        </p:nvSpPr>
        <p:spPr>
          <a:xfrm>
            <a:off x="365760" y="37033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16" name="Text 14"/>
          <p:cNvSpPr/>
          <p:nvPr/>
        </p:nvSpPr>
        <p:spPr>
          <a:xfrm>
            <a:off x="1005840" y="3721608"/>
            <a:ext cx="7772400" cy="256032"/>
          </a:xfrm>
          <a:prstGeom prst="rect">
            <a:avLst/>
          </a:prstGeom>
          <a:noFill/>
          <a:ln/>
        </p:spPr>
        <p:txBody>
          <a:bodyPr wrap="square" lIns="0" tIns="0" rIns="0" bIns="0" rtlCol="0" anchor="ctr"/>
          <a:lstStyle/>
          <a:p>
            <a:pPr algn="l" indent="0" marL="0">
              <a:buNone/>
            </a:pPr>
            <a:r>
              <a:rPr lang="en-US" sz="1300" b="1" dirty="0">
                <a:solidFill>
                  <a:srgbClr val="DDDDDD"/>
                </a:solidFill>
                <a:latin typeface="Calibri" pitchFamily="34" charset="0"/>
                <a:ea typeface="Calibri" pitchFamily="34" charset="-122"/>
                <a:cs typeface="Calibri" pitchFamily="34" charset="-120"/>
              </a:rPr>
              <a:t>Ensure alignment with enterprise standards</a:t>
            </a:r>
            <a:endParaRPr lang="en-US" sz="1300" dirty="0"/>
          </a:p>
        </p:txBody>
      </p:sp>
      <p:sp>
        <p:nvSpPr>
          <p:cNvPr id="17" name="Text 15"/>
          <p:cNvSpPr/>
          <p:nvPr/>
        </p:nvSpPr>
        <p:spPr>
          <a:xfrm>
            <a:off x="1005840" y="3995928"/>
            <a:ext cx="7772400" cy="685800"/>
          </a:xfrm>
          <a:prstGeom prst="rect">
            <a:avLst/>
          </a:prstGeom>
          <a:noFill/>
          <a:ln/>
        </p:spPr>
        <p:txBody>
          <a:bodyPr wrap="square" rtlCol="0" anchor="t"/>
          <a:lstStyle/>
          <a:p>
            <a:pPr algn="l" indent="0" marL="0">
              <a:buNone/>
            </a:pPr>
            <a:r>
              <a:rPr lang="en-US" sz="1150" dirty="0">
                <a:solidFill>
                  <a:srgbClr val="999999"/>
                </a:solidFill>
                <a:latin typeface="Calibri" pitchFamily="34" charset="0"/>
                <a:ea typeface="Calibri" pitchFamily="34" charset="-122"/>
                <a:cs typeface="Calibri" pitchFamily="34" charset="-120"/>
              </a:rPr>
              <a:t>There is no platform-layer standards validation pathway. Platform initiatives clear governance without it. Question 23 lists 13 strategic platforms. Not one is a cloud infrastructure or automation platform.</a:t>
            </a:r>
            <a:endParaRPr lang="en-US" sz="1150" dirty="0"/>
          </a:p>
        </p:txBody>
      </p:sp>
      <p:sp>
        <p:nvSpPr>
          <p:cNvPr id="19" name="Text 16"/>
          <p:cNvSpPr/>
          <p:nvPr/>
        </p:nvSpPr>
        <p:spPr>
          <a:xfrm>
            <a:off x="8229600" y="4754880"/>
            <a:ext cx="731520" cy="274320"/>
          </a:xfrm>
          <a:prstGeom prst="rect">
            <a:avLst/>
          </a:prstGeom>
          <a:noFill/>
          <a:ln/>
        </p:spPr>
        <p:txBody>
          <a:bodyPr wrap="square" rtlCol="0" anchor="ctr"/>
          <a:lstStyle/>
          <a:p>
            <a:pPr algn="r" indent="0" marL="0">
              <a:buNone/>
            </a:pPr>
            <a:r>
              <a:rPr lang="en-US" sz="900" dirty="0">
                <a:solidFill>
                  <a:srgbClr val="555555"/>
                </a:solidFill>
                <a:latin typeface="Calibri" pitchFamily="34" charset="0"/>
                <a:ea typeface="Calibri" pitchFamily="34" charset="-122"/>
                <a:cs typeface="Calibri" pitchFamily="34" charset="-120"/>
              </a:rPr>
              <a:t>3 / 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4F2"/>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A50021"/>
          </a:solidFill>
          <a:ln w="12700">
            <a:solidFill>
              <a:srgbClr val="A50021"/>
            </a:solidFill>
            <a:prstDash val="solid"/>
          </a:ln>
        </p:spPr>
      </p:sp>
      <p:sp>
        <p:nvSpPr>
          <p:cNvPr id="3" name="Shape 1"/>
          <p:cNvSpPr/>
          <p:nvPr/>
        </p:nvSpPr>
        <p:spPr>
          <a:xfrm>
            <a:off x="457200" y="274320"/>
            <a:ext cx="2194560" cy="274320"/>
          </a:xfrm>
          <a:prstGeom prst="rect">
            <a:avLst/>
          </a:prstGeom>
          <a:solidFill>
            <a:srgbClr val="2E2E2E"/>
          </a:solidFill>
          <a:ln w="12700">
            <a:solidFill>
              <a:srgbClr val="2E2E2E"/>
            </a:solidFill>
            <a:prstDash val="solid"/>
          </a:ln>
        </p:spPr>
      </p:sp>
      <p:sp>
        <p:nvSpPr>
          <p:cNvPr id="4" name="Text 2"/>
          <p:cNvSpPr/>
          <p:nvPr/>
        </p:nvSpPr>
        <p:spPr>
          <a:xfrm>
            <a:off x="457200" y="274320"/>
            <a:ext cx="219456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RECOMMENDATION</a:t>
            </a:r>
            <a:endParaRPr lang="en-US" sz="900" dirty="0"/>
          </a:p>
        </p:txBody>
      </p:sp>
      <p:sp>
        <p:nvSpPr>
          <p:cNvPr id="5" name="Text 3"/>
          <p:cNvSpPr/>
          <p:nvPr/>
        </p:nvSpPr>
        <p:spPr>
          <a:xfrm>
            <a:off x="457200" y="685800"/>
            <a:ext cx="8229600" cy="411480"/>
          </a:xfrm>
          <a:prstGeom prst="rect">
            <a:avLst/>
          </a:prstGeom>
          <a:noFill/>
          <a:ln/>
        </p:spPr>
        <p:txBody>
          <a:bodyPr wrap="square" rtlCol="0" anchor="ctr"/>
          <a:lstStyle/>
          <a:p>
            <a:pPr algn="l" indent="0" marL="0">
              <a:buNone/>
            </a:pPr>
            <a:r>
              <a:rPr lang="en-US" sz="2000" b="1" dirty="0">
                <a:solidFill>
                  <a:srgbClr val="1C1C1C"/>
                </a:solidFill>
                <a:latin typeface="Calibri" pitchFamily="34" charset="0"/>
                <a:ea typeface="Calibri" pitchFamily="34" charset="-122"/>
                <a:cs typeface="Calibri" pitchFamily="34" charset="-120"/>
              </a:rPr>
              <a:t>Two EA-owned changes. Both decided here.</a:t>
            </a:r>
            <a:endParaRPr lang="en-US" sz="2000" dirty="0"/>
          </a:p>
        </p:txBody>
      </p:sp>
      <p:sp>
        <p:nvSpPr>
          <p:cNvPr id="6" name="Shape 4"/>
          <p:cNvSpPr/>
          <p:nvPr/>
        </p:nvSpPr>
        <p:spPr>
          <a:xfrm>
            <a:off x="457200" y="1234440"/>
            <a:ext cx="4023360" cy="3520440"/>
          </a:xfrm>
          <a:prstGeom prst="rect">
            <a:avLst/>
          </a:prstGeom>
          <a:solidFill>
            <a:srgbClr val="FFFFFF"/>
          </a:solidFill>
          <a:ln w="12700">
            <a:solidFill>
              <a:srgbClr val="E8E6E2"/>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457200" y="1234440"/>
            <a:ext cx="4023360" cy="502920"/>
          </a:xfrm>
          <a:prstGeom prst="rect">
            <a:avLst/>
          </a:prstGeom>
          <a:solidFill>
            <a:srgbClr val="2E2E2E"/>
          </a:solidFill>
          <a:ln w="12700">
            <a:solidFill>
              <a:srgbClr val="2E2E2E"/>
            </a:solidFill>
            <a:prstDash val="solid"/>
          </a:ln>
        </p:spPr>
      </p:sp>
      <p:sp>
        <p:nvSpPr>
          <p:cNvPr id="8" name="Text 6"/>
          <p:cNvSpPr/>
          <p:nvPr/>
        </p:nvSpPr>
        <p:spPr>
          <a:xfrm>
            <a:off x="566928" y="1234440"/>
            <a:ext cx="320040" cy="502920"/>
          </a:xfrm>
          <a:prstGeom prst="rect">
            <a:avLst/>
          </a:prstGeom>
          <a:noFill/>
          <a:ln/>
        </p:spPr>
        <p:txBody>
          <a:bodyPr wrap="square" lIns="0" tIns="0" rIns="0" bIns="0" rtlCol="0" anchor="ctr"/>
          <a:lstStyle/>
          <a:p>
            <a:pPr algn="ctr" indent="0" marL="0">
              <a:buNone/>
            </a:pPr>
            <a:r>
              <a:rPr lang="en-US" sz="1800" b="1" dirty="0">
                <a:solidFill>
                  <a:srgbClr val="A50021"/>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960120" y="1234440"/>
            <a:ext cx="3429000" cy="50292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Initiative type classification in the CAQ</a:t>
            </a:r>
            <a:endParaRPr lang="en-US" sz="1100" dirty="0"/>
          </a:p>
        </p:txBody>
      </p:sp>
      <p:sp>
        <p:nvSpPr>
          <p:cNvPr id="10" name="Text 8"/>
          <p:cNvSpPr/>
          <p:nvPr/>
        </p:nvSpPr>
        <p:spPr>
          <a:xfrm>
            <a:off x="621792" y="1828800"/>
            <a:ext cx="3703320" cy="2331720"/>
          </a:xfrm>
          <a:prstGeom prst="rect">
            <a:avLst/>
          </a:prstGeom>
          <a:noFill/>
          <a:ln/>
        </p:spPr>
        <p:txBody>
          <a:bodyPr wrap="square" rtlCol="0" anchor="t"/>
          <a:lstStyle/>
          <a:p>
            <a:pPr algn="l" indent="0" marL="0">
              <a:buNone/>
            </a:pPr>
            <a:r>
              <a:rPr lang="en-US" sz="1100" dirty="0">
                <a:solidFill>
                  <a:srgbClr val="2E2E2E"/>
                </a:solidFill>
                <a:latin typeface="Calibri" pitchFamily="34" charset="0"/>
                <a:ea typeface="Calibri" pitchFamily="34" charset="-122"/>
                <a:cs typeface="Calibri" pitchFamily="34" charset="-120"/>
              </a:rPr>
              <a:t>Add a single early question that identifies whether the initiative is application delivery or platform. A platform initiative is one whose primary output is shared enabling technology consumed by other systems.</a:t>
            </a:r>
            <a:endParaRPr lang="en-US" sz="1100" dirty="0"/>
          </a:p>
          <a:p>
            <a:pPr algn="l" indent="0" marL="0">
              <a:buNone/>
            </a:pPr>
            <a:endParaRPr lang="en-US" sz="1100" dirty="0"/>
          </a:p>
          <a:p>
            <a:pPr algn="l" indent="0" marL="0">
              <a:buNone/>
            </a:pPr>
            <a:r>
              <a:rPr lang="en-US" sz="1100" dirty="0">
                <a:solidFill>
                  <a:srgbClr val="2E2E2E"/>
                </a:solidFill>
                <a:latin typeface="Calibri" pitchFamily="34" charset="0"/>
                <a:ea typeface="Calibri" pitchFamily="34" charset="-122"/>
                <a:cs typeface="Calibri" pitchFamily="34" charset="-120"/>
              </a:rPr>
              <a:t>This activates a targeted question set: who owns and operates the platform, which workloads depend on it, what is triggering the initiative, which enterprise standards apply. Application initiatives are unaffected. The net question count for platform teams goes down.</a:t>
            </a:r>
            <a:endParaRPr lang="en-US" sz="1100" dirty="0"/>
          </a:p>
        </p:txBody>
      </p:sp>
      <p:sp>
        <p:nvSpPr>
          <p:cNvPr id="11" name="Shape 9"/>
          <p:cNvSpPr/>
          <p:nvPr/>
        </p:nvSpPr>
        <p:spPr>
          <a:xfrm>
            <a:off x="457200" y="4462272"/>
            <a:ext cx="4023360" cy="292608"/>
          </a:xfrm>
          <a:prstGeom prst="rect">
            <a:avLst/>
          </a:prstGeom>
          <a:solidFill>
            <a:srgbClr val="F0EDED"/>
          </a:solidFill>
          <a:ln w="12700">
            <a:solidFill>
              <a:srgbClr val="E8E6E2"/>
            </a:solidFill>
            <a:prstDash val="solid"/>
          </a:ln>
        </p:spPr>
      </p:sp>
      <p:sp>
        <p:nvSpPr>
          <p:cNvPr id="12" name="Text 10"/>
          <p:cNvSpPr/>
          <p:nvPr/>
        </p:nvSpPr>
        <p:spPr>
          <a:xfrm>
            <a:off x="566928" y="4462272"/>
            <a:ext cx="3794760" cy="292608"/>
          </a:xfrm>
          <a:prstGeom prst="rect">
            <a:avLst/>
          </a:prstGeom>
          <a:noFill/>
          <a:ln/>
        </p:spPr>
        <p:txBody>
          <a:bodyPr wrap="square" rtlCol="0" anchor="ctr"/>
          <a:lstStyle/>
          <a:p>
            <a:pPr algn="l" indent="0" marL="0">
              <a:buNone/>
            </a:pPr>
            <a:r>
              <a:rPr lang="en-US" sz="950" i="1" dirty="0">
                <a:solidFill>
                  <a:srgbClr val="A50021"/>
                </a:solidFill>
                <a:latin typeface="Calibri" pitchFamily="34" charset="0"/>
                <a:ea typeface="Calibri" pitchFamily="34" charset="-122"/>
                <a:cs typeface="Calibri" pitchFamily="34" charset="-120"/>
              </a:rPr>
              <a:t>EA owns this decision at CAQ redesign</a:t>
            </a:r>
            <a:endParaRPr lang="en-US" sz="950" dirty="0"/>
          </a:p>
        </p:txBody>
      </p:sp>
      <p:sp>
        <p:nvSpPr>
          <p:cNvPr id="13" name="Shape 11"/>
          <p:cNvSpPr/>
          <p:nvPr/>
        </p:nvSpPr>
        <p:spPr>
          <a:xfrm>
            <a:off x="4800600" y="1234440"/>
            <a:ext cx="4023360" cy="3520440"/>
          </a:xfrm>
          <a:prstGeom prst="rect">
            <a:avLst/>
          </a:prstGeom>
          <a:solidFill>
            <a:srgbClr val="FFFFFF"/>
          </a:solidFill>
          <a:ln w="12700">
            <a:solidFill>
              <a:srgbClr val="E8E6E2"/>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4800600" y="1234440"/>
            <a:ext cx="4023360" cy="502920"/>
          </a:xfrm>
          <a:prstGeom prst="rect">
            <a:avLst/>
          </a:prstGeom>
          <a:solidFill>
            <a:srgbClr val="2E2E2E"/>
          </a:solidFill>
          <a:ln w="12700">
            <a:solidFill>
              <a:srgbClr val="2E2E2E"/>
            </a:solidFill>
            <a:prstDash val="solid"/>
          </a:ln>
        </p:spPr>
      </p:sp>
      <p:sp>
        <p:nvSpPr>
          <p:cNvPr id="15" name="Text 13"/>
          <p:cNvSpPr/>
          <p:nvPr/>
        </p:nvSpPr>
        <p:spPr>
          <a:xfrm>
            <a:off x="4910328" y="1234440"/>
            <a:ext cx="320040" cy="502920"/>
          </a:xfrm>
          <a:prstGeom prst="rect">
            <a:avLst/>
          </a:prstGeom>
          <a:noFill/>
          <a:ln/>
        </p:spPr>
        <p:txBody>
          <a:bodyPr wrap="square" lIns="0" tIns="0" rIns="0" bIns="0" rtlCol="0" anchor="ctr"/>
          <a:lstStyle/>
          <a:p>
            <a:pPr algn="ctr" indent="0" marL="0">
              <a:buNone/>
            </a:pPr>
            <a:r>
              <a:rPr lang="en-US" sz="1800" b="1" dirty="0">
                <a:solidFill>
                  <a:srgbClr val="A50021"/>
                </a:solidFill>
                <a:latin typeface="Calibri" pitchFamily="34" charset="0"/>
                <a:ea typeface="Calibri" pitchFamily="34" charset="-122"/>
                <a:cs typeface="Calibri" pitchFamily="34" charset="-120"/>
              </a:rPr>
              <a:t>2</a:t>
            </a:r>
            <a:endParaRPr lang="en-US" sz="1800" dirty="0"/>
          </a:p>
        </p:txBody>
      </p:sp>
      <p:sp>
        <p:nvSpPr>
          <p:cNvPr id="16" name="Text 14"/>
          <p:cNvSpPr/>
          <p:nvPr/>
        </p:nvSpPr>
        <p:spPr>
          <a:xfrm>
            <a:off x="5303520" y="1234440"/>
            <a:ext cx="3429000" cy="50292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Platform view set in the CA and E2E Framework</a:t>
            </a:r>
            <a:endParaRPr lang="en-US" sz="1100" dirty="0"/>
          </a:p>
        </p:txBody>
      </p:sp>
      <p:sp>
        <p:nvSpPr>
          <p:cNvPr id="17" name="Text 15"/>
          <p:cNvSpPr/>
          <p:nvPr/>
        </p:nvSpPr>
        <p:spPr>
          <a:xfrm>
            <a:off x="4965192" y="1828800"/>
            <a:ext cx="3703320" cy="2331720"/>
          </a:xfrm>
          <a:prstGeom prst="rect">
            <a:avLst/>
          </a:prstGeom>
          <a:noFill/>
          <a:ln/>
        </p:spPr>
        <p:txBody>
          <a:bodyPr wrap="square" rtlCol="0" anchor="t"/>
          <a:lstStyle/>
          <a:p>
            <a:pPr algn="l" indent="0" marL="0">
              <a:buNone/>
            </a:pPr>
            <a:r>
              <a:rPr lang="en-US" sz="1100" dirty="0">
                <a:solidFill>
                  <a:srgbClr val="2E2E2E"/>
                </a:solidFill>
                <a:latin typeface="Calibri" pitchFamily="34" charset="0"/>
                <a:ea typeface="Calibri" pitchFamily="34" charset="-122"/>
                <a:cs typeface="Calibri" pitchFamily="34" charset="-120"/>
              </a:rPr>
              <a:t>Define a platform view set as a first-class alternative to the application view set. Platform service boundary and consumer dependency map replace systems context and information model. Operational model and ownership replace journey maps. Standards alignment replaces logical data flow.</a:t>
            </a:r>
            <a:endParaRPr lang="en-US" sz="1100" dirty="0"/>
          </a:p>
          <a:p>
            <a:pPr algn="l" indent="0" marL="0">
              <a:buNone/>
            </a:pPr>
            <a:endParaRPr lang="en-US" sz="1100" dirty="0"/>
          </a:p>
          <a:p>
            <a:pPr algn="l" indent="0" marL="0">
              <a:buNone/>
            </a:pPr>
            <a:r>
              <a:rPr lang="en-US" sz="1100" dirty="0">
                <a:solidFill>
                  <a:srgbClr val="2E2E2E"/>
                </a:solidFill>
                <a:latin typeface="Calibri" pitchFamily="34" charset="0"/>
                <a:ea typeface="Calibri" pitchFamily="34" charset="-122"/>
                <a:cs typeface="Calibri" pitchFamily="34" charset="-120"/>
              </a:rPr>
              <a:t>This substitutes inapplicable views. It does not expand the template.</a:t>
            </a:r>
            <a:endParaRPr lang="en-US" sz="1100" dirty="0"/>
          </a:p>
        </p:txBody>
      </p:sp>
      <p:sp>
        <p:nvSpPr>
          <p:cNvPr id="18" name="Shape 16"/>
          <p:cNvSpPr/>
          <p:nvPr/>
        </p:nvSpPr>
        <p:spPr>
          <a:xfrm>
            <a:off x="4800600" y="4462272"/>
            <a:ext cx="4023360" cy="292608"/>
          </a:xfrm>
          <a:prstGeom prst="rect">
            <a:avLst/>
          </a:prstGeom>
          <a:solidFill>
            <a:srgbClr val="F0EDED"/>
          </a:solidFill>
          <a:ln w="12700">
            <a:solidFill>
              <a:srgbClr val="E8E6E2"/>
            </a:solidFill>
            <a:prstDash val="solid"/>
          </a:ln>
        </p:spPr>
      </p:sp>
      <p:sp>
        <p:nvSpPr>
          <p:cNvPr id="19" name="Text 17"/>
          <p:cNvSpPr/>
          <p:nvPr/>
        </p:nvSpPr>
        <p:spPr>
          <a:xfrm>
            <a:off x="4910328" y="4462272"/>
            <a:ext cx="3794760" cy="292608"/>
          </a:xfrm>
          <a:prstGeom prst="rect">
            <a:avLst/>
          </a:prstGeom>
          <a:noFill/>
          <a:ln/>
        </p:spPr>
        <p:txBody>
          <a:bodyPr wrap="square" rtlCol="0" anchor="ctr"/>
          <a:lstStyle/>
          <a:p>
            <a:pPr algn="l" indent="0" marL="0">
              <a:buNone/>
            </a:pPr>
            <a:r>
              <a:rPr lang="en-US" sz="950" i="1" dirty="0">
                <a:solidFill>
                  <a:srgbClr val="A50021"/>
                </a:solidFill>
                <a:latin typeface="Calibri" pitchFamily="34" charset="0"/>
                <a:ea typeface="Calibri" pitchFamily="34" charset="-122"/>
                <a:cs typeface="Calibri" pitchFamily="34" charset="-120"/>
              </a:rPr>
              <a:t>EA owns this decision in the new Framework</a:t>
            </a:r>
            <a:endParaRPr lang="en-US" sz="950" dirty="0"/>
          </a:p>
        </p:txBody>
      </p:sp>
      <p:sp>
        <p:nvSpPr>
          <p:cNvPr id="21" name="Text 18"/>
          <p:cNvSpPr/>
          <p:nvPr/>
        </p:nvSpPr>
        <p:spPr>
          <a:xfrm>
            <a:off x="8229600" y="4754880"/>
            <a:ext cx="73152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4 / 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C1C1C"/>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A50021"/>
          </a:solidFill>
          <a:ln w="12700">
            <a:solidFill>
              <a:srgbClr val="A50021"/>
            </a:solidFill>
            <a:prstDash val="solid"/>
          </a:ln>
        </p:spPr>
      </p:sp>
      <p:sp>
        <p:nvSpPr>
          <p:cNvPr id="3" name="Shape 1"/>
          <p:cNvSpPr/>
          <p:nvPr/>
        </p:nvSpPr>
        <p:spPr>
          <a:xfrm>
            <a:off x="365760" y="274320"/>
            <a:ext cx="3108960" cy="274320"/>
          </a:xfrm>
          <a:prstGeom prst="rect">
            <a:avLst/>
          </a:prstGeom>
          <a:solidFill>
            <a:srgbClr val="A50021"/>
          </a:solidFill>
          <a:ln w="12700">
            <a:solidFill>
              <a:srgbClr val="A50021"/>
            </a:solidFill>
            <a:prstDash val="solid"/>
          </a:ln>
        </p:spPr>
      </p:sp>
      <p:sp>
        <p:nvSpPr>
          <p:cNvPr id="4" name="Text 2"/>
          <p:cNvSpPr/>
          <p:nvPr/>
        </p:nvSpPr>
        <p:spPr>
          <a:xfrm>
            <a:off x="365760" y="274320"/>
            <a:ext cx="310896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ANTICIPATED PUSHBACK + RESPONSE</a:t>
            </a:r>
            <a:endParaRPr lang="en-US" sz="900" dirty="0"/>
          </a:p>
        </p:txBody>
      </p:sp>
      <p:sp>
        <p:nvSpPr>
          <p:cNvPr id="5" name="Shape 3"/>
          <p:cNvSpPr/>
          <p:nvPr/>
        </p:nvSpPr>
        <p:spPr>
          <a:xfrm>
            <a:off x="365760" y="777240"/>
            <a:ext cx="8412480" cy="1691640"/>
          </a:xfrm>
          <a:prstGeom prst="rect">
            <a:avLst/>
          </a:prstGeom>
          <a:solidFill>
            <a:srgbClr val="2A2A2A"/>
          </a:solidFill>
          <a:ln w="12700">
            <a:solidFill>
              <a:srgbClr val="444444"/>
            </a:solidFill>
            <a:prstDash val="solid"/>
          </a:ln>
        </p:spPr>
      </p:sp>
      <p:sp>
        <p:nvSpPr>
          <p:cNvPr id="6" name="Shape 4"/>
          <p:cNvSpPr/>
          <p:nvPr/>
        </p:nvSpPr>
        <p:spPr>
          <a:xfrm>
            <a:off x="365760" y="777240"/>
            <a:ext cx="73152" cy="1691640"/>
          </a:xfrm>
          <a:prstGeom prst="rect">
            <a:avLst/>
          </a:prstGeom>
          <a:solidFill>
            <a:srgbClr val="C8860A"/>
          </a:solidFill>
          <a:ln w="12700">
            <a:solidFill>
              <a:srgbClr val="C8860A"/>
            </a:solidFill>
            <a:prstDash val="solid"/>
          </a:ln>
        </p:spPr>
      </p:sp>
      <p:sp>
        <p:nvSpPr>
          <p:cNvPr id="7" name="Text 5"/>
          <p:cNvSpPr/>
          <p:nvPr/>
        </p:nvSpPr>
        <p:spPr>
          <a:xfrm>
            <a:off x="548640" y="804672"/>
            <a:ext cx="1828800" cy="256032"/>
          </a:xfrm>
          <a:prstGeom prst="rect">
            <a:avLst/>
          </a:prstGeom>
          <a:noFill/>
          <a:ln/>
        </p:spPr>
        <p:txBody>
          <a:bodyPr wrap="square" lIns="0" tIns="0" rIns="0" bIns="0" rtlCol="0" anchor="ctr"/>
          <a:lstStyle/>
          <a:p>
            <a:pPr algn="l" indent="0" marL="0">
              <a:buNone/>
            </a:pPr>
            <a:r>
              <a:rPr lang="en-US" sz="900" b="1" dirty="0">
                <a:solidFill>
                  <a:srgbClr val="C8860A"/>
                </a:solidFill>
                <a:latin typeface="Calibri" pitchFamily="34" charset="0"/>
                <a:ea typeface="Calibri" pitchFamily="34" charset="-122"/>
                <a:cs typeface="Calibri" pitchFamily="34" charset="-120"/>
              </a:rPr>
              <a:t>OBJECTION</a:t>
            </a:r>
            <a:endParaRPr lang="en-US" sz="900" dirty="0"/>
          </a:p>
        </p:txBody>
      </p:sp>
      <p:sp>
        <p:nvSpPr>
          <p:cNvPr id="8" name="Text 6"/>
          <p:cNvSpPr/>
          <p:nvPr/>
        </p:nvSpPr>
        <p:spPr>
          <a:xfrm>
            <a:off x="548640" y="1097280"/>
            <a:ext cx="8046720" cy="1234440"/>
          </a:xfrm>
          <a:prstGeom prst="rect">
            <a:avLst/>
          </a:prstGeom>
          <a:noFill/>
          <a:ln/>
        </p:spPr>
        <p:txBody>
          <a:bodyPr wrap="square" rtlCol="0" anchor="t"/>
          <a:lstStyle/>
          <a:p>
            <a:pPr algn="l" indent="0" marL="0">
              <a:buNone/>
            </a:pPr>
            <a:r>
              <a:rPr lang="en-US" sz="1350" i="1" dirty="0">
                <a:solidFill>
                  <a:srgbClr val="CCCCCC"/>
                </a:solidFill>
                <a:latin typeface="Calibri" pitchFamily="34" charset="0"/>
                <a:ea typeface="Calibri" pitchFamily="34" charset="-122"/>
                <a:cs typeface="Calibri" pitchFamily="34" charset="-120"/>
              </a:rPr>
              <a:t>"This is a DAP-specific issue. Cloud and DevOps and I&amp;O run more platform initiatives than anyone else. Why should the whole enterprise framework change for one BU's workload type?"</a:t>
            </a:r>
            <a:endParaRPr lang="en-US" sz="1350" dirty="0"/>
          </a:p>
        </p:txBody>
      </p:sp>
      <p:sp>
        <p:nvSpPr>
          <p:cNvPr id="9" name="Shape 7"/>
          <p:cNvSpPr/>
          <p:nvPr/>
        </p:nvSpPr>
        <p:spPr>
          <a:xfrm>
            <a:off x="365760" y="2651760"/>
            <a:ext cx="8412480" cy="2148840"/>
          </a:xfrm>
          <a:prstGeom prst="rect">
            <a:avLst/>
          </a:prstGeom>
          <a:solidFill>
            <a:srgbClr val="212121"/>
          </a:solidFill>
          <a:ln w="12700">
            <a:solidFill>
              <a:srgbClr val="3A3A3A"/>
            </a:solidFill>
            <a:prstDash val="solid"/>
          </a:ln>
        </p:spPr>
      </p:sp>
      <p:sp>
        <p:nvSpPr>
          <p:cNvPr id="10" name="Shape 8"/>
          <p:cNvSpPr/>
          <p:nvPr/>
        </p:nvSpPr>
        <p:spPr>
          <a:xfrm>
            <a:off x="365760" y="2651760"/>
            <a:ext cx="73152" cy="2148840"/>
          </a:xfrm>
          <a:prstGeom prst="rect">
            <a:avLst/>
          </a:prstGeom>
          <a:solidFill>
            <a:srgbClr val="A50021"/>
          </a:solidFill>
          <a:ln w="12700">
            <a:solidFill>
              <a:srgbClr val="A50021"/>
            </a:solidFill>
            <a:prstDash val="solid"/>
          </a:ln>
        </p:spPr>
      </p:sp>
      <p:sp>
        <p:nvSpPr>
          <p:cNvPr id="11" name="Text 9"/>
          <p:cNvSpPr/>
          <p:nvPr/>
        </p:nvSpPr>
        <p:spPr>
          <a:xfrm>
            <a:off x="548640" y="2679192"/>
            <a:ext cx="1828800" cy="256032"/>
          </a:xfrm>
          <a:prstGeom prst="rect">
            <a:avLst/>
          </a:prstGeom>
          <a:noFill/>
          <a:ln/>
        </p:spPr>
        <p:txBody>
          <a:bodyPr wrap="square" lIns="0" tIns="0" rIns="0" bIns="0" rtlCol="0" anchor="ctr"/>
          <a:lstStyle/>
          <a:p>
            <a:pPr algn="l" indent="0" marL="0">
              <a:buNone/>
            </a:pPr>
            <a:r>
              <a:rPr lang="en-US" sz="900" b="1" dirty="0">
                <a:solidFill>
                  <a:srgbClr val="A50021"/>
                </a:solidFill>
                <a:latin typeface="Calibri" pitchFamily="34" charset="0"/>
                <a:ea typeface="Calibri" pitchFamily="34" charset="-122"/>
                <a:cs typeface="Calibri" pitchFamily="34" charset="-120"/>
              </a:rPr>
              <a:t>RESPONSE</a:t>
            </a:r>
            <a:endParaRPr lang="en-US" sz="900" dirty="0"/>
          </a:p>
        </p:txBody>
      </p:sp>
      <p:sp>
        <p:nvSpPr>
          <p:cNvPr id="12" name="Text 10"/>
          <p:cNvSpPr/>
          <p:nvPr/>
        </p:nvSpPr>
        <p:spPr>
          <a:xfrm>
            <a:off x="548640" y="2980944"/>
            <a:ext cx="8046720" cy="1691640"/>
          </a:xfrm>
          <a:prstGeom prst="rect">
            <a:avLst/>
          </a:prstGeom>
          <a:noFill/>
          <a:ln/>
        </p:spPr>
        <p:txBody>
          <a:bodyPr wrap="square" rtlCol="0" anchor="t"/>
          <a:lstStyle/>
          <a:p>
            <a:pPr algn="l" indent="0" marL="0">
              <a:buNone/>
            </a:pPr>
            <a:r>
              <a:rPr lang="en-US" sz="1250" dirty="0">
                <a:solidFill>
                  <a:srgbClr val="BBBBBB"/>
                </a:solidFill>
                <a:latin typeface="Calibri" pitchFamily="34" charset="0"/>
                <a:ea typeface="Calibri" pitchFamily="34" charset="-122"/>
                <a:cs typeface="Calibri" pitchFamily="34" charset="-120"/>
              </a:rPr>
              <a:t>Look at Question 23 of the CAQ. It lists 13 Canada Life strategic platforms: Apigee, MDM, Salesforce, SAP, UIPath, and more. Not one of them is a cloud infrastructure platform, an IaC tooling platform, or an automation platform. That list was not built by DAP. It was built by EA. The application-centric bias in this framework is an </a:t>
            </a:r>
            <a:pPr algn="l" indent="0" marL="0">
              <a:buNone/>
            </a:pPr>
            <a:r>
              <a:rPr lang="en-US" sz="1250" b="1" dirty="0">
                <a:solidFill>
                  <a:srgbClr val="BBBBBB"/>
                </a:solidFill>
                <a:latin typeface="Calibri" pitchFamily="34" charset="0"/>
                <a:ea typeface="Calibri" pitchFamily="34" charset="-122"/>
                <a:cs typeface="Calibri" pitchFamily="34" charset="-120"/>
              </a:rPr>
              <a:t>enterprise architectural choice</a:t>
            </a:r>
            <a:pPr algn="l" indent="0" marL="0">
              <a:buNone/>
            </a:pPr>
            <a:r>
              <a:rPr lang="en-US" sz="1250" dirty="0">
                <a:solidFill>
                  <a:srgbClr val="BBBBBB"/>
                </a:solidFill>
                <a:latin typeface="Calibri" pitchFamily="34" charset="0"/>
                <a:ea typeface="Calibri" pitchFamily="34" charset="-122"/>
                <a:cs typeface="Calibri" pitchFamily="34" charset="-120"/>
              </a:rPr>
              <a:t>, not a DAP complaint.</a:t>
            </a:r>
            <a:endParaRPr lang="en-US" sz="1250" dirty="0"/>
          </a:p>
          <a:p>
            <a:pPr algn="l" indent="0" marL="0">
              <a:buNone/>
            </a:pPr>
            <a:endParaRPr lang="en-US" sz="1250" dirty="0"/>
          </a:p>
          <a:p>
            <a:pPr algn="l" indent="0" marL="0">
              <a:buNone/>
            </a:pPr>
            <a:r>
              <a:rPr lang="en-US" sz="1250" dirty="0">
                <a:solidFill>
                  <a:srgbClr val="BBBBBB"/>
                </a:solidFill>
                <a:latin typeface="Calibri" pitchFamily="34" charset="0"/>
                <a:ea typeface="Calibri" pitchFamily="34" charset="-122"/>
                <a:cs typeface="Calibri" pitchFamily="34" charset="-120"/>
              </a:rPr>
              <a:t>And this is confirmed across all four DAP domains: Cloud and DevOps, Data and AI, Integration, and Automation, each independently arriving at the same point. The framework produces effort without proportionate architectural value. That is not a single BU problem.</a:t>
            </a:r>
            <a:endParaRPr lang="en-US" sz="1250" dirty="0"/>
          </a:p>
        </p:txBody>
      </p:sp>
      <p:sp>
        <p:nvSpPr>
          <p:cNvPr id="14" name="Text 11"/>
          <p:cNvSpPr/>
          <p:nvPr/>
        </p:nvSpPr>
        <p:spPr>
          <a:xfrm>
            <a:off x="8229600" y="4754880"/>
            <a:ext cx="731520" cy="274320"/>
          </a:xfrm>
          <a:prstGeom prst="rect">
            <a:avLst/>
          </a:prstGeom>
          <a:noFill/>
          <a:ln/>
        </p:spPr>
        <p:txBody>
          <a:bodyPr wrap="square" rtlCol="0" anchor="ctr"/>
          <a:lstStyle/>
          <a:p>
            <a:pPr algn="r" indent="0" marL="0">
              <a:buNone/>
            </a:pPr>
            <a:r>
              <a:rPr lang="en-US" sz="900" dirty="0">
                <a:solidFill>
                  <a:srgbClr val="555555"/>
                </a:solidFill>
                <a:latin typeface="Calibri" pitchFamily="34" charset="0"/>
                <a:ea typeface="Calibri" pitchFamily="34" charset="-122"/>
                <a:cs typeface="Calibri" pitchFamily="34" charset="-120"/>
              </a:rPr>
              <a:t>5 / 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 Efficiency - DAP Gap Presentation</dc:title>
  <dc:subject>PptxGenJS Presentation</dc:subject>
  <dc:creator>PptxGenJS</dc:creator>
  <cp:lastModifiedBy>PptxGenJS</cp:lastModifiedBy>
  <cp:revision>1</cp:revision>
  <dcterms:created xsi:type="dcterms:W3CDTF">2026-03-12T12:34:08Z</dcterms:created>
  <dcterms:modified xsi:type="dcterms:W3CDTF">2026-03-12T12:34:08Z</dcterms:modified>
</cp:coreProperties>
</file>