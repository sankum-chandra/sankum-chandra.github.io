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Current vs. Target (Illustrative)</a:t>
            </a:r>
          </a:p>
        </c:rich>
      </c:tx>
      <c:layout/>
      <c:overlay val="0"/>
    </c:title>
    <c:autoTitleDeleted val="0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State</c:v>
                </c:pt>
              </c:strCache>
            </c:strRef>
          </c:tx>
          <c:spPr>
            <a:solidFill>
              <a:srgbClr val="747480"/>
            </a:solidFill>
            <a:ln w="25400" cap="flat">
              <a:solidFill>
                <a:srgbClr val="74748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747480"/>
              </a:solidFill>
              <a:ln w="9525" cap="flat">
                <a:solidFill>
                  <a:srgbClr val="7474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Foundation</c:v>
                  </c:pt>
                  <c:pt idx="1">
                    <c:v>Security</c:v>
                  </c:pt>
                  <c:pt idx="2">
                    <c:v>Governance</c:v>
                  </c:pt>
                  <c:pt idx="3">
                    <c:v>Platform &amp; Services</c:v>
                  </c:pt>
                  <c:pt idx="4">
                    <c:v>Cost &amp; Optimization</c:v>
                  </c:pt>
                  <c:pt idx="5">
                    <c:v>Automation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State</c:v>
                </c:pt>
              </c:strCache>
            </c:strRef>
          </c:tx>
          <c:spPr>
            <a:solidFill>
              <a:srgbClr val="BA0C2F"/>
            </a:solidFill>
            <a:ln w="25400" cap="flat">
              <a:solidFill>
                <a:srgbClr val="BA0C2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BA0C2F"/>
              </a:solidFill>
              <a:ln w="9525" cap="flat">
                <a:solidFill>
                  <a:srgbClr val="BA0C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Foundation</c:v>
                  </c:pt>
                  <c:pt idx="1">
                    <c:v>Security</c:v>
                  </c:pt>
                  <c:pt idx="2">
                    <c:v>Governance</c:v>
                  </c:pt>
                  <c:pt idx="3">
                    <c:v>Platform &amp; Services</c:v>
                  </c:pt>
                  <c:pt idx="4">
                    <c:v>Cost &amp; Optimization</c:v>
                  </c:pt>
                  <c:pt idx="5">
                    <c:v>Automation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9144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Database Services: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Roadmap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DRAFT — Built for Discovery &amp; Stakeholder Validation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21792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BA0C2F"/>
          </a:solidFill>
          <a:ln/>
        </p:spPr>
      </p:sp>
      <p:sp>
        <p:nvSpPr>
          <p:cNvPr id="7" name="Text 5"/>
          <p:cNvSpPr/>
          <p:nvPr/>
        </p:nvSpPr>
        <p:spPr>
          <a:xfrm>
            <a:off x="10362895" y="62179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Status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Status: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To be finalized once discovery is complete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Working Draft (v0.1) — not yet reviewed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Product Owner — in progress (source of current-state input)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Database Portfolio Architect — in progress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7373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Pending. Recommend mirroring the Cloud Foundations Roadmap's sign-off chain: CTO/SVP I&amp;O, Chief Enterprise Architect, and the Database Product Owner's executive sponsor.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Santhosh Kumar Chandrashekar, Enterprise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Group: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42062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Product Owner &amp; team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Database Portfolio Architect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9418320" cy="914400"/>
        </p:xfrm>
        <a:graphic>
          <a:graphicData uri="http://schemas.openxmlformats.org/drawingml/2006/table">
            <a:tbl>
              <a:tblPr/>
              <a:tblGrid>
                <a:gridCol w="804672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Services Value 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Guiding Principles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Overview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Focus Areas &amp; Transformation Opportunities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 Mapping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14–15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Packages / Initiatives Identification and Sequencing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21–22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Trusted, Modern Data Foundation for Every Business Initiative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6949440" cy="1371600"/>
          </a:xfrm>
          <a:prstGeom prst="roundRect">
            <a:avLst>
              <a:gd name="adj" fmla="val 4000"/>
            </a:avLst>
          </a:prstGeom>
          <a:solidFill>
            <a:srgbClr val="F0CCD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08760"/>
            <a:ext cx="6492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Statement (draft — validate with Product Owner): </a:t>
            </a:r>
            <a:pPr indent="0" marL="0">
              <a:buNone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secure, resilient, and cost-optimized database services foundation across on-prem and cloud platforms that supports every workload with the right engine, closes known legacy and licensing risk, and gives the enterprise a governed path to AI-ready data.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6949440" cy="914400"/>
        </p:xfrm>
        <a:graphic>
          <a:graphicData uri="http://schemas.openxmlformats.org/drawingml/2006/table">
            <a:tbl>
              <a:tblPr/>
              <a:tblGrid>
                <a:gridCol w="6949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Total Cost of Ownership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Strengthen Resilience &amp; 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Legacy &amp; Licensing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AI- and Analytics-Ready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Delivery Speed for App Teams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680960" y="1371600"/>
            <a:ext cx="4023360" cy="4663440"/>
          </a:xfrm>
          <a:prstGeom prst="roundRect">
            <a:avLst>
              <a:gd name="adj" fmla="val 136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63840" y="15544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863840" y="3063240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58200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Engine, Right Workload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63840" y="3840480"/>
            <a:ext cx="457200" cy="45720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458200" y="3840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&amp; Resilient Operations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63840" y="4617720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8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458200" y="46177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Secure by Design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863840" y="5394960"/>
            <a:ext cx="457200" cy="45720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3" name="Text 20"/>
          <p:cNvSpPr/>
          <p:nvPr/>
        </p:nvSpPr>
        <p:spPr>
          <a:xfrm>
            <a:off x="786384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458200" y="5394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Cost-Optimized Licensing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“Powering the enterprise with secure, resilient, and cost-optimized database platforms for every business initiative”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Services Value Chain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journey from planning to optimization — standardized, secure, and efficient database operations that enable faster delivery and compliance.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50008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50008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42816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42816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35624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35624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28432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28432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921240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921240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workload needs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engine strategy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cloud vs. on-prem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50008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41448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CMDB/tag registration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monitoring setup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42816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34256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&amp; RBAC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baselines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&amp; masking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35624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27064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monitoring &amp; incident mgmt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&amp; lifecycle mgmt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28432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19872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performance tuning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&amp; cost optimization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testing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921240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12680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archival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reclamation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constituents: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92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Product Owner  •  EA Database Portfolio Architect  •  DBA/Engineering Teams (HCL)  •  Application Owners  •  Security  •  FinOps  •  Compliance  •  Vendors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F0CCD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Engagement: contributes to database strategy &amp; planning, ensures governance alignment across the full lifecycle, and keeps this roadmap connected to the Cloud Foundations Roadmap.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from the Cloud Foundations Roadmap's nine enterprise principles, plus one database-specific addition — confirm with sponsors whether to keep all ten.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16736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0" name="Text 8"/>
          <p:cNvSpPr/>
          <p:nvPr/>
        </p:nvSpPr>
        <p:spPr>
          <a:xfrm>
            <a:off x="1316736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Appropriate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first, cloud appropriate — pattern-based decisions for workload placement.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24912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84448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5" name="Text 13"/>
          <p:cNvSpPr/>
          <p:nvPr/>
        </p:nvSpPr>
        <p:spPr>
          <a:xfrm>
            <a:off x="3584448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16352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Before Build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16352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managed/DBaaS options before self-managed infrastructure.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92624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84064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Autonomy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84064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trusted to act in the best interest of the company, within a strong foundation.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60336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9872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5" name="Text 23"/>
          <p:cNvSpPr/>
          <p:nvPr/>
        </p:nvSpPr>
        <p:spPr>
          <a:xfrm>
            <a:off x="8119872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51776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Everywhere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51776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Provisioning, configuration, and lifecycle management are automated by default.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528048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87584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0" name="Text 28"/>
          <p:cNvSpPr/>
          <p:nvPr/>
        </p:nvSpPr>
        <p:spPr>
          <a:xfrm>
            <a:off x="10387584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19488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Experientially Focused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619488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teams' experience is a first-class design consideration.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316736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5" name="Text 33"/>
          <p:cNvSpPr/>
          <p:nvPr/>
        </p:nvSpPr>
        <p:spPr>
          <a:xfrm>
            <a:off x="1316736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Oriented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weighed on velocity, resilience, and total cost of ownership.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24912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584448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0" name="Text 38"/>
          <p:cNvSpPr/>
          <p:nvPr/>
        </p:nvSpPr>
        <p:spPr>
          <a:xfrm>
            <a:off x="3584448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816352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Observability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816352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Unified, real-time visibility into health, performance, and cost.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92624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852160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5" name="Text 43"/>
          <p:cNvSpPr/>
          <p:nvPr/>
        </p:nvSpPr>
        <p:spPr>
          <a:xfrm>
            <a:off x="5852160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84064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084064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security, policy-driven enforcement, and data protection by default.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60336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119872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50" name="Text 48"/>
          <p:cNvSpPr/>
          <p:nvPr/>
        </p:nvSpPr>
        <p:spPr>
          <a:xfrm>
            <a:off x="8119872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351776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Optimization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7351776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feedback loops for efficient use of technology and spend.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528048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DDAC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0387584" y="3867912"/>
            <a:ext cx="457200" cy="457200"/>
          </a:xfrm>
          <a:prstGeom prst="ellipse">
            <a:avLst/>
          </a:prstGeom>
          <a:solidFill>
            <a:srgbClr val="8C0924"/>
          </a:solidFill>
          <a:ln/>
        </p:spPr>
      </p:sp>
      <p:sp>
        <p:nvSpPr>
          <p:cNvPr id="55" name="Text 53"/>
          <p:cNvSpPr/>
          <p:nvPr/>
        </p:nvSpPr>
        <p:spPr>
          <a:xfrm>
            <a:off x="10387584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619488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Engine for the Job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9619488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storage engine — relational, document, vector — suited to the workload.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Strategic Domains, Built From Your Existing Service Catalogue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Engineering &amp; Operations Service Catalogue already breaks into engineering and operations categories that map directly onto six strategic domains — the same organizing pattern used by the Cloud Foundations Roadmap.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1938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&amp; standards; provisioning &amp; onboarding.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17373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1938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engineering; access management.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17373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75320" y="196596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1938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movement &amp; integration governance; change &amp; lifecycle management.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25880" y="3858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Services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4480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&amp; cloud engineering; capacity &amp; performance engineering.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51960" y="365760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388620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0640" y="3858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Optimization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80560" y="4480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optimization &amp; license governance.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46720" y="365760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75320" y="3886200"/>
            <a:ext cx="502920" cy="50292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35" name="Text 33"/>
          <p:cNvSpPr/>
          <p:nvPr/>
        </p:nvSpPr>
        <p:spPr>
          <a:xfrm>
            <a:off x="827532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15400" y="3858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75320" y="4480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engineering, automation &amp; tooling; self-service.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Focus Areas &amp; Transformation Opportunities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confirmed, in-flight initiative below; the remaining four are seed hypotheses to rank and validate with the Product Owner and Portfolio Architect.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2DDAC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627632"/>
            <a:ext cx="502920" cy="502920"/>
          </a:xfrm>
          <a:prstGeom prst="ellipse">
            <a:avLst/>
          </a:prstGeom>
          <a:solidFill>
            <a:srgbClr val="8C092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5361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— Oracle Exadata Cloud Migration (Exa@Azure)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190195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ARC-approved Intake #290, ~$3.2M documented budget, 42 applications in scope. Not a hypothesis — confirm current phase (Workstream 2) and fold its milestones into this roadmap.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1828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2788920"/>
            <a:ext cx="438912" cy="438912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788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7706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Licensing Rationalization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3383280"/>
            <a:ext cx="5038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DB2 exit; use the ~10x cost gap vs. MS SQL to fund modernization elsewhere.
</a:t>
            </a:r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TCO; frees budget for other initiatives.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2606040"/>
            <a:ext cx="5440680" cy="1828800"/>
          </a:xfrm>
          <a:prstGeom prst="roundRect">
            <a:avLst>
              <a:gd name="adj" fmla="val 3000"/>
            </a:avLst>
          </a:prstGeom>
          <a:solidFill>
            <a:srgbClr val="F0CCD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81928" y="2788920"/>
            <a:ext cx="438912" cy="438912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0" name="Text 18"/>
          <p:cNvSpPr/>
          <p:nvPr/>
        </p:nvSpPr>
        <p:spPr>
          <a:xfrm>
            <a:off x="6281928" y="2788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27706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&amp; DR Modernization (Broader Estate)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81928" y="3383280"/>
            <a:ext cx="5038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resilience thinking already applied to Exa@Azure (tiered SLA, multi-region) to the rest of the estate.
</a:t>
            </a:r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recovery; parity with cloud infrastructure's maturity targets.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5440680" cy="1828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" y="4754880"/>
            <a:ext cx="438912" cy="438912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754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47365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NoSQL/Postgres Placement Policy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368" y="5349240"/>
            <a:ext cx="5038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and AWS RDS PostgreSQL are already active, self-service offerings — confirm whether an on-prem path is still needed.
</a:t>
            </a:r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ambiguity for teams evaluating NoSQL/Postgres.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4572000"/>
            <a:ext cx="5440680" cy="1828800"/>
          </a:xfrm>
          <a:prstGeom prst="roundRect">
            <a:avLst>
              <a:gd name="adj" fmla="val 3000"/>
            </a:avLst>
          </a:prstGeom>
          <a:solidFill>
            <a:srgbClr val="F0CCD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81928" y="4754880"/>
            <a:ext cx="438912" cy="438912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0" name="Text 28"/>
          <p:cNvSpPr/>
          <p:nvPr/>
        </p:nvSpPr>
        <p:spPr>
          <a:xfrm>
            <a:off x="6281928" y="4754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47365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Evolution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81928" y="5349240"/>
            <a:ext cx="5038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whether the HCL-managed, ticket-driven model should shift toward more self-service.
</a:t>
            </a:r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provisioning; reduced operational friction.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Mapping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item, not yet complete: </a:t>
            </a:r>
            <a:pPr indent="0" marL="0">
              <a:buNone/>
            </a:pPr>
            <a:r>
              <a:rPr lang="en-US" sz="12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I&amp;O roadmap is mapped to the Canada Life Technology Capability Model (based on the TBM taxonomy — L1–L3 standard, L4 Canada Life-specific). Confirm the exact L1–L4 entries for database services with EA before this roadmap is considered complete. A hypothesis is shown below.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2377440"/>
                <a:gridCol w="4846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Service Category (Draft)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Service Catalog &amp; Enablement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Modernization &amp; Migration Enablement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Governance &amp; Workload Placement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Cost &amp; License 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09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Draft only — replace with the confirmed model once validated with EA's capability-model owner.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A0C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Database Landscape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Database Service Catalogue already tells us — confirm with discovery.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6675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Hosting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+ Exadata Cloud at Customer; CONFIRMED move to Exa@Azure underway (Intake #290, ~$3.2M)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SQL 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+ Azure SQL Managed Instance (ACTIVE) + AWS RDS SQL Server (ACTIVE), self-service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DB2 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Deprecated — legacy support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(NoSQL)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 — ACTIVE, self-service across AWS, Azure &amp; GCP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RDS PostgreSQL — ACTIVE, self-service (Canada Central only)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→ Cloud Migration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DMS listed DRAFT — capability exists, not yet fully self-service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406640" y="1463040"/>
            <a:ext cx="4297680" cy="4572000"/>
          </a:xfrm>
          <a:prstGeom prst="roundRect">
            <a:avLst>
              <a:gd name="adj" fmla="val 12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8952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&amp; Cost Snapshot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89520" y="2011680"/>
            <a:ext cx="3931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via managed service provider (HCL) — L1–L3 DBA support, 24/7 on-call; OCIO handles chargeback.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ops ≈ $150/instance/mo; MS SQL ≈ $55/CPU/mo; DB2 ≈ $555/CPU/mo (cost outlier); Exadata Cloud @ Customer ≈ $1/GB/mo.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99.5% availability; Business Hours (non-prod) / 24×7 (prod); RPO/RTO ≤24h up to 96h.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enhancement already flagged: evolving DR and resiliency patterns — now confirmed as the Exa@Azure initiative (see Work Packages).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5-Level Database Maturity Model — Adapted From the Cloud Foundations Framework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54480"/>
                <a:gridCol w="4206240"/>
                <a:gridCol w="4663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Measurable Indicators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Ad-hoc builds; manual provisioning; minimal standards.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&lt;20% automated provisioning; no formal DR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builds and baseline guardrails; repeatable patterns.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40–60% automated; documented RPO/RTO tiers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standards and reference architectures.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70–85% automated; policy-as-code; scheduled DR exercises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 operations; proactive resilience and cost control.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90%+ automated; SLO-based RPO/RTO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improvement; self-healing; adaptive governance.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&gt;95% automated remediation; predictive scaling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34924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F0CCD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current level: 2 (Managed). </a:t>
            </a:r>
            <a:pPr indent="0" marL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here based on the catalogue's described operating model (standard builds, ticket-driven provisioning, documented but lengthy RPO/RTO) — validate with the Portfolio Architect before using this in an executive session.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Capability Maturity: Current vs. Target (Illustrative)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scoring — replace with a validated assessment from your discovery sessions.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63040"/>
          <a:ext cx="60350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858000" y="1463040"/>
            <a:ext cx="4846320" cy="4663440"/>
          </a:xfrm>
          <a:prstGeom prst="roundRect">
            <a:avLst>
              <a:gd name="adj" fmla="val 117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040880" y="1600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(Hypothesis)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40880" y="2057400"/>
            <a:ext cx="4480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 likely need the largest uplift — RBAC/PAM maturity and license governance aren't detailed in the catalogue.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shows the widest current-to-target gap if the roadmap pursues more self-service, mirroring the cloud roadmap's automation ambitions.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and Platform &amp; Services likely start from a stronger base — the catalogue already documents standard builds and defined services.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From Current-State Insights to Future-Ready Focus Areas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  <a:gridCol w="493776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Observation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Focus for Future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DB2 legacy licensing is a cost outlier; deprecated but not yet retired.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Rationalized, cost-optimized licensing footprint; DB2 exit completed.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 availability; RPO/RTO up to 96 hours across the board.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 resilience targets aligned to workload criticality.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Choice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Postgres/MongoDB cloud-only; Oracle Exa@Azure pricing TBD.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 placement policy for every engine.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HCL-managed, largely ticket-driven provisioning.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 self-service for common patterns.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A0C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 for Target State &amp; Expected Business Outcomes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Outcomes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Engine-Agnostic Standardization: foundation capabilities modeled consistently across on-prem and cloud.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6517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Resilient, Tiered Architecture: DR and recovery targets matched to workload criticality, not one-size-fits-all.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5661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 by Design: policy-driven guardrails, automated compliance.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4805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Cost-Transparent Operations: unified licensing and consumption visibility for FinOps-style traceability.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54406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53949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Retirement of Legacy Platforms: DB2 exit completed on a committed timeline.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7830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17373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Efficiency: contain licensing and infrastructure spend while supporting business growth.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26974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26517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Value: faster provisioning for application teams via self-service.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36118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35661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Compliance: reduced operational risk via unified database governance.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45262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44805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Focus: simplify the estate by exiting deprecated, high-cost platforms.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54406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0" y="53949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Uplift: target Level 4+ across all assessed database capabilities.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Target Operating Model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model gives every workload a governed path to the right engine, with automation and observability wrapped around all of it — conceptual, to be refined with the Portfolio Architect.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0CCD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7647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  •  Analytics &amp; BI  •  AI / ML Workloads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8620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Service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2918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(Oracle, MS SQL, Postgres)  •  NoSQL (MongoDB)  •  Vector / AI-Ready (future)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0CCD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9593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Security &amp; Governance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 •  RBAC/PAM  •  Automated backup, patch &amp; DR  •  Cost &amp; license governance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98348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50566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4864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Data Centers  •  Oracle Exadata Cloud @ Customer  •  Azure  •  AWS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A0C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Packages / Initiatives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35661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and Sequencing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Priorities &amp; Pain Points Summary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914400"/>
                <a:gridCol w="3291840"/>
                <a:gridCol w="2651760"/>
                <a:gridCol w="192024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Exa@Azure Migration (CONFIRMED)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Exadata hardware support lapsed; SLA steps down to RC3 until multi-region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Avoids refresh; path to 99.99% SLA &amp; OSFI compliance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Licensing Rationalization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DB2 legacy licensing cost outlier, deprecated but active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Frees budget for modernization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 &amp; DR Modernization (Broader Estate)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RPO/RTO up to 96h; no tiering by criticality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recovery, reduced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 NoSQL/Postgres Placement 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Atlas/RDS already active; policy not formalized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team ambiguity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Model Evolution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Ticket-driven provisioning via HCL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delivery, less friction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 Packages / Initiatives &amp; Objectives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70408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Exa@Azure Migration (CONFIRMED — Intake #290)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the move off unsupported on-prem Exadata hardware; confirm Workstream 2 phase and outcome of the migration-method decision; fold its milestones into this roadmap.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Licensing Rationalization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DB2 retirement and migration path; quantify and capture the cost gap vs. MS SQL/Postgres.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DR &amp; Resiliency Modernization (Broader Estate)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the resilience approach used for Exa@Azure (tiered SLA, multi-region) to the rest of the estate; tier RPO/RTO by workload criticality.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NoSQL/Postgres Placement 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Formalize whether MongoDB Atlas / AWS RDS PostgreSQL's existing multi-cloud, self-service reach is sufficient, or whether an on-prem/hybrid path is still required.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Self-Service &amp; Operating Model Evolution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expanding self-service provisioning within or alongside the HCL-managed model.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62356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0CCD2"/>
          </a:solidFill>
          <a:ln/>
          <a:effectLst>
            <a:outerShdw sx="100000" sy="100000" kx="0" ky="0" algn="bl" rotWithShape="0" blurRad="50800" dist="25400" dir="5400000">
              <a:srgbClr val="80808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on the Cloud Foundations Roadmap: D1 already depends on ExpressRoute/Equinix connectivity and, for a possible future state, GCP Frontdoor; D3 may depend on Chaos Resiliency Testing (C7) and Proactive/Self-Recovery (C9); D5 connects to Self Service Tooling (C4).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Packages / Initiatives Sequencing (2026–2027, Illustrative)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 Exa@Azure Migration (CONFIRMED — confirm actual phase)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D2: Legacy Licensing Rationalization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D3: Database DR &amp; Resiliency Modernization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D4: NoSQL/Postgres Placement Policy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D5: Self-Service &amp; Operating Model Evolution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38912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= confirmed, in-flight initiative (Exa@Azure) — placement approximate, confirm actual phase. Red = illustrative placement for seed-hypothesis initiatives — sequence and pace against real discovery findings, budget, and dependencies.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 Details — Scope, Cost &amp; Timeline (Template)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651760"/>
                <a:gridCol w="2468880"/>
                <a:gridCol w="1737360"/>
                <a:gridCol w="19202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In-Scope 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Duration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 Exa@Azure Migration (CONFIRMED)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Exadata Database Service on Azure (RAC), Autonomous Recovery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≈$1.15–1.2M Azure credits + $1.7M vendor + $0.33M internal IT (documented — verify total)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 1 complete (FY25); confirm W2 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current phase — originally targeted through FY25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D2: Legacy Licensing Rationalization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MS 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quantify DB2 exit savings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9–12 months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Q1 –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D3: Database DR &amp; Resiliency Modernization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HA/DR tooling, 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6–9 months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Q2 – 2027 Q1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D4: NoSQL/Postgres Placement 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Atlas, AWS RDS PostgreSQL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months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Q1 – Q2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D5: Self-Service &amp; Operating Model Evolution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(ServiceNow / IaC tooling)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9–12 months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Q4 – 2027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9436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costs are as documented in the approved architecture sketch — verify the consolidated total. All other cost/technology fields are placeholders pending vendor and Portfolio Architect input.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BA0C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by Capability (Draft)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447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Service Catalog &amp; Enablement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1051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access to approved database platforms; reduces risk and speeds adoption through a curated, discoverable catalogue.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334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Modernization &amp; Migration Enablement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999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already-offered legacy-to-cloud migration service; accelerates DB2 exit and other modernization moves.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82219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Governance &amp; Workload Placement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18795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workload lands on the right engine and platform, consistent with enterprise standards and the cloud roadmap's placement framework.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93776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01091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Cost &amp; License Optimization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37667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Rightsizing, license consumption tracking, and cost dashboards — direct counterpart to the cloud roadmap's FinOps/tagging initiatives.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Services Roadmap</dc:title>
  <dc:subject>PptxGenJS Presentation</dc:subject>
  <dc:creator>Santhosh Kumar Chandrashekar, Enterprise Architecture</dc:creator>
  <cp:lastModifiedBy>Santhosh Kumar Chandrashekar, Enterprise Architecture</cp:lastModifiedBy>
  <cp:revision>1</cp:revision>
  <dcterms:created xsi:type="dcterms:W3CDTF">2026-08-05T13:32:52Z</dcterms:created>
  <dcterms:modified xsi:type="dcterms:W3CDTF">2026-08-05T13:32:52Z</dcterms:modified>
</cp:coreProperties>
</file>