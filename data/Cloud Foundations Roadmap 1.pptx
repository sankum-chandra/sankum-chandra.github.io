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tags/tag152.xml" ContentType="application/vnd.openxmlformats-officedocument.presentationml.tags+xml"/>
  <Override PartName="/ppt/tags/tag153.xml" ContentType="application/vnd.openxmlformats-officedocument.presentationml.tags+xml"/>
  <Override PartName="/ppt/theme/theme6.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154.xml" ContentType="application/vnd.openxmlformats-officedocument.presentationml.tags+xml"/>
  <Override PartName="/ppt/comments/modernComment_7FFFFFD1_686E9B46.xml" ContentType="application/vnd.ms-powerpoint.comments+xml"/>
  <Override PartName="/ppt/comments/modernComment_7FFFFFC6_D8C2059E.xml" ContentType="application/vnd.ms-powerpoint.comments+xml"/>
  <Override PartName="/ppt/notesSlides/notesSlide1.xml" ContentType="application/vnd.openxmlformats-officedocument.presentationml.notesSlide+xml"/>
  <Override PartName="/ppt/comments/modernComment_7FFFFFCF_F4CCDA7D.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7FFFFFBE_579768E1.xml" ContentType="application/vnd.ms-powerpoint.comments+xml"/>
  <Override PartName="/ppt/comments/modernComment_7FFFFFBB_5FCC544B.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2" r:id="rId5"/>
    <p:sldMasterId id="2147484024" r:id="rId6"/>
    <p:sldMasterId id="2147484045" r:id="rId7"/>
    <p:sldMasterId id="2147484060" r:id="rId8"/>
  </p:sldMasterIdLst>
  <p:notesMasterIdLst>
    <p:notesMasterId r:id="rId41"/>
  </p:notesMasterIdLst>
  <p:sldIdLst>
    <p:sldId id="2147483602" r:id="rId9"/>
    <p:sldId id="2147483605" r:id="rId10"/>
    <p:sldId id="2147483586" r:id="rId11"/>
    <p:sldId id="2147483597" r:id="rId12"/>
    <p:sldId id="2147483520" r:id="rId13"/>
    <p:sldId id="2147483505" r:id="rId14"/>
    <p:sldId id="2147483606" r:id="rId15"/>
    <p:sldId id="2147483592" r:id="rId16"/>
    <p:sldId id="2147483493" r:id="rId17"/>
    <p:sldId id="2147483496" r:id="rId18"/>
    <p:sldId id="2147483584" r:id="rId19"/>
    <p:sldId id="2147483601" r:id="rId20"/>
    <p:sldId id="2147483590" r:id="rId21"/>
    <p:sldId id="2147483583" r:id="rId22"/>
    <p:sldId id="2147483599" r:id="rId23"/>
    <p:sldId id="2147483522" r:id="rId24"/>
    <p:sldId id="2147483585" r:id="rId25"/>
    <p:sldId id="2147483524" r:id="rId26"/>
    <p:sldId id="2147483526" r:id="rId27"/>
    <p:sldId id="2147483582" r:id="rId28"/>
    <p:sldId id="2147483589" r:id="rId29"/>
    <p:sldId id="2147483576" r:id="rId30"/>
    <p:sldId id="2147483580" r:id="rId31"/>
    <p:sldId id="2147483593" r:id="rId32"/>
    <p:sldId id="2147483579" r:id="rId33"/>
    <p:sldId id="2147483604" r:id="rId34"/>
    <p:sldId id="2147483588" r:id="rId35"/>
    <p:sldId id="2147483497" r:id="rId36"/>
    <p:sldId id="2147483500" r:id="rId37"/>
    <p:sldId id="2147483498" r:id="rId38"/>
    <p:sldId id="2147483499" r:id="rId39"/>
    <p:sldId id="2147483595" r:id="rId40"/>
  </p:sldIdLst>
  <p:sldSz cx="12192000" cy="6858000"/>
  <p:notesSz cx="7004050" cy="9290050"/>
  <p:custDataLst>
    <p:tags r:id="rId42"/>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50" userDrawn="1">
          <p15:clr>
            <a:srgbClr val="A4A3A4"/>
          </p15:clr>
        </p15:guide>
        <p15:guide id="2" orient="horz" pos="4042" userDrawn="1">
          <p15:clr>
            <a:srgbClr val="A4A3A4"/>
          </p15:clr>
        </p15:guide>
        <p15:guide id="3" pos="166" userDrawn="1">
          <p15:clr>
            <a:srgbClr val="A4A3A4"/>
          </p15:clr>
        </p15:guide>
        <p15:guide id="4" pos="7469"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985800-086B-0B26-9039-790680839114}" name="Varawalla, Shamim" initials="VS" userId="S::shamim.varawalla@canadalife.com::bb4b3e17-5bef-40d6-a954-434fcbe8182a" providerId="AD"/>
  <p188:author id="{D9659B02-1549-51CC-294C-4A45BAB934AF}" name="Venkatadri, Kaushik" initials="VK" userId="S::kaushik.venkatadri@canadalife.com::507e3d5f-b488-442e-8e6d-90767e555ee6" providerId="AD"/>
  <p188:author id="{E7E14C09-947E-D627-6EEC-880EFC710BEF}" name="Chandrashekar, Santhosh Kumar" initials="CS" userId="S::santhoshkumar.chandrashekar@canadalife.com::33ddd543-969c-47e7-9de7-a6e3c0b036f2" providerId="AD"/>
  <p188:author id="{54AB9D23-3050-6395-67D6-8126D87AE149}" name="Chandrashekar, Santhosh Kumar" initials="SC" userId="S::SanthoshKumar.Chandrashekar@canadalife.com::33ddd543-969c-47e7-9de7-a6e3c0b036f2" providerId="AD"/>
  <p188:author id="{07226F2C-BBF1-2E73-5429-B840E5F99F10}" name="Varawalla, Shamim" initials="VS" userId="S::Shamim.Varawalla@canadalife.com::bb4b3e17-5bef-40d6-a954-434fcbe8182a" providerId="AD"/>
  <p188:author id="{2226CC32-4625-E88E-F680-52A44C4808B8}" name="Bassett, Jeff" initials="JB" userId="S::Jeff.Bassett@canadalife.com::d4654886-c54c-4d12-b957-9029a28d1c44" providerId="AD"/>
  <p188:author id="{9F47EC35-8066-C244-EF33-120C4BDDB4DF}" name="Haugh, Mhairi" initials="HM" userId="S::mhairi.haugh@canadalife.com::19308c5b-d963-4db0-83be-ed092f923b27" providerId="AD"/>
  <p188:author id="{2C65743B-54AA-C80E-FE2B-44E02C59A2EE}" name="Sagar, Sachin" initials="SS" userId="S::Sachin.Sagar@canadalife.com::4455667c-a27b-439d-96fe-dcbbd42989b6" providerId="AD"/>
  <p188:author id="{85939C49-9FC2-AF71-8858-ADCF6B5D6A34}" name="Laroiya, Tushar" initials="TL" userId="S::Tushar.Laroiya@canadalife.com::3884597f-4f91-440c-ab68-e576263846ac" providerId="AD"/>
  <p188:author id="{B0331150-1052-7BA9-3CD5-B9ABE9D9A0D8}" name="Venkatadri, Kaushik" initials="" userId="S::Kaushik.Venkatadri@canadalife.com::507e3d5f-b488-442e-8e6d-90767e555ee6" providerId="AD"/>
  <p188:author id="{A4D75254-E6B0-CDF7-938A-68A6545FDE00}" name="Caruso, Dan" initials="CD" userId="S::dan.caruso@canadalife.com::6cd8c7bf-357b-4593-a01f-083e1efa18c5" providerId="AD"/>
  <p188:author id="{291BF75B-CA50-D6FB-3C2C-A039324CE87A}" name="Rempel, Gord" initials="RG" userId="S::gord.rempel@canadalife.com::53d8bceb-b799-4cb6-aaea-c9175897fdf7" providerId="AD"/>
  <p188:author id="{04997B61-8C70-F2F8-B125-916FA1F5FBBD}" name="Singh, Ashish Deep" initials="AS" userId="S::AshishDeep.Singh@canadalife.com::801a5197-f33d-4ee5-a86c-1f6137e3ebd8" providerId="AD"/>
  <p188:author id="{6451CE62-9D8B-E9C3-114A-6C7DB4895624}" name="Rangwani, Shweta" initials="" userId="S::Shweta.Rangwani@canadalife.com::21ae6fc3-079e-4c46-8796-7fbae64933c6" providerId="AD"/>
  <p188:author id="{02872268-5CB5-E934-903F-009E7174D41F}" name="Kochhar, Prasoon" initials="" userId="S::Prasoon.Kochhar@canadalife.com::ddb32b7c-f9d1-4e51-8128-0236a5afa510" providerId="AD"/>
  <p188:author id="{42B70170-2136-25D0-D056-83E890C90CDD}" name="Harriet, Debbie" initials="" userId="S::Debbie.Harriet@canadalife.com::be688dbb-d007-4c8e-a802-3c4adc5ed671" providerId="AD"/>
  <p188:author id="{98D00081-B044-18A2-FB57-81CD714F3789}" name="Bruchanski, Terinia" initials="BT" userId="S::terinia.bruchanski@canadalife.com::5d202a2c-dfac-4bbc-a9d8-2568859b7861" providerId="AD"/>
  <p188:author id="{44E69D85-6C70-496C-17CB-F421CF938756}" name="Haq, Moazzam" initials="MH" userId="S::Moazzam.Haq@canadalife.com::ebcdbb6d-5d9c-444c-9b61-0ce996728529" providerId="AD"/>
  <p188:author id="{ACF0E3A0-10AB-7F8A-C21C-229F505D0C31}" name="Tompkins, Drew" initials="TD" userId="S::drew.tompkins@canadalife.com::5fe6eec8-64fa-464b-8aab-1c923af06b5d" providerId="AD"/>
  <p188:author id="{364702B4-2B68-C300-84DD-439F353EE71F}" name="James, Alison" initials="AJ" userId="S::Alison.James@canadalife.com::299cfd36-2895-48f6-a50e-d6fa25adb1b0" providerId="AD"/>
  <p188:author id="{C59E05C1-8306-A3A8-69C5-2745E0B2A51D}" name="Haugh, Mhairi" initials="MH" userId="S::Mhairi.Haugh@canadalife.com::19308c5b-d963-4db0-83be-ed092f923b27" providerId="AD"/>
  <p188:author id="{A0AE89C3-82C7-4B6A-5944-23E451E2D0E9}" name="Dev Ghosh" initials="DG" userId="S::Dev.Ghosh@parthenon.ey.com::40e6b782-4947-4ff8-98e4-e41331243699" providerId="AD"/>
  <p188:author id="{C9BAE8C6-2B81-B20F-882D-FD365AA73456}" name="James, Alison" initials="JA" userId="S::alison.james@canadalife.com::299cfd36-2895-48f6-a50e-d6fa25adb1b0" providerId="AD"/>
  <p188:author id="{4274E7D4-145F-003F-60FB-0AE7D1781563}" name="Khan, Urooj" initials="KU" userId="S::urooj.khan@canadalife.com::c4c10e43-875b-4366-a7a3-71c462862334" providerId="AD"/>
  <p188:author id="{25B83BD5-1FC8-0D2D-F6CA-11F26F792CE1}" name="Harriet, Debbie" initials="HD" userId="S::debbie.harriet@canadalife.com::be688dbb-d007-4c8e-a802-3c4adc5ed671" providerId="AD"/>
  <p188:author id="{F89D28E7-763E-26FD-C7D4-94E93CC3CC7A}" name="Caruso, Dan" initials="DC" userId="S::Dan.Caruso@canadalife.com::6cd8c7bf-357b-4593-a01f-083e1efa18c5" providerId="AD"/>
  <p188:author id="{A256A5E9-6520-AB5C-B6D3-B9889DFB9156}" name="Singh, Harjot (OCIO)" initials="" userId="S::Harjot.Singh@canadalife.com::aa284084-3f3c-4b29-91fc-54a0819acf76" providerId="AD"/>
  <p188:author id="{6E4D6AF5-F032-D07E-A799-E087948866CC}" name="Mudgil, Ruhi" initials="RM" userId="S::Ruhi.Mudgil@canadalife.com::11c5fdf3-67eb-4ce4-addf-9bd1059f5981" providerId="AD"/>
  <p188:author id="{9D9127F6-C6B8-9372-92BC-D73D56527D9C}" name="Khan, Urooj" initials="UK" userId="S::Urooj.Khan@canadalife.com::c4c10e43-875b-4366-a7a3-71c462862334" providerId="AD"/>
  <p188:author id="{8B597DF9-E2F4-2859-1BBD-F8F32E37FE7F}" name="Tompkins, Drew" initials="DT" userId="S::Drew.Tompkins@canadalife.com::5fe6eec8-64fa-464b-8aab-1c923af06b5d" providerId="AD"/>
  <p188:author id="{988B63FD-84DC-437D-CA1D-AB35886BE6DF}" name="Tran, Han" initials="HT" userId="S::Han.Tran@canadalife.com::bc7537e5-71c1-4515-993e-ff9a95e4f4a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0C2F"/>
    <a:srgbClr val="000000"/>
    <a:srgbClr val="F0CCD2"/>
    <a:srgbClr val="F2DDAC"/>
    <a:srgbClr val="E0DDC5"/>
    <a:srgbClr val="D9D9D9"/>
    <a:srgbClr val="FFFFFF"/>
    <a:srgbClr val="E61E1E"/>
    <a:srgbClr val="F2F2F2"/>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AAB5AA-0E01-479A-C9EC-1632B57340CF}" v="103" dt="2025-12-10T11:44:31.5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550"/>
        <p:guide orient="horz" pos="4042"/>
        <p:guide pos="166"/>
        <p:guide pos="7469"/>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tags" Target="tags/tag1.xml"/><Relationship Id="rId47"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presProps" Target="presProps.xml"/><Relationship Id="rId48" Type="http://schemas.microsoft.com/office/2018/10/relationships/authors" Target="author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tableStyles" Target="tableStyles.xml"/><Relationship Id="rId20" Type="http://schemas.openxmlformats.org/officeDocument/2006/relationships/slide" Target="slides/slide12.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https://769372677-my.sharepoint.com/personal/santhoshkumar_chandrashekar_canadalife_com/Documents/Cloud%20Foundations%20Roadmap_RadarMarkers%20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000000"/>
                </a:solidFill>
                <a:latin typeface="Aptos Display"/>
                <a:ea typeface="Aptos Display"/>
                <a:cs typeface="Aptos Display"/>
              </a:defRPr>
            </a:pPr>
            <a:r>
              <a:rPr kumimoji="0" lang="en-US" sz="1600" b="1" i="0" u="none" strike="noStrike" kern="1200" cap="none" spc="0" normalizeH="0" baseline="0" noProof="0">
                <a:ln>
                  <a:noFill/>
                </a:ln>
                <a:solidFill>
                  <a:srgbClr val="C00000"/>
                </a:solidFill>
                <a:effectLst/>
                <a:uLnTx/>
                <a:uFillTx/>
                <a:latin typeface="Aptos Narrow" panose="02110004020202020204"/>
              </a:rPr>
              <a:t>Cloud Capability Maturity Radar</a:t>
            </a:r>
          </a:p>
        </c:rich>
      </c:tx>
      <c:layout>
        <c:manualLayout>
          <c:xMode val="edge"/>
          <c:yMode val="edge"/>
          <c:x val="0.2517071681259509"/>
          <c:y val="1.9838937619266358E-2"/>
        </c:manualLayout>
      </c:layout>
      <c:overlay val="0"/>
      <c:spPr>
        <a:noFill/>
        <a:ln w="25400">
          <a:noFill/>
        </a:ln>
        <a:effectLst/>
      </c:spPr>
      <c:txPr>
        <a:bodyPr rot="0" spcFirstLastPara="1" vertOverflow="ellipsis" vert="horz" wrap="square" anchor="ctr" anchorCtr="1"/>
        <a:lstStyle/>
        <a:p>
          <a:pPr>
            <a:defRPr sz="1400" b="0" i="0" u="none" strike="noStrike" kern="1200" spc="0" baseline="0">
              <a:solidFill>
                <a:srgbClr val="000000"/>
              </a:solidFill>
              <a:latin typeface="Aptos Display"/>
              <a:ea typeface="Aptos Display"/>
              <a:cs typeface="Aptos Display"/>
            </a:defRPr>
          </a:pPr>
          <a:endParaRPr lang="en-US"/>
        </a:p>
      </c:txPr>
    </c:title>
    <c:autoTitleDeleted val="0"/>
    <c:plotArea>
      <c:layout/>
      <c:radarChart>
        <c:radarStyle val="marker"/>
        <c:varyColors val="0"/>
        <c:ser>
          <c:idx val="0"/>
          <c:order val="0"/>
          <c:tx>
            <c:strRef>
              <c:f>Sheet1!$B$8</c:f>
              <c:strCache>
                <c:ptCount val="1"/>
                <c:pt idx="0">
                  <c:v>Current State</c:v>
                </c:pt>
              </c:strCache>
            </c:strRef>
          </c:tx>
          <c:spPr>
            <a:ln w="28575" cap="rnd">
              <a:solidFill>
                <a:srgbClr val="C00000"/>
              </a:solidFill>
              <a:prstDash val="solid"/>
              <a:round/>
            </a:ln>
            <a:effectLst/>
          </c:spPr>
          <c:marker>
            <c:symbol val="circle"/>
            <c:size val="7"/>
            <c:spPr>
              <a:solidFill>
                <a:srgbClr val="C00000"/>
              </a:solidFill>
              <a:ln w="9525">
                <a:solidFill>
                  <a:srgbClr val="C00000"/>
                </a:solidFill>
                <a:prstDash val="solid"/>
              </a:ln>
              <a:effectLst/>
            </c:spPr>
          </c:marker>
          <c:cat>
            <c:strRef>
              <c:f>Sheet1!$A$9:$A$14</c:f>
              <c:strCache>
                <c:ptCount val="6"/>
                <c:pt idx="0">
                  <c:v>Platform Foundation​</c:v>
                </c:pt>
                <c:pt idx="1">
                  <c:v>Platform Automation​</c:v>
                </c:pt>
                <c:pt idx="2">
                  <c:v>Security &amp; Identity</c:v>
                </c:pt>
                <c:pt idx="3">
                  <c:v>Monitoring &amp; Insights​</c:v>
                </c:pt>
                <c:pt idx="4">
                  <c:v>Cost &amp; Optimization​</c:v>
                </c:pt>
                <c:pt idx="5">
                  <c:v>Governance &amp; Risk</c:v>
                </c:pt>
              </c:strCache>
            </c:strRef>
          </c:cat>
          <c:val>
            <c:numRef>
              <c:f>Sheet1!$B$9:$B$14</c:f>
              <c:numCache>
                <c:formatCode>General</c:formatCode>
                <c:ptCount val="6"/>
                <c:pt idx="0">
                  <c:v>3</c:v>
                </c:pt>
                <c:pt idx="1">
                  <c:v>4</c:v>
                </c:pt>
                <c:pt idx="2">
                  <c:v>2</c:v>
                </c:pt>
                <c:pt idx="3">
                  <c:v>3</c:v>
                </c:pt>
                <c:pt idx="4">
                  <c:v>3</c:v>
                </c:pt>
                <c:pt idx="5">
                  <c:v>3</c:v>
                </c:pt>
              </c:numCache>
            </c:numRef>
          </c:val>
          <c:extLst>
            <c:ext xmlns:c16="http://schemas.microsoft.com/office/drawing/2014/chart" uri="{C3380CC4-5D6E-409C-BE32-E72D297353CC}">
              <c16:uniqueId val="{00000000-40FB-4452-8278-62977C65B5DD}"/>
            </c:ext>
          </c:extLst>
        </c:ser>
        <c:ser>
          <c:idx val="1"/>
          <c:order val="1"/>
          <c:tx>
            <c:strRef>
              <c:f>Sheet1!$C$8</c:f>
              <c:strCache>
                <c:ptCount val="1"/>
                <c:pt idx="0">
                  <c:v>Target State</c:v>
                </c:pt>
              </c:strCache>
            </c:strRef>
          </c:tx>
          <c:spPr>
            <a:ln w="28575" cap="rnd">
              <a:solidFill>
                <a:srgbClr val="0C3612"/>
              </a:solidFill>
              <a:prstDash val="solid"/>
              <a:round/>
            </a:ln>
            <a:effectLst/>
          </c:spPr>
          <c:marker>
            <c:symbol val="plus"/>
            <c:size val="8"/>
            <c:spPr>
              <a:solidFill>
                <a:srgbClr val="0C3612"/>
              </a:solidFill>
              <a:ln w="9525">
                <a:solidFill>
                  <a:srgbClr val="0C3612"/>
                </a:solidFill>
                <a:prstDash val="solid"/>
              </a:ln>
              <a:effectLst/>
            </c:spPr>
          </c:marker>
          <c:cat>
            <c:strRef>
              <c:f>Sheet1!$A$9:$A$14</c:f>
              <c:strCache>
                <c:ptCount val="6"/>
                <c:pt idx="0">
                  <c:v>Platform Foundation​</c:v>
                </c:pt>
                <c:pt idx="1">
                  <c:v>Platform Automation​</c:v>
                </c:pt>
                <c:pt idx="2">
                  <c:v>Security &amp; Identity</c:v>
                </c:pt>
                <c:pt idx="3">
                  <c:v>Monitoring &amp; Insights​</c:v>
                </c:pt>
                <c:pt idx="4">
                  <c:v>Cost &amp; Optimization​</c:v>
                </c:pt>
                <c:pt idx="5">
                  <c:v>Governance &amp; Risk</c:v>
                </c:pt>
              </c:strCache>
            </c:strRef>
          </c:cat>
          <c:val>
            <c:numRef>
              <c:f>Sheet1!$C$9:$C$14</c:f>
              <c:numCache>
                <c:formatCode>General</c:formatCode>
                <c:ptCount val="6"/>
                <c:pt idx="0">
                  <c:v>4</c:v>
                </c:pt>
                <c:pt idx="1">
                  <c:v>5</c:v>
                </c:pt>
                <c:pt idx="2">
                  <c:v>5</c:v>
                </c:pt>
                <c:pt idx="3">
                  <c:v>5</c:v>
                </c:pt>
                <c:pt idx="4">
                  <c:v>4</c:v>
                </c:pt>
                <c:pt idx="5">
                  <c:v>5</c:v>
                </c:pt>
              </c:numCache>
            </c:numRef>
          </c:val>
          <c:extLst>
            <c:ext xmlns:c16="http://schemas.microsoft.com/office/drawing/2014/chart" uri="{C3380CC4-5D6E-409C-BE32-E72D297353CC}">
              <c16:uniqueId val="{00000001-40FB-4452-8278-62977C65B5DD}"/>
            </c:ext>
          </c:extLst>
        </c:ser>
        <c:dLbls>
          <c:showLegendKey val="0"/>
          <c:showVal val="0"/>
          <c:showCatName val="0"/>
          <c:showSerName val="0"/>
          <c:showPercent val="0"/>
          <c:showBubbleSize val="0"/>
        </c:dLbls>
        <c:axId val="646285320"/>
        <c:axId val="646295560"/>
      </c:radarChart>
      <c:catAx>
        <c:axId val="64628532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000000"/>
                </a:solidFill>
                <a:latin typeface="+mn-lt"/>
                <a:ea typeface="+mn-ea"/>
                <a:cs typeface="+mn-cs"/>
              </a:defRPr>
            </a:pPr>
            <a:endParaRPr lang="en-US"/>
          </a:p>
        </c:txPr>
        <c:crossAx val="646295560"/>
        <c:crosses val="autoZero"/>
        <c:auto val="1"/>
        <c:lblAlgn val="ctr"/>
        <c:lblOffset val="100"/>
        <c:noMultiLvlLbl val="0"/>
      </c:catAx>
      <c:valAx>
        <c:axId val="646295560"/>
        <c:scaling>
          <c:orientation val="minMax"/>
        </c:scaling>
        <c:delete val="0"/>
        <c:axPos val="l"/>
        <c:majorGridlines>
          <c:spPr>
            <a:ln w="9525" cap="flat" cmpd="sng" algn="ctr">
              <a:solidFill>
                <a:srgbClr val="ADADAD"/>
              </a:solidFill>
              <a:prstDash val="solid"/>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cross"/>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747474"/>
                </a:solidFill>
                <a:latin typeface="+mn-lt"/>
                <a:ea typeface="+mn-ea"/>
                <a:cs typeface="+mn-cs"/>
              </a:defRPr>
            </a:pPr>
            <a:endParaRPr lang="en-US"/>
          </a:p>
        </c:txPr>
        <c:crossAx val="64628532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1" i="0" u="none" strike="noStrike" kern="1200" baseline="0">
              <a:solidFill>
                <a:srgbClr val="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8E8E8"/>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7FFFFFBB_5FCC544B.xml><?xml version="1.0" encoding="utf-8"?>
<p188:cmLst xmlns:a="http://schemas.openxmlformats.org/drawingml/2006/main" xmlns:r="http://schemas.openxmlformats.org/officeDocument/2006/relationships" xmlns:p188="http://schemas.microsoft.com/office/powerpoint/2018/8/main">
  <p188:cm id="{E4E170AA-78AF-4E72-A824-C47B10D098E5}" authorId="{F89D28E7-763E-26FD-C7D4-94E93CC3CC7A}" created="2025-11-18T16:13:56.450">
    <pc:sldMkLst xmlns:pc="http://schemas.microsoft.com/office/powerpoint/2013/main/command">
      <pc:docMk/>
      <pc:sldMk cId="1607226443" sldId="2147483579"/>
    </pc:sldMkLst>
    <p188:replyLst>
      <p188:reply id="{40BD27DF-F232-4ED1-91EE-87E91E427C22}" authorId="{E7E14C09-947E-D627-6EEC-880EFC710BEF}" created="2025-11-19T11:51:23.427">
        <p188:txBody>
          <a:bodyPr/>
          <a:lstStyle/>
          <a:p>
            <a:r>
              <a:rPr lang="en-US"/>
              <a:t>[@Caruso, Dan] sequencing is now complete. I have prefixed C for cloud sequencing.</a:t>
            </a:r>
          </a:p>
        </p188:txBody>
      </p188:reply>
    </p188:replyLst>
    <p188:txBody>
      <a:bodyPr/>
      <a:lstStyle/>
      <a:p>
        <a:r>
          <a:rPr lang="en-CA"/>
          <a:t>[@Chandrashekar, Santhosh Kumar]  added the timelines I got from Steve. Have a look. 
I also updated the GKE timeline. I think we can complete GKE in 2026.  </a:t>
        </a:r>
      </a:p>
    </p188:txBody>
  </p188:cm>
  <p188:cm id="{FB0D28C4-4E0B-433E-BADA-47FB194FF746}" authorId="{291BF75B-CA50-D6FB-3C2C-A039324CE87A}" created="2025-11-18T17:49:16.500">
    <pc:sldMkLst xmlns:pc="http://schemas.microsoft.com/office/powerpoint/2013/main/command">
      <pc:docMk/>
      <pc:sldMk cId="1607226443" sldId="2147483579"/>
    </pc:sldMkLst>
    <p188:replyLst>
      <p188:reply id="{FD71BCD4-3503-43D5-9B74-055F0637B31C}" authorId="{E7E14C09-947E-D627-6EEC-880EFC710BEF}" created="2025-11-19T11:47:52.191">
        <p188:txBody>
          <a:bodyPr/>
          <a:lstStyle/>
          <a:p>
            <a:r>
              <a:rPr lang="en-US"/>
              <a:t>[@Rempel, Gord] I included the dependent MO work package. Thanks for pointing it out.</a:t>
            </a:r>
          </a:p>
        </p188:txBody>
      </p188:reply>
      <p188:reply id="{222621F1-A377-43F6-89DD-357EB208D5BB}" authorId="{291BF75B-CA50-D6FB-3C2C-A039324CE87A}" created="2025-11-20T21:50:32.264">
        <p188:txBody>
          <a:bodyPr/>
          <a:lstStyle/>
          <a:p>
            <a:r>
              <a:rPr lang="en-US"/>
              <a:t>[@Chandrashekar, Santhosh Kumar] Thanks but the initiative is a 2026 deliverable (MO7)</a:t>
            </a:r>
          </a:p>
        </p188:txBody>
      </p188:reply>
      <p188:reply id="{67779E1A-A443-4FA9-93C2-0D34AF60A197}" authorId="{E7E14C09-947E-D627-6EEC-880EFC710BEF}" created="2025-11-21T12:44:26.825">
        <p188:txBody>
          <a:bodyPr/>
          <a:lstStyle/>
          <a:p>
            <a:r>
              <a:rPr lang="en-US"/>
              <a:t>Got it. I mistook MO13 for MO7</a:t>
            </a:r>
          </a:p>
        </p188:txBody>
      </p188:reply>
    </p188:replyLst>
    <p188:txBody>
      <a:bodyPr/>
      <a:lstStyle/>
      <a:p>
        <a:r>
          <a:rPr lang="en-US"/>
          <a:t>You should list the Monitoring and Observability work package as a dependency for #9 ( Event Driven Automation Design and Implementation)</a:t>
        </a:r>
      </a:p>
    </p188:txBody>
  </p188:cm>
</p188:cmLst>
</file>

<file path=ppt/comments/modernComment_7FFFFFBE_579768E1.xml><?xml version="1.0" encoding="utf-8"?>
<p188:cmLst xmlns:a="http://schemas.openxmlformats.org/drawingml/2006/main" xmlns:r="http://schemas.openxmlformats.org/officeDocument/2006/relationships" xmlns:p188="http://schemas.microsoft.com/office/powerpoint/2018/8/main">
  <p188:cm id="{3054A16D-6FBD-4C73-B679-5C3AC1AEF9B9}" authorId="{2226CC32-4625-E88E-F680-52A44C4808B8}" created="2025-11-20T21:32:42.357">
    <ac:deMkLst xmlns:ac="http://schemas.microsoft.com/office/drawing/2013/main/command">
      <pc:docMk xmlns:pc="http://schemas.microsoft.com/office/powerpoint/2013/main/command"/>
      <pc:sldMk xmlns:pc="http://schemas.microsoft.com/office/powerpoint/2013/main/command" cId="1469540577" sldId="2147483582"/>
      <ac:picMk id="7" creationId="{1CD154D7-A0A4-C848-956A-76CD41198159}"/>
    </ac:deMkLst>
    <p188:txBody>
      <a:bodyPr/>
      <a:lstStyle/>
      <a:p>
        <a:r>
          <a:rPr lang="en-CA"/>
          <a:t>Enablement is mispelled here too
</a:t>
        </a:r>
      </a:p>
    </p188:txBody>
    <p188:extLst>
      <p:ext xmlns:p="http://schemas.openxmlformats.org/presentationml/2006/main" uri="{57CB4572-C831-44C2-8A1C-0ADB6CCDFE69}">
        <p223:reactions xmlns:p223="http://schemas.microsoft.com/office/powerpoint/2022/03/main">
          <p223:rxn type="👍">
            <p223:instance time="2025-11-21T12:40:14.015" authorId="{E7E14C09-947E-D627-6EEC-880EFC710BEF}"/>
          </p223:rxn>
        </p223:reactions>
      </p:ext>
    </p188:extLst>
  </p188:cm>
</p188:cmLst>
</file>

<file path=ppt/comments/modernComment_7FFFFFC6_D8C2059E.xml><?xml version="1.0" encoding="utf-8"?>
<p188:cmLst xmlns:a="http://schemas.openxmlformats.org/drawingml/2006/main" xmlns:r="http://schemas.openxmlformats.org/officeDocument/2006/relationships" xmlns:p188="http://schemas.microsoft.com/office/powerpoint/2018/8/main">
  <p188:cm id="{1BE5B737-3ABF-4827-AAA4-9DFBDB77FF01}" authorId="{2226CC32-4625-E88E-F680-52A44C4808B8}" created="2025-11-20T21:30:22.029">
    <ac:deMkLst xmlns:ac="http://schemas.microsoft.com/office/drawing/2013/main/command">
      <pc:docMk xmlns:pc="http://schemas.microsoft.com/office/powerpoint/2013/main/command"/>
      <pc:sldMk xmlns:pc="http://schemas.microsoft.com/office/powerpoint/2013/main/command" cId="3636594078" sldId="2147483590"/>
      <ac:picMk id="8" creationId="{94D5D236-992B-3A8F-6BD5-38039626D745}"/>
    </ac:deMkLst>
    <p188:txBody>
      <a:bodyPr/>
      <a:lstStyle/>
      <a:p>
        <a:r>
          <a:rPr lang="en-CA"/>
          <a:t>Enablement in the arrow pointing us is mispelled</a:t>
        </a:r>
      </a:p>
    </p188:txBody>
    <p188:extLst>
      <p:ext xmlns:p="http://schemas.openxmlformats.org/presentationml/2006/main" uri="{57CB4572-C831-44C2-8A1C-0ADB6CCDFE69}">
        <p223:reactions xmlns:p223="http://schemas.microsoft.com/office/powerpoint/2022/03/main">
          <p223:rxn type="👍">
            <p223:instance time="2025-11-21T12:39:59.921" authorId="{E7E14C09-947E-D627-6EEC-880EFC710BEF}"/>
          </p223:rxn>
        </p223:reactions>
      </p:ext>
    </p188:extLst>
  </p188:cm>
</p188:cmLst>
</file>

<file path=ppt/comments/modernComment_7FFFFFCF_F4CCDA7D.xml><?xml version="1.0" encoding="utf-8"?>
<p188:cmLst xmlns:a="http://schemas.openxmlformats.org/drawingml/2006/main" xmlns:r="http://schemas.openxmlformats.org/officeDocument/2006/relationships" xmlns:p188="http://schemas.microsoft.com/office/powerpoint/2018/8/main">
  <p188:cm id="{96D1C795-E01D-4D5E-9ABE-610035CE31E8}" authorId="{2226CC32-4625-E88E-F680-52A44C4808B8}" created="2025-11-20T21:31:20.040">
    <ac:deMkLst xmlns:ac="http://schemas.microsoft.com/office/drawing/2013/main/command">
      <pc:docMk xmlns:pc="http://schemas.microsoft.com/office/powerpoint/2013/main/command"/>
      <pc:sldMk xmlns:pc="http://schemas.microsoft.com/office/powerpoint/2013/main/command" cId="4107065981" sldId="2147483599"/>
      <ac:graphicFrameMk id="7" creationId="{A559A5A7-1C39-2F2E-4D4E-B6DB586025C2}"/>
    </ac:deMkLst>
    <p188:replyLst>
      <p188:reply id="{52E6E1A1-8FBA-4767-BD08-59F4C019B714}" authorId="{E7E14C09-947E-D627-6EEC-880EFC710BEF}" created="2025-11-21T12:33:52.784">
        <p188:txBody>
          <a:bodyPr/>
          <a:lstStyle/>
          <a:p>
            <a:r>
              <a:rPr lang="en-US"/>
              <a:t>[@Bassett, Jeff] The major uplift required is based on AWS and Microsoft security recommendations, as there are approximately 15+ security initiatives either in progress or yet to be started. My understanding is that the security team is already aware of these, but I wanted to highlight the scale of work ahead.
[@Caruso, Dan]  Please let me know if we are missing anything.</a:t>
            </a:r>
          </a:p>
        </p188:txBody>
      </p188:reply>
    </p188:replyLst>
    <p188:txBody>
      <a:bodyPr/>
      <a:lstStyle/>
      <a:p>
        <a:r>
          <a:rPr lang="en-CA"/>
          <a:t>For security &amp; identity what do we mean by “major uplift required”? And has security agreed with that assessment?
</a:t>
        </a:r>
      </a:p>
    </p188:txBody>
  </p188:cm>
</p188:cmLst>
</file>

<file path=ppt/comments/modernComment_7FFFFFD1_686E9B46.xml><?xml version="1.0" encoding="utf-8"?>
<p188:cmLst xmlns:a="http://schemas.openxmlformats.org/drawingml/2006/main" xmlns:r="http://schemas.openxmlformats.org/officeDocument/2006/relationships" xmlns:p188="http://schemas.microsoft.com/office/powerpoint/2018/8/main">
  <p188:cm id="{10E5B1FA-AB0E-44FA-8776-9ADFD8564954}" authorId="{2226CC32-4625-E88E-F680-52A44C4808B8}" created="2025-11-20T21:29:00.180">
    <pc:sldMkLst xmlns:pc="http://schemas.microsoft.com/office/powerpoint/2013/main/command">
      <pc:docMk/>
      <pc:sldMk cId="1752079174" sldId="2147483601"/>
    </pc:sldMkLst>
    <p188:replyLst>
      <p188:reply id="{7C0F1CE0-EB67-4424-8446-F6E8F4BCDD47}" authorId="{E7E14C09-947E-D627-6EEC-880EFC710BEF}" created="2025-11-21T12:39:47.983">
        <p188:txBody>
          <a:bodyPr/>
          <a:lstStyle/>
          <a:p>
            <a:r>
              <a:rPr lang="en-US"/>
              <a:t>I’ve removed the lines under AWS and Azure. The intent was to outline the current state, highlight workload placement gaps, and reflect our commitment with Microsoft for the future state.</a:t>
            </a:r>
          </a:p>
        </p188:txBody>
      </p188:reply>
    </p188:replyLst>
    <p188:txBody>
      <a:bodyPr/>
      <a:lstStyle/>
      <a:p>
        <a:r>
          <a:rPr lang="en-CA"/>
          <a:t>Given our commit with MS we need to revisit the placement criteria so I think we should remove those lines under Azure &amp; AWS</a:t>
        </a:r>
      </a:p>
    </p188:txBody>
  </p188:cm>
</p188:cmLst>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620C3F-5D84-4983-8B5F-BB5CE3F5AA45}" type="doc">
      <dgm:prSet loTypeId="urn:microsoft.com/office/officeart/2005/8/layout/cycle6" loCatId="cycle" qsTypeId="urn:microsoft.com/office/officeart/2005/8/quickstyle/simple1" qsCatId="simple" csTypeId="urn:microsoft.com/office/officeart/2005/8/colors/accent0_3" csCatId="mainScheme" phldr="1"/>
      <dgm:spPr/>
      <dgm:t>
        <a:bodyPr/>
        <a:lstStyle/>
        <a:p>
          <a:endParaRPr lang="en-US"/>
        </a:p>
      </dgm:t>
    </dgm:pt>
    <dgm:pt modelId="{F0B1C57C-26D9-4790-A369-695A15F47780}">
      <dgm:prSet phldrT="[Text]" phldr="0"/>
      <dgm:spPr/>
      <dgm:t>
        <a:bodyPr/>
        <a:lstStyle/>
        <a:p>
          <a:pPr rtl="0"/>
          <a:r>
            <a:rPr lang="en-US" b="0">
              <a:latin typeface="Arial" panose="020B0604020202020204"/>
            </a:rPr>
            <a:t>Agility </a:t>
          </a:r>
          <a:endParaRPr lang="en-US" b="0"/>
        </a:p>
      </dgm:t>
    </dgm:pt>
    <dgm:pt modelId="{F6BBE1B3-D24D-4E68-A6AB-E6E013AC980E}" type="parTrans" cxnId="{C001F2FB-5655-4273-A8A3-180A92C01186}">
      <dgm:prSet/>
      <dgm:spPr/>
      <dgm:t>
        <a:bodyPr/>
        <a:lstStyle/>
        <a:p>
          <a:endParaRPr lang="en-US"/>
        </a:p>
      </dgm:t>
    </dgm:pt>
    <dgm:pt modelId="{ECECC51B-5DA4-414B-9B22-CCECA176B0D3}" type="sibTrans" cxnId="{C001F2FB-5655-4273-A8A3-180A92C01186}">
      <dgm:prSet/>
      <dgm:spPr/>
      <dgm:t>
        <a:bodyPr/>
        <a:lstStyle/>
        <a:p>
          <a:endParaRPr lang="en-US"/>
        </a:p>
      </dgm:t>
    </dgm:pt>
    <dgm:pt modelId="{E117D3B8-6723-483A-B594-ACFEC5655590}">
      <dgm:prSet phldrT="[Text]" phldr="0"/>
      <dgm:spPr/>
      <dgm:t>
        <a:bodyPr/>
        <a:lstStyle/>
        <a:p>
          <a:r>
            <a:rPr lang="en-US" b="0">
              <a:latin typeface="Arial" panose="020B0604020202020204"/>
            </a:rPr>
            <a:t>Resilience</a:t>
          </a:r>
          <a:endParaRPr lang="en-US" b="0"/>
        </a:p>
      </dgm:t>
    </dgm:pt>
    <dgm:pt modelId="{D8A81A21-E83D-472C-9ED2-EBAD90D45CFA}" type="parTrans" cxnId="{FFBD601D-82AC-4314-A2D5-028281A17640}">
      <dgm:prSet/>
      <dgm:spPr/>
      <dgm:t>
        <a:bodyPr/>
        <a:lstStyle/>
        <a:p>
          <a:endParaRPr lang="en-US"/>
        </a:p>
      </dgm:t>
    </dgm:pt>
    <dgm:pt modelId="{1BDA580D-62D5-4616-96C8-8B9987F89A28}" type="sibTrans" cxnId="{FFBD601D-82AC-4314-A2D5-028281A17640}">
      <dgm:prSet/>
      <dgm:spPr/>
      <dgm:t>
        <a:bodyPr/>
        <a:lstStyle/>
        <a:p>
          <a:endParaRPr lang="en-US"/>
        </a:p>
      </dgm:t>
    </dgm:pt>
    <dgm:pt modelId="{79E3B3E3-4226-46DC-BF21-2FD84CB51979}">
      <dgm:prSet phldrT="[Text]" phldr="0"/>
      <dgm:spPr/>
      <dgm:t>
        <a:bodyPr/>
        <a:lstStyle/>
        <a:p>
          <a:pPr rtl="0"/>
          <a:r>
            <a:rPr lang="en-US" b="0">
              <a:latin typeface="Arial" panose="020B0604020202020204"/>
            </a:rPr>
            <a:t>Compliance &amp; Security</a:t>
          </a:r>
          <a:endParaRPr lang="en-US" b="0"/>
        </a:p>
      </dgm:t>
    </dgm:pt>
    <dgm:pt modelId="{2CA8D4ED-4EAE-4617-B86A-B51F606997C4}" type="parTrans" cxnId="{9823E00A-CF16-4579-A0F0-CF269DE96BC1}">
      <dgm:prSet/>
      <dgm:spPr/>
      <dgm:t>
        <a:bodyPr/>
        <a:lstStyle/>
        <a:p>
          <a:endParaRPr lang="en-US"/>
        </a:p>
      </dgm:t>
    </dgm:pt>
    <dgm:pt modelId="{372188EE-E33F-4ECA-8E4A-20DE78D0BDF7}" type="sibTrans" cxnId="{9823E00A-CF16-4579-A0F0-CF269DE96BC1}">
      <dgm:prSet/>
      <dgm:spPr/>
      <dgm:t>
        <a:bodyPr/>
        <a:lstStyle/>
        <a:p>
          <a:endParaRPr lang="en-US"/>
        </a:p>
      </dgm:t>
    </dgm:pt>
    <dgm:pt modelId="{81A131C8-6111-4C0F-ADDC-041704F1FAA5}">
      <dgm:prSet phldrT="[Text]" phldr="0"/>
      <dgm:spPr/>
      <dgm:t>
        <a:bodyPr/>
        <a:lstStyle/>
        <a:p>
          <a:pPr rtl="0"/>
          <a:r>
            <a:rPr lang="en-US" b="0">
              <a:latin typeface="Arial" panose="020B0604020202020204"/>
            </a:rPr>
            <a:t>Customer Experience</a:t>
          </a:r>
          <a:endParaRPr lang="en-US" b="0"/>
        </a:p>
      </dgm:t>
    </dgm:pt>
    <dgm:pt modelId="{4B3F2466-C4D2-451B-A1ED-F77EF9D4A044}" type="parTrans" cxnId="{3F46BFA3-05AF-4EBF-8644-ED0A35B70E97}">
      <dgm:prSet/>
      <dgm:spPr/>
      <dgm:t>
        <a:bodyPr/>
        <a:lstStyle/>
        <a:p>
          <a:endParaRPr lang="en-US"/>
        </a:p>
      </dgm:t>
    </dgm:pt>
    <dgm:pt modelId="{27965818-1BC9-4266-9F65-5C0A204C8581}" type="sibTrans" cxnId="{3F46BFA3-05AF-4EBF-8644-ED0A35B70E97}">
      <dgm:prSet/>
      <dgm:spPr/>
      <dgm:t>
        <a:bodyPr/>
        <a:lstStyle/>
        <a:p>
          <a:endParaRPr lang="en-US"/>
        </a:p>
      </dgm:t>
    </dgm:pt>
    <dgm:pt modelId="{88E063CF-C787-427D-92D4-3AFAFDFE8C96}">
      <dgm:prSet phldrT="[Text]" phldr="0"/>
      <dgm:spPr/>
      <dgm:t>
        <a:bodyPr/>
        <a:lstStyle/>
        <a:p>
          <a:pPr rtl="0"/>
          <a:r>
            <a:rPr lang="en-US" b="0">
              <a:latin typeface="Arial" panose="020B0604020202020204"/>
            </a:rPr>
            <a:t>Cost Optimization</a:t>
          </a:r>
          <a:endParaRPr lang="en-US" b="0"/>
        </a:p>
      </dgm:t>
    </dgm:pt>
    <dgm:pt modelId="{FEB59B61-8481-4109-8AE7-CFFA4CC137B1}" type="parTrans" cxnId="{DE8072A7-5476-469F-BE24-F0B16B6F00FD}">
      <dgm:prSet/>
      <dgm:spPr/>
      <dgm:t>
        <a:bodyPr/>
        <a:lstStyle/>
        <a:p>
          <a:endParaRPr lang="en-US"/>
        </a:p>
      </dgm:t>
    </dgm:pt>
    <dgm:pt modelId="{90DE983F-B54D-4ACA-B6A3-1C18DCB699D4}" type="sibTrans" cxnId="{DE8072A7-5476-469F-BE24-F0B16B6F00FD}">
      <dgm:prSet/>
      <dgm:spPr/>
      <dgm:t>
        <a:bodyPr/>
        <a:lstStyle/>
        <a:p>
          <a:endParaRPr lang="en-US"/>
        </a:p>
      </dgm:t>
    </dgm:pt>
    <dgm:pt modelId="{FBCB326E-761A-404F-AF5C-2A2BFB83EC0F}" type="pres">
      <dgm:prSet presAssocID="{CD620C3F-5D84-4983-8B5F-BB5CE3F5AA45}" presName="cycle" presStyleCnt="0">
        <dgm:presLayoutVars>
          <dgm:dir/>
          <dgm:resizeHandles val="exact"/>
        </dgm:presLayoutVars>
      </dgm:prSet>
      <dgm:spPr/>
    </dgm:pt>
    <dgm:pt modelId="{F112F7CD-A62A-4BB3-92F0-1104CFCEA451}" type="pres">
      <dgm:prSet presAssocID="{F0B1C57C-26D9-4790-A369-695A15F47780}" presName="node" presStyleLbl="node1" presStyleIdx="0" presStyleCnt="5">
        <dgm:presLayoutVars>
          <dgm:bulletEnabled val="1"/>
        </dgm:presLayoutVars>
      </dgm:prSet>
      <dgm:spPr/>
    </dgm:pt>
    <dgm:pt modelId="{D3D8C612-6642-457C-9ED7-EBBA0EFC7CD9}" type="pres">
      <dgm:prSet presAssocID="{F0B1C57C-26D9-4790-A369-695A15F47780}" presName="spNode" presStyleCnt="0"/>
      <dgm:spPr/>
    </dgm:pt>
    <dgm:pt modelId="{86F3AD0F-8783-4AB7-A848-615793932683}" type="pres">
      <dgm:prSet presAssocID="{ECECC51B-5DA4-414B-9B22-CCECA176B0D3}" presName="sibTrans" presStyleLbl="sibTrans1D1" presStyleIdx="0" presStyleCnt="5"/>
      <dgm:spPr/>
    </dgm:pt>
    <dgm:pt modelId="{E453FB4C-32C7-48A0-8666-A3BE31AE7EF4}" type="pres">
      <dgm:prSet presAssocID="{E117D3B8-6723-483A-B594-ACFEC5655590}" presName="node" presStyleLbl="node1" presStyleIdx="1" presStyleCnt="5">
        <dgm:presLayoutVars>
          <dgm:bulletEnabled val="1"/>
        </dgm:presLayoutVars>
      </dgm:prSet>
      <dgm:spPr/>
    </dgm:pt>
    <dgm:pt modelId="{47A0B3C1-BB16-4B83-9F71-5821119AE120}" type="pres">
      <dgm:prSet presAssocID="{E117D3B8-6723-483A-B594-ACFEC5655590}" presName="spNode" presStyleCnt="0"/>
      <dgm:spPr/>
    </dgm:pt>
    <dgm:pt modelId="{C3FFE0B8-9423-4C1B-8E7F-5F6D887A54F1}" type="pres">
      <dgm:prSet presAssocID="{1BDA580D-62D5-4616-96C8-8B9987F89A28}" presName="sibTrans" presStyleLbl="sibTrans1D1" presStyleIdx="1" presStyleCnt="5"/>
      <dgm:spPr/>
    </dgm:pt>
    <dgm:pt modelId="{B48BFF20-8F6B-4365-9131-2837AD6DD5D8}" type="pres">
      <dgm:prSet presAssocID="{79E3B3E3-4226-46DC-BF21-2FD84CB51979}" presName="node" presStyleLbl="node1" presStyleIdx="2" presStyleCnt="5">
        <dgm:presLayoutVars>
          <dgm:bulletEnabled val="1"/>
        </dgm:presLayoutVars>
      </dgm:prSet>
      <dgm:spPr/>
    </dgm:pt>
    <dgm:pt modelId="{16668136-F720-415C-B72B-0A69A590ED77}" type="pres">
      <dgm:prSet presAssocID="{79E3B3E3-4226-46DC-BF21-2FD84CB51979}" presName="spNode" presStyleCnt="0"/>
      <dgm:spPr/>
    </dgm:pt>
    <dgm:pt modelId="{73A313AC-4557-4CF6-94EE-743397B97E45}" type="pres">
      <dgm:prSet presAssocID="{372188EE-E33F-4ECA-8E4A-20DE78D0BDF7}" presName="sibTrans" presStyleLbl="sibTrans1D1" presStyleIdx="2" presStyleCnt="5"/>
      <dgm:spPr/>
    </dgm:pt>
    <dgm:pt modelId="{D3A05672-6DAE-4942-B62E-2CA4D4B41CB3}" type="pres">
      <dgm:prSet presAssocID="{81A131C8-6111-4C0F-ADDC-041704F1FAA5}" presName="node" presStyleLbl="node1" presStyleIdx="3" presStyleCnt="5">
        <dgm:presLayoutVars>
          <dgm:bulletEnabled val="1"/>
        </dgm:presLayoutVars>
      </dgm:prSet>
      <dgm:spPr/>
    </dgm:pt>
    <dgm:pt modelId="{6BC6223E-82E9-4AE9-9900-B855454CF6E2}" type="pres">
      <dgm:prSet presAssocID="{81A131C8-6111-4C0F-ADDC-041704F1FAA5}" presName="spNode" presStyleCnt="0"/>
      <dgm:spPr/>
    </dgm:pt>
    <dgm:pt modelId="{D68D9E6A-620A-4139-AA55-7E81397DABE9}" type="pres">
      <dgm:prSet presAssocID="{27965818-1BC9-4266-9F65-5C0A204C8581}" presName="sibTrans" presStyleLbl="sibTrans1D1" presStyleIdx="3" presStyleCnt="5"/>
      <dgm:spPr/>
    </dgm:pt>
    <dgm:pt modelId="{2ABDFF02-0FD3-4AA9-9A59-6B12B223EF3E}" type="pres">
      <dgm:prSet presAssocID="{88E063CF-C787-427D-92D4-3AFAFDFE8C96}" presName="node" presStyleLbl="node1" presStyleIdx="4" presStyleCnt="5">
        <dgm:presLayoutVars>
          <dgm:bulletEnabled val="1"/>
        </dgm:presLayoutVars>
      </dgm:prSet>
      <dgm:spPr/>
    </dgm:pt>
    <dgm:pt modelId="{E1AFDB13-D4F1-4ADA-9CA3-47801C814EC2}" type="pres">
      <dgm:prSet presAssocID="{88E063CF-C787-427D-92D4-3AFAFDFE8C96}" presName="spNode" presStyleCnt="0"/>
      <dgm:spPr/>
    </dgm:pt>
    <dgm:pt modelId="{525700EF-8480-4B6E-8C7A-A6B594088B3B}" type="pres">
      <dgm:prSet presAssocID="{90DE983F-B54D-4ACA-B6A3-1C18DCB699D4}" presName="sibTrans" presStyleLbl="sibTrans1D1" presStyleIdx="4" presStyleCnt="5"/>
      <dgm:spPr/>
    </dgm:pt>
  </dgm:ptLst>
  <dgm:cxnLst>
    <dgm:cxn modelId="{9D53A504-5E3F-4BF6-BA6C-4B2AA570AB22}" type="presOf" srcId="{90DE983F-B54D-4ACA-B6A3-1C18DCB699D4}" destId="{525700EF-8480-4B6E-8C7A-A6B594088B3B}" srcOrd="0" destOrd="0" presId="urn:microsoft.com/office/officeart/2005/8/layout/cycle6"/>
    <dgm:cxn modelId="{9823E00A-CF16-4579-A0F0-CF269DE96BC1}" srcId="{CD620C3F-5D84-4983-8B5F-BB5CE3F5AA45}" destId="{79E3B3E3-4226-46DC-BF21-2FD84CB51979}" srcOrd="2" destOrd="0" parTransId="{2CA8D4ED-4EAE-4617-B86A-B51F606997C4}" sibTransId="{372188EE-E33F-4ECA-8E4A-20DE78D0BDF7}"/>
    <dgm:cxn modelId="{FFBD601D-82AC-4314-A2D5-028281A17640}" srcId="{CD620C3F-5D84-4983-8B5F-BB5CE3F5AA45}" destId="{E117D3B8-6723-483A-B594-ACFEC5655590}" srcOrd="1" destOrd="0" parTransId="{D8A81A21-E83D-472C-9ED2-EBAD90D45CFA}" sibTransId="{1BDA580D-62D5-4616-96C8-8B9987F89A28}"/>
    <dgm:cxn modelId="{B8FE323F-EE8E-4BD6-B1EF-822E2BB6A6CD}" type="presOf" srcId="{27965818-1BC9-4266-9F65-5C0A204C8581}" destId="{D68D9E6A-620A-4139-AA55-7E81397DABE9}" srcOrd="0" destOrd="0" presId="urn:microsoft.com/office/officeart/2005/8/layout/cycle6"/>
    <dgm:cxn modelId="{1F9D886E-6F99-44A4-9095-02858BBD0C43}" type="presOf" srcId="{CD620C3F-5D84-4983-8B5F-BB5CE3F5AA45}" destId="{FBCB326E-761A-404F-AF5C-2A2BFB83EC0F}" srcOrd="0" destOrd="0" presId="urn:microsoft.com/office/officeart/2005/8/layout/cycle6"/>
    <dgm:cxn modelId="{91F12088-6515-4E36-809E-79585DB97A15}" type="presOf" srcId="{ECECC51B-5DA4-414B-9B22-CCECA176B0D3}" destId="{86F3AD0F-8783-4AB7-A848-615793932683}" srcOrd="0" destOrd="0" presId="urn:microsoft.com/office/officeart/2005/8/layout/cycle6"/>
    <dgm:cxn modelId="{4A460C8C-9736-4D2B-A673-8F17BF1E4F82}" type="presOf" srcId="{E117D3B8-6723-483A-B594-ACFEC5655590}" destId="{E453FB4C-32C7-48A0-8666-A3BE31AE7EF4}" srcOrd="0" destOrd="0" presId="urn:microsoft.com/office/officeart/2005/8/layout/cycle6"/>
    <dgm:cxn modelId="{9A3E2691-673D-494C-BD80-5BBDA74BF7B5}" type="presOf" srcId="{372188EE-E33F-4ECA-8E4A-20DE78D0BDF7}" destId="{73A313AC-4557-4CF6-94EE-743397B97E45}" srcOrd="0" destOrd="0" presId="urn:microsoft.com/office/officeart/2005/8/layout/cycle6"/>
    <dgm:cxn modelId="{D31A459B-CAE4-4BAD-A409-2EE9F14E6C7F}" type="presOf" srcId="{1BDA580D-62D5-4616-96C8-8B9987F89A28}" destId="{C3FFE0B8-9423-4C1B-8E7F-5F6D887A54F1}" srcOrd="0" destOrd="0" presId="urn:microsoft.com/office/officeart/2005/8/layout/cycle6"/>
    <dgm:cxn modelId="{1830A39F-6062-4FED-A142-43FF6B2817B7}" type="presOf" srcId="{F0B1C57C-26D9-4790-A369-695A15F47780}" destId="{F112F7CD-A62A-4BB3-92F0-1104CFCEA451}" srcOrd="0" destOrd="0" presId="urn:microsoft.com/office/officeart/2005/8/layout/cycle6"/>
    <dgm:cxn modelId="{3F46BFA3-05AF-4EBF-8644-ED0A35B70E97}" srcId="{CD620C3F-5D84-4983-8B5F-BB5CE3F5AA45}" destId="{81A131C8-6111-4C0F-ADDC-041704F1FAA5}" srcOrd="3" destOrd="0" parTransId="{4B3F2466-C4D2-451B-A1ED-F77EF9D4A044}" sibTransId="{27965818-1BC9-4266-9F65-5C0A204C8581}"/>
    <dgm:cxn modelId="{DE8072A7-5476-469F-BE24-F0B16B6F00FD}" srcId="{CD620C3F-5D84-4983-8B5F-BB5CE3F5AA45}" destId="{88E063CF-C787-427D-92D4-3AFAFDFE8C96}" srcOrd="4" destOrd="0" parTransId="{FEB59B61-8481-4109-8AE7-CFFA4CC137B1}" sibTransId="{90DE983F-B54D-4ACA-B6A3-1C18DCB699D4}"/>
    <dgm:cxn modelId="{D23F19AD-1DFB-4909-AE07-A9BCE904F509}" type="presOf" srcId="{79E3B3E3-4226-46DC-BF21-2FD84CB51979}" destId="{B48BFF20-8F6B-4365-9131-2837AD6DD5D8}" srcOrd="0" destOrd="0" presId="urn:microsoft.com/office/officeart/2005/8/layout/cycle6"/>
    <dgm:cxn modelId="{767F5EDB-2E96-44E4-B951-1499C87AF65A}" type="presOf" srcId="{81A131C8-6111-4C0F-ADDC-041704F1FAA5}" destId="{D3A05672-6DAE-4942-B62E-2CA4D4B41CB3}" srcOrd="0" destOrd="0" presId="urn:microsoft.com/office/officeart/2005/8/layout/cycle6"/>
    <dgm:cxn modelId="{8A780AEC-A406-43EB-A973-F6FF246F3CC4}" type="presOf" srcId="{88E063CF-C787-427D-92D4-3AFAFDFE8C96}" destId="{2ABDFF02-0FD3-4AA9-9A59-6B12B223EF3E}" srcOrd="0" destOrd="0" presId="urn:microsoft.com/office/officeart/2005/8/layout/cycle6"/>
    <dgm:cxn modelId="{C001F2FB-5655-4273-A8A3-180A92C01186}" srcId="{CD620C3F-5D84-4983-8B5F-BB5CE3F5AA45}" destId="{F0B1C57C-26D9-4790-A369-695A15F47780}" srcOrd="0" destOrd="0" parTransId="{F6BBE1B3-D24D-4E68-A6AB-E6E013AC980E}" sibTransId="{ECECC51B-5DA4-414B-9B22-CCECA176B0D3}"/>
    <dgm:cxn modelId="{B1254704-9C8D-40AB-9435-F2F303F0572C}" type="presParOf" srcId="{FBCB326E-761A-404F-AF5C-2A2BFB83EC0F}" destId="{F112F7CD-A62A-4BB3-92F0-1104CFCEA451}" srcOrd="0" destOrd="0" presId="urn:microsoft.com/office/officeart/2005/8/layout/cycle6"/>
    <dgm:cxn modelId="{6EC4CC6B-E875-4712-8081-895AA67FFFD4}" type="presParOf" srcId="{FBCB326E-761A-404F-AF5C-2A2BFB83EC0F}" destId="{D3D8C612-6642-457C-9ED7-EBBA0EFC7CD9}" srcOrd="1" destOrd="0" presId="urn:microsoft.com/office/officeart/2005/8/layout/cycle6"/>
    <dgm:cxn modelId="{D7499E21-A560-4168-9ABA-DFC8CE7CA944}" type="presParOf" srcId="{FBCB326E-761A-404F-AF5C-2A2BFB83EC0F}" destId="{86F3AD0F-8783-4AB7-A848-615793932683}" srcOrd="2" destOrd="0" presId="urn:microsoft.com/office/officeart/2005/8/layout/cycle6"/>
    <dgm:cxn modelId="{0BBA147C-6228-4D93-BFCE-2E20F092BC0D}" type="presParOf" srcId="{FBCB326E-761A-404F-AF5C-2A2BFB83EC0F}" destId="{E453FB4C-32C7-48A0-8666-A3BE31AE7EF4}" srcOrd="3" destOrd="0" presId="urn:microsoft.com/office/officeart/2005/8/layout/cycle6"/>
    <dgm:cxn modelId="{667E188B-8563-42CB-B209-064BFD2DCE9B}" type="presParOf" srcId="{FBCB326E-761A-404F-AF5C-2A2BFB83EC0F}" destId="{47A0B3C1-BB16-4B83-9F71-5821119AE120}" srcOrd="4" destOrd="0" presId="urn:microsoft.com/office/officeart/2005/8/layout/cycle6"/>
    <dgm:cxn modelId="{BB3F7439-74F5-4359-9042-B48A7A1E2C0D}" type="presParOf" srcId="{FBCB326E-761A-404F-AF5C-2A2BFB83EC0F}" destId="{C3FFE0B8-9423-4C1B-8E7F-5F6D887A54F1}" srcOrd="5" destOrd="0" presId="urn:microsoft.com/office/officeart/2005/8/layout/cycle6"/>
    <dgm:cxn modelId="{E5D0B37E-F9BD-4E59-A6EC-D9DCB2BC7646}" type="presParOf" srcId="{FBCB326E-761A-404F-AF5C-2A2BFB83EC0F}" destId="{B48BFF20-8F6B-4365-9131-2837AD6DD5D8}" srcOrd="6" destOrd="0" presId="urn:microsoft.com/office/officeart/2005/8/layout/cycle6"/>
    <dgm:cxn modelId="{1A1B5CCD-305E-4CD3-8D1E-C18E31C65B51}" type="presParOf" srcId="{FBCB326E-761A-404F-AF5C-2A2BFB83EC0F}" destId="{16668136-F720-415C-B72B-0A69A590ED77}" srcOrd="7" destOrd="0" presId="urn:microsoft.com/office/officeart/2005/8/layout/cycle6"/>
    <dgm:cxn modelId="{99BF16DB-6A9A-46B7-8424-28DC6BAF7223}" type="presParOf" srcId="{FBCB326E-761A-404F-AF5C-2A2BFB83EC0F}" destId="{73A313AC-4557-4CF6-94EE-743397B97E45}" srcOrd="8" destOrd="0" presId="urn:microsoft.com/office/officeart/2005/8/layout/cycle6"/>
    <dgm:cxn modelId="{7EDFCA97-3595-439A-B200-B2837689C473}" type="presParOf" srcId="{FBCB326E-761A-404F-AF5C-2A2BFB83EC0F}" destId="{D3A05672-6DAE-4942-B62E-2CA4D4B41CB3}" srcOrd="9" destOrd="0" presId="urn:microsoft.com/office/officeart/2005/8/layout/cycle6"/>
    <dgm:cxn modelId="{3DA55E85-D0AC-4310-A833-057FA9A478F5}" type="presParOf" srcId="{FBCB326E-761A-404F-AF5C-2A2BFB83EC0F}" destId="{6BC6223E-82E9-4AE9-9900-B855454CF6E2}" srcOrd="10" destOrd="0" presId="urn:microsoft.com/office/officeart/2005/8/layout/cycle6"/>
    <dgm:cxn modelId="{F9E2D7AD-ED68-49FE-9156-C608A282D359}" type="presParOf" srcId="{FBCB326E-761A-404F-AF5C-2A2BFB83EC0F}" destId="{D68D9E6A-620A-4139-AA55-7E81397DABE9}" srcOrd="11" destOrd="0" presId="urn:microsoft.com/office/officeart/2005/8/layout/cycle6"/>
    <dgm:cxn modelId="{FF54B473-BC4F-44E0-9BFC-37B3820BD056}" type="presParOf" srcId="{FBCB326E-761A-404F-AF5C-2A2BFB83EC0F}" destId="{2ABDFF02-0FD3-4AA9-9A59-6B12B223EF3E}" srcOrd="12" destOrd="0" presId="urn:microsoft.com/office/officeart/2005/8/layout/cycle6"/>
    <dgm:cxn modelId="{AA1EC9AA-AC56-49D0-85E8-6C9CD3BCA95A}" type="presParOf" srcId="{FBCB326E-761A-404F-AF5C-2A2BFB83EC0F}" destId="{E1AFDB13-D4F1-4ADA-9CA3-47801C814EC2}" srcOrd="13" destOrd="0" presId="urn:microsoft.com/office/officeart/2005/8/layout/cycle6"/>
    <dgm:cxn modelId="{7B746340-BE2B-42E1-943B-9C0390D89400}" type="presParOf" srcId="{FBCB326E-761A-404F-AF5C-2A2BFB83EC0F}" destId="{525700EF-8480-4B6E-8C7A-A6B594088B3B}" srcOrd="14" destOrd="0" presId="urn:microsoft.com/office/officeart/2005/8/layout/cycle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C075D52-B92C-4952-888F-D0D906FC58C7}" type="doc">
      <dgm:prSet loTypeId="urn:microsoft.com/office/officeart/2005/8/layout/hChevron3" loCatId="process" qsTypeId="urn:microsoft.com/office/officeart/2005/8/quickstyle/3d3" qsCatId="3D" csTypeId="urn:microsoft.com/office/officeart/2005/8/colors/accent0_3" csCatId="mainScheme" phldr="1"/>
      <dgm:spPr/>
    </dgm:pt>
    <dgm:pt modelId="{5BD2520E-4A99-4485-A773-A503ACD3973F}">
      <dgm:prSet phldr="0" custT="1"/>
      <dgm:spPr/>
      <dgm:t>
        <a:bodyPr/>
        <a:lstStyle/>
        <a:p>
          <a:pPr rtl="0"/>
          <a:r>
            <a:rPr lang="en-US" sz="1400" b="1">
              <a:solidFill>
                <a:schemeClr val="bg1"/>
              </a:solidFill>
              <a:latin typeface="Arial"/>
              <a:ea typeface="Calibri"/>
              <a:cs typeface="Calibri"/>
            </a:rPr>
            <a:t>Planning</a:t>
          </a:r>
        </a:p>
      </dgm:t>
    </dgm:pt>
    <dgm:pt modelId="{ACD2E5B6-25AA-45E1-82DE-2EC29DA5300F}" type="parTrans" cxnId="{30F1C7E8-3252-6342-96A6-7576132FF765}">
      <dgm:prSet/>
      <dgm:spPr/>
    </dgm:pt>
    <dgm:pt modelId="{19E98C5C-3EEE-4A7B-A2E6-96840C9F68E2}" type="sibTrans" cxnId="{30F1C7E8-3252-6342-96A6-7576132FF765}">
      <dgm:prSet/>
      <dgm:spPr/>
    </dgm:pt>
    <dgm:pt modelId="{73AA6E83-8070-49F7-9FC0-D57E617C1D51}">
      <dgm:prSet phldr="0" custT="1"/>
      <dgm:spPr/>
      <dgm:t>
        <a:bodyPr/>
        <a:lstStyle/>
        <a:p>
          <a:r>
            <a:rPr lang="en-US" sz="1400" b="1">
              <a:solidFill>
                <a:schemeClr val="bg1"/>
              </a:solidFill>
              <a:latin typeface="Arial"/>
              <a:ea typeface="Calibri"/>
              <a:cs typeface="Calibri"/>
            </a:rPr>
            <a:t>Provisioning</a:t>
          </a:r>
        </a:p>
      </dgm:t>
    </dgm:pt>
    <dgm:pt modelId="{A995A5D9-B7B9-4055-BDF6-6EFAA0B24550}" type="parTrans" cxnId="{37A92B93-24B8-CE44-8730-1CC42CC10B1B}">
      <dgm:prSet/>
      <dgm:spPr/>
    </dgm:pt>
    <dgm:pt modelId="{D107B7C4-9C62-4C77-B79E-8B7136667135}" type="sibTrans" cxnId="{37A92B93-24B8-CE44-8730-1CC42CC10B1B}">
      <dgm:prSet/>
      <dgm:spPr/>
    </dgm:pt>
    <dgm:pt modelId="{8C9467EB-6DDC-4357-B8A8-8C05909B7AD1}">
      <dgm:prSet phldr="0" custT="1"/>
      <dgm:spPr/>
      <dgm:t>
        <a:bodyPr/>
        <a:lstStyle/>
        <a:p>
          <a:r>
            <a:rPr lang="en-US" sz="1400" b="1">
              <a:solidFill>
                <a:schemeClr val="bg1"/>
              </a:solidFill>
              <a:latin typeface="Arial"/>
              <a:ea typeface="Calibri"/>
              <a:cs typeface="Calibri"/>
            </a:rPr>
            <a:t>Operations</a:t>
          </a:r>
        </a:p>
      </dgm:t>
    </dgm:pt>
    <dgm:pt modelId="{F89AE54D-E283-48FA-BD59-A154AB779E37}" type="parTrans" cxnId="{E2DD119B-D5EF-774F-963C-E2AD7F7CFF33}">
      <dgm:prSet/>
      <dgm:spPr/>
    </dgm:pt>
    <dgm:pt modelId="{FC20DE78-19BE-43A2-821F-2DEDF5735D01}" type="sibTrans" cxnId="{E2DD119B-D5EF-774F-963C-E2AD7F7CFF33}">
      <dgm:prSet/>
      <dgm:spPr/>
    </dgm:pt>
    <dgm:pt modelId="{4D8BDB44-7CC4-4B7D-ACBD-666E57A167ED}">
      <dgm:prSet phldr="0" custT="1"/>
      <dgm:spPr/>
      <dgm:t>
        <a:bodyPr/>
        <a:lstStyle/>
        <a:p>
          <a:r>
            <a:rPr lang="en-US" sz="1400" b="1">
              <a:solidFill>
                <a:schemeClr val="bg1"/>
              </a:solidFill>
              <a:latin typeface="Arial"/>
              <a:ea typeface="Calibri"/>
              <a:cs typeface="Calibri"/>
            </a:rPr>
            <a:t>Optimization</a:t>
          </a:r>
        </a:p>
      </dgm:t>
    </dgm:pt>
    <dgm:pt modelId="{C6F4EB1F-59C1-47A8-8451-51144FC81656}" type="parTrans" cxnId="{B99C5F62-B1B3-284B-AD5F-86A97AE3D3C9}">
      <dgm:prSet/>
      <dgm:spPr/>
    </dgm:pt>
    <dgm:pt modelId="{61BEDF5B-CF80-4931-8DCD-7066FB05C562}" type="sibTrans" cxnId="{B99C5F62-B1B3-284B-AD5F-86A97AE3D3C9}">
      <dgm:prSet/>
      <dgm:spPr/>
    </dgm:pt>
    <dgm:pt modelId="{81C5FD8E-81F6-4853-9739-C2338B713773}">
      <dgm:prSet phldr="0" custT="1"/>
      <dgm:spPr/>
      <dgm:t>
        <a:bodyPr/>
        <a:lstStyle/>
        <a:p>
          <a:r>
            <a:rPr lang="en-US" sz="1400" b="1">
              <a:solidFill>
                <a:schemeClr val="bg1"/>
              </a:solidFill>
              <a:latin typeface="Arial"/>
              <a:ea typeface="Calibri"/>
              <a:cs typeface="Calibri"/>
            </a:rPr>
            <a:t>Decommission</a:t>
          </a:r>
        </a:p>
      </dgm:t>
    </dgm:pt>
    <dgm:pt modelId="{2628CA71-8FB2-4760-96D2-846FBAC3AFFA}" type="parTrans" cxnId="{513DC7E6-78D7-0E4F-9311-4542EE0FC438}">
      <dgm:prSet/>
      <dgm:spPr/>
    </dgm:pt>
    <dgm:pt modelId="{D3C82FC1-BC56-4AED-B762-C7C729849BD6}" type="sibTrans" cxnId="{513DC7E6-78D7-0E4F-9311-4542EE0FC438}">
      <dgm:prSet/>
      <dgm:spPr/>
    </dgm:pt>
    <dgm:pt modelId="{54F617EA-40EB-4C49-82DC-AD3E88C021DD}" type="pres">
      <dgm:prSet presAssocID="{AC075D52-B92C-4952-888F-D0D906FC58C7}" presName="Name0" presStyleCnt="0">
        <dgm:presLayoutVars>
          <dgm:dir/>
          <dgm:resizeHandles val="exact"/>
        </dgm:presLayoutVars>
      </dgm:prSet>
      <dgm:spPr/>
    </dgm:pt>
    <dgm:pt modelId="{BA358316-6849-4453-B95A-26DB86990C90}" type="pres">
      <dgm:prSet presAssocID="{5BD2520E-4A99-4485-A773-A503ACD3973F}" presName="parTxOnly" presStyleLbl="node1" presStyleIdx="0" presStyleCnt="5">
        <dgm:presLayoutVars>
          <dgm:bulletEnabled val="1"/>
        </dgm:presLayoutVars>
      </dgm:prSet>
      <dgm:spPr/>
    </dgm:pt>
    <dgm:pt modelId="{AAB37BA4-8135-4792-88A3-31604DEFE1D9}" type="pres">
      <dgm:prSet presAssocID="{19E98C5C-3EEE-4A7B-A2E6-96840C9F68E2}" presName="parSpace" presStyleCnt="0"/>
      <dgm:spPr/>
    </dgm:pt>
    <dgm:pt modelId="{CD762BA7-C69B-461D-980F-D7E91691C1DA}" type="pres">
      <dgm:prSet presAssocID="{73AA6E83-8070-49F7-9FC0-D57E617C1D51}" presName="parTxOnly" presStyleLbl="node1" presStyleIdx="1" presStyleCnt="5">
        <dgm:presLayoutVars>
          <dgm:bulletEnabled val="1"/>
        </dgm:presLayoutVars>
      </dgm:prSet>
      <dgm:spPr/>
    </dgm:pt>
    <dgm:pt modelId="{E333AA46-2B54-4958-8D90-4FEAD3681146}" type="pres">
      <dgm:prSet presAssocID="{D107B7C4-9C62-4C77-B79E-8B7136667135}" presName="parSpace" presStyleCnt="0"/>
      <dgm:spPr/>
    </dgm:pt>
    <dgm:pt modelId="{9FEE56FF-A373-4F3C-B9F0-D43886188BEA}" type="pres">
      <dgm:prSet presAssocID="{8C9467EB-6DDC-4357-B8A8-8C05909B7AD1}" presName="parTxOnly" presStyleLbl="node1" presStyleIdx="2" presStyleCnt="5">
        <dgm:presLayoutVars>
          <dgm:bulletEnabled val="1"/>
        </dgm:presLayoutVars>
      </dgm:prSet>
      <dgm:spPr/>
    </dgm:pt>
    <dgm:pt modelId="{693E455F-7546-4142-9A3A-71A1AF7A80E5}" type="pres">
      <dgm:prSet presAssocID="{FC20DE78-19BE-43A2-821F-2DEDF5735D01}" presName="parSpace" presStyleCnt="0"/>
      <dgm:spPr/>
    </dgm:pt>
    <dgm:pt modelId="{BF1EAB52-30AB-496C-A8BF-B4EC33E72BD3}" type="pres">
      <dgm:prSet presAssocID="{4D8BDB44-7CC4-4B7D-ACBD-666E57A167ED}" presName="parTxOnly" presStyleLbl="node1" presStyleIdx="3" presStyleCnt="5">
        <dgm:presLayoutVars>
          <dgm:bulletEnabled val="1"/>
        </dgm:presLayoutVars>
      </dgm:prSet>
      <dgm:spPr/>
    </dgm:pt>
    <dgm:pt modelId="{3BD247BF-FA42-42FC-97B1-942DD269748A}" type="pres">
      <dgm:prSet presAssocID="{61BEDF5B-CF80-4931-8DCD-7066FB05C562}" presName="parSpace" presStyleCnt="0"/>
      <dgm:spPr/>
    </dgm:pt>
    <dgm:pt modelId="{110B8747-4FA4-4234-9357-AB731440A8B6}" type="pres">
      <dgm:prSet presAssocID="{81C5FD8E-81F6-4853-9739-C2338B713773}" presName="parTxOnly" presStyleLbl="node1" presStyleIdx="4" presStyleCnt="5">
        <dgm:presLayoutVars>
          <dgm:bulletEnabled val="1"/>
        </dgm:presLayoutVars>
      </dgm:prSet>
      <dgm:spPr/>
    </dgm:pt>
  </dgm:ptLst>
  <dgm:cxnLst>
    <dgm:cxn modelId="{B99C5F62-B1B3-284B-AD5F-86A97AE3D3C9}" srcId="{AC075D52-B92C-4952-888F-D0D906FC58C7}" destId="{4D8BDB44-7CC4-4B7D-ACBD-666E57A167ED}" srcOrd="3" destOrd="0" parTransId="{C6F4EB1F-59C1-47A8-8451-51144FC81656}" sibTransId="{61BEDF5B-CF80-4931-8DCD-7066FB05C562}"/>
    <dgm:cxn modelId="{942F0D51-F9A9-CB42-8280-C84465351E54}" type="presOf" srcId="{4D8BDB44-7CC4-4B7D-ACBD-666E57A167ED}" destId="{BF1EAB52-30AB-496C-A8BF-B4EC33E72BD3}" srcOrd="0" destOrd="0" presId="urn:microsoft.com/office/officeart/2005/8/layout/hChevron3"/>
    <dgm:cxn modelId="{C714537C-3F16-DF4C-AECA-47C74E79B5F6}" type="presOf" srcId="{81C5FD8E-81F6-4853-9739-C2338B713773}" destId="{110B8747-4FA4-4234-9357-AB731440A8B6}" srcOrd="0" destOrd="0" presId="urn:microsoft.com/office/officeart/2005/8/layout/hChevron3"/>
    <dgm:cxn modelId="{BDA6CB84-8B4B-2549-95FE-7084ADF48290}" type="presOf" srcId="{8C9467EB-6DDC-4357-B8A8-8C05909B7AD1}" destId="{9FEE56FF-A373-4F3C-B9F0-D43886188BEA}" srcOrd="0" destOrd="0" presId="urn:microsoft.com/office/officeart/2005/8/layout/hChevron3"/>
    <dgm:cxn modelId="{D4ECD28C-3643-7443-8BC3-F88A11639846}" type="presOf" srcId="{5BD2520E-4A99-4485-A773-A503ACD3973F}" destId="{BA358316-6849-4453-B95A-26DB86990C90}" srcOrd="0" destOrd="0" presId="urn:microsoft.com/office/officeart/2005/8/layout/hChevron3"/>
    <dgm:cxn modelId="{37A92B93-24B8-CE44-8730-1CC42CC10B1B}" srcId="{AC075D52-B92C-4952-888F-D0D906FC58C7}" destId="{73AA6E83-8070-49F7-9FC0-D57E617C1D51}" srcOrd="1" destOrd="0" parTransId="{A995A5D9-B7B9-4055-BDF6-6EFAA0B24550}" sibTransId="{D107B7C4-9C62-4C77-B79E-8B7136667135}"/>
    <dgm:cxn modelId="{E2DD119B-D5EF-774F-963C-E2AD7F7CFF33}" srcId="{AC075D52-B92C-4952-888F-D0D906FC58C7}" destId="{8C9467EB-6DDC-4357-B8A8-8C05909B7AD1}" srcOrd="2" destOrd="0" parTransId="{F89AE54D-E283-48FA-BD59-A154AB779E37}" sibTransId="{FC20DE78-19BE-43A2-821F-2DEDF5735D01}"/>
    <dgm:cxn modelId="{61D30BA9-FA09-4375-BC80-D8EAE7967B72}" type="presOf" srcId="{AC075D52-B92C-4952-888F-D0D906FC58C7}" destId="{54F617EA-40EB-4C49-82DC-AD3E88C021DD}" srcOrd="0" destOrd="0" presId="urn:microsoft.com/office/officeart/2005/8/layout/hChevron3"/>
    <dgm:cxn modelId="{513DC7E6-78D7-0E4F-9311-4542EE0FC438}" srcId="{AC075D52-B92C-4952-888F-D0D906FC58C7}" destId="{81C5FD8E-81F6-4853-9739-C2338B713773}" srcOrd="4" destOrd="0" parTransId="{2628CA71-8FB2-4760-96D2-846FBAC3AFFA}" sibTransId="{D3C82FC1-BC56-4AED-B762-C7C729849BD6}"/>
    <dgm:cxn modelId="{30F1C7E8-3252-6342-96A6-7576132FF765}" srcId="{AC075D52-B92C-4952-888F-D0D906FC58C7}" destId="{5BD2520E-4A99-4485-A773-A503ACD3973F}" srcOrd="0" destOrd="0" parTransId="{ACD2E5B6-25AA-45E1-82DE-2EC29DA5300F}" sibTransId="{19E98C5C-3EEE-4A7B-A2E6-96840C9F68E2}"/>
    <dgm:cxn modelId="{FB813EFA-C588-1842-B464-AF69648B6EF8}" type="presOf" srcId="{73AA6E83-8070-49F7-9FC0-D57E617C1D51}" destId="{CD762BA7-C69B-461D-980F-D7E91691C1DA}" srcOrd="0" destOrd="0" presId="urn:microsoft.com/office/officeart/2005/8/layout/hChevron3"/>
    <dgm:cxn modelId="{2A7AFB24-6FE0-9943-971D-CD7F55A29253}" type="presParOf" srcId="{54F617EA-40EB-4C49-82DC-AD3E88C021DD}" destId="{BA358316-6849-4453-B95A-26DB86990C90}" srcOrd="0" destOrd="0" presId="urn:microsoft.com/office/officeart/2005/8/layout/hChevron3"/>
    <dgm:cxn modelId="{8434CD8E-7BAD-F14E-9E3A-426C232796FA}" type="presParOf" srcId="{54F617EA-40EB-4C49-82DC-AD3E88C021DD}" destId="{AAB37BA4-8135-4792-88A3-31604DEFE1D9}" srcOrd="1" destOrd="0" presId="urn:microsoft.com/office/officeart/2005/8/layout/hChevron3"/>
    <dgm:cxn modelId="{A909646B-4594-184B-A0B8-E48E49C251E0}" type="presParOf" srcId="{54F617EA-40EB-4C49-82DC-AD3E88C021DD}" destId="{CD762BA7-C69B-461D-980F-D7E91691C1DA}" srcOrd="2" destOrd="0" presId="urn:microsoft.com/office/officeart/2005/8/layout/hChevron3"/>
    <dgm:cxn modelId="{40AB271F-97D9-4648-AB95-D98117B11BDE}" type="presParOf" srcId="{54F617EA-40EB-4C49-82DC-AD3E88C021DD}" destId="{E333AA46-2B54-4958-8D90-4FEAD3681146}" srcOrd="3" destOrd="0" presId="urn:microsoft.com/office/officeart/2005/8/layout/hChevron3"/>
    <dgm:cxn modelId="{B7476EF7-F491-8449-96F4-EF0EEE408D4B}" type="presParOf" srcId="{54F617EA-40EB-4C49-82DC-AD3E88C021DD}" destId="{9FEE56FF-A373-4F3C-B9F0-D43886188BEA}" srcOrd="4" destOrd="0" presId="urn:microsoft.com/office/officeart/2005/8/layout/hChevron3"/>
    <dgm:cxn modelId="{55FCD950-017D-CC4B-B26D-621C9584004A}" type="presParOf" srcId="{54F617EA-40EB-4C49-82DC-AD3E88C021DD}" destId="{693E455F-7546-4142-9A3A-71A1AF7A80E5}" srcOrd="5" destOrd="0" presId="urn:microsoft.com/office/officeart/2005/8/layout/hChevron3"/>
    <dgm:cxn modelId="{C9DC4A83-90B0-9743-9804-D3F1493136C0}" type="presParOf" srcId="{54F617EA-40EB-4C49-82DC-AD3E88C021DD}" destId="{BF1EAB52-30AB-496C-A8BF-B4EC33E72BD3}" srcOrd="6" destOrd="0" presId="urn:microsoft.com/office/officeart/2005/8/layout/hChevron3"/>
    <dgm:cxn modelId="{A32B41BA-511F-8F47-A15B-1A813D414BEC}" type="presParOf" srcId="{54F617EA-40EB-4C49-82DC-AD3E88C021DD}" destId="{3BD247BF-FA42-42FC-97B1-942DD269748A}" srcOrd="7" destOrd="0" presId="urn:microsoft.com/office/officeart/2005/8/layout/hChevron3"/>
    <dgm:cxn modelId="{A4E3101A-734C-6241-AAE7-F7EB59465C9A}" type="presParOf" srcId="{54F617EA-40EB-4C49-82DC-AD3E88C021DD}" destId="{110B8747-4FA4-4234-9357-AB731440A8B6}" srcOrd="8"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8D67D68-260E-4A78-8AD5-B5E3070B92D1}" type="doc">
      <dgm:prSet loTypeId="urn:microsoft.com/office/officeart/2005/8/layout/hChevron3" loCatId="process" qsTypeId="urn:microsoft.com/office/officeart/2005/8/quickstyle/3d3" qsCatId="3D" csTypeId="urn:microsoft.com/office/officeart/2005/8/colors/accent1_2" csCatId="accent1" phldr="1"/>
      <dgm:spPr/>
    </dgm:pt>
    <dgm:pt modelId="{00D55861-873D-4992-8CE4-8F7B6A0CF34E}">
      <dgm:prSet phldr="0"/>
      <dgm:spPr/>
      <dgm:t>
        <a:bodyPr/>
        <a:lstStyle/>
        <a:p>
          <a:pPr rtl="0"/>
          <a:r>
            <a:rPr lang="en-US" sz="1100" b="0">
              <a:latin typeface="Calibri"/>
              <a:ea typeface="Calibri"/>
              <a:cs typeface="Calibri"/>
            </a:rPr>
            <a:t>Business Request</a:t>
          </a:r>
        </a:p>
      </dgm:t>
    </dgm:pt>
    <dgm:pt modelId="{7663413F-1F86-4782-8C36-281D33836A7E}" type="parTrans" cxnId="{79B8F80C-6B31-E74E-9F80-7CC8CA15898E}">
      <dgm:prSet/>
      <dgm:spPr/>
    </dgm:pt>
    <dgm:pt modelId="{09EB1086-139B-4CE9-A074-DBB01E56900E}" type="sibTrans" cxnId="{79B8F80C-6B31-E74E-9F80-7CC8CA15898E}">
      <dgm:prSet/>
      <dgm:spPr/>
    </dgm:pt>
    <dgm:pt modelId="{68817457-B090-4952-8DD1-E58FE108B38F}">
      <dgm:prSet phldr="0"/>
      <dgm:spPr/>
      <dgm:t>
        <a:bodyPr/>
        <a:lstStyle/>
        <a:p>
          <a:r>
            <a:rPr lang="en-US" sz="1100" b="0">
              <a:latin typeface="Calibri"/>
              <a:ea typeface="Calibri"/>
              <a:cs typeface="Calibri"/>
            </a:rPr>
            <a:t>Automated Provisioning in Azure/AWS</a:t>
          </a:r>
        </a:p>
      </dgm:t>
    </dgm:pt>
    <dgm:pt modelId="{7EA82BB1-CE82-4211-A1A6-38A12B6459F4}" type="parTrans" cxnId="{A952E28C-0E54-C945-A239-06433BDE85A5}">
      <dgm:prSet/>
      <dgm:spPr/>
    </dgm:pt>
    <dgm:pt modelId="{5F76F70C-5939-4912-B345-4D1BF5B35807}" type="sibTrans" cxnId="{A952E28C-0E54-C945-A239-06433BDE85A5}">
      <dgm:prSet/>
      <dgm:spPr/>
    </dgm:pt>
    <dgm:pt modelId="{37EE9C68-60B8-45EE-A770-207B6F109359}">
      <dgm:prSet phldr="0"/>
      <dgm:spPr/>
      <dgm:t>
        <a:bodyPr/>
        <a:lstStyle/>
        <a:p>
          <a:r>
            <a:rPr lang="en-US" sz="1100" b="0">
              <a:latin typeface="Calibri"/>
              <a:ea typeface="Calibri"/>
              <a:cs typeface="Calibri"/>
            </a:rPr>
            <a:t>Secure Operations</a:t>
          </a:r>
        </a:p>
      </dgm:t>
    </dgm:pt>
    <dgm:pt modelId="{93775D9B-9ACC-478F-B00E-C81574AFCB14}" type="parTrans" cxnId="{2C1511EC-5502-0342-9FDE-0DEFCD68DDFE}">
      <dgm:prSet/>
      <dgm:spPr/>
    </dgm:pt>
    <dgm:pt modelId="{C37FA843-2B8F-497D-B912-5A8441B557C2}" type="sibTrans" cxnId="{2C1511EC-5502-0342-9FDE-0DEFCD68DDFE}">
      <dgm:prSet/>
      <dgm:spPr/>
    </dgm:pt>
    <dgm:pt modelId="{91D5FEC0-0E8B-4AB9-A1CB-E6425B595B21}">
      <dgm:prSet phldr="0"/>
      <dgm:spPr/>
      <dgm:t>
        <a:bodyPr/>
        <a:lstStyle/>
        <a:p>
          <a:r>
            <a:rPr lang="en-US" sz="1100" b="0">
              <a:latin typeface="Calibri"/>
              <a:ea typeface="Calibri"/>
              <a:cs typeface="Calibri"/>
            </a:rPr>
            <a:t>Continuous Optimization</a:t>
          </a:r>
        </a:p>
      </dgm:t>
    </dgm:pt>
    <dgm:pt modelId="{09881CC0-374C-49CB-951D-3C22ABEEE896}" type="parTrans" cxnId="{4C631DDA-6E93-2A47-A82D-94F978BA7E37}">
      <dgm:prSet/>
      <dgm:spPr/>
    </dgm:pt>
    <dgm:pt modelId="{D23904C6-F2A0-4499-A643-0DF389AF0D80}" type="sibTrans" cxnId="{4C631DDA-6E93-2A47-A82D-94F978BA7E37}">
      <dgm:prSet/>
      <dgm:spPr/>
    </dgm:pt>
    <dgm:pt modelId="{DDFF5017-9942-4B5C-A726-62F158D91B2E}">
      <dgm:prSet phldr="0"/>
      <dgm:spPr/>
      <dgm:t>
        <a:bodyPr/>
        <a:lstStyle/>
        <a:p>
          <a:r>
            <a:rPr lang="en-US" sz="1100" b="0">
              <a:latin typeface="Calibri"/>
              <a:ea typeface="Calibri"/>
              <a:cs typeface="Calibri"/>
            </a:rPr>
            <a:t>Safe retirement of legacy workloads</a:t>
          </a:r>
        </a:p>
      </dgm:t>
    </dgm:pt>
    <dgm:pt modelId="{BABF47DF-30F7-44D4-8D81-C2D7CA2C83B5}" type="parTrans" cxnId="{2EADFCB2-C20B-D84D-A5A1-8CA20EBC15A1}">
      <dgm:prSet/>
      <dgm:spPr/>
    </dgm:pt>
    <dgm:pt modelId="{DE2E4DAA-E592-4F84-96FB-1F8BF39DB429}" type="sibTrans" cxnId="{2EADFCB2-C20B-D84D-A5A1-8CA20EBC15A1}">
      <dgm:prSet/>
      <dgm:spPr/>
    </dgm:pt>
    <dgm:pt modelId="{431FA47C-421A-4370-9821-5AD87479656E}" type="pres">
      <dgm:prSet presAssocID="{48D67D68-260E-4A78-8AD5-B5E3070B92D1}" presName="Name0" presStyleCnt="0">
        <dgm:presLayoutVars>
          <dgm:dir/>
          <dgm:resizeHandles val="exact"/>
        </dgm:presLayoutVars>
      </dgm:prSet>
      <dgm:spPr/>
    </dgm:pt>
    <dgm:pt modelId="{583E97E5-6DAF-4624-973B-E069E0219617}" type="pres">
      <dgm:prSet presAssocID="{00D55861-873D-4992-8CE4-8F7B6A0CF34E}" presName="parTxOnly" presStyleLbl="node1" presStyleIdx="0" presStyleCnt="5">
        <dgm:presLayoutVars>
          <dgm:bulletEnabled val="1"/>
        </dgm:presLayoutVars>
      </dgm:prSet>
      <dgm:spPr/>
    </dgm:pt>
    <dgm:pt modelId="{B605C717-E615-47BE-8D40-D12685AC6363}" type="pres">
      <dgm:prSet presAssocID="{09EB1086-139B-4CE9-A074-DBB01E56900E}" presName="parSpace" presStyleCnt="0"/>
      <dgm:spPr/>
    </dgm:pt>
    <dgm:pt modelId="{A435AFA9-12D2-43A8-8EDF-2FB7C3762071}" type="pres">
      <dgm:prSet presAssocID="{68817457-B090-4952-8DD1-E58FE108B38F}" presName="parTxOnly" presStyleLbl="node1" presStyleIdx="1" presStyleCnt="5">
        <dgm:presLayoutVars>
          <dgm:bulletEnabled val="1"/>
        </dgm:presLayoutVars>
      </dgm:prSet>
      <dgm:spPr/>
    </dgm:pt>
    <dgm:pt modelId="{E01AEF5E-7FC5-42DB-B4ED-8AB2487153B6}" type="pres">
      <dgm:prSet presAssocID="{5F76F70C-5939-4912-B345-4D1BF5B35807}" presName="parSpace" presStyleCnt="0"/>
      <dgm:spPr/>
    </dgm:pt>
    <dgm:pt modelId="{0467B890-6F8D-43A5-9E64-CE4C05A02BD2}" type="pres">
      <dgm:prSet presAssocID="{37EE9C68-60B8-45EE-A770-207B6F109359}" presName="parTxOnly" presStyleLbl="node1" presStyleIdx="2" presStyleCnt="5">
        <dgm:presLayoutVars>
          <dgm:bulletEnabled val="1"/>
        </dgm:presLayoutVars>
      </dgm:prSet>
      <dgm:spPr/>
    </dgm:pt>
    <dgm:pt modelId="{2BCCEE30-8D34-4170-B1B9-BB525152F8B6}" type="pres">
      <dgm:prSet presAssocID="{C37FA843-2B8F-497D-B912-5A8441B557C2}" presName="parSpace" presStyleCnt="0"/>
      <dgm:spPr/>
    </dgm:pt>
    <dgm:pt modelId="{33355D05-3FD4-4302-A3E7-3E2D4595969A}" type="pres">
      <dgm:prSet presAssocID="{91D5FEC0-0E8B-4AB9-A1CB-E6425B595B21}" presName="parTxOnly" presStyleLbl="node1" presStyleIdx="3" presStyleCnt="5">
        <dgm:presLayoutVars>
          <dgm:bulletEnabled val="1"/>
        </dgm:presLayoutVars>
      </dgm:prSet>
      <dgm:spPr/>
    </dgm:pt>
    <dgm:pt modelId="{A76D466F-F8DE-4133-B0CC-69AD34DBB562}" type="pres">
      <dgm:prSet presAssocID="{D23904C6-F2A0-4499-A643-0DF389AF0D80}" presName="parSpace" presStyleCnt="0"/>
      <dgm:spPr/>
    </dgm:pt>
    <dgm:pt modelId="{479FF84B-E0D9-47EE-B092-88491633CADD}" type="pres">
      <dgm:prSet presAssocID="{DDFF5017-9942-4B5C-A726-62F158D91B2E}" presName="parTxOnly" presStyleLbl="node1" presStyleIdx="4" presStyleCnt="5">
        <dgm:presLayoutVars>
          <dgm:bulletEnabled val="1"/>
        </dgm:presLayoutVars>
      </dgm:prSet>
      <dgm:spPr/>
    </dgm:pt>
  </dgm:ptLst>
  <dgm:cxnLst>
    <dgm:cxn modelId="{79B8F80C-6B31-E74E-9F80-7CC8CA15898E}" srcId="{48D67D68-260E-4A78-8AD5-B5E3070B92D1}" destId="{00D55861-873D-4992-8CE4-8F7B6A0CF34E}" srcOrd="0" destOrd="0" parTransId="{7663413F-1F86-4782-8C36-281D33836A7E}" sibTransId="{09EB1086-139B-4CE9-A074-DBB01E56900E}"/>
    <dgm:cxn modelId="{CB1B0D21-565F-6D47-8405-90F26FE0A816}" type="presOf" srcId="{DDFF5017-9942-4B5C-A726-62F158D91B2E}" destId="{479FF84B-E0D9-47EE-B092-88491633CADD}" srcOrd="0" destOrd="0" presId="urn:microsoft.com/office/officeart/2005/8/layout/hChevron3"/>
    <dgm:cxn modelId="{8CFD5B37-87F3-476D-B0AD-A69719D8F9A2}" type="presOf" srcId="{48D67D68-260E-4A78-8AD5-B5E3070B92D1}" destId="{431FA47C-421A-4370-9821-5AD87479656E}" srcOrd="0" destOrd="0" presId="urn:microsoft.com/office/officeart/2005/8/layout/hChevron3"/>
    <dgm:cxn modelId="{56B1FD37-B72D-BD43-9A96-162FB21DC009}" type="presOf" srcId="{91D5FEC0-0E8B-4AB9-A1CB-E6425B595B21}" destId="{33355D05-3FD4-4302-A3E7-3E2D4595969A}" srcOrd="0" destOrd="0" presId="urn:microsoft.com/office/officeart/2005/8/layout/hChevron3"/>
    <dgm:cxn modelId="{7D70D26A-7899-6A4D-B308-D3AE3679AC29}" type="presOf" srcId="{00D55861-873D-4992-8CE4-8F7B6A0CF34E}" destId="{583E97E5-6DAF-4624-973B-E069E0219617}" srcOrd="0" destOrd="0" presId="urn:microsoft.com/office/officeart/2005/8/layout/hChevron3"/>
    <dgm:cxn modelId="{9535B26B-EB7E-9A45-819A-7F7CCC5B538E}" type="presOf" srcId="{68817457-B090-4952-8DD1-E58FE108B38F}" destId="{A435AFA9-12D2-43A8-8EDF-2FB7C3762071}" srcOrd="0" destOrd="0" presId="urn:microsoft.com/office/officeart/2005/8/layout/hChevron3"/>
    <dgm:cxn modelId="{1FB1D379-2280-5546-BA09-4A67CEBB9D35}" type="presOf" srcId="{37EE9C68-60B8-45EE-A770-207B6F109359}" destId="{0467B890-6F8D-43A5-9E64-CE4C05A02BD2}" srcOrd="0" destOrd="0" presId="urn:microsoft.com/office/officeart/2005/8/layout/hChevron3"/>
    <dgm:cxn modelId="{A952E28C-0E54-C945-A239-06433BDE85A5}" srcId="{48D67D68-260E-4A78-8AD5-B5E3070B92D1}" destId="{68817457-B090-4952-8DD1-E58FE108B38F}" srcOrd="1" destOrd="0" parTransId="{7EA82BB1-CE82-4211-A1A6-38A12B6459F4}" sibTransId="{5F76F70C-5939-4912-B345-4D1BF5B35807}"/>
    <dgm:cxn modelId="{2EADFCB2-C20B-D84D-A5A1-8CA20EBC15A1}" srcId="{48D67D68-260E-4A78-8AD5-B5E3070B92D1}" destId="{DDFF5017-9942-4B5C-A726-62F158D91B2E}" srcOrd="4" destOrd="0" parTransId="{BABF47DF-30F7-44D4-8D81-C2D7CA2C83B5}" sibTransId="{DE2E4DAA-E592-4F84-96FB-1F8BF39DB429}"/>
    <dgm:cxn modelId="{4C631DDA-6E93-2A47-A82D-94F978BA7E37}" srcId="{48D67D68-260E-4A78-8AD5-B5E3070B92D1}" destId="{91D5FEC0-0E8B-4AB9-A1CB-E6425B595B21}" srcOrd="3" destOrd="0" parTransId="{09881CC0-374C-49CB-951D-3C22ABEEE896}" sibTransId="{D23904C6-F2A0-4499-A643-0DF389AF0D80}"/>
    <dgm:cxn modelId="{2C1511EC-5502-0342-9FDE-0DEFCD68DDFE}" srcId="{48D67D68-260E-4A78-8AD5-B5E3070B92D1}" destId="{37EE9C68-60B8-45EE-A770-207B6F109359}" srcOrd="2" destOrd="0" parTransId="{93775D9B-9ACC-478F-B00E-C81574AFCB14}" sibTransId="{C37FA843-2B8F-497D-B912-5A8441B557C2}"/>
    <dgm:cxn modelId="{A5E46E56-EFA8-444E-90E2-33E3CE336EBB}" type="presParOf" srcId="{431FA47C-421A-4370-9821-5AD87479656E}" destId="{583E97E5-6DAF-4624-973B-E069E0219617}" srcOrd="0" destOrd="0" presId="urn:microsoft.com/office/officeart/2005/8/layout/hChevron3"/>
    <dgm:cxn modelId="{CD7334F5-EB62-0844-BE15-A28D4D495A03}" type="presParOf" srcId="{431FA47C-421A-4370-9821-5AD87479656E}" destId="{B605C717-E615-47BE-8D40-D12685AC6363}" srcOrd="1" destOrd="0" presId="urn:microsoft.com/office/officeart/2005/8/layout/hChevron3"/>
    <dgm:cxn modelId="{F13DF610-3128-A440-8A74-DF614C4E220F}" type="presParOf" srcId="{431FA47C-421A-4370-9821-5AD87479656E}" destId="{A435AFA9-12D2-43A8-8EDF-2FB7C3762071}" srcOrd="2" destOrd="0" presId="urn:microsoft.com/office/officeart/2005/8/layout/hChevron3"/>
    <dgm:cxn modelId="{61037236-5F44-2941-AEC3-B6C3B510F993}" type="presParOf" srcId="{431FA47C-421A-4370-9821-5AD87479656E}" destId="{E01AEF5E-7FC5-42DB-B4ED-8AB2487153B6}" srcOrd="3" destOrd="0" presId="urn:microsoft.com/office/officeart/2005/8/layout/hChevron3"/>
    <dgm:cxn modelId="{67AD8C86-DB1B-7C4D-895C-29EDEA111723}" type="presParOf" srcId="{431FA47C-421A-4370-9821-5AD87479656E}" destId="{0467B890-6F8D-43A5-9E64-CE4C05A02BD2}" srcOrd="4" destOrd="0" presId="urn:microsoft.com/office/officeart/2005/8/layout/hChevron3"/>
    <dgm:cxn modelId="{51C35DC1-60DE-894B-A07F-E83B571056B1}" type="presParOf" srcId="{431FA47C-421A-4370-9821-5AD87479656E}" destId="{2BCCEE30-8D34-4170-B1B9-BB525152F8B6}" srcOrd="5" destOrd="0" presId="urn:microsoft.com/office/officeart/2005/8/layout/hChevron3"/>
    <dgm:cxn modelId="{A30EE4B1-3EEC-5142-80C1-902E738FFB6D}" type="presParOf" srcId="{431FA47C-421A-4370-9821-5AD87479656E}" destId="{33355D05-3FD4-4302-A3E7-3E2D4595969A}" srcOrd="6" destOrd="0" presId="urn:microsoft.com/office/officeart/2005/8/layout/hChevron3"/>
    <dgm:cxn modelId="{8581C08B-2C87-294B-A50F-683FE4F5627E}" type="presParOf" srcId="{431FA47C-421A-4370-9821-5AD87479656E}" destId="{A76D466F-F8DE-4133-B0CC-69AD34DBB562}" srcOrd="7" destOrd="0" presId="urn:microsoft.com/office/officeart/2005/8/layout/hChevron3"/>
    <dgm:cxn modelId="{C08FDF3C-13AB-294E-85AE-DCA7C39472E1}" type="presParOf" srcId="{431FA47C-421A-4370-9821-5AD87479656E}" destId="{479FF84B-E0D9-47EE-B092-88491633CADD}" srcOrd="8"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12F7CD-A62A-4BB3-92F0-1104CFCEA451}">
      <dsp:nvSpPr>
        <dsp:cNvPr id="0" name=""/>
        <dsp:cNvSpPr/>
      </dsp:nvSpPr>
      <dsp:spPr>
        <a:xfrm>
          <a:off x="1348058" y="1343"/>
          <a:ext cx="922262" cy="59947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en-US" sz="1100" b="0" kern="1200">
              <a:latin typeface="Arial" panose="020B0604020202020204"/>
            </a:rPr>
            <a:t>Agility </a:t>
          </a:r>
          <a:endParaRPr lang="en-US" sz="1100" b="0" kern="1200"/>
        </a:p>
      </dsp:txBody>
      <dsp:txXfrm>
        <a:off x="1377322" y="30607"/>
        <a:ext cx="863734" cy="540942"/>
      </dsp:txXfrm>
    </dsp:sp>
    <dsp:sp modelId="{86F3AD0F-8783-4AB7-A848-615793932683}">
      <dsp:nvSpPr>
        <dsp:cNvPr id="0" name=""/>
        <dsp:cNvSpPr/>
      </dsp:nvSpPr>
      <dsp:spPr>
        <a:xfrm>
          <a:off x="609678" y="301078"/>
          <a:ext cx="2399022" cy="2399022"/>
        </a:xfrm>
        <a:custGeom>
          <a:avLst/>
          <a:gdLst/>
          <a:ahLst/>
          <a:cxnLst/>
          <a:rect l="0" t="0" r="0" b="0"/>
          <a:pathLst>
            <a:path>
              <a:moveTo>
                <a:pt x="1667001" y="94848"/>
              </a:moveTo>
              <a:arcTo wR="1199511" hR="1199511" stAng="17576276" swAng="1965182"/>
            </a:path>
          </a:pathLst>
        </a:custGeom>
        <a:noFill/>
        <a:ln w="635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453FB4C-32C7-48A0-8666-A3BE31AE7EF4}">
      <dsp:nvSpPr>
        <dsp:cNvPr id="0" name=""/>
        <dsp:cNvSpPr/>
      </dsp:nvSpPr>
      <dsp:spPr>
        <a:xfrm>
          <a:off x="2488861" y="830185"/>
          <a:ext cx="922262" cy="59947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0" kern="1200">
              <a:latin typeface="Arial" panose="020B0604020202020204"/>
            </a:rPr>
            <a:t>Resilience</a:t>
          </a:r>
          <a:endParaRPr lang="en-US" sz="1100" b="0" kern="1200"/>
        </a:p>
      </dsp:txBody>
      <dsp:txXfrm>
        <a:off x="2518125" y="859449"/>
        <a:ext cx="863734" cy="540942"/>
      </dsp:txXfrm>
    </dsp:sp>
    <dsp:sp modelId="{C3FFE0B8-9423-4C1B-8E7F-5F6D887A54F1}">
      <dsp:nvSpPr>
        <dsp:cNvPr id="0" name=""/>
        <dsp:cNvSpPr/>
      </dsp:nvSpPr>
      <dsp:spPr>
        <a:xfrm>
          <a:off x="609678" y="301078"/>
          <a:ext cx="2399022" cy="2399022"/>
        </a:xfrm>
        <a:custGeom>
          <a:avLst/>
          <a:gdLst/>
          <a:ahLst/>
          <a:cxnLst/>
          <a:rect l="0" t="0" r="0" b="0"/>
          <a:pathLst>
            <a:path>
              <a:moveTo>
                <a:pt x="2397353" y="1136254"/>
              </a:moveTo>
              <a:arcTo wR="1199511" hR="1199511" stAng="21418623" swAng="2199104"/>
            </a:path>
          </a:pathLst>
        </a:custGeom>
        <a:noFill/>
        <a:ln w="635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48BFF20-8F6B-4365-9131-2837AD6DD5D8}">
      <dsp:nvSpPr>
        <dsp:cNvPr id="0" name=""/>
        <dsp:cNvSpPr/>
      </dsp:nvSpPr>
      <dsp:spPr>
        <a:xfrm>
          <a:off x="2053113" y="2171279"/>
          <a:ext cx="922262" cy="59947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en-US" sz="1100" b="0" kern="1200">
              <a:latin typeface="Arial" panose="020B0604020202020204"/>
            </a:rPr>
            <a:t>Compliance &amp; Security</a:t>
          </a:r>
          <a:endParaRPr lang="en-US" sz="1100" b="0" kern="1200"/>
        </a:p>
      </dsp:txBody>
      <dsp:txXfrm>
        <a:off x="2082377" y="2200543"/>
        <a:ext cx="863734" cy="540942"/>
      </dsp:txXfrm>
    </dsp:sp>
    <dsp:sp modelId="{73A313AC-4557-4CF6-94EE-743397B97E45}">
      <dsp:nvSpPr>
        <dsp:cNvPr id="0" name=""/>
        <dsp:cNvSpPr/>
      </dsp:nvSpPr>
      <dsp:spPr>
        <a:xfrm>
          <a:off x="609678" y="301078"/>
          <a:ext cx="2399022" cy="2399022"/>
        </a:xfrm>
        <a:custGeom>
          <a:avLst/>
          <a:gdLst/>
          <a:ahLst/>
          <a:cxnLst/>
          <a:rect l="0" t="0" r="0" b="0"/>
          <a:pathLst>
            <a:path>
              <a:moveTo>
                <a:pt x="1438656" y="2374941"/>
              </a:moveTo>
              <a:arcTo wR="1199511" hR="1199511" stAng="4709997" swAng="1380006"/>
            </a:path>
          </a:pathLst>
        </a:custGeom>
        <a:noFill/>
        <a:ln w="635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3A05672-6DAE-4942-B62E-2CA4D4B41CB3}">
      <dsp:nvSpPr>
        <dsp:cNvPr id="0" name=""/>
        <dsp:cNvSpPr/>
      </dsp:nvSpPr>
      <dsp:spPr>
        <a:xfrm>
          <a:off x="643003" y="2171279"/>
          <a:ext cx="922262" cy="59947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en-US" sz="1100" b="0" kern="1200">
              <a:latin typeface="Arial" panose="020B0604020202020204"/>
            </a:rPr>
            <a:t>Customer Experience</a:t>
          </a:r>
          <a:endParaRPr lang="en-US" sz="1100" b="0" kern="1200"/>
        </a:p>
      </dsp:txBody>
      <dsp:txXfrm>
        <a:off x="672267" y="2200543"/>
        <a:ext cx="863734" cy="540942"/>
      </dsp:txXfrm>
    </dsp:sp>
    <dsp:sp modelId="{D68D9E6A-620A-4139-AA55-7E81397DABE9}">
      <dsp:nvSpPr>
        <dsp:cNvPr id="0" name=""/>
        <dsp:cNvSpPr/>
      </dsp:nvSpPr>
      <dsp:spPr>
        <a:xfrm>
          <a:off x="609678" y="301078"/>
          <a:ext cx="2399022" cy="2399022"/>
        </a:xfrm>
        <a:custGeom>
          <a:avLst/>
          <a:gdLst/>
          <a:ahLst/>
          <a:cxnLst/>
          <a:rect l="0" t="0" r="0" b="0"/>
          <a:pathLst>
            <a:path>
              <a:moveTo>
                <a:pt x="200746" y="1863812"/>
              </a:moveTo>
              <a:arcTo wR="1199511" hR="1199511" stAng="8782273" swAng="2199104"/>
            </a:path>
          </a:pathLst>
        </a:custGeom>
        <a:noFill/>
        <a:ln w="635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ABDFF02-0FD3-4AA9-9A59-6B12B223EF3E}">
      <dsp:nvSpPr>
        <dsp:cNvPr id="0" name=""/>
        <dsp:cNvSpPr/>
      </dsp:nvSpPr>
      <dsp:spPr>
        <a:xfrm>
          <a:off x="207255" y="830185"/>
          <a:ext cx="922262" cy="59947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en-US" sz="1100" b="0" kern="1200">
              <a:latin typeface="Arial" panose="020B0604020202020204"/>
            </a:rPr>
            <a:t>Cost Optimization</a:t>
          </a:r>
          <a:endParaRPr lang="en-US" sz="1100" b="0" kern="1200"/>
        </a:p>
      </dsp:txBody>
      <dsp:txXfrm>
        <a:off x="236519" y="859449"/>
        <a:ext cx="863734" cy="540942"/>
      </dsp:txXfrm>
    </dsp:sp>
    <dsp:sp modelId="{525700EF-8480-4B6E-8C7A-A6B594088B3B}">
      <dsp:nvSpPr>
        <dsp:cNvPr id="0" name=""/>
        <dsp:cNvSpPr/>
      </dsp:nvSpPr>
      <dsp:spPr>
        <a:xfrm>
          <a:off x="609678" y="301078"/>
          <a:ext cx="2399022" cy="2399022"/>
        </a:xfrm>
        <a:custGeom>
          <a:avLst/>
          <a:gdLst/>
          <a:ahLst/>
          <a:cxnLst/>
          <a:rect l="0" t="0" r="0" b="0"/>
          <a:pathLst>
            <a:path>
              <a:moveTo>
                <a:pt x="208703" y="523399"/>
              </a:moveTo>
              <a:arcTo wR="1199511" hR="1199511" stAng="12858542" swAng="1965182"/>
            </a:path>
          </a:pathLst>
        </a:custGeom>
        <a:noFill/>
        <a:ln w="635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358316-6849-4453-B95A-26DB86990C90}">
      <dsp:nvSpPr>
        <dsp:cNvPr id="0" name=""/>
        <dsp:cNvSpPr/>
      </dsp:nvSpPr>
      <dsp:spPr>
        <a:xfrm>
          <a:off x="1119" y="0"/>
          <a:ext cx="2182482" cy="437370"/>
        </a:xfrm>
        <a:prstGeom prst="homePlate">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4676" tIns="37338" rIns="18669" bIns="37338" numCol="1" spcCol="1270" anchor="ctr" anchorCtr="0">
          <a:noAutofit/>
        </a:bodyPr>
        <a:lstStyle/>
        <a:p>
          <a:pPr marL="0" lvl="0" indent="0" algn="ctr" defTabSz="622300" rtl="0">
            <a:lnSpc>
              <a:spcPct val="90000"/>
            </a:lnSpc>
            <a:spcBef>
              <a:spcPct val="0"/>
            </a:spcBef>
            <a:spcAft>
              <a:spcPct val="35000"/>
            </a:spcAft>
            <a:buNone/>
          </a:pPr>
          <a:r>
            <a:rPr lang="en-US" sz="1400" b="1" kern="1200">
              <a:solidFill>
                <a:schemeClr val="bg1"/>
              </a:solidFill>
              <a:latin typeface="Arial"/>
              <a:ea typeface="Calibri"/>
              <a:cs typeface="Calibri"/>
            </a:rPr>
            <a:t>Planning</a:t>
          </a:r>
        </a:p>
      </dsp:txBody>
      <dsp:txXfrm>
        <a:off x="1119" y="0"/>
        <a:ext cx="2073140" cy="437370"/>
      </dsp:txXfrm>
    </dsp:sp>
    <dsp:sp modelId="{CD762BA7-C69B-461D-980F-D7E91691C1DA}">
      <dsp:nvSpPr>
        <dsp:cNvPr id="0" name=""/>
        <dsp:cNvSpPr/>
      </dsp:nvSpPr>
      <dsp:spPr>
        <a:xfrm>
          <a:off x="1747105" y="0"/>
          <a:ext cx="2182482" cy="437370"/>
        </a:xfrm>
        <a:prstGeom prst="chevron">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US" sz="1400" b="1" kern="1200">
              <a:solidFill>
                <a:schemeClr val="bg1"/>
              </a:solidFill>
              <a:latin typeface="Arial"/>
              <a:ea typeface="Calibri"/>
              <a:cs typeface="Calibri"/>
            </a:rPr>
            <a:t>Provisioning</a:t>
          </a:r>
        </a:p>
      </dsp:txBody>
      <dsp:txXfrm>
        <a:off x="1965790" y="0"/>
        <a:ext cx="1745112" cy="437370"/>
      </dsp:txXfrm>
    </dsp:sp>
    <dsp:sp modelId="{9FEE56FF-A373-4F3C-B9F0-D43886188BEA}">
      <dsp:nvSpPr>
        <dsp:cNvPr id="0" name=""/>
        <dsp:cNvSpPr/>
      </dsp:nvSpPr>
      <dsp:spPr>
        <a:xfrm>
          <a:off x="3493092" y="0"/>
          <a:ext cx="2182482" cy="437370"/>
        </a:xfrm>
        <a:prstGeom prst="chevron">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US" sz="1400" b="1" kern="1200">
              <a:solidFill>
                <a:schemeClr val="bg1"/>
              </a:solidFill>
              <a:latin typeface="Arial"/>
              <a:ea typeface="Calibri"/>
              <a:cs typeface="Calibri"/>
            </a:rPr>
            <a:t>Operations</a:t>
          </a:r>
        </a:p>
      </dsp:txBody>
      <dsp:txXfrm>
        <a:off x="3711777" y="0"/>
        <a:ext cx="1745112" cy="437370"/>
      </dsp:txXfrm>
    </dsp:sp>
    <dsp:sp modelId="{BF1EAB52-30AB-496C-A8BF-B4EC33E72BD3}">
      <dsp:nvSpPr>
        <dsp:cNvPr id="0" name=""/>
        <dsp:cNvSpPr/>
      </dsp:nvSpPr>
      <dsp:spPr>
        <a:xfrm>
          <a:off x="5239078" y="0"/>
          <a:ext cx="2182482" cy="437370"/>
        </a:xfrm>
        <a:prstGeom prst="chevron">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US" sz="1400" b="1" kern="1200">
              <a:solidFill>
                <a:schemeClr val="bg1"/>
              </a:solidFill>
              <a:latin typeface="Arial"/>
              <a:ea typeface="Calibri"/>
              <a:cs typeface="Calibri"/>
            </a:rPr>
            <a:t>Optimization</a:t>
          </a:r>
        </a:p>
      </dsp:txBody>
      <dsp:txXfrm>
        <a:off x="5457763" y="0"/>
        <a:ext cx="1745112" cy="437370"/>
      </dsp:txXfrm>
    </dsp:sp>
    <dsp:sp modelId="{110B8747-4FA4-4234-9357-AB731440A8B6}">
      <dsp:nvSpPr>
        <dsp:cNvPr id="0" name=""/>
        <dsp:cNvSpPr/>
      </dsp:nvSpPr>
      <dsp:spPr>
        <a:xfrm>
          <a:off x="6985064" y="0"/>
          <a:ext cx="2182482" cy="437370"/>
        </a:xfrm>
        <a:prstGeom prst="chevron">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US" sz="1400" b="1" kern="1200">
              <a:solidFill>
                <a:schemeClr val="bg1"/>
              </a:solidFill>
              <a:latin typeface="Arial"/>
              <a:ea typeface="Calibri"/>
              <a:cs typeface="Calibri"/>
            </a:rPr>
            <a:t>Decommission</a:t>
          </a:r>
        </a:p>
      </dsp:txBody>
      <dsp:txXfrm>
        <a:off x="7203749" y="0"/>
        <a:ext cx="1745112" cy="4373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3E97E5-6DAF-4624-973B-E069E0219617}">
      <dsp:nvSpPr>
        <dsp:cNvPr id="0" name=""/>
        <dsp:cNvSpPr/>
      </dsp:nvSpPr>
      <dsp:spPr>
        <a:xfrm>
          <a:off x="1338" y="0"/>
          <a:ext cx="2611003" cy="458138"/>
        </a:xfrm>
        <a:prstGeom prst="homePlate">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9342" tIns="34671" rIns="17336" bIns="34671" numCol="1" spcCol="1270" anchor="ctr" anchorCtr="0">
          <a:noAutofit/>
        </a:bodyPr>
        <a:lstStyle/>
        <a:p>
          <a:pPr marL="0" lvl="0" indent="0" algn="ctr" defTabSz="577850" rtl="0">
            <a:lnSpc>
              <a:spcPct val="90000"/>
            </a:lnSpc>
            <a:spcBef>
              <a:spcPct val="0"/>
            </a:spcBef>
            <a:spcAft>
              <a:spcPct val="35000"/>
            </a:spcAft>
            <a:buNone/>
          </a:pPr>
          <a:r>
            <a:rPr lang="en-US" sz="1300" b="0" kern="1200">
              <a:latin typeface="Calibri"/>
              <a:ea typeface="Calibri"/>
              <a:cs typeface="Calibri"/>
            </a:rPr>
            <a:t>Business Request</a:t>
          </a:r>
        </a:p>
      </dsp:txBody>
      <dsp:txXfrm>
        <a:off x="1338" y="0"/>
        <a:ext cx="2496469" cy="458138"/>
      </dsp:txXfrm>
    </dsp:sp>
    <dsp:sp modelId="{A435AFA9-12D2-43A8-8EDF-2FB7C3762071}">
      <dsp:nvSpPr>
        <dsp:cNvPr id="0" name=""/>
        <dsp:cNvSpPr/>
      </dsp:nvSpPr>
      <dsp:spPr>
        <a:xfrm>
          <a:off x="2090141" y="0"/>
          <a:ext cx="2611003" cy="458138"/>
        </a:xfrm>
        <a:prstGeom prst="chevron">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b="0" kern="1200">
              <a:latin typeface="Calibri"/>
              <a:ea typeface="Calibri"/>
              <a:cs typeface="Calibri"/>
            </a:rPr>
            <a:t>Automated Provisioning in Azure/AWS</a:t>
          </a:r>
        </a:p>
      </dsp:txBody>
      <dsp:txXfrm>
        <a:off x="2319210" y="0"/>
        <a:ext cx="2152865" cy="458138"/>
      </dsp:txXfrm>
    </dsp:sp>
    <dsp:sp modelId="{0467B890-6F8D-43A5-9E64-CE4C05A02BD2}">
      <dsp:nvSpPr>
        <dsp:cNvPr id="0" name=""/>
        <dsp:cNvSpPr/>
      </dsp:nvSpPr>
      <dsp:spPr>
        <a:xfrm>
          <a:off x="4178944" y="0"/>
          <a:ext cx="2611003" cy="458138"/>
        </a:xfrm>
        <a:prstGeom prst="chevron">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b="0" kern="1200">
              <a:latin typeface="Calibri"/>
              <a:ea typeface="Calibri"/>
              <a:cs typeface="Calibri"/>
            </a:rPr>
            <a:t>Secure Operations</a:t>
          </a:r>
        </a:p>
      </dsp:txBody>
      <dsp:txXfrm>
        <a:off x="4408013" y="0"/>
        <a:ext cx="2152865" cy="458138"/>
      </dsp:txXfrm>
    </dsp:sp>
    <dsp:sp modelId="{33355D05-3FD4-4302-A3E7-3E2D4595969A}">
      <dsp:nvSpPr>
        <dsp:cNvPr id="0" name=""/>
        <dsp:cNvSpPr/>
      </dsp:nvSpPr>
      <dsp:spPr>
        <a:xfrm>
          <a:off x="6267747" y="0"/>
          <a:ext cx="2611003" cy="458138"/>
        </a:xfrm>
        <a:prstGeom prst="chevron">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b="0" kern="1200">
              <a:latin typeface="Calibri"/>
              <a:ea typeface="Calibri"/>
              <a:cs typeface="Calibri"/>
            </a:rPr>
            <a:t>Continuous Optimization</a:t>
          </a:r>
        </a:p>
      </dsp:txBody>
      <dsp:txXfrm>
        <a:off x="6496816" y="0"/>
        <a:ext cx="2152865" cy="458138"/>
      </dsp:txXfrm>
    </dsp:sp>
    <dsp:sp modelId="{479FF84B-E0D9-47EE-B092-88491633CADD}">
      <dsp:nvSpPr>
        <dsp:cNvPr id="0" name=""/>
        <dsp:cNvSpPr/>
      </dsp:nvSpPr>
      <dsp:spPr>
        <a:xfrm>
          <a:off x="8356549" y="0"/>
          <a:ext cx="2611003" cy="458138"/>
        </a:xfrm>
        <a:prstGeom prst="chevron">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b="0" kern="1200">
              <a:latin typeface="Calibri"/>
              <a:ea typeface="Calibri"/>
              <a:cs typeface="Calibri"/>
            </a:rPr>
            <a:t>Safe retirement of legacy workloads</a:t>
          </a:r>
        </a:p>
      </dsp:txBody>
      <dsp:txXfrm>
        <a:off x="8585618" y="0"/>
        <a:ext cx="2152865" cy="458138"/>
      </dsp:txXfrm>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5088" cy="466116"/>
          </a:xfrm>
          <a:prstGeom prst="rect">
            <a:avLst/>
          </a:prstGeom>
        </p:spPr>
        <p:txBody>
          <a:bodyPr vert="horz" lIns="93104" tIns="46552" rIns="93104" bIns="46552" rtlCol="0"/>
          <a:lstStyle>
            <a:lvl1pPr algn="l">
              <a:defRPr sz="1200"/>
            </a:lvl1pPr>
          </a:lstStyle>
          <a:p>
            <a:endParaRPr lang="en-US"/>
          </a:p>
        </p:txBody>
      </p:sp>
      <p:sp>
        <p:nvSpPr>
          <p:cNvPr id="3" name="Date Placeholder 2"/>
          <p:cNvSpPr>
            <a:spLocks noGrp="1"/>
          </p:cNvSpPr>
          <p:nvPr>
            <p:ph type="dt" idx="1"/>
          </p:nvPr>
        </p:nvSpPr>
        <p:spPr>
          <a:xfrm>
            <a:off x="3967341" y="0"/>
            <a:ext cx="3035088" cy="466116"/>
          </a:xfrm>
          <a:prstGeom prst="rect">
            <a:avLst/>
          </a:prstGeom>
        </p:spPr>
        <p:txBody>
          <a:bodyPr vert="horz" lIns="93104" tIns="46552" rIns="93104" bIns="46552" rtlCol="0"/>
          <a:lstStyle>
            <a:lvl1pPr algn="r">
              <a:defRPr sz="1200"/>
            </a:lvl1pPr>
          </a:lstStyle>
          <a:p>
            <a:fld id="{96DF29BA-0CA2-49C2-976B-1DCB9770595F}" type="datetimeFigureOut">
              <a:rPr lang="en-US" smtClean="0"/>
              <a:t>7/31/2026</a:t>
            </a:fld>
            <a:endParaRPr lang="en-US"/>
          </a:p>
        </p:txBody>
      </p:sp>
      <p:sp>
        <p:nvSpPr>
          <p:cNvPr id="4" name="Slide Image Placeholder 3"/>
          <p:cNvSpPr>
            <a:spLocks noGrp="1" noRot="1" noChangeAspect="1"/>
          </p:cNvSpPr>
          <p:nvPr>
            <p:ph type="sldImg" idx="2"/>
          </p:nvPr>
        </p:nvSpPr>
        <p:spPr>
          <a:xfrm>
            <a:off x="714375" y="1160463"/>
            <a:ext cx="5575300" cy="3136900"/>
          </a:xfrm>
          <a:prstGeom prst="rect">
            <a:avLst/>
          </a:prstGeom>
          <a:noFill/>
          <a:ln w="12700">
            <a:solidFill>
              <a:prstClr val="black"/>
            </a:solidFill>
          </a:ln>
        </p:spPr>
        <p:txBody>
          <a:bodyPr vert="horz" lIns="93104" tIns="46552" rIns="93104" bIns="46552" rtlCol="0" anchor="ctr"/>
          <a:lstStyle/>
          <a:p>
            <a:endParaRPr lang="en-US"/>
          </a:p>
        </p:txBody>
      </p:sp>
      <p:sp>
        <p:nvSpPr>
          <p:cNvPr id="5" name="Notes Placeholder 4"/>
          <p:cNvSpPr>
            <a:spLocks noGrp="1"/>
          </p:cNvSpPr>
          <p:nvPr>
            <p:ph type="body" sz="quarter" idx="3"/>
          </p:nvPr>
        </p:nvSpPr>
        <p:spPr>
          <a:xfrm>
            <a:off x="700405" y="4470837"/>
            <a:ext cx="5603240" cy="3657957"/>
          </a:xfrm>
          <a:prstGeom prst="rect">
            <a:avLst/>
          </a:prstGeom>
        </p:spPr>
        <p:txBody>
          <a:bodyPr vert="horz" lIns="93104" tIns="46552" rIns="93104" bIns="4655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3936"/>
            <a:ext cx="3035088" cy="466115"/>
          </a:xfrm>
          <a:prstGeom prst="rect">
            <a:avLst/>
          </a:prstGeom>
        </p:spPr>
        <p:txBody>
          <a:bodyPr vert="horz" lIns="93104" tIns="46552" rIns="93104" bIns="46552" rtlCol="0" anchor="b"/>
          <a:lstStyle>
            <a:lvl1pPr algn="l">
              <a:defRPr sz="1200"/>
            </a:lvl1pPr>
          </a:lstStyle>
          <a:p>
            <a:endParaRPr lang="en-US"/>
          </a:p>
        </p:txBody>
      </p:sp>
      <p:sp>
        <p:nvSpPr>
          <p:cNvPr id="7" name="Slide Number Placeholder 6"/>
          <p:cNvSpPr>
            <a:spLocks noGrp="1"/>
          </p:cNvSpPr>
          <p:nvPr>
            <p:ph type="sldNum" sz="quarter" idx="5"/>
          </p:nvPr>
        </p:nvSpPr>
        <p:spPr>
          <a:xfrm>
            <a:off x="3967341" y="8823936"/>
            <a:ext cx="3035088" cy="466115"/>
          </a:xfrm>
          <a:prstGeom prst="rect">
            <a:avLst/>
          </a:prstGeom>
        </p:spPr>
        <p:txBody>
          <a:bodyPr vert="horz" lIns="93104" tIns="46552" rIns="93104" bIns="46552" rtlCol="0" anchor="b"/>
          <a:lstStyle>
            <a:lvl1pPr algn="r">
              <a:defRPr sz="1200"/>
            </a:lvl1pPr>
          </a:lstStyle>
          <a:p>
            <a:fld id="{0992D678-824D-4B52-AB7F-FB5175FA13D5}" type="slidenum">
              <a:rPr lang="en-US" smtClean="0"/>
              <a:t>‹#›</a:t>
            </a:fld>
            <a:endParaRPr lang="en-US"/>
          </a:p>
        </p:txBody>
      </p:sp>
    </p:spTree>
    <p:extLst>
      <p:ext uri="{BB962C8B-B14F-4D97-AF65-F5344CB8AC3E}">
        <p14:creationId xmlns:p14="http://schemas.microsoft.com/office/powerpoint/2010/main" val="56622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92D678-824D-4B52-AB7F-FB5175FA13D5}" type="slidenum">
              <a:rPr lang="en-US" smtClean="0"/>
              <a:t>15</a:t>
            </a:fld>
            <a:endParaRPr lang="en-US"/>
          </a:p>
        </p:txBody>
      </p:sp>
    </p:spTree>
    <p:extLst>
      <p:ext uri="{BB962C8B-B14F-4D97-AF65-F5344CB8AC3E}">
        <p14:creationId xmlns:p14="http://schemas.microsoft.com/office/powerpoint/2010/main" val="4042435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FA225-EA5A-24F4-0955-279490D768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54302-5103-1442-DCFF-1D36B0884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0CBF87-FA4F-49A0-0682-C256EDC281E1}"/>
              </a:ext>
            </a:extLst>
          </p:cNvPr>
          <p:cNvSpPr>
            <a:spLocks noGrp="1"/>
          </p:cNvSpPr>
          <p:nvPr>
            <p:ph type="body" idx="1"/>
          </p:nvPr>
        </p:nvSpPr>
        <p:spPr/>
        <p:txBody>
          <a:bodyPr/>
          <a:lstStyle/>
          <a:p>
            <a:r>
              <a:rPr lang="en-US" err="1">
                <a:latin typeface="Calibri"/>
                <a:ea typeface="Calibri"/>
                <a:cs typeface="Calibri"/>
              </a:rPr>
              <a:t>Catagories</a:t>
            </a:r>
          </a:p>
          <a:p>
            <a:pPr marL="171450" indent="-171450">
              <a:buFont typeface="Calibri"/>
              <a:buChar char="-"/>
            </a:pPr>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D7943623-226E-0B72-1E66-7EDA1226F5B8}"/>
              </a:ext>
            </a:extLst>
          </p:cNvPr>
          <p:cNvSpPr>
            <a:spLocks noGrp="1"/>
          </p:cNvSpPr>
          <p:nvPr>
            <p:ph type="sldNum" sz="quarter" idx="5"/>
          </p:nvPr>
        </p:nvSpPr>
        <p:spPr/>
        <p:txBody>
          <a:bodyPr/>
          <a:lstStyle/>
          <a:p>
            <a:fld id="{0992D678-824D-4B52-AB7F-FB5175FA13D5}" type="slidenum">
              <a:rPr lang="en-US" smtClean="0"/>
              <a:t>16</a:t>
            </a:fld>
            <a:endParaRPr lang="en-US"/>
          </a:p>
        </p:txBody>
      </p:sp>
    </p:spTree>
    <p:extLst>
      <p:ext uri="{BB962C8B-B14F-4D97-AF65-F5344CB8AC3E}">
        <p14:creationId xmlns:p14="http://schemas.microsoft.com/office/powerpoint/2010/main" val="39022564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6899C-7B8E-74A2-8976-48D96ABBDD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F28E4C-D103-AD4A-27A0-8552FB6F84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1A7C6-C440-544F-D8BB-67D930BB2D62}"/>
              </a:ext>
            </a:extLst>
          </p:cNvPr>
          <p:cNvSpPr>
            <a:spLocks noGrp="1"/>
          </p:cNvSpPr>
          <p:nvPr>
            <p:ph type="body" idx="1"/>
          </p:nvPr>
        </p:nvSpPr>
        <p:spPr/>
        <p:txBody>
          <a:bodyPr/>
          <a:lstStyle/>
          <a:p>
            <a:r>
              <a:rPr lang="en-US" err="1">
                <a:latin typeface="Calibri"/>
                <a:ea typeface="Calibri"/>
                <a:cs typeface="Calibri"/>
              </a:rPr>
              <a:t>Catagories</a:t>
            </a:r>
          </a:p>
          <a:p>
            <a:pPr marL="171450" indent="-171450">
              <a:buFont typeface="Calibri"/>
              <a:buChar char="-"/>
            </a:pPr>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356D9675-BF90-F673-6079-882B03A61AAA}"/>
              </a:ext>
            </a:extLst>
          </p:cNvPr>
          <p:cNvSpPr>
            <a:spLocks noGrp="1"/>
          </p:cNvSpPr>
          <p:nvPr>
            <p:ph type="sldNum" sz="quarter" idx="5"/>
          </p:nvPr>
        </p:nvSpPr>
        <p:spPr/>
        <p:txBody>
          <a:bodyPr/>
          <a:lstStyle/>
          <a:p>
            <a:fld id="{0992D678-824D-4B52-AB7F-FB5175FA13D5}" type="slidenum">
              <a:rPr lang="en-US" smtClean="0"/>
              <a:t>18</a:t>
            </a:fld>
            <a:endParaRPr lang="en-US"/>
          </a:p>
        </p:txBody>
      </p:sp>
    </p:spTree>
    <p:extLst>
      <p:ext uri="{BB962C8B-B14F-4D97-AF65-F5344CB8AC3E}">
        <p14:creationId xmlns:p14="http://schemas.microsoft.com/office/powerpoint/2010/main" val="19954413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4.emf"/><Relationship Id="rId5" Type="http://schemas.openxmlformats.org/officeDocument/2006/relationships/oleObject" Target="../embeddings/oleObject4.bin"/><Relationship Id="rId4"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32.xml"/><Relationship Id="rId7" Type="http://schemas.openxmlformats.org/officeDocument/2006/relationships/oleObject" Target="../embeddings/oleObject4.bin"/><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Master" Target="../slideMasters/slideMaster3.xml"/><Relationship Id="rId5" Type="http://schemas.openxmlformats.org/officeDocument/2006/relationships/tags" Target="../tags/tag34.xml"/><Relationship Id="rId4" Type="http://schemas.openxmlformats.org/officeDocument/2006/relationships/tags" Target="../tags/tag33.xml"/><Relationship Id="rId9"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tags" Target="../tags/tag37.xml"/><Relationship Id="rId7" Type="http://schemas.openxmlformats.org/officeDocument/2006/relationships/slideMaster" Target="../slideMasters/slideMaster3.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9"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43.xml"/><Relationship Id="rId7" Type="http://schemas.openxmlformats.org/officeDocument/2006/relationships/slideMaster" Target="../slideMasters/slideMaster3.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9"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49.xml"/><Relationship Id="rId7" Type="http://schemas.openxmlformats.org/officeDocument/2006/relationships/oleObject" Target="../embeddings/oleObject4.bin"/><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slideMaster" Target="../slideMasters/slideMaster3.xml"/><Relationship Id="rId5" Type="http://schemas.openxmlformats.org/officeDocument/2006/relationships/tags" Target="../tags/tag51.xml"/><Relationship Id="rId4" Type="http://schemas.openxmlformats.org/officeDocument/2006/relationships/tags" Target="../tags/tag50.xml"/></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54.xml"/><Relationship Id="rId7" Type="http://schemas.openxmlformats.org/officeDocument/2006/relationships/oleObject" Target="../embeddings/oleObject7.bin"/><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slideMaster" Target="../slideMasters/slideMaster3.xml"/><Relationship Id="rId5" Type="http://schemas.openxmlformats.org/officeDocument/2006/relationships/tags" Target="../tags/tag56.xml"/><Relationship Id="rId4" Type="http://schemas.openxmlformats.org/officeDocument/2006/relationships/tags" Target="../tags/tag55.xml"/></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59.xml"/><Relationship Id="rId7" Type="http://schemas.openxmlformats.org/officeDocument/2006/relationships/oleObject" Target="../embeddings/oleObject4.bin"/><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slideMaster" Target="../slideMasters/slideMaster3.xml"/><Relationship Id="rId5" Type="http://schemas.openxmlformats.org/officeDocument/2006/relationships/tags" Target="../tags/tag61.xml"/><Relationship Id="rId4" Type="http://schemas.openxmlformats.org/officeDocument/2006/relationships/tags" Target="../tags/tag60.xml"/></Relationships>
</file>

<file path=ppt/slideLayouts/_rels/slideLayout21.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tags" Target="../tags/tag64.xml"/><Relationship Id="rId7" Type="http://schemas.openxmlformats.org/officeDocument/2006/relationships/slideMaster" Target="../slideMasters/slideMaster3.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9" Type="http://schemas.openxmlformats.org/officeDocument/2006/relationships/image" Target="../media/image2.emf"/></Relationships>
</file>

<file path=ppt/slideLayouts/_rels/slideLayout22.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70.xml"/><Relationship Id="rId7" Type="http://schemas.openxmlformats.org/officeDocument/2006/relationships/tags" Target="../tags/tag74.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image" Target="../media/image3.emf"/><Relationship Id="rId5" Type="http://schemas.openxmlformats.org/officeDocument/2006/relationships/tags" Target="../tags/tag72.xml"/><Relationship Id="rId10" Type="http://schemas.openxmlformats.org/officeDocument/2006/relationships/image" Target="../media/image4.emf"/><Relationship Id="rId4" Type="http://schemas.openxmlformats.org/officeDocument/2006/relationships/tags" Target="../tags/tag71.xml"/><Relationship Id="rId9" Type="http://schemas.openxmlformats.org/officeDocument/2006/relationships/oleObject" Target="../embeddings/oleObject9.bin"/></Relationships>
</file>

<file path=ppt/slideLayouts/_rels/slideLayout23.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77.xml"/><Relationship Id="rId7" Type="http://schemas.openxmlformats.org/officeDocument/2006/relationships/tags" Target="../tags/tag81.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image" Target="../media/image3.emf"/><Relationship Id="rId5" Type="http://schemas.openxmlformats.org/officeDocument/2006/relationships/tags" Target="../tags/tag79.xml"/><Relationship Id="rId10" Type="http://schemas.openxmlformats.org/officeDocument/2006/relationships/image" Target="../media/image4.emf"/><Relationship Id="rId4" Type="http://schemas.openxmlformats.org/officeDocument/2006/relationships/tags" Target="../tags/tag78.xml"/><Relationship Id="rId9" Type="http://schemas.openxmlformats.org/officeDocument/2006/relationships/oleObject" Target="../embeddings/oleObject10.bin"/></Relationships>
</file>

<file path=ppt/slideLayouts/_rels/slideLayout24.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84.xml"/><Relationship Id="rId7" Type="http://schemas.openxmlformats.org/officeDocument/2006/relationships/tags" Target="../tags/tag88.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image" Target="../media/image3.emf"/><Relationship Id="rId5" Type="http://schemas.openxmlformats.org/officeDocument/2006/relationships/tags" Target="../tags/tag86.xml"/><Relationship Id="rId10" Type="http://schemas.openxmlformats.org/officeDocument/2006/relationships/image" Target="../media/image4.emf"/><Relationship Id="rId4" Type="http://schemas.openxmlformats.org/officeDocument/2006/relationships/tags" Target="../tags/tag85.xml"/><Relationship Id="rId9" Type="http://schemas.openxmlformats.org/officeDocument/2006/relationships/oleObject" Target="../embeddings/oleObject11.bin"/></Relationships>
</file>

<file path=ppt/slideLayouts/_rels/slideLayout25.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91.xml"/><Relationship Id="rId7" Type="http://schemas.openxmlformats.org/officeDocument/2006/relationships/tags" Target="../tags/tag95.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image" Target="../media/image3.emf"/><Relationship Id="rId5" Type="http://schemas.openxmlformats.org/officeDocument/2006/relationships/tags" Target="../tags/tag93.xml"/><Relationship Id="rId10" Type="http://schemas.openxmlformats.org/officeDocument/2006/relationships/image" Target="../media/image5.emf"/><Relationship Id="rId4" Type="http://schemas.openxmlformats.org/officeDocument/2006/relationships/tags" Target="../tags/tag92.xml"/><Relationship Id="rId9" Type="http://schemas.openxmlformats.org/officeDocument/2006/relationships/oleObject" Target="../embeddings/oleObject12.bin"/></Relationships>
</file>

<file path=ppt/slideLayouts/_rels/slideLayout26.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98.xml"/><Relationship Id="rId7" Type="http://schemas.openxmlformats.org/officeDocument/2006/relationships/tags" Target="../tags/tag102.xml"/><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image" Target="../media/image3.emf"/><Relationship Id="rId5" Type="http://schemas.openxmlformats.org/officeDocument/2006/relationships/tags" Target="../tags/tag100.xml"/><Relationship Id="rId10" Type="http://schemas.openxmlformats.org/officeDocument/2006/relationships/image" Target="../media/image4.emf"/><Relationship Id="rId4" Type="http://schemas.openxmlformats.org/officeDocument/2006/relationships/tags" Target="../tags/tag99.xml"/><Relationship Id="rId9" Type="http://schemas.openxmlformats.org/officeDocument/2006/relationships/oleObject" Target="../embeddings/oleObject13.bin"/></Relationships>
</file>

<file path=ppt/slideLayouts/_rels/slideLayout27.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05.xml"/><Relationship Id="rId7" Type="http://schemas.openxmlformats.org/officeDocument/2006/relationships/tags" Target="../tags/tag109.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image" Target="../media/image3.emf"/><Relationship Id="rId5" Type="http://schemas.openxmlformats.org/officeDocument/2006/relationships/tags" Target="../tags/tag107.xml"/><Relationship Id="rId10" Type="http://schemas.openxmlformats.org/officeDocument/2006/relationships/image" Target="../media/image4.emf"/><Relationship Id="rId4" Type="http://schemas.openxmlformats.org/officeDocument/2006/relationships/tags" Target="../tags/tag106.xml"/><Relationship Id="rId9" Type="http://schemas.openxmlformats.org/officeDocument/2006/relationships/oleObject" Target="../embeddings/oleObject14.bin"/></Relationships>
</file>

<file path=ppt/slideLayouts/_rels/slideLayout28.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12.xml"/><Relationship Id="rId7" Type="http://schemas.openxmlformats.org/officeDocument/2006/relationships/tags" Target="../tags/tag116.xml"/><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image" Target="../media/image3.emf"/><Relationship Id="rId5" Type="http://schemas.openxmlformats.org/officeDocument/2006/relationships/tags" Target="../tags/tag114.xml"/><Relationship Id="rId10" Type="http://schemas.openxmlformats.org/officeDocument/2006/relationships/image" Target="../media/image5.emf"/><Relationship Id="rId4" Type="http://schemas.openxmlformats.org/officeDocument/2006/relationships/tags" Target="../tags/tag113.xml"/><Relationship Id="rId9" Type="http://schemas.openxmlformats.org/officeDocument/2006/relationships/oleObject" Target="../embeddings/oleObject15.bin"/></Relationships>
</file>

<file path=ppt/slideLayouts/_rels/slideLayout29.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19.xml"/><Relationship Id="rId7" Type="http://schemas.openxmlformats.org/officeDocument/2006/relationships/tags" Target="../tags/tag123.xml"/><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tags" Target="../tags/tag122.xml"/><Relationship Id="rId11" Type="http://schemas.openxmlformats.org/officeDocument/2006/relationships/image" Target="../media/image3.emf"/><Relationship Id="rId5" Type="http://schemas.openxmlformats.org/officeDocument/2006/relationships/tags" Target="../tags/tag121.xml"/><Relationship Id="rId10" Type="http://schemas.openxmlformats.org/officeDocument/2006/relationships/image" Target="../media/image4.emf"/><Relationship Id="rId4" Type="http://schemas.openxmlformats.org/officeDocument/2006/relationships/tags" Target="../tags/tag120.xml"/><Relationship Id="rId9" Type="http://schemas.openxmlformats.org/officeDocument/2006/relationships/oleObject" Target="../embeddings/oleObject16.bin"/></Relationships>
</file>

<file path=ppt/slideLayouts/_rels/slideLayout30.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26.xml"/><Relationship Id="rId7" Type="http://schemas.openxmlformats.org/officeDocument/2006/relationships/tags" Target="../tags/tag130.xml"/><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tags" Target="../tags/tag129.xml"/><Relationship Id="rId11" Type="http://schemas.openxmlformats.org/officeDocument/2006/relationships/image" Target="../media/image3.emf"/><Relationship Id="rId5" Type="http://schemas.openxmlformats.org/officeDocument/2006/relationships/tags" Target="../tags/tag128.xml"/><Relationship Id="rId10" Type="http://schemas.openxmlformats.org/officeDocument/2006/relationships/image" Target="../media/image4.emf"/><Relationship Id="rId4" Type="http://schemas.openxmlformats.org/officeDocument/2006/relationships/tags" Target="../tags/tag127.xml"/><Relationship Id="rId9" Type="http://schemas.openxmlformats.org/officeDocument/2006/relationships/oleObject" Target="../embeddings/oleObject17.bin"/></Relationships>
</file>

<file path=ppt/slideLayouts/_rels/slideLayout31.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33.xml"/><Relationship Id="rId7" Type="http://schemas.openxmlformats.org/officeDocument/2006/relationships/tags" Target="../tags/tag137.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tags" Target="../tags/tag136.xml"/><Relationship Id="rId11" Type="http://schemas.openxmlformats.org/officeDocument/2006/relationships/image" Target="../media/image3.emf"/><Relationship Id="rId5" Type="http://schemas.openxmlformats.org/officeDocument/2006/relationships/tags" Target="../tags/tag135.xml"/><Relationship Id="rId10" Type="http://schemas.openxmlformats.org/officeDocument/2006/relationships/image" Target="../media/image4.emf"/><Relationship Id="rId4" Type="http://schemas.openxmlformats.org/officeDocument/2006/relationships/tags" Target="../tags/tag134.xml"/><Relationship Id="rId9" Type="http://schemas.openxmlformats.org/officeDocument/2006/relationships/oleObject" Target="../embeddings/oleObject4.bin"/></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140.xml"/><Relationship Id="rId7" Type="http://schemas.openxmlformats.org/officeDocument/2006/relationships/oleObject" Target="../embeddings/oleObject18.bin"/><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slideMaster" Target="../slideMasters/slideMaster3.xml"/><Relationship Id="rId5" Type="http://schemas.openxmlformats.org/officeDocument/2006/relationships/tags" Target="../tags/tag142.xml"/><Relationship Id="rId4" Type="http://schemas.openxmlformats.org/officeDocument/2006/relationships/tags" Target="../tags/tag141.xml"/><Relationship Id="rId9" Type="http://schemas.openxmlformats.org/officeDocument/2006/relationships/image" Target="../media/image3.emf"/></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145.xml"/><Relationship Id="rId7" Type="http://schemas.openxmlformats.org/officeDocument/2006/relationships/image" Target="../media/image3.emf"/><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image" Target="../media/image2.emf"/><Relationship Id="rId5" Type="http://schemas.openxmlformats.org/officeDocument/2006/relationships/oleObject" Target="../embeddings/oleObject19.bin"/><Relationship Id="rId4"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image" Target="../media/image3.emf"/><Relationship Id="rId5" Type="http://schemas.openxmlformats.org/officeDocument/2006/relationships/image" Target="../media/image2.emf"/><Relationship Id="rId4" Type="http://schemas.openxmlformats.org/officeDocument/2006/relationships/oleObject" Target="../embeddings/oleObject20.bin"/></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 Id="rId6" Type="http://schemas.openxmlformats.org/officeDocument/2006/relationships/image" Target="../media/image4.emf"/><Relationship Id="rId5" Type="http://schemas.openxmlformats.org/officeDocument/2006/relationships/oleObject" Target="../embeddings/oleObject22.bin"/><Relationship Id="rId4"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YP Title only">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8A2F35C-CCC5-4796-8DA9-F5D8192CB2D6}"/>
              </a:ext>
            </a:extLst>
          </p:cNvPr>
          <p:cNvGraphicFramePr>
            <a:graphicFrameLocks noChangeAspect="1"/>
          </p:cNvGraphicFramePr>
          <p:nvPr userDrawn="1">
            <p:custDataLst>
              <p:tags r:id="rId1"/>
            </p:custDataLst>
          </p:nvPr>
        </p:nvGraphicFramePr>
        <p:xfrm>
          <a:off x="1587" y="1588"/>
          <a:ext cx="1587" cy="1588"/>
        </p:xfrm>
        <a:graphic>
          <a:graphicData uri="http://schemas.openxmlformats.org/presentationml/2006/ole">
            <mc:AlternateContent xmlns:mc="http://schemas.openxmlformats.org/markup-compatibility/2006">
              <mc:Choice xmlns:v="urn:schemas-microsoft-com:vml" Requires="v">
                <p:oleObj name="think-cell Slide" r:id="rId4" imgW="306" imgH="306" progId="TCLayout.ActiveDocument.1">
                  <p:embed/>
                </p:oleObj>
              </mc:Choice>
              <mc:Fallback>
                <p:oleObj name="think-cell Slide" r:id="rId4" imgW="306" imgH="306" progId="TCLayout.ActiveDocument.1">
                  <p:embed/>
                  <p:pic>
                    <p:nvPicPr>
                      <p:cNvPr id="8" name="Object 7" hidden="1">
                        <a:extLst>
                          <a:ext uri="{FF2B5EF4-FFF2-40B4-BE49-F238E27FC236}">
                            <a16:creationId xmlns:a16="http://schemas.microsoft.com/office/drawing/2014/main" id="{E8A2F35C-CCC5-4796-8DA9-F5D8192CB2D6}"/>
                          </a:ext>
                        </a:extLst>
                      </p:cNvPr>
                      <p:cNvPicPr/>
                      <p:nvPr/>
                    </p:nvPicPr>
                    <p:blipFill>
                      <a:blip r:embed="rId5"/>
                      <a:stretch>
                        <a:fillRect/>
                      </a:stretch>
                    </p:blipFill>
                    <p:spPr>
                      <a:xfrm>
                        <a:off x="1587" y="1588"/>
                        <a:ext cx="1587"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8AA3264E-CB34-4429-9275-D4DC18E9B1E0}"/>
              </a:ext>
            </a:extLst>
          </p:cNvPr>
          <p:cNvSpPr/>
          <p:nvPr userDrawn="1">
            <p:custDataLst>
              <p:tags r:id="rId2"/>
            </p:custDataLst>
          </p:nvPr>
        </p:nvSpPr>
        <p:spPr>
          <a:xfrm>
            <a:off x="0" y="0"/>
            <a:ext cx="158667" cy="158750"/>
          </a:xfrm>
          <a:prstGeom prst="rect">
            <a:avLst/>
          </a:prstGeom>
          <a:solidFill>
            <a:srgbClr val="747480"/>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kumimoji="0" lang="en-US" sz="2199" b="0" i="0" u="none" cap="none" baseline="0">
              <a:solidFill>
                <a:schemeClr val="tx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80" name="Line 10">
            <a:extLst>
              <a:ext uri="{FF2B5EF4-FFF2-40B4-BE49-F238E27FC236}">
                <a16:creationId xmlns:a16="http://schemas.microsoft.com/office/drawing/2014/main" id="{EF8E9275-C0E0-4ABA-8699-73E5E292EC85}"/>
              </a:ext>
            </a:extLst>
          </p:cNvPr>
          <p:cNvSpPr>
            <a:spLocks noChangeShapeType="1"/>
          </p:cNvSpPr>
          <p:nvPr userDrawn="1"/>
        </p:nvSpPr>
        <p:spPr bwMode="auto">
          <a:xfrm>
            <a:off x="609601" y="907750"/>
            <a:ext cx="10974284" cy="0"/>
          </a:xfrm>
          <a:prstGeom prst="line">
            <a:avLst/>
          </a:prstGeom>
          <a:noFill/>
          <a:ln w="19050" cap="flat" cmpd="sng" algn="ctr">
            <a:solidFill>
              <a:srgbClr val="1A9AFA"/>
            </a:solidFill>
            <a:prstDash val="solid"/>
            <a:round/>
            <a:headEnd type="none" w="med" len="med"/>
            <a:tailEnd type="none" w="med" len="me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latin typeface="Arial" panose="020B0604020202020204" pitchFamily="34" charset="0"/>
              <a:sym typeface="Arial" panose="020B0604020202020204" pitchFamily="34" charset="0"/>
            </a:endParaRPr>
          </a:p>
        </p:txBody>
      </p:sp>
      <p:sp>
        <p:nvSpPr>
          <p:cNvPr id="9" name="Title Placeholder 1">
            <a:extLst>
              <a:ext uri="{FF2B5EF4-FFF2-40B4-BE49-F238E27FC236}">
                <a16:creationId xmlns:a16="http://schemas.microsoft.com/office/drawing/2014/main" id="{2A343A82-E9F8-4308-B804-1ABAAE8F4928}"/>
              </a:ext>
            </a:extLst>
          </p:cNvPr>
          <p:cNvSpPr>
            <a:spLocks noGrp="1"/>
          </p:cNvSpPr>
          <p:nvPr>
            <p:ph type="title"/>
          </p:nvPr>
        </p:nvSpPr>
        <p:spPr>
          <a:xfrm>
            <a:off x="609600" y="269600"/>
            <a:ext cx="10974283" cy="590880"/>
          </a:xfrm>
          <a:prstGeom prst="rect">
            <a:avLst/>
          </a:prstGeom>
        </p:spPr>
        <p:txBody>
          <a:bodyPr vert="horz" lIns="0" tIns="0" rIns="0" bIns="0" rtlCol="0" anchor="t" anchorCtr="0">
            <a:noAutofit/>
          </a:bodyPr>
          <a:lstStyle>
            <a:lvl1pPr>
              <a:defRPr>
                <a:solidFill>
                  <a:srgbClr val="2E2E38"/>
                </a:solidFill>
              </a:defRPr>
            </a:lvl1pPr>
          </a:lstStyle>
          <a:p>
            <a:r>
              <a:rPr lang="en-US"/>
              <a:t>Click to edit Master title style</a:t>
            </a:r>
            <a:endParaRPr lang="en-GB"/>
          </a:p>
        </p:txBody>
      </p:sp>
    </p:spTree>
    <p:extLst>
      <p:ext uri="{BB962C8B-B14F-4D97-AF65-F5344CB8AC3E}">
        <p14:creationId xmlns:p14="http://schemas.microsoft.com/office/powerpoint/2010/main" val="3264679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303B1-ED2E-EE47-84F0-7EE03B803B27}"/>
              </a:ext>
            </a:extLst>
          </p:cNvPr>
          <p:cNvSpPr>
            <a:spLocks noGrp="1"/>
          </p:cNvSpPr>
          <p:nvPr>
            <p:ph type="ctrTitle"/>
          </p:nvPr>
        </p:nvSpPr>
        <p:spPr>
          <a:xfrm>
            <a:off x="384048" y="2711195"/>
            <a:ext cx="11420856" cy="2268222"/>
          </a:xfrm>
        </p:spPr>
        <p:txBody>
          <a:bodyPr anchor="t" anchorCtr="0">
            <a:normAutofit/>
          </a:bodyPr>
          <a:lstStyle>
            <a:lvl1pPr algn="l">
              <a:defRPr sz="4400">
                <a:solidFill>
                  <a:schemeClr val="tx1"/>
                </a:solidFill>
              </a:defRPr>
            </a:lvl1pPr>
          </a:lstStyle>
          <a:p>
            <a:r>
              <a:rPr lang="en-US"/>
              <a:t>Click to edit Master title style</a:t>
            </a:r>
            <a:endParaRPr lang="en-CA"/>
          </a:p>
        </p:txBody>
      </p:sp>
      <p:sp>
        <p:nvSpPr>
          <p:cNvPr id="3" name="Subtitle 2">
            <a:extLst>
              <a:ext uri="{FF2B5EF4-FFF2-40B4-BE49-F238E27FC236}">
                <a16:creationId xmlns:a16="http://schemas.microsoft.com/office/drawing/2014/main" id="{3B21E3D5-49CD-FF4C-B5BD-302678C8CBF3}"/>
              </a:ext>
            </a:extLst>
          </p:cNvPr>
          <p:cNvSpPr>
            <a:spLocks noGrp="1"/>
          </p:cNvSpPr>
          <p:nvPr>
            <p:ph type="subTitle" idx="1"/>
          </p:nvPr>
        </p:nvSpPr>
        <p:spPr>
          <a:xfrm>
            <a:off x="384048" y="4980756"/>
            <a:ext cx="11420856" cy="930841"/>
          </a:xfrm>
        </p:spPr>
        <p:txBody>
          <a:bodyPr>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8" name="Date Placeholder 7">
            <a:extLst>
              <a:ext uri="{FF2B5EF4-FFF2-40B4-BE49-F238E27FC236}">
                <a16:creationId xmlns:a16="http://schemas.microsoft.com/office/drawing/2014/main" id="{6A5BF6AB-2D80-4B33-BD00-B219B9E88ACB}"/>
              </a:ext>
            </a:extLst>
          </p:cNvPr>
          <p:cNvSpPr>
            <a:spLocks noGrp="1"/>
          </p:cNvSpPr>
          <p:nvPr>
            <p:ph type="dt" sz="half" idx="10"/>
          </p:nvPr>
        </p:nvSpPr>
        <p:spPr>
          <a:xfrm>
            <a:off x="384048" y="-9144"/>
            <a:ext cx="1371600" cy="1380744"/>
          </a:xfrm>
          <a:prstGeom prst="rect">
            <a:avLst/>
          </a:prstGeom>
          <a:solidFill>
            <a:schemeClr val="tx2"/>
          </a:solidFill>
        </p:spPr>
        <p:txBody>
          <a:bodyPr lIns="109728" rIns="45720" bIns="137160" anchor="b" anchorCtr="0"/>
          <a:lstStyle>
            <a:lvl1pPr algn="l">
              <a:defRPr sz="1000">
                <a:solidFill>
                  <a:schemeClr val="bg1"/>
                </a:solidFill>
              </a:defRPr>
            </a:lvl1pPr>
          </a:lstStyle>
          <a:p>
            <a:endParaRPr lang="en-CA"/>
          </a:p>
        </p:txBody>
      </p:sp>
      <p:sp>
        <p:nvSpPr>
          <p:cNvPr id="9" name="Footer Placeholder 8">
            <a:extLst>
              <a:ext uri="{FF2B5EF4-FFF2-40B4-BE49-F238E27FC236}">
                <a16:creationId xmlns:a16="http://schemas.microsoft.com/office/drawing/2014/main" id="{EE916F14-7935-4AE8-8068-C3EB1FBA7D46}"/>
              </a:ext>
            </a:extLst>
          </p:cNvPr>
          <p:cNvSpPr>
            <a:spLocks noGrp="1"/>
          </p:cNvSpPr>
          <p:nvPr>
            <p:ph type="ftr" sz="quarter" idx="11"/>
          </p:nvPr>
        </p:nvSpPr>
        <p:spPr>
          <a:xfrm>
            <a:off x="381000" y="6515098"/>
            <a:ext cx="9664700" cy="342900"/>
          </a:xfrm>
          <a:prstGeom prst="rect">
            <a:avLst/>
          </a:prstGeom>
        </p:spPr>
        <p:txBody>
          <a:bodyPr/>
          <a:lstStyle/>
          <a:p>
            <a:endParaRPr lang="en-CA"/>
          </a:p>
        </p:txBody>
      </p:sp>
      <p:pic>
        <p:nvPicPr>
          <p:cNvPr id="14" name="Picture 13">
            <a:extLst>
              <a:ext uri="{FF2B5EF4-FFF2-40B4-BE49-F238E27FC236}">
                <a16:creationId xmlns:a16="http://schemas.microsoft.com/office/drawing/2014/main" id="{D30950D2-F01E-9F44-AD9E-7771212C5D9A}"/>
              </a:ext>
            </a:extLst>
          </p:cNvPr>
          <p:cNvPicPr>
            <a:picLocks/>
          </p:cNvPicPr>
          <p:nvPr userDrawn="1"/>
        </p:nvPicPr>
        <p:blipFill>
          <a:blip r:embed="rId2"/>
          <a:stretch>
            <a:fillRect/>
          </a:stretch>
        </p:blipFill>
        <p:spPr>
          <a:xfrm>
            <a:off x="10203942" y="5912934"/>
            <a:ext cx="1600200" cy="602166"/>
          </a:xfrm>
          <a:prstGeom prst="rect">
            <a:avLst/>
          </a:prstGeom>
        </p:spPr>
      </p:pic>
    </p:spTree>
    <p:extLst>
      <p:ext uri="{BB962C8B-B14F-4D97-AF65-F5344CB8AC3E}">
        <p14:creationId xmlns:p14="http://schemas.microsoft.com/office/powerpoint/2010/main" val="3493121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8F241A-25B2-3D41-ADDE-A82C17268E58}"/>
              </a:ext>
            </a:extLst>
          </p:cNvPr>
          <p:cNvSpPr/>
          <p:nvPr userDrawn="1"/>
        </p:nvSpPr>
        <p:spPr>
          <a:xfrm>
            <a:off x="1753114" y="1371600"/>
            <a:ext cx="4544568" cy="454567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endParaRPr lang="en-CA" sz="1350">
              <a:solidFill>
                <a:schemeClr val="bg1"/>
              </a:solidFill>
            </a:endParaRPr>
          </a:p>
        </p:txBody>
      </p:sp>
      <p:sp>
        <p:nvSpPr>
          <p:cNvPr id="2" name="Title 1">
            <a:extLst>
              <a:ext uri="{FF2B5EF4-FFF2-40B4-BE49-F238E27FC236}">
                <a16:creationId xmlns:a16="http://schemas.microsoft.com/office/drawing/2014/main" id="{A84303B1-ED2E-EE47-84F0-7EE03B803B27}"/>
              </a:ext>
            </a:extLst>
          </p:cNvPr>
          <p:cNvSpPr>
            <a:spLocks noGrp="1"/>
          </p:cNvSpPr>
          <p:nvPr>
            <p:ph type="ctrTitle"/>
          </p:nvPr>
        </p:nvSpPr>
        <p:spPr>
          <a:xfrm>
            <a:off x="2186945" y="1676400"/>
            <a:ext cx="3959352" cy="2971800"/>
          </a:xfrm>
          <a:noFill/>
        </p:spPr>
        <p:txBody>
          <a:bodyPr anchor="t" anchorCtr="0">
            <a:normAutofit/>
          </a:bodyPr>
          <a:lstStyle>
            <a:lvl1pPr algn="l">
              <a:defRPr sz="4400">
                <a:solidFill>
                  <a:schemeClr val="tx1"/>
                </a:solidFill>
              </a:defRPr>
            </a:lvl1pPr>
          </a:lstStyle>
          <a:p>
            <a:r>
              <a:rPr lang="en-US"/>
              <a:t>Click to edit Master title style</a:t>
            </a:r>
            <a:endParaRPr lang="en-CA"/>
          </a:p>
        </p:txBody>
      </p:sp>
      <p:sp>
        <p:nvSpPr>
          <p:cNvPr id="3" name="Subtitle 2">
            <a:extLst>
              <a:ext uri="{FF2B5EF4-FFF2-40B4-BE49-F238E27FC236}">
                <a16:creationId xmlns:a16="http://schemas.microsoft.com/office/drawing/2014/main" id="{3B21E3D5-49CD-FF4C-B5BD-302678C8CBF3}"/>
              </a:ext>
            </a:extLst>
          </p:cNvPr>
          <p:cNvSpPr>
            <a:spLocks noGrp="1"/>
          </p:cNvSpPr>
          <p:nvPr>
            <p:ph type="subTitle" idx="1"/>
          </p:nvPr>
        </p:nvSpPr>
        <p:spPr>
          <a:xfrm>
            <a:off x="2186945" y="4648200"/>
            <a:ext cx="3959352" cy="914400"/>
          </a:xfrm>
          <a:noFill/>
        </p:spPr>
        <p:txBody>
          <a:bodyPr anchor="b" anchorCtr="0">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7" name="Date Placeholder 6">
            <a:extLst>
              <a:ext uri="{FF2B5EF4-FFF2-40B4-BE49-F238E27FC236}">
                <a16:creationId xmlns:a16="http://schemas.microsoft.com/office/drawing/2014/main" id="{17A58CD2-A995-4262-A6D6-8D0AADA58C10}"/>
              </a:ext>
            </a:extLst>
          </p:cNvPr>
          <p:cNvSpPr>
            <a:spLocks noGrp="1"/>
          </p:cNvSpPr>
          <p:nvPr>
            <p:ph type="dt" sz="half" idx="10"/>
          </p:nvPr>
        </p:nvSpPr>
        <p:spPr>
          <a:xfrm>
            <a:off x="384048" y="-9144"/>
            <a:ext cx="1371600" cy="1380744"/>
          </a:xfrm>
          <a:prstGeom prst="rect">
            <a:avLst/>
          </a:prstGeom>
          <a:solidFill>
            <a:schemeClr val="tx2"/>
          </a:solidFill>
        </p:spPr>
        <p:txBody>
          <a:bodyPr lIns="109728" rIns="45720" bIns="137160" anchor="b" anchorCtr="0"/>
          <a:lstStyle>
            <a:lvl1pPr algn="l">
              <a:defRPr sz="1000">
                <a:solidFill>
                  <a:schemeClr val="bg1"/>
                </a:solidFill>
              </a:defRPr>
            </a:lvl1pPr>
          </a:lstStyle>
          <a:p>
            <a:endParaRPr lang="en-CA"/>
          </a:p>
        </p:txBody>
      </p:sp>
      <p:pic>
        <p:nvPicPr>
          <p:cNvPr id="12" name="Picture 11">
            <a:extLst>
              <a:ext uri="{FF2B5EF4-FFF2-40B4-BE49-F238E27FC236}">
                <a16:creationId xmlns:a16="http://schemas.microsoft.com/office/drawing/2014/main" id="{EA6A21FE-07F5-4A52-B78A-91402A316252}"/>
              </a:ext>
            </a:extLst>
          </p:cNvPr>
          <p:cNvPicPr>
            <a:picLocks/>
          </p:cNvPicPr>
          <p:nvPr userDrawn="1"/>
        </p:nvPicPr>
        <p:blipFill>
          <a:blip r:embed="rId2"/>
          <a:stretch>
            <a:fillRect/>
          </a:stretch>
        </p:blipFill>
        <p:spPr>
          <a:xfrm>
            <a:off x="10203942" y="5912934"/>
            <a:ext cx="1600200" cy="602166"/>
          </a:xfrm>
          <a:prstGeom prst="rect">
            <a:avLst/>
          </a:prstGeom>
        </p:spPr>
      </p:pic>
      <p:sp>
        <p:nvSpPr>
          <p:cNvPr id="9" name="Footer Placeholder 8">
            <a:extLst>
              <a:ext uri="{FF2B5EF4-FFF2-40B4-BE49-F238E27FC236}">
                <a16:creationId xmlns:a16="http://schemas.microsoft.com/office/drawing/2014/main" id="{20BD4B6A-B0A7-DE49-A4C4-D89305445939}"/>
              </a:ext>
            </a:extLst>
          </p:cNvPr>
          <p:cNvSpPr>
            <a:spLocks noGrp="1"/>
          </p:cNvSpPr>
          <p:nvPr>
            <p:ph type="ftr" sz="quarter" idx="11"/>
          </p:nvPr>
        </p:nvSpPr>
        <p:spPr>
          <a:xfrm>
            <a:off x="381000" y="6515098"/>
            <a:ext cx="9664700" cy="342900"/>
          </a:xfrm>
          <a:prstGeom prst="rect">
            <a:avLst/>
          </a:prstGeom>
        </p:spPr>
        <p:txBody>
          <a:bodyPr/>
          <a:lstStyle/>
          <a:p>
            <a:endParaRPr lang="en-CA"/>
          </a:p>
        </p:txBody>
      </p:sp>
    </p:spTree>
    <p:extLst>
      <p:ext uri="{BB962C8B-B14F-4D97-AF65-F5344CB8AC3E}">
        <p14:creationId xmlns:p14="http://schemas.microsoft.com/office/powerpoint/2010/main" val="1821762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xecutive 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endParaRPr lang="en-CA"/>
          </a:p>
        </p:txBody>
      </p:sp>
      <p:sp>
        <p:nvSpPr>
          <p:cNvPr id="4" name="Date Placeholder 3">
            <a:extLst>
              <a:ext uri="{FF2B5EF4-FFF2-40B4-BE49-F238E27FC236}">
                <a16:creationId xmlns:a16="http://schemas.microsoft.com/office/drawing/2014/main" id="{97979612-F33F-440D-A54F-58134DD6B0C4}"/>
              </a:ext>
            </a:extLst>
          </p:cNvPr>
          <p:cNvSpPr>
            <a:spLocks noGrp="1"/>
          </p:cNvSpPr>
          <p:nvPr>
            <p:ph type="dt" sz="half" idx="13"/>
          </p:nvPr>
        </p:nvSpPr>
        <p:spPr>
          <a:xfrm>
            <a:off x="8569452" y="6515098"/>
            <a:ext cx="1474248" cy="342902"/>
          </a:xfrm>
          <a:prstGeom prst="rect">
            <a:avLst/>
          </a:prstGeom>
        </p:spPr>
        <p:txBody>
          <a:bodyPr/>
          <a:lstStyle/>
          <a:p>
            <a:endParaRPr lang="en-CA"/>
          </a:p>
        </p:txBody>
      </p:sp>
      <p:sp>
        <p:nvSpPr>
          <p:cNvPr id="7" name="Footer Placeholder 8">
            <a:extLst>
              <a:ext uri="{FF2B5EF4-FFF2-40B4-BE49-F238E27FC236}">
                <a16:creationId xmlns:a16="http://schemas.microsoft.com/office/drawing/2014/main" id="{67E2328D-2C11-F54F-BB03-882DEF6EB440}"/>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0EA872F-4A4A-2F4F-831B-AEDCC73E2B2D}"/>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
        <p:nvSpPr>
          <p:cNvPr id="10" name="Table Placeholder 9">
            <a:extLst>
              <a:ext uri="{FF2B5EF4-FFF2-40B4-BE49-F238E27FC236}">
                <a16:creationId xmlns:a16="http://schemas.microsoft.com/office/drawing/2014/main" id="{B83CA65E-AE9C-F54B-B443-CD30308C2CA7}"/>
              </a:ext>
            </a:extLst>
          </p:cNvPr>
          <p:cNvSpPr>
            <a:spLocks noGrp="1"/>
          </p:cNvSpPr>
          <p:nvPr>
            <p:ph type="tbl" sz="quarter" idx="14" hasCustomPrompt="1"/>
          </p:nvPr>
        </p:nvSpPr>
        <p:spPr>
          <a:xfrm>
            <a:off x="381000" y="1295400"/>
            <a:ext cx="11430000" cy="4724400"/>
          </a:xfrm>
        </p:spPr>
        <p:txBody>
          <a:bodyPr/>
          <a:lstStyle>
            <a:lvl1pPr marL="0" indent="0">
              <a:buNone/>
              <a:defRPr sz="1600"/>
            </a:lvl1pPr>
            <a:lvl2pPr marL="685800" indent="-228600">
              <a:buFont typeface="Arial" panose="020B0604020202020204" pitchFamily="34" charset="0"/>
              <a:buChar char="•"/>
              <a:defRPr sz="1600"/>
            </a:lvl2pPr>
            <a:lvl3pPr marL="1143000" indent="-228600">
              <a:buFont typeface="Wingdings" pitchFamily="2" charset="2"/>
              <a:buChar char="§"/>
              <a:defRPr sz="1400"/>
            </a:lvl3pPr>
            <a:lvl4pPr marL="1600200" indent="-228600">
              <a:buFont typeface="Arial" panose="020B0604020202020204" pitchFamily="34" charset="0"/>
              <a:buChar char="•"/>
              <a:defRPr sz="1200"/>
            </a:lvl4pPr>
            <a:lvl5pPr marL="2057400" indent="-228600">
              <a:buFont typeface="Wingdings" pitchFamily="2" charset="2"/>
              <a:buChar char="§"/>
              <a:defRPr sz="1000"/>
            </a:lvl5p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Tree>
    <p:extLst>
      <p:ext uri="{BB962C8B-B14F-4D97-AF65-F5344CB8AC3E}">
        <p14:creationId xmlns:p14="http://schemas.microsoft.com/office/powerpoint/2010/main" val="2824354072"/>
      </p:ext>
    </p:extLst>
  </p:cSld>
  <p:clrMapOvr>
    <a:masterClrMapping/>
  </p:clrMapOvr>
  <p:extLst>
    <p:ext uri="{DCECCB84-F9BA-43D5-87BE-67443E8EF086}">
      <p15:sldGuideLst xmlns:p15="http://schemas.microsoft.com/office/powerpoint/2012/main">
        <p15:guide id="1" orient="horz" pos="816">
          <p15:clr>
            <a:srgbClr val="FBAE40"/>
          </p15:clr>
        </p15:guide>
        <p15:guide id="2" orient="horz" pos="672">
          <p15:clr>
            <a:srgbClr val="FBAE40"/>
          </p15:clr>
        </p15:guide>
        <p15:guide id="3" orient="horz" pos="3936">
          <p15:clr>
            <a:srgbClr val="FBAE40"/>
          </p15:clr>
        </p15:guide>
        <p15:guide id="4" orient="horz" pos="3792">
          <p15:clr>
            <a:srgbClr val="FBAE40"/>
          </p15:clr>
        </p15:guide>
        <p15:guide id="5" orient="horz" pos="57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endParaRPr lang="en-CA"/>
          </a:p>
        </p:txBody>
      </p:sp>
      <p:sp>
        <p:nvSpPr>
          <p:cNvPr id="4" name="Date Placeholder 3">
            <a:extLst>
              <a:ext uri="{FF2B5EF4-FFF2-40B4-BE49-F238E27FC236}">
                <a16:creationId xmlns:a16="http://schemas.microsoft.com/office/drawing/2014/main" id="{97979612-F33F-440D-A54F-58134DD6B0C4}"/>
              </a:ext>
            </a:extLst>
          </p:cNvPr>
          <p:cNvSpPr>
            <a:spLocks noGrp="1"/>
          </p:cNvSpPr>
          <p:nvPr>
            <p:ph type="dt" sz="half" idx="13"/>
          </p:nvPr>
        </p:nvSpPr>
        <p:spPr>
          <a:xfrm>
            <a:off x="8569452" y="6515098"/>
            <a:ext cx="1474248" cy="342902"/>
          </a:xfrm>
          <a:prstGeom prst="rect">
            <a:avLst/>
          </a:prstGeom>
        </p:spPr>
        <p:txBody>
          <a:bodyPr/>
          <a:lstStyle/>
          <a:p>
            <a:endParaRPr lang="en-CA"/>
          </a:p>
        </p:txBody>
      </p:sp>
      <p:sp>
        <p:nvSpPr>
          <p:cNvPr id="7" name="Footer Placeholder 8">
            <a:extLst>
              <a:ext uri="{FF2B5EF4-FFF2-40B4-BE49-F238E27FC236}">
                <a16:creationId xmlns:a16="http://schemas.microsoft.com/office/drawing/2014/main" id="{67E2328D-2C11-F54F-BB03-882DEF6EB440}"/>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0EA872F-4A4A-2F4F-831B-AEDCC73E2B2D}"/>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
        <p:nvSpPr>
          <p:cNvPr id="9" name="Content Placeholder 2">
            <a:extLst>
              <a:ext uri="{FF2B5EF4-FFF2-40B4-BE49-F238E27FC236}">
                <a16:creationId xmlns:a16="http://schemas.microsoft.com/office/drawing/2014/main" id="{92B386B8-F93B-994F-BB71-62E6F2413BCE}"/>
              </a:ext>
            </a:extLst>
          </p:cNvPr>
          <p:cNvSpPr>
            <a:spLocks noGrp="1"/>
          </p:cNvSpPr>
          <p:nvPr>
            <p:ph idx="14" hasCustomPrompt="1"/>
          </p:nvPr>
        </p:nvSpPr>
        <p:spPr>
          <a:xfrm>
            <a:off x="1447800" y="1600200"/>
            <a:ext cx="7162800" cy="4343400"/>
          </a:xfrm>
        </p:spPr>
        <p:txBody>
          <a:bodyPr/>
          <a:lstStyle>
            <a:lvl1pPr>
              <a:spcAft>
                <a:spcPts val="1800"/>
              </a:spcAft>
              <a:defRPr sz="1800"/>
            </a:lvl1pPr>
          </a:lstStyle>
          <a:p>
            <a:pPr lvl="0"/>
            <a:r>
              <a:rPr lang="en-CA"/>
              <a:t>Edit Master text styles</a:t>
            </a:r>
          </a:p>
          <a:p>
            <a:pPr>
              <a:spcAft>
                <a:spcPts val="1800"/>
              </a:spcAft>
            </a:pPr>
            <a:endParaRPr lang="en-US"/>
          </a:p>
          <a:p>
            <a:endParaRPr lang="en-US"/>
          </a:p>
        </p:txBody>
      </p:sp>
    </p:spTree>
    <p:extLst>
      <p:ext uri="{BB962C8B-B14F-4D97-AF65-F5344CB8AC3E}">
        <p14:creationId xmlns:p14="http://schemas.microsoft.com/office/powerpoint/2010/main" val="38591767"/>
      </p:ext>
    </p:extLst>
  </p:cSld>
  <p:clrMapOvr>
    <a:masterClrMapping/>
  </p:clrMapOvr>
  <p:extLst>
    <p:ext uri="{DCECCB84-F9BA-43D5-87BE-67443E8EF086}">
      <p15:sldGuideLst xmlns:p15="http://schemas.microsoft.com/office/powerpoint/2012/main">
        <p15:guide id="1" orient="horz" pos="816">
          <p15:clr>
            <a:srgbClr val="FBAE40"/>
          </p15:clr>
        </p15:guide>
        <p15:guide id="2" orient="horz" pos="672">
          <p15:clr>
            <a:srgbClr val="FBAE40"/>
          </p15:clr>
        </p15:guide>
        <p15:guide id="3" orient="horz" pos="3936">
          <p15:clr>
            <a:srgbClr val="FBAE40"/>
          </p15:clr>
        </p15:guide>
        <p15:guide id="4" orient="horz" pos="3792">
          <p15:clr>
            <a:srgbClr val="FBAE40"/>
          </p15:clr>
        </p15:guide>
        <p15:guide id="5" orient="horz" pos="57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80BD3AE-39E3-494F-A1EE-16FB6F252764}"/>
              </a:ext>
            </a:extLst>
          </p:cNvPr>
          <p:cNvSpPr>
            <a:spLocks noGrp="1"/>
          </p:cNvSpPr>
          <p:nvPr>
            <p:ph idx="1" hasCustomPrompt="1"/>
          </p:nvPr>
        </p:nvSpPr>
        <p:spPr/>
        <p:txBody>
          <a:body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endParaRPr lang="en-CA"/>
          </a:p>
        </p:txBody>
      </p:sp>
      <p:sp>
        <p:nvSpPr>
          <p:cNvPr id="4" name="Date Placeholder 3">
            <a:extLst>
              <a:ext uri="{FF2B5EF4-FFF2-40B4-BE49-F238E27FC236}">
                <a16:creationId xmlns:a16="http://schemas.microsoft.com/office/drawing/2014/main" id="{97979612-F33F-440D-A54F-58134DD6B0C4}"/>
              </a:ext>
            </a:extLst>
          </p:cNvPr>
          <p:cNvSpPr>
            <a:spLocks noGrp="1"/>
          </p:cNvSpPr>
          <p:nvPr>
            <p:ph type="dt" sz="half" idx="13"/>
          </p:nvPr>
        </p:nvSpPr>
        <p:spPr>
          <a:xfrm>
            <a:off x="8569452" y="6515098"/>
            <a:ext cx="1474248" cy="342902"/>
          </a:xfrm>
          <a:prstGeom prst="rect">
            <a:avLst/>
          </a:prstGeom>
        </p:spPr>
        <p:txBody>
          <a:bodyPr/>
          <a:lstStyle/>
          <a:p>
            <a:endParaRPr lang="en-CA"/>
          </a:p>
        </p:txBody>
      </p:sp>
      <p:sp>
        <p:nvSpPr>
          <p:cNvPr id="7" name="Footer Placeholder 8">
            <a:extLst>
              <a:ext uri="{FF2B5EF4-FFF2-40B4-BE49-F238E27FC236}">
                <a16:creationId xmlns:a16="http://schemas.microsoft.com/office/drawing/2014/main" id="{67E2328D-2C11-F54F-BB03-882DEF6EB440}"/>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0EA872F-4A4A-2F4F-831B-AEDCC73E2B2D}"/>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510051756"/>
      </p:ext>
    </p:extLst>
  </p:cSld>
  <p:clrMapOvr>
    <a:masterClrMapping/>
  </p:clrMapOvr>
  <p:extLst>
    <p:ext uri="{DCECCB84-F9BA-43D5-87BE-67443E8EF086}">
      <p15:sldGuideLst xmlns:p15="http://schemas.microsoft.com/office/powerpoint/2012/main">
        <p15:guide id="1" orient="horz" pos="816" userDrawn="1">
          <p15:clr>
            <a:srgbClr val="FBAE40"/>
          </p15:clr>
        </p15:guide>
        <p15:guide id="2" orient="horz" pos="672" userDrawn="1">
          <p15:clr>
            <a:srgbClr val="FBAE40"/>
          </p15:clr>
        </p15:guide>
        <p15:guide id="3" orient="horz" pos="3936" userDrawn="1">
          <p15:clr>
            <a:srgbClr val="FBAE40"/>
          </p15:clr>
        </p15:guide>
        <p15:guide id="4" orient="horz" pos="3792" userDrawn="1">
          <p15:clr>
            <a:srgbClr val="FBAE40"/>
          </p15:clr>
        </p15:guide>
        <p15:guide id="5" orient="horz" pos="57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E597-5579-A045-9648-491A56F1DDE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E84AE1E-60E5-6446-BB3C-C46E835D3342}"/>
              </a:ext>
            </a:extLst>
          </p:cNvPr>
          <p:cNvSpPr>
            <a:spLocks noGrp="1"/>
          </p:cNvSpPr>
          <p:nvPr>
            <p:ph sz="half" idx="1" hasCustomPrompt="1"/>
          </p:nvPr>
        </p:nvSpPr>
        <p:spPr>
          <a:xfrm>
            <a:off x="384048" y="1295401"/>
            <a:ext cx="5559552" cy="4724400"/>
          </a:xfrm>
        </p:spPr>
        <p:txBody>
          <a:body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4" name="Content Placeholder 3">
            <a:extLst>
              <a:ext uri="{FF2B5EF4-FFF2-40B4-BE49-F238E27FC236}">
                <a16:creationId xmlns:a16="http://schemas.microsoft.com/office/drawing/2014/main" id="{DDB161A1-7135-6A48-88B5-FA6A609C298F}"/>
              </a:ext>
            </a:extLst>
          </p:cNvPr>
          <p:cNvSpPr>
            <a:spLocks noGrp="1"/>
          </p:cNvSpPr>
          <p:nvPr>
            <p:ph sz="half" idx="2" hasCustomPrompt="1"/>
          </p:nvPr>
        </p:nvSpPr>
        <p:spPr>
          <a:xfrm>
            <a:off x="6248400" y="1295403"/>
            <a:ext cx="5556250" cy="4724399"/>
          </a:xfrm>
        </p:spPr>
        <p:txBody>
          <a:body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8" name="Footer Placeholder 4">
            <a:extLst>
              <a:ext uri="{FF2B5EF4-FFF2-40B4-BE49-F238E27FC236}">
                <a16:creationId xmlns:a16="http://schemas.microsoft.com/office/drawing/2014/main" id="{97C1624E-A29C-1D46-89E2-F842DD42DDE8}"/>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endParaRPr lang="en-CA"/>
          </a:p>
        </p:txBody>
      </p:sp>
      <p:sp>
        <p:nvSpPr>
          <p:cNvPr id="9" name="Date Placeholder 3">
            <a:extLst>
              <a:ext uri="{FF2B5EF4-FFF2-40B4-BE49-F238E27FC236}">
                <a16:creationId xmlns:a16="http://schemas.microsoft.com/office/drawing/2014/main" id="{990CB781-62E8-C740-9FC2-AF70714CA6FB}"/>
              </a:ext>
            </a:extLst>
          </p:cNvPr>
          <p:cNvSpPr>
            <a:spLocks noGrp="1"/>
          </p:cNvSpPr>
          <p:nvPr>
            <p:ph type="dt" sz="half" idx="13"/>
          </p:nvPr>
        </p:nvSpPr>
        <p:spPr>
          <a:xfrm>
            <a:off x="8569452" y="6515098"/>
            <a:ext cx="1474248" cy="342902"/>
          </a:xfrm>
          <a:prstGeom prst="rect">
            <a:avLst/>
          </a:prstGeom>
        </p:spPr>
        <p:txBody>
          <a:bodyPr/>
          <a:lstStyle/>
          <a:p>
            <a:endParaRPr lang="en-CA"/>
          </a:p>
        </p:txBody>
      </p:sp>
      <p:sp>
        <p:nvSpPr>
          <p:cNvPr id="7" name="Footer Placeholder 8">
            <a:extLst>
              <a:ext uri="{FF2B5EF4-FFF2-40B4-BE49-F238E27FC236}">
                <a16:creationId xmlns:a16="http://schemas.microsoft.com/office/drawing/2014/main" id="{67B9DA3F-10E5-7D41-84AB-9050D4311949}"/>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10" name="Footer Placeholder 8">
            <a:extLst>
              <a:ext uri="{FF2B5EF4-FFF2-40B4-BE49-F238E27FC236}">
                <a16:creationId xmlns:a16="http://schemas.microsoft.com/office/drawing/2014/main" id="{B699D31A-57EC-B04B-A41A-F3C3AF558E17}"/>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3591648496"/>
      </p:ext>
    </p:extLst>
  </p:cSld>
  <p:clrMapOvr>
    <a:masterClrMapping/>
  </p:clrMapOvr>
  <p:extLst>
    <p:ext uri="{DCECCB84-F9BA-43D5-87BE-67443E8EF086}">
      <p15:sldGuideLst xmlns:p15="http://schemas.microsoft.com/office/powerpoint/2012/main">
        <p15:guide id="1" orient="horz" pos="576" userDrawn="1">
          <p15:clr>
            <a:srgbClr val="FBAE40"/>
          </p15:clr>
        </p15:guide>
        <p15:guide id="2" orient="horz" pos="672" userDrawn="1">
          <p15:clr>
            <a:srgbClr val="FBAE40"/>
          </p15:clr>
        </p15:guide>
        <p15:guide id="3" orient="horz" pos="816" userDrawn="1">
          <p15:clr>
            <a:srgbClr val="FBAE40"/>
          </p15:clr>
        </p15:guide>
        <p15:guide id="4" orient="horz" pos="3936" userDrawn="1">
          <p15:clr>
            <a:srgbClr val="FBAE40"/>
          </p15:clr>
        </p15:guide>
        <p15:guide id="5" orient="horz" pos="3792" userDrawn="1">
          <p15:clr>
            <a:srgbClr val="FBAE40"/>
          </p15:clr>
        </p15:guide>
        <p15:guide id="6" pos="3744" userDrawn="1">
          <p15:clr>
            <a:srgbClr val="FBAE40"/>
          </p15:clr>
        </p15:guide>
        <p15:guide id="7" pos="393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75E1948-A0F9-446F-A911-3D63891A9EE4}"/>
              </a:ext>
            </a:extLst>
          </p:cNvPr>
          <p:cNvSpPr>
            <a:spLocks noGrp="1"/>
          </p:cNvSpPr>
          <p:nvPr>
            <p:ph type="body" idx="1"/>
          </p:nvPr>
        </p:nvSpPr>
        <p:spPr>
          <a:xfrm>
            <a:off x="384048" y="1298448"/>
            <a:ext cx="5564124" cy="548640"/>
          </a:xfrm>
        </p:spPr>
        <p:txBody>
          <a:bodyPr anchor="b"/>
          <a:lstStyle>
            <a:lvl1pPr marL="0" indent="0">
              <a:buNone/>
              <a:defRPr sz="18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B8382803-AA33-4BE8-B029-8C6D44878A59}"/>
              </a:ext>
            </a:extLst>
          </p:cNvPr>
          <p:cNvSpPr>
            <a:spLocks noGrp="1"/>
          </p:cNvSpPr>
          <p:nvPr>
            <p:ph sz="half" idx="2"/>
          </p:nvPr>
        </p:nvSpPr>
        <p:spPr>
          <a:xfrm>
            <a:off x="384048" y="1981200"/>
            <a:ext cx="5564124" cy="4044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1D253C96-7453-445F-9A82-BC56E5098671}"/>
              </a:ext>
            </a:extLst>
          </p:cNvPr>
          <p:cNvSpPr>
            <a:spLocks noGrp="1"/>
          </p:cNvSpPr>
          <p:nvPr>
            <p:ph type="body" sz="quarter" idx="3"/>
          </p:nvPr>
        </p:nvSpPr>
        <p:spPr>
          <a:xfrm>
            <a:off x="6245352" y="1298448"/>
            <a:ext cx="5559297" cy="548640"/>
          </a:xfrm>
        </p:spPr>
        <p:txBody>
          <a:bodyPr anchor="b"/>
          <a:lstStyle>
            <a:lvl1pPr marL="0" indent="0">
              <a:buNone/>
              <a:defRPr sz="18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29EBCD2F-8EC4-4C1F-8B3F-1D6D8381165B}"/>
              </a:ext>
            </a:extLst>
          </p:cNvPr>
          <p:cNvSpPr>
            <a:spLocks noGrp="1"/>
          </p:cNvSpPr>
          <p:nvPr>
            <p:ph sz="quarter" idx="4"/>
          </p:nvPr>
        </p:nvSpPr>
        <p:spPr>
          <a:xfrm>
            <a:off x="6245352" y="1981200"/>
            <a:ext cx="5559297" cy="4044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Title 12">
            <a:extLst>
              <a:ext uri="{FF2B5EF4-FFF2-40B4-BE49-F238E27FC236}">
                <a16:creationId xmlns:a16="http://schemas.microsoft.com/office/drawing/2014/main" id="{BFB384AC-20BD-4E27-BC9E-242394EDC903}"/>
              </a:ext>
            </a:extLst>
          </p:cNvPr>
          <p:cNvSpPr>
            <a:spLocks noGrp="1"/>
          </p:cNvSpPr>
          <p:nvPr>
            <p:ph type="title"/>
          </p:nvPr>
        </p:nvSpPr>
        <p:spPr/>
        <p:txBody>
          <a:bodyPr/>
          <a:lstStyle/>
          <a:p>
            <a:r>
              <a:rPr lang="en-US"/>
              <a:t>Click to edit Master title style</a:t>
            </a:r>
            <a:endParaRPr lang="en-CA"/>
          </a:p>
        </p:txBody>
      </p:sp>
      <p:sp>
        <p:nvSpPr>
          <p:cNvPr id="14" name="Footer Placeholder 4">
            <a:extLst>
              <a:ext uri="{FF2B5EF4-FFF2-40B4-BE49-F238E27FC236}">
                <a16:creationId xmlns:a16="http://schemas.microsoft.com/office/drawing/2014/main" id="{B10DE041-1517-5A47-97B4-72983B7208BB}"/>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endParaRPr lang="en-CA"/>
          </a:p>
        </p:txBody>
      </p:sp>
      <p:sp>
        <p:nvSpPr>
          <p:cNvPr id="15" name="Date Placeholder 3">
            <a:extLst>
              <a:ext uri="{FF2B5EF4-FFF2-40B4-BE49-F238E27FC236}">
                <a16:creationId xmlns:a16="http://schemas.microsoft.com/office/drawing/2014/main" id="{C5E41CEC-9B27-A749-A91A-F3876DEE64F5}"/>
              </a:ext>
            </a:extLst>
          </p:cNvPr>
          <p:cNvSpPr>
            <a:spLocks noGrp="1"/>
          </p:cNvSpPr>
          <p:nvPr>
            <p:ph type="dt" sz="half" idx="13"/>
          </p:nvPr>
        </p:nvSpPr>
        <p:spPr>
          <a:xfrm>
            <a:off x="8569452" y="6515098"/>
            <a:ext cx="1474248" cy="342902"/>
          </a:xfrm>
          <a:prstGeom prst="rect">
            <a:avLst/>
          </a:prstGeom>
        </p:spPr>
        <p:txBody>
          <a:bodyPr/>
          <a:lstStyle/>
          <a:p>
            <a:endParaRPr lang="en-CA"/>
          </a:p>
        </p:txBody>
      </p:sp>
      <p:sp>
        <p:nvSpPr>
          <p:cNvPr id="9" name="Footer Placeholder 8">
            <a:extLst>
              <a:ext uri="{FF2B5EF4-FFF2-40B4-BE49-F238E27FC236}">
                <a16:creationId xmlns:a16="http://schemas.microsoft.com/office/drawing/2014/main" id="{537CB532-8D5C-8945-8545-5DB40674F21B}"/>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10" name="Footer Placeholder 8">
            <a:extLst>
              <a:ext uri="{FF2B5EF4-FFF2-40B4-BE49-F238E27FC236}">
                <a16:creationId xmlns:a16="http://schemas.microsoft.com/office/drawing/2014/main" id="{A7EA675A-F366-9445-A648-5A3407423352}"/>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3087614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93E20-716D-D744-AD1B-2265FFE51936}"/>
              </a:ext>
            </a:extLst>
          </p:cNvPr>
          <p:cNvSpPr>
            <a:spLocks noGrp="1"/>
          </p:cNvSpPr>
          <p:nvPr>
            <p:ph type="title"/>
          </p:nvPr>
        </p:nvSpPr>
        <p:spPr/>
        <p:txBody>
          <a:bodyPr/>
          <a:lstStyle/>
          <a:p>
            <a:r>
              <a:rPr lang="en-US"/>
              <a:t>Click to edit Master title style</a:t>
            </a:r>
            <a:endParaRPr lang="en-CA"/>
          </a:p>
        </p:txBody>
      </p:sp>
      <p:sp>
        <p:nvSpPr>
          <p:cNvPr id="6" name="Footer Placeholder 4">
            <a:extLst>
              <a:ext uri="{FF2B5EF4-FFF2-40B4-BE49-F238E27FC236}">
                <a16:creationId xmlns:a16="http://schemas.microsoft.com/office/drawing/2014/main" id="{92D4AE55-D906-0746-A30E-B9A295D9F9D4}"/>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endParaRPr lang="en-CA"/>
          </a:p>
        </p:txBody>
      </p:sp>
      <p:sp>
        <p:nvSpPr>
          <p:cNvPr id="7" name="Date Placeholder 3">
            <a:extLst>
              <a:ext uri="{FF2B5EF4-FFF2-40B4-BE49-F238E27FC236}">
                <a16:creationId xmlns:a16="http://schemas.microsoft.com/office/drawing/2014/main" id="{DE99D70A-FB1B-FA4E-8933-89A0D75272BA}"/>
              </a:ext>
            </a:extLst>
          </p:cNvPr>
          <p:cNvSpPr>
            <a:spLocks noGrp="1"/>
          </p:cNvSpPr>
          <p:nvPr>
            <p:ph type="dt" sz="half" idx="13"/>
          </p:nvPr>
        </p:nvSpPr>
        <p:spPr>
          <a:xfrm>
            <a:off x="8569452" y="6515098"/>
            <a:ext cx="1474248" cy="342902"/>
          </a:xfrm>
          <a:prstGeom prst="rect">
            <a:avLst/>
          </a:prstGeom>
        </p:spPr>
        <p:txBody>
          <a:bodyPr/>
          <a:lstStyle/>
          <a:p>
            <a:endParaRPr lang="en-CA"/>
          </a:p>
        </p:txBody>
      </p:sp>
      <p:sp>
        <p:nvSpPr>
          <p:cNvPr id="5" name="Footer Placeholder 8">
            <a:extLst>
              <a:ext uri="{FF2B5EF4-FFF2-40B4-BE49-F238E27FC236}">
                <a16:creationId xmlns:a16="http://schemas.microsoft.com/office/drawing/2014/main" id="{49664162-4786-1942-ACFE-99521245B22E}"/>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EB75E0D-B022-7046-BA11-100FFB7C79CE}"/>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3539821737"/>
      </p:ext>
    </p:extLst>
  </p:cSld>
  <p:clrMapOvr>
    <a:masterClrMapping/>
  </p:clrMapOvr>
  <p:extLst>
    <p:ext uri="{DCECCB84-F9BA-43D5-87BE-67443E8EF086}">
      <p15:sldGuideLst xmlns:p15="http://schemas.microsoft.com/office/powerpoint/2012/main">
        <p15:guide id="1" orient="horz" pos="3936" userDrawn="1">
          <p15:clr>
            <a:srgbClr val="FBAE40"/>
          </p15:clr>
        </p15:guide>
        <p15:guide id="2" orient="horz" pos="672" userDrawn="1">
          <p15:clr>
            <a:srgbClr val="FBAE40"/>
          </p15:clr>
        </p15:guide>
        <p15:guide id="3" orient="horz" pos="576" userDrawn="1">
          <p15:clr>
            <a:srgbClr val="FBAE40"/>
          </p15:clr>
        </p15:guide>
        <p15:guide id="4" orient="horz" pos="81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901082F-307B-4CAF-898D-33CA7B67A97A}"/>
              </a:ext>
            </a:extLst>
          </p:cNvPr>
          <p:cNvCxnSpPr>
            <a:cxnSpLocks/>
          </p:cNvCxnSpPr>
          <p:nvPr userDrawn="1"/>
        </p:nvCxnSpPr>
        <p:spPr>
          <a:xfrm>
            <a:off x="384048" y="6241473"/>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CF5C1E2F-005B-4C5C-B5CD-698B55D618EA}"/>
              </a:ext>
            </a:extLst>
          </p:cNvPr>
          <p:cNvPicPr>
            <a:picLocks/>
          </p:cNvPicPr>
          <p:nvPr userDrawn="1"/>
        </p:nvPicPr>
        <p:blipFill>
          <a:blip r:embed="rId2"/>
          <a:stretch>
            <a:fillRect/>
          </a:stretch>
        </p:blipFill>
        <p:spPr>
          <a:xfrm>
            <a:off x="10853928" y="6388101"/>
            <a:ext cx="950976" cy="357859"/>
          </a:xfrm>
          <a:prstGeom prst="rect">
            <a:avLst/>
          </a:prstGeom>
        </p:spPr>
      </p:pic>
      <p:sp>
        <p:nvSpPr>
          <p:cNvPr id="13" name="Footer Placeholder 4">
            <a:extLst>
              <a:ext uri="{FF2B5EF4-FFF2-40B4-BE49-F238E27FC236}">
                <a16:creationId xmlns:a16="http://schemas.microsoft.com/office/drawing/2014/main" id="{FE6B0269-48F1-084E-BFC4-87433BA2B51F}"/>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endParaRPr lang="en-CA"/>
          </a:p>
        </p:txBody>
      </p:sp>
      <p:sp>
        <p:nvSpPr>
          <p:cNvPr id="16" name="Date Placeholder 3">
            <a:extLst>
              <a:ext uri="{FF2B5EF4-FFF2-40B4-BE49-F238E27FC236}">
                <a16:creationId xmlns:a16="http://schemas.microsoft.com/office/drawing/2014/main" id="{4E3162EF-D3E7-A34F-83BC-AA048A8C0859}"/>
              </a:ext>
            </a:extLst>
          </p:cNvPr>
          <p:cNvSpPr>
            <a:spLocks noGrp="1"/>
          </p:cNvSpPr>
          <p:nvPr>
            <p:ph type="dt" sz="half" idx="13"/>
          </p:nvPr>
        </p:nvSpPr>
        <p:spPr>
          <a:xfrm>
            <a:off x="8569452" y="6515098"/>
            <a:ext cx="1474248" cy="342902"/>
          </a:xfrm>
          <a:prstGeom prst="rect">
            <a:avLst/>
          </a:prstGeom>
        </p:spPr>
        <p:txBody>
          <a:bodyPr/>
          <a:lstStyle/>
          <a:p>
            <a:endParaRPr lang="en-CA"/>
          </a:p>
        </p:txBody>
      </p:sp>
      <p:sp>
        <p:nvSpPr>
          <p:cNvPr id="6" name="Footer Placeholder 8">
            <a:extLst>
              <a:ext uri="{FF2B5EF4-FFF2-40B4-BE49-F238E27FC236}">
                <a16:creationId xmlns:a16="http://schemas.microsoft.com/office/drawing/2014/main" id="{CFA69B87-9945-1E41-B174-CB3CA724A68B}"/>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7" name="Footer Placeholder 8">
            <a:extLst>
              <a:ext uri="{FF2B5EF4-FFF2-40B4-BE49-F238E27FC236}">
                <a16:creationId xmlns:a16="http://schemas.microsoft.com/office/drawing/2014/main" id="{1A906DB9-9029-BD41-B151-DAC6CE38C40C}"/>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3829679944"/>
      </p:ext>
    </p:extLst>
  </p:cSld>
  <p:clrMapOvr>
    <a:masterClrMapping/>
  </p:clrMapOvr>
  <p:extLst>
    <p:ext uri="{DCECCB84-F9BA-43D5-87BE-67443E8EF086}">
      <p15:sldGuideLst xmlns:p15="http://schemas.microsoft.com/office/powerpoint/2012/main">
        <p15:guide id="1" orient="horz" pos="39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AE6DF-B3B9-7E40-B9F1-4880D25FF57B}"/>
              </a:ext>
            </a:extLst>
          </p:cNvPr>
          <p:cNvSpPr>
            <a:spLocks noGrp="1"/>
          </p:cNvSpPr>
          <p:nvPr>
            <p:ph type="title"/>
          </p:nvPr>
        </p:nvSpPr>
        <p:spPr>
          <a:xfrm>
            <a:off x="384048" y="2711194"/>
            <a:ext cx="11420856" cy="1327406"/>
          </a:xfrm>
        </p:spPr>
        <p:txBody>
          <a:bodyPr anchor="t" anchorCtr="0">
            <a:normAutofit/>
          </a:bodyPr>
          <a:lstStyle>
            <a:lvl1pPr>
              <a:defRPr sz="4400">
                <a:solidFill>
                  <a:schemeClr val="tx1"/>
                </a:solidFill>
              </a:defRPr>
            </a:lvl1pPr>
          </a:lstStyle>
          <a:p>
            <a:r>
              <a:rPr lang="en-US"/>
              <a:t>Click to edit Master title style</a:t>
            </a:r>
            <a:endParaRPr lang="en-CA"/>
          </a:p>
        </p:txBody>
      </p:sp>
      <p:cxnSp>
        <p:nvCxnSpPr>
          <p:cNvPr id="8" name="Straight Connector 7">
            <a:extLst>
              <a:ext uri="{FF2B5EF4-FFF2-40B4-BE49-F238E27FC236}">
                <a16:creationId xmlns:a16="http://schemas.microsoft.com/office/drawing/2014/main" id="{3901082F-307B-4CAF-898D-33CA7B67A97A}"/>
              </a:ext>
            </a:extLst>
          </p:cNvPr>
          <p:cNvCxnSpPr>
            <a:cxnSpLocks/>
          </p:cNvCxnSpPr>
          <p:nvPr userDrawn="1"/>
        </p:nvCxnSpPr>
        <p:spPr>
          <a:xfrm>
            <a:off x="384048" y="6241473"/>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4" name="Subtitle 2">
            <a:extLst>
              <a:ext uri="{FF2B5EF4-FFF2-40B4-BE49-F238E27FC236}">
                <a16:creationId xmlns:a16="http://schemas.microsoft.com/office/drawing/2014/main" id="{C59257A0-6B83-4D3D-A541-6CB290CD7808}"/>
              </a:ext>
            </a:extLst>
          </p:cNvPr>
          <p:cNvSpPr>
            <a:spLocks noGrp="1"/>
          </p:cNvSpPr>
          <p:nvPr>
            <p:ph type="subTitle" idx="1"/>
          </p:nvPr>
        </p:nvSpPr>
        <p:spPr>
          <a:xfrm>
            <a:off x="384048" y="4980756"/>
            <a:ext cx="11420856" cy="930841"/>
          </a:xfrm>
        </p:spPr>
        <p:txBody>
          <a:bodyPr>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pic>
        <p:nvPicPr>
          <p:cNvPr id="15" name="Picture 14">
            <a:extLst>
              <a:ext uri="{FF2B5EF4-FFF2-40B4-BE49-F238E27FC236}">
                <a16:creationId xmlns:a16="http://schemas.microsoft.com/office/drawing/2014/main" id="{CF5C1E2F-005B-4C5C-B5CD-698B55D618EA}"/>
              </a:ext>
            </a:extLst>
          </p:cNvPr>
          <p:cNvPicPr>
            <a:picLocks/>
          </p:cNvPicPr>
          <p:nvPr userDrawn="1"/>
        </p:nvPicPr>
        <p:blipFill>
          <a:blip r:embed="rId2"/>
          <a:stretch>
            <a:fillRect/>
          </a:stretch>
        </p:blipFill>
        <p:spPr>
          <a:xfrm>
            <a:off x="10853928" y="6388101"/>
            <a:ext cx="950976" cy="357859"/>
          </a:xfrm>
          <a:prstGeom prst="rect">
            <a:avLst/>
          </a:prstGeom>
        </p:spPr>
      </p:pic>
      <p:sp>
        <p:nvSpPr>
          <p:cNvPr id="13" name="Footer Placeholder 4">
            <a:extLst>
              <a:ext uri="{FF2B5EF4-FFF2-40B4-BE49-F238E27FC236}">
                <a16:creationId xmlns:a16="http://schemas.microsoft.com/office/drawing/2014/main" id="{FE6B0269-48F1-084E-BFC4-87433BA2B51F}"/>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endParaRPr lang="en-CA"/>
          </a:p>
        </p:txBody>
      </p:sp>
      <p:sp>
        <p:nvSpPr>
          <p:cNvPr id="16" name="Date Placeholder 3">
            <a:extLst>
              <a:ext uri="{FF2B5EF4-FFF2-40B4-BE49-F238E27FC236}">
                <a16:creationId xmlns:a16="http://schemas.microsoft.com/office/drawing/2014/main" id="{4E3162EF-D3E7-A34F-83BC-AA048A8C0859}"/>
              </a:ext>
            </a:extLst>
          </p:cNvPr>
          <p:cNvSpPr>
            <a:spLocks noGrp="1"/>
          </p:cNvSpPr>
          <p:nvPr>
            <p:ph type="dt" sz="half" idx="13"/>
          </p:nvPr>
        </p:nvSpPr>
        <p:spPr>
          <a:xfrm>
            <a:off x="8569452" y="6515098"/>
            <a:ext cx="1474248" cy="342902"/>
          </a:xfrm>
          <a:prstGeom prst="rect">
            <a:avLst/>
          </a:prstGeom>
        </p:spPr>
        <p:txBody>
          <a:bodyPr/>
          <a:lstStyle/>
          <a:p>
            <a:endParaRPr lang="en-CA"/>
          </a:p>
        </p:txBody>
      </p:sp>
      <p:sp>
        <p:nvSpPr>
          <p:cNvPr id="9" name="Footer Placeholder 8">
            <a:extLst>
              <a:ext uri="{FF2B5EF4-FFF2-40B4-BE49-F238E27FC236}">
                <a16:creationId xmlns:a16="http://schemas.microsoft.com/office/drawing/2014/main" id="{5023D39E-AEBB-3045-BEFE-A5D4AC3AA1AE}"/>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10" name="Footer Placeholder 8">
            <a:extLst>
              <a:ext uri="{FF2B5EF4-FFF2-40B4-BE49-F238E27FC236}">
                <a16:creationId xmlns:a16="http://schemas.microsoft.com/office/drawing/2014/main" id="{E5C5F2E2-F73E-ED44-995B-929141C21D26}"/>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2475147007"/>
      </p:ext>
    </p:extLst>
  </p:cSld>
  <p:clrMapOvr>
    <a:masterClrMapping/>
  </p:clrMapOvr>
  <p:extLst>
    <p:ext uri="{DCECCB84-F9BA-43D5-87BE-67443E8EF086}">
      <p15:sldGuideLst xmlns:p15="http://schemas.microsoft.com/office/powerpoint/2012/main">
        <p15:guide id="1" orient="horz" pos="393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V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9771C-B75B-5948-B389-31FAC5236817}"/>
              </a:ext>
            </a:extLst>
          </p:cNvPr>
          <p:cNvSpPr>
            <a:spLocks noGrp="1"/>
          </p:cNvSpPr>
          <p:nvPr>
            <p:ph type="title"/>
          </p:nvPr>
        </p:nvSpPr>
        <p:spPr>
          <a:xfrm>
            <a:off x="339299" y="258707"/>
            <a:ext cx="10515600" cy="497940"/>
          </a:xfrm>
        </p:spPr>
        <p:txBody>
          <a:body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75EF05CB-0C0C-0346-B965-4B52E38BD165}"/>
              </a:ext>
            </a:extLst>
          </p:cNvPr>
          <p:cNvSpPr>
            <a:spLocks noGrp="1"/>
          </p:cNvSpPr>
          <p:nvPr>
            <p:ph type="sldNum" sz="quarter" idx="10"/>
          </p:nvPr>
        </p:nvSpPr>
        <p:spPr/>
        <p:txBody>
          <a:bodyPr/>
          <a:lstStyle/>
          <a:p>
            <a:fld id="{CFEC9632-FDFC-7346-ADAC-032CD905505E}" type="slidenum">
              <a:rPr lang="en-US" smtClean="0"/>
              <a:pPr/>
              <a:t>‹#›</a:t>
            </a:fld>
            <a:endParaRPr lang="en-US"/>
          </a:p>
        </p:txBody>
      </p:sp>
      <p:sp>
        <p:nvSpPr>
          <p:cNvPr id="5" name="Rectangle 4">
            <a:extLst>
              <a:ext uri="{FF2B5EF4-FFF2-40B4-BE49-F238E27FC236}">
                <a16:creationId xmlns:a16="http://schemas.microsoft.com/office/drawing/2014/main" id="{1CD51D7F-14A2-E349-A752-D858A6B93E45}"/>
              </a:ext>
            </a:extLst>
          </p:cNvPr>
          <p:cNvSpPr/>
          <p:nvPr userDrawn="1"/>
        </p:nvSpPr>
        <p:spPr>
          <a:xfrm>
            <a:off x="0" y="914400"/>
            <a:ext cx="12192000" cy="5259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3">
            <a:extLst>
              <a:ext uri="{FF2B5EF4-FFF2-40B4-BE49-F238E27FC236}">
                <a16:creationId xmlns:a16="http://schemas.microsoft.com/office/drawing/2014/main" id="{1A6D5213-C91B-FB4F-87B7-F8A925E83358}"/>
              </a:ext>
            </a:extLst>
          </p:cNvPr>
          <p:cNvSpPr>
            <a:spLocks noGrp="1"/>
          </p:cNvSpPr>
          <p:nvPr>
            <p:ph type="ftr" sz="quarter" idx="3"/>
          </p:nvPr>
        </p:nvSpPr>
        <p:spPr>
          <a:xfrm>
            <a:off x="635364" y="6477535"/>
            <a:ext cx="2195443" cy="365125"/>
          </a:xfrm>
          <a:prstGeom prst="rect">
            <a:avLst/>
          </a:prstGeom>
        </p:spPr>
        <p:txBody>
          <a:bodyPr vert="horz" lIns="91440" tIns="45720" rIns="91440" bIns="45720" rtlCol="0" anchor="ctr"/>
          <a:lstStyle>
            <a:lvl1pPr algn="l">
              <a:defRPr sz="1050">
                <a:solidFill>
                  <a:schemeClr val="tx1"/>
                </a:solidFill>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33075524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content, footnotes">
    <p:spTree>
      <p:nvGrpSpPr>
        <p:cNvPr id="1" name=""/>
        <p:cNvGrpSpPr/>
        <p:nvPr/>
      </p:nvGrpSpPr>
      <p:grpSpPr>
        <a:xfrm>
          <a:off x="0" y="0"/>
          <a:ext cx="0" cy="0"/>
          <a:chOff x="0" y="0"/>
          <a:chExt cx="0" cy="0"/>
        </a:xfrm>
      </p:grpSpPr>
      <p:sp>
        <p:nvSpPr>
          <p:cNvPr id="7" name="Rectangle 18"/>
          <p:cNvSpPr>
            <a:spLocks noGrp="1" noChangeArrowheads="1"/>
          </p:cNvSpPr>
          <p:nvPr>
            <p:ph type="title"/>
          </p:nvPr>
        </p:nvSpPr>
        <p:spPr bwMode="auto">
          <a:xfrm>
            <a:off x="426720" y="347472"/>
            <a:ext cx="11338560" cy="658368"/>
          </a:xfrm>
          <a:prstGeom prst="rect">
            <a:avLst/>
          </a:prstGeom>
          <a:noFill/>
          <a:ln w="9525">
            <a:noFill/>
            <a:miter lim="800000"/>
            <a:headEnd/>
            <a:tailEnd/>
          </a:ln>
          <a:effectLst/>
        </p:spPr>
        <p:txBody>
          <a:bodyPr vert="horz" wrap="square" lIns="0" tIns="45720" rIns="91440" bIns="45720" numCol="1" anchor="ctr" anchorCtr="0" compatLnSpc="1">
            <a:prstTxWarp prst="textNoShape">
              <a:avLst/>
            </a:prstTxWarp>
          </a:bodyPr>
          <a:lstStyle>
            <a:lvl1pPr>
              <a:defRPr sz="1800"/>
            </a:lvl1pPr>
          </a:lstStyle>
          <a:p>
            <a:pPr lvl="0"/>
            <a:r>
              <a:rPr lang="en-US"/>
              <a:t>Click to edit Master title style</a:t>
            </a:r>
          </a:p>
        </p:txBody>
      </p:sp>
      <p:sp>
        <p:nvSpPr>
          <p:cNvPr id="4" name="Line 4"/>
          <p:cNvSpPr>
            <a:spLocks noChangeShapeType="1"/>
          </p:cNvSpPr>
          <p:nvPr userDrawn="1"/>
        </p:nvSpPr>
        <p:spPr bwMode="auto">
          <a:xfrm>
            <a:off x="426720" y="1060704"/>
            <a:ext cx="11338560" cy="0"/>
          </a:xfrm>
          <a:prstGeom prst="line">
            <a:avLst/>
          </a:prstGeom>
          <a:noFill/>
          <a:ln w="28575">
            <a:solidFill>
              <a:srgbClr val="DBCDA3"/>
            </a:solidFill>
            <a:round/>
            <a:headEnd/>
            <a:tailEnd/>
          </a:ln>
        </p:spPr>
        <p:txBody>
          <a:bodyPr wrap="none" anchor="ctr"/>
          <a:lstStyle/>
          <a:p>
            <a:pPr marL="0" marR="0" lvl="0" indent="0" algn="l" defTabSz="457200" rtl="0" eaLnBrk="0" fontAlgn="auto" latinLnBrk="0" hangingPunct="0">
              <a:lnSpc>
                <a:spcPct val="9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Content Placeholder 10"/>
          <p:cNvSpPr>
            <a:spLocks noGrp="1"/>
          </p:cNvSpPr>
          <p:nvPr>
            <p:ph sz="quarter" idx="10"/>
          </p:nvPr>
        </p:nvSpPr>
        <p:spPr>
          <a:xfrm>
            <a:off x="426720" y="1188721"/>
            <a:ext cx="11338560" cy="4986801"/>
          </a:xfrm>
        </p:spPr>
        <p:txBody>
          <a:bodyPr/>
          <a:lstStyle>
            <a:lvl2pPr>
              <a:buSzPct val="100000"/>
              <a:defRPr/>
            </a:lvl2pPr>
            <a:lvl3pPr marL="685800" indent="-228600">
              <a:buSzPct val="100000"/>
              <a:defRPr/>
            </a:lvl3pPr>
            <a:lvl4pPr marL="685800" indent="0">
              <a:buSzPct val="100000"/>
              <a:buNone/>
              <a:defRPr/>
            </a:lvl4pPr>
          </a:lstStyle>
          <a:p>
            <a:pPr lvl="0"/>
            <a:r>
              <a:rPr lang="en-US"/>
              <a:t>Click to edit Master text styles</a:t>
            </a:r>
          </a:p>
          <a:p>
            <a:pPr lvl="1"/>
            <a:r>
              <a:rPr lang="en-US"/>
              <a:t>Second level</a:t>
            </a:r>
          </a:p>
          <a:p>
            <a:pPr lvl="2"/>
            <a:r>
              <a:rPr lang="en-US"/>
              <a:t>Third level</a:t>
            </a:r>
          </a:p>
        </p:txBody>
      </p:sp>
      <p:sp>
        <p:nvSpPr>
          <p:cNvPr id="10" name="Slide Number Placeholder 5">
            <a:extLst>
              <a:ext uri="{FF2B5EF4-FFF2-40B4-BE49-F238E27FC236}">
                <a16:creationId xmlns:a16="http://schemas.microsoft.com/office/drawing/2014/main" id="{FC6EA941-3153-4BEC-91E1-C253E1A9E112}"/>
              </a:ext>
            </a:extLst>
          </p:cNvPr>
          <p:cNvSpPr txBox="1">
            <a:spLocks/>
          </p:cNvSpPr>
          <p:nvPr userDrawn="1"/>
        </p:nvSpPr>
        <p:spPr>
          <a:xfrm>
            <a:off x="11519337" y="155448"/>
            <a:ext cx="568367" cy="274320"/>
          </a:xfrm>
          <a:prstGeom prst="rect">
            <a:avLst/>
          </a:prstGeom>
          <a:ln>
            <a:solidFill>
              <a:sysClr val="windowText" lastClr="000000"/>
            </a:solidFill>
          </a:ln>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0566C06B-7969-479A-854B-651176F39A74}" type="slidenum">
              <a:rPr kumimoji="0" lang="en-US" sz="1200" b="0" i="0" u="none" strike="noStrike" kern="1200" cap="none" spc="0" normalizeH="0" baseline="0" noProof="0" smtClean="0">
                <a:ln>
                  <a:noFill/>
                </a:ln>
                <a:solidFill>
                  <a:srgbClr val="898989"/>
                </a:solidFill>
                <a:effectLst/>
                <a:uLnTx/>
                <a:uFillTx/>
                <a:latin typeface="Arial" panose="020B0604020202020204" pitchFamily="34" charset="0"/>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Arial" panose="020B0604020202020204" pitchFamily="34" charset="0"/>
            </a:endParaRPr>
          </a:p>
        </p:txBody>
      </p:sp>
      <p:sp>
        <p:nvSpPr>
          <p:cNvPr id="9" name="Text Placeholder 12">
            <a:extLst>
              <a:ext uri="{FF2B5EF4-FFF2-40B4-BE49-F238E27FC236}">
                <a16:creationId xmlns:a16="http://schemas.microsoft.com/office/drawing/2014/main" id="{18064655-CA29-4AAE-B70C-F27350921FC2}"/>
              </a:ext>
            </a:extLst>
          </p:cNvPr>
          <p:cNvSpPr>
            <a:spLocks noGrp="1"/>
          </p:cNvSpPr>
          <p:nvPr>
            <p:ph type="body" sz="quarter" idx="11"/>
          </p:nvPr>
        </p:nvSpPr>
        <p:spPr>
          <a:xfrm>
            <a:off x="426720" y="6230388"/>
            <a:ext cx="11338560" cy="365125"/>
          </a:xfrm>
        </p:spPr>
        <p:txBody>
          <a:bodyPr/>
          <a:lstStyle>
            <a:lvl1pPr>
              <a:buNone/>
              <a:defRPr sz="900"/>
            </a:lvl1pPr>
          </a:lstStyle>
          <a:p>
            <a:pPr lvl="0"/>
            <a:r>
              <a:rPr lang="en-US"/>
              <a:t>Click to edit Master text styles</a:t>
            </a:r>
          </a:p>
        </p:txBody>
      </p:sp>
      <p:sp>
        <p:nvSpPr>
          <p:cNvPr id="12" name="Footer Placeholder 4">
            <a:extLst>
              <a:ext uri="{FF2B5EF4-FFF2-40B4-BE49-F238E27FC236}">
                <a16:creationId xmlns:a16="http://schemas.microsoft.com/office/drawing/2014/main" id="{15C51CB0-F570-462F-B2F9-2F3FC829B957}"/>
              </a:ext>
            </a:extLst>
          </p:cNvPr>
          <p:cNvSpPr txBox="1">
            <a:spLocks/>
          </p:cNvSpPr>
          <p:nvPr userDrawn="1"/>
        </p:nvSpPr>
        <p:spPr>
          <a:xfrm>
            <a:off x="4150720" y="6524716"/>
            <a:ext cx="38608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tint val="75000"/>
                  </a:srgbClr>
                </a:solidFill>
                <a:effectLst/>
                <a:uLnTx/>
                <a:uFillTx/>
                <a:latin typeface="Arial" pitchFamily="34" charset="0"/>
                <a:ea typeface="+mn-ea"/>
                <a:cs typeface="Arial" pitchFamily="34" charset="0"/>
              </a:rPr>
              <a:t>Confidential</a:t>
            </a:r>
          </a:p>
        </p:txBody>
      </p:sp>
    </p:spTree>
    <p:extLst>
      <p:ext uri="{BB962C8B-B14F-4D97-AF65-F5344CB8AC3E}">
        <p14:creationId xmlns:p14="http://schemas.microsoft.com/office/powerpoint/2010/main" val="2155475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13" imgH="416" progId="TCLayout.ActiveDocument.1">
                  <p:embed/>
                </p:oleObj>
              </mc:Choice>
              <mc:Fallback>
                <p:oleObj name="think-cell Slide" r:id="rId5"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3"/>
            </p:custDataLst>
          </p:nvPr>
        </p:nvSpPr>
        <p:spPr>
          <a:xfrm>
            <a:off x="384048"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CA"/>
              <a:t>Source: …</a:t>
            </a:r>
          </a:p>
        </p:txBody>
      </p:sp>
      <p:sp>
        <p:nvSpPr>
          <p:cNvPr id="18" name="Slide Number">
            <a:extLst>
              <a:ext uri="{FF2B5EF4-FFF2-40B4-BE49-F238E27FC236}">
                <a16:creationId xmlns:a16="http://schemas.microsoft.com/office/drawing/2014/main" id="{97F3F571-51EF-4F44-0AC8-1FAE3154C6D3}"/>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4623503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12230326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4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3"/>
            </p:custDataLst>
          </p:nvPr>
        </p:nvSpPr>
        <p:spPr>
          <a:xfrm>
            <a:off x="384048" y="4980756"/>
            <a:ext cx="11420856" cy="276999"/>
          </a:xfrm>
          <a:prstGeom prst="rect">
            <a:avLst/>
          </a:prstGeom>
        </p:spPr>
        <p:txBody>
          <a:bodyPr vert="horz" wrap="square" lIns="0" tIns="0" rIns="0" bIns="0" rtlCol="0">
            <a:spAutoFit/>
          </a:bodyPr>
          <a:lstStyle>
            <a:lvl1pPr rtl="0">
              <a:defRPr kumimoji="0" lang="en-US" sz="2000" b="0" i="0" u="none" strike="noStrike" cap="none" spc="0" normalizeH="0" baseline="0" dirty="0">
                <a:ln>
                  <a:noFill/>
                </a:ln>
                <a:solidFill>
                  <a:srgbClr val="515349"/>
                </a:solidFill>
                <a:effectLst/>
                <a:uLnTx/>
                <a:uFillTx/>
                <a:latin typeface="Arial" panose="020B0604020202020204"/>
                <a:cs typeface="+mn-cs"/>
              </a:defRPr>
            </a:lvl1pPr>
          </a:lstStyle>
          <a:p>
            <a:pPr marR="0" lvl="0" defTabSz="685800" fontAlgn="auto">
              <a:lnSpc>
                <a:spcPct val="90000"/>
              </a:lnSpc>
              <a:spcBef>
                <a:spcPts val="1000"/>
              </a:spcBef>
              <a:spcAft>
                <a:spcPts val="0"/>
              </a:spcAft>
              <a:buClrTx/>
              <a:buSzTx/>
              <a:buFont typeface="Arial" panose="020B0604020202020204" pitchFamily="34" charset="0"/>
              <a:buNone/>
              <a:tabLst/>
            </a:pPr>
            <a:r>
              <a:rPr lang="en-US"/>
              <a:t>Click to edit Master subtitle style</a:t>
            </a:r>
            <a:endParaRPr lang="en-CA"/>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4"/>
            </p:custDataLst>
          </p:nvPr>
        </p:nvSpPr>
        <p:spPr>
          <a:xfrm>
            <a:off x="384048" y="2711195"/>
            <a:ext cx="11420856" cy="609398"/>
          </a:xfrm>
          <a:prstGeom prst="rect">
            <a:avLst/>
          </a:prstGeom>
        </p:spPr>
        <p:txBody>
          <a:bodyPr vert="horz" wrap="square" lIns="0" tIns="0" rIns="0" bIns="0" rtlCol="0" anchor="t" anchorCtr="0">
            <a:spAutoFit/>
          </a:bodyPr>
          <a:lstStyle>
            <a:lvl1pPr rtl="0">
              <a:defRPr kumimoji="0" lang="en-US" sz="4400" i="0" u="none" strike="noStrike" cap="none" normalizeH="0" dirty="0">
                <a:ln>
                  <a:noFill/>
                </a:ln>
                <a:solidFill>
                  <a:srgbClr val="515349"/>
                </a:solidFill>
                <a:effectLst/>
                <a:uLnTx/>
                <a:uFillTx/>
                <a:latin typeface="Arial" panose="020B0604020202020204"/>
              </a:defRPr>
            </a:lvl1pPr>
          </a:lstStyle>
          <a:p>
            <a:pPr marL="0" marR="0" lvl="0" indent="0" defTabSz="685800" fontAlgn="auto">
              <a:lnSpc>
                <a:spcPct val="90000"/>
              </a:lnSpc>
              <a:spcAft>
                <a:spcPts val="0"/>
              </a:spcAft>
              <a:buClrTx/>
              <a:buSzTx/>
              <a:buFontTx/>
              <a:tabLst/>
            </a:pPr>
            <a:r>
              <a:rPr lang="en-US"/>
              <a:t>Click to edit Master title style</a:t>
            </a:r>
            <a:endParaRPr lang="en-CA"/>
          </a:p>
        </p:txBody>
      </p:sp>
      <p:pic>
        <p:nvPicPr>
          <p:cNvPr id="12" name="Picture 11">
            <a:extLst>
              <a:ext uri="{FF2B5EF4-FFF2-40B4-BE49-F238E27FC236}">
                <a16:creationId xmlns:a16="http://schemas.microsoft.com/office/drawing/2014/main" id="{F1CF0184-ECB8-E567-18D1-18A7529CA6D1}"/>
              </a:ext>
            </a:extLst>
          </p:cNvPr>
          <p:cNvPicPr>
            <a:picLocks/>
          </p:cNvPicPr>
          <p:nvPr userDrawn="1"/>
        </p:nvPicPr>
        <p:blipFill>
          <a:blip r:embed="rId9"/>
          <a:stretch>
            <a:fillRect/>
          </a:stretch>
        </p:blipFill>
        <p:spPr>
          <a:xfrm>
            <a:off x="10203942" y="5912934"/>
            <a:ext cx="1600200" cy="602166"/>
          </a:xfrm>
          <a:prstGeom prst="rect">
            <a:avLst/>
          </a:prstGeom>
        </p:spPr>
      </p:pic>
      <p:sp>
        <p:nvSpPr>
          <p:cNvPr id="13" name="TextBox 12">
            <a:extLst>
              <a:ext uri="{FF2B5EF4-FFF2-40B4-BE49-F238E27FC236}">
                <a16:creationId xmlns:a16="http://schemas.microsoft.com/office/drawing/2014/main" id="{5DAD9AAC-CE4A-6459-4CDD-63A45392768C}"/>
              </a:ext>
            </a:extLst>
          </p:cNvPr>
          <p:cNvSpPr txBox="1"/>
          <p:nvPr userDrawn="1"/>
        </p:nvSpPr>
        <p:spPr>
          <a:xfrm>
            <a:off x="390981" y="6386285"/>
            <a:ext cx="1865085" cy="138499"/>
          </a:xfrm>
          <a:prstGeom prst="rect">
            <a:avLst/>
          </a:prstGeom>
          <a:noFill/>
        </p:spPr>
        <p:txBody>
          <a:bodyPr wrap="square" lIns="0" tIns="0" rIns="0" bIns="0"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CA" sz="900" b="0" i="0" u="none" strike="noStrike" kern="0" cap="none" spc="0" normalizeH="0" baseline="0" noProof="0">
                <a:ln>
                  <a:noFill/>
                </a:ln>
                <a:solidFill>
                  <a:srgbClr val="515349"/>
                </a:solidFill>
                <a:effectLst/>
                <a:uLnTx/>
                <a:uFillTx/>
              </a:rPr>
              <a:t>CONFIDENTIAL</a:t>
            </a:r>
          </a:p>
        </p:txBody>
      </p:sp>
      <p:sp>
        <p:nvSpPr>
          <p:cNvPr id="14" name="Date Placeholder 3">
            <a:extLst>
              <a:ext uri="{FF2B5EF4-FFF2-40B4-BE49-F238E27FC236}">
                <a16:creationId xmlns:a16="http://schemas.microsoft.com/office/drawing/2014/main" id="{7F57E0A3-B8F1-434E-5D86-6C16788C5AC0}"/>
              </a:ext>
            </a:extLst>
          </p:cNvPr>
          <p:cNvSpPr txBox="1">
            <a:spLocks/>
          </p:cNvSpPr>
          <p:nvPr userDrawn="1"/>
        </p:nvSpPr>
        <p:spPr>
          <a:xfrm>
            <a:off x="381000" y="0"/>
            <a:ext cx="1371600" cy="1371600"/>
          </a:xfrm>
          <a:prstGeom prst="rect">
            <a:avLst/>
          </a:prstGeom>
          <a:solidFill>
            <a:srgbClr val="BA0C2F"/>
          </a:solidFill>
        </p:spPr>
        <p:txBody>
          <a:bodyPr vert="horz" lIns="91440" tIns="0" rIns="0" bIns="137160" rtlCol="0" anchor="b" anchorCtr="0">
            <a:no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5"/>
            </p:custDataLst>
          </p:nvPr>
        </p:nvSpPr>
        <p:spPr>
          <a:xfrm>
            <a:off x="471448" y="1082457"/>
            <a:ext cx="1133554" cy="15388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rtl="0">
              <a:defRPr lang="en-US" sz="1000" dirty="0">
                <a:solidFill>
                  <a:schemeClr val="bg1"/>
                </a:solidFill>
              </a:defRPr>
            </a:lvl1pPr>
          </a:lstStyle>
          <a:p>
            <a:pPr lvl="0">
              <a:buNone/>
            </a:pPr>
            <a:r>
              <a:rPr lang="en-CA"/>
              <a:t>Edit date or title/role</a:t>
            </a:r>
          </a:p>
        </p:txBody>
      </p:sp>
    </p:spTree>
    <p:extLst>
      <p:ext uri="{BB962C8B-B14F-4D97-AF65-F5344CB8AC3E}">
        <p14:creationId xmlns:p14="http://schemas.microsoft.com/office/powerpoint/2010/main" val="26231783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40000494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384048" y="1115190"/>
            <a:ext cx="11420856"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b="0" baseline="0" dirty="0"/>
            </a:lvl1pPr>
          </a:lstStyle>
          <a:p>
            <a:pPr lvl="0">
              <a:buNone/>
            </a:pPr>
            <a:r>
              <a:rPr lang="en-US"/>
              <a:t>Click to edit Master subtitle style</a:t>
            </a:r>
            <a:endParaRPr lang="en-CA"/>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4"/>
            </p:custDataLst>
          </p:nvPr>
        </p:nvSpPr>
        <p:spPr>
          <a:xfrm>
            <a:off x="384048"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CA"/>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5"/>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6"/>
            </p:custDataLst>
          </p:nvPr>
        </p:nvSpPr>
        <p:spPr>
          <a:xfrm>
            <a:off x="384048" y="474575"/>
            <a:ext cx="11420856"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rtl="0">
              <a:defRPr lang="en-US" b="0" dirty="0">
                <a:solidFill>
                  <a:schemeClr val="accent1"/>
                </a:solidFill>
              </a:defRPr>
            </a:lvl1pPr>
          </a:lstStyle>
          <a:p>
            <a:pPr lvl="0"/>
            <a:r>
              <a:rPr lang="en-US"/>
              <a:t>Click to edit Master title style</a:t>
            </a:r>
            <a:endParaRPr lang="en-CA"/>
          </a:p>
        </p:txBody>
      </p:sp>
      <p:sp>
        <p:nvSpPr>
          <p:cNvPr id="18" name="Slide Number">
            <a:extLst>
              <a:ext uri="{FF2B5EF4-FFF2-40B4-BE49-F238E27FC236}">
                <a16:creationId xmlns:a16="http://schemas.microsoft.com/office/drawing/2014/main" id="{97F3F571-51EF-4F44-0AC8-1FAE3154C6D3}"/>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40948503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line + Subtitle">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6151402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bwMode="gray">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9" name="Sticker" hidden="1">
            <a:extLst>
              <a:ext uri="{FF2B5EF4-FFF2-40B4-BE49-F238E27FC236}">
                <a16:creationId xmlns:a16="http://schemas.microsoft.com/office/drawing/2014/main" id="{64F3132B-1605-45D5-B06F-B703D774997D}"/>
              </a:ext>
            </a:extLst>
          </p:cNvPr>
          <p:cNvSpPr txBox="1"/>
          <p:nvPr userDrawn="1"/>
        </p:nvSpPr>
        <p:spPr bwMode="gray">
          <a:xfrm>
            <a:off x="384048" y="1590395"/>
            <a:ext cx="450444" cy="123111"/>
          </a:xfrm>
          <a:prstGeom prst="rect">
            <a:avLst/>
          </a:prstGeom>
          <a:noFill/>
          <a:ln w="6350">
            <a:noFill/>
            <a:miter lim="800000"/>
          </a:ln>
        </p:spPr>
        <p:txBody>
          <a:bodyPr vert="horz" wrap="none" lIns="0" tIns="0" rIns="0" bIns="0" rtlCol="0">
            <a:spAutoFit/>
          </a:bodyPr>
          <a:lstStyle/>
          <a:p>
            <a:pPr algn="l" rtl="0">
              <a:spcBef>
                <a:spcPts val="300"/>
              </a:spcBef>
              <a:spcAft>
                <a:spcPts val="300"/>
              </a:spcAft>
              <a:buNone/>
            </a:pPr>
            <a:r>
              <a:rPr lang="en-CA" sz="800" b="1" cap="all" baseline="0"/>
              <a:t>STICKER</a:t>
            </a:r>
          </a:p>
        </p:txBody>
      </p:sp>
      <p:sp>
        <p:nvSpPr>
          <p:cNvPr id="14" name="3. Subtitle">
            <a:extLst>
              <a:ext uri="{FF2B5EF4-FFF2-40B4-BE49-F238E27FC236}">
                <a16:creationId xmlns:a16="http://schemas.microsoft.com/office/drawing/2014/main" id="{D4D36123-678D-4B6C-A648-186F85BE34AE}"/>
              </a:ext>
            </a:extLst>
          </p:cNvPr>
          <p:cNvSpPr>
            <a:spLocks noGrp="1"/>
          </p:cNvSpPr>
          <p:nvPr userDrawn="1">
            <p:ph type="subTitle" idx="1"/>
            <p:custDataLst>
              <p:tags r:id="rId3"/>
            </p:custDataLst>
          </p:nvPr>
        </p:nvSpPr>
        <p:spPr bwMode="gray">
          <a:xfrm>
            <a:off x="384048" y="1323370"/>
            <a:ext cx="11420856" cy="246221"/>
          </a:xfrm>
          <a:prstGeom prst="rect">
            <a:avLst/>
          </a:prstGeom>
        </p:spPr>
        <p:txBody>
          <a:bodyPr wrap="square">
            <a:no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4"/>
            </p:custDataLst>
          </p:nvPr>
        </p:nvSpPr>
        <p:spPr bwMode="gray">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10" name="2. Slide Title">
            <a:extLst>
              <a:ext uri="{FF2B5EF4-FFF2-40B4-BE49-F238E27FC236}">
                <a16:creationId xmlns:a16="http://schemas.microsoft.com/office/drawing/2014/main" id="{8326FFD0-8389-4032-AAB8-00C262CAF746}"/>
              </a:ext>
            </a:extLst>
          </p:cNvPr>
          <p:cNvSpPr>
            <a:spLocks noGrp="1"/>
          </p:cNvSpPr>
          <p:nvPr userDrawn="1">
            <p:ph type="title" hasCustomPrompt="1"/>
            <p:custDataLst>
              <p:tags r:id="rId5"/>
            </p:custDataLst>
          </p:nvPr>
        </p:nvSpPr>
        <p:spPr bwMode="gray">
          <a:xfrm>
            <a:off x="384048" y="474575"/>
            <a:ext cx="11420856" cy="769441"/>
          </a:xfrm>
          <a:prstGeom prst="rect">
            <a:avLst/>
          </a:prstGeom>
        </p:spPr>
        <p:txBody>
          <a:bodyPr vert="horz" wrap="square" lIns="0" tIns="0" rIns="0" bIns="0" rtlCol="0" anchor="t" anchorCtr="0">
            <a:noAutofit/>
          </a:bodyPr>
          <a:lstStyle>
            <a:lvl1pPr rtl="0">
              <a:defRPr/>
            </a:lvl1pPr>
          </a:lstStyle>
          <a:p>
            <a:r>
              <a:rPr lang="en-CA"/>
              <a:t>Click to edit Master title style</a:t>
            </a:r>
            <a:br>
              <a:rPr lang="en-CA"/>
            </a:br>
            <a:endParaRPr lang="en-CA"/>
          </a:p>
        </p:txBody>
      </p:sp>
      <p:sp>
        <p:nvSpPr>
          <p:cNvPr id="13" name="1. On-page tracker">
            <a:extLst>
              <a:ext uri="{FF2B5EF4-FFF2-40B4-BE49-F238E27FC236}">
                <a16:creationId xmlns:a16="http://schemas.microsoft.com/office/drawing/2014/main" id="{07FBFE66-0229-81D3-DEA7-A5D6BC24A4F4}"/>
              </a:ext>
            </a:extLst>
          </p:cNvPr>
          <p:cNvSpPr>
            <a:spLocks noGrp="1"/>
          </p:cNvSpPr>
          <p:nvPr>
            <p:ph type="body" sz="quarter" idx="10" hasCustomPrompt="1"/>
            <p:custDataLst>
              <p:tags r:id="rId6"/>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sp>
        <p:nvSpPr>
          <p:cNvPr id="4" name="Slide Number">
            <a:extLst>
              <a:ext uri="{FF2B5EF4-FFF2-40B4-BE49-F238E27FC236}">
                <a16:creationId xmlns:a16="http://schemas.microsoft.com/office/drawing/2014/main" id="{40B08A77-C8F9-D70A-A072-D3ED836CF0AD}"/>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13064636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1"/>
            </p:custDataLst>
            <p:extLst>
              <p:ext uri="{D42A27DB-BD31-4B8C-83A1-F6EECF244321}">
                <p14:modId xmlns:p14="http://schemas.microsoft.com/office/powerpoint/2010/main" val="23472513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384048" y="1408557"/>
            <a:ext cx="3813048" cy="769441"/>
          </a:xfrm>
          <a:prstGeom prst="rect">
            <a:avLst/>
          </a:prstGeom>
        </p:spPr>
        <p:txBody>
          <a:bodyPr vert="horz" anchor="t">
            <a:noAutofit/>
          </a:bodyPr>
          <a:lstStyle>
            <a:lvl1pPr rtl="0">
              <a:lnSpc>
                <a:spcPct val="100000"/>
              </a:lnSpc>
              <a:defRPr>
                <a:ln w="6350" cap="flat">
                  <a:noFill/>
                  <a:miter lim="800000"/>
                </a:ln>
              </a:defRPr>
            </a:lvl1pPr>
          </a:lstStyle>
          <a:p>
            <a:r>
              <a:rPr lang="en-US"/>
              <a:t>Click to edit Master title style</a:t>
            </a:r>
            <a:endParaRPr lang="en-CA"/>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4"/>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5" name="1. On-page tracker">
            <a:extLst>
              <a:ext uri="{FF2B5EF4-FFF2-40B4-BE49-F238E27FC236}">
                <a16:creationId xmlns:a16="http://schemas.microsoft.com/office/drawing/2014/main" id="{EB71C6E1-DE5D-7A0F-63A1-33C47957C435}"/>
              </a:ext>
            </a:extLst>
          </p:cNvPr>
          <p:cNvSpPr>
            <a:spLocks noGrp="1"/>
          </p:cNvSpPr>
          <p:nvPr>
            <p:ph type="body" sz="quarter" idx="10" hasCustomPrompt="1"/>
            <p:custDataLst>
              <p:tags r:id="rId5"/>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sp>
        <p:nvSpPr>
          <p:cNvPr id="4" name="Slide Number">
            <a:extLst>
              <a:ext uri="{FF2B5EF4-FFF2-40B4-BE49-F238E27FC236}">
                <a16:creationId xmlns:a16="http://schemas.microsoft.com/office/drawing/2014/main" id="{E869EB9E-E8D7-915A-FAA4-6FB69BAE7D16}"/>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12819989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1"/>
            </p:custDataLst>
            <p:extLst>
              <p:ext uri="{D42A27DB-BD31-4B8C-83A1-F6EECF244321}">
                <p14:modId xmlns:p14="http://schemas.microsoft.com/office/powerpoint/2010/main" val="41093503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384048" y="3044280"/>
            <a:ext cx="5065776" cy="769441"/>
          </a:xfrm>
          <a:prstGeom prst="rect">
            <a:avLst/>
          </a:prstGeom>
        </p:spPr>
        <p:txBody>
          <a:bodyPr vert="horz" rIns="365760" anchor="ctr">
            <a:noAutofit/>
          </a:bodyPr>
          <a:lstStyle>
            <a:lvl1pPr rtl="0">
              <a:defRPr>
                <a:ln w="6350" cap="flat">
                  <a:noFill/>
                  <a:miter lim="800000"/>
                </a:ln>
              </a:defRPr>
            </a:lvl1pPr>
          </a:lstStyle>
          <a:p>
            <a:r>
              <a:rPr lang="en-US"/>
              <a:t>Click to edit Master title style</a:t>
            </a:r>
            <a:endParaRPr lang="en-CA"/>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4"/>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6" name="1. On-page tracker">
            <a:extLst>
              <a:ext uri="{FF2B5EF4-FFF2-40B4-BE49-F238E27FC236}">
                <a16:creationId xmlns:a16="http://schemas.microsoft.com/office/drawing/2014/main" id="{2F1A3042-0217-F9CF-F5A5-A65BDF92251C}"/>
              </a:ext>
            </a:extLst>
          </p:cNvPr>
          <p:cNvSpPr>
            <a:spLocks noGrp="1"/>
          </p:cNvSpPr>
          <p:nvPr>
            <p:ph type="body" sz="quarter" idx="10" hasCustomPrompt="1"/>
            <p:custDataLst>
              <p:tags r:id="rId5"/>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sp>
        <p:nvSpPr>
          <p:cNvPr id="7" name="Slide Number">
            <a:extLst>
              <a:ext uri="{FF2B5EF4-FFF2-40B4-BE49-F238E27FC236}">
                <a16:creationId xmlns:a16="http://schemas.microsoft.com/office/drawing/2014/main" id="{56C1B020-44DE-6693-0D74-237F8F4102C5}"/>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2071507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32023421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FF0955D6-D05B-7664-303A-D5A9940E27F5}"/>
              </a:ext>
            </a:extLst>
          </p:cNvPr>
          <p:cNvSpPr>
            <a:spLocks/>
          </p:cNvSpPr>
          <p:nvPr userDrawn="1"/>
        </p:nvSpPr>
        <p:spPr>
          <a:xfrm>
            <a:off x="-6628" y="-1"/>
            <a:ext cx="12198627" cy="6210301"/>
          </a:xfrm>
          <a:prstGeom prst="rect">
            <a:avLst/>
          </a:prstGeom>
          <a:solidFill>
            <a:srgbClr val="E6E6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35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4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384048" y="2711194"/>
            <a:ext cx="11426952" cy="677108"/>
          </a:xfrm>
        </p:spPr>
        <p:txBody>
          <a:bodyPr vert="horz" anchor="b">
            <a:noAutofit/>
          </a:bodyPr>
          <a:lstStyle>
            <a:lvl1pPr rtl="0">
              <a:lnSpc>
                <a:spcPct val="100000"/>
              </a:lnSpc>
              <a:defRPr sz="4400">
                <a:solidFill>
                  <a:schemeClr val="tx1"/>
                </a:solidFill>
              </a:defRPr>
            </a:lvl1pPr>
          </a:lstStyle>
          <a:p>
            <a:r>
              <a:rPr lang="en-US"/>
              <a:t>Click to edit Master title style</a:t>
            </a:r>
            <a:endParaRPr lang="en-CA"/>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4"/>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5" name="1. On-page tracker">
            <a:extLst>
              <a:ext uri="{FF2B5EF4-FFF2-40B4-BE49-F238E27FC236}">
                <a16:creationId xmlns:a16="http://schemas.microsoft.com/office/drawing/2014/main" id="{16D4646D-BA34-98E0-F9F9-093863FFBBE6}"/>
              </a:ext>
            </a:extLst>
          </p:cNvPr>
          <p:cNvSpPr>
            <a:spLocks noGrp="1"/>
          </p:cNvSpPr>
          <p:nvPr>
            <p:ph type="body" sz="quarter" idx="10" hasCustomPrompt="1"/>
            <p:custDataLst>
              <p:tags r:id="rId5"/>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sp>
        <p:nvSpPr>
          <p:cNvPr id="15" name="Subtitle 2">
            <a:extLst>
              <a:ext uri="{FF2B5EF4-FFF2-40B4-BE49-F238E27FC236}">
                <a16:creationId xmlns:a16="http://schemas.microsoft.com/office/drawing/2014/main" id="{71079BF3-6963-A282-86D6-96139A5133C2}"/>
              </a:ext>
            </a:extLst>
          </p:cNvPr>
          <p:cNvSpPr>
            <a:spLocks noGrp="1"/>
          </p:cNvSpPr>
          <p:nvPr>
            <p:ph type="subTitle" idx="1"/>
          </p:nvPr>
        </p:nvSpPr>
        <p:spPr>
          <a:xfrm>
            <a:off x="384048" y="4980756"/>
            <a:ext cx="11420856" cy="930841"/>
          </a:xfrm>
        </p:spPr>
        <p:txBody>
          <a:bodyPr>
            <a:normAutofit/>
          </a:bodyPr>
          <a:lstStyle>
            <a:lvl1pPr marL="0" indent="0" algn="l" rtl="0">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8" name="Slide Number">
            <a:extLst>
              <a:ext uri="{FF2B5EF4-FFF2-40B4-BE49-F238E27FC236}">
                <a16:creationId xmlns:a16="http://schemas.microsoft.com/office/drawing/2014/main" id="{5D06A922-CECD-E279-7930-6D1DFBF959FA}"/>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20861785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1"/>
            </p:custDataLst>
            <p:extLst>
              <p:ext uri="{D42A27DB-BD31-4B8C-83A1-F6EECF244321}">
                <p14:modId xmlns:p14="http://schemas.microsoft.com/office/powerpoint/2010/main" val="37912330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EC6EE29E-F64A-419F-BFB0-EEDEB71953F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3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56229"/>
            <a:ext cx="9180576" cy="523220"/>
          </a:xfrm>
          <a:prstGeom prst="rect">
            <a:avLst/>
          </a:prstGeom>
        </p:spPr>
        <p:txBody>
          <a:bodyPr vert="horz" anchor="b">
            <a:spAutoFit/>
          </a:bodyPr>
          <a:lstStyle>
            <a:lvl1pPr rtl="0">
              <a:lnSpc>
                <a:spcPct val="105000"/>
              </a:lnSpc>
              <a:defRPr sz="3400"/>
            </a:lvl1pPr>
          </a:lstStyle>
          <a:p>
            <a:r>
              <a:rPr lang="en-CA"/>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a:t>Click to add quote source</a:t>
            </a: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5"/>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5" name="1. On-page tracker">
            <a:extLst>
              <a:ext uri="{FF2B5EF4-FFF2-40B4-BE49-F238E27FC236}">
                <a16:creationId xmlns:a16="http://schemas.microsoft.com/office/drawing/2014/main" id="{FDEF8BC5-6191-1F35-7C7B-6D5416C1724B}"/>
              </a:ext>
            </a:extLst>
          </p:cNvPr>
          <p:cNvSpPr>
            <a:spLocks noGrp="1"/>
          </p:cNvSpPr>
          <p:nvPr>
            <p:ph type="body" sz="quarter" idx="10" hasCustomPrompt="1"/>
            <p:custDataLst>
              <p:tags r:id="rId6"/>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sp>
        <p:nvSpPr>
          <p:cNvPr id="9" name="Slide Number">
            <a:extLst>
              <a:ext uri="{FF2B5EF4-FFF2-40B4-BE49-F238E27FC236}">
                <a16:creationId xmlns:a16="http://schemas.microsoft.com/office/drawing/2014/main" id="{2A8991E8-2D24-AAF4-9655-7C15CED50A2B}"/>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18620867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10865461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CA">
              <a:solidFill>
                <a:srgbClr val="F0F0F0"/>
              </a:solidFill>
              <a:latin typeface="Arial" panose="020B0604020202020204" pitchFamily="34" charset="0"/>
            </a:endParaRP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4"/>
            </p:custDataLst>
          </p:nvPr>
        </p:nvSpPr>
        <p:spPr>
          <a:xfrm>
            <a:off x="381000" y="3659644"/>
            <a:ext cx="2688336" cy="492443"/>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CA"/>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5"/>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6"/>
            </p:custDataLst>
          </p:nvPr>
        </p:nvSpPr>
        <p:spPr>
          <a:xfrm>
            <a:off x="381000" y="41597"/>
            <a:ext cx="2688336" cy="123111"/>
          </a:xfrm>
          <a:prstGeom prst="rect">
            <a:avLst/>
          </a:prstGeom>
          <a:ln w="6350">
            <a:noFill/>
            <a:miter lim="800000"/>
          </a:ln>
        </p:spPr>
        <p:txBody>
          <a:bodyPr vert="horz" wrap="square" lIns="0" tIns="0" rIns="0" bIns="0" rtlCol="0">
            <a:noAutofit/>
          </a:bodyPr>
          <a:lstStyle>
            <a:lvl1pPr rtl="0">
              <a:defRPr lang="en-US" sz="800" b="0" dirty="0">
                <a:cs typeface="+mn-cs"/>
              </a:defRPr>
            </a:lvl1pPr>
          </a:lstStyle>
          <a:p>
            <a:pPr lvl="0">
              <a:buNone/>
            </a:pPr>
            <a:r>
              <a:rPr lang="en-CA"/>
              <a:t>Add tracker</a:t>
            </a:r>
          </a:p>
        </p:txBody>
      </p:sp>
      <p:sp>
        <p:nvSpPr>
          <p:cNvPr id="11" name="2. Slide Title">
            <a:extLst>
              <a:ext uri="{FF2B5EF4-FFF2-40B4-BE49-F238E27FC236}">
                <a16:creationId xmlns:a16="http://schemas.microsoft.com/office/drawing/2014/main" id="{BD1E8CEA-59CA-420E-955C-4C9FBA24773C}"/>
              </a:ext>
            </a:extLst>
          </p:cNvPr>
          <p:cNvSpPr>
            <a:spLocks noGrp="1"/>
          </p:cNvSpPr>
          <p:nvPr>
            <p:ph type="title"/>
            <p:custDataLst>
              <p:tags r:id="rId7"/>
            </p:custDataLst>
          </p:nvPr>
        </p:nvSpPr>
        <p:spPr>
          <a:xfrm>
            <a:off x="381000" y="2744369"/>
            <a:ext cx="2688336" cy="769441"/>
          </a:xfrm>
          <a:prstGeom prst="rect">
            <a:avLst/>
          </a:prstGeom>
        </p:spPr>
        <p:txBody>
          <a:bodyPr vert="horz" wrap="square" lIns="0" tIns="0" rIns="0" bIns="0" rtlCol="0" anchor="b" anchorCtr="0">
            <a:noAutofit/>
          </a:bodyPr>
          <a:lstStyle>
            <a:lvl1pPr rtl="0">
              <a:defRPr/>
            </a:lvl1pPr>
          </a:lstStyle>
          <a:p>
            <a:pPr lvl="0"/>
            <a:r>
              <a:rPr lang="en-US"/>
              <a:t>Click to edit Master title style</a:t>
            </a:r>
            <a:endParaRPr lang="en-CA"/>
          </a:p>
        </p:txBody>
      </p:sp>
      <p:sp>
        <p:nvSpPr>
          <p:cNvPr id="2" name="Slide Number Placeholder 5">
            <a:extLst>
              <a:ext uri="{FF2B5EF4-FFF2-40B4-BE49-F238E27FC236}">
                <a16:creationId xmlns:a16="http://schemas.microsoft.com/office/drawing/2014/main" id="{1603FDD6-0839-DB06-FE77-FA0CD3809260}"/>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pic>
        <p:nvPicPr>
          <p:cNvPr id="12" name="Picture 11">
            <a:extLst>
              <a:ext uri="{FF2B5EF4-FFF2-40B4-BE49-F238E27FC236}">
                <a16:creationId xmlns:a16="http://schemas.microsoft.com/office/drawing/2014/main" id="{D1994489-C8A4-5CBD-D014-867AC0650C52}"/>
              </a:ext>
            </a:extLst>
          </p:cNvPr>
          <p:cNvPicPr>
            <a:picLocks/>
          </p:cNvPicPr>
          <p:nvPr userDrawn="1"/>
        </p:nvPicPr>
        <p:blipFill>
          <a:blip r:embed="rId11"/>
          <a:stretch>
            <a:fillRect/>
          </a:stretch>
        </p:blipFill>
        <p:spPr>
          <a:xfrm>
            <a:off x="10853928" y="6388101"/>
            <a:ext cx="950976" cy="357859"/>
          </a:xfrm>
          <a:prstGeom prst="rect">
            <a:avLst/>
          </a:prstGeom>
        </p:spPr>
      </p:pic>
      <p:sp>
        <p:nvSpPr>
          <p:cNvPr id="7" name="Slide Number">
            <a:extLst>
              <a:ext uri="{FF2B5EF4-FFF2-40B4-BE49-F238E27FC236}">
                <a16:creationId xmlns:a16="http://schemas.microsoft.com/office/drawing/2014/main" id="{01C9D920-E27C-991F-5BF9-F69F2FEB620E}"/>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14975208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16644388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CA">
              <a:solidFill>
                <a:srgbClr val="F0F0F0"/>
              </a:solidFill>
              <a:latin typeface="Arial" panose="020B0604020202020204" pitchFamily="34" charset="0"/>
            </a:endParaRP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4"/>
            </p:custDataLst>
          </p:nvPr>
        </p:nvSpPr>
        <p:spPr>
          <a:xfrm>
            <a:off x="380999" y="3659644"/>
            <a:ext cx="3639311" cy="246221"/>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CA"/>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5"/>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11" name="2. Slide Title">
            <a:extLst>
              <a:ext uri="{FF2B5EF4-FFF2-40B4-BE49-F238E27FC236}">
                <a16:creationId xmlns:a16="http://schemas.microsoft.com/office/drawing/2014/main" id="{B064DA18-FA54-43C0-B981-F306F40179F4}"/>
              </a:ext>
            </a:extLst>
          </p:cNvPr>
          <p:cNvSpPr>
            <a:spLocks noGrp="1"/>
          </p:cNvSpPr>
          <p:nvPr>
            <p:ph type="title"/>
            <p:custDataLst>
              <p:tags r:id="rId6"/>
            </p:custDataLst>
          </p:nvPr>
        </p:nvSpPr>
        <p:spPr>
          <a:xfrm>
            <a:off x="381000" y="2744369"/>
            <a:ext cx="3639310" cy="769441"/>
          </a:xfrm>
          <a:prstGeom prst="rect">
            <a:avLst/>
          </a:prstGeom>
        </p:spPr>
        <p:txBody>
          <a:bodyPr vert="horz" wrap="square" lIns="0" tIns="0" rIns="0" bIns="0" rtlCol="0" anchor="b" anchorCtr="0">
            <a:noAutofit/>
          </a:bodyPr>
          <a:lstStyle>
            <a:lvl1pPr rtl="0">
              <a:defRPr/>
            </a:lvl1pPr>
          </a:lstStyle>
          <a:p>
            <a:pPr lvl="0"/>
            <a:r>
              <a:rPr lang="en-US"/>
              <a:t>Click to edit Master title style</a:t>
            </a:r>
            <a:endParaRPr lang="en-CA"/>
          </a:p>
        </p:txBody>
      </p:sp>
      <p:sp>
        <p:nvSpPr>
          <p:cNvPr id="2" name="Slide Number Placeholder 5">
            <a:extLst>
              <a:ext uri="{FF2B5EF4-FFF2-40B4-BE49-F238E27FC236}">
                <a16:creationId xmlns:a16="http://schemas.microsoft.com/office/drawing/2014/main" id="{4AE06247-B4E4-3760-6D3A-246B7082D3B9}"/>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8" name="1. On-page tracker">
            <a:extLst>
              <a:ext uri="{FF2B5EF4-FFF2-40B4-BE49-F238E27FC236}">
                <a16:creationId xmlns:a16="http://schemas.microsoft.com/office/drawing/2014/main" id="{EEA478D6-0038-FCEC-114C-9815DC7B99A5}"/>
              </a:ext>
            </a:extLst>
          </p:cNvPr>
          <p:cNvSpPr>
            <a:spLocks noGrp="1"/>
          </p:cNvSpPr>
          <p:nvPr>
            <p:ph type="body" sz="quarter" idx="10" hasCustomPrompt="1"/>
            <p:custDataLst>
              <p:tags r:id="rId7"/>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9" name="Picture 8">
            <a:extLst>
              <a:ext uri="{FF2B5EF4-FFF2-40B4-BE49-F238E27FC236}">
                <a16:creationId xmlns:a16="http://schemas.microsoft.com/office/drawing/2014/main" id="{7547A4F8-6242-C226-F584-9D2FFC9BC952}"/>
              </a:ext>
            </a:extLst>
          </p:cNvPr>
          <p:cNvPicPr>
            <a:picLocks/>
          </p:cNvPicPr>
          <p:nvPr userDrawn="1"/>
        </p:nvPicPr>
        <p:blipFill>
          <a:blip r:embed="rId11"/>
          <a:stretch>
            <a:fillRect/>
          </a:stretch>
        </p:blipFill>
        <p:spPr>
          <a:xfrm>
            <a:off x="10853928" y="6388101"/>
            <a:ext cx="950976" cy="357859"/>
          </a:xfrm>
          <a:prstGeom prst="rect">
            <a:avLst/>
          </a:prstGeom>
        </p:spPr>
      </p:pic>
      <p:sp>
        <p:nvSpPr>
          <p:cNvPr id="7" name="Slide Number">
            <a:extLst>
              <a:ext uri="{FF2B5EF4-FFF2-40B4-BE49-F238E27FC236}">
                <a16:creationId xmlns:a16="http://schemas.microsoft.com/office/drawing/2014/main" id="{903A619D-61BB-3412-4045-F5E27F0D5E1D}"/>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30856701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984165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CA">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384048" y="474575"/>
            <a:ext cx="5236463" cy="384721"/>
          </a:xfrm>
        </p:spPr>
        <p:txBody>
          <a:bodyPr vert="horz" wrap="square" anchor="ctr">
            <a:spAutoFit/>
          </a:bodyPr>
          <a:lstStyle>
            <a:lvl1pPr rtl="0">
              <a:defRPr/>
            </a:lvl1pPr>
          </a:lstStyle>
          <a:p>
            <a:r>
              <a:rPr lang="en-US"/>
              <a:t>Click to edit Master title style</a:t>
            </a:r>
            <a:endParaRPr lang="en-CA"/>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384048" y="1115190"/>
            <a:ext cx="5236463" cy="246221"/>
          </a:xfrm>
          <a:prstGeom prst="rect">
            <a:avLst/>
          </a:prstGeom>
        </p:spPr>
        <p:txBody>
          <a:bodyPr wrap="square">
            <a:no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2" name="Slide Number Placeholder 5">
            <a:extLst>
              <a:ext uri="{FF2B5EF4-FFF2-40B4-BE49-F238E27FC236}">
                <a16:creationId xmlns:a16="http://schemas.microsoft.com/office/drawing/2014/main" id="{565DC02E-B329-EB93-B8A7-27601F26D8CE}"/>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14" name="1. On-page tracker">
            <a:extLst>
              <a:ext uri="{FF2B5EF4-FFF2-40B4-BE49-F238E27FC236}">
                <a16:creationId xmlns:a16="http://schemas.microsoft.com/office/drawing/2014/main" id="{E713FEFC-2BDB-122E-D26F-A4B8B64B7F7D}"/>
              </a:ext>
            </a:extLst>
          </p:cNvPr>
          <p:cNvSpPr>
            <a:spLocks noGrp="1"/>
          </p:cNvSpPr>
          <p:nvPr>
            <p:ph type="body" sz="quarter" idx="10" hasCustomPrompt="1"/>
            <p:custDataLst>
              <p:tags r:id="rId7"/>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15" name="Picture 14">
            <a:extLst>
              <a:ext uri="{FF2B5EF4-FFF2-40B4-BE49-F238E27FC236}">
                <a16:creationId xmlns:a16="http://schemas.microsoft.com/office/drawing/2014/main" id="{E0818379-956A-0326-E041-CFC8B000C209}"/>
              </a:ext>
            </a:extLst>
          </p:cNvPr>
          <p:cNvPicPr>
            <a:picLocks/>
          </p:cNvPicPr>
          <p:nvPr userDrawn="1"/>
        </p:nvPicPr>
        <p:blipFill>
          <a:blip r:embed="rId11"/>
          <a:stretch>
            <a:fillRect/>
          </a:stretch>
        </p:blipFill>
        <p:spPr>
          <a:xfrm>
            <a:off x="10853928" y="6388101"/>
            <a:ext cx="950976" cy="357859"/>
          </a:xfrm>
          <a:prstGeom prst="rect">
            <a:avLst/>
          </a:prstGeom>
        </p:spPr>
      </p:pic>
      <p:sp>
        <p:nvSpPr>
          <p:cNvPr id="6" name="Slide Number">
            <a:extLst>
              <a:ext uri="{FF2B5EF4-FFF2-40B4-BE49-F238E27FC236}">
                <a16:creationId xmlns:a16="http://schemas.microsoft.com/office/drawing/2014/main" id="{EA76B8C4-DFB3-C0B8-ABA8-9D0E25A7AE5A}"/>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18844363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10035905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72" imgH="588" progId="TCLayout.ActiveDocument.1">
                  <p:embed/>
                </p:oleObj>
              </mc:Choice>
              <mc:Fallback>
                <p:oleObj name="think-cell Slide" r:id="rId9"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384048" y="474575"/>
            <a:ext cx="7138416" cy="384721"/>
          </a:xfrm>
        </p:spPr>
        <p:txBody>
          <a:bodyPr vert="horz" wrap="square" anchor="ctr">
            <a:spAutoFit/>
          </a:bodyPr>
          <a:lstStyle>
            <a:lvl1pPr rtl="0">
              <a:defRPr/>
            </a:lvl1pPr>
          </a:lstStyle>
          <a:p>
            <a:r>
              <a:rPr lang="en-US"/>
              <a:t>Click to edit Master title style</a:t>
            </a:r>
            <a:endParaRPr lang="en-CA"/>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CA">
              <a:solidFill>
                <a:srgbClr val="F0F0F0"/>
              </a:solidFill>
              <a:latin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5"/>
            </p:custDataLst>
          </p:nvPr>
        </p:nvSpPr>
        <p:spPr>
          <a:xfrm>
            <a:off x="384048" y="1115190"/>
            <a:ext cx="713841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6"/>
            </p:custDataLst>
          </p:nvPr>
        </p:nvSpPr>
        <p:spPr>
          <a:xfrm>
            <a:off x="384048"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solidFill>
                  <a:schemeClr val="tx1"/>
                </a:solidFill>
              </a:rPr>
              <a:t>Source: …</a:t>
            </a:r>
          </a:p>
        </p:txBody>
      </p:sp>
      <p:sp>
        <p:nvSpPr>
          <p:cNvPr id="2" name="Slide Number Placeholder 5">
            <a:extLst>
              <a:ext uri="{FF2B5EF4-FFF2-40B4-BE49-F238E27FC236}">
                <a16:creationId xmlns:a16="http://schemas.microsoft.com/office/drawing/2014/main" id="{56B5062B-A2D4-0FFA-26FA-D9C7D16114F7}"/>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12" name="1. On-page tracker">
            <a:extLst>
              <a:ext uri="{FF2B5EF4-FFF2-40B4-BE49-F238E27FC236}">
                <a16:creationId xmlns:a16="http://schemas.microsoft.com/office/drawing/2014/main" id="{75EDA958-CF08-C5B5-A0A7-F79FB7FF36AD}"/>
              </a:ext>
            </a:extLst>
          </p:cNvPr>
          <p:cNvSpPr>
            <a:spLocks noGrp="1"/>
          </p:cNvSpPr>
          <p:nvPr>
            <p:ph type="body" sz="quarter" idx="10" hasCustomPrompt="1"/>
            <p:custDataLst>
              <p:tags r:id="rId7"/>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13" name="Picture 12">
            <a:extLst>
              <a:ext uri="{FF2B5EF4-FFF2-40B4-BE49-F238E27FC236}">
                <a16:creationId xmlns:a16="http://schemas.microsoft.com/office/drawing/2014/main" id="{ED0D55CD-7793-96C5-0580-9246A9AA87F0}"/>
              </a:ext>
            </a:extLst>
          </p:cNvPr>
          <p:cNvPicPr>
            <a:picLocks/>
          </p:cNvPicPr>
          <p:nvPr userDrawn="1"/>
        </p:nvPicPr>
        <p:blipFill>
          <a:blip r:embed="rId11"/>
          <a:stretch>
            <a:fillRect/>
          </a:stretch>
        </p:blipFill>
        <p:spPr>
          <a:xfrm>
            <a:off x="10853928" y="6388101"/>
            <a:ext cx="950976" cy="357859"/>
          </a:xfrm>
          <a:prstGeom prst="rect">
            <a:avLst/>
          </a:prstGeom>
        </p:spPr>
      </p:pic>
      <p:sp>
        <p:nvSpPr>
          <p:cNvPr id="6" name="Slide Number">
            <a:extLst>
              <a:ext uri="{FF2B5EF4-FFF2-40B4-BE49-F238E27FC236}">
                <a16:creationId xmlns:a16="http://schemas.microsoft.com/office/drawing/2014/main" id="{7709F06F-F39B-DBB5-035E-B50500563775}"/>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17584786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911410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384048" y="474575"/>
            <a:ext cx="8092440" cy="384721"/>
          </a:xfrm>
        </p:spPr>
        <p:txBody>
          <a:bodyPr vert="horz" wrap="square" anchor="ctr">
            <a:spAutoFit/>
          </a:bodyPr>
          <a:lstStyle>
            <a:lvl1pPr rtl="0">
              <a:defRPr/>
            </a:lvl1pPr>
          </a:lstStyle>
          <a:p>
            <a:r>
              <a:rPr lang="en-US"/>
              <a:t>Click to edit Master title style</a:t>
            </a:r>
            <a:endParaRPr lang="en-CA"/>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384048" y="1115190"/>
            <a:ext cx="8092440" cy="246221"/>
          </a:xfrm>
          <a:prstGeom prst="rect">
            <a:avLst/>
          </a:prstGeom>
        </p:spPr>
        <p:txBody>
          <a:bodyPr wrap="square">
            <a:spAutoFit/>
          </a:bodyPr>
          <a:lstStyle>
            <a:lvl1pPr marL="0" indent="0" algn="l" rtl="0">
              <a:buNone/>
              <a:defRPr sz="1600" b="0" u="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CA" sz="800" b="0" i="0" u="none" strike="noStrike" kern="1200" cap="none" spc="0" normalizeH="0" baseline="0" noProof="0">
                <a:ln>
                  <a:noFill/>
                </a:ln>
                <a:solidFill>
                  <a:schemeClr val="tx1"/>
                </a:solidFill>
                <a:effectLst/>
                <a:uLnTx/>
                <a:uFillTx/>
                <a:latin typeface="+mn-lt"/>
                <a:ea typeface="+mn-ea"/>
                <a:cs typeface="Arial" panose="020B0604020202020204" pitchFamily="34" charset="0"/>
              </a:rPr>
              <a:t>Source: …</a:t>
            </a:r>
          </a:p>
        </p:txBody>
      </p:sp>
      <p:sp>
        <p:nvSpPr>
          <p:cNvPr id="2" name="Slide Number Placeholder 5">
            <a:extLst>
              <a:ext uri="{FF2B5EF4-FFF2-40B4-BE49-F238E27FC236}">
                <a16:creationId xmlns:a16="http://schemas.microsoft.com/office/drawing/2014/main" id="{11F5CE6D-12A9-9F4B-3F38-D49889F785C4}"/>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11" name="1. On-page tracker">
            <a:extLst>
              <a:ext uri="{FF2B5EF4-FFF2-40B4-BE49-F238E27FC236}">
                <a16:creationId xmlns:a16="http://schemas.microsoft.com/office/drawing/2014/main" id="{C902F8C6-7197-256D-AF28-E116E8A9088F}"/>
              </a:ext>
            </a:extLst>
          </p:cNvPr>
          <p:cNvSpPr>
            <a:spLocks noGrp="1"/>
          </p:cNvSpPr>
          <p:nvPr>
            <p:ph type="body" sz="quarter" idx="10" hasCustomPrompt="1"/>
            <p:custDataLst>
              <p:tags r:id="rId7"/>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12" name="Picture 11">
            <a:extLst>
              <a:ext uri="{FF2B5EF4-FFF2-40B4-BE49-F238E27FC236}">
                <a16:creationId xmlns:a16="http://schemas.microsoft.com/office/drawing/2014/main" id="{7CA63795-6D85-2C78-1870-D6ED3F56AB87}"/>
              </a:ext>
            </a:extLst>
          </p:cNvPr>
          <p:cNvPicPr>
            <a:picLocks/>
          </p:cNvPicPr>
          <p:nvPr userDrawn="1"/>
        </p:nvPicPr>
        <p:blipFill>
          <a:blip r:embed="rId11"/>
          <a:stretch>
            <a:fillRect/>
          </a:stretch>
        </p:blipFill>
        <p:spPr>
          <a:xfrm>
            <a:off x="10853928" y="6388101"/>
            <a:ext cx="950976" cy="357859"/>
          </a:xfrm>
          <a:prstGeom prst="rect">
            <a:avLst/>
          </a:prstGeom>
        </p:spPr>
      </p:pic>
      <p:sp>
        <p:nvSpPr>
          <p:cNvPr id="6" name="Slide Number">
            <a:extLst>
              <a:ext uri="{FF2B5EF4-FFF2-40B4-BE49-F238E27FC236}">
                <a16:creationId xmlns:a16="http://schemas.microsoft.com/office/drawing/2014/main" id="{94941C7D-7712-A57F-3467-7208697E35C5}"/>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9256167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Reverse_1/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4095093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RectangleLight">
            <a:extLst>
              <a:ext uri="{FF2B5EF4-FFF2-40B4-BE49-F238E27FC236}">
                <a16:creationId xmlns:a16="http://schemas.microsoft.com/office/drawing/2014/main" id="{2F33DBBD-D018-E13A-1BB4-24E6363740ED}"/>
              </a:ext>
            </a:extLst>
          </p:cNvPr>
          <p:cNvSpPr/>
          <p:nvPr userDrawn="1">
            <p:custDataLst>
              <p:tags r:id="rId2"/>
            </p:custDataLst>
          </p:nvPr>
        </p:nvSpPr>
        <p:spPr bwMode="ltGray">
          <a:xfrm>
            <a:off x="0" y="0"/>
            <a:ext cx="8781416"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4" name="Rectangle 1" hidden="1">
            <a:extLst>
              <a:ext uri="{FF2B5EF4-FFF2-40B4-BE49-F238E27FC236}">
                <a16:creationId xmlns:a16="http://schemas.microsoft.com/office/drawing/2014/main" id="{50854476-2923-4515-A585-4477FF861180}"/>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384048" y="474575"/>
            <a:ext cx="8092440" cy="384721"/>
          </a:xfrm>
        </p:spPr>
        <p:txBody>
          <a:bodyPr vert="horz" wrap="square" anchor="ctr">
            <a:spAutoFit/>
          </a:bodyPr>
          <a:lstStyle>
            <a:lvl1pPr rtl="0">
              <a:defRPr/>
            </a:lvl1pPr>
          </a:lstStyle>
          <a:p>
            <a:r>
              <a:rPr lang="en-US"/>
              <a:t>Click to edit Master title style</a:t>
            </a:r>
            <a:endParaRPr lang="en-CA"/>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384048" y="1115190"/>
            <a:ext cx="8092440" cy="246221"/>
          </a:xfrm>
          <a:prstGeom prst="rect">
            <a:avLst/>
          </a:prstGeom>
        </p:spPr>
        <p:txBody>
          <a:bodyPr wrap="square">
            <a:spAutoFit/>
          </a:bodyPr>
          <a:lstStyle>
            <a:lvl1pPr marL="0" indent="0" algn="l" rtl="0">
              <a:buNone/>
              <a:defRPr sz="1600" b="0" u="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CA" sz="800" b="0" i="0" u="none" strike="noStrike" kern="1200" cap="none" spc="0" normalizeH="0" baseline="0" noProof="0">
                <a:ln>
                  <a:noFill/>
                </a:ln>
                <a:solidFill>
                  <a:schemeClr val="tx1"/>
                </a:solidFill>
                <a:effectLst/>
                <a:uLnTx/>
                <a:uFillTx/>
                <a:latin typeface="+mn-lt"/>
                <a:ea typeface="+mn-ea"/>
                <a:cs typeface="Arial" panose="020B0604020202020204" pitchFamily="34" charset="0"/>
              </a:rPr>
              <a:t>Source: …</a:t>
            </a:r>
          </a:p>
        </p:txBody>
      </p:sp>
      <p:sp>
        <p:nvSpPr>
          <p:cNvPr id="2" name="Slide Number Placeholder 5">
            <a:extLst>
              <a:ext uri="{FF2B5EF4-FFF2-40B4-BE49-F238E27FC236}">
                <a16:creationId xmlns:a16="http://schemas.microsoft.com/office/drawing/2014/main" id="{11F5CE6D-12A9-9F4B-3F38-D49889F785C4}"/>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11" name="1. On-page tracker">
            <a:extLst>
              <a:ext uri="{FF2B5EF4-FFF2-40B4-BE49-F238E27FC236}">
                <a16:creationId xmlns:a16="http://schemas.microsoft.com/office/drawing/2014/main" id="{C902F8C6-7197-256D-AF28-E116E8A9088F}"/>
              </a:ext>
            </a:extLst>
          </p:cNvPr>
          <p:cNvSpPr>
            <a:spLocks noGrp="1"/>
          </p:cNvSpPr>
          <p:nvPr>
            <p:ph type="body" sz="quarter" idx="10" hasCustomPrompt="1"/>
            <p:custDataLst>
              <p:tags r:id="rId7"/>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12" name="Picture 11">
            <a:extLst>
              <a:ext uri="{FF2B5EF4-FFF2-40B4-BE49-F238E27FC236}">
                <a16:creationId xmlns:a16="http://schemas.microsoft.com/office/drawing/2014/main" id="{7CA63795-6D85-2C78-1870-D6ED3F56AB87}"/>
              </a:ext>
            </a:extLst>
          </p:cNvPr>
          <p:cNvPicPr>
            <a:picLocks/>
          </p:cNvPicPr>
          <p:nvPr userDrawn="1"/>
        </p:nvPicPr>
        <p:blipFill>
          <a:blip r:embed="rId11"/>
          <a:stretch>
            <a:fillRect/>
          </a:stretch>
        </p:blipFill>
        <p:spPr>
          <a:xfrm>
            <a:off x="10853928" y="6388101"/>
            <a:ext cx="950976" cy="357859"/>
          </a:xfrm>
          <a:prstGeom prst="rect">
            <a:avLst/>
          </a:prstGeom>
        </p:spPr>
      </p:pic>
      <p:sp>
        <p:nvSpPr>
          <p:cNvPr id="8" name="Slide Number">
            <a:extLst>
              <a:ext uri="{FF2B5EF4-FFF2-40B4-BE49-F238E27FC236}">
                <a16:creationId xmlns:a16="http://schemas.microsoft.com/office/drawing/2014/main" id="{E0C43123-19A3-8B65-9B81-0473D548C30E}"/>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29767686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Reverse_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1964750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72" imgH="588" progId="TCLayout.ActiveDocument.1">
                  <p:embed/>
                </p:oleObj>
              </mc:Choice>
              <mc:Fallback>
                <p:oleObj name="think-cell Slide" r:id="rId9"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RectangleLight">
            <a:extLst>
              <a:ext uri="{FF2B5EF4-FFF2-40B4-BE49-F238E27FC236}">
                <a16:creationId xmlns:a16="http://schemas.microsoft.com/office/drawing/2014/main" id="{C82B4365-42A1-0C83-A7D6-A5881F3F6464}"/>
              </a:ext>
            </a:extLst>
          </p:cNvPr>
          <p:cNvSpPr/>
          <p:nvPr userDrawn="1">
            <p:custDataLst>
              <p:tags r:id="rId2"/>
            </p:custDataLst>
          </p:nvPr>
        </p:nvSpPr>
        <p:spPr bwMode="ltGray">
          <a:xfrm>
            <a:off x="0" y="0"/>
            <a:ext cx="7830312"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CA">
              <a:solidFill>
                <a:srgbClr val="F0F0F0"/>
              </a:solidFill>
              <a:latin typeface="Arial" panose="020B0604020202020204" pitchFamily="34" charset="0"/>
            </a:endParaRPr>
          </a:p>
        </p:txBody>
      </p:sp>
      <p:sp>
        <p:nvSpPr>
          <p:cNvPr id="4" name="Rectangle 3" hidden="1">
            <a:extLst>
              <a:ext uri="{FF2B5EF4-FFF2-40B4-BE49-F238E27FC236}">
                <a16:creationId xmlns:a16="http://schemas.microsoft.com/office/drawing/2014/main" id="{2D668F04-7049-40BA-8D63-D8BBB6921318}"/>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4"/>
            </p:custDataLst>
          </p:nvPr>
        </p:nvSpPr>
        <p:spPr>
          <a:xfrm>
            <a:off x="384048" y="474575"/>
            <a:ext cx="7138416" cy="384721"/>
          </a:xfrm>
        </p:spPr>
        <p:txBody>
          <a:bodyPr vert="horz" wrap="square" anchor="ctr">
            <a:spAutoFit/>
          </a:bodyPr>
          <a:lstStyle>
            <a:lvl1pPr rtl="0">
              <a:defRPr/>
            </a:lvl1pPr>
          </a:lstStyle>
          <a:p>
            <a:r>
              <a:rPr lang="en-US"/>
              <a:t>Click to edit Master title style</a:t>
            </a:r>
            <a:endParaRPr lang="en-CA"/>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5"/>
            </p:custDataLst>
          </p:nvPr>
        </p:nvSpPr>
        <p:spPr>
          <a:xfrm>
            <a:off x="384048" y="1115190"/>
            <a:ext cx="713841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6"/>
            </p:custDataLst>
          </p:nvPr>
        </p:nvSpPr>
        <p:spPr>
          <a:xfrm>
            <a:off x="384048"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solidFill>
                  <a:schemeClr val="tx1"/>
                </a:solidFill>
              </a:rPr>
              <a:t>Source: …</a:t>
            </a:r>
          </a:p>
        </p:txBody>
      </p:sp>
      <p:sp>
        <p:nvSpPr>
          <p:cNvPr id="2" name="Slide Number Placeholder 5">
            <a:extLst>
              <a:ext uri="{FF2B5EF4-FFF2-40B4-BE49-F238E27FC236}">
                <a16:creationId xmlns:a16="http://schemas.microsoft.com/office/drawing/2014/main" id="{56B5062B-A2D4-0FFA-26FA-D9C7D16114F7}"/>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12" name="1. On-page tracker">
            <a:extLst>
              <a:ext uri="{FF2B5EF4-FFF2-40B4-BE49-F238E27FC236}">
                <a16:creationId xmlns:a16="http://schemas.microsoft.com/office/drawing/2014/main" id="{75EDA958-CF08-C5B5-A0A7-F79FB7FF36AD}"/>
              </a:ext>
            </a:extLst>
          </p:cNvPr>
          <p:cNvSpPr>
            <a:spLocks noGrp="1"/>
          </p:cNvSpPr>
          <p:nvPr>
            <p:ph type="body" sz="quarter" idx="10" hasCustomPrompt="1"/>
            <p:custDataLst>
              <p:tags r:id="rId7"/>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13" name="Picture 12">
            <a:extLst>
              <a:ext uri="{FF2B5EF4-FFF2-40B4-BE49-F238E27FC236}">
                <a16:creationId xmlns:a16="http://schemas.microsoft.com/office/drawing/2014/main" id="{ED0D55CD-7793-96C5-0580-9246A9AA87F0}"/>
              </a:ext>
            </a:extLst>
          </p:cNvPr>
          <p:cNvPicPr>
            <a:picLocks/>
          </p:cNvPicPr>
          <p:nvPr userDrawn="1"/>
        </p:nvPicPr>
        <p:blipFill>
          <a:blip r:embed="rId11"/>
          <a:stretch>
            <a:fillRect/>
          </a:stretch>
        </p:blipFill>
        <p:spPr>
          <a:xfrm>
            <a:off x="10853928" y="6388101"/>
            <a:ext cx="950976" cy="357859"/>
          </a:xfrm>
          <a:prstGeom prst="rect">
            <a:avLst/>
          </a:prstGeom>
        </p:spPr>
      </p:pic>
      <p:sp>
        <p:nvSpPr>
          <p:cNvPr id="9" name="Slide Number">
            <a:extLst>
              <a:ext uri="{FF2B5EF4-FFF2-40B4-BE49-F238E27FC236}">
                <a16:creationId xmlns:a16="http://schemas.microsoft.com/office/drawing/2014/main" id="{253AFE7D-2F46-BC91-11DC-37C515A1D18F}"/>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27999648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Reverse_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059816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CA">
              <a:solidFill>
                <a:srgbClr val="F0F0F0"/>
              </a:solidFill>
              <a:latin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4"/>
            </p:custDataLst>
          </p:nvPr>
        </p:nvSpPr>
        <p:spPr>
          <a:xfrm>
            <a:off x="384048" y="474575"/>
            <a:ext cx="5236463" cy="384721"/>
          </a:xfrm>
        </p:spPr>
        <p:txBody>
          <a:bodyPr vert="horz" wrap="square" anchor="ctr">
            <a:spAutoFit/>
          </a:bodyPr>
          <a:lstStyle>
            <a:lvl1pPr rtl="0">
              <a:defRPr/>
            </a:lvl1pPr>
          </a:lstStyle>
          <a:p>
            <a:r>
              <a:rPr lang="en-US"/>
              <a:t>Click to edit Master title style</a:t>
            </a:r>
            <a:endParaRPr lang="en-CA"/>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5"/>
            </p:custDataLst>
          </p:nvPr>
        </p:nvSpPr>
        <p:spPr>
          <a:xfrm>
            <a:off x="384048" y="1115190"/>
            <a:ext cx="5236463" cy="246221"/>
          </a:xfrm>
          <a:prstGeom prst="rect">
            <a:avLst/>
          </a:prstGeom>
        </p:spPr>
        <p:txBody>
          <a:bodyPr wrap="square">
            <a:no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2" name="Slide Number Placeholder 5">
            <a:extLst>
              <a:ext uri="{FF2B5EF4-FFF2-40B4-BE49-F238E27FC236}">
                <a16:creationId xmlns:a16="http://schemas.microsoft.com/office/drawing/2014/main" id="{565DC02E-B329-EB93-B8A7-27601F26D8CE}"/>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14" name="1. On-page tracker">
            <a:extLst>
              <a:ext uri="{FF2B5EF4-FFF2-40B4-BE49-F238E27FC236}">
                <a16:creationId xmlns:a16="http://schemas.microsoft.com/office/drawing/2014/main" id="{E713FEFC-2BDB-122E-D26F-A4B8B64B7F7D}"/>
              </a:ext>
            </a:extLst>
          </p:cNvPr>
          <p:cNvSpPr>
            <a:spLocks noGrp="1"/>
          </p:cNvSpPr>
          <p:nvPr>
            <p:ph type="body" sz="quarter" idx="10" hasCustomPrompt="1"/>
            <p:custDataLst>
              <p:tags r:id="rId7"/>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15" name="Picture 14">
            <a:extLst>
              <a:ext uri="{FF2B5EF4-FFF2-40B4-BE49-F238E27FC236}">
                <a16:creationId xmlns:a16="http://schemas.microsoft.com/office/drawing/2014/main" id="{E0818379-956A-0326-E041-CFC8B000C209}"/>
              </a:ext>
            </a:extLst>
          </p:cNvPr>
          <p:cNvPicPr>
            <a:picLocks/>
          </p:cNvPicPr>
          <p:nvPr userDrawn="1"/>
        </p:nvPicPr>
        <p:blipFill>
          <a:blip r:embed="rId11"/>
          <a:stretch>
            <a:fillRect/>
          </a:stretch>
        </p:blipFill>
        <p:spPr>
          <a:xfrm>
            <a:off x="10853928" y="6388101"/>
            <a:ext cx="950976" cy="357859"/>
          </a:xfrm>
          <a:prstGeom prst="rect">
            <a:avLst/>
          </a:prstGeom>
        </p:spPr>
      </p:pic>
      <p:sp>
        <p:nvSpPr>
          <p:cNvPr id="6" name="Slide Number">
            <a:extLst>
              <a:ext uri="{FF2B5EF4-FFF2-40B4-BE49-F238E27FC236}">
                <a16:creationId xmlns:a16="http://schemas.microsoft.com/office/drawing/2014/main" id="{AA632E3D-E3B6-5296-664F-9B5620B4DDD1}"/>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14316199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Reverse_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30235533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7" name="RectangleLight">
            <a:extLst>
              <a:ext uri="{FF2B5EF4-FFF2-40B4-BE49-F238E27FC236}">
                <a16:creationId xmlns:a16="http://schemas.microsoft.com/office/drawing/2014/main" id="{8CF36762-9C23-6452-C20C-1DC4C5CE329B}"/>
              </a:ext>
            </a:extLst>
          </p:cNvPr>
          <p:cNvSpPr/>
          <p:nvPr userDrawn="1">
            <p:custDataLst>
              <p:tags r:id="rId2"/>
            </p:custDataLst>
          </p:nvPr>
        </p:nvSpPr>
        <p:spPr bwMode="ltGray">
          <a:xfrm>
            <a:off x="0" y="0"/>
            <a:ext cx="4364736"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CA">
              <a:solidFill>
                <a:srgbClr val="F0F0F0"/>
              </a:solidFill>
              <a:latin typeface="Arial" panose="020B0604020202020204" pitchFamily="34" charset="0"/>
            </a:endParaRPr>
          </a:p>
        </p:txBody>
      </p:sp>
      <p:sp>
        <p:nvSpPr>
          <p:cNvPr id="4" name="Rectangle 3" hidden="1">
            <a:extLst>
              <a:ext uri="{FF2B5EF4-FFF2-40B4-BE49-F238E27FC236}">
                <a16:creationId xmlns:a16="http://schemas.microsoft.com/office/drawing/2014/main" id="{29D2CA90-0144-4292-9526-98A508F53171}"/>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4"/>
            </p:custDataLst>
          </p:nvPr>
        </p:nvSpPr>
        <p:spPr>
          <a:xfrm>
            <a:off x="380999" y="3659644"/>
            <a:ext cx="3639311" cy="246221"/>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CA"/>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5"/>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11" name="2. Slide Title">
            <a:extLst>
              <a:ext uri="{FF2B5EF4-FFF2-40B4-BE49-F238E27FC236}">
                <a16:creationId xmlns:a16="http://schemas.microsoft.com/office/drawing/2014/main" id="{B064DA18-FA54-43C0-B981-F306F40179F4}"/>
              </a:ext>
            </a:extLst>
          </p:cNvPr>
          <p:cNvSpPr>
            <a:spLocks noGrp="1"/>
          </p:cNvSpPr>
          <p:nvPr>
            <p:ph type="title"/>
            <p:custDataLst>
              <p:tags r:id="rId6"/>
            </p:custDataLst>
          </p:nvPr>
        </p:nvSpPr>
        <p:spPr>
          <a:xfrm>
            <a:off x="381000" y="2744369"/>
            <a:ext cx="3639310" cy="769441"/>
          </a:xfrm>
          <a:prstGeom prst="rect">
            <a:avLst/>
          </a:prstGeom>
        </p:spPr>
        <p:txBody>
          <a:bodyPr vert="horz" wrap="square" lIns="0" tIns="0" rIns="0" bIns="0" rtlCol="0" anchor="b" anchorCtr="0">
            <a:noAutofit/>
          </a:bodyPr>
          <a:lstStyle>
            <a:lvl1pPr rtl="0">
              <a:defRPr/>
            </a:lvl1pPr>
          </a:lstStyle>
          <a:p>
            <a:pPr lvl="0"/>
            <a:r>
              <a:rPr lang="en-US"/>
              <a:t>Click to edit Master title style</a:t>
            </a:r>
            <a:endParaRPr lang="en-CA"/>
          </a:p>
        </p:txBody>
      </p:sp>
      <p:sp>
        <p:nvSpPr>
          <p:cNvPr id="2" name="Slide Number Placeholder 5">
            <a:extLst>
              <a:ext uri="{FF2B5EF4-FFF2-40B4-BE49-F238E27FC236}">
                <a16:creationId xmlns:a16="http://schemas.microsoft.com/office/drawing/2014/main" id="{4AE06247-B4E4-3760-6D3A-246B7082D3B9}"/>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8" name="1. On-page tracker">
            <a:extLst>
              <a:ext uri="{FF2B5EF4-FFF2-40B4-BE49-F238E27FC236}">
                <a16:creationId xmlns:a16="http://schemas.microsoft.com/office/drawing/2014/main" id="{EEA478D6-0038-FCEC-114C-9815DC7B99A5}"/>
              </a:ext>
            </a:extLst>
          </p:cNvPr>
          <p:cNvSpPr>
            <a:spLocks noGrp="1"/>
          </p:cNvSpPr>
          <p:nvPr>
            <p:ph type="body" sz="quarter" idx="10" hasCustomPrompt="1"/>
            <p:custDataLst>
              <p:tags r:id="rId7"/>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9" name="Picture 8">
            <a:extLst>
              <a:ext uri="{FF2B5EF4-FFF2-40B4-BE49-F238E27FC236}">
                <a16:creationId xmlns:a16="http://schemas.microsoft.com/office/drawing/2014/main" id="{7547A4F8-6242-C226-F584-9D2FFC9BC952}"/>
              </a:ext>
            </a:extLst>
          </p:cNvPr>
          <p:cNvPicPr>
            <a:picLocks/>
          </p:cNvPicPr>
          <p:nvPr userDrawn="1"/>
        </p:nvPicPr>
        <p:blipFill>
          <a:blip r:embed="rId11"/>
          <a:stretch>
            <a:fillRect/>
          </a:stretch>
        </p:blipFill>
        <p:spPr>
          <a:xfrm>
            <a:off x="10853928" y="6388101"/>
            <a:ext cx="950976" cy="357859"/>
          </a:xfrm>
          <a:prstGeom prst="rect">
            <a:avLst/>
          </a:prstGeom>
        </p:spPr>
      </p:pic>
      <p:sp>
        <p:nvSpPr>
          <p:cNvPr id="12" name="Slide Number">
            <a:extLst>
              <a:ext uri="{FF2B5EF4-FFF2-40B4-BE49-F238E27FC236}">
                <a16:creationId xmlns:a16="http://schemas.microsoft.com/office/drawing/2014/main" id="{2984F8DB-A255-1CC2-D6FF-60E0EB2C9F37}"/>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4474600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Reverse_3/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34761010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7" name="RectangleLight">
            <a:extLst>
              <a:ext uri="{FF2B5EF4-FFF2-40B4-BE49-F238E27FC236}">
                <a16:creationId xmlns:a16="http://schemas.microsoft.com/office/drawing/2014/main" id="{8C3601F5-5F44-52AC-F768-AA5D6FC20CD0}"/>
              </a:ext>
            </a:extLst>
          </p:cNvPr>
          <p:cNvSpPr/>
          <p:nvPr userDrawn="1">
            <p:custDataLst>
              <p:tags r:id="rId2"/>
            </p:custDataLst>
          </p:nvPr>
        </p:nvSpPr>
        <p:spPr bwMode="ltGray">
          <a:xfrm>
            <a:off x="0" y="0"/>
            <a:ext cx="3413760" cy="6858000"/>
          </a:xfrm>
          <a:prstGeom prst="rect">
            <a:avLst/>
          </a:prstGeom>
          <a:solidFill>
            <a:srgbClr val="E6E6E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CA">
              <a:solidFill>
                <a:srgbClr val="F0F0F0"/>
              </a:solidFill>
              <a:latin typeface="Arial" panose="020B0604020202020204" pitchFamily="34" charset="0"/>
            </a:endParaRPr>
          </a:p>
        </p:txBody>
      </p:sp>
      <p:sp>
        <p:nvSpPr>
          <p:cNvPr id="4" name="Rectangle 1" hidden="1">
            <a:extLst>
              <a:ext uri="{FF2B5EF4-FFF2-40B4-BE49-F238E27FC236}">
                <a16:creationId xmlns:a16="http://schemas.microsoft.com/office/drawing/2014/main" id="{67C50C85-5FB9-4798-A8A4-1DA5B9F3ACC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4"/>
            </p:custDataLst>
          </p:nvPr>
        </p:nvSpPr>
        <p:spPr>
          <a:xfrm>
            <a:off x="381000" y="3659644"/>
            <a:ext cx="2688336" cy="492443"/>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CA"/>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5"/>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6"/>
            </p:custDataLst>
          </p:nvPr>
        </p:nvSpPr>
        <p:spPr>
          <a:xfrm>
            <a:off x="381000" y="41597"/>
            <a:ext cx="2688336" cy="123111"/>
          </a:xfrm>
          <a:prstGeom prst="rect">
            <a:avLst/>
          </a:prstGeom>
          <a:ln w="6350">
            <a:noFill/>
            <a:miter lim="800000"/>
          </a:ln>
        </p:spPr>
        <p:txBody>
          <a:bodyPr vert="horz" wrap="square" lIns="0" tIns="0" rIns="0" bIns="0" rtlCol="0">
            <a:noAutofit/>
          </a:bodyPr>
          <a:lstStyle>
            <a:lvl1pPr rtl="0">
              <a:defRPr lang="en-US" sz="800" b="0" dirty="0">
                <a:cs typeface="+mn-cs"/>
              </a:defRPr>
            </a:lvl1pPr>
          </a:lstStyle>
          <a:p>
            <a:pPr lvl="0">
              <a:buNone/>
            </a:pPr>
            <a:r>
              <a:rPr lang="en-CA"/>
              <a:t>Add tracker</a:t>
            </a:r>
          </a:p>
        </p:txBody>
      </p:sp>
      <p:sp>
        <p:nvSpPr>
          <p:cNvPr id="11" name="2. Slide Title">
            <a:extLst>
              <a:ext uri="{FF2B5EF4-FFF2-40B4-BE49-F238E27FC236}">
                <a16:creationId xmlns:a16="http://schemas.microsoft.com/office/drawing/2014/main" id="{BD1E8CEA-59CA-420E-955C-4C9FBA24773C}"/>
              </a:ext>
            </a:extLst>
          </p:cNvPr>
          <p:cNvSpPr>
            <a:spLocks noGrp="1"/>
          </p:cNvSpPr>
          <p:nvPr>
            <p:ph type="title"/>
            <p:custDataLst>
              <p:tags r:id="rId7"/>
            </p:custDataLst>
          </p:nvPr>
        </p:nvSpPr>
        <p:spPr>
          <a:xfrm>
            <a:off x="381000" y="2744369"/>
            <a:ext cx="2688336" cy="769441"/>
          </a:xfrm>
          <a:prstGeom prst="rect">
            <a:avLst/>
          </a:prstGeom>
        </p:spPr>
        <p:txBody>
          <a:bodyPr vert="horz" wrap="square" lIns="0" tIns="0" rIns="0" bIns="0" rtlCol="0" anchor="b" anchorCtr="0">
            <a:noAutofit/>
          </a:bodyPr>
          <a:lstStyle>
            <a:lvl1pPr rtl="0">
              <a:defRPr/>
            </a:lvl1pPr>
          </a:lstStyle>
          <a:p>
            <a:pPr lvl="0"/>
            <a:r>
              <a:rPr lang="en-US"/>
              <a:t>Click to edit Master title style</a:t>
            </a:r>
            <a:endParaRPr lang="en-CA"/>
          </a:p>
        </p:txBody>
      </p:sp>
      <p:sp>
        <p:nvSpPr>
          <p:cNvPr id="2" name="Slide Number Placeholder 5">
            <a:extLst>
              <a:ext uri="{FF2B5EF4-FFF2-40B4-BE49-F238E27FC236}">
                <a16:creationId xmlns:a16="http://schemas.microsoft.com/office/drawing/2014/main" id="{1603FDD6-0839-DB06-FE77-FA0CD3809260}"/>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pic>
        <p:nvPicPr>
          <p:cNvPr id="12" name="Picture 11">
            <a:extLst>
              <a:ext uri="{FF2B5EF4-FFF2-40B4-BE49-F238E27FC236}">
                <a16:creationId xmlns:a16="http://schemas.microsoft.com/office/drawing/2014/main" id="{D1994489-C8A4-5CBD-D014-867AC0650C52}"/>
              </a:ext>
            </a:extLst>
          </p:cNvPr>
          <p:cNvPicPr>
            <a:picLocks/>
          </p:cNvPicPr>
          <p:nvPr userDrawn="1"/>
        </p:nvPicPr>
        <p:blipFill>
          <a:blip r:embed="rId11"/>
          <a:stretch>
            <a:fillRect/>
          </a:stretch>
        </p:blipFill>
        <p:spPr>
          <a:xfrm>
            <a:off x="10853928" y="6388101"/>
            <a:ext cx="950976" cy="357859"/>
          </a:xfrm>
          <a:prstGeom prst="rect">
            <a:avLst/>
          </a:prstGeom>
        </p:spPr>
      </p:pic>
      <p:sp>
        <p:nvSpPr>
          <p:cNvPr id="9" name="Slide Number">
            <a:extLst>
              <a:ext uri="{FF2B5EF4-FFF2-40B4-BE49-F238E27FC236}">
                <a16:creationId xmlns:a16="http://schemas.microsoft.com/office/drawing/2014/main" id="{1F606D18-7C17-279C-E859-6955303D02BF}"/>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spTree>
    <p:extLst>
      <p:ext uri="{BB962C8B-B14F-4D97-AF65-F5344CB8AC3E}">
        <p14:creationId xmlns:p14="http://schemas.microsoft.com/office/powerpoint/2010/main" val="5183577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648A5D5-75B9-4F02-A4CB-B3C65A9BF2CE}"/>
              </a:ext>
            </a:extLst>
          </p:cNvPr>
          <p:cNvGraphicFramePr>
            <a:graphicFrameLocks noChangeAspect="1"/>
          </p:cNvGraphicFramePr>
          <p:nvPr userDrawn="1">
            <p:custDataLst>
              <p:tags r:id="rId1"/>
            </p:custDataLst>
            <p:extLst>
              <p:ext uri="{D42A27DB-BD31-4B8C-83A1-F6EECF244321}">
                <p14:modId xmlns:p14="http://schemas.microsoft.com/office/powerpoint/2010/main" val="3261793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C648A5D5-75B9-4F02-A4CB-B3C65A9BF2CE}"/>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58AAF75-30DC-408A-933A-149F2D14D18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384048" y="666935"/>
            <a:ext cx="11420856" cy="384721"/>
          </a:xfrm>
        </p:spPr>
        <p:txBody>
          <a:bodyPr vert="horz" anchor="ctr">
            <a:spAutoFit/>
          </a:bodyPr>
          <a:lstStyle>
            <a:lvl1pPr rtl="0">
              <a:defRPr/>
            </a:lvl1pPr>
          </a:lstStyle>
          <a:p>
            <a:r>
              <a:rPr lang="en-US"/>
              <a:t>Click to edit Master title style</a:t>
            </a:r>
            <a:endParaRPr lang="en-CA"/>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4"/>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9" name="Sticker" hidden="1">
            <a:extLst>
              <a:ext uri="{FF2B5EF4-FFF2-40B4-BE49-F238E27FC236}">
                <a16:creationId xmlns:a16="http://schemas.microsoft.com/office/drawing/2014/main" id="{2B5F1846-DB86-4338-8AFA-F2C1B534B900}"/>
              </a:ext>
            </a:extLst>
          </p:cNvPr>
          <p:cNvSpPr txBox="1"/>
          <p:nvPr userDrawn="1"/>
        </p:nvSpPr>
        <p:spPr>
          <a:xfrm>
            <a:off x="384048" y="1497050"/>
            <a:ext cx="450444" cy="123111"/>
          </a:xfrm>
          <a:prstGeom prst="rect">
            <a:avLst/>
          </a:prstGeom>
          <a:noFill/>
          <a:ln w="6350">
            <a:noFill/>
            <a:miter lim="800000"/>
          </a:ln>
        </p:spPr>
        <p:txBody>
          <a:bodyPr vert="horz" wrap="none" lIns="0" tIns="0" rIns="0" bIns="0" rtlCol="0">
            <a:spAutoFit/>
          </a:bodyPr>
          <a:lstStyle/>
          <a:p>
            <a:pPr algn="l" rtl="0">
              <a:spcBef>
                <a:spcPts val="300"/>
              </a:spcBef>
              <a:spcAft>
                <a:spcPts val="300"/>
              </a:spcAft>
              <a:buNone/>
            </a:pPr>
            <a:r>
              <a:rPr lang="en-CA" sz="800" b="1" cap="all" baseline="0"/>
              <a:t>STICKER</a:t>
            </a:r>
          </a:p>
        </p:txBody>
      </p:sp>
      <p:sp>
        <p:nvSpPr>
          <p:cNvPr id="5" name="Slide Number Placeholder 5">
            <a:extLst>
              <a:ext uri="{FF2B5EF4-FFF2-40B4-BE49-F238E27FC236}">
                <a16:creationId xmlns:a16="http://schemas.microsoft.com/office/drawing/2014/main" id="{5515DEFA-E174-36C7-A79A-4D8CDA98F8F5}"/>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11" name="1. On-page tracker">
            <a:extLst>
              <a:ext uri="{FF2B5EF4-FFF2-40B4-BE49-F238E27FC236}">
                <a16:creationId xmlns:a16="http://schemas.microsoft.com/office/drawing/2014/main" id="{2217D473-9605-5466-92BB-EC2EAB18D79A}"/>
              </a:ext>
            </a:extLst>
          </p:cNvPr>
          <p:cNvSpPr>
            <a:spLocks noGrp="1"/>
          </p:cNvSpPr>
          <p:nvPr>
            <p:ph type="body" sz="quarter" idx="10" hasCustomPrompt="1"/>
            <p:custDataLst>
              <p:tags r:id="rId5"/>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12" name="Picture 11">
            <a:extLst>
              <a:ext uri="{FF2B5EF4-FFF2-40B4-BE49-F238E27FC236}">
                <a16:creationId xmlns:a16="http://schemas.microsoft.com/office/drawing/2014/main" id="{7CCA7084-3635-AC2B-A202-189AD36903BF}"/>
              </a:ext>
            </a:extLst>
          </p:cNvPr>
          <p:cNvPicPr>
            <a:picLocks/>
          </p:cNvPicPr>
          <p:nvPr userDrawn="1"/>
        </p:nvPicPr>
        <p:blipFill>
          <a:blip r:embed="rId9"/>
          <a:stretch>
            <a:fillRect/>
          </a:stretch>
        </p:blipFill>
        <p:spPr>
          <a:xfrm>
            <a:off x="10853928" y="6388101"/>
            <a:ext cx="950976" cy="357859"/>
          </a:xfrm>
          <a:prstGeom prst="rect">
            <a:avLst/>
          </a:prstGeom>
        </p:spPr>
      </p:pic>
      <p:cxnSp>
        <p:nvCxnSpPr>
          <p:cNvPr id="13" name="Straight Connector 12">
            <a:extLst>
              <a:ext uri="{FF2B5EF4-FFF2-40B4-BE49-F238E27FC236}">
                <a16:creationId xmlns:a16="http://schemas.microsoft.com/office/drawing/2014/main" id="{5DCA823A-DDBF-6B2A-B2C2-90847A3911BE}"/>
              </a:ext>
            </a:extLst>
          </p:cNvPr>
          <p:cNvCxnSpPr>
            <a:cxnSpLocks/>
          </p:cNvCxnSpPr>
          <p:nvPr userDrawn="1"/>
        </p:nvCxnSpPr>
        <p:spPr>
          <a:xfrm>
            <a:off x="384048" y="6210993"/>
            <a:ext cx="11420856" cy="0"/>
          </a:xfrm>
          <a:prstGeom prst="line">
            <a:avLst/>
          </a:pr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Slide Number">
            <a:extLst>
              <a:ext uri="{FF2B5EF4-FFF2-40B4-BE49-F238E27FC236}">
                <a16:creationId xmlns:a16="http://schemas.microsoft.com/office/drawing/2014/main" id="{80ED6C01-14DF-B809-6CDD-8AADF741EDDA}"/>
              </a:ext>
            </a:extLst>
          </p:cNvPr>
          <p:cNvSpPr txBox="1">
            <a:spLocks/>
          </p:cNvSpPr>
          <p:nvPr userDrawn="1"/>
        </p:nvSpPr>
        <p:spPr>
          <a:xfrm>
            <a:off x="11445240" y="15240"/>
            <a:ext cx="365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tabLst>
                <a:tab pos="1236663" algn="r"/>
              </a:tabLst>
              <a:defRPr/>
            </a:pPr>
            <a:fld id="{6007601C-0F56-1D44-9B09-FD7525EEC724}" type="slidenum">
              <a:rPr lang="en-CA" smtClean="0">
                <a:solidFill>
                  <a:srgbClr val="515349"/>
                </a:solidFill>
                <a:latin typeface="Arial" panose="020B0604020202020204"/>
              </a:rPr>
              <a:pPr rtl="0">
                <a:tabLst>
                  <a:tab pos="1236663" algn="r"/>
                </a:tabLst>
                <a:defRPr/>
              </a:pPr>
              <a:t>‹#›</a:t>
            </a:fld>
            <a:endParaRPr lang="en-CA">
              <a:solidFill>
                <a:srgbClr val="515349"/>
              </a:solidFill>
              <a:latin typeface="Arial" panose="020B0604020202020204"/>
            </a:endParaRPr>
          </a:p>
        </p:txBody>
      </p:sp>
      <p:cxnSp>
        <p:nvCxnSpPr>
          <p:cNvPr id="20" name="Straight Connector 19">
            <a:extLst>
              <a:ext uri="{FF2B5EF4-FFF2-40B4-BE49-F238E27FC236}">
                <a16:creationId xmlns:a16="http://schemas.microsoft.com/office/drawing/2014/main" id="{BFF71626-6519-CC8A-030C-BDBA8219FDC7}"/>
              </a:ext>
            </a:extLst>
          </p:cNvPr>
          <p:cNvCxnSpPr>
            <a:cxnSpLocks/>
          </p:cNvCxnSpPr>
          <p:nvPr userDrawn="1"/>
        </p:nvCxnSpPr>
        <p:spPr>
          <a:xfrm>
            <a:off x="384048" y="1471012"/>
            <a:ext cx="11420856" cy="0"/>
          </a:xfrm>
          <a:prstGeom prst="line">
            <a:avLst/>
          </a:pr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35979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1"/>
            </p:custDataLst>
            <p:extLst>
              <p:ext uri="{D42A27DB-BD31-4B8C-83A1-F6EECF244321}">
                <p14:modId xmlns:p14="http://schemas.microsoft.com/office/powerpoint/2010/main" val="37053660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92" imgH="591" progId="TCLayout.ActiveDocument.1">
                  <p:embed/>
                </p:oleObj>
              </mc:Choice>
              <mc:Fallback>
                <p:oleObj name="think-cell Slide" r:id="rId5"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5. Source" hidden="1">
            <a:extLst>
              <a:ext uri="{FF2B5EF4-FFF2-40B4-BE49-F238E27FC236}">
                <a16:creationId xmlns:a16="http://schemas.microsoft.com/office/drawing/2014/main" id="{09F9A864-CDB7-4063-BBF8-591908AA18D0}"/>
              </a:ext>
            </a:extLst>
          </p:cNvPr>
          <p:cNvSpPr txBox="1"/>
          <p:nvPr userDrawn="1">
            <p:custDataLst>
              <p:tags r:id="rId2"/>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sp>
        <p:nvSpPr>
          <p:cNvPr id="3" name="Slide Number Placeholder 5">
            <a:extLst>
              <a:ext uri="{FF2B5EF4-FFF2-40B4-BE49-F238E27FC236}">
                <a16:creationId xmlns:a16="http://schemas.microsoft.com/office/drawing/2014/main" id="{A438ED75-4ED6-626D-0A85-643507C0AB88}"/>
              </a:ext>
            </a:extLst>
          </p:cNvPr>
          <p:cNvSpPr txBox="1">
            <a:spLocks/>
          </p:cNvSpPr>
          <p:nvPr userDrawn="1"/>
        </p:nvSpPr>
        <p:spPr>
          <a:xfrm>
            <a:off x="10261600" y="15240"/>
            <a:ext cx="1000760" cy="289560"/>
          </a:xfrm>
          <a:prstGeom prst="rect">
            <a:avLst/>
          </a:prstGeom>
        </p:spPr>
        <p:txBody>
          <a:bodyPr vert="horz" lIns="0" tIns="0" rIns="0" bIns="0" rtlCol="0" anchor="b" anchorCtr="0"/>
          <a:lstStyle>
            <a:defPPr>
              <a:defRPr lang="en-US"/>
            </a:defPPr>
            <a:lvl1pPr marL="0" indent="0" algn="r" defTabSz="914400" rtl="0" eaLnBrk="1" latinLnBrk="0" hangingPunct="1">
              <a:tabLst>
                <a:tab pos="1338263" algn="r"/>
              </a:tabLst>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tab pos="1236663" algn="r"/>
              </a:tabLst>
              <a:defRPr/>
            </a:pPr>
            <a:r>
              <a:rPr kumimoji="0" lang="en-CA" sz="900" b="0" i="0" u="none" strike="noStrike" kern="1200" cap="none" spc="0" normalizeH="0" baseline="0" noProof="0">
                <a:ln>
                  <a:noFill/>
                </a:ln>
                <a:solidFill>
                  <a:srgbClr val="515349"/>
                </a:solidFill>
                <a:effectLst/>
                <a:uLnTx/>
                <a:uFillTx/>
                <a:latin typeface="Arial" panose="020B0604020202020204"/>
                <a:ea typeface="+mn-ea"/>
                <a:cs typeface="+mn-cs"/>
              </a:rPr>
              <a:t>CONFIDENTIAL</a:t>
            </a:r>
          </a:p>
        </p:txBody>
      </p:sp>
      <p:sp>
        <p:nvSpPr>
          <p:cNvPr id="4" name="Slide Number Placeholder 5">
            <a:extLst>
              <a:ext uri="{FF2B5EF4-FFF2-40B4-BE49-F238E27FC236}">
                <a16:creationId xmlns:a16="http://schemas.microsoft.com/office/drawing/2014/main" id="{760400E1-CF9C-5CB0-A8CB-B5A5F511324F}"/>
              </a:ext>
            </a:extLst>
          </p:cNvPr>
          <p:cNvSpPr>
            <a:spLocks noGrp="1"/>
          </p:cNvSpPr>
          <p:nvPr>
            <p:ph type="sldNum" sz="quarter" idx="4"/>
          </p:nvPr>
        </p:nvSpPr>
        <p:spPr>
          <a:xfrm>
            <a:off x="11445240" y="15240"/>
            <a:ext cx="365760" cy="289560"/>
          </a:xfrm>
          <a:prstGeom prst="rect">
            <a:avLst/>
          </a:prstGeom>
        </p:spPr>
        <p:txBody>
          <a:bodyPr vert="horz" lIns="0" tIns="0" rIns="0" bIns="0" rtlCol="0" anchor="b" anchorCtr="0"/>
          <a:lstStyle>
            <a:lvl1pPr marL="0" indent="0" algn="r" rtl="0">
              <a:tabLst>
                <a:tab pos="1338263" algn="r"/>
              </a:tabLst>
              <a:defRPr sz="900">
                <a:solidFill>
                  <a:schemeClr val="tx1"/>
                </a:solidFill>
              </a:defRPr>
            </a:lvl1pPr>
          </a:lstStyle>
          <a:p>
            <a:pPr>
              <a:tabLst>
                <a:tab pos="1236663" algn="r"/>
              </a:tabLst>
              <a:defRPr/>
            </a:pPr>
            <a:fld id="{6007601C-0F56-1D44-9B09-FD7525EEC724}" type="slidenum">
              <a:rPr lang="en-CA" smtClean="0">
                <a:solidFill>
                  <a:srgbClr val="515349"/>
                </a:solidFill>
              </a:rPr>
              <a:pPr>
                <a:tabLst>
                  <a:tab pos="1236663" algn="r"/>
                </a:tabLst>
                <a:defRPr/>
              </a:pPr>
              <a:t>‹#›</a:t>
            </a:fld>
            <a:endParaRPr lang="en-CA">
              <a:solidFill>
                <a:srgbClr val="515349"/>
              </a:solidFill>
            </a:endParaRPr>
          </a:p>
        </p:txBody>
      </p:sp>
      <p:sp>
        <p:nvSpPr>
          <p:cNvPr id="5" name="1. On-page tracker">
            <a:extLst>
              <a:ext uri="{FF2B5EF4-FFF2-40B4-BE49-F238E27FC236}">
                <a16:creationId xmlns:a16="http://schemas.microsoft.com/office/drawing/2014/main" id="{620CB9B9-4617-C642-819E-6EBB8BF7D77F}"/>
              </a:ext>
            </a:extLst>
          </p:cNvPr>
          <p:cNvSpPr>
            <a:spLocks noGrp="1"/>
          </p:cNvSpPr>
          <p:nvPr>
            <p:ph type="body" sz="quarter" idx="10" hasCustomPrompt="1"/>
            <p:custDataLst>
              <p:tags r:id="rId3"/>
            </p:custDataLst>
          </p:nvPr>
        </p:nvSpPr>
        <p:spPr>
          <a:xfrm>
            <a:off x="384048"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cs typeface="+mn-cs"/>
              </a:defRPr>
            </a:lvl1pPr>
          </a:lstStyle>
          <a:p>
            <a:pPr lvl="0">
              <a:buNone/>
            </a:pPr>
            <a:r>
              <a:rPr lang="en-CA"/>
              <a:t>Add tracker</a:t>
            </a:r>
          </a:p>
        </p:txBody>
      </p:sp>
      <p:pic>
        <p:nvPicPr>
          <p:cNvPr id="6" name="Picture 5">
            <a:extLst>
              <a:ext uri="{FF2B5EF4-FFF2-40B4-BE49-F238E27FC236}">
                <a16:creationId xmlns:a16="http://schemas.microsoft.com/office/drawing/2014/main" id="{5F308DD5-9CE5-9BBB-6D37-DC8022108524}"/>
              </a:ext>
            </a:extLst>
          </p:cNvPr>
          <p:cNvPicPr>
            <a:picLocks/>
          </p:cNvPicPr>
          <p:nvPr userDrawn="1"/>
        </p:nvPicPr>
        <p:blipFill>
          <a:blip r:embed="rId7"/>
          <a:stretch>
            <a:fillRect/>
          </a:stretch>
        </p:blipFill>
        <p:spPr>
          <a:xfrm>
            <a:off x="10853928" y="6388101"/>
            <a:ext cx="950976" cy="357859"/>
          </a:xfrm>
          <a:prstGeom prst="rect">
            <a:avLst/>
          </a:prstGeom>
        </p:spPr>
      </p:pic>
    </p:spTree>
    <p:extLst>
      <p:ext uri="{BB962C8B-B14F-4D97-AF65-F5344CB8AC3E}">
        <p14:creationId xmlns:p14="http://schemas.microsoft.com/office/powerpoint/2010/main" val="37258044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A954CCC1-5027-4384-BFF6-B54153C697A8}"/>
              </a:ext>
            </a:extLst>
          </p:cNvPr>
          <p:cNvGraphicFramePr>
            <a:graphicFrameLocks noChangeAspect="1"/>
          </p:cNvGraphicFramePr>
          <p:nvPr userDrawn="1">
            <p:custDataLst>
              <p:tags r:id="rId1"/>
            </p:custDataLst>
            <p:extLst>
              <p:ext uri="{D42A27DB-BD31-4B8C-83A1-F6EECF244321}">
                <p14:modId xmlns:p14="http://schemas.microsoft.com/office/powerpoint/2010/main" val="6148143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A954CCC1-5027-4384-BFF6-B54153C697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5. Source" hidden="1">
            <a:extLst>
              <a:ext uri="{FF2B5EF4-FFF2-40B4-BE49-F238E27FC236}">
                <a16:creationId xmlns:a16="http://schemas.microsoft.com/office/drawing/2014/main" id="{330AE89A-7771-4A6E-A02D-893DCB66C876}"/>
              </a:ext>
            </a:extLst>
          </p:cNvPr>
          <p:cNvSpPr txBox="1"/>
          <p:nvPr userDrawn="1">
            <p:custDataLst>
              <p:tags r:id="rId2"/>
            </p:custDataLst>
          </p:nvPr>
        </p:nvSpPr>
        <p:spPr>
          <a:xfrm>
            <a:off x="384048"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CA" sz="800"/>
              <a:t>Source: …</a:t>
            </a:r>
          </a:p>
        </p:txBody>
      </p:sp>
      <p:pic>
        <p:nvPicPr>
          <p:cNvPr id="6" name="Picture 5">
            <a:extLst>
              <a:ext uri="{FF2B5EF4-FFF2-40B4-BE49-F238E27FC236}">
                <a16:creationId xmlns:a16="http://schemas.microsoft.com/office/drawing/2014/main" id="{CD63D52D-FC6C-C10E-68DA-02C9EC9BFB9C}"/>
              </a:ext>
            </a:extLst>
          </p:cNvPr>
          <p:cNvPicPr>
            <a:picLocks/>
          </p:cNvPicPr>
          <p:nvPr userDrawn="1"/>
        </p:nvPicPr>
        <p:blipFill>
          <a:blip r:embed="rId6"/>
          <a:stretch>
            <a:fillRect/>
          </a:stretch>
        </p:blipFill>
        <p:spPr>
          <a:xfrm>
            <a:off x="4964515" y="3003214"/>
            <a:ext cx="2262971" cy="851572"/>
          </a:xfrm>
          <a:prstGeom prst="rect">
            <a:avLst/>
          </a:prstGeom>
        </p:spPr>
      </p:pic>
    </p:spTree>
    <p:extLst>
      <p:ext uri="{BB962C8B-B14F-4D97-AF65-F5344CB8AC3E}">
        <p14:creationId xmlns:p14="http://schemas.microsoft.com/office/powerpoint/2010/main" val="33932001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303B1-ED2E-EE47-84F0-7EE03B803B27}"/>
              </a:ext>
            </a:extLst>
          </p:cNvPr>
          <p:cNvSpPr>
            <a:spLocks noGrp="1"/>
          </p:cNvSpPr>
          <p:nvPr>
            <p:ph type="ctrTitle"/>
          </p:nvPr>
        </p:nvSpPr>
        <p:spPr>
          <a:xfrm>
            <a:off x="384048" y="2711195"/>
            <a:ext cx="11420856" cy="2268222"/>
          </a:xfrm>
        </p:spPr>
        <p:txBody>
          <a:bodyPr anchor="t" anchorCtr="0">
            <a:normAutofit/>
          </a:bodyPr>
          <a:lstStyle>
            <a:lvl1pPr algn="l">
              <a:defRPr sz="4400">
                <a:solidFill>
                  <a:schemeClr val="tx1"/>
                </a:solidFill>
              </a:defRPr>
            </a:lvl1pPr>
          </a:lstStyle>
          <a:p>
            <a:r>
              <a:rPr lang="en-US"/>
              <a:t>Click to edit Master title style</a:t>
            </a:r>
            <a:endParaRPr lang="en-CA"/>
          </a:p>
        </p:txBody>
      </p:sp>
      <p:sp>
        <p:nvSpPr>
          <p:cNvPr id="3" name="Subtitle 2">
            <a:extLst>
              <a:ext uri="{FF2B5EF4-FFF2-40B4-BE49-F238E27FC236}">
                <a16:creationId xmlns:a16="http://schemas.microsoft.com/office/drawing/2014/main" id="{3B21E3D5-49CD-FF4C-B5BD-302678C8CBF3}"/>
              </a:ext>
            </a:extLst>
          </p:cNvPr>
          <p:cNvSpPr>
            <a:spLocks noGrp="1"/>
          </p:cNvSpPr>
          <p:nvPr>
            <p:ph type="subTitle" idx="1"/>
          </p:nvPr>
        </p:nvSpPr>
        <p:spPr>
          <a:xfrm>
            <a:off x="384048" y="4980756"/>
            <a:ext cx="11420856" cy="930841"/>
          </a:xfrm>
        </p:spPr>
        <p:txBody>
          <a:bodyPr>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8" name="Date Placeholder 7">
            <a:extLst>
              <a:ext uri="{FF2B5EF4-FFF2-40B4-BE49-F238E27FC236}">
                <a16:creationId xmlns:a16="http://schemas.microsoft.com/office/drawing/2014/main" id="{6A5BF6AB-2D80-4B33-BD00-B219B9E88ACB}"/>
              </a:ext>
            </a:extLst>
          </p:cNvPr>
          <p:cNvSpPr>
            <a:spLocks noGrp="1"/>
          </p:cNvSpPr>
          <p:nvPr>
            <p:ph type="dt" sz="half" idx="10"/>
          </p:nvPr>
        </p:nvSpPr>
        <p:spPr>
          <a:xfrm>
            <a:off x="384048" y="-9144"/>
            <a:ext cx="1371600" cy="1380744"/>
          </a:xfrm>
          <a:prstGeom prst="rect">
            <a:avLst/>
          </a:prstGeom>
          <a:solidFill>
            <a:schemeClr val="tx2"/>
          </a:solidFill>
        </p:spPr>
        <p:txBody>
          <a:bodyPr lIns="109728" rIns="45720" bIns="137160" anchor="b" anchorCtr="0"/>
          <a:lstStyle>
            <a:lvl1pPr algn="l">
              <a:defRPr sz="1000">
                <a:solidFill>
                  <a:schemeClr val="bg1"/>
                </a:solidFill>
              </a:defRPr>
            </a:lvl1pPr>
          </a:lstStyle>
          <a:p>
            <a:fld id="{799490EA-2102-4C89-863D-10A7A47B8107}" type="datetime1">
              <a:rPr lang="en-US" smtClean="0"/>
              <a:t>7/31/2026</a:t>
            </a:fld>
            <a:endParaRPr lang="en-CA"/>
          </a:p>
        </p:txBody>
      </p:sp>
      <p:sp>
        <p:nvSpPr>
          <p:cNvPr id="9" name="Footer Placeholder 8">
            <a:extLst>
              <a:ext uri="{FF2B5EF4-FFF2-40B4-BE49-F238E27FC236}">
                <a16:creationId xmlns:a16="http://schemas.microsoft.com/office/drawing/2014/main" id="{EE916F14-7935-4AE8-8068-C3EB1FBA7D46}"/>
              </a:ext>
            </a:extLst>
          </p:cNvPr>
          <p:cNvSpPr>
            <a:spLocks noGrp="1"/>
          </p:cNvSpPr>
          <p:nvPr>
            <p:ph type="ftr" sz="quarter" idx="11"/>
          </p:nvPr>
        </p:nvSpPr>
        <p:spPr>
          <a:xfrm>
            <a:off x="381000" y="6515098"/>
            <a:ext cx="9664700" cy="342900"/>
          </a:xfrm>
          <a:prstGeom prst="rect">
            <a:avLst/>
          </a:prstGeom>
        </p:spPr>
        <p:txBody>
          <a:bodyPr/>
          <a:lstStyle/>
          <a:p>
            <a:r>
              <a:rPr lang="en-CA"/>
              <a:t>CONFIDENTIAL</a:t>
            </a:r>
          </a:p>
        </p:txBody>
      </p:sp>
      <p:pic>
        <p:nvPicPr>
          <p:cNvPr id="14" name="Picture 13">
            <a:extLst>
              <a:ext uri="{FF2B5EF4-FFF2-40B4-BE49-F238E27FC236}">
                <a16:creationId xmlns:a16="http://schemas.microsoft.com/office/drawing/2014/main" id="{D30950D2-F01E-9F44-AD9E-7771212C5D9A}"/>
              </a:ext>
            </a:extLst>
          </p:cNvPr>
          <p:cNvPicPr>
            <a:picLocks/>
          </p:cNvPicPr>
          <p:nvPr userDrawn="1"/>
        </p:nvPicPr>
        <p:blipFill>
          <a:blip r:embed="rId2"/>
          <a:stretch>
            <a:fillRect/>
          </a:stretch>
        </p:blipFill>
        <p:spPr>
          <a:xfrm>
            <a:off x="10203942" y="5912934"/>
            <a:ext cx="1600200" cy="602166"/>
          </a:xfrm>
          <a:prstGeom prst="rect">
            <a:avLst/>
          </a:prstGeom>
        </p:spPr>
      </p:pic>
    </p:spTree>
    <p:extLst>
      <p:ext uri="{BB962C8B-B14F-4D97-AF65-F5344CB8AC3E}">
        <p14:creationId xmlns:p14="http://schemas.microsoft.com/office/powerpoint/2010/main" val="40979412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8F241A-25B2-3D41-ADDE-A82C17268E58}"/>
              </a:ext>
            </a:extLst>
          </p:cNvPr>
          <p:cNvSpPr/>
          <p:nvPr userDrawn="1"/>
        </p:nvSpPr>
        <p:spPr>
          <a:xfrm>
            <a:off x="1753114" y="1371600"/>
            <a:ext cx="4544568" cy="454567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endParaRPr lang="en-CA" sz="1350">
              <a:solidFill>
                <a:schemeClr val="bg1"/>
              </a:solidFill>
            </a:endParaRPr>
          </a:p>
        </p:txBody>
      </p:sp>
      <p:sp>
        <p:nvSpPr>
          <p:cNvPr id="2" name="Title 1">
            <a:extLst>
              <a:ext uri="{FF2B5EF4-FFF2-40B4-BE49-F238E27FC236}">
                <a16:creationId xmlns:a16="http://schemas.microsoft.com/office/drawing/2014/main" id="{A84303B1-ED2E-EE47-84F0-7EE03B803B27}"/>
              </a:ext>
            </a:extLst>
          </p:cNvPr>
          <p:cNvSpPr>
            <a:spLocks noGrp="1"/>
          </p:cNvSpPr>
          <p:nvPr>
            <p:ph type="ctrTitle"/>
          </p:nvPr>
        </p:nvSpPr>
        <p:spPr>
          <a:xfrm>
            <a:off x="2186945" y="1676400"/>
            <a:ext cx="3959352" cy="2971800"/>
          </a:xfrm>
          <a:noFill/>
        </p:spPr>
        <p:txBody>
          <a:bodyPr anchor="t" anchorCtr="0">
            <a:normAutofit/>
          </a:bodyPr>
          <a:lstStyle>
            <a:lvl1pPr algn="l">
              <a:defRPr sz="4400">
                <a:solidFill>
                  <a:schemeClr val="tx1"/>
                </a:solidFill>
              </a:defRPr>
            </a:lvl1pPr>
          </a:lstStyle>
          <a:p>
            <a:r>
              <a:rPr lang="en-US"/>
              <a:t>Click to edit Master title style</a:t>
            </a:r>
            <a:endParaRPr lang="en-CA"/>
          </a:p>
        </p:txBody>
      </p:sp>
      <p:sp>
        <p:nvSpPr>
          <p:cNvPr id="3" name="Subtitle 2">
            <a:extLst>
              <a:ext uri="{FF2B5EF4-FFF2-40B4-BE49-F238E27FC236}">
                <a16:creationId xmlns:a16="http://schemas.microsoft.com/office/drawing/2014/main" id="{3B21E3D5-49CD-FF4C-B5BD-302678C8CBF3}"/>
              </a:ext>
            </a:extLst>
          </p:cNvPr>
          <p:cNvSpPr>
            <a:spLocks noGrp="1"/>
          </p:cNvSpPr>
          <p:nvPr>
            <p:ph type="subTitle" idx="1"/>
          </p:nvPr>
        </p:nvSpPr>
        <p:spPr>
          <a:xfrm>
            <a:off x="2186945" y="4648200"/>
            <a:ext cx="3959352" cy="914400"/>
          </a:xfrm>
          <a:noFill/>
        </p:spPr>
        <p:txBody>
          <a:bodyPr anchor="b" anchorCtr="0">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7" name="Date Placeholder 6">
            <a:extLst>
              <a:ext uri="{FF2B5EF4-FFF2-40B4-BE49-F238E27FC236}">
                <a16:creationId xmlns:a16="http://schemas.microsoft.com/office/drawing/2014/main" id="{17A58CD2-A995-4262-A6D6-8D0AADA58C10}"/>
              </a:ext>
            </a:extLst>
          </p:cNvPr>
          <p:cNvSpPr>
            <a:spLocks noGrp="1"/>
          </p:cNvSpPr>
          <p:nvPr>
            <p:ph type="dt" sz="half" idx="10"/>
          </p:nvPr>
        </p:nvSpPr>
        <p:spPr>
          <a:xfrm>
            <a:off x="384048" y="-9144"/>
            <a:ext cx="1371600" cy="1380744"/>
          </a:xfrm>
          <a:prstGeom prst="rect">
            <a:avLst/>
          </a:prstGeom>
          <a:solidFill>
            <a:schemeClr val="tx2"/>
          </a:solidFill>
        </p:spPr>
        <p:txBody>
          <a:bodyPr lIns="109728" rIns="45720" bIns="137160" anchor="b" anchorCtr="0"/>
          <a:lstStyle>
            <a:lvl1pPr algn="l">
              <a:defRPr sz="1000">
                <a:solidFill>
                  <a:schemeClr val="bg1"/>
                </a:solidFill>
              </a:defRPr>
            </a:lvl1pPr>
          </a:lstStyle>
          <a:p>
            <a:fld id="{91FF3DF2-E35D-4C4D-80DF-954FD10E999E}" type="datetime1">
              <a:rPr lang="en-US" smtClean="0"/>
              <a:t>7/31/2026</a:t>
            </a:fld>
            <a:endParaRPr lang="en-CA"/>
          </a:p>
        </p:txBody>
      </p:sp>
      <p:pic>
        <p:nvPicPr>
          <p:cNvPr id="12" name="Picture 11">
            <a:extLst>
              <a:ext uri="{FF2B5EF4-FFF2-40B4-BE49-F238E27FC236}">
                <a16:creationId xmlns:a16="http://schemas.microsoft.com/office/drawing/2014/main" id="{EA6A21FE-07F5-4A52-B78A-91402A316252}"/>
              </a:ext>
            </a:extLst>
          </p:cNvPr>
          <p:cNvPicPr>
            <a:picLocks/>
          </p:cNvPicPr>
          <p:nvPr userDrawn="1"/>
        </p:nvPicPr>
        <p:blipFill>
          <a:blip r:embed="rId2"/>
          <a:stretch>
            <a:fillRect/>
          </a:stretch>
        </p:blipFill>
        <p:spPr>
          <a:xfrm>
            <a:off x="10203942" y="5912934"/>
            <a:ext cx="1600200" cy="602166"/>
          </a:xfrm>
          <a:prstGeom prst="rect">
            <a:avLst/>
          </a:prstGeom>
        </p:spPr>
      </p:pic>
      <p:sp>
        <p:nvSpPr>
          <p:cNvPr id="9" name="Footer Placeholder 8">
            <a:extLst>
              <a:ext uri="{FF2B5EF4-FFF2-40B4-BE49-F238E27FC236}">
                <a16:creationId xmlns:a16="http://schemas.microsoft.com/office/drawing/2014/main" id="{20BD4B6A-B0A7-DE49-A4C4-D89305445939}"/>
              </a:ext>
            </a:extLst>
          </p:cNvPr>
          <p:cNvSpPr>
            <a:spLocks noGrp="1"/>
          </p:cNvSpPr>
          <p:nvPr>
            <p:ph type="ftr" sz="quarter" idx="11"/>
          </p:nvPr>
        </p:nvSpPr>
        <p:spPr>
          <a:xfrm>
            <a:off x="381000" y="6515098"/>
            <a:ext cx="9664700" cy="342900"/>
          </a:xfrm>
          <a:prstGeom prst="rect">
            <a:avLst/>
          </a:prstGeom>
        </p:spPr>
        <p:txBody>
          <a:bodyPr/>
          <a:lstStyle/>
          <a:p>
            <a:r>
              <a:rPr lang="en-CA"/>
              <a:t>CONFIDENTIAL</a:t>
            </a:r>
          </a:p>
        </p:txBody>
      </p:sp>
    </p:spTree>
    <p:extLst>
      <p:ext uri="{BB962C8B-B14F-4D97-AF65-F5344CB8AC3E}">
        <p14:creationId xmlns:p14="http://schemas.microsoft.com/office/powerpoint/2010/main" val="35805922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Executive 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4" name="Date Placeholder 3">
            <a:extLst>
              <a:ext uri="{FF2B5EF4-FFF2-40B4-BE49-F238E27FC236}">
                <a16:creationId xmlns:a16="http://schemas.microsoft.com/office/drawing/2014/main" id="{97979612-F33F-440D-A54F-58134DD6B0C4}"/>
              </a:ext>
            </a:extLst>
          </p:cNvPr>
          <p:cNvSpPr>
            <a:spLocks noGrp="1"/>
          </p:cNvSpPr>
          <p:nvPr>
            <p:ph type="dt" sz="half" idx="13"/>
          </p:nvPr>
        </p:nvSpPr>
        <p:spPr>
          <a:xfrm>
            <a:off x="8569452" y="6515098"/>
            <a:ext cx="1474248" cy="342902"/>
          </a:xfrm>
          <a:prstGeom prst="rect">
            <a:avLst/>
          </a:prstGeom>
        </p:spPr>
        <p:txBody>
          <a:bodyPr/>
          <a:lstStyle/>
          <a:p>
            <a:fld id="{AC830EDD-E25E-4688-8B29-7C93A56EF674}" type="datetime1">
              <a:rPr lang="en-US" smtClean="0"/>
              <a:t>7/31/2026</a:t>
            </a:fld>
            <a:endParaRPr lang="en-CA"/>
          </a:p>
        </p:txBody>
      </p:sp>
      <p:sp>
        <p:nvSpPr>
          <p:cNvPr id="7" name="Footer Placeholder 8">
            <a:extLst>
              <a:ext uri="{FF2B5EF4-FFF2-40B4-BE49-F238E27FC236}">
                <a16:creationId xmlns:a16="http://schemas.microsoft.com/office/drawing/2014/main" id="{67E2328D-2C11-F54F-BB03-882DEF6EB440}"/>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0EA872F-4A4A-2F4F-831B-AEDCC73E2B2D}"/>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
        <p:nvSpPr>
          <p:cNvPr id="10" name="Table Placeholder 9">
            <a:extLst>
              <a:ext uri="{FF2B5EF4-FFF2-40B4-BE49-F238E27FC236}">
                <a16:creationId xmlns:a16="http://schemas.microsoft.com/office/drawing/2014/main" id="{B83CA65E-AE9C-F54B-B443-CD30308C2CA7}"/>
              </a:ext>
            </a:extLst>
          </p:cNvPr>
          <p:cNvSpPr>
            <a:spLocks noGrp="1"/>
          </p:cNvSpPr>
          <p:nvPr>
            <p:ph type="tbl" sz="quarter" idx="14" hasCustomPrompt="1"/>
          </p:nvPr>
        </p:nvSpPr>
        <p:spPr>
          <a:xfrm>
            <a:off x="381000" y="1295400"/>
            <a:ext cx="11430000" cy="4724400"/>
          </a:xfrm>
        </p:spPr>
        <p:txBody>
          <a:bodyPr/>
          <a:lstStyle>
            <a:lvl1pPr marL="0" indent="0">
              <a:buNone/>
              <a:defRPr sz="1600"/>
            </a:lvl1pPr>
            <a:lvl2pPr marL="685800" indent="-228600">
              <a:buFont typeface="Arial" panose="020B0604020202020204" pitchFamily="34" charset="0"/>
              <a:buChar char="•"/>
              <a:defRPr sz="1600"/>
            </a:lvl2pPr>
            <a:lvl3pPr marL="1143000" indent="-228600">
              <a:buFont typeface="Wingdings" pitchFamily="2" charset="2"/>
              <a:buChar char="§"/>
              <a:defRPr sz="1400"/>
            </a:lvl3pPr>
            <a:lvl4pPr marL="1600200" indent="-228600">
              <a:buFont typeface="Arial" panose="020B0604020202020204" pitchFamily="34" charset="0"/>
              <a:buChar char="•"/>
              <a:defRPr sz="1200"/>
            </a:lvl4pPr>
            <a:lvl5pPr marL="2057400" indent="-228600">
              <a:buFont typeface="Wingdings" pitchFamily="2" charset="2"/>
              <a:buChar char="§"/>
              <a:defRPr sz="1000"/>
            </a:lvl5p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Tree>
    <p:extLst>
      <p:ext uri="{BB962C8B-B14F-4D97-AF65-F5344CB8AC3E}">
        <p14:creationId xmlns:p14="http://schemas.microsoft.com/office/powerpoint/2010/main" val="1760190346"/>
      </p:ext>
    </p:extLst>
  </p:cSld>
  <p:clrMapOvr>
    <a:masterClrMapping/>
  </p:clrMapOvr>
  <p:extLst>
    <p:ext uri="{DCECCB84-F9BA-43D5-87BE-67443E8EF086}">
      <p15:sldGuideLst xmlns:p15="http://schemas.microsoft.com/office/powerpoint/2012/main">
        <p15:guide id="1" orient="horz" pos="816">
          <p15:clr>
            <a:srgbClr val="FBAE40"/>
          </p15:clr>
        </p15:guide>
        <p15:guide id="2" orient="horz" pos="672">
          <p15:clr>
            <a:srgbClr val="FBAE40"/>
          </p15:clr>
        </p15:guide>
        <p15:guide id="3" orient="horz" pos="3936">
          <p15:clr>
            <a:srgbClr val="FBAE40"/>
          </p15:clr>
        </p15:guide>
        <p15:guide id="4" orient="horz" pos="3792">
          <p15:clr>
            <a:srgbClr val="FBAE40"/>
          </p15:clr>
        </p15:guide>
        <p15:guide id="5" orient="horz" pos="57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4" name="Date Placeholder 3">
            <a:extLst>
              <a:ext uri="{FF2B5EF4-FFF2-40B4-BE49-F238E27FC236}">
                <a16:creationId xmlns:a16="http://schemas.microsoft.com/office/drawing/2014/main" id="{97979612-F33F-440D-A54F-58134DD6B0C4}"/>
              </a:ext>
            </a:extLst>
          </p:cNvPr>
          <p:cNvSpPr>
            <a:spLocks noGrp="1"/>
          </p:cNvSpPr>
          <p:nvPr>
            <p:ph type="dt" sz="half" idx="13"/>
          </p:nvPr>
        </p:nvSpPr>
        <p:spPr>
          <a:xfrm>
            <a:off x="8569452" y="6515098"/>
            <a:ext cx="1474248" cy="342902"/>
          </a:xfrm>
          <a:prstGeom prst="rect">
            <a:avLst/>
          </a:prstGeom>
        </p:spPr>
        <p:txBody>
          <a:bodyPr/>
          <a:lstStyle/>
          <a:p>
            <a:fld id="{1DFF5FEA-9A85-43E6-8C59-BAAE89ED3061}" type="datetime1">
              <a:rPr lang="en-US" smtClean="0"/>
              <a:t>7/31/2026</a:t>
            </a:fld>
            <a:endParaRPr lang="en-CA"/>
          </a:p>
        </p:txBody>
      </p:sp>
      <p:sp>
        <p:nvSpPr>
          <p:cNvPr id="7" name="Footer Placeholder 8">
            <a:extLst>
              <a:ext uri="{FF2B5EF4-FFF2-40B4-BE49-F238E27FC236}">
                <a16:creationId xmlns:a16="http://schemas.microsoft.com/office/drawing/2014/main" id="{67E2328D-2C11-F54F-BB03-882DEF6EB440}"/>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0EA872F-4A4A-2F4F-831B-AEDCC73E2B2D}"/>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
        <p:nvSpPr>
          <p:cNvPr id="9" name="Content Placeholder 2">
            <a:extLst>
              <a:ext uri="{FF2B5EF4-FFF2-40B4-BE49-F238E27FC236}">
                <a16:creationId xmlns:a16="http://schemas.microsoft.com/office/drawing/2014/main" id="{92B386B8-F93B-994F-BB71-62E6F2413BCE}"/>
              </a:ext>
            </a:extLst>
          </p:cNvPr>
          <p:cNvSpPr>
            <a:spLocks noGrp="1"/>
          </p:cNvSpPr>
          <p:nvPr>
            <p:ph idx="14" hasCustomPrompt="1"/>
          </p:nvPr>
        </p:nvSpPr>
        <p:spPr>
          <a:xfrm>
            <a:off x="1447800" y="1600200"/>
            <a:ext cx="7162800" cy="4343400"/>
          </a:xfrm>
        </p:spPr>
        <p:txBody>
          <a:bodyPr/>
          <a:lstStyle>
            <a:lvl1pPr>
              <a:spcAft>
                <a:spcPts val="1800"/>
              </a:spcAft>
              <a:defRPr sz="1800"/>
            </a:lvl1pPr>
          </a:lstStyle>
          <a:p>
            <a:pPr lvl="0"/>
            <a:r>
              <a:rPr lang="en-CA"/>
              <a:t>Edit Master text styles</a:t>
            </a:r>
          </a:p>
          <a:p>
            <a:pPr>
              <a:spcAft>
                <a:spcPts val="1800"/>
              </a:spcAft>
            </a:pPr>
            <a:endParaRPr lang="en-US"/>
          </a:p>
          <a:p>
            <a:endParaRPr lang="en-US"/>
          </a:p>
        </p:txBody>
      </p:sp>
    </p:spTree>
    <p:extLst>
      <p:ext uri="{BB962C8B-B14F-4D97-AF65-F5344CB8AC3E}">
        <p14:creationId xmlns:p14="http://schemas.microsoft.com/office/powerpoint/2010/main" val="3380011492"/>
      </p:ext>
    </p:extLst>
  </p:cSld>
  <p:clrMapOvr>
    <a:masterClrMapping/>
  </p:clrMapOvr>
  <p:extLst>
    <p:ext uri="{DCECCB84-F9BA-43D5-87BE-67443E8EF086}">
      <p15:sldGuideLst xmlns:p15="http://schemas.microsoft.com/office/powerpoint/2012/main">
        <p15:guide id="1" orient="horz" pos="816">
          <p15:clr>
            <a:srgbClr val="FBAE40"/>
          </p15:clr>
        </p15:guide>
        <p15:guide id="2" orient="horz" pos="672">
          <p15:clr>
            <a:srgbClr val="FBAE40"/>
          </p15:clr>
        </p15:guide>
        <p15:guide id="3" orient="horz" pos="3936">
          <p15:clr>
            <a:srgbClr val="FBAE40"/>
          </p15:clr>
        </p15:guide>
        <p15:guide id="4" orient="horz" pos="3792">
          <p15:clr>
            <a:srgbClr val="FBAE40"/>
          </p15:clr>
        </p15:guide>
        <p15:guide id="5" orient="horz" pos="57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80BD3AE-39E3-494F-A1EE-16FB6F252764}"/>
              </a:ext>
            </a:extLst>
          </p:cNvPr>
          <p:cNvSpPr>
            <a:spLocks noGrp="1"/>
          </p:cNvSpPr>
          <p:nvPr>
            <p:ph idx="1" hasCustomPrompt="1"/>
          </p:nvPr>
        </p:nvSpPr>
        <p:spPr/>
        <p:txBody>
          <a:body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4" name="Date Placeholder 3">
            <a:extLst>
              <a:ext uri="{FF2B5EF4-FFF2-40B4-BE49-F238E27FC236}">
                <a16:creationId xmlns:a16="http://schemas.microsoft.com/office/drawing/2014/main" id="{97979612-F33F-440D-A54F-58134DD6B0C4}"/>
              </a:ext>
            </a:extLst>
          </p:cNvPr>
          <p:cNvSpPr>
            <a:spLocks noGrp="1"/>
          </p:cNvSpPr>
          <p:nvPr>
            <p:ph type="dt" sz="half" idx="13"/>
          </p:nvPr>
        </p:nvSpPr>
        <p:spPr>
          <a:xfrm>
            <a:off x="8569452" y="6515098"/>
            <a:ext cx="1474248" cy="342902"/>
          </a:xfrm>
          <a:prstGeom prst="rect">
            <a:avLst/>
          </a:prstGeom>
        </p:spPr>
        <p:txBody>
          <a:bodyPr/>
          <a:lstStyle/>
          <a:p>
            <a:fld id="{DFC179E5-4269-44D4-A984-C57F7029D15D}" type="datetime1">
              <a:rPr lang="en-US" smtClean="0"/>
              <a:t>7/31/2026</a:t>
            </a:fld>
            <a:endParaRPr lang="en-CA"/>
          </a:p>
        </p:txBody>
      </p:sp>
    </p:spTree>
    <p:extLst>
      <p:ext uri="{BB962C8B-B14F-4D97-AF65-F5344CB8AC3E}">
        <p14:creationId xmlns:p14="http://schemas.microsoft.com/office/powerpoint/2010/main" val="3560082535"/>
      </p:ext>
    </p:extLst>
  </p:cSld>
  <p:clrMapOvr>
    <a:masterClrMapping/>
  </p:clrMapOvr>
  <p:extLst>
    <p:ext uri="{DCECCB84-F9BA-43D5-87BE-67443E8EF086}">
      <p15:sldGuideLst xmlns:p15="http://schemas.microsoft.com/office/powerpoint/2012/main">
        <p15:guide id="1" orient="horz" pos="816">
          <p15:clr>
            <a:srgbClr val="FBAE40"/>
          </p15:clr>
        </p15:guide>
        <p15:guide id="2" orient="horz" pos="672">
          <p15:clr>
            <a:srgbClr val="FBAE40"/>
          </p15:clr>
        </p15:guide>
        <p15:guide id="3" orient="horz" pos="3936">
          <p15:clr>
            <a:srgbClr val="FBAE40"/>
          </p15:clr>
        </p15:guide>
        <p15:guide id="4" orient="horz" pos="3792">
          <p15:clr>
            <a:srgbClr val="FBAE40"/>
          </p15:clr>
        </p15:guide>
        <p15:guide id="5" orient="horz" pos="57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E597-5579-A045-9648-491A56F1DDE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E84AE1E-60E5-6446-BB3C-C46E835D3342}"/>
              </a:ext>
            </a:extLst>
          </p:cNvPr>
          <p:cNvSpPr>
            <a:spLocks noGrp="1"/>
          </p:cNvSpPr>
          <p:nvPr>
            <p:ph sz="half" idx="1" hasCustomPrompt="1"/>
          </p:nvPr>
        </p:nvSpPr>
        <p:spPr>
          <a:xfrm>
            <a:off x="384048" y="1295401"/>
            <a:ext cx="5559552" cy="4724400"/>
          </a:xfrm>
        </p:spPr>
        <p:txBody>
          <a:body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4" name="Content Placeholder 3">
            <a:extLst>
              <a:ext uri="{FF2B5EF4-FFF2-40B4-BE49-F238E27FC236}">
                <a16:creationId xmlns:a16="http://schemas.microsoft.com/office/drawing/2014/main" id="{DDB161A1-7135-6A48-88B5-FA6A609C298F}"/>
              </a:ext>
            </a:extLst>
          </p:cNvPr>
          <p:cNvSpPr>
            <a:spLocks noGrp="1"/>
          </p:cNvSpPr>
          <p:nvPr>
            <p:ph sz="half" idx="2" hasCustomPrompt="1"/>
          </p:nvPr>
        </p:nvSpPr>
        <p:spPr>
          <a:xfrm>
            <a:off x="6248400" y="1295403"/>
            <a:ext cx="5556250" cy="4724399"/>
          </a:xfrm>
        </p:spPr>
        <p:txBody>
          <a:body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8" name="Footer Placeholder 4">
            <a:extLst>
              <a:ext uri="{FF2B5EF4-FFF2-40B4-BE49-F238E27FC236}">
                <a16:creationId xmlns:a16="http://schemas.microsoft.com/office/drawing/2014/main" id="{97C1624E-A29C-1D46-89E2-F842DD42DDE8}"/>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9" name="Date Placeholder 3">
            <a:extLst>
              <a:ext uri="{FF2B5EF4-FFF2-40B4-BE49-F238E27FC236}">
                <a16:creationId xmlns:a16="http://schemas.microsoft.com/office/drawing/2014/main" id="{990CB781-62E8-C740-9FC2-AF70714CA6FB}"/>
              </a:ext>
            </a:extLst>
          </p:cNvPr>
          <p:cNvSpPr>
            <a:spLocks noGrp="1"/>
          </p:cNvSpPr>
          <p:nvPr>
            <p:ph type="dt" sz="half" idx="13"/>
          </p:nvPr>
        </p:nvSpPr>
        <p:spPr>
          <a:xfrm>
            <a:off x="8569452" y="6515098"/>
            <a:ext cx="1474248" cy="342902"/>
          </a:xfrm>
          <a:prstGeom prst="rect">
            <a:avLst/>
          </a:prstGeom>
        </p:spPr>
        <p:txBody>
          <a:bodyPr/>
          <a:lstStyle/>
          <a:p>
            <a:fld id="{99AEB2EC-B98E-4DA9-999E-94A62D6D17F4}" type="datetime1">
              <a:rPr lang="en-US" smtClean="0"/>
              <a:t>7/31/2026</a:t>
            </a:fld>
            <a:endParaRPr lang="en-CA"/>
          </a:p>
        </p:txBody>
      </p:sp>
      <p:sp>
        <p:nvSpPr>
          <p:cNvPr id="7" name="Footer Placeholder 8">
            <a:extLst>
              <a:ext uri="{FF2B5EF4-FFF2-40B4-BE49-F238E27FC236}">
                <a16:creationId xmlns:a16="http://schemas.microsoft.com/office/drawing/2014/main" id="{67B9DA3F-10E5-7D41-84AB-9050D4311949}"/>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10" name="Footer Placeholder 8">
            <a:extLst>
              <a:ext uri="{FF2B5EF4-FFF2-40B4-BE49-F238E27FC236}">
                <a16:creationId xmlns:a16="http://schemas.microsoft.com/office/drawing/2014/main" id="{B699D31A-57EC-B04B-A41A-F3C3AF558E17}"/>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3125002004"/>
      </p:ext>
    </p:extLst>
  </p:cSld>
  <p:clrMapOvr>
    <a:masterClrMapping/>
  </p:clrMapOvr>
  <p:extLst>
    <p:ext uri="{DCECCB84-F9BA-43D5-87BE-67443E8EF086}">
      <p15:sldGuideLst xmlns:p15="http://schemas.microsoft.com/office/powerpoint/2012/main">
        <p15:guide id="1" orient="horz" pos="576">
          <p15:clr>
            <a:srgbClr val="FBAE40"/>
          </p15:clr>
        </p15:guide>
        <p15:guide id="2" orient="horz" pos="672">
          <p15:clr>
            <a:srgbClr val="FBAE40"/>
          </p15:clr>
        </p15:guide>
        <p15:guide id="3" orient="horz" pos="816">
          <p15:clr>
            <a:srgbClr val="FBAE40"/>
          </p15:clr>
        </p15:guide>
        <p15:guide id="4" orient="horz" pos="3936">
          <p15:clr>
            <a:srgbClr val="FBAE40"/>
          </p15:clr>
        </p15:guide>
        <p15:guide id="5" orient="horz" pos="3792">
          <p15:clr>
            <a:srgbClr val="FBAE40"/>
          </p15:clr>
        </p15:guide>
        <p15:guide id="6" pos="3744">
          <p15:clr>
            <a:srgbClr val="FBAE40"/>
          </p15:clr>
        </p15:guide>
        <p15:guide id="7" pos="393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75E1948-A0F9-446F-A911-3D63891A9EE4}"/>
              </a:ext>
            </a:extLst>
          </p:cNvPr>
          <p:cNvSpPr>
            <a:spLocks noGrp="1"/>
          </p:cNvSpPr>
          <p:nvPr>
            <p:ph type="body" idx="1"/>
          </p:nvPr>
        </p:nvSpPr>
        <p:spPr>
          <a:xfrm>
            <a:off x="384048" y="1298448"/>
            <a:ext cx="5564124" cy="548640"/>
          </a:xfrm>
        </p:spPr>
        <p:txBody>
          <a:bodyPr anchor="b"/>
          <a:lstStyle>
            <a:lvl1pPr marL="0" indent="0">
              <a:buNone/>
              <a:defRPr sz="18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8382803-AA33-4BE8-B029-8C6D44878A59}"/>
              </a:ext>
            </a:extLst>
          </p:cNvPr>
          <p:cNvSpPr>
            <a:spLocks noGrp="1"/>
          </p:cNvSpPr>
          <p:nvPr>
            <p:ph sz="half" idx="2"/>
          </p:nvPr>
        </p:nvSpPr>
        <p:spPr>
          <a:xfrm>
            <a:off x="384048" y="1981200"/>
            <a:ext cx="5564124" cy="4044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1D253C96-7453-445F-9A82-BC56E5098671}"/>
              </a:ext>
            </a:extLst>
          </p:cNvPr>
          <p:cNvSpPr>
            <a:spLocks noGrp="1"/>
          </p:cNvSpPr>
          <p:nvPr>
            <p:ph type="body" sz="quarter" idx="3"/>
          </p:nvPr>
        </p:nvSpPr>
        <p:spPr>
          <a:xfrm>
            <a:off x="6245352" y="1298448"/>
            <a:ext cx="5559297" cy="548640"/>
          </a:xfrm>
        </p:spPr>
        <p:txBody>
          <a:bodyPr anchor="b"/>
          <a:lstStyle>
            <a:lvl1pPr marL="0" indent="0">
              <a:buNone/>
              <a:defRPr sz="18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29EBCD2F-8EC4-4C1F-8B3F-1D6D8381165B}"/>
              </a:ext>
            </a:extLst>
          </p:cNvPr>
          <p:cNvSpPr>
            <a:spLocks noGrp="1"/>
          </p:cNvSpPr>
          <p:nvPr>
            <p:ph sz="quarter" idx="4"/>
          </p:nvPr>
        </p:nvSpPr>
        <p:spPr>
          <a:xfrm>
            <a:off x="6245352" y="1981200"/>
            <a:ext cx="5559297" cy="4044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Title 12">
            <a:extLst>
              <a:ext uri="{FF2B5EF4-FFF2-40B4-BE49-F238E27FC236}">
                <a16:creationId xmlns:a16="http://schemas.microsoft.com/office/drawing/2014/main" id="{BFB384AC-20BD-4E27-BC9E-242394EDC903}"/>
              </a:ext>
            </a:extLst>
          </p:cNvPr>
          <p:cNvSpPr>
            <a:spLocks noGrp="1"/>
          </p:cNvSpPr>
          <p:nvPr>
            <p:ph type="title"/>
          </p:nvPr>
        </p:nvSpPr>
        <p:spPr/>
        <p:txBody>
          <a:bodyPr/>
          <a:lstStyle/>
          <a:p>
            <a:r>
              <a:rPr lang="en-US"/>
              <a:t>Click to edit Master title style</a:t>
            </a:r>
            <a:endParaRPr lang="en-CA"/>
          </a:p>
        </p:txBody>
      </p:sp>
      <p:sp>
        <p:nvSpPr>
          <p:cNvPr id="14" name="Footer Placeholder 4">
            <a:extLst>
              <a:ext uri="{FF2B5EF4-FFF2-40B4-BE49-F238E27FC236}">
                <a16:creationId xmlns:a16="http://schemas.microsoft.com/office/drawing/2014/main" id="{B10DE041-1517-5A47-97B4-72983B7208BB}"/>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15" name="Date Placeholder 3">
            <a:extLst>
              <a:ext uri="{FF2B5EF4-FFF2-40B4-BE49-F238E27FC236}">
                <a16:creationId xmlns:a16="http://schemas.microsoft.com/office/drawing/2014/main" id="{C5E41CEC-9B27-A749-A91A-F3876DEE64F5}"/>
              </a:ext>
            </a:extLst>
          </p:cNvPr>
          <p:cNvSpPr>
            <a:spLocks noGrp="1"/>
          </p:cNvSpPr>
          <p:nvPr>
            <p:ph type="dt" sz="half" idx="13"/>
          </p:nvPr>
        </p:nvSpPr>
        <p:spPr>
          <a:xfrm>
            <a:off x="8569452" y="6515098"/>
            <a:ext cx="1474248" cy="342902"/>
          </a:xfrm>
          <a:prstGeom prst="rect">
            <a:avLst/>
          </a:prstGeom>
        </p:spPr>
        <p:txBody>
          <a:bodyPr/>
          <a:lstStyle/>
          <a:p>
            <a:fld id="{142621F5-A24C-4F03-A48E-31E768572852}" type="datetime1">
              <a:rPr lang="en-US" smtClean="0"/>
              <a:t>7/31/2026</a:t>
            </a:fld>
            <a:endParaRPr lang="en-CA"/>
          </a:p>
        </p:txBody>
      </p:sp>
      <p:sp>
        <p:nvSpPr>
          <p:cNvPr id="9" name="Footer Placeholder 8">
            <a:extLst>
              <a:ext uri="{FF2B5EF4-FFF2-40B4-BE49-F238E27FC236}">
                <a16:creationId xmlns:a16="http://schemas.microsoft.com/office/drawing/2014/main" id="{537CB532-8D5C-8945-8545-5DB40674F21B}"/>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10" name="Footer Placeholder 8">
            <a:extLst>
              <a:ext uri="{FF2B5EF4-FFF2-40B4-BE49-F238E27FC236}">
                <a16:creationId xmlns:a16="http://schemas.microsoft.com/office/drawing/2014/main" id="{A7EA675A-F366-9445-A648-5A3407423352}"/>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20485184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93E20-716D-D744-AD1B-2265FFE51936}"/>
              </a:ext>
            </a:extLst>
          </p:cNvPr>
          <p:cNvSpPr>
            <a:spLocks noGrp="1"/>
          </p:cNvSpPr>
          <p:nvPr>
            <p:ph type="title"/>
          </p:nvPr>
        </p:nvSpPr>
        <p:spPr/>
        <p:txBody>
          <a:bodyPr/>
          <a:lstStyle/>
          <a:p>
            <a:r>
              <a:rPr lang="en-US"/>
              <a:t>Click to edit Master title style</a:t>
            </a:r>
            <a:endParaRPr lang="en-CA"/>
          </a:p>
        </p:txBody>
      </p:sp>
      <p:sp>
        <p:nvSpPr>
          <p:cNvPr id="6" name="Footer Placeholder 4">
            <a:extLst>
              <a:ext uri="{FF2B5EF4-FFF2-40B4-BE49-F238E27FC236}">
                <a16:creationId xmlns:a16="http://schemas.microsoft.com/office/drawing/2014/main" id="{92D4AE55-D906-0746-A30E-B9A295D9F9D4}"/>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7" name="Date Placeholder 3">
            <a:extLst>
              <a:ext uri="{FF2B5EF4-FFF2-40B4-BE49-F238E27FC236}">
                <a16:creationId xmlns:a16="http://schemas.microsoft.com/office/drawing/2014/main" id="{DE99D70A-FB1B-FA4E-8933-89A0D75272BA}"/>
              </a:ext>
            </a:extLst>
          </p:cNvPr>
          <p:cNvSpPr>
            <a:spLocks noGrp="1"/>
          </p:cNvSpPr>
          <p:nvPr>
            <p:ph type="dt" sz="half" idx="13"/>
          </p:nvPr>
        </p:nvSpPr>
        <p:spPr>
          <a:xfrm>
            <a:off x="8569452" y="6515098"/>
            <a:ext cx="1474248" cy="342902"/>
          </a:xfrm>
          <a:prstGeom prst="rect">
            <a:avLst/>
          </a:prstGeom>
        </p:spPr>
        <p:txBody>
          <a:bodyPr/>
          <a:lstStyle/>
          <a:p>
            <a:fld id="{B01D7BC3-961C-46B9-A6DE-2A4B9BFDFACA}" type="datetime1">
              <a:rPr lang="en-US" smtClean="0"/>
              <a:t>7/31/2026</a:t>
            </a:fld>
            <a:endParaRPr lang="en-CA"/>
          </a:p>
        </p:txBody>
      </p:sp>
      <p:sp>
        <p:nvSpPr>
          <p:cNvPr id="5" name="Footer Placeholder 8">
            <a:extLst>
              <a:ext uri="{FF2B5EF4-FFF2-40B4-BE49-F238E27FC236}">
                <a16:creationId xmlns:a16="http://schemas.microsoft.com/office/drawing/2014/main" id="{49664162-4786-1942-ACFE-99521245B22E}"/>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EB75E0D-B022-7046-BA11-100FFB7C79CE}"/>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2215448149"/>
      </p:ext>
    </p:extLst>
  </p:cSld>
  <p:clrMapOvr>
    <a:masterClrMapping/>
  </p:clrMapOvr>
  <p:extLst>
    <p:ext uri="{DCECCB84-F9BA-43D5-87BE-67443E8EF086}">
      <p15:sldGuideLst xmlns:p15="http://schemas.microsoft.com/office/powerpoint/2012/main">
        <p15:guide id="1" orient="horz" pos="3936">
          <p15:clr>
            <a:srgbClr val="FBAE40"/>
          </p15:clr>
        </p15:guide>
        <p15:guide id="2" orient="horz" pos="672">
          <p15:clr>
            <a:srgbClr val="FBAE40"/>
          </p15:clr>
        </p15:guide>
        <p15:guide id="3" orient="horz" pos="576">
          <p15:clr>
            <a:srgbClr val="FBAE40"/>
          </p15:clr>
        </p15:guide>
        <p15:guide id="4" orient="horz" pos="816">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901082F-307B-4CAF-898D-33CA7B67A97A}"/>
              </a:ext>
            </a:extLst>
          </p:cNvPr>
          <p:cNvCxnSpPr>
            <a:cxnSpLocks/>
          </p:cNvCxnSpPr>
          <p:nvPr userDrawn="1"/>
        </p:nvCxnSpPr>
        <p:spPr>
          <a:xfrm>
            <a:off x="384048" y="6241473"/>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CF5C1E2F-005B-4C5C-B5CD-698B55D618EA}"/>
              </a:ext>
            </a:extLst>
          </p:cNvPr>
          <p:cNvPicPr>
            <a:picLocks/>
          </p:cNvPicPr>
          <p:nvPr userDrawn="1"/>
        </p:nvPicPr>
        <p:blipFill>
          <a:blip r:embed="rId2"/>
          <a:stretch>
            <a:fillRect/>
          </a:stretch>
        </p:blipFill>
        <p:spPr>
          <a:xfrm>
            <a:off x="10853928" y="6388101"/>
            <a:ext cx="950976" cy="357859"/>
          </a:xfrm>
          <a:prstGeom prst="rect">
            <a:avLst/>
          </a:prstGeom>
        </p:spPr>
      </p:pic>
      <p:sp>
        <p:nvSpPr>
          <p:cNvPr id="13" name="Footer Placeholder 4">
            <a:extLst>
              <a:ext uri="{FF2B5EF4-FFF2-40B4-BE49-F238E27FC236}">
                <a16:creationId xmlns:a16="http://schemas.microsoft.com/office/drawing/2014/main" id="{FE6B0269-48F1-084E-BFC4-87433BA2B51F}"/>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16" name="Date Placeholder 3">
            <a:extLst>
              <a:ext uri="{FF2B5EF4-FFF2-40B4-BE49-F238E27FC236}">
                <a16:creationId xmlns:a16="http://schemas.microsoft.com/office/drawing/2014/main" id="{4E3162EF-D3E7-A34F-83BC-AA048A8C0859}"/>
              </a:ext>
            </a:extLst>
          </p:cNvPr>
          <p:cNvSpPr>
            <a:spLocks noGrp="1"/>
          </p:cNvSpPr>
          <p:nvPr>
            <p:ph type="dt" sz="half" idx="13"/>
          </p:nvPr>
        </p:nvSpPr>
        <p:spPr>
          <a:xfrm>
            <a:off x="8569452" y="6515098"/>
            <a:ext cx="1474248" cy="342902"/>
          </a:xfrm>
          <a:prstGeom prst="rect">
            <a:avLst/>
          </a:prstGeom>
        </p:spPr>
        <p:txBody>
          <a:bodyPr/>
          <a:lstStyle/>
          <a:p>
            <a:fld id="{61674021-7670-40BD-A0D8-5DBD86FDADC1}" type="datetime1">
              <a:rPr lang="en-US" smtClean="0"/>
              <a:t>7/31/2026</a:t>
            </a:fld>
            <a:endParaRPr lang="en-CA"/>
          </a:p>
        </p:txBody>
      </p:sp>
      <p:sp>
        <p:nvSpPr>
          <p:cNvPr id="6" name="Footer Placeholder 8">
            <a:extLst>
              <a:ext uri="{FF2B5EF4-FFF2-40B4-BE49-F238E27FC236}">
                <a16:creationId xmlns:a16="http://schemas.microsoft.com/office/drawing/2014/main" id="{CFA69B87-9945-1E41-B174-CB3CA724A68B}"/>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7" name="Footer Placeholder 8">
            <a:extLst>
              <a:ext uri="{FF2B5EF4-FFF2-40B4-BE49-F238E27FC236}">
                <a16:creationId xmlns:a16="http://schemas.microsoft.com/office/drawing/2014/main" id="{1A906DB9-9029-BD41-B151-DAC6CE38C40C}"/>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3228828066"/>
      </p:ext>
    </p:extLst>
  </p:cSld>
  <p:clrMapOvr>
    <a:masterClrMapping/>
  </p:clrMapOvr>
  <p:extLst>
    <p:ext uri="{DCECCB84-F9BA-43D5-87BE-67443E8EF086}">
      <p15:sldGuideLst xmlns:p15="http://schemas.microsoft.com/office/powerpoint/2012/main">
        <p15:guide id="1" orient="horz" pos="393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AE6DF-B3B9-7E40-B9F1-4880D25FF57B}"/>
              </a:ext>
            </a:extLst>
          </p:cNvPr>
          <p:cNvSpPr>
            <a:spLocks noGrp="1"/>
          </p:cNvSpPr>
          <p:nvPr>
            <p:ph type="title"/>
          </p:nvPr>
        </p:nvSpPr>
        <p:spPr>
          <a:xfrm>
            <a:off x="384048" y="2711194"/>
            <a:ext cx="11420856" cy="1327406"/>
          </a:xfrm>
        </p:spPr>
        <p:txBody>
          <a:bodyPr anchor="t" anchorCtr="0">
            <a:normAutofit/>
          </a:bodyPr>
          <a:lstStyle>
            <a:lvl1pPr>
              <a:defRPr sz="4400">
                <a:solidFill>
                  <a:schemeClr val="tx1"/>
                </a:solidFill>
              </a:defRPr>
            </a:lvl1pPr>
          </a:lstStyle>
          <a:p>
            <a:r>
              <a:rPr lang="en-US"/>
              <a:t>Click to edit Master title style</a:t>
            </a:r>
            <a:endParaRPr lang="en-CA"/>
          </a:p>
        </p:txBody>
      </p:sp>
      <p:cxnSp>
        <p:nvCxnSpPr>
          <p:cNvPr id="8" name="Straight Connector 7">
            <a:extLst>
              <a:ext uri="{FF2B5EF4-FFF2-40B4-BE49-F238E27FC236}">
                <a16:creationId xmlns:a16="http://schemas.microsoft.com/office/drawing/2014/main" id="{3901082F-307B-4CAF-898D-33CA7B67A97A}"/>
              </a:ext>
            </a:extLst>
          </p:cNvPr>
          <p:cNvCxnSpPr>
            <a:cxnSpLocks/>
          </p:cNvCxnSpPr>
          <p:nvPr userDrawn="1"/>
        </p:nvCxnSpPr>
        <p:spPr>
          <a:xfrm>
            <a:off x="384048" y="6241473"/>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4" name="Subtitle 2">
            <a:extLst>
              <a:ext uri="{FF2B5EF4-FFF2-40B4-BE49-F238E27FC236}">
                <a16:creationId xmlns:a16="http://schemas.microsoft.com/office/drawing/2014/main" id="{C59257A0-6B83-4D3D-A541-6CB290CD7808}"/>
              </a:ext>
            </a:extLst>
          </p:cNvPr>
          <p:cNvSpPr>
            <a:spLocks noGrp="1"/>
          </p:cNvSpPr>
          <p:nvPr>
            <p:ph type="subTitle" idx="1"/>
          </p:nvPr>
        </p:nvSpPr>
        <p:spPr>
          <a:xfrm>
            <a:off x="384048" y="4980756"/>
            <a:ext cx="11420856" cy="930841"/>
          </a:xfrm>
        </p:spPr>
        <p:txBody>
          <a:bodyPr>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pic>
        <p:nvPicPr>
          <p:cNvPr id="15" name="Picture 14">
            <a:extLst>
              <a:ext uri="{FF2B5EF4-FFF2-40B4-BE49-F238E27FC236}">
                <a16:creationId xmlns:a16="http://schemas.microsoft.com/office/drawing/2014/main" id="{CF5C1E2F-005B-4C5C-B5CD-698B55D618EA}"/>
              </a:ext>
            </a:extLst>
          </p:cNvPr>
          <p:cNvPicPr>
            <a:picLocks/>
          </p:cNvPicPr>
          <p:nvPr userDrawn="1"/>
        </p:nvPicPr>
        <p:blipFill>
          <a:blip r:embed="rId2"/>
          <a:stretch>
            <a:fillRect/>
          </a:stretch>
        </p:blipFill>
        <p:spPr>
          <a:xfrm>
            <a:off x="10853928" y="6388101"/>
            <a:ext cx="950976" cy="357859"/>
          </a:xfrm>
          <a:prstGeom prst="rect">
            <a:avLst/>
          </a:prstGeom>
        </p:spPr>
      </p:pic>
      <p:sp>
        <p:nvSpPr>
          <p:cNvPr id="13" name="Footer Placeholder 4">
            <a:extLst>
              <a:ext uri="{FF2B5EF4-FFF2-40B4-BE49-F238E27FC236}">
                <a16:creationId xmlns:a16="http://schemas.microsoft.com/office/drawing/2014/main" id="{FE6B0269-48F1-084E-BFC4-87433BA2B51F}"/>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16" name="Date Placeholder 3">
            <a:extLst>
              <a:ext uri="{FF2B5EF4-FFF2-40B4-BE49-F238E27FC236}">
                <a16:creationId xmlns:a16="http://schemas.microsoft.com/office/drawing/2014/main" id="{4E3162EF-D3E7-A34F-83BC-AA048A8C0859}"/>
              </a:ext>
            </a:extLst>
          </p:cNvPr>
          <p:cNvSpPr>
            <a:spLocks noGrp="1"/>
          </p:cNvSpPr>
          <p:nvPr>
            <p:ph type="dt" sz="half" idx="13"/>
          </p:nvPr>
        </p:nvSpPr>
        <p:spPr>
          <a:xfrm>
            <a:off x="8569452" y="6515098"/>
            <a:ext cx="1474248" cy="342902"/>
          </a:xfrm>
          <a:prstGeom prst="rect">
            <a:avLst/>
          </a:prstGeom>
        </p:spPr>
        <p:txBody>
          <a:bodyPr/>
          <a:lstStyle/>
          <a:p>
            <a:fld id="{CF944FD7-3ED2-438A-8383-15783F3719A1}" type="datetime1">
              <a:rPr lang="en-US" smtClean="0"/>
              <a:t>7/31/2026</a:t>
            </a:fld>
            <a:endParaRPr lang="en-CA"/>
          </a:p>
        </p:txBody>
      </p:sp>
      <p:sp>
        <p:nvSpPr>
          <p:cNvPr id="9" name="Footer Placeholder 8">
            <a:extLst>
              <a:ext uri="{FF2B5EF4-FFF2-40B4-BE49-F238E27FC236}">
                <a16:creationId xmlns:a16="http://schemas.microsoft.com/office/drawing/2014/main" id="{5023D39E-AEBB-3045-BEFE-A5D4AC3AA1AE}"/>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10" name="Footer Placeholder 8">
            <a:extLst>
              <a:ext uri="{FF2B5EF4-FFF2-40B4-BE49-F238E27FC236}">
                <a16:creationId xmlns:a16="http://schemas.microsoft.com/office/drawing/2014/main" id="{E5C5F2E2-F73E-ED44-995B-929141C21D26}"/>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205144468"/>
      </p:ext>
    </p:extLst>
  </p:cSld>
  <p:clrMapOvr>
    <a:masterClrMapping/>
  </p:clrMapOvr>
  <p:extLst>
    <p:ext uri="{DCECCB84-F9BA-43D5-87BE-67443E8EF086}">
      <p15:sldGuideLst xmlns:p15="http://schemas.microsoft.com/office/powerpoint/2012/main">
        <p15:guide id="1" orient="horz" pos="393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4" name="Date Placeholder 3">
            <a:extLst>
              <a:ext uri="{FF2B5EF4-FFF2-40B4-BE49-F238E27FC236}">
                <a16:creationId xmlns:a16="http://schemas.microsoft.com/office/drawing/2014/main" id="{97979612-F33F-440D-A54F-58134DD6B0C4}"/>
              </a:ext>
            </a:extLst>
          </p:cNvPr>
          <p:cNvSpPr>
            <a:spLocks noGrp="1"/>
          </p:cNvSpPr>
          <p:nvPr>
            <p:ph type="dt" sz="half" idx="13"/>
          </p:nvPr>
        </p:nvSpPr>
        <p:spPr>
          <a:xfrm>
            <a:off x="8569452" y="6515098"/>
            <a:ext cx="1474248" cy="342902"/>
          </a:xfrm>
          <a:prstGeom prst="rect">
            <a:avLst/>
          </a:prstGeom>
        </p:spPr>
        <p:txBody>
          <a:bodyPr/>
          <a:lstStyle/>
          <a:p>
            <a:fld id="{1DFF5FEA-9A85-43E6-8C59-BAAE89ED3061}" type="datetime1">
              <a:rPr lang="en-US" smtClean="0"/>
              <a:t>7/31/2026</a:t>
            </a:fld>
            <a:endParaRPr lang="en-CA"/>
          </a:p>
        </p:txBody>
      </p:sp>
      <p:sp>
        <p:nvSpPr>
          <p:cNvPr id="9" name="Content Placeholder 2">
            <a:extLst>
              <a:ext uri="{FF2B5EF4-FFF2-40B4-BE49-F238E27FC236}">
                <a16:creationId xmlns:a16="http://schemas.microsoft.com/office/drawing/2014/main" id="{92B386B8-F93B-994F-BB71-62E6F2413BCE}"/>
              </a:ext>
            </a:extLst>
          </p:cNvPr>
          <p:cNvSpPr>
            <a:spLocks noGrp="1"/>
          </p:cNvSpPr>
          <p:nvPr>
            <p:ph idx="14" hasCustomPrompt="1"/>
          </p:nvPr>
        </p:nvSpPr>
        <p:spPr>
          <a:xfrm>
            <a:off x="1447800" y="1600200"/>
            <a:ext cx="7162800" cy="4343400"/>
          </a:xfrm>
        </p:spPr>
        <p:txBody>
          <a:bodyPr/>
          <a:lstStyle>
            <a:lvl1pPr>
              <a:spcAft>
                <a:spcPts val="1800"/>
              </a:spcAft>
              <a:defRPr sz="1800"/>
            </a:lvl1pPr>
          </a:lstStyle>
          <a:p>
            <a:pPr lvl="0"/>
            <a:r>
              <a:rPr lang="en-CA"/>
              <a:t>Edit Master text styles</a:t>
            </a:r>
          </a:p>
          <a:p>
            <a:pPr>
              <a:spcAft>
                <a:spcPts val="1800"/>
              </a:spcAft>
            </a:pPr>
            <a:endParaRPr lang="en-US"/>
          </a:p>
          <a:p>
            <a:endParaRPr lang="en-US"/>
          </a:p>
        </p:txBody>
      </p:sp>
    </p:spTree>
    <p:extLst>
      <p:ext uri="{BB962C8B-B14F-4D97-AF65-F5344CB8AC3E}">
        <p14:creationId xmlns:p14="http://schemas.microsoft.com/office/powerpoint/2010/main" val="2248925599"/>
      </p:ext>
    </p:extLst>
  </p:cSld>
  <p:clrMapOvr>
    <a:masterClrMapping/>
  </p:clrMapOvr>
  <p:extLst>
    <p:ext uri="{DCECCB84-F9BA-43D5-87BE-67443E8EF086}">
      <p15:sldGuideLst xmlns:p15="http://schemas.microsoft.com/office/powerpoint/2012/main">
        <p15:guide id="1" orient="horz" pos="816">
          <p15:clr>
            <a:srgbClr val="FBAE40"/>
          </p15:clr>
        </p15:guide>
        <p15:guide id="2" orient="horz" pos="672">
          <p15:clr>
            <a:srgbClr val="FBAE40"/>
          </p15:clr>
        </p15:guide>
        <p15:guide id="3" orient="horz" pos="3936">
          <p15:clr>
            <a:srgbClr val="FBAE40"/>
          </p15:clr>
        </p15:guide>
        <p15:guide id="4" orient="horz" pos="3792">
          <p15:clr>
            <a:srgbClr val="FBAE40"/>
          </p15:clr>
        </p15:guide>
        <p15:guide id="5" orient="horz" pos="57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3D375-B998-DB2E-0658-3A60F61D3A02}"/>
              </a:ext>
            </a:extLst>
          </p:cNvPr>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216294135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6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14" name="Content Placeholder 2">
            <a:extLst>
              <a:ext uri="{FF2B5EF4-FFF2-40B4-BE49-F238E27FC236}">
                <a16:creationId xmlns:a16="http://schemas.microsoft.com/office/drawing/2014/main" id="{C619E497-760E-2343-8AB4-5FC074170557}"/>
              </a:ext>
            </a:extLst>
          </p:cNvPr>
          <p:cNvSpPr>
            <a:spLocks noGrp="1"/>
          </p:cNvSpPr>
          <p:nvPr>
            <p:ph idx="1" hasCustomPrompt="1"/>
          </p:nvPr>
        </p:nvSpPr>
        <p:spPr>
          <a:xfrm>
            <a:off x="1524001" y="1638795"/>
            <a:ext cx="7315200" cy="4228606"/>
          </a:xfrm>
        </p:spPr>
        <p:txBody>
          <a:bodyPr>
            <a:normAutofit/>
          </a:bodyPr>
          <a:lstStyle>
            <a:lvl1pPr marL="228596" marR="0" indent="-228596" algn="l" defTabSz="685787" rtl="0" eaLnBrk="1" fontAlgn="auto" latinLnBrk="0" hangingPunct="1">
              <a:lnSpc>
                <a:spcPct val="90000"/>
              </a:lnSpc>
              <a:spcBef>
                <a:spcPts val="2800"/>
              </a:spcBef>
              <a:spcAft>
                <a:spcPts val="0"/>
              </a:spcAft>
              <a:buClrTx/>
              <a:buSzTx/>
              <a:buFont typeface="Arial" panose="020B0604020202020204" pitchFamily="34" charset="0"/>
              <a:buChar char="•"/>
              <a:tabLst/>
              <a:defRPr sz="1801" baseline="0"/>
            </a:lvl1pPr>
            <a:lvl2pPr marL="457193" marR="0" indent="-228596" algn="l" defTabSz="685787" rtl="0" eaLnBrk="1" fontAlgn="auto" latinLnBrk="0" hangingPunct="1">
              <a:lnSpc>
                <a:spcPct val="90000"/>
              </a:lnSpc>
              <a:spcBef>
                <a:spcPts val="300"/>
              </a:spcBef>
              <a:spcAft>
                <a:spcPts val="0"/>
              </a:spcAft>
              <a:buClrTx/>
              <a:buSzPct val="80000"/>
              <a:buFont typeface="Wingdings" pitchFamily="2" charset="2"/>
              <a:buChar char="§"/>
              <a:tabLst/>
              <a:defRPr sz="1600"/>
            </a:lvl2pPr>
            <a:lvl3pPr marL="685787" marR="0" indent="-228596" algn="l" defTabSz="685787" rtl="0" eaLnBrk="1" fontAlgn="auto" latinLnBrk="0" hangingPunct="1">
              <a:lnSpc>
                <a:spcPct val="90000"/>
              </a:lnSpc>
              <a:spcBef>
                <a:spcPts val="300"/>
              </a:spcBef>
              <a:spcAft>
                <a:spcPts val="0"/>
              </a:spcAft>
              <a:buClrTx/>
              <a:buSzTx/>
              <a:buFont typeface="Arial" panose="020B0604020202020204" pitchFamily="34" charset="0"/>
              <a:buChar char="•"/>
              <a:tabLst/>
              <a:defRPr/>
            </a:lvl3pPr>
            <a:lvl4pPr marL="914384" marR="0" indent="-228596" algn="l" defTabSz="685787" rtl="0" eaLnBrk="1" fontAlgn="auto" latinLnBrk="0" hangingPunct="1">
              <a:lnSpc>
                <a:spcPct val="90000"/>
              </a:lnSpc>
              <a:spcBef>
                <a:spcPts val="300"/>
              </a:spcBef>
              <a:spcAft>
                <a:spcPts val="0"/>
              </a:spcAft>
              <a:buClrTx/>
              <a:buSzPct val="80000"/>
              <a:buFont typeface="Wingdings" pitchFamily="2" charset="2"/>
              <a:buChar char="§"/>
              <a:tabLst/>
              <a:defRPr sz="1402"/>
            </a:lvl4pPr>
            <a:lvl5pPr marL="1142980" marR="0" indent="-228596" algn="l" defTabSz="685787" rtl="0" eaLnBrk="1" fontAlgn="auto" latinLnBrk="0" hangingPunct="1">
              <a:lnSpc>
                <a:spcPct val="90000"/>
              </a:lnSpc>
              <a:spcBef>
                <a:spcPts val="300"/>
              </a:spcBef>
              <a:spcAft>
                <a:spcPts val="0"/>
              </a:spcAft>
              <a:buClrTx/>
              <a:buSzTx/>
              <a:buFont typeface="Arial" panose="020B0604020202020204" pitchFamily="34" charset="0"/>
              <a:buChar char="•"/>
              <a:tabLst/>
              <a:defRPr sz="1402"/>
            </a:lvl5p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5" name="Date Placeholder 3">
            <a:extLst>
              <a:ext uri="{FF2B5EF4-FFF2-40B4-BE49-F238E27FC236}">
                <a16:creationId xmlns:a16="http://schemas.microsoft.com/office/drawing/2014/main" id="{D4C8E8A9-AB08-7B48-9A0F-E83591189685}"/>
              </a:ext>
            </a:extLst>
          </p:cNvPr>
          <p:cNvSpPr>
            <a:spLocks noGrp="1"/>
          </p:cNvSpPr>
          <p:nvPr>
            <p:ph type="dt" sz="half" idx="2"/>
          </p:nvPr>
        </p:nvSpPr>
        <p:spPr>
          <a:xfrm>
            <a:off x="7624841" y="6392640"/>
            <a:ext cx="1886858" cy="365125"/>
          </a:xfrm>
          <a:prstGeom prst="rect">
            <a:avLst/>
          </a:prstGeom>
        </p:spPr>
        <p:txBody>
          <a:bodyPr vert="horz" lIns="0" tIns="0" rIns="0" bIns="0" rtlCol="0" anchor="ctr"/>
          <a:lstStyle>
            <a:lvl1pPr algn="r">
              <a:defRPr sz="901">
                <a:solidFill>
                  <a:schemeClr val="tx1"/>
                </a:solidFill>
              </a:defRPr>
            </a:lvl1pPr>
          </a:lstStyle>
          <a:p>
            <a:endParaRPr lang="fr-CA"/>
          </a:p>
        </p:txBody>
      </p:sp>
      <p:sp>
        <p:nvSpPr>
          <p:cNvPr id="6" name="Footer Placeholder 4">
            <a:extLst>
              <a:ext uri="{FF2B5EF4-FFF2-40B4-BE49-F238E27FC236}">
                <a16:creationId xmlns:a16="http://schemas.microsoft.com/office/drawing/2014/main" id="{13457E63-6189-B349-88A8-D285627B5945}"/>
              </a:ext>
            </a:extLst>
          </p:cNvPr>
          <p:cNvSpPr>
            <a:spLocks noGrp="1"/>
          </p:cNvSpPr>
          <p:nvPr>
            <p:ph type="ftr" sz="quarter" idx="3"/>
          </p:nvPr>
        </p:nvSpPr>
        <p:spPr>
          <a:xfrm>
            <a:off x="516469" y="6392640"/>
            <a:ext cx="6953552" cy="365125"/>
          </a:xfrm>
          <a:prstGeom prst="rect">
            <a:avLst/>
          </a:prstGeom>
        </p:spPr>
        <p:txBody>
          <a:bodyPr vert="horz" lIns="0" tIns="0" rIns="0" bIns="0" rtlCol="0" anchor="ctr"/>
          <a:lstStyle>
            <a:lvl1pPr algn="l">
              <a:defRPr sz="901">
                <a:solidFill>
                  <a:schemeClr val="tx1"/>
                </a:solidFill>
              </a:defRPr>
            </a:lvl1pPr>
          </a:lstStyle>
          <a:p>
            <a:endParaRPr lang="fr-CA"/>
          </a:p>
        </p:txBody>
      </p:sp>
      <p:sp>
        <p:nvSpPr>
          <p:cNvPr id="7" name="Slide Number Placeholder 5">
            <a:extLst>
              <a:ext uri="{FF2B5EF4-FFF2-40B4-BE49-F238E27FC236}">
                <a16:creationId xmlns:a16="http://schemas.microsoft.com/office/drawing/2014/main" id="{755A9E83-A26F-CB4A-BA70-D976E7A6DB16}"/>
              </a:ext>
            </a:extLst>
          </p:cNvPr>
          <p:cNvSpPr>
            <a:spLocks noGrp="1"/>
          </p:cNvSpPr>
          <p:nvPr>
            <p:ph type="sldNum" sz="quarter" idx="4"/>
          </p:nvPr>
        </p:nvSpPr>
        <p:spPr>
          <a:xfrm>
            <a:off x="11196320" y="1"/>
            <a:ext cx="487680" cy="289560"/>
          </a:xfrm>
          <a:prstGeom prst="rect">
            <a:avLst/>
          </a:prstGeom>
        </p:spPr>
        <p:txBody>
          <a:bodyPr vert="horz" lIns="0" tIns="0" rIns="0" bIns="0" rtlCol="0" anchor="b" anchorCtr="0"/>
          <a:lstStyle>
            <a:lvl1pPr marL="0" indent="0" algn="r">
              <a:tabLst>
                <a:tab pos="1338239" algn="r"/>
              </a:tabLst>
              <a:defRPr sz="901">
                <a:solidFill>
                  <a:schemeClr val="tx1"/>
                </a:solidFill>
              </a:defRPr>
            </a:lvl1pPr>
          </a:lstStyle>
          <a:p>
            <a:pPr>
              <a:tabLst>
                <a:tab pos="1236642" algn="r"/>
              </a:tabLst>
            </a:pPr>
            <a:fld id="{6007601C-0F56-1D44-9B09-FD7525EEC724}" type="slidenum">
              <a:rPr lang="fr-CA" smtClean="0"/>
              <a:pPr>
                <a:tabLst>
                  <a:tab pos="1236642" algn="r"/>
                </a:tabLst>
              </a:pPr>
              <a:t>‹#›</a:t>
            </a:fld>
            <a:endParaRPr lang="fr-CA"/>
          </a:p>
        </p:txBody>
      </p:sp>
    </p:spTree>
    <p:extLst>
      <p:ext uri="{BB962C8B-B14F-4D97-AF65-F5344CB8AC3E}">
        <p14:creationId xmlns:p14="http://schemas.microsoft.com/office/powerpoint/2010/main" val="2464546213"/>
      </p:ext>
    </p:extLst>
  </p:cSld>
  <p:clrMapOvr>
    <a:masterClrMapping/>
  </p:clrMapOvr>
  <p:extLst>
    <p:ext uri="{DCECCB84-F9BA-43D5-87BE-67443E8EF086}">
      <p15:sldGuideLst xmlns:p15="http://schemas.microsoft.com/office/powerpoint/2012/main">
        <p15:guide id="1" orient="horz" pos="1087">
          <p15:clr>
            <a:srgbClr val="FBAE40"/>
          </p15:clr>
        </p15:guide>
        <p15:guide id="2" orient="horz" pos="895">
          <p15:clr>
            <a:srgbClr val="FBAE40"/>
          </p15:clr>
        </p15:guide>
        <p15:guide id="3" orient="horz" pos="5243">
          <p15:clr>
            <a:srgbClr val="FBAE40"/>
          </p15:clr>
        </p15:guide>
        <p15:guide id="4" orient="horz" pos="5051">
          <p15:clr>
            <a:srgbClr val="FBAE40"/>
          </p15:clr>
        </p15:guide>
        <p15:guide id="5" orient="horz" pos="76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14" name="Content Placeholder 2">
            <a:extLst>
              <a:ext uri="{FF2B5EF4-FFF2-40B4-BE49-F238E27FC236}">
                <a16:creationId xmlns:a16="http://schemas.microsoft.com/office/drawing/2014/main" id="{C619E497-760E-2343-8AB4-5FC074170557}"/>
              </a:ext>
            </a:extLst>
          </p:cNvPr>
          <p:cNvSpPr>
            <a:spLocks noGrp="1"/>
          </p:cNvSpPr>
          <p:nvPr>
            <p:ph idx="1" hasCustomPrompt="1"/>
          </p:nvPr>
        </p:nvSpPr>
        <p:spPr>
          <a:xfrm>
            <a:off x="1524001" y="1638795"/>
            <a:ext cx="7315200" cy="4228606"/>
          </a:xfrm>
        </p:spPr>
        <p:txBody>
          <a:bodyPr>
            <a:normAutofit/>
          </a:bodyPr>
          <a:lstStyle>
            <a:lvl1pPr marL="228596" marR="0" indent="-228596" algn="l" defTabSz="685787" rtl="0" eaLnBrk="1" fontAlgn="auto" latinLnBrk="0" hangingPunct="1">
              <a:lnSpc>
                <a:spcPct val="90000"/>
              </a:lnSpc>
              <a:spcBef>
                <a:spcPts val="2800"/>
              </a:spcBef>
              <a:spcAft>
                <a:spcPts val="0"/>
              </a:spcAft>
              <a:buClrTx/>
              <a:buSzTx/>
              <a:buFont typeface="Arial" panose="020B0604020202020204" pitchFamily="34" charset="0"/>
              <a:buChar char="•"/>
              <a:tabLst/>
              <a:defRPr sz="1801" baseline="0"/>
            </a:lvl1pPr>
            <a:lvl2pPr marL="457193" marR="0" indent="-228596" algn="l" defTabSz="685787" rtl="0" eaLnBrk="1" fontAlgn="auto" latinLnBrk="0" hangingPunct="1">
              <a:lnSpc>
                <a:spcPct val="90000"/>
              </a:lnSpc>
              <a:spcBef>
                <a:spcPts val="300"/>
              </a:spcBef>
              <a:spcAft>
                <a:spcPts val="0"/>
              </a:spcAft>
              <a:buClrTx/>
              <a:buSzPct val="80000"/>
              <a:buFont typeface="Wingdings" pitchFamily="2" charset="2"/>
              <a:buChar char="§"/>
              <a:tabLst/>
              <a:defRPr sz="1600"/>
            </a:lvl2pPr>
            <a:lvl3pPr marL="685787" marR="0" indent="-228596" algn="l" defTabSz="685787" rtl="0" eaLnBrk="1" fontAlgn="auto" latinLnBrk="0" hangingPunct="1">
              <a:lnSpc>
                <a:spcPct val="90000"/>
              </a:lnSpc>
              <a:spcBef>
                <a:spcPts val="300"/>
              </a:spcBef>
              <a:spcAft>
                <a:spcPts val="0"/>
              </a:spcAft>
              <a:buClrTx/>
              <a:buSzTx/>
              <a:buFont typeface="Arial" panose="020B0604020202020204" pitchFamily="34" charset="0"/>
              <a:buChar char="•"/>
              <a:tabLst/>
              <a:defRPr/>
            </a:lvl3pPr>
            <a:lvl4pPr marL="914384" marR="0" indent="-228596" algn="l" defTabSz="685787" rtl="0" eaLnBrk="1" fontAlgn="auto" latinLnBrk="0" hangingPunct="1">
              <a:lnSpc>
                <a:spcPct val="90000"/>
              </a:lnSpc>
              <a:spcBef>
                <a:spcPts val="300"/>
              </a:spcBef>
              <a:spcAft>
                <a:spcPts val="0"/>
              </a:spcAft>
              <a:buClrTx/>
              <a:buSzPct val="80000"/>
              <a:buFont typeface="Wingdings" pitchFamily="2" charset="2"/>
              <a:buChar char="§"/>
              <a:tabLst/>
              <a:defRPr sz="1402"/>
            </a:lvl4pPr>
            <a:lvl5pPr marL="1142980" marR="0" indent="-228596" algn="l" defTabSz="685787" rtl="0" eaLnBrk="1" fontAlgn="auto" latinLnBrk="0" hangingPunct="1">
              <a:lnSpc>
                <a:spcPct val="90000"/>
              </a:lnSpc>
              <a:spcBef>
                <a:spcPts val="300"/>
              </a:spcBef>
              <a:spcAft>
                <a:spcPts val="0"/>
              </a:spcAft>
              <a:buClrTx/>
              <a:buSzTx/>
              <a:buFont typeface="Arial" panose="020B0604020202020204" pitchFamily="34" charset="0"/>
              <a:buChar char="•"/>
              <a:tabLst/>
              <a:defRPr sz="1402"/>
            </a:lvl5p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5" name="Date Placeholder 3">
            <a:extLst>
              <a:ext uri="{FF2B5EF4-FFF2-40B4-BE49-F238E27FC236}">
                <a16:creationId xmlns:a16="http://schemas.microsoft.com/office/drawing/2014/main" id="{D4C8E8A9-AB08-7B48-9A0F-E83591189685}"/>
              </a:ext>
            </a:extLst>
          </p:cNvPr>
          <p:cNvSpPr>
            <a:spLocks noGrp="1"/>
          </p:cNvSpPr>
          <p:nvPr>
            <p:ph type="dt" sz="half" idx="2"/>
          </p:nvPr>
        </p:nvSpPr>
        <p:spPr>
          <a:xfrm>
            <a:off x="7624841" y="6392640"/>
            <a:ext cx="1886858" cy="365125"/>
          </a:xfrm>
          <a:prstGeom prst="rect">
            <a:avLst/>
          </a:prstGeom>
        </p:spPr>
        <p:txBody>
          <a:bodyPr vert="horz" lIns="0" tIns="0" rIns="0" bIns="0" rtlCol="0" anchor="ctr"/>
          <a:lstStyle>
            <a:lvl1pPr algn="r">
              <a:defRPr sz="901">
                <a:solidFill>
                  <a:schemeClr val="tx1"/>
                </a:solidFill>
              </a:defRPr>
            </a:lvl1pPr>
          </a:lstStyle>
          <a:p>
            <a:endParaRPr lang="fr-CA"/>
          </a:p>
        </p:txBody>
      </p:sp>
      <p:sp>
        <p:nvSpPr>
          <p:cNvPr id="6" name="Footer Placeholder 4">
            <a:extLst>
              <a:ext uri="{FF2B5EF4-FFF2-40B4-BE49-F238E27FC236}">
                <a16:creationId xmlns:a16="http://schemas.microsoft.com/office/drawing/2014/main" id="{13457E63-6189-B349-88A8-D285627B5945}"/>
              </a:ext>
            </a:extLst>
          </p:cNvPr>
          <p:cNvSpPr>
            <a:spLocks noGrp="1"/>
          </p:cNvSpPr>
          <p:nvPr>
            <p:ph type="ftr" sz="quarter" idx="3"/>
          </p:nvPr>
        </p:nvSpPr>
        <p:spPr>
          <a:xfrm>
            <a:off x="516469" y="6392640"/>
            <a:ext cx="6953552" cy="365125"/>
          </a:xfrm>
          <a:prstGeom prst="rect">
            <a:avLst/>
          </a:prstGeom>
        </p:spPr>
        <p:txBody>
          <a:bodyPr vert="horz" lIns="0" tIns="0" rIns="0" bIns="0" rtlCol="0" anchor="ctr"/>
          <a:lstStyle>
            <a:lvl1pPr algn="l">
              <a:defRPr sz="901">
                <a:solidFill>
                  <a:schemeClr val="tx1"/>
                </a:solidFill>
              </a:defRPr>
            </a:lvl1pPr>
          </a:lstStyle>
          <a:p>
            <a:endParaRPr lang="fr-CA"/>
          </a:p>
        </p:txBody>
      </p:sp>
      <p:sp>
        <p:nvSpPr>
          <p:cNvPr id="7" name="Slide Number Placeholder 5">
            <a:extLst>
              <a:ext uri="{FF2B5EF4-FFF2-40B4-BE49-F238E27FC236}">
                <a16:creationId xmlns:a16="http://schemas.microsoft.com/office/drawing/2014/main" id="{755A9E83-A26F-CB4A-BA70-D976E7A6DB16}"/>
              </a:ext>
            </a:extLst>
          </p:cNvPr>
          <p:cNvSpPr>
            <a:spLocks noGrp="1"/>
          </p:cNvSpPr>
          <p:nvPr>
            <p:ph type="sldNum" sz="quarter" idx="4"/>
          </p:nvPr>
        </p:nvSpPr>
        <p:spPr>
          <a:xfrm>
            <a:off x="11196320" y="1"/>
            <a:ext cx="487680" cy="289560"/>
          </a:xfrm>
          <a:prstGeom prst="rect">
            <a:avLst/>
          </a:prstGeom>
        </p:spPr>
        <p:txBody>
          <a:bodyPr vert="horz" lIns="0" tIns="0" rIns="0" bIns="0" rtlCol="0" anchor="b" anchorCtr="0"/>
          <a:lstStyle>
            <a:lvl1pPr marL="0" indent="0" algn="r">
              <a:tabLst>
                <a:tab pos="1338239" algn="r"/>
              </a:tabLst>
              <a:defRPr sz="901">
                <a:solidFill>
                  <a:schemeClr val="tx1"/>
                </a:solidFill>
              </a:defRPr>
            </a:lvl1pPr>
          </a:lstStyle>
          <a:p>
            <a:pPr>
              <a:tabLst>
                <a:tab pos="1236642" algn="r"/>
              </a:tabLst>
            </a:pPr>
            <a:fld id="{6007601C-0F56-1D44-9B09-FD7525EEC724}" type="slidenum">
              <a:rPr lang="fr-CA" smtClean="0"/>
              <a:pPr>
                <a:tabLst>
                  <a:tab pos="1236642" algn="r"/>
                </a:tabLst>
              </a:pPr>
              <a:t>‹#›</a:t>
            </a:fld>
            <a:endParaRPr lang="fr-CA"/>
          </a:p>
        </p:txBody>
      </p:sp>
    </p:spTree>
    <p:extLst>
      <p:ext uri="{BB962C8B-B14F-4D97-AF65-F5344CB8AC3E}">
        <p14:creationId xmlns:p14="http://schemas.microsoft.com/office/powerpoint/2010/main" val="2287407695"/>
      </p:ext>
    </p:extLst>
  </p:cSld>
  <p:clrMapOvr>
    <a:masterClrMapping/>
  </p:clrMapOvr>
  <p:extLst>
    <p:ext uri="{DCECCB84-F9BA-43D5-87BE-67443E8EF086}">
      <p15:sldGuideLst xmlns:p15="http://schemas.microsoft.com/office/powerpoint/2012/main">
        <p15:guide id="1" orient="horz" pos="1087">
          <p15:clr>
            <a:srgbClr val="FBAE40"/>
          </p15:clr>
        </p15:guide>
        <p15:guide id="2" orient="horz" pos="895">
          <p15:clr>
            <a:srgbClr val="FBAE40"/>
          </p15:clr>
        </p15:guide>
        <p15:guide id="3" orient="horz" pos="5243">
          <p15:clr>
            <a:srgbClr val="FBAE40"/>
          </p15:clr>
        </p15:guide>
        <p15:guide id="4" orient="horz" pos="5051">
          <p15:clr>
            <a:srgbClr val="FBAE40"/>
          </p15:clr>
        </p15:guide>
        <p15:guide id="5" orient="horz" pos="767">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PhAnim="0"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13" imgH="416" progId="TCLayout.ActiveDocument.1">
                  <p:embed/>
                </p:oleObj>
              </mc:Choice>
              <mc:Fallback>
                <p:oleObj name="think-cell Slide" r:id="rId5"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2"/>
            </p:custDataLst>
          </p:nvPr>
        </p:nvSpPr>
        <p:spPr>
          <a:xfrm>
            <a:off x="384048" y="1115190"/>
            <a:ext cx="11420856"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b="0" baseline="0" dirty="0"/>
            </a:lvl1pPr>
          </a:lstStyle>
          <a:p>
            <a:pPr lvl="0">
              <a:buNone/>
            </a:pPr>
            <a:r>
              <a:rPr lang="en-US"/>
              <a:t>Click to edit Master subtitle style</a:t>
            </a:r>
            <a:endParaRPr lang="en-CA"/>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3"/>
            </p:custDataLst>
          </p:nvPr>
        </p:nvSpPr>
        <p:spPr>
          <a:xfrm>
            <a:off x="384048" y="474575"/>
            <a:ext cx="11420856"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rtl="0">
              <a:defRPr lang="en-US" b="0" dirty="0">
                <a:solidFill>
                  <a:schemeClr val="accent1"/>
                </a:solidFill>
              </a:defRPr>
            </a:lvl1pPr>
          </a:lstStyle>
          <a:p>
            <a:pPr lvl="0"/>
            <a:r>
              <a:rPr lang="en-US"/>
              <a:t>Click to edit Master title style</a:t>
            </a:r>
            <a:endParaRPr lang="en-CA"/>
          </a:p>
        </p:txBody>
      </p:sp>
    </p:spTree>
    <p:extLst>
      <p:ext uri="{BB962C8B-B14F-4D97-AF65-F5344CB8AC3E}">
        <p14:creationId xmlns:p14="http://schemas.microsoft.com/office/powerpoint/2010/main" val="19013424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Executive 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1E07F-ADCB-4879-ADBB-94F04C86A8CD}"/>
              </a:ext>
            </a:extLst>
          </p:cNvPr>
          <p:cNvSpPr>
            <a:spLocks noGrp="1"/>
          </p:cNvSpPr>
          <p:nvPr>
            <p:ph type="title"/>
          </p:nvPr>
        </p:nvSpPr>
        <p:spPr/>
        <p:txBody>
          <a:bodyPr/>
          <a:lstStyle/>
          <a:p>
            <a:r>
              <a:rPr lang="en-US"/>
              <a:t>Click to edit Master title style</a:t>
            </a:r>
          </a:p>
        </p:txBody>
      </p:sp>
      <p:sp>
        <p:nvSpPr>
          <p:cNvPr id="5" name="Table Placeholder 4">
            <a:extLst>
              <a:ext uri="{FF2B5EF4-FFF2-40B4-BE49-F238E27FC236}">
                <a16:creationId xmlns:a16="http://schemas.microsoft.com/office/drawing/2014/main" id="{183FDF11-03E0-40A5-BFCA-F6B60D099601}"/>
              </a:ext>
            </a:extLst>
          </p:cNvPr>
          <p:cNvSpPr>
            <a:spLocks noGrp="1"/>
          </p:cNvSpPr>
          <p:nvPr>
            <p:ph type="tbl" sz="quarter" idx="13"/>
          </p:nvPr>
        </p:nvSpPr>
        <p:spPr>
          <a:xfrm>
            <a:off x="384048" y="1298448"/>
            <a:ext cx="11430000" cy="4727448"/>
          </a:xfrm>
        </p:spPr>
        <p:txBody>
          <a:bodyPr/>
          <a:lstStyle/>
          <a:p>
            <a:r>
              <a:rPr lang="en-US"/>
              <a:t>Click icon to add table</a:t>
            </a:r>
          </a:p>
        </p:txBody>
      </p:sp>
      <p:sp>
        <p:nvSpPr>
          <p:cNvPr id="10" name="Date Placeholder 9">
            <a:extLst>
              <a:ext uri="{FF2B5EF4-FFF2-40B4-BE49-F238E27FC236}">
                <a16:creationId xmlns:a16="http://schemas.microsoft.com/office/drawing/2014/main" id="{9F00D4C4-5920-4E4C-B44B-E524B2BA6983}"/>
              </a:ext>
            </a:extLst>
          </p:cNvPr>
          <p:cNvSpPr>
            <a:spLocks noGrp="1"/>
          </p:cNvSpPr>
          <p:nvPr>
            <p:ph type="dt" sz="half" idx="14"/>
          </p:nvPr>
        </p:nvSpPr>
        <p:spPr/>
        <p:txBody>
          <a:bodyPr/>
          <a:lstStyle/>
          <a:p>
            <a:fld id="{E6E11EAE-16B7-464E-91D8-413C5CE9C268}" type="datetime4">
              <a:rPr lang="en-US" smtClean="0"/>
              <a:t>July 31, 2026</a:t>
            </a:fld>
            <a:endParaRPr lang="en-US"/>
          </a:p>
        </p:txBody>
      </p:sp>
      <p:sp>
        <p:nvSpPr>
          <p:cNvPr id="11" name="Footer Placeholder 10">
            <a:extLst>
              <a:ext uri="{FF2B5EF4-FFF2-40B4-BE49-F238E27FC236}">
                <a16:creationId xmlns:a16="http://schemas.microsoft.com/office/drawing/2014/main" id="{C0FAB686-89E6-43A6-9874-8E3BA3735B1E}"/>
              </a:ext>
            </a:extLst>
          </p:cNvPr>
          <p:cNvSpPr>
            <a:spLocks noGrp="1"/>
          </p:cNvSpPr>
          <p:nvPr>
            <p:ph type="ftr" sz="quarter" idx="15"/>
          </p:nvPr>
        </p:nvSpPr>
        <p:spPr/>
        <p:txBody>
          <a:bodyPr/>
          <a:lstStyle/>
          <a:p>
            <a:endParaRPr lang="en-US"/>
          </a:p>
        </p:txBody>
      </p:sp>
      <p:sp>
        <p:nvSpPr>
          <p:cNvPr id="12" name="Slide Number Placeholder 11">
            <a:extLst>
              <a:ext uri="{FF2B5EF4-FFF2-40B4-BE49-F238E27FC236}">
                <a16:creationId xmlns:a16="http://schemas.microsoft.com/office/drawing/2014/main" id="{A483A1A4-F005-47B5-B97D-30454D5A20EC}"/>
              </a:ext>
            </a:extLst>
          </p:cNvPr>
          <p:cNvSpPr>
            <a:spLocks noGrp="1"/>
          </p:cNvSpPr>
          <p:nvPr>
            <p:ph type="sldNum" sz="quarter" idx="16"/>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105905911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303B1-ED2E-EE47-84F0-7EE03B803B27}"/>
              </a:ext>
            </a:extLst>
          </p:cNvPr>
          <p:cNvSpPr>
            <a:spLocks noGrp="1"/>
          </p:cNvSpPr>
          <p:nvPr>
            <p:ph type="ctrTitle"/>
          </p:nvPr>
        </p:nvSpPr>
        <p:spPr>
          <a:xfrm>
            <a:off x="384048" y="2711195"/>
            <a:ext cx="11420856" cy="2268222"/>
          </a:xfrm>
        </p:spPr>
        <p:txBody>
          <a:bodyPr anchor="t" anchorCtr="0">
            <a:normAutofit/>
          </a:bodyPr>
          <a:lstStyle>
            <a:lvl1pPr algn="l">
              <a:defRPr sz="4400">
                <a:solidFill>
                  <a:schemeClr val="tx1"/>
                </a:solidFill>
              </a:defRPr>
            </a:lvl1pPr>
          </a:lstStyle>
          <a:p>
            <a:r>
              <a:rPr lang="en-US"/>
              <a:t>Click to edit Master title style</a:t>
            </a:r>
            <a:endParaRPr lang="en-CA"/>
          </a:p>
        </p:txBody>
      </p:sp>
      <p:sp>
        <p:nvSpPr>
          <p:cNvPr id="3" name="Subtitle 2">
            <a:extLst>
              <a:ext uri="{FF2B5EF4-FFF2-40B4-BE49-F238E27FC236}">
                <a16:creationId xmlns:a16="http://schemas.microsoft.com/office/drawing/2014/main" id="{3B21E3D5-49CD-FF4C-B5BD-302678C8CBF3}"/>
              </a:ext>
            </a:extLst>
          </p:cNvPr>
          <p:cNvSpPr>
            <a:spLocks noGrp="1"/>
          </p:cNvSpPr>
          <p:nvPr>
            <p:ph type="subTitle" idx="1"/>
          </p:nvPr>
        </p:nvSpPr>
        <p:spPr>
          <a:xfrm>
            <a:off x="384048" y="4980756"/>
            <a:ext cx="11420856" cy="930841"/>
          </a:xfrm>
        </p:spPr>
        <p:txBody>
          <a:bodyPr>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8" name="Date Placeholder 7">
            <a:extLst>
              <a:ext uri="{FF2B5EF4-FFF2-40B4-BE49-F238E27FC236}">
                <a16:creationId xmlns:a16="http://schemas.microsoft.com/office/drawing/2014/main" id="{6A5BF6AB-2D80-4B33-BD00-B219B9E88ACB}"/>
              </a:ext>
            </a:extLst>
          </p:cNvPr>
          <p:cNvSpPr>
            <a:spLocks noGrp="1"/>
          </p:cNvSpPr>
          <p:nvPr>
            <p:ph type="dt" sz="half" idx="10"/>
          </p:nvPr>
        </p:nvSpPr>
        <p:spPr>
          <a:xfrm>
            <a:off x="384048" y="-9144"/>
            <a:ext cx="1371600" cy="1380744"/>
          </a:xfrm>
          <a:prstGeom prst="rect">
            <a:avLst/>
          </a:prstGeom>
          <a:solidFill>
            <a:schemeClr val="tx2"/>
          </a:solidFill>
        </p:spPr>
        <p:txBody>
          <a:bodyPr lIns="109728" rIns="45720" bIns="137160" anchor="b" anchorCtr="0"/>
          <a:lstStyle>
            <a:lvl1pPr algn="l">
              <a:defRPr sz="1000">
                <a:solidFill>
                  <a:schemeClr val="bg1"/>
                </a:solidFill>
              </a:defRPr>
            </a:lvl1pPr>
          </a:lstStyle>
          <a:p>
            <a:fld id="{CDBF8F42-D06F-45B9-B73A-766CE9B194F1}" type="datetime4">
              <a:rPr lang="en-US" smtClean="0"/>
              <a:t>July 31, 2026</a:t>
            </a:fld>
            <a:endParaRPr lang="en-CA"/>
          </a:p>
        </p:txBody>
      </p:sp>
      <p:sp>
        <p:nvSpPr>
          <p:cNvPr id="9" name="Footer Placeholder 8">
            <a:extLst>
              <a:ext uri="{FF2B5EF4-FFF2-40B4-BE49-F238E27FC236}">
                <a16:creationId xmlns:a16="http://schemas.microsoft.com/office/drawing/2014/main" id="{EE916F14-7935-4AE8-8068-C3EB1FBA7D46}"/>
              </a:ext>
            </a:extLst>
          </p:cNvPr>
          <p:cNvSpPr>
            <a:spLocks noGrp="1"/>
          </p:cNvSpPr>
          <p:nvPr>
            <p:ph type="ftr" sz="quarter" idx="11"/>
          </p:nvPr>
        </p:nvSpPr>
        <p:spPr>
          <a:xfrm>
            <a:off x="381000" y="6515098"/>
            <a:ext cx="9664700" cy="342900"/>
          </a:xfrm>
          <a:prstGeom prst="rect">
            <a:avLst/>
          </a:prstGeom>
        </p:spPr>
        <p:txBody>
          <a:bodyPr/>
          <a:lstStyle/>
          <a:p>
            <a:r>
              <a:rPr lang="en-CA"/>
              <a:t>CONFIDENTIAL</a:t>
            </a:r>
          </a:p>
        </p:txBody>
      </p:sp>
      <p:pic>
        <p:nvPicPr>
          <p:cNvPr id="14" name="Picture 13">
            <a:extLst>
              <a:ext uri="{FF2B5EF4-FFF2-40B4-BE49-F238E27FC236}">
                <a16:creationId xmlns:a16="http://schemas.microsoft.com/office/drawing/2014/main" id="{D30950D2-F01E-9F44-AD9E-7771212C5D9A}"/>
              </a:ext>
            </a:extLst>
          </p:cNvPr>
          <p:cNvPicPr>
            <a:picLocks/>
          </p:cNvPicPr>
          <p:nvPr userDrawn="1"/>
        </p:nvPicPr>
        <p:blipFill>
          <a:blip r:embed="rId2"/>
          <a:stretch>
            <a:fillRect/>
          </a:stretch>
        </p:blipFill>
        <p:spPr>
          <a:xfrm>
            <a:off x="10203942" y="5912934"/>
            <a:ext cx="1600200" cy="602166"/>
          </a:xfrm>
          <a:prstGeom prst="rect">
            <a:avLst/>
          </a:prstGeom>
        </p:spPr>
      </p:pic>
    </p:spTree>
    <p:extLst>
      <p:ext uri="{BB962C8B-B14F-4D97-AF65-F5344CB8AC3E}">
        <p14:creationId xmlns:p14="http://schemas.microsoft.com/office/powerpoint/2010/main" val="14817620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8F241A-25B2-3D41-ADDE-A82C17268E58}"/>
              </a:ext>
            </a:extLst>
          </p:cNvPr>
          <p:cNvSpPr/>
          <p:nvPr userDrawn="1"/>
        </p:nvSpPr>
        <p:spPr>
          <a:xfrm>
            <a:off x="1753114" y="1371600"/>
            <a:ext cx="4544568" cy="454567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endParaRPr lang="en-CA" sz="1350">
              <a:solidFill>
                <a:schemeClr val="bg1"/>
              </a:solidFill>
            </a:endParaRPr>
          </a:p>
        </p:txBody>
      </p:sp>
      <p:sp>
        <p:nvSpPr>
          <p:cNvPr id="2" name="Title 1">
            <a:extLst>
              <a:ext uri="{FF2B5EF4-FFF2-40B4-BE49-F238E27FC236}">
                <a16:creationId xmlns:a16="http://schemas.microsoft.com/office/drawing/2014/main" id="{A84303B1-ED2E-EE47-84F0-7EE03B803B27}"/>
              </a:ext>
            </a:extLst>
          </p:cNvPr>
          <p:cNvSpPr>
            <a:spLocks noGrp="1"/>
          </p:cNvSpPr>
          <p:nvPr>
            <p:ph type="ctrTitle"/>
          </p:nvPr>
        </p:nvSpPr>
        <p:spPr>
          <a:xfrm>
            <a:off x="2186945" y="1676400"/>
            <a:ext cx="3959352" cy="2971800"/>
          </a:xfrm>
          <a:noFill/>
        </p:spPr>
        <p:txBody>
          <a:bodyPr anchor="t" anchorCtr="0">
            <a:normAutofit/>
          </a:bodyPr>
          <a:lstStyle>
            <a:lvl1pPr algn="l">
              <a:defRPr sz="4400">
                <a:solidFill>
                  <a:schemeClr val="tx1"/>
                </a:solidFill>
              </a:defRPr>
            </a:lvl1pPr>
          </a:lstStyle>
          <a:p>
            <a:r>
              <a:rPr lang="en-US"/>
              <a:t>Click to edit Master title style</a:t>
            </a:r>
            <a:endParaRPr lang="en-CA"/>
          </a:p>
        </p:txBody>
      </p:sp>
      <p:sp>
        <p:nvSpPr>
          <p:cNvPr id="3" name="Subtitle 2">
            <a:extLst>
              <a:ext uri="{FF2B5EF4-FFF2-40B4-BE49-F238E27FC236}">
                <a16:creationId xmlns:a16="http://schemas.microsoft.com/office/drawing/2014/main" id="{3B21E3D5-49CD-FF4C-B5BD-302678C8CBF3}"/>
              </a:ext>
            </a:extLst>
          </p:cNvPr>
          <p:cNvSpPr>
            <a:spLocks noGrp="1"/>
          </p:cNvSpPr>
          <p:nvPr>
            <p:ph type="subTitle" idx="1"/>
          </p:nvPr>
        </p:nvSpPr>
        <p:spPr>
          <a:xfrm>
            <a:off x="2186945" y="4648200"/>
            <a:ext cx="3959352" cy="914400"/>
          </a:xfrm>
          <a:noFill/>
        </p:spPr>
        <p:txBody>
          <a:bodyPr anchor="b" anchorCtr="0">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7" name="Date Placeholder 6">
            <a:extLst>
              <a:ext uri="{FF2B5EF4-FFF2-40B4-BE49-F238E27FC236}">
                <a16:creationId xmlns:a16="http://schemas.microsoft.com/office/drawing/2014/main" id="{17A58CD2-A995-4262-A6D6-8D0AADA58C10}"/>
              </a:ext>
            </a:extLst>
          </p:cNvPr>
          <p:cNvSpPr>
            <a:spLocks noGrp="1"/>
          </p:cNvSpPr>
          <p:nvPr>
            <p:ph type="dt" sz="half" idx="10"/>
          </p:nvPr>
        </p:nvSpPr>
        <p:spPr>
          <a:xfrm>
            <a:off x="384048" y="-9144"/>
            <a:ext cx="1371600" cy="1380744"/>
          </a:xfrm>
          <a:prstGeom prst="rect">
            <a:avLst/>
          </a:prstGeom>
          <a:solidFill>
            <a:schemeClr val="tx2"/>
          </a:solidFill>
        </p:spPr>
        <p:txBody>
          <a:bodyPr lIns="109728" rIns="45720" bIns="137160" anchor="b" anchorCtr="0"/>
          <a:lstStyle>
            <a:lvl1pPr algn="l">
              <a:defRPr sz="1000">
                <a:solidFill>
                  <a:schemeClr val="bg1"/>
                </a:solidFill>
              </a:defRPr>
            </a:lvl1pPr>
          </a:lstStyle>
          <a:p>
            <a:fld id="{9CF9511F-66B6-4162-A656-B18DA862C9E7}" type="datetime4">
              <a:rPr lang="en-US" smtClean="0"/>
              <a:t>July 31, 2026</a:t>
            </a:fld>
            <a:endParaRPr lang="en-CA"/>
          </a:p>
        </p:txBody>
      </p:sp>
      <p:pic>
        <p:nvPicPr>
          <p:cNvPr id="12" name="Picture 11">
            <a:extLst>
              <a:ext uri="{FF2B5EF4-FFF2-40B4-BE49-F238E27FC236}">
                <a16:creationId xmlns:a16="http://schemas.microsoft.com/office/drawing/2014/main" id="{EA6A21FE-07F5-4A52-B78A-91402A316252}"/>
              </a:ext>
            </a:extLst>
          </p:cNvPr>
          <p:cNvPicPr>
            <a:picLocks/>
          </p:cNvPicPr>
          <p:nvPr userDrawn="1"/>
        </p:nvPicPr>
        <p:blipFill>
          <a:blip r:embed="rId2"/>
          <a:stretch>
            <a:fillRect/>
          </a:stretch>
        </p:blipFill>
        <p:spPr>
          <a:xfrm>
            <a:off x="10203942" y="5912934"/>
            <a:ext cx="1600200" cy="602166"/>
          </a:xfrm>
          <a:prstGeom prst="rect">
            <a:avLst/>
          </a:prstGeom>
        </p:spPr>
      </p:pic>
      <p:sp>
        <p:nvSpPr>
          <p:cNvPr id="9" name="Footer Placeholder 8">
            <a:extLst>
              <a:ext uri="{FF2B5EF4-FFF2-40B4-BE49-F238E27FC236}">
                <a16:creationId xmlns:a16="http://schemas.microsoft.com/office/drawing/2014/main" id="{20BD4B6A-B0A7-DE49-A4C4-D89305445939}"/>
              </a:ext>
            </a:extLst>
          </p:cNvPr>
          <p:cNvSpPr>
            <a:spLocks noGrp="1"/>
          </p:cNvSpPr>
          <p:nvPr>
            <p:ph type="ftr" sz="quarter" idx="11"/>
          </p:nvPr>
        </p:nvSpPr>
        <p:spPr>
          <a:xfrm>
            <a:off x="381000" y="6515098"/>
            <a:ext cx="9664700" cy="342900"/>
          </a:xfrm>
          <a:prstGeom prst="rect">
            <a:avLst/>
          </a:prstGeom>
        </p:spPr>
        <p:txBody>
          <a:bodyPr/>
          <a:lstStyle/>
          <a:p>
            <a:r>
              <a:rPr lang="en-CA"/>
              <a:t>CONFIDENTIAL</a:t>
            </a:r>
          </a:p>
        </p:txBody>
      </p:sp>
    </p:spTree>
    <p:extLst>
      <p:ext uri="{BB962C8B-B14F-4D97-AF65-F5344CB8AC3E}">
        <p14:creationId xmlns:p14="http://schemas.microsoft.com/office/powerpoint/2010/main" val="60537317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Executive 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7" name="Footer Placeholder 8">
            <a:extLst>
              <a:ext uri="{FF2B5EF4-FFF2-40B4-BE49-F238E27FC236}">
                <a16:creationId xmlns:a16="http://schemas.microsoft.com/office/drawing/2014/main" id="{67E2328D-2C11-F54F-BB03-882DEF6EB440}"/>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0EA872F-4A4A-2F4F-831B-AEDCC73E2B2D}"/>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
        <p:nvSpPr>
          <p:cNvPr id="10" name="Table Placeholder 9">
            <a:extLst>
              <a:ext uri="{FF2B5EF4-FFF2-40B4-BE49-F238E27FC236}">
                <a16:creationId xmlns:a16="http://schemas.microsoft.com/office/drawing/2014/main" id="{B83CA65E-AE9C-F54B-B443-CD30308C2CA7}"/>
              </a:ext>
            </a:extLst>
          </p:cNvPr>
          <p:cNvSpPr>
            <a:spLocks noGrp="1"/>
          </p:cNvSpPr>
          <p:nvPr>
            <p:ph type="tbl" sz="quarter" idx="14" hasCustomPrompt="1"/>
          </p:nvPr>
        </p:nvSpPr>
        <p:spPr>
          <a:xfrm>
            <a:off x="381000" y="1295400"/>
            <a:ext cx="11430000" cy="4724400"/>
          </a:xfrm>
        </p:spPr>
        <p:txBody>
          <a:bodyPr/>
          <a:lstStyle>
            <a:lvl1pPr marL="0" indent="0">
              <a:buNone/>
              <a:defRPr sz="1600"/>
            </a:lvl1pPr>
            <a:lvl2pPr marL="685800" indent="-228600">
              <a:buFont typeface="Arial" panose="020B0604020202020204" pitchFamily="34" charset="0"/>
              <a:buChar char="•"/>
              <a:defRPr sz="1600"/>
            </a:lvl2pPr>
            <a:lvl3pPr marL="1143000" indent="-228600">
              <a:buFont typeface="Wingdings" pitchFamily="2" charset="2"/>
              <a:buChar char="§"/>
              <a:defRPr sz="1400"/>
            </a:lvl3pPr>
            <a:lvl4pPr marL="1600200" indent="-228600">
              <a:buFont typeface="Arial" panose="020B0604020202020204" pitchFamily="34" charset="0"/>
              <a:buChar char="•"/>
              <a:defRPr sz="1200"/>
            </a:lvl4pPr>
            <a:lvl5pPr marL="2057400" indent="-228600">
              <a:buFont typeface="Wingdings" pitchFamily="2" charset="2"/>
              <a:buChar char="§"/>
              <a:defRPr sz="1000"/>
            </a:lvl5p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Tree>
    <p:extLst>
      <p:ext uri="{BB962C8B-B14F-4D97-AF65-F5344CB8AC3E}">
        <p14:creationId xmlns:p14="http://schemas.microsoft.com/office/powerpoint/2010/main" val="1633706756"/>
      </p:ext>
    </p:extLst>
  </p:cSld>
  <p:clrMapOvr>
    <a:masterClrMapping/>
  </p:clrMapOvr>
  <p:extLst>
    <p:ext uri="{DCECCB84-F9BA-43D5-87BE-67443E8EF086}">
      <p15:sldGuideLst xmlns:p15="http://schemas.microsoft.com/office/powerpoint/2012/main">
        <p15:guide id="1" orient="horz" pos="816">
          <p15:clr>
            <a:srgbClr val="FBAE40"/>
          </p15:clr>
        </p15:guide>
        <p15:guide id="2" orient="horz" pos="672">
          <p15:clr>
            <a:srgbClr val="FBAE40"/>
          </p15:clr>
        </p15:guide>
        <p15:guide id="3" orient="horz" pos="3936">
          <p15:clr>
            <a:srgbClr val="FBAE40"/>
          </p15:clr>
        </p15:guide>
        <p15:guide id="4" orient="horz" pos="3792">
          <p15:clr>
            <a:srgbClr val="FBAE40"/>
          </p15:clr>
        </p15:guide>
        <p15:guide id="5" orient="horz" pos="57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7" name="Footer Placeholder 8">
            <a:extLst>
              <a:ext uri="{FF2B5EF4-FFF2-40B4-BE49-F238E27FC236}">
                <a16:creationId xmlns:a16="http://schemas.microsoft.com/office/drawing/2014/main" id="{67E2328D-2C11-F54F-BB03-882DEF6EB440}"/>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0EA872F-4A4A-2F4F-831B-AEDCC73E2B2D}"/>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
        <p:nvSpPr>
          <p:cNvPr id="9" name="Content Placeholder 2">
            <a:extLst>
              <a:ext uri="{FF2B5EF4-FFF2-40B4-BE49-F238E27FC236}">
                <a16:creationId xmlns:a16="http://schemas.microsoft.com/office/drawing/2014/main" id="{92B386B8-F93B-994F-BB71-62E6F2413BCE}"/>
              </a:ext>
            </a:extLst>
          </p:cNvPr>
          <p:cNvSpPr>
            <a:spLocks noGrp="1"/>
          </p:cNvSpPr>
          <p:nvPr>
            <p:ph idx="14" hasCustomPrompt="1"/>
          </p:nvPr>
        </p:nvSpPr>
        <p:spPr>
          <a:xfrm>
            <a:off x="1447800" y="1600200"/>
            <a:ext cx="7162800" cy="4343400"/>
          </a:xfrm>
        </p:spPr>
        <p:txBody>
          <a:bodyPr/>
          <a:lstStyle>
            <a:lvl1pPr>
              <a:spcAft>
                <a:spcPts val="1800"/>
              </a:spcAft>
              <a:defRPr sz="1800"/>
            </a:lvl1pPr>
          </a:lstStyle>
          <a:p>
            <a:pPr lvl="0"/>
            <a:r>
              <a:rPr lang="en-CA"/>
              <a:t>Edit Master text styles</a:t>
            </a:r>
          </a:p>
          <a:p>
            <a:pPr>
              <a:spcAft>
                <a:spcPts val="1800"/>
              </a:spcAft>
            </a:pPr>
            <a:endParaRPr lang="en-US"/>
          </a:p>
          <a:p>
            <a:endParaRPr lang="en-US"/>
          </a:p>
        </p:txBody>
      </p:sp>
    </p:spTree>
    <p:extLst>
      <p:ext uri="{BB962C8B-B14F-4D97-AF65-F5344CB8AC3E}">
        <p14:creationId xmlns:p14="http://schemas.microsoft.com/office/powerpoint/2010/main" val="3558724973"/>
      </p:ext>
    </p:extLst>
  </p:cSld>
  <p:clrMapOvr>
    <a:masterClrMapping/>
  </p:clrMapOvr>
  <p:extLst>
    <p:ext uri="{DCECCB84-F9BA-43D5-87BE-67443E8EF086}">
      <p15:sldGuideLst xmlns:p15="http://schemas.microsoft.com/office/powerpoint/2012/main">
        <p15:guide id="1" orient="horz" pos="816">
          <p15:clr>
            <a:srgbClr val="FBAE40"/>
          </p15:clr>
        </p15:guide>
        <p15:guide id="2" orient="horz" pos="672">
          <p15:clr>
            <a:srgbClr val="FBAE40"/>
          </p15:clr>
        </p15:guide>
        <p15:guide id="3" orient="horz" pos="3936">
          <p15:clr>
            <a:srgbClr val="FBAE40"/>
          </p15:clr>
        </p15:guide>
        <p15:guide id="4" orient="horz" pos="3792">
          <p15:clr>
            <a:srgbClr val="FBAE40"/>
          </p15:clr>
        </p15:guide>
        <p15:guide id="5" orient="horz" pos="576">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C9A6-0E83-7A4B-A38B-4946C3F2A1E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80BD3AE-39E3-494F-A1EE-16FB6F252764}"/>
              </a:ext>
            </a:extLst>
          </p:cNvPr>
          <p:cNvSpPr>
            <a:spLocks noGrp="1"/>
          </p:cNvSpPr>
          <p:nvPr>
            <p:ph idx="1" hasCustomPrompt="1"/>
          </p:nvPr>
        </p:nvSpPr>
        <p:spPr/>
        <p:txBody>
          <a:body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5" name="Footer Placeholder 4">
            <a:extLst>
              <a:ext uri="{FF2B5EF4-FFF2-40B4-BE49-F238E27FC236}">
                <a16:creationId xmlns:a16="http://schemas.microsoft.com/office/drawing/2014/main" id="{D07F2085-A4F8-6F43-B5BD-2B5C5F42AC2D}"/>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7" name="Footer Placeholder 8">
            <a:extLst>
              <a:ext uri="{FF2B5EF4-FFF2-40B4-BE49-F238E27FC236}">
                <a16:creationId xmlns:a16="http://schemas.microsoft.com/office/drawing/2014/main" id="{67E2328D-2C11-F54F-BB03-882DEF6EB440}"/>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0EA872F-4A4A-2F4F-831B-AEDCC73E2B2D}"/>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3176674381"/>
      </p:ext>
    </p:extLst>
  </p:cSld>
  <p:clrMapOvr>
    <a:masterClrMapping/>
  </p:clrMapOvr>
  <p:extLst>
    <p:ext uri="{DCECCB84-F9BA-43D5-87BE-67443E8EF086}">
      <p15:sldGuideLst xmlns:p15="http://schemas.microsoft.com/office/powerpoint/2012/main">
        <p15:guide id="1" orient="horz" pos="816">
          <p15:clr>
            <a:srgbClr val="FBAE40"/>
          </p15:clr>
        </p15:guide>
        <p15:guide id="2" orient="horz" pos="672">
          <p15:clr>
            <a:srgbClr val="FBAE40"/>
          </p15:clr>
        </p15:guide>
        <p15:guide id="3" orient="horz" pos="3936">
          <p15:clr>
            <a:srgbClr val="FBAE40"/>
          </p15:clr>
        </p15:guide>
        <p15:guide id="4" orient="horz" pos="3792">
          <p15:clr>
            <a:srgbClr val="FBAE40"/>
          </p15:clr>
        </p15:guide>
        <p15:guide id="5" orient="horz" pos="57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E597-5579-A045-9648-491A56F1DDE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E84AE1E-60E5-6446-BB3C-C46E835D3342}"/>
              </a:ext>
            </a:extLst>
          </p:cNvPr>
          <p:cNvSpPr>
            <a:spLocks noGrp="1"/>
          </p:cNvSpPr>
          <p:nvPr>
            <p:ph sz="half" idx="1" hasCustomPrompt="1"/>
          </p:nvPr>
        </p:nvSpPr>
        <p:spPr>
          <a:xfrm>
            <a:off x="384048" y="1295401"/>
            <a:ext cx="5559552" cy="4724400"/>
          </a:xfrm>
        </p:spPr>
        <p:txBody>
          <a:body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4" name="Content Placeholder 3">
            <a:extLst>
              <a:ext uri="{FF2B5EF4-FFF2-40B4-BE49-F238E27FC236}">
                <a16:creationId xmlns:a16="http://schemas.microsoft.com/office/drawing/2014/main" id="{DDB161A1-7135-6A48-88B5-FA6A609C298F}"/>
              </a:ext>
            </a:extLst>
          </p:cNvPr>
          <p:cNvSpPr>
            <a:spLocks noGrp="1"/>
          </p:cNvSpPr>
          <p:nvPr>
            <p:ph sz="half" idx="2" hasCustomPrompt="1"/>
          </p:nvPr>
        </p:nvSpPr>
        <p:spPr>
          <a:xfrm>
            <a:off x="6248400" y="1295403"/>
            <a:ext cx="5556250" cy="4724399"/>
          </a:xfrm>
        </p:spPr>
        <p:txBody>
          <a:body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8" name="Footer Placeholder 4">
            <a:extLst>
              <a:ext uri="{FF2B5EF4-FFF2-40B4-BE49-F238E27FC236}">
                <a16:creationId xmlns:a16="http://schemas.microsoft.com/office/drawing/2014/main" id="{97C1624E-A29C-1D46-89E2-F842DD42DDE8}"/>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7" name="Footer Placeholder 8">
            <a:extLst>
              <a:ext uri="{FF2B5EF4-FFF2-40B4-BE49-F238E27FC236}">
                <a16:creationId xmlns:a16="http://schemas.microsoft.com/office/drawing/2014/main" id="{67B9DA3F-10E5-7D41-84AB-9050D4311949}"/>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10" name="Footer Placeholder 8">
            <a:extLst>
              <a:ext uri="{FF2B5EF4-FFF2-40B4-BE49-F238E27FC236}">
                <a16:creationId xmlns:a16="http://schemas.microsoft.com/office/drawing/2014/main" id="{B699D31A-57EC-B04B-A41A-F3C3AF558E17}"/>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1365615128"/>
      </p:ext>
    </p:extLst>
  </p:cSld>
  <p:clrMapOvr>
    <a:masterClrMapping/>
  </p:clrMapOvr>
  <p:extLst>
    <p:ext uri="{DCECCB84-F9BA-43D5-87BE-67443E8EF086}">
      <p15:sldGuideLst xmlns:p15="http://schemas.microsoft.com/office/powerpoint/2012/main">
        <p15:guide id="1" orient="horz" pos="576">
          <p15:clr>
            <a:srgbClr val="FBAE40"/>
          </p15:clr>
        </p15:guide>
        <p15:guide id="2" orient="horz" pos="672">
          <p15:clr>
            <a:srgbClr val="FBAE40"/>
          </p15:clr>
        </p15:guide>
        <p15:guide id="3" orient="horz" pos="816">
          <p15:clr>
            <a:srgbClr val="FBAE40"/>
          </p15:clr>
        </p15:guide>
        <p15:guide id="4" orient="horz" pos="3936">
          <p15:clr>
            <a:srgbClr val="FBAE40"/>
          </p15:clr>
        </p15:guide>
        <p15:guide id="5" orient="horz" pos="3792">
          <p15:clr>
            <a:srgbClr val="FBAE40"/>
          </p15:clr>
        </p15:guide>
        <p15:guide id="6" pos="3744">
          <p15:clr>
            <a:srgbClr val="FBAE40"/>
          </p15:clr>
        </p15:guide>
        <p15:guide id="7" pos="3936">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75E1948-A0F9-446F-A911-3D63891A9EE4}"/>
              </a:ext>
            </a:extLst>
          </p:cNvPr>
          <p:cNvSpPr>
            <a:spLocks noGrp="1"/>
          </p:cNvSpPr>
          <p:nvPr>
            <p:ph type="body" idx="1"/>
          </p:nvPr>
        </p:nvSpPr>
        <p:spPr>
          <a:xfrm>
            <a:off x="384048" y="1298448"/>
            <a:ext cx="5564124" cy="548640"/>
          </a:xfrm>
        </p:spPr>
        <p:txBody>
          <a:bodyPr anchor="b"/>
          <a:lstStyle>
            <a:lvl1pPr marL="0" indent="0">
              <a:buNone/>
              <a:defRPr sz="18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B8382803-AA33-4BE8-B029-8C6D44878A59}"/>
              </a:ext>
            </a:extLst>
          </p:cNvPr>
          <p:cNvSpPr>
            <a:spLocks noGrp="1"/>
          </p:cNvSpPr>
          <p:nvPr>
            <p:ph sz="half" idx="2"/>
          </p:nvPr>
        </p:nvSpPr>
        <p:spPr>
          <a:xfrm>
            <a:off x="384048" y="1981200"/>
            <a:ext cx="5564124" cy="4044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1D253C96-7453-445F-9A82-BC56E5098671}"/>
              </a:ext>
            </a:extLst>
          </p:cNvPr>
          <p:cNvSpPr>
            <a:spLocks noGrp="1"/>
          </p:cNvSpPr>
          <p:nvPr>
            <p:ph type="body" sz="quarter" idx="3"/>
          </p:nvPr>
        </p:nvSpPr>
        <p:spPr>
          <a:xfrm>
            <a:off x="6245352" y="1298448"/>
            <a:ext cx="5559297" cy="548640"/>
          </a:xfrm>
        </p:spPr>
        <p:txBody>
          <a:bodyPr anchor="b"/>
          <a:lstStyle>
            <a:lvl1pPr marL="0" indent="0">
              <a:buNone/>
              <a:defRPr sz="18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29EBCD2F-8EC4-4C1F-8B3F-1D6D8381165B}"/>
              </a:ext>
            </a:extLst>
          </p:cNvPr>
          <p:cNvSpPr>
            <a:spLocks noGrp="1"/>
          </p:cNvSpPr>
          <p:nvPr>
            <p:ph sz="quarter" idx="4"/>
          </p:nvPr>
        </p:nvSpPr>
        <p:spPr>
          <a:xfrm>
            <a:off x="6245352" y="1981200"/>
            <a:ext cx="5559297" cy="4044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Title 12">
            <a:extLst>
              <a:ext uri="{FF2B5EF4-FFF2-40B4-BE49-F238E27FC236}">
                <a16:creationId xmlns:a16="http://schemas.microsoft.com/office/drawing/2014/main" id="{BFB384AC-20BD-4E27-BC9E-242394EDC903}"/>
              </a:ext>
            </a:extLst>
          </p:cNvPr>
          <p:cNvSpPr>
            <a:spLocks noGrp="1"/>
          </p:cNvSpPr>
          <p:nvPr>
            <p:ph type="title"/>
          </p:nvPr>
        </p:nvSpPr>
        <p:spPr/>
        <p:txBody>
          <a:bodyPr/>
          <a:lstStyle/>
          <a:p>
            <a:r>
              <a:rPr lang="en-US"/>
              <a:t>Click to edit Master title style</a:t>
            </a:r>
            <a:endParaRPr lang="en-CA"/>
          </a:p>
        </p:txBody>
      </p:sp>
      <p:sp>
        <p:nvSpPr>
          <p:cNvPr id="14" name="Footer Placeholder 4">
            <a:extLst>
              <a:ext uri="{FF2B5EF4-FFF2-40B4-BE49-F238E27FC236}">
                <a16:creationId xmlns:a16="http://schemas.microsoft.com/office/drawing/2014/main" id="{B10DE041-1517-5A47-97B4-72983B7208BB}"/>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9" name="Footer Placeholder 8">
            <a:extLst>
              <a:ext uri="{FF2B5EF4-FFF2-40B4-BE49-F238E27FC236}">
                <a16:creationId xmlns:a16="http://schemas.microsoft.com/office/drawing/2014/main" id="{537CB532-8D5C-8945-8545-5DB40674F21B}"/>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10" name="Footer Placeholder 8">
            <a:extLst>
              <a:ext uri="{FF2B5EF4-FFF2-40B4-BE49-F238E27FC236}">
                <a16:creationId xmlns:a16="http://schemas.microsoft.com/office/drawing/2014/main" id="{A7EA675A-F366-9445-A648-5A3407423352}"/>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205322502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93E20-716D-D744-AD1B-2265FFE51936}"/>
              </a:ext>
            </a:extLst>
          </p:cNvPr>
          <p:cNvSpPr>
            <a:spLocks noGrp="1"/>
          </p:cNvSpPr>
          <p:nvPr>
            <p:ph type="title"/>
          </p:nvPr>
        </p:nvSpPr>
        <p:spPr/>
        <p:txBody>
          <a:bodyPr/>
          <a:lstStyle/>
          <a:p>
            <a:r>
              <a:rPr lang="en-US"/>
              <a:t>Click to edit Master title style</a:t>
            </a:r>
            <a:endParaRPr lang="en-CA"/>
          </a:p>
        </p:txBody>
      </p:sp>
      <p:sp>
        <p:nvSpPr>
          <p:cNvPr id="6" name="Footer Placeholder 4">
            <a:extLst>
              <a:ext uri="{FF2B5EF4-FFF2-40B4-BE49-F238E27FC236}">
                <a16:creationId xmlns:a16="http://schemas.microsoft.com/office/drawing/2014/main" id="{92D4AE55-D906-0746-A30E-B9A295D9F9D4}"/>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5" name="Footer Placeholder 8">
            <a:extLst>
              <a:ext uri="{FF2B5EF4-FFF2-40B4-BE49-F238E27FC236}">
                <a16:creationId xmlns:a16="http://schemas.microsoft.com/office/drawing/2014/main" id="{49664162-4786-1942-ACFE-99521245B22E}"/>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8" name="Footer Placeholder 8">
            <a:extLst>
              <a:ext uri="{FF2B5EF4-FFF2-40B4-BE49-F238E27FC236}">
                <a16:creationId xmlns:a16="http://schemas.microsoft.com/office/drawing/2014/main" id="{BEB75E0D-B022-7046-BA11-100FFB7C79CE}"/>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2412406804"/>
      </p:ext>
    </p:extLst>
  </p:cSld>
  <p:clrMapOvr>
    <a:masterClrMapping/>
  </p:clrMapOvr>
  <p:extLst>
    <p:ext uri="{DCECCB84-F9BA-43D5-87BE-67443E8EF086}">
      <p15:sldGuideLst xmlns:p15="http://schemas.microsoft.com/office/powerpoint/2012/main">
        <p15:guide id="1" orient="horz" pos="3936">
          <p15:clr>
            <a:srgbClr val="FBAE40"/>
          </p15:clr>
        </p15:guide>
        <p15:guide id="2" orient="horz" pos="672">
          <p15:clr>
            <a:srgbClr val="FBAE40"/>
          </p15:clr>
        </p15:guide>
        <p15:guide id="3" orient="horz" pos="576">
          <p15:clr>
            <a:srgbClr val="FBAE40"/>
          </p15:clr>
        </p15:guide>
        <p15:guide id="4" orient="horz" pos="816">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901082F-307B-4CAF-898D-33CA7B67A97A}"/>
              </a:ext>
            </a:extLst>
          </p:cNvPr>
          <p:cNvCxnSpPr>
            <a:cxnSpLocks/>
          </p:cNvCxnSpPr>
          <p:nvPr userDrawn="1"/>
        </p:nvCxnSpPr>
        <p:spPr>
          <a:xfrm>
            <a:off x="384048" y="6241473"/>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CF5C1E2F-005B-4C5C-B5CD-698B55D618EA}"/>
              </a:ext>
            </a:extLst>
          </p:cNvPr>
          <p:cNvPicPr>
            <a:picLocks/>
          </p:cNvPicPr>
          <p:nvPr userDrawn="1"/>
        </p:nvPicPr>
        <p:blipFill>
          <a:blip r:embed="rId2"/>
          <a:stretch>
            <a:fillRect/>
          </a:stretch>
        </p:blipFill>
        <p:spPr>
          <a:xfrm>
            <a:off x="10853928" y="6388101"/>
            <a:ext cx="950976" cy="357859"/>
          </a:xfrm>
          <a:prstGeom prst="rect">
            <a:avLst/>
          </a:prstGeom>
        </p:spPr>
      </p:pic>
      <p:sp>
        <p:nvSpPr>
          <p:cNvPr id="13" name="Footer Placeholder 4">
            <a:extLst>
              <a:ext uri="{FF2B5EF4-FFF2-40B4-BE49-F238E27FC236}">
                <a16:creationId xmlns:a16="http://schemas.microsoft.com/office/drawing/2014/main" id="{FE6B0269-48F1-084E-BFC4-87433BA2B51F}"/>
              </a:ext>
            </a:extLst>
          </p:cNvPr>
          <p:cNvSpPr>
            <a:spLocks noGrp="1"/>
          </p:cNvSpPr>
          <p:nvPr>
            <p:ph type="ftr" sz="quarter" idx="11"/>
          </p:nvPr>
        </p:nvSpPr>
        <p:spPr>
          <a:xfrm>
            <a:off x="381000" y="6515098"/>
            <a:ext cx="8077200" cy="342900"/>
          </a:xfrm>
          <a:prstGeom prst="rect">
            <a:avLst/>
          </a:prstGeom>
        </p:spPr>
        <p:txBody>
          <a:bodyPr/>
          <a:lstStyle>
            <a:lvl1pPr algn="l">
              <a:defRPr/>
            </a:lvl1pPr>
          </a:lstStyle>
          <a:p>
            <a:r>
              <a:rPr lang="en-CA"/>
              <a:t>CONFIDENTIAL</a:t>
            </a:r>
          </a:p>
        </p:txBody>
      </p:sp>
      <p:sp>
        <p:nvSpPr>
          <p:cNvPr id="6" name="Footer Placeholder 8">
            <a:extLst>
              <a:ext uri="{FF2B5EF4-FFF2-40B4-BE49-F238E27FC236}">
                <a16:creationId xmlns:a16="http://schemas.microsoft.com/office/drawing/2014/main" id="{CFA69B87-9945-1E41-B174-CB3CA724A68B}"/>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7" name="Footer Placeholder 8">
            <a:extLst>
              <a:ext uri="{FF2B5EF4-FFF2-40B4-BE49-F238E27FC236}">
                <a16:creationId xmlns:a16="http://schemas.microsoft.com/office/drawing/2014/main" id="{1A906DB9-9029-BD41-B151-DAC6CE38C40C}"/>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1510486602"/>
      </p:ext>
    </p:extLst>
  </p:cSld>
  <p:clrMapOvr>
    <a:masterClrMapping/>
  </p:clrMapOvr>
  <p:extLst>
    <p:ext uri="{DCECCB84-F9BA-43D5-87BE-67443E8EF086}">
      <p15:sldGuideLst xmlns:p15="http://schemas.microsoft.com/office/powerpoint/2012/main">
        <p15:guide id="1" orient="horz" pos="3936">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image" Target="../media/image3.emf"/><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image" Target="../media/image2.emf"/><Relationship Id="rId2" Type="http://schemas.openxmlformats.org/officeDocument/2006/relationships/slideLayout" Target="../slideLayouts/slideLayout3.xml"/><Relationship Id="rId16"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ags" Target="../tags/tag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tags" Target="../tags/tag14.xml"/><Relationship Id="rId39" Type="http://schemas.openxmlformats.org/officeDocument/2006/relationships/tags" Target="../tags/tag27.xml"/><Relationship Id="rId21" Type="http://schemas.openxmlformats.org/officeDocument/2006/relationships/theme" Target="../theme/theme3.xml"/><Relationship Id="rId34" Type="http://schemas.openxmlformats.org/officeDocument/2006/relationships/tags" Target="../tags/tag22.xml"/><Relationship Id="rId42" Type="http://schemas.openxmlformats.org/officeDocument/2006/relationships/oleObject" Target="../embeddings/oleObject5.bin"/><Relationship Id="rId7" Type="http://schemas.openxmlformats.org/officeDocument/2006/relationships/slideLayout" Target="../slideLayouts/slideLayout2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29" Type="http://schemas.openxmlformats.org/officeDocument/2006/relationships/tags" Target="../tags/tag17.xml"/><Relationship Id="rId41" Type="http://schemas.openxmlformats.org/officeDocument/2006/relationships/tags" Target="../tags/tag29.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tags" Target="../tags/tag12.xml"/><Relationship Id="rId32" Type="http://schemas.openxmlformats.org/officeDocument/2006/relationships/tags" Target="../tags/tag20.xml"/><Relationship Id="rId37" Type="http://schemas.openxmlformats.org/officeDocument/2006/relationships/tags" Target="../tags/tag25.xml"/><Relationship Id="rId40" Type="http://schemas.openxmlformats.org/officeDocument/2006/relationships/tags" Target="../tags/tag28.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tags" Target="../tags/tag11.xml"/><Relationship Id="rId28" Type="http://schemas.openxmlformats.org/officeDocument/2006/relationships/tags" Target="../tags/tag16.xml"/><Relationship Id="rId36" Type="http://schemas.openxmlformats.org/officeDocument/2006/relationships/tags" Target="../tags/tag24.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31" Type="http://schemas.openxmlformats.org/officeDocument/2006/relationships/tags" Target="../tags/tag19.xml"/><Relationship Id="rId44" Type="http://schemas.openxmlformats.org/officeDocument/2006/relationships/image" Target="../media/image3.emf"/><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tags" Target="../tags/tag10.xml"/><Relationship Id="rId27" Type="http://schemas.openxmlformats.org/officeDocument/2006/relationships/tags" Target="../tags/tag15.xml"/><Relationship Id="rId30" Type="http://schemas.openxmlformats.org/officeDocument/2006/relationships/tags" Target="../tags/tag18.xml"/><Relationship Id="rId35" Type="http://schemas.openxmlformats.org/officeDocument/2006/relationships/tags" Target="../tags/tag23.xml"/><Relationship Id="rId43" Type="http://schemas.openxmlformats.org/officeDocument/2006/relationships/image" Target="../media/image4.emf"/><Relationship Id="rId8" Type="http://schemas.openxmlformats.org/officeDocument/2006/relationships/slideLayout" Target="../slideLayouts/slideLayout22.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tags" Target="../tags/tag13.xml"/><Relationship Id="rId33" Type="http://schemas.openxmlformats.org/officeDocument/2006/relationships/tags" Target="../tags/tag21.xml"/><Relationship Id="rId38" Type="http://schemas.openxmlformats.org/officeDocument/2006/relationships/tags" Target="../tags/tag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tags" Target="../tags/tag148.xml"/><Relationship Id="rId3" Type="http://schemas.openxmlformats.org/officeDocument/2006/relationships/slideLayout" Target="../slideLayouts/slideLayout37.xml"/><Relationship Id="rId21" Type="http://schemas.openxmlformats.org/officeDocument/2006/relationships/image" Target="../media/image3.emf"/><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theme" Target="../theme/theme4.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image" Target="../media/image2.emf"/><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19" Type="http://schemas.openxmlformats.org/officeDocument/2006/relationships/oleObject" Target="../embeddings/oleObject21.bin"/><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oleObject" Target="../embeddings/oleObject23.bin"/><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tags" Target="../tags/tag153.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tags" Target="../tags/tag152.xml"/><Relationship Id="rId5" Type="http://schemas.openxmlformats.org/officeDocument/2006/relationships/slideLayout" Target="../slideLayouts/slideLayout55.xml"/><Relationship Id="rId15" Type="http://schemas.openxmlformats.org/officeDocument/2006/relationships/image" Target="../media/image3.emf"/><Relationship Id="rId10" Type="http://schemas.openxmlformats.org/officeDocument/2006/relationships/theme" Target="../theme/theme5.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0A7638E-A83A-4BAD-8DA4-A8AEDDEE13D4}"/>
              </a:ext>
            </a:extLst>
          </p:cNvPr>
          <p:cNvGraphicFramePr>
            <a:graphicFrameLocks noChangeAspect="1"/>
          </p:cNvGraphicFramePr>
          <p:nvPr userDrawn="1">
            <p:custDataLst>
              <p:tags r:id="rId3"/>
            </p:custDataLst>
          </p:nvPr>
        </p:nvGraphicFramePr>
        <p:xfrm>
          <a:off x="1587" y="1588"/>
          <a:ext cx="1587" cy="1588"/>
        </p:xfrm>
        <a:graphic>
          <a:graphicData uri="http://schemas.openxmlformats.org/presentationml/2006/ole">
            <mc:AlternateContent xmlns:mc="http://schemas.openxmlformats.org/markup-compatibility/2006">
              <mc:Choice xmlns:v="urn:schemas-microsoft-com:vml" Requires="v">
                <p:oleObj name="think-cell Slide" r:id="rId5" imgW="306" imgH="306" progId="TCLayout.ActiveDocument.1">
                  <p:embed/>
                </p:oleObj>
              </mc:Choice>
              <mc:Fallback>
                <p:oleObj name="think-cell Slide" r:id="rId5" imgW="306" imgH="306" progId="TCLayout.ActiveDocument.1">
                  <p:embed/>
                  <p:pic>
                    <p:nvPicPr>
                      <p:cNvPr id="5" name="Object 4" hidden="1">
                        <a:extLst>
                          <a:ext uri="{FF2B5EF4-FFF2-40B4-BE49-F238E27FC236}">
                            <a16:creationId xmlns:a16="http://schemas.microsoft.com/office/drawing/2014/main" id="{60A7638E-A83A-4BAD-8DA4-A8AEDDEE13D4}"/>
                          </a:ext>
                        </a:extLst>
                      </p:cNvPr>
                      <p:cNvPicPr/>
                      <p:nvPr/>
                    </p:nvPicPr>
                    <p:blipFill>
                      <a:blip r:embed="rId6"/>
                      <a:stretch>
                        <a:fillRect/>
                      </a:stretch>
                    </p:blipFill>
                    <p:spPr>
                      <a:xfrm>
                        <a:off x="1587" y="1588"/>
                        <a:ext cx="1587"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0EF8F37F-E738-4C14-B7B6-CAB9C13BEEEC}"/>
              </a:ext>
            </a:extLst>
          </p:cNvPr>
          <p:cNvSpPr/>
          <p:nvPr userDrawn="1">
            <p:custDataLst>
              <p:tags r:id="rId4"/>
            </p:custDataLst>
          </p:nvPr>
        </p:nvSpPr>
        <p:spPr>
          <a:xfrm>
            <a:off x="0" y="0"/>
            <a:ext cx="158667" cy="15875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kumimoji="0" lang="en-US" sz="2199" b="0" i="0" u="none" cap="none" baseline="0">
              <a:solidFill>
                <a:schemeClr val="tx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Placeholder 1"/>
          <p:cNvSpPr>
            <a:spLocks noGrp="1"/>
          </p:cNvSpPr>
          <p:nvPr>
            <p:ph type="title"/>
          </p:nvPr>
        </p:nvSpPr>
        <p:spPr>
          <a:xfrm>
            <a:off x="609601" y="269600"/>
            <a:ext cx="10972800" cy="590880"/>
          </a:xfrm>
          <a:prstGeom prst="rect">
            <a:avLst/>
          </a:prstGeom>
        </p:spPr>
        <p:txBody>
          <a:bodyPr vert="horz" lIns="0" tIns="0" rIns="0" bIns="0" rtlCol="0" anchor="t" anchorCtr="0">
            <a:noAutofit/>
          </a:bodyPr>
          <a:lstStyle/>
          <a:p>
            <a:r>
              <a:rPr lang="en-US"/>
              <a:t>Click to edit Master title style</a:t>
            </a:r>
            <a:endParaRPr lang="en-GB"/>
          </a:p>
        </p:txBody>
      </p:sp>
      <p:sp>
        <p:nvSpPr>
          <p:cNvPr id="18" name="TextBox 17">
            <a:extLst>
              <a:ext uri="{FF2B5EF4-FFF2-40B4-BE49-F238E27FC236}">
                <a16:creationId xmlns:a16="http://schemas.microsoft.com/office/drawing/2014/main" id="{84F0543D-5895-4F15-9AD6-423DC79B212B}"/>
              </a:ext>
            </a:extLst>
          </p:cNvPr>
          <p:cNvSpPr txBox="1"/>
          <p:nvPr userDrawn="1"/>
        </p:nvSpPr>
        <p:spPr>
          <a:xfrm>
            <a:off x="9836099" y="6565113"/>
            <a:ext cx="395736" cy="123111"/>
          </a:xfrm>
          <a:prstGeom prst="rect">
            <a:avLst/>
          </a:prstGeom>
          <a:noFill/>
        </p:spPr>
        <p:txBody>
          <a:bodyPr wrap="none" lIns="0" tIns="0" rIns="0" bIns="0" rtlCol="0" anchor="b">
            <a:spAutoFit/>
          </a:bodyPr>
          <a:lstStyle/>
          <a:p>
            <a:pPr marL="0" marR="0" indent="0" algn="l" defTabSz="913943" rtl="0" eaLnBrk="1" fontAlgn="auto" latinLnBrk="0" hangingPunct="1">
              <a:lnSpc>
                <a:spcPct val="100000"/>
              </a:lnSpc>
              <a:spcBef>
                <a:spcPts val="0"/>
              </a:spcBef>
              <a:spcAft>
                <a:spcPts val="0"/>
              </a:spcAft>
              <a:buClrTx/>
              <a:buSzTx/>
              <a:buFontTx/>
              <a:buNone/>
              <a:tabLst/>
              <a:defRPr/>
            </a:pPr>
            <a:r>
              <a:rPr lang="en-GB" sz="800">
                <a:solidFill>
                  <a:schemeClr val="bg1"/>
                </a:solidFill>
                <a:latin typeface="+mn-lt"/>
                <a:sym typeface="Arial" panose="020B0604020202020204" pitchFamily="34" charset="0"/>
              </a:rPr>
              <a:t>Page </a:t>
            </a:r>
            <a:fld id="{9AE4D82F-B047-469B-AC52-A46321747EAF}" type="slidenum">
              <a:rPr lang="en-GB" sz="800">
                <a:solidFill>
                  <a:schemeClr val="bg1"/>
                </a:solidFill>
                <a:latin typeface="+mn-lt"/>
                <a:sym typeface="Arial" panose="020B0604020202020204" pitchFamily="34" charset="0"/>
              </a:rPr>
              <a:pPr marL="0" marR="0" indent="0" algn="l" defTabSz="913943" rtl="0" eaLnBrk="1" fontAlgn="auto" latinLnBrk="0" hangingPunct="1">
                <a:lnSpc>
                  <a:spcPct val="100000"/>
                </a:lnSpc>
                <a:spcBef>
                  <a:spcPts val="0"/>
                </a:spcBef>
                <a:spcAft>
                  <a:spcPts val="0"/>
                </a:spcAft>
                <a:buClrTx/>
                <a:buSzTx/>
                <a:buFontTx/>
                <a:buNone/>
                <a:tabLst/>
                <a:defRPr/>
              </a:pPr>
              <a:t>‹#›</a:t>
            </a:fld>
            <a:endParaRPr lang="en-GB" sz="800">
              <a:solidFill>
                <a:schemeClr val="bg1"/>
              </a:solidFill>
              <a:latin typeface="+mn-lt"/>
              <a:sym typeface="Arial" panose="020B0604020202020204" pitchFamily="34" charset="0"/>
            </a:endParaRPr>
          </a:p>
        </p:txBody>
      </p:sp>
      <p:grpSp>
        <p:nvGrpSpPr>
          <p:cNvPr id="19" name="Group 18">
            <a:extLst>
              <a:ext uri="{FF2B5EF4-FFF2-40B4-BE49-F238E27FC236}">
                <a16:creationId xmlns:a16="http://schemas.microsoft.com/office/drawing/2014/main" id="{E5FF8F2A-9422-420C-B50E-588E96C8CB1E}"/>
              </a:ext>
            </a:extLst>
          </p:cNvPr>
          <p:cNvGrpSpPr>
            <a:grpSpLocks noChangeAspect="1"/>
          </p:cNvGrpSpPr>
          <p:nvPr userDrawn="1"/>
        </p:nvGrpSpPr>
        <p:grpSpPr>
          <a:xfrm>
            <a:off x="10624714" y="6359353"/>
            <a:ext cx="955115" cy="308551"/>
            <a:chOff x="2703513" y="2332038"/>
            <a:chExt cx="6784975" cy="2190751"/>
          </a:xfrm>
        </p:grpSpPr>
        <p:sp>
          <p:nvSpPr>
            <p:cNvPr id="20" name="Freeform 115">
              <a:extLst>
                <a:ext uri="{FF2B5EF4-FFF2-40B4-BE49-F238E27FC236}">
                  <a16:creationId xmlns:a16="http://schemas.microsoft.com/office/drawing/2014/main" id="{5C20A05E-7CB6-4514-8190-653E999CC8A1}"/>
                </a:ext>
              </a:extLst>
            </p:cNvPr>
            <p:cNvSpPr>
              <a:spLocks noEditPoints="1"/>
            </p:cNvSpPr>
            <p:nvPr userDrawn="1"/>
          </p:nvSpPr>
          <p:spPr bwMode="auto">
            <a:xfrm>
              <a:off x="4829176" y="3757613"/>
              <a:ext cx="554038" cy="754063"/>
            </a:xfrm>
            <a:custGeom>
              <a:avLst/>
              <a:gdLst>
                <a:gd name="T0" fmla="*/ 118 w 148"/>
                <a:gd name="T1" fmla="*/ 63 h 201"/>
                <a:gd name="T2" fmla="*/ 115 w 148"/>
                <a:gd name="T3" fmla="*/ 48 h 201"/>
                <a:gd name="T4" fmla="*/ 108 w 148"/>
                <a:gd name="T5" fmla="*/ 37 h 201"/>
                <a:gd name="T6" fmla="*/ 98 w 148"/>
                <a:gd name="T7" fmla="*/ 31 h 201"/>
                <a:gd name="T8" fmla="*/ 83 w 148"/>
                <a:gd name="T9" fmla="*/ 28 h 201"/>
                <a:gd name="T10" fmla="*/ 30 w 148"/>
                <a:gd name="T11" fmla="*/ 28 h 201"/>
                <a:gd name="T12" fmla="*/ 30 w 148"/>
                <a:gd name="T13" fmla="*/ 98 h 201"/>
                <a:gd name="T14" fmla="*/ 83 w 148"/>
                <a:gd name="T15" fmla="*/ 98 h 201"/>
                <a:gd name="T16" fmla="*/ 109 w 148"/>
                <a:gd name="T17" fmla="*/ 88 h 201"/>
                <a:gd name="T18" fmla="*/ 118 w 148"/>
                <a:gd name="T19" fmla="*/ 63 h 201"/>
                <a:gd name="T20" fmla="*/ 148 w 148"/>
                <a:gd name="T21" fmla="*/ 63 h 201"/>
                <a:gd name="T22" fmla="*/ 144 w 148"/>
                <a:gd name="T23" fmla="*/ 90 h 201"/>
                <a:gd name="T24" fmla="*/ 130 w 148"/>
                <a:gd name="T25" fmla="*/ 110 h 201"/>
                <a:gd name="T26" fmla="*/ 109 w 148"/>
                <a:gd name="T27" fmla="*/ 122 h 201"/>
                <a:gd name="T28" fmla="*/ 82 w 148"/>
                <a:gd name="T29" fmla="*/ 126 h 201"/>
                <a:gd name="T30" fmla="*/ 30 w 148"/>
                <a:gd name="T31" fmla="*/ 126 h 201"/>
                <a:gd name="T32" fmla="*/ 30 w 148"/>
                <a:gd name="T33" fmla="*/ 201 h 201"/>
                <a:gd name="T34" fmla="*/ 0 w 148"/>
                <a:gd name="T35" fmla="*/ 201 h 201"/>
                <a:gd name="T36" fmla="*/ 0 w 148"/>
                <a:gd name="T37" fmla="*/ 0 h 201"/>
                <a:gd name="T38" fmla="*/ 84 w 148"/>
                <a:gd name="T39" fmla="*/ 0 h 201"/>
                <a:gd name="T40" fmla="*/ 110 w 148"/>
                <a:gd name="T41" fmla="*/ 4 h 201"/>
                <a:gd name="T42" fmla="*/ 130 w 148"/>
                <a:gd name="T43" fmla="*/ 16 h 201"/>
                <a:gd name="T44" fmla="*/ 144 w 148"/>
                <a:gd name="T45" fmla="*/ 35 h 201"/>
                <a:gd name="T46" fmla="*/ 148 w 148"/>
                <a:gd name="T47" fmla="*/ 63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8" h="201">
                  <a:moveTo>
                    <a:pt x="118" y="63"/>
                  </a:moveTo>
                  <a:cubicBezTo>
                    <a:pt x="118" y="57"/>
                    <a:pt x="117" y="52"/>
                    <a:pt x="115" y="48"/>
                  </a:cubicBezTo>
                  <a:cubicBezTo>
                    <a:pt x="114" y="44"/>
                    <a:pt x="111" y="40"/>
                    <a:pt x="108" y="37"/>
                  </a:cubicBezTo>
                  <a:cubicBezTo>
                    <a:pt x="105" y="34"/>
                    <a:pt x="102" y="32"/>
                    <a:pt x="98" y="31"/>
                  </a:cubicBezTo>
                  <a:cubicBezTo>
                    <a:pt x="93" y="29"/>
                    <a:pt x="89" y="28"/>
                    <a:pt x="83" y="28"/>
                  </a:cubicBezTo>
                  <a:cubicBezTo>
                    <a:pt x="30" y="28"/>
                    <a:pt x="30" y="28"/>
                    <a:pt x="30" y="28"/>
                  </a:cubicBezTo>
                  <a:cubicBezTo>
                    <a:pt x="30" y="98"/>
                    <a:pt x="30" y="98"/>
                    <a:pt x="30" y="98"/>
                  </a:cubicBezTo>
                  <a:cubicBezTo>
                    <a:pt x="83" y="98"/>
                    <a:pt x="83" y="98"/>
                    <a:pt x="83" y="98"/>
                  </a:cubicBezTo>
                  <a:cubicBezTo>
                    <a:pt x="95" y="98"/>
                    <a:pt x="104" y="94"/>
                    <a:pt x="109" y="88"/>
                  </a:cubicBezTo>
                  <a:cubicBezTo>
                    <a:pt x="115" y="82"/>
                    <a:pt x="118" y="74"/>
                    <a:pt x="118" y="63"/>
                  </a:cubicBezTo>
                  <a:moveTo>
                    <a:pt x="148" y="63"/>
                  </a:moveTo>
                  <a:cubicBezTo>
                    <a:pt x="148" y="73"/>
                    <a:pt x="147" y="82"/>
                    <a:pt x="144" y="90"/>
                  </a:cubicBezTo>
                  <a:cubicBezTo>
                    <a:pt x="140" y="98"/>
                    <a:pt x="136" y="104"/>
                    <a:pt x="130" y="110"/>
                  </a:cubicBezTo>
                  <a:cubicBezTo>
                    <a:pt x="124" y="115"/>
                    <a:pt x="117" y="119"/>
                    <a:pt x="109" y="122"/>
                  </a:cubicBezTo>
                  <a:cubicBezTo>
                    <a:pt x="101" y="124"/>
                    <a:pt x="92" y="126"/>
                    <a:pt x="82" y="126"/>
                  </a:cubicBezTo>
                  <a:cubicBezTo>
                    <a:pt x="30" y="126"/>
                    <a:pt x="30" y="126"/>
                    <a:pt x="30" y="126"/>
                  </a:cubicBezTo>
                  <a:cubicBezTo>
                    <a:pt x="30" y="201"/>
                    <a:pt x="30" y="201"/>
                    <a:pt x="30" y="201"/>
                  </a:cubicBezTo>
                  <a:cubicBezTo>
                    <a:pt x="0" y="201"/>
                    <a:pt x="0" y="201"/>
                    <a:pt x="0" y="201"/>
                  </a:cubicBezTo>
                  <a:cubicBezTo>
                    <a:pt x="0" y="0"/>
                    <a:pt x="0" y="0"/>
                    <a:pt x="0" y="0"/>
                  </a:cubicBezTo>
                  <a:cubicBezTo>
                    <a:pt x="84" y="0"/>
                    <a:pt x="84" y="0"/>
                    <a:pt x="84" y="0"/>
                  </a:cubicBezTo>
                  <a:cubicBezTo>
                    <a:pt x="93" y="0"/>
                    <a:pt x="102" y="1"/>
                    <a:pt x="110" y="4"/>
                  </a:cubicBezTo>
                  <a:cubicBezTo>
                    <a:pt x="117" y="7"/>
                    <a:pt x="124" y="11"/>
                    <a:pt x="130" y="16"/>
                  </a:cubicBezTo>
                  <a:cubicBezTo>
                    <a:pt x="136" y="21"/>
                    <a:pt x="140" y="28"/>
                    <a:pt x="144" y="35"/>
                  </a:cubicBezTo>
                  <a:cubicBezTo>
                    <a:pt x="147" y="43"/>
                    <a:pt x="148" y="52"/>
                    <a:pt x="148" y="63"/>
                  </a:cubicBezTo>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21" name="Freeform 116">
              <a:extLst>
                <a:ext uri="{FF2B5EF4-FFF2-40B4-BE49-F238E27FC236}">
                  <a16:creationId xmlns:a16="http://schemas.microsoft.com/office/drawing/2014/main" id="{2906F4E8-7C8C-492D-AE92-6123472DE42E}"/>
                </a:ext>
              </a:extLst>
            </p:cNvPr>
            <p:cNvSpPr>
              <a:spLocks noEditPoints="1"/>
            </p:cNvSpPr>
            <p:nvPr userDrawn="1"/>
          </p:nvSpPr>
          <p:spPr bwMode="auto">
            <a:xfrm>
              <a:off x="5421313" y="3933826"/>
              <a:ext cx="457200" cy="588963"/>
            </a:xfrm>
            <a:custGeom>
              <a:avLst/>
              <a:gdLst>
                <a:gd name="T0" fmla="*/ 93 w 122"/>
                <a:gd name="T1" fmla="*/ 89 h 157"/>
                <a:gd name="T2" fmla="*/ 86 w 122"/>
                <a:gd name="T3" fmla="*/ 86 h 157"/>
                <a:gd name="T4" fmla="*/ 79 w 122"/>
                <a:gd name="T5" fmla="*/ 85 h 157"/>
                <a:gd name="T6" fmla="*/ 70 w 122"/>
                <a:gd name="T7" fmla="*/ 83 h 157"/>
                <a:gd name="T8" fmla="*/ 59 w 122"/>
                <a:gd name="T9" fmla="*/ 83 h 157"/>
                <a:gd name="T10" fmla="*/ 36 w 122"/>
                <a:gd name="T11" fmla="*/ 89 h 157"/>
                <a:gd name="T12" fmla="*/ 28 w 122"/>
                <a:gd name="T13" fmla="*/ 105 h 157"/>
                <a:gd name="T14" fmla="*/ 31 w 122"/>
                <a:gd name="T15" fmla="*/ 117 h 157"/>
                <a:gd name="T16" fmla="*/ 37 w 122"/>
                <a:gd name="T17" fmla="*/ 124 h 157"/>
                <a:gd name="T18" fmla="*/ 45 w 122"/>
                <a:gd name="T19" fmla="*/ 129 h 157"/>
                <a:gd name="T20" fmla="*/ 57 w 122"/>
                <a:gd name="T21" fmla="*/ 130 h 157"/>
                <a:gd name="T22" fmla="*/ 68 w 122"/>
                <a:gd name="T23" fmla="*/ 128 h 157"/>
                <a:gd name="T24" fmla="*/ 79 w 122"/>
                <a:gd name="T25" fmla="*/ 124 h 157"/>
                <a:gd name="T26" fmla="*/ 87 w 122"/>
                <a:gd name="T27" fmla="*/ 118 h 157"/>
                <a:gd name="T28" fmla="*/ 93 w 122"/>
                <a:gd name="T29" fmla="*/ 111 h 157"/>
                <a:gd name="T30" fmla="*/ 93 w 122"/>
                <a:gd name="T31" fmla="*/ 89 h 157"/>
                <a:gd name="T32" fmla="*/ 93 w 122"/>
                <a:gd name="T33" fmla="*/ 154 h 157"/>
                <a:gd name="T34" fmla="*/ 93 w 122"/>
                <a:gd name="T35" fmla="*/ 139 h 157"/>
                <a:gd name="T36" fmla="*/ 84 w 122"/>
                <a:gd name="T37" fmla="*/ 147 h 157"/>
                <a:gd name="T38" fmla="*/ 76 w 122"/>
                <a:gd name="T39" fmla="*/ 151 h 157"/>
                <a:gd name="T40" fmla="*/ 66 w 122"/>
                <a:gd name="T41" fmla="*/ 155 h 157"/>
                <a:gd name="T42" fmla="*/ 52 w 122"/>
                <a:gd name="T43" fmla="*/ 157 h 157"/>
                <a:gd name="T44" fmla="*/ 34 w 122"/>
                <a:gd name="T45" fmla="*/ 154 h 157"/>
                <a:gd name="T46" fmla="*/ 17 w 122"/>
                <a:gd name="T47" fmla="*/ 145 h 157"/>
                <a:gd name="T48" fmla="*/ 5 w 122"/>
                <a:gd name="T49" fmla="*/ 130 h 157"/>
                <a:gd name="T50" fmla="*/ 0 w 122"/>
                <a:gd name="T51" fmla="*/ 106 h 157"/>
                <a:gd name="T52" fmla="*/ 5 w 122"/>
                <a:gd name="T53" fmla="*/ 84 h 157"/>
                <a:gd name="T54" fmla="*/ 17 w 122"/>
                <a:gd name="T55" fmla="*/ 69 h 157"/>
                <a:gd name="T56" fmla="*/ 36 w 122"/>
                <a:gd name="T57" fmla="*/ 60 h 157"/>
                <a:gd name="T58" fmla="*/ 60 w 122"/>
                <a:gd name="T59" fmla="*/ 57 h 157"/>
                <a:gd name="T60" fmla="*/ 80 w 122"/>
                <a:gd name="T61" fmla="*/ 59 h 157"/>
                <a:gd name="T62" fmla="*/ 93 w 122"/>
                <a:gd name="T63" fmla="*/ 63 h 157"/>
                <a:gd name="T64" fmla="*/ 93 w 122"/>
                <a:gd name="T65" fmla="*/ 52 h 157"/>
                <a:gd name="T66" fmla="*/ 86 w 122"/>
                <a:gd name="T67" fmla="*/ 33 h 157"/>
                <a:gd name="T68" fmla="*/ 65 w 122"/>
                <a:gd name="T69" fmla="*/ 26 h 157"/>
                <a:gd name="T70" fmla="*/ 44 w 122"/>
                <a:gd name="T71" fmla="*/ 29 h 157"/>
                <a:gd name="T72" fmla="*/ 26 w 122"/>
                <a:gd name="T73" fmla="*/ 36 h 157"/>
                <a:gd name="T74" fmla="*/ 14 w 122"/>
                <a:gd name="T75" fmla="*/ 14 h 157"/>
                <a:gd name="T76" fmla="*/ 38 w 122"/>
                <a:gd name="T77" fmla="*/ 3 h 157"/>
                <a:gd name="T78" fmla="*/ 66 w 122"/>
                <a:gd name="T79" fmla="*/ 0 h 157"/>
                <a:gd name="T80" fmla="*/ 89 w 122"/>
                <a:gd name="T81" fmla="*/ 3 h 157"/>
                <a:gd name="T82" fmla="*/ 107 w 122"/>
                <a:gd name="T83" fmla="*/ 12 h 157"/>
                <a:gd name="T84" fmla="*/ 118 w 122"/>
                <a:gd name="T85" fmla="*/ 28 h 157"/>
                <a:gd name="T86" fmla="*/ 122 w 122"/>
                <a:gd name="T87" fmla="*/ 51 h 157"/>
                <a:gd name="T88" fmla="*/ 122 w 122"/>
                <a:gd name="T89" fmla="*/ 154 h 157"/>
                <a:gd name="T90" fmla="*/ 93 w 122"/>
                <a:gd name="T91" fmla="*/ 15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2" h="157">
                  <a:moveTo>
                    <a:pt x="93" y="89"/>
                  </a:moveTo>
                  <a:cubicBezTo>
                    <a:pt x="91" y="88"/>
                    <a:pt x="88" y="87"/>
                    <a:pt x="86" y="86"/>
                  </a:cubicBezTo>
                  <a:cubicBezTo>
                    <a:pt x="84" y="86"/>
                    <a:pt x="81" y="85"/>
                    <a:pt x="79" y="85"/>
                  </a:cubicBezTo>
                  <a:cubicBezTo>
                    <a:pt x="77" y="84"/>
                    <a:pt x="74" y="84"/>
                    <a:pt x="70" y="83"/>
                  </a:cubicBezTo>
                  <a:cubicBezTo>
                    <a:pt x="67" y="83"/>
                    <a:pt x="63" y="83"/>
                    <a:pt x="59" y="83"/>
                  </a:cubicBezTo>
                  <a:cubicBezTo>
                    <a:pt x="50" y="83"/>
                    <a:pt x="42" y="85"/>
                    <a:pt x="36" y="89"/>
                  </a:cubicBezTo>
                  <a:cubicBezTo>
                    <a:pt x="31" y="93"/>
                    <a:pt x="28" y="98"/>
                    <a:pt x="28" y="105"/>
                  </a:cubicBezTo>
                  <a:cubicBezTo>
                    <a:pt x="28" y="110"/>
                    <a:pt x="29" y="113"/>
                    <a:pt x="31" y="117"/>
                  </a:cubicBezTo>
                  <a:cubicBezTo>
                    <a:pt x="32" y="120"/>
                    <a:pt x="34" y="122"/>
                    <a:pt x="37" y="124"/>
                  </a:cubicBezTo>
                  <a:cubicBezTo>
                    <a:pt x="39" y="126"/>
                    <a:pt x="42" y="128"/>
                    <a:pt x="45" y="129"/>
                  </a:cubicBezTo>
                  <a:cubicBezTo>
                    <a:pt x="48" y="130"/>
                    <a:pt x="52" y="130"/>
                    <a:pt x="57" y="130"/>
                  </a:cubicBezTo>
                  <a:cubicBezTo>
                    <a:pt x="61" y="130"/>
                    <a:pt x="65" y="130"/>
                    <a:pt x="68" y="128"/>
                  </a:cubicBezTo>
                  <a:cubicBezTo>
                    <a:pt x="72" y="127"/>
                    <a:pt x="75" y="126"/>
                    <a:pt x="79" y="124"/>
                  </a:cubicBezTo>
                  <a:cubicBezTo>
                    <a:pt x="82" y="122"/>
                    <a:pt x="85" y="120"/>
                    <a:pt x="87" y="118"/>
                  </a:cubicBezTo>
                  <a:cubicBezTo>
                    <a:pt x="90" y="116"/>
                    <a:pt x="92" y="113"/>
                    <a:pt x="93" y="111"/>
                  </a:cubicBezTo>
                  <a:lnTo>
                    <a:pt x="93" y="89"/>
                  </a:lnTo>
                  <a:close/>
                  <a:moveTo>
                    <a:pt x="93" y="154"/>
                  </a:moveTo>
                  <a:cubicBezTo>
                    <a:pt x="93" y="139"/>
                    <a:pt x="93" y="139"/>
                    <a:pt x="93" y="139"/>
                  </a:cubicBezTo>
                  <a:cubicBezTo>
                    <a:pt x="90" y="142"/>
                    <a:pt x="86" y="145"/>
                    <a:pt x="84" y="147"/>
                  </a:cubicBezTo>
                  <a:cubicBezTo>
                    <a:pt x="81" y="148"/>
                    <a:pt x="79" y="150"/>
                    <a:pt x="76" y="151"/>
                  </a:cubicBezTo>
                  <a:cubicBezTo>
                    <a:pt x="73" y="153"/>
                    <a:pt x="70" y="154"/>
                    <a:pt x="66" y="155"/>
                  </a:cubicBezTo>
                  <a:cubicBezTo>
                    <a:pt x="62" y="156"/>
                    <a:pt x="57" y="157"/>
                    <a:pt x="52" y="157"/>
                  </a:cubicBezTo>
                  <a:cubicBezTo>
                    <a:pt x="46" y="157"/>
                    <a:pt x="40" y="156"/>
                    <a:pt x="34" y="154"/>
                  </a:cubicBezTo>
                  <a:cubicBezTo>
                    <a:pt x="28" y="152"/>
                    <a:pt x="22" y="149"/>
                    <a:pt x="17" y="145"/>
                  </a:cubicBezTo>
                  <a:cubicBezTo>
                    <a:pt x="12" y="141"/>
                    <a:pt x="8" y="136"/>
                    <a:pt x="5" y="130"/>
                  </a:cubicBezTo>
                  <a:cubicBezTo>
                    <a:pt x="2" y="123"/>
                    <a:pt x="0" y="115"/>
                    <a:pt x="0" y="106"/>
                  </a:cubicBezTo>
                  <a:cubicBezTo>
                    <a:pt x="0" y="98"/>
                    <a:pt x="2" y="90"/>
                    <a:pt x="5" y="84"/>
                  </a:cubicBezTo>
                  <a:cubicBezTo>
                    <a:pt x="8" y="78"/>
                    <a:pt x="12" y="73"/>
                    <a:pt x="17" y="69"/>
                  </a:cubicBezTo>
                  <a:cubicBezTo>
                    <a:pt x="23" y="65"/>
                    <a:pt x="29" y="62"/>
                    <a:pt x="36" y="60"/>
                  </a:cubicBezTo>
                  <a:cubicBezTo>
                    <a:pt x="44" y="58"/>
                    <a:pt x="51" y="57"/>
                    <a:pt x="60" y="57"/>
                  </a:cubicBezTo>
                  <a:cubicBezTo>
                    <a:pt x="68" y="57"/>
                    <a:pt x="75" y="58"/>
                    <a:pt x="80" y="59"/>
                  </a:cubicBezTo>
                  <a:cubicBezTo>
                    <a:pt x="85" y="60"/>
                    <a:pt x="90" y="61"/>
                    <a:pt x="93" y="63"/>
                  </a:cubicBezTo>
                  <a:cubicBezTo>
                    <a:pt x="93" y="52"/>
                    <a:pt x="93" y="52"/>
                    <a:pt x="93" y="52"/>
                  </a:cubicBezTo>
                  <a:cubicBezTo>
                    <a:pt x="93" y="44"/>
                    <a:pt x="91" y="37"/>
                    <a:pt x="86" y="33"/>
                  </a:cubicBezTo>
                  <a:cubicBezTo>
                    <a:pt x="81" y="29"/>
                    <a:pt x="74" y="26"/>
                    <a:pt x="65" y="26"/>
                  </a:cubicBezTo>
                  <a:cubicBezTo>
                    <a:pt x="57" y="26"/>
                    <a:pt x="50" y="27"/>
                    <a:pt x="44" y="29"/>
                  </a:cubicBezTo>
                  <a:cubicBezTo>
                    <a:pt x="38" y="30"/>
                    <a:pt x="32" y="33"/>
                    <a:pt x="26" y="36"/>
                  </a:cubicBezTo>
                  <a:cubicBezTo>
                    <a:pt x="14" y="14"/>
                    <a:pt x="14" y="14"/>
                    <a:pt x="14" y="14"/>
                  </a:cubicBezTo>
                  <a:cubicBezTo>
                    <a:pt x="22" y="9"/>
                    <a:pt x="29" y="6"/>
                    <a:pt x="38" y="3"/>
                  </a:cubicBezTo>
                  <a:cubicBezTo>
                    <a:pt x="46" y="1"/>
                    <a:pt x="55" y="0"/>
                    <a:pt x="66" y="0"/>
                  </a:cubicBezTo>
                  <a:cubicBezTo>
                    <a:pt x="74" y="0"/>
                    <a:pt x="82" y="1"/>
                    <a:pt x="89" y="3"/>
                  </a:cubicBezTo>
                  <a:cubicBezTo>
                    <a:pt x="96" y="5"/>
                    <a:pt x="102" y="8"/>
                    <a:pt x="107" y="12"/>
                  </a:cubicBezTo>
                  <a:cubicBezTo>
                    <a:pt x="112" y="17"/>
                    <a:pt x="116" y="22"/>
                    <a:pt x="118" y="28"/>
                  </a:cubicBezTo>
                  <a:cubicBezTo>
                    <a:pt x="121" y="35"/>
                    <a:pt x="122" y="42"/>
                    <a:pt x="122" y="51"/>
                  </a:cubicBezTo>
                  <a:cubicBezTo>
                    <a:pt x="122" y="154"/>
                    <a:pt x="122" y="154"/>
                    <a:pt x="122" y="154"/>
                  </a:cubicBezTo>
                  <a:lnTo>
                    <a:pt x="93" y="154"/>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22" name="Freeform 117">
              <a:extLst>
                <a:ext uri="{FF2B5EF4-FFF2-40B4-BE49-F238E27FC236}">
                  <a16:creationId xmlns:a16="http://schemas.microsoft.com/office/drawing/2014/main" id="{175B30B7-5A53-4168-BFBE-6E4E12C1753D}"/>
                </a:ext>
              </a:extLst>
            </p:cNvPr>
            <p:cNvSpPr>
              <a:spLocks/>
            </p:cNvSpPr>
            <p:nvPr userDrawn="1"/>
          </p:nvSpPr>
          <p:spPr bwMode="auto">
            <a:xfrm>
              <a:off x="5986463" y="3933826"/>
              <a:ext cx="333375" cy="577850"/>
            </a:xfrm>
            <a:custGeom>
              <a:avLst/>
              <a:gdLst>
                <a:gd name="T0" fmla="*/ 82 w 89"/>
                <a:gd name="T1" fmla="*/ 34 h 154"/>
                <a:gd name="T2" fmla="*/ 72 w 89"/>
                <a:gd name="T3" fmla="*/ 30 h 154"/>
                <a:gd name="T4" fmla="*/ 59 w 89"/>
                <a:gd name="T5" fmla="*/ 29 h 154"/>
                <a:gd name="T6" fmla="*/ 37 w 89"/>
                <a:gd name="T7" fmla="*/ 39 h 154"/>
                <a:gd name="T8" fmla="*/ 30 w 89"/>
                <a:gd name="T9" fmla="*/ 68 h 154"/>
                <a:gd name="T10" fmla="*/ 30 w 89"/>
                <a:gd name="T11" fmla="*/ 154 h 154"/>
                <a:gd name="T12" fmla="*/ 0 w 89"/>
                <a:gd name="T13" fmla="*/ 154 h 154"/>
                <a:gd name="T14" fmla="*/ 0 w 89"/>
                <a:gd name="T15" fmla="*/ 3 h 154"/>
                <a:gd name="T16" fmla="*/ 30 w 89"/>
                <a:gd name="T17" fmla="*/ 3 h 154"/>
                <a:gd name="T18" fmla="*/ 30 w 89"/>
                <a:gd name="T19" fmla="*/ 18 h 154"/>
                <a:gd name="T20" fmla="*/ 36 w 89"/>
                <a:gd name="T21" fmla="*/ 11 h 154"/>
                <a:gd name="T22" fmla="*/ 44 w 89"/>
                <a:gd name="T23" fmla="*/ 5 h 154"/>
                <a:gd name="T24" fmla="*/ 53 w 89"/>
                <a:gd name="T25" fmla="*/ 1 h 154"/>
                <a:gd name="T26" fmla="*/ 64 w 89"/>
                <a:gd name="T27" fmla="*/ 0 h 154"/>
                <a:gd name="T28" fmla="*/ 79 w 89"/>
                <a:gd name="T29" fmla="*/ 2 h 154"/>
                <a:gd name="T30" fmla="*/ 89 w 89"/>
                <a:gd name="T31" fmla="*/ 6 h 154"/>
                <a:gd name="T32" fmla="*/ 82 w 89"/>
                <a:gd name="T33" fmla="*/ 3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9" h="154">
                  <a:moveTo>
                    <a:pt x="82" y="34"/>
                  </a:moveTo>
                  <a:cubicBezTo>
                    <a:pt x="78" y="33"/>
                    <a:pt x="75" y="31"/>
                    <a:pt x="72" y="30"/>
                  </a:cubicBezTo>
                  <a:cubicBezTo>
                    <a:pt x="68" y="29"/>
                    <a:pt x="64" y="29"/>
                    <a:pt x="59" y="29"/>
                  </a:cubicBezTo>
                  <a:cubicBezTo>
                    <a:pt x="50" y="29"/>
                    <a:pt x="42" y="32"/>
                    <a:pt x="37" y="39"/>
                  </a:cubicBezTo>
                  <a:cubicBezTo>
                    <a:pt x="32" y="45"/>
                    <a:pt x="30" y="55"/>
                    <a:pt x="30" y="68"/>
                  </a:cubicBezTo>
                  <a:cubicBezTo>
                    <a:pt x="30" y="154"/>
                    <a:pt x="30" y="154"/>
                    <a:pt x="30" y="154"/>
                  </a:cubicBezTo>
                  <a:cubicBezTo>
                    <a:pt x="0" y="154"/>
                    <a:pt x="0" y="154"/>
                    <a:pt x="0" y="154"/>
                  </a:cubicBezTo>
                  <a:cubicBezTo>
                    <a:pt x="0" y="3"/>
                    <a:pt x="0" y="3"/>
                    <a:pt x="0" y="3"/>
                  </a:cubicBezTo>
                  <a:cubicBezTo>
                    <a:pt x="30" y="3"/>
                    <a:pt x="30" y="3"/>
                    <a:pt x="30" y="3"/>
                  </a:cubicBezTo>
                  <a:cubicBezTo>
                    <a:pt x="30" y="18"/>
                    <a:pt x="30" y="18"/>
                    <a:pt x="30" y="18"/>
                  </a:cubicBezTo>
                  <a:cubicBezTo>
                    <a:pt x="31" y="15"/>
                    <a:pt x="33" y="13"/>
                    <a:pt x="36" y="11"/>
                  </a:cubicBezTo>
                  <a:cubicBezTo>
                    <a:pt x="38" y="8"/>
                    <a:pt x="41" y="7"/>
                    <a:pt x="44" y="5"/>
                  </a:cubicBezTo>
                  <a:cubicBezTo>
                    <a:pt x="47" y="3"/>
                    <a:pt x="50" y="2"/>
                    <a:pt x="53" y="1"/>
                  </a:cubicBezTo>
                  <a:cubicBezTo>
                    <a:pt x="57" y="0"/>
                    <a:pt x="60" y="0"/>
                    <a:pt x="64" y="0"/>
                  </a:cubicBezTo>
                  <a:cubicBezTo>
                    <a:pt x="70" y="0"/>
                    <a:pt x="75" y="1"/>
                    <a:pt x="79" y="2"/>
                  </a:cubicBezTo>
                  <a:cubicBezTo>
                    <a:pt x="83" y="3"/>
                    <a:pt x="87" y="4"/>
                    <a:pt x="89" y="6"/>
                  </a:cubicBezTo>
                  <a:lnTo>
                    <a:pt x="82" y="34"/>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23" name="Freeform 118">
              <a:extLst>
                <a:ext uri="{FF2B5EF4-FFF2-40B4-BE49-F238E27FC236}">
                  <a16:creationId xmlns:a16="http://schemas.microsoft.com/office/drawing/2014/main" id="{135215D0-9FE7-4759-B4E4-4F1CF36CDC9E}"/>
                </a:ext>
              </a:extLst>
            </p:cNvPr>
            <p:cNvSpPr>
              <a:spLocks/>
            </p:cNvSpPr>
            <p:nvPr userDrawn="1"/>
          </p:nvSpPr>
          <p:spPr bwMode="auto">
            <a:xfrm>
              <a:off x="6388101" y="3727451"/>
              <a:ext cx="325438" cy="795338"/>
            </a:xfrm>
            <a:custGeom>
              <a:avLst/>
              <a:gdLst>
                <a:gd name="T0" fmla="*/ 84 w 87"/>
                <a:gd name="T1" fmla="*/ 205 h 212"/>
                <a:gd name="T2" fmla="*/ 71 w 87"/>
                <a:gd name="T3" fmla="*/ 210 h 212"/>
                <a:gd name="T4" fmla="*/ 55 w 87"/>
                <a:gd name="T5" fmla="*/ 212 h 212"/>
                <a:gd name="T6" fmla="*/ 41 w 87"/>
                <a:gd name="T7" fmla="*/ 210 h 212"/>
                <a:gd name="T8" fmla="*/ 31 w 87"/>
                <a:gd name="T9" fmla="*/ 203 h 212"/>
                <a:gd name="T10" fmla="*/ 24 w 87"/>
                <a:gd name="T11" fmla="*/ 190 h 212"/>
                <a:gd name="T12" fmla="*/ 21 w 87"/>
                <a:gd name="T13" fmla="*/ 172 h 212"/>
                <a:gd name="T14" fmla="*/ 21 w 87"/>
                <a:gd name="T15" fmla="*/ 85 h 212"/>
                <a:gd name="T16" fmla="*/ 0 w 87"/>
                <a:gd name="T17" fmla="*/ 85 h 212"/>
                <a:gd name="T18" fmla="*/ 0 w 87"/>
                <a:gd name="T19" fmla="*/ 58 h 212"/>
                <a:gd name="T20" fmla="*/ 21 w 87"/>
                <a:gd name="T21" fmla="*/ 58 h 212"/>
                <a:gd name="T22" fmla="*/ 21 w 87"/>
                <a:gd name="T23" fmla="*/ 15 h 212"/>
                <a:gd name="T24" fmla="*/ 50 w 87"/>
                <a:gd name="T25" fmla="*/ 0 h 212"/>
                <a:gd name="T26" fmla="*/ 50 w 87"/>
                <a:gd name="T27" fmla="*/ 58 h 212"/>
                <a:gd name="T28" fmla="*/ 87 w 87"/>
                <a:gd name="T29" fmla="*/ 58 h 212"/>
                <a:gd name="T30" fmla="*/ 87 w 87"/>
                <a:gd name="T31" fmla="*/ 85 h 212"/>
                <a:gd name="T32" fmla="*/ 50 w 87"/>
                <a:gd name="T33" fmla="*/ 85 h 212"/>
                <a:gd name="T34" fmla="*/ 50 w 87"/>
                <a:gd name="T35" fmla="*/ 167 h 212"/>
                <a:gd name="T36" fmla="*/ 51 w 87"/>
                <a:gd name="T37" fmla="*/ 176 h 212"/>
                <a:gd name="T38" fmla="*/ 54 w 87"/>
                <a:gd name="T39" fmla="*/ 181 h 212"/>
                <a:gd name="T40" fmla="*/ 59 w 87"/>
                <a:gd name="T41" fmla="*/ 184 h 212"/>
                <a:gd name="T42" fmla="*/ 66 w 87"/>
                <a:gd name="T43" fmla="*/ 185 h 212"/>
                <a:gd name="T44" fmla="*/ 77 w 87"/>
                <a:gd name="T45" fmla="*/ 183 h 212"/>
                <a:gd name="T46" fmla="*/ 87 w 87"/>
                <a:gd name="T47" fmla="*/ 179 h 212"/>
                <a:gd name="T48" fmla="*/ 84 w 87"/>
                <a:gd name="T49" fmla="*/ 20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 h="212">
                  <a:moveTo>
                    <a:pt x="84" y="205"/>
                  </a:moveTo>
                  <a:cubicBezTo>
                    <a:pt x="80" y="207"/>
                    <a:pt x="76" y="209"/>
                    <a:pt x="71" y="210"/>
                  </a:cubicBezTo>
                  <a:cubicBezTo>
                    <a:pt x="66" y="211"/>
                    <a:pt x="61" y="212"/>
                    <a:pt x="55" y="212"/>
                  </a:cubicBezTo>
                  <a:cubicBezTo>
                    <a:pt x="50" y="212"/>
                    <a:pt x="45" y="211"/>
                    <a:pt x="41" y="210"/>
                  </a:cubicBezTo>
                  <a:cubicBezTo>
                    <a:pt x="38" y="208"/>
                    <a:pt x="34" y="206"/>
                    <a:pt x="31" y="203"/>
                  </a:cubicBezTo>
                  <a:cubicBezTo>
                    <a:pt x="28" y="200"/>
                    <a:pt x="25" y="196"/>
                    <a:pt x="24" y="190"/>
                  </a:cubicBezTo>
                  <a:cubicBezTo>
                    <a:pt x="22" y="185"/>
                    <a:pt x="21" y="179"/>
                    <a:pt x="21" y="172"/>
                  </a:cubicBezTo>
                  <a:cubicBezTo>
                    <a:pt x="21" y="85"/>
                    <a:pt x="21" y="85"/>
                    <a:pt x="21" y="85"/>
                  </a:cubicBezTo>
                  <a:cubicBezTo>
                    <a:pt x="0" y="85"/>
                    <a:pt x="0" y="85"/>
                    <a:pt x="0" y="85"/>
                  </a:cubicBezTo>
                  <a:cubicBezTo>
                    <a:pt x="0" y="58"/>
                    <a:pt x="0" y="58"/>
                    <a:pt x="0" y="58"/>
                  </a:cubicBezTo>
                  <a:cubicBezTo>
                    <a:pt x="21" y="58"/>
                    <a:pt x="21" y="58"/>
                    <a:pt x="21" y="58"/>
                  </a:cubicBezTo>
                  <a:cubicBezTo>
                    <a:pt x="21" y="15"/>
                    <a:pt x="21" y="15"/>
                    <a:pt x="21" y="15"/>
                  </a:cubicBezTo>
                  <a:cubicBezTo>
                    <a:pt x="50" y="0"/>
                    <a:pt x="50" y="0"/>
                    <a:pt x="50" y="0"/>
                  </a:cubicBezTo>
                  <a:cubicBezTo>
                    <a:pt x="50" y="58"/>
                    <a:pt x="50" y="58"/>
                    <a:pt x="50" y="58"/>
                  </a:cubicBezTo>
                  <a:cubicBezTo>
                    <a:pt x="87" y="58"/>
                    <a:pt x="87" y="58"/>
                    <a:pt x="87" y="58"/>
                  </a:cubicBezTo>
                  <a:cubicBezTo>
                    <a:pt x="87" y="85"/>
                    <a:pt x="87" y="85"/>
                    <a:pt x="87" y="85"/>
                  </a:cubicBezTo>
                  <a:cubicBezTo>
                    <a:pt x="50" y="85"/>
                    <a:pt x="50" y="85"/>
                    <a:pt x="50" y="85"/>
                  </a:cubicBezTo>
                  <a:cubicBezTo>
                    <a:pt x="50" y="167"/>
                    <a:pt x="50" y="167"/>
                    <a:pt x="50" y="167"/>
                  </a:cubicBezTo>
                  <a:cubicBezTo>
                    <a:pt x="50" y="170"/>
                    <a:pt x="50" y="173"/>
                    <a:pt x="51" y="176"/>
                  </a:cubicBezTo>
                  <a:cubicBezTo>
                    <a:pt x="52" y="178"/>
                    <a:pt x="52" y="180"/>
                    <a:pt x="54" y="181"/>
                  </a:cubicBezTo>
                  <a:cubicBezTo>
                    <a:pt x="55" y="182"/>
                    <a:pt x="57" y="183"/>
                    <a:pt x="59" y="184"/>
                  </a:cubicBezTo>
                  <a:cubicBezTo>
                    <a:pt x="61" y="185"/>
                    <a:pt x="63" y="185"/>
                    <a:pt x="66" y="185"/>
                  </a:cubicBezTo>
                  <a:cubicBezTo>
                    <a:pt x="69" y="185"/>
                    <a:pt x="73" y="184"/>
                    <a:pt x="77" y="183"/>
                  </a:cubicBezTo>
                  <a:cubicBezTo>
                    <a:pt x="81" y="182"/>
                    <a:pt x="85" y="180"/>
                    <a:pt x="87" y="179"/>
                  </a:cubicBezTo>
                  <a:lnTo>
                    <a:pt x="84" y="205"/>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24" name="Freeform 119">
              <a:extLst>
                <a:ext uri="{FF2B5EF4-FFF2-40B4-BE49-F238E27FC236}">
                  <a16:creationId xmlns:a16="http://schemas.microsoft.com/office/drawing/2014/main" id="{3901A9A3-4170-4947-A531-DCC49C48A627}"/>
                </a:ext>
              </a:extLst>
            </p:cNvPr>
            <p:cNvSpPr>
              <a:spLocks/>
            </p:cNvSpPr>
            <p:nvPr userDrawn="1"/>
          </p:nvSpPr>
          <p:spPr bwMode="auto">
            <a:xfrm>
              <a:off x="6818313" y="3727451"/>
              <a:ext cx="452438" cy="784225"/>
            </a:xfrm>
            <a:custGeom>
              <a:avLst/>
              <a:gdLst>
                <a:gd name="T0" fmla="*/ 91 w 121"/>
                <a:gd name="T1" fmla="*/ 209 h 209"/>
                <a:gd name="T2" fmla="*/ 91 w 121"/>
                <a:gd name="T3" fmla="*/ 124 h 209"/>
                <a:gd name="T4" fmla="*/ 84 w 121"/>
                <a:gd name="T5" fmla="*/ 93 h 209"/>
                <a:gd name="T6" fmla="*/ 60 w 121"/>
                <a:gd name="T7" fmla="*/ 82 h 209"/>
                <a:gd name="T8" fmla="*/ 47 w 121"/>
                <a:gd name="T9" fmla="*/ 85 h 209"/>
                <a:gd name="T10" fmla="*/ 38 w 121"/>
                <a:gd name="T11" fmla="*/ 92 h 209"/>
                <a:gd name="T12" fmla="*/ 31 w 121"/>
                <a:gd name="T13" fmla="*/ 104 h 209"/>
                <a:gd name="T14" fmla="*/ 29 w 121"/>
                <a:gd name="T15" fmla="*/ 121 h 209"/>
                <a:gd name="T16" fmla="*/ 29 w 121"/>
                <a:gd name="T17" fmla="*/ 209 h 209"/>
                <a:gd name="T18" fmla="*/ 0 w 121"/>
                <a:gd name="T19" fmla="*/ 209 h 209"/>
                <a:gd name="T20" fmla="*/ 0 w 121"/>
                <a:gd name="T21" fmla="*/ 15 h 209"/>
                <a:gd name="T22" fmla="*/ 29 w 121"/>
                <a:gd name="T23" fmla="*/ 0 h 209"/>
                <a:gd name="T24" fmla="*/ 29 w 121"/>
                <a:gd name="T25" fmla="*/ 73 h 209"/>
                <a:gd name="T26" fmla="*/ 36 w 121"/>
                <a:gd name="T27" fmla="*/ 65 h 209"/>
                <a:gd name="T28" fmla="*/ 45 w 121"/>
                <a:gd name="T29" fmla="*/ 60 h 209"/>
                <a:gd name="T30" fmla="*/ 55 w 121"/>
                <a:gd name="T31" fmla="*/ 56 h 209"/>
                <a:gd name="T32" fmla="*/ 67 w 121"/>
                <a:gd name="T33" fmla="*/ 55 h 209"/>
                <a:gd name="T34" fmla="*/ 90 w 121"/>
                <a:gd name="T35" fmla="*/ 59 h 209"/>
                <a:gd name="T36" fmla="*/ 107 w 121"/>
                <a:gd name="T37" fmla="*/ 72 h 209"/>
                <a:gd name="T38" fmla="*/ 117 w 121"/>
                <a:gd name="T39" fmla="*/ 94 h 209"/>
                <a:gd name="T40" fmla="*/ 121 w 121"/>
                <a:gd name="T41" fmla="*/ 122 h 209"/>
                <a:gd name="T42" fmla="*/ 121 w 121"/>
                <a:gd name="T43" fmla="*/ 209 h 209"/>
                <a:gd name="T44" fmla="*/ 91 w 121"/>
                <a:gd name="T45"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1" h="209">
                  <a:moveTo>
                    <a:pt x="91" y="209"/>
                  </a:moveTo>
                  <a:cubicBezTo>
                    <a:pt x="91" y="124"/>
                    <a:pt x="91" y="124"/>
                    <a:pt x="91" y="124"/>
                  </a:cubicBezTo>
                  <a:cubicBezTo>
                    <a:pt x="91" y="110"/>
                    <a:pt x="89" y="99"/>
                    <a:pt x="84" y="93"/>
                  </a:cubicBezTo>
                  <a:cubicBezTo>
                    <a:pt x="79" y="86"/>
                    <a:pt x="71" y="82"/>
                    <a:pt x="60" y="82"/>
                  </a:cubicBezTo>
                  <a:cubicBezTo>
                    <a:pt x="56" y="82"/>
                    <a:pt x="51" y="83"/>
                    <a:pt x="47" y="85"/>
                  </a:cubicBezTo>
                  <a:cubicBezTo>
                    <a:pt x="44" y="86"/>
                    <a:pt x="40" y="89"/>
                    <a:pt x="38" y="92"/>
                  </a:cubicBezTo>
                  <a:cubicBezTo>
                    <a:pt x="35" y="95"/>
                    <a:pt x="33" y="99"/>
                    <a:pt x="31" y="104"/>
                  </a:cubicBezTo>
                  <a:cubicBezTo>
                    <a:pt x="30" y="109"/>
                    <a:pt x="29" y="114"/>
                    <a:pt x="29" y="121"/>
                  </a:cubicBezTo>
                  <a:cubicBezTo>
                    <a:pt x="29" y="209"/>
                    <a:pt x="29" y="209"/>
                    <a:pt x="29" y="209"/>
                  </a:cubicBezTo>
                  <a:cubicBezTo>
                    <a:pt x="0" y="209"/>
                    <a:pt x="0" y="209"/>
                    <a:pt x="0" y="209"/>
                  </a:cubicBezTo>
                  <a:cubicBezTo>
                    <a:pt x="0" y="15"/>
                    <a:pt x="0" y="15"/>
                    <a:pt x="0" y="15"/>
                  </a:cubicBezTo>
                  <a:cubicBezTo>
                    <a:pt x="29" y="0"/>
                    <a:pt x="29" y="0"/>
                    <a:pt x="29" y="0"/>
                  </a:cubicBezTo>
                  <a:cubicBezTo>
                    <a:pt x="29" y="73"/>
                    <a:pt x="29" y="73"/>
                    <a:pt x="29" y="73"/>
                  </a:cubicBezTo>
                  <a:cubicBezTo>
                    <a:pt x="31" y="70"/>
                    <a:pt x="33" y="67"/>
                    <a:pt x="36" y="65"/>
                  </a:cubicBezTo>
                  <a:cubicBezTo>
                    <a:pt x="39" y="63"/>
                    <a:pt x="42" y="61"/>
                    <a:pt x="45" y="60"/>
                  </a:cubicBezTo>
                  <a:cubicBezTo>
                    <a:pt x="48" y="58"/>
                    <a:pt x="52" y="57"/>
                    <a:pt x="55" y="56"/>
                  </a:cubicBezTo>
                  <a:cubicBezTo>
                    <a:pt x="59" y="55"/>
                    <a:pt x="63" y="55"/>
                    <a:pt x="67" y="55"/>
                  </a:cubicBezTo>
                  <a:cubicBezTo>
                    <a:pt x="76" y="55"/>
                    <a:pt x="84" y="56"/>
                    <a:pt x="90" y="59"/>
                  </a:cubicBezTo>
                  <a:cubicBezTo>
                    <a:pt x="97" y="62"/>
                    <a:pt x="103" y="67"/>
                    <a:pt x="107" y="72"/>
                  </a:cubicBezTo>
                  <a:cubicBezTo>
                    <a:pt x="112" y="78"/>
                    <a:pt x="115" y="85"/>
                    <a:pt x="117" y="94"/>
                  </a:cubicBezTo>
                  <a:cubicBezTo>
                    <a:pt x="119" y="102"/>
                    <a:pt x="121" y="112"/>
                    <a:pt x="121" y="122"/>
                  </a:cubicBezTo>
                  <a:cubicBezTo>
                    <a:pt x="121" y="209"/>
                    <a:pt x="121" y="209"/>
                    <a:pt x="121" y="209"/>
                  </a:cubicBezTo>
                  <a:lnTo>
                    <a:pt x="91" y="209"/>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37" name="Freeform 120">
              <a:extLst>
                <a:ext uri="{FF2B5EF4-FFF2-40B4-BE49-F238E27FC236}">
                  <a16:creationId xmlns:a16="http://schemas.microsoft.com/office/drawing/2014/main" id="{392675B7-2FAB-4097-BCB9-AE9398EE666E}"/>
                </a:ext>
              </a:extLst>
            </p:cNvPr>
            <p:cNvSpPr>
              <a:spLocks noEditPoints="1"/>
            </p:cNvSpPr>
            <p:nvPr userDrawn="1"/>
          </p:nvSpPr>
          <p:spPr bwMode="auto">
            <a:xfrm>
              <a:off x="7350126" y="3933826"/>
              <a:ext cx="485775" cy="588963"/>
            </a:xfrm>
            <a:custGeom>
              <a:avLst/>
              <a:gdLst>
                <a:gd name="T0" fmla="*/ 100 w 130"/>
                <a:gd name="T1" fmla="*/ 65 h 157"/>
                <a:gd name="T2" fmla="*/ 97 w 130"/>
                <a:gd name="T3" fmla="*/ 50 h 157"/>
                <a:gd name="T4" fmla="*/ 91 w 130"/>
                <a:gd name="T5" fmla="*/ 38 h 157"/>
                <a:gd name="T6" fmla="*/ 80 w 130"/>
                <a:gd name="T7" fmla="*/ 30 h 157"/>
                <a:gd name="T8" fmla="*/ 64 w 130"/>
                <a:gd name="T9" fmla="*/ 27 h 157"/>
                <a:gd name="T10" fmla="*/ 51 w 130"/>
                <a:gd name="T11" fmla="*/ 29 h 157"/>
                <a:gd name="T12" fmla="*/ 41 w 130"/>
                <a:gd name="T13" fmla="*/ 37 h 157"/>
                <a:gd name="T14" fmla="*/ 34 w 130"/>
                <a:gd name="T15" fmla="*/ 48 h 157"/>
                <a:gd name="T16" fmla="*/ 30 w 130"/>
                <a:gd name="T17" fmla="*/ 65 h 157"/>
                <a:gd name="T18" fmla="*/ 100 w 130"/>
                <a:gd name="T19" fmla="*/ 65 h 157"/>
                <a:gd name="T20" fmla="*/ 130 w 130"/>
                <a:gd name="T21" fmla="*/ 75 h 157"/>
                <a:gd name="T22" fmla="*/ 129 w 130"/>
                <a:gd name="T23" fmla="*/ 83 h 157"/>
                <a:gd name="T24" fmla="*/ 129 w 130"/>
                <a:gd name="T25" fmla="*/ 89 h 157"/>
                <a:gd name="T26" fmla="*/ 29 w 130"/>
                <a:gd name="T27" fmla="*/ 89 h 157"/>
                <a:gd name="T28" fmla="*/ 34 w 130"/>
                <a:gd name="T29" fmla="*/ 108 h 157"/>
                <a:gd name="T30" fmla="*/ 43 w 130"/>
                <a:gd name="T31" fmla="*/ 120 h 157"/>
                <a:gd name="T32" fmla="*/ 54 w 130"/>
                <a:gd name="T33" fmla="*/ 128 h 157"/>
                <a:gd name="T34" fmla="*/ 67 w 130"/>
                <a:gd name="T35" fmla="*/ 130 h 157"/>
                <a:gd name="T36" fmla="*/ 77 w 130"/>
                <a:gd name="T37" fmla="*/ 129 h 157"/>
                <a:gd name="T38" fmla="*/ 85 w 130"/>
                <a:gd name="T39" fmla="*/ 127 h 157"/>
                <a:gd name="T40" fmla="*/ 92 w 130"/>
                <a:gd name="T41" fmla="*/ 123 h 157"/>
                <a:gd name="T42" fmla="*/ 100 w 130"/>
                <a:gd name="T43" fmla="*/ 118 h 157"/>
                <a:gd name="T44" fmla="*/ 117 w 130"/>
                <a:gd name="T45" fmla="*/ 137 h 157"/>
                <a:gd name="T46" fmla="*/ 107 w 130"/>
                <a:gd name="T47" fmla="*/ 146 h 157"/>
                <a:gd name="T48" fmla="*/ 96 w 130"/>
                <a:gd name="T49" fmla="*/ 151 h 157"/>
                <a:gd name="T50" fmla="*/ 82 w 130"/>
                <a:gd name="T51" fmla="*/ 155 h 157"/>
                <a:gd name="T52" fmla="*/ 65 w 130"/>
                <a:gd name="T53" fmla="*/ 157 h 157"/>
                <a:gd name="T54" fmla="*/ 47 w 130"/>
                <a:gd name="T55" fmla="*/ 154 h 157"/>
                <a:gd name="T56" fmla="*/ 32 w 130"/>
                <a:gd name="T57" fmla="*/ 147 h 157"/>
                <a:gd name="T58" fmla="*/ 20 w 130"/>
                <a:gd name="T59" fmla="*/ 137 h 157"/>
                <a:gd name="T60" fmla="*/ 10 w 130"/>
                <a:gd name="T61" fmla="*/ 122 h 157"/>
                <a:gd name="T62" fmla="*/ 3 w 130"/>
                <a:gd name="T63" fmla="*/ 102 h 157"/>
                <a:gd name="T64" fmla="*/ 0 w 130"/>
                <a:gd name="T65" fmla="*/ 78 h 157"/>
                <a:gd name="T66" fmla="*/ 5 w 130"/>
                <a:gd name="T67" fmla="*/ 45 h 157"/>
                <a:gd name="T68" fmla="*/ 19 w 130"/>
                <a:gd name="T69" fmla="*/ 20 h 157"/>
                <a:gd name="T70" fmla="*/ 40 w 130"/>
                <a:gd name="T71" fmla="*/ 5 h 157"/>
                <a:gd name="T72" fmla="*/ 66 w 130"/>
                <a:gd name="T73" fmla="*/ 0 h 157"/>
                <a:gd name="T74" fmla="*/ 94 w 130"/>
                <a:gd name="T75" fmla="*/ 6 h 157"/>
                <a:gd name="T76" fmla="*/ 114 w 130"/>
                <a:gd name="T77" fmla="*/ 22 h 157"/>
                <a:gd name="T78" fmla="*/ 126 w 130"/>
                <a:gd name="T79" fmla="*/ 46 h 157"/>
                <a:gd name="T80" fmla="*/ 130 w 130"/>
                <a:gd name="T81" fmla="*/ 7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0" h="157">
                  <a:moveTo>
                    <a:pt x="100" y="65"/>
                  </a:moveTo>
                  <a:cubicBezTo>
                    <a:pt x="100" y="59"/>
                    <a:pt x="99" y="55"/>
                    <a:pt x="97" y="50"/>
                  </a:cubicBezTo>
                  <a:cubicBezTo>
                    <a:pt x="96" y="45"/>
                    <a:pt x="94" y="41"/>
                    <a:pt x="91" y="38"/>
                  </a:cubicBezTo>
                  <a:cubicBezTo>
                    <a:pt x="88" y="34"/>
                    <a:pt x="84" y="32"/>
                    <a:pt x="80" y="30"/>
                  </a:cubicBezTo>
                  <a:cubicBezTo>
                    <a:pt x="76" y="28"/>
                    <a:pt x="70" y="27"/>
                    <a:pt x="64" y="27"/>
                  </a:cubicBezTo>
                  <a:cubicBezTo>
                    <a:pt x="59" y="27"/>
                    <a:pt x="55" y="28"/>
                    <a:pt x="51" y="29"/>
                  </a:cubicBezTo>
                  <a:cubicBezTo>
                    <a:pt x="47" y="31"/>
                    <a:pt x="43" y="34"/>
                    <a:pt x="41" y="37"/>
                  </a:cubicBezTo>
                  <a:cubicBezTo>
                    <a:pt x="38" y="40"/>
                    <a:pt x="35" y="44"/>
                    <a:pt x="34" y="48"/>
                  </a:cubicBezTo>
                  <a:cubicBezTo>
                    <a:pt x="32" y="53"/>
                    <a:pt x="31" y="58"/>
                    <a:pt x="30" y="65"/>
                  </a:cubicBezTo>
                  <a:lnTo>
                    <a:pt x="100" y="65"/>
                  </a:lnTo>
                  <a:close/>
                  <a:moveTo>
                    <a:pt x="130" y="75"/>
                  </a:moveTo>
                  <a:cubicBezTo>
                    <a:pt x="130" y="78"/>
                    <a:pt x="130" y="81"/>
                    <a:pt x="129" y="83"/>
                  </a:cubicBezTo>
                  <a:cubicBezTo>
                    <a:pt x="129" y="85"/>
                    <a:pt x="129" y="87"/>
                    <a:pt x="129" y="89"/>
                  </a:cubicBezTo>
                  <a:cubicBezTo>
                    <a:pt x="29" y="89"/>
                    <a:pt x="29" y="89"/>
                    <a:pt x="29" y="89"/>
                  </a:cubicBezTo>
                  <a:cubicBezTo>
                    <a:pt x="30" y="96"/>
                    <a:pt x="32" y="102"/>
                    <a:pt x="34" y="108"/>
                  </a:cubicBezTo>
                  <a:cubicBezTo>
                    <a:pt x="36" y="113"/>
                    <a:pt x="39" y="117"/>
                    <a:pt x="43" y="120"/>
                  </a:cubicBezTo>
                  <a:cubicBezTo>
                    <a:pt x="46" y="124"/>
                    <a:pt x="50" y="126"/>
                    <a:pt x="54" y="128"/>
                  </a:cubicBezTo>
                  <a:cubicBezTo>
                    <a:pt x="58" y="129"/>
                    <a:pt x="63" y="130"/>
                    <a:pt x="67" y="130"/>
                  </a:cubicBezTo>
                  <a:cubicBezTo>
                    <a:pt x="71" y="130"/>
                    <a:pt x="74" y="130"/>
                    <a:pt x="77" y="129"/>
                  </a:cubicBezTo>
                  <a:cubicBezTo>
                    <a:pt x="79" y="129"/>
                    <a:pt x="82" y="128"/>
                    <a:pt x="85" y="127"/>
                  </a:cubicBezTo>
                  <a:cubicBezTo>
                    <a:pt x="88" y="126"/>
                    <a:pt x="90" y="124"/>
                    <a:pt x="92" y="123"/>
                  </a:cubicBezTo>
                  <a:cubicBezTo>
                    <a:pt x="94" y="122"/>
                    <a:pt x="97" y="120"/>
                    <a:pt x="100" y="118"/>
                  </a:cubicBezTo>
                  <a:cubicBezTo>
                    <a:pt x="117" y="137"/>
                    <a:pt x="117" y="137"/>
                    <a:pt x="117" y="137"/>
                  </a:cubicBezTo>
                  <a:cubicBezTo>
                    <a:pt x="114" y="140"/>
                    <a:pt x="110" y="143"/>
                    <a:pt x="107" y="146"/>
                  </a:cubicBezTo>
                  <a:cubicBezTo>
                    <a:pt x="103" y="148"/>
                    <a:pt x="100" y="150"/>
                    <a:pt x="96" y="151"/>
                  </a:cubicBezTo>
                  <a:cubicBezTo>
                    <a:pt x="92" y="153"/>
                    <a:pt x="87" y="154"/>
                    <a:pt x="82" y="155"/>
                  </a:cubicBezTo>
                  <a:cubicBezTo>
                    <a:pt x="77" y="156"/>
                    <a:pt x="72" y="157"/>
                    <a:pt x="65" y="157"/>
                  </a:cubicBezTo>
                  <a:cubicBezTo>
                    <a:pt x="59" y="157"/>
                    <a:pt x="53" y="156"/>
                    <a:pt x="47" y="154"/>
                  </a:cubicBezTo>
                  <a:cubicBezTo>
                    <a:pt x="41" y="152"/>
                    <a:pt x="36" y="150"/>
                    <a:pt x="32" y="147"/>
                  </a:cubicBezTo>
                  <a:cubicBezTo>
                    <a:pt x="28" y="144"/>
                    <a:pt x="24" y="141"/>
                    <a:pt x="20" y="137"/>
                  </a:cubicBezTo>
                  <a:cubicBezTo>
                    <a:pt x="17" y="133"/>
                    <a:pt x="13" y="128"/>
                    <a:pt x="10" y="122"/>
                  </a:cubicBezTo>
                  <a:cubicBezTo>
                    <a:pt x="7" y="116"/>
                    <a:pt x="5" y="110"/>
                    <a:pt x="3" y="102"/>
                  </a:cubicBezTo>
                  <a:cubicBezTo>
                    <a:pt x="1" y="95"/>
                    <a:pt x="0" y="87"/>
                    <a:pt x="0" y="78"/>
                  </a:cubicBezTo>
                  <a:cubicBezTo>
                    <a:pt x="0" y="66"/>
                    <a:pt x="2" y="55"/>
                    <a:pt x="5" y="45"/>
                  </a:cubicBezTo>
                  <a:cubicBezTo>
                    <a:pt x="8" y="35"/>
                    <a:pt x="13" y="27"/>
                    <a:pt x="19" y="20"/>
                  </a:cubicBezTo>
                  <a:cubicBezTo>
                    <a:pt x="25" y="14"/>
                    <a:pt x="31" y="9"/>
                    <a:pt x="40" y="5"/>
                  </a:cubicBezTo>
                  <a:cubicBezTo>
                    <a:pt x="48" y="2"/>
                    <a:pt x="57" y="0"/>
                    <a:pt x="66" y="0"/>
                  </a:cubicBezTo>
                  <a:cubicBezTo>
                    <a:pt x="77" y="0"/>
                    <a:pt x="86" y="2"/>
                    <a:pt x="94" y="6"/>
                  </a:cubicBezTo>
                  <a:cubicBezTo>
                    <a:pt x="102" y="10"/>
                    <a:pt x="109" y="16"/>
                    <a:pt x="114" y="22"/>
                  </a:cubicBezTo>
                  <a:cubicBezTo>
                    <a:pt x="119" y="29"/>
                    <a:pt x="123" y="37"/>
                    <a:pt x="126" y="46"/>
                  </a:cubicBezTo>
                  <a:cubicBezTo>
                    <a:pt x="128" y="56"/>
                    <a:pt x="130" y="65"/>
                    <a:pt x="130" y="75"/>
                  </a:cubicBezTo>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38" name="Freeform 121">
              <a:extLst>
                <a:ext uri="{FF2B5EF4-FFF2-40B4-BE49-F238E27FC236}">
                  <a16:creationId xmlns:a16="http://schemas.microsoft.com/office/drawing/2014/main" id="{12E2F172-F143-4692-B4D7-15077F32B972}"/>
                </a:ext>
              </a:extLst>
            </p:cNvPr>
            <p:cNvSpPr>
              <a:spLocks/>
            </p:cNvSpPr>
            <p:nvPr userDrawn="1"/>
          </p:nvSpPr>
          <p:spPr bwMode="auto">
            <a:xfrm>
              <a:off x="7918451" y="3933826"/>
              <a:ext cx="449263" cy="577850"/>
            </a:xfrm>
            <a:custGeom>
              <a:avLst/>
              <a:gdLst>
                <a:gd name="T0" fmla="*/ 91 w 120"/>
                <a:gd name="T1" fmla="*/ 154 h 154"/>
                <a:gd name="T2" fmla="*/ 91 w 120"/>
                <a:gd name="T3" fmla="*/ 69 h 154"/>
                <a:gd name="T4" fmla="*/ 84 w 120"/>
                <a:gd name="T5" fmla="*/ 38 h 154"/>
                <a:gd name="T6" fmla="*/ 60 w 120"/>
                <a:gd name="T7" fmla="*/ 27 h 154"/>
                <a:gd name="T8" fmla="*/ 47 w 120"/>
                <a:gd name="T9" fmla="*/ 30 h 154"/>
                <a:gd name="T10" fmla="*/ 37 w 120"/>
                <a:gd name="T11" fmla="*/ 38 h 154"/>
                <a:gd name="T12" fmla="*/ 31 w 120"/>
                <a:gd name="T13" fmla="*/ 50 h 154"/>
                <a:gd name="T14" fmla="*/ 29 w 120"/>
                <a:gd name="T15" fmla="*/ 66 h 154"/>
                <a:gd name="T16" fmla="*/ 29 w 120"/>
                <a:gd name="T17" fmla="*/ 154 h 154"/>
                <a:gd name="T18" fmla="*/ 0 w 120"/>
                <a:gd name="T19" fmla="*/ 154 h 154"/>
                <a:gd name="T20" fmla="*/ 0 w 120"/>
                <a:gd name="T21" fmla="*/ 3 h 154"/>
                <a:gd name="T22" fmla="*/ 29 w 120"/>
                <a:gd name="T23" fmla="*/ 3 h 154"/>
                <a:gd name="T24" fmla="*/ 29 w 120"/>
                <a:gd name="T25" fmla="*/ 18 h 154"/>
                <a:gd name="T26" fmla="*/ 36 w 120"/>
                <a:gd name="T27" fmla="*/ 10 h 154"/>
                <a:gd name="T28" fmla="*/ 45 w 120"/>
                <a:gd name="T29" fmla="*/ 5 h 154"/>
                <a:gd name="T30" fmla="*/ 55 w 120"/>
                <a:gd name="T31" fmla="*/ 1 h 154"/>
                <a:gd name="T32" fmla="*/ 67 w 120"/>
                <a:gd name="T33" fmla="*/ 0 h 154"/>
                <a:gd name="T34" fmla="*/ 90 w 120"/>
                <a:gd name="T35" fmla="*/ 4 h 154"/>
                <a:gd name="T36" fmla="*/ 107 w 120"/>
                <a:gd name="T37" fmla="*/ 17 h 154"/>
                <a:gd name="T38" fmla="*/ 117 w 120"/>
                <a:gd name="T39" fmla="*/ 38 h 154"/>
                <a:gd name="T40" fmla="*/ 120 w 120"/>
                <a:gd name="T41" fmla="*/ 67 h 154"/>
                <a:gd name="T42" fmla="*/ 120 w 120"/>
                <a:gd name="T43" fmla="*/ 154 h 154"/>
                <a:gd name="T44" fmla="*/ 91 w 120"/>
                <a:gd name="T45"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54">
                  <a:moveTo>
                    <a:pt x="91" y="154"/>
                  </a:moveTo>
                  <a:cubicBezTo>
                    <a:pt x="91" y="69"/>
                    <a:pt x="91" y="69"/>
                    <a:pt x="91" y="69"/>
                  </a:cubicBezTo>
                  <a:cubicBezTo>
                    <a:pt x="91" y="55"/>
                    <a:pt x="88" y="45"/>
                    <a:pt x="84" y="38"/>
                  </a:cubicBezTo>
                  <a:cubicBezTo>
                    <a:pt x="79" y="31"/>
                    <a:pt x="71" y="27"/>
                    <a:pt x="60" y="27"/>
                  </a:cubicBezTo>
                  <a:cubicBezTo>
                    <a:pt x="55" y="27"/>
                    <a:pt x="51" y="28"/>
                    <a:pt x="47" y="30"/>
                  </a:cubicBezTo>
                  <a:cubicBezTo>
                    <a:pt x="43" y="32"/>
                    <a:pt x="40" y="34"/>
                    <a:pt x="37" y="38"/>
                  </a:cubicBezTo>
                  <a:cubicBezTo>
                    <a:pt x="34" y="41"/>
                    <a:pt x="32" y="45"/>
                    <a:pt x="31" y="50"/>
                  </a:cubicBezTo>
                  <a:cubicBezTo>
                    <a:pt x="30" y="55"/>
                    <a:pt x="29" y="60"/>
                    <a:pt x="29" y="66"/>
                  </a:cubicBezTo>
                  <a:cubicBezTo>
                    <a:pt x="29" y="154"/>
                    <a:pt x="29" y="154"/>
                    <a:pt x="29" y="154"/>
                  </a:cubicBezTo>
                  <a:cubicBezTo>
                    <a:pt x="0" y="154"/>
                    <a:pt x="0" y="154"/>
                    <a:pt x="0" y="154"/>
                  </a:cubicBezTo>
                  <a:cubicBezTo>
                    <a:pt x="0" y="3"/>
                    <a:pt x="0" y="3"/>
                    <a:pt x="0" y="3"/>
                  </a:cubicBezTo>
                  <a:cubicBezTo>
                    <a:pt x="29" y="3"/>
                    <a:pt x="29" y="3"/>
                    <a:pt x="29" y="3"/>
                  </a:cubicBezTo>
                  <a:cubicBezTo>
                    <a:pt x="29" y="18"/>
                    <a:pt x="29" y="18"/>
                    <a:pt x="29" y="18"/>
                  </a:cubicBezTo>
                  <a:cubicBezTo>
                    <a:pt x="31" y="15"/>
                    <a:pt x="33" y="12"/>
                    <a:pt x="36" y="10"/>
                  </a:cubicBezTo>
                  <a:cubicBezTo>
                    <a:pt x="39" y="8"/>
                    <a:pt x="42" y="6"/>
                    <a:pt x="45" y="5"/>
                  </a:cubicBezTo>
                  <a:cubicBezTo>
                    <a:pt x="48" y="3"/>
                    <a:pt x="52" y="2"/>
                    <a:pt x="55" y="1"/>
                  </a:cubicBezTo>
                  <a:cubicBezTo>
                    <a:pt x="59" y="0"/>
                    <a:pt x="63" y="0"/>
                    <a:pt x="67" y="0"/>
                  </a:cubicBezTo>
                  <a:cubicBezTo>
                    <a:pt x="76" y="0"/>
                    <a:pt x="84" y="2"/>
                    <a:pt x="90" y="4"/>
                  </a:cubicBezTo>
                  <a:cubicBezTo>
                    <a:pt x="97" y="7"/>
                    <a:pt x="103" y="12"/>
                    <a:pt x="107" y="17"/>
                  </a:cubicBezTo>
                  <a:cubicBezTo>
                    <a:pt x="112" y="23"/>
                    <a:pt x="115" y="30"/>
                    <a:pt x="117" y="38"/>
                  </a:cubicBezTo>
                  <a:cubicBezTo>
                    <a:pt x="119" y="46"/>
                    <a:pt x="120" y="56"/>
                    <a:pt x="120" y="67"/>
                  </a:cubicBezTo>
                  <a:cubicBezTo>
                    <a:pt x="120" y="154"/>
                    <a:pt x="120" y="154"/>
                    <a:pt x="120" y="154"/>
                  </a:cubicBezTo>
                  <a:lnTo>
                    <a:pt x="91" y="154"/>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39" name="Freeform 122">
              <a:extLst>
                <a:ext uri="{FF2B5EF4-FFF2-40B4-BE49-F238E27FC236}">
                  <a16:creationId xmlns:a16="http://schemas.microsoft.com/office/drawing/2014/main" id="{9C1166C9-6345-4EA6-96F2-A65CC247626C}"/>
                </a:ext>
              </a:extLst>
            </p:cNvPr>
            <p:cNvSpPr>
              <a:spLocks noEditPoints="1"/>
            </p:cNvSpPr>
            <p:nvPr userDrawn="1"/>
          </p:nvSpPr>
          <p:spPr bwMode="auto">
            <a:xfrm>
              <a:off x="8450263" y="3933826"/>
              <a:ext cx="501650" cy="588963"/>
            </a:xfrm>
            <a:custGeom>
              <a:avLst/>
              <a:gdLst>
                <a:gd name="T0" fmla="*/ 105 w 134"/>
                <a:gd name="T1" fmla="*/ 78 h 157"/>
                <a:gd name="T2" fmla="*/ 102 w 134"/>
                <a:gd name="T3" fmla="*/ 58 h 157"/>
                <a:gd name="T4" fmla="*/ 94 w 134"/>
                <a:gd name="T5" fmla="*/ 42 h 157"/>
                <a:gd name="T6" fmla="*/ 82 w 134"/>
                <a:gd name="T7" fmla="*/ 32 h 157"/>
                <a:gd name="T8" fmla="*/ 66 w 134"/>
                <a:gd name="T9" fmla="*/ 28 h 157"/>
                <a:gd name="T10" fmla="*/ 51 w 134"/>
                <a:gd name="T11" fmla="*/ 32 h 157"/>
                <a:gd name="T12" fmla="*/ 40 w 134"/>
                <a:gd name="T13" fmla="*/ 42 h 157"/>
                <a:gd name="T14" fmla="*/ 33 w 134"/>
                <a:gd name="T15" fmla="*/ 57 h 157"/>
                <a:gd name="T16" fmla="*/ 30 w 134"/>
                <a:gd name="T17" fmla="*/ 78 h 157"/>
                <a:gd name="T18" fmla="*/ 33 w 134"/>
                <a:gd name="T19" fmla="*/ 100 h 157"/>
                <a:gd name="T20" fmla="*/ 41 w 134"/>
                <a:gd name="T21" fmla="*/ 116 h 157"/>
                <a:gd name="T22" fmla="*/ 52 w 134"/>
                <a:gd name="T23" fmla="*/ 125 h 157"/>
                <a:gd name="T24" fmla="*/ 68 w 134"/>
                <a:gd name="T25" fmla="*/ 129 h 157"/>
                <a:gd name="T26" fmla="*/ 83 w 134"/>
                <a:gd name="T27" fmla="*/ 125 h 157"/>
                <a:gd name="T28" fmla="*/ 95 w 134"/>
                <a:gd name="T29" fmla="*/ 114 h 157"/>
                <a:gd name="T30" fmla="*/ 102 w 134"/>
                <a:gd name="T31" fmla="*/ 98 h 157"/>
                <a:gd name="T32" fmla="*/ 105 w 134"/>
                <a:gd name="T33" fmla="*/ 78 h 157"/>
                <a:gd name="T34" fmla="*/ 134 w 134"/>
                <a:gd name="T35" fmla="*/ 78 h 157"/>
                <a:gd name="T36" fmla="*/ 129 w 134"/>
                <a:gd name="T37" fmla="*/ 111 h 157"/>
                <a:gd name="T38" fmla="*/ 115 w 134"/>
                <a:gd name="T39" fmla="*/ 136 h 157"/>
                <a:gd name="T40" fmla="*/ 93 w 134"/>
                <a:gd name="T41" fmla="*/ 151 h 157"/>
                <a:gd name="T42" fmla="*/ 67 w 134"/>
                <a:gd name="T43" fmla="*/ 157 h 157"/>
                <a:gd name="T44" fmla="*/ 40 w 134"/>
                <a:gd name="T45" fmla="*/ 151 h 157"/>
                <a:gd name="T46" fmla="*/ 19 w 134"/>
                <a:gd name="T47" fmla="*/ 135 h 157"/>
                <a:gd name="T48" fmla="*/ 5 w 134"/>
                <a:gd name="T49" fmla="*/ 111 h 157"/>
                <a:gd name="T50" fmla="*/ 0 w 134"/>
                <a:gd name="T51" fmla="*/ 78 h 157"/>
                <a:gd name="T52" fmla="*/ 6 w 134"/>
                <a:gd name="T53" fmla="*/ 45 h 157"/>
                <a:gd name="T54" fmla="*/ 20 w 134"/>
                <a:gd name="T55" fmla="*/ 21 h 157"/>
                <a:gd name="T56" fmla="*/ 41 w 134"/>
                <a:gd name="T57" fmla="*/ 5 h 157"/>
                <a:gd name="T58" fmla="*/ 67 w 134"/>
                <a:gd name="T59" fmla="*/ 0 h 157"/>
                <a:gd name="T60" fmla="*/ 94 w 134"/>
                <a:gd name="T61" fmla="*/ 6 h 157"/>
                <a:gd name="T62" fmla="*/ 115 w 134"/>
                <a:gd name="T63" fmla="*/ 21 h 157"/>
                <a:gd name="T64" fmla="*/ 129 w 134"/>
                <a:gd name="T65" fmla="*/ 46 h 157"/>
                <a:gd name="T66" fmla="*/ 134 w 134"/>
                <a:gd name="T67" fmla="*/ 78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4" h="157">
                  <a:moveTo>
                    <a:pt x="105" y="78"/>
                  </a:moveTo>
                  <a:cubicBezTo>
                    <a:pt x="105" y="71"/>
                    <a:pt x="104" y="64"/>
                    <a:pt x="102" y="58"/>
                  </a:cubicBezTo>
                  <a:cubicBezTo>
                    <a:pt x="100" y="52"/>
                    <a:pt x="98" y="46"/>
                    <a:pt x="94" y="42"/>
                  </a:cubicBezTo>
                  <a:cubicBezTo>
                    <a:pt x="91" y="37"/>
                    <a:pt x="87" y="34"/>
                    <a:pt x="82" y="32"/>
                  </a:cubicBezTo>
                  <a:cubicBezTo>
                    <a:pt x="78" y="29"/>
                    <a:pt x="72" y="28"/>
                    <a:pt x="66" y="28"/>
                  </a:cubicBezTo>
                  <a:cubicBezTo>
                    <a:pt x="61" y="28"/>
                    <a:pt x="56" y="29"/>
                    <a:pt x="51" y="32"/>
                  </a:cubicBezTo>
                  <a:cubicBezTo>
                    <a:pt x="47" y="34"/>
                    <a:pt x="43" y="37"/>
                    <a:pt x="40" y="42"/>
                  </a:cubicBezTo>
                  <a:cubicBezTo>
                    <a:pt x="37" y="46"/>
                    <a:pt x="34" y="51"/>
                    <a:pt x="33" y="57"/>
                  </a:cubicBezTo>
                  <a:cubicBezTo>
                    <a:pt x="31" y="63"/>
                    <a:pt x="30" y="70"/>
                    <a:pt x="30" y="78"/>
                  </a:cubicBezTo>
                  <a:cubicBezTo>
                    <a:pt x="30" y="86"/>
                    <a:pt x="31" y="93"/>
                    <a:pt x="33" y="100"/>
                  </a:cubicBezTo>
                  <a:cubicBezTo>
                    <a:pt x="35" y="106"/>
                    <a:pt x="37" y="111"/>
                    <a:pt x="41" y="116"/>
                  </a:cubicBezTo>
                  <a:cubicBezTo>
                    <a:pt x="44" y="120"/>
                    <a:pt x="48" y="123"/>
                    <a:pt x="52" y="125"/>
                  </a:cubicBezTo>
                  <a:cubicBezTo>
                    <a:pt x="57" y="128"/>
                    <a:pt x="62" y="129"/>
                    <a:pt x="68" y="129"/>
                  </a:cubicBezTo>
                  <a:cubicBezTo>
                    <a:pt x="73" y="129"/>
                    <a:pt x="78" y="127"/>
                    <a:pt x="83" y="125"/>
                  </a:cubicBezTo>
                  <a:cubicBezTo>
                    <a:pt x="87" y="122"/>
                    <a:pt x="91" y="118"/>
                    <a:pt x="95" y="114"/>
                  </a:cubicBezTo>
                  <a:cubicBezTo>
                    <a:pt x="98" y="109"/>
                    <a:pt x="100" y="104"/>
                    <a:pt x="102" y="98"/>
                  </a:cubicBezTo>
                  <a:cubicBezTo>
                    <a:pt x="104" y="92"/>
                    <a:pt x="105" y="85"/>
                    <a:pt x="105" y="78"/>
                  </a:cubicBezTo>
                  <a:moveTo>
                    <a:pt x="134" y="78"/>
                  </a:moveTo>
                  <a:cubicBezTo>
                    <a:pt x="134" y="90"/>
                    <a:pt x="133" y="101"/>
                    <a:pt x="129" y="111"/>
                  </a:cubicBezTo>
                  <a:cubicBezTo>
                    <a:pt x="126" y="121"/>
                    <a:pt x="121" y="129"/>
                    <a:pt x="115" y="136"/>
                  </a:cubicBezTo>
                  <a:cubicBezTo>
                    <a:pt x="109" y="143"/>
                    <a:pt x="102" y="148"/>
                    <a:pt x="93" y="151"/>
                  </a:cubicBezTo>
                  <a:cubicBezTo>
                    <a:pt x="85" y="155"/>
                    <a:pt x="76" y="157"/>
                    <a:pt x="67" y="157"/>
                  </a:cubicBezTo>
                  <a:cubicBezTo>
                    <a:pt x="57" y="157"/>
                    <a:pt x="48" y="155"/>
                    <a:pt x="40" y="151"/>
                  </a:cubicBezTo>
                  <a:cubicBezTo>
                    <a:pt x="32" y="147"/>
                    <a:pt x="25" y="142"/>
                    <a:pt x="19" y="135"/>
                  </a:cubicBezTo>
                  <a:cubicBezTo>
                    <a:pt x="13" y="128"/>
                    <a:pt x="9" y="120"/>
                    <a:pt x="5" y="111"/>
                  </a:cubicBezTo>
                  <a:cubicBezTo>
                    <a:pt x="2" y="101"/>
                    <a:pt x="0" y="90"/>
                    <a:pt x="0" y="78"/>
                  </a:cubicBezTo>
                  <a:cubicBezTo>
                    <a:pt x="0" y="66"/>
                    <a:pt x="2" y="55"/>
                    <a:pt x="6" y="45"/>
                  </a:cubicBezTo>
                  <a:cubicBezTo>
                    <a:pt x="9" y="36"/>
                    <a:pt x="14" y="28"/>
                    <a:pt x="20" y="21"/>
                  </a:cubicBezTo>
                  <a:cubicBezTo>
                    <a:pt x="26" y="14"/>
                    <a:pt x="33" y="9"/>
                    <a:pt x="41" y="5"/>
                  </a:cubicBezTo>
                  <a:cubicBezTo>
                    <a:pt x="49" y="2"/>
                    <a:pt x="58" y="0"/>
                    <a:pt x="67" y="0"/>
                  </a:cubicBezTo>
                  <a:cubicBezTo>
                    <a:pt x="77" y="0"/>
                    <a:pt x="86" y="2"/>
                    <a:pt x="94" y="6"/>
                  </a:cubicBezTo>
                  <a:cubicBezTo>
                    <a:pt x="102" y="9"/>
                    <a:pt x="109" y="14"/>
                    <a:pt x="115" y="21"/>
                  </a:cubicBezTo>
                  <a:cubicBezTo>
                    <a:pt x="121" y="28"/>
                    <a:pt x="126" y="36"/>
                    <a:pt x="129" y="46"/>
                  </a:cubicBezTo>
                  <a:cubicBezTo>
                    <a:pt x="133" y="55"/>
                    <a:pt x="134" y="66"/>
                    <a:pt x="134" y="78"/>
                  </a:cubicBezTo>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40" name="Freeform 123">
              <a:extLst>
                <a:ext uri="{FF2B5EF4-FFF2-40B4-BE49-F238E27FC236}">
                  <a16:creationId xmlns:a16="http://schemas.microsoft.com/office/drawing/2014/main" id="{F6D0CFF4-3F25-4B8F-ADCB-12637DACA36E}"/>
                </a:ext>
              </a:extLst>
            </p:cNvPr>
            <p:cNvSpPr>
              <a:spLocks/>
            </p:cNvSpPr>
            <p:nvPr userDrawn="1"/>
          </p:nvSpPr>
          <p:spPr bwMode="auto">
            <a:xfrm>
              <a:off x="9034463" y="3933826"/>
              <a:ext cx="454025" cy="577850"/>
            </a:xfrm>
            <a:custGeom>
              <a:avLst/>
              <a:gdLst>
                <a:gd name="T0" fmla="*/ 92 w 121"/>
                <a:gd name="T1" fmla="*/ 154 h 154"/>
                <a:gd name="T2" fmla="*/ 92 w 121"/>
                <a:gd name="T3" fmla="*/ 69 h 154"/>
                <a:gd name="T4" fmla="*/ 84 w 121"/>
                <a:gd name="T5" fmla="*/ 38 h 154"/>
                <a:gd name="T6" fmla="*/ 61 w 121"/>
                <a:gd name="T7" fmla="*/ 27 h 154"/>
                <a:gd name="T8" fmla="*/ 48 w 121"/>
                <a:gd name="T9" fmla="*/ 30 h 154"/>
                <a:gd name="T10" fmla="*/ 38 w 121"/>
                <a:gd name="T11" fmla="*/ 38 h 154"/>
                <a:gd name="T12" fmla="*/ 32 w 121"/>
                <a:gd name="T13" fmla="*/ 50 h 154"/>
                <a:gd name="T14" fmla="*/ 30 w 121"/>
                <a:gd name="T15" fmla="*/ 66 h 154"/>
                <a:gd name="T16" fmla="*/ 30 w 121"/>
                <a:gd name="T17" fmla="*/ 154 h 154"/>
                <a:gd name="T18" fmla="*/ 0 w 121"/>
                <a:gd name="T19" fmla="*/ 154 h 154"/>
                <a:gd name="T20" fmla="*/ 0 w 121"/>
                <a:gd name="T21" fmla="*/ 3 h 154"/>
                <a:gd name="T22" fmla="*/ 30 w 121"/>
                <a:gd name="T23" fmla="*/ 3 h 154"/>
                <a:gd name="T24" fmla="*/ 30 w 121"/>
                <a:gd name="T25" fmla="*/ 18 h 154"/>
                <a:gd name="T26" fmla="*/ 37 w 121"/>
                <a:gd name="T27" fmla="*/ 10 h 154"/>
                <a:gd name="T28" fmla="*/ 46 w 121"/>
                <a:gd name="T29" fmla="*/ 5 h 154"/>
                <a:gd name="T30" fmla="*/ 56 w 121"/>
                <a:gd name="T31" fmla="*/ 1 h 154"/>
                <a:gd name="T32" fmla="*/ 68 w 121"/>
                <a:gd name="T33" fmla="*/ 0 h 154"/>
                <a:gd name="T34" fmla="*/ 91 w 121"/>
                <a:gd name="T35" fmla="*/ 4 h 154"/>
                <a:gd name="T36" fmla="*/ 108 w 121"/>
                <a:gd name="T37" fmla="*/ 17 h 154"/>
                <a:gd name="T38" fmla="*/ 118 w 121"/>
                <a:gd name="T39" fmla="*/ 38 h 154"/>
                <a:gd name="T40" fmla="*/ 121 w 121"/>
                <a:gd name="T41" fmla="*/ 67 h 154"/>
                <a:gd name="T42" fmla="*/ 121 w 121"/>
                <a:gd name="T43" fmla="*/ 154 h 154"/>
                <a:gd name="T44" fmla="*/ 92 w 121"/>
                <a:gd name="T45"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1" h="154">
                  <a:moveTo>
                    <a:pt x="92" y="154"/>
                  </a:moveTo>
                  <a:cubicBezTo>
                    <a:pt x="92" y="69"/>
                    <a:pt x="92" y="69"/>
                    <a:pt x="92" y="69"/>
                  </a:cubicBezTo>
                  <a:cubicBezTo>
                    <a:pt x="92" y="55"/>
                    <a:pt x="89" y="45"/>
                    <a:pt x="84" y="38"/>
                  </a:cubicBezTo>
                  <a:cubicBezTo>
                    <a:pt x="80" y="31"/>
                    <a:pt x="72" y="27"/>
                    <a:pt x="61" y="27"/>
                  </a:cubicBezTo>
                  <a:cubicBezTo>
                    <a:pt x="56" y="27"/>
                    <a:pt x="52" y="28"/>
                    <a:pt x="48" y="30"/>
                  </a:cubicBezTo>
                  <a:cubicBezTo>
                    <a:pt x="44" y="32"/>
                    <a:pt x="40" y="34"/>
                    <a:pt x="38" y="38"/>
                  </a:cubicBezTo>
                  <a:cubicBezTo>
                    <a:pt x="35" y="41"/>
                    <a:pt x="33" y="45"/>
                    <a:pt x="32" y="50"/>
                  </a:cubicBezTo>
                  <a:cubicBezTo>
                    <a:pt x="31" y="55"/>
                    <a:pt x="30" y="60"/>
                    <a:pt x="30" y="66"/>
                  </a:cubicBezTo>
                  <a:cubicBezTo>
                    <a:pt x="30" y="154"/>
                    <a:pt x="30" y="154"/>
                    <a:pt x="30" y="154"/>
                  </a:cubicBezTo>
                  <a:cubicBezTo>
                    <a:pt x="0" y="154"/>
                    <a:pt x="0" y="154"/>
                    <a:pt x="0" y="154"/>
                  </a:cubicBezTo>
                  <a:cubicBezTo>
                    <a:pt x="0" y="3"/>
                    <a:pt x="0" y="3"/>
                    <a:pt x="0" y="3"/>
                  </a:cubicBezTo>
                  <a:cubicBezTo>
                    <a:pt x="30" y="3"/>
                    <a:pt x="30" y="3"/>
                    <a:pt x="30" y="3"/>
                  </a:cubicBezTo>
                  <a:cubicBezTo>
                    <a:pt x="30" y="18"/>
                    <a:pt x="30" y="18"/>
                    <a:pt x="30" y="18"/>
                  </a:cubicBezTo>
                  <a:cubicBezTo>
                    <a:pt x="32" y="15"/>
                    <a:pt x="34" y="12"/>
                    <a:pt x="37" y="10"/>
                  </a:cubicBezTo>
                  <a:cubicBezTo>
                    <a:pt x="39" y="8"/>
                    <a:pt x="42" y="6"/>
                    <a:pt x="46" y="5"/>
                  </a:cubicBezTo>
                  <a:cubicBezTo>
                    <a:pt x="49" y="3"/>
                    <a:pt x="52" y="2"/>
                    <a:pt x="56" y="1"/>
                  </a:cubicBezTo>
                  <a:cubicBezTo>
                    <a:pt x="60" y="0"/>
                    <a:pt x="64" y="0"/>
                    <a:pt x="68" y="0"/>
                  </a:cubicBezTo>
                  <a:cubicBezTo>
                    <a:pt x="77" y="0"/>
                    <a:pt x="85" y="2"/>
                    <a:pt x="91" y="4"/>
                  </a:cubicBezTo>
                  <a:cubicBezTo>
                    <a:pt x="98" y="7"/>
                    <a:pt x="103" y="12"/>
                    <a:pt x="108" y="17"/>
                  </a:cubicBezTo>
                  <a:cubicBezTo>
                    <a:pt x="112" y="23"/>
                    <a:pt x="116" y="30"/>
                    <a:pt x="118" y="38"/>
                  </a:cubicBezTo>
                  <a:cubicBezTo>
                    <a:pt x="120" y="46"/>
                    <a:pt x="121" y="56"/>
                    <a:pt x="121" y="67"/>
                  </a:cubicBezTo>
                  <a:cubicBezTo>
                    <a:pt x="121" y="154"/>
                    <a:pt x="121" y="154"/>
                    <a:pt x="121" y="154"/>
                  </a:cubicBezTo>
                  <a:lnTo>
                    <a:pt x="92" y="154"/>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41" name="Freeform 124">
              <a:extLst>
                <a:ext uri="{FF2B5EF4-FFF2-40B4-BE49-F238E27FC236}">
                  <a16:creationId xmlns:a16="http://schemas.microsoft.com/office/drawing/2014/main" id="{9932F642-1E35-48EC-B6C4-B38B0CA08E95}"/>
                </a:ext>
              </a:extLst>
            </p:cNvPr>
            <p:cNvSpPr>
              <a:spLocks/>
            </p:cNvSpPr>
            <p:nvPr userDrawn="1"/>
          </p:nvSpPr>
          <p:spPr bwMode="auto">
            <a:xfrm>
              <a:off x="2703513" y="2332038"/>
              <a:ext cx="2125663" cy="776288"/>
            </a:xfrm>
            <a:custGeom>
              <a:avLst/>
              <a:gdLst>
                <a:gd name="T0" fmla="*/ 1339 w 1339"/>
                <a:gd name="T1" fmla="*/ 0 h 489"/>
                <a:gd name="T2" fmla="*/ 0 w 1339"/>
                <a:gd name="T3" fmla="*/ 489 h 489"/>
                <a:gd name="T4" fmla="*/ 1339 w 1339"/>
                <a:gd name="T5" fmla="*/ 253 h 489"/>
                <a:gd name="T6" fmla="*/ 1339 w 1339"/>
                <a:gd name="T7" fmla="*/ 0 h 489"/>
                <a:gd name="T8" fmla="*/ 1339 w 1339"/>
                <a:gd name="T9" fmla="*/ 0 h 489"/>
              </a:gdLst>
              <a:ahLst/>
              <a:cxnLst>
                <a:cxn ang="0">
                  <a:pos x="T0" y="T1"/>
                </a:cxn>
                <a:cxn ang="0">
                  <a:pos x="T2" y="T3"/>
                </a:cxn>
                <a:cxn ang="0">
                  <a:pos x="T4" y="T5"/>
                </a:cxn>
                <a:cxn ang="0">
                  <a:pos x="T6" y="T7"/>
                </a:cxn>
                <a:cxn ang="0">
                  <a:pos x="T8" y="T9"/>
                </a:cxn>
              </a:cxnLst>
              <a:rect l="0" t="0" r="r" b="b"/>
              <a:pathLst>
                <a:path w="1339" h="489">
                  <a:moveTo>
                    <a:pt x="1339" y="0"/>
                  </a:moveTo>
                  <a:lnTo>
                    <a:pt x="0" y="489"/>
                  </a:lnTo>
                  <a:lnTo>
                    <a:pt x="1339" y="253"/>
                  </a:lnTo>
                  <a:lnTo>
                    <a:pt x="1339" y="0"/>
                  </a:lnTo>
                  <a:lnTo>
                    <a:pt x="1339" y="0"/>
                  </a:lnTo>
                  <a:close/>
                </a:path>
              </a:pathLst>
            </a:custGeom>
            <a:solidFill>
              <a:srgbClr val="FFE600"/>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42" name="Freeform 125">
              <a:extLst>
                <a:ext uri="{FF2B5EF4-FFF2-40B4-BE49-F238E27FC236}">
                  <a16:creationId xmlns:a16="http://schemas.microsoft.com/office/drawing/2014/main" id="{D5D95FF1-6143-4F5E-A9CE-4E0A96033573}"/>
                </a:ext>
              </a:extLst>
            </p:cNvPr>
            <p:cNvSpPr>
              <a:spLocks noEditPoints="1"/>
            </p:cNvSpPr>
            <p:nvPr userDrawn="1"/>
          </p:nvSpPr>
          <p:spPr bwMode="auto">
            <a:xfrm>
              <a:off x="2720976" y="3430588"/>
              <a:ext cx="1787525" cy="1081088"/>
            </a:xfrm>
            <a:custGeom>
              <a:avLst/>
              <a:gdLst>
                <a:gd name="T0" fmla="*/ 904 w 1126"/>
                <a:gd name="T1" fmla="*/ 0 h 681"/>
                <a:gd name="T2" fmla="*/ 788 w 1126"/>
                <a:gd name="T3" fmla="*/ 222 h 681"/>
                <a:gd name="T4" fmla="*/ 673 w 1126"/>
                <a:gd name="T5" fmla="*/ 0 h 681"/>
                <a:gd name="T6" fmla="*/ 449 w 1126"/>
                <a:gd name="T7" fmla="*/ 0 h 681"/>
                <a:gd name="T8" fmla="*/ 687 w 1126"/>
                <a:gd name="T9" fmla="*/ 411 h 681"/>
                <a:gd name="T10" fmla="*/ 687 w 1126"/>
                <a:gd name="T11" fmla="*/ 681 h 681"/>
                <a:gd name="T12" fmla="*/ 887 w 1126"/>
                <a:gd name="T13" fmla="*/ 681 h 681"/>
                <a:gd name="T14" fmla="*/ 887 w 1126"/>
                <a:gd name="T15" fmla="*/ 411 h 681"/>
                <a:gd name="T16" fmla="*/ 1126 w 1126"/>
                <a:gd name="T17" fmla="*/ 0 h 681"/>
                <a:gd name="T18" fmla="*/ 904 w 1126"/>
                <a:gd name="T19" fmla="*/ 0 h 681"/>
                <a:gd name="T20" fmla="*/ 0 w 1126"/>
                <a:gd name="T21" fmla="*/ 0 h 681"/>
                <a:gd name="T22" fmla="*/ 0 w 1126"/>
                <a:gd name="T23" fmla="*/ 681 h 681"/>
                <a:gd name="T24" fmla="*/ 543 w 1126"/>
                <a:gd name="T25" fmla="*/ 681 h 681"/>
                <a:gd name="T26" fmla="*/ 543 w 1126"/>
                <a:gd name="T27" fmla="*/ 525 h 681"/>
                <a:gd name="T28" fmla="*/ 203 w 1126"/>
                <a:gd name="T29" fmla="*/ 525 h 681"/>
                <a:gd name="T30" fmla="*/ 203 w 1126"/>
                <a:gd name="T31" fmla="*/ 411 h 681"/>
                <a:gd name="T32" fmla="*/ 449 w 1126"/>
                <a:gd name="T33" fmla="*/ 411 h 681"/>
                <a:gd name="T34" fmla="*/ 449 w 1126"/>
                <a:gd name="T35" fmla="*/ 269 h 681"/>
                <a:gd name="T36" fmla="*/ 203 w 1126"/>
                <a:gd name="T37" fmla="*/ 269 h 681"/>
                <a:gd name="T38" fmla="*/ 203 w 1126"/>
                <a:gd name="T39" fmla="*/ 156 h 681"/>
                <a:gd name="T40" fmla="*/ 475 w 1126"/>
                <a:gd name="T41" fmla="*/ 156 h 681"/>
                <a:gd name="T42" fmla="*/ 385 w 1126"/>
                <a:gd name="T43" fmla="*/ 0 h 681"/>
                <a:gd name="T44" fmla="*/ 0 w 1126"/>
                <a:gd name="T45" fmla="*/ 0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26" h="681">
                  <a:moveTo>
                    <a:pt x="904" y="0"/>
                  </a:moveTo>
                  <a:lnTo>
                    <a:pt x="788" y="222"/>
                  </a:lnTo>
                  <a:lnTo>
                    <a:pt x="673" y="0"/>
                  </a:lnTo>
                  <a:lnTo>
                    <a:pt x="449" y="0"/>
                  </a:lnTo>
                  <a:lnTo>
                    <a:pt x="687" y="411"/>
                  </a:lnTo>
                  <a:lnTo>
                    <a:pt x="687" y="681"/>
                  </a:lnTo>
                  <a:lnTo>
                    <a:pt x="887" y="681"/>
                  </a:lnTo>
                  <a:lnTo>
                    <a:pt x="887" y="411"/>
                  </a:lnTo>
                  <a:lnTo>
                    <a:pt x="1126" y="0"/>
                  </a:lnTo>
                  <a:lnTo>
                    <a:pt x="904" y="0"/>
                  </a:lnTo>
                  <a:close/>
                  <a:moveTo>
                    <a:pt x="0" y="0"/>
                  </a:moveTo>
                  <a:lnTo>
                    <a:pt x="0" y="681"/>
                  </a:lnTo>
                  <a:lnTo>
                    <a:pt x="543" y="681"/>
                  </a:lnTo>
                  <a:lnTo>
                    <a:pt x="543" y="525"/>
                  </a:lnTo>
                  <a:lnTo>
                    <a:pt x="203" y="525"/>
                  </a:lnTo>
                  <a:lnTo>
                    <a:pt x="203" y="411"/>
                  </a:lnTo>
                  <a:lnTo>
                    <a:pt x="449" y="411"/>
                  </a:lnTo>
                  <a:lnTo>
                    <a:pt x="449" y="269"/>
                  </a:lnTo>
                  <a:lnTo>
                    <a:pt x="203" y="269"/>
                  </a:lnTo>
                  <a:lnTo>
                    <a:pt x="203" y="156"/>
                  </a:lnTo>
                  <a:lnTo>
                    <a:pt x="475" y="156"/>
                  </a:lnTo>
                  <a:lnTo>
                    <a:pt x="385" y="0"/>
                  </a:lnTo>
                  <a:lnTo>
                    <a:pt x="0"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grpSp>
      <p:sp>
        <p:nvSpPr>
          <p:cNvPr id="3" name="Text Placeholder 2"/>
          <p:cNvSpPr>
            <a:spLocks noGrp="1"/>
          </p:cNvSpPr>
          <p:nvPr>
            <p:ph type="body" idx="1"/>
          </p:nvPr>
        </p:nvSpPr>
        <p:spPr>
          <a:xfrm>
            <a:off x="609601" y="1327149"/>
            <a:ext cx="10972800" cy="981166"/>
          </a:xfrm>
          <a:prstGeom prst="rect">
            <a:avLst/>
          </a:prstGeom>
        </p:spPr>
        <p:txBody>
          <a:bodyPr vert="horz" lIns="0" tIns="0" rIns="0" bIns="0" rtlCol="0"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OuterGrid" hidden="1">
            <a:extLst>
              <a:ext uri="{FF2B5EF4-FFF2-40B4-BE49-F238E27FC236}">
                <a16:creationId xmlns:a16="http://schemas.microsoft.com/office/drawing/2014/main" id="{497C0834-4F27-4726-9D1B-7289BEDDACB5}"/>
              </a:ext>
            </a:extLst>
          </p:cNvPr>
          <p:cNvSpPr/>
          <p:nvPr userDrawn="1"/>
        </p:nvSpPr>
        <p:spPr>
          <a:xfrm>
            <a:off x="609918" y="1327149"/>
            <a:ext cx="10980000" cy="4797425"/>
          </a:xfrm>
          <a:prstGeom prst="rect">
            <a:avLst/>
          </a:prstGeom>
          <a:solidFill>
            <a:schemeClr val="accent6">
              <a:alpha val="0"/>
            </a:schemeClr>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l"/>
            <a:endParaRPr lang="en-US" sz="1100">
              <a:solidFill>
                <a:schemeClr val="bg1"/>
              </a:solidFill>
            </a:endParaRPr>
          </a:p>
        </p:txBody>
      </p:sp>
    </p:spTree>
    <p:extLst>
      <p:ext uri="{BB962C8B-B14F-4D97-AF65-F5344CB8AC3E}">
        <p14:creationId xmlns:p14="http://schemas.microsoft.com/office/powerpoint/2010/main" val="4120024136"/>
      </p:ext>
    </p:extLst>
  </p:cSld>
  <p:clrMap bg1="lt1" tx1="dk1" bg2="lt2" tx2="dk2" accent1="accent1" accent2="accent2" accent3="accent3" accent4="accent4" accent5="accent5" accent6="accent6" hlink="hlink" folHlink="folHlink"/>
  <p:sldLayoutIdLst>
    <p:sldLayoutId id="2147483649" r:id="rId1"/>
  </p:sldLayoutIdLst>
  <p:hf hdr="0"/>
  <p:txStyles>
    <p:titleStyle>
      <a:lvl1pPr algn="l" defTabSz="913943" rtl="0" eaLnBrk="1" latinLnBrk="0" hangingPunct="1">
        <a:lnSpc>
          <a:spcPct val="90000"/>
        </a:lnSpc>
        <a:spcBef>
          <a:spcPct val="0"/>
        </a:spcBef>
        <a:buNone/>
        <a:defRPr sz="2199" b="0" kern="1200">
          <a:solidFill>
            <a:schemeClr val="bg1"/>
          </a:solidFill>
          <a:latin typeface="+mn-lt"/>
          <a:ea typeface="+mj-ea"/>
          <a:cs typeface="Arial" pitchFamily="34" charset="0"/>
          <a:sym typeface="Arial" panose="020B0604020202020204" pitchFamily="34" charset="0"/>
        </a:defRPr>
      </a:lvl1pPr>
    </p:titleStyle>
    <p:bodyStyle>
      <a:lvl1pPr marL="171364"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1pPr>
      <a:lvl2pPr marL="342729"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2pPr>
      <a:lvl3pPr marL="514093"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3pPr>
      <a:lvl4pPr marL="685457"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4pPr>
      <a:lvl5pPr marL="856821" indent="-171364" algn="l" defTabSz="913943" rtl="0" eaLnBrk="1" latinLnBrk="0" hangingPunct="1">
        <a:spcBef>
          <a:spcPct val="20000"/>
        </a:spcBef>
        <a:buClr>
          <a:schemeClr val="accent1"/>
        </a:buClr>
        <a:buSzPct val="75000"/>
        <a:buFont typeface="Wingdings 3" panose="05040102010807070707" pitchFamily="18" charset="2"/>
        <a:buChar char=""/>
        <a:defRPr sz="1100" kern="1200">
          <a:solidFill>
            <a:schemeClr val="bg1"/>
          </a:solidFill>
          <a:latin typeface="Arial" panose="020B0604020202020204" pitchFamily="34" charset="0"/>
          <a:ea typeface="+mn-ea"/>
          <a:cs typeface="+mn-cs"/>
          <a:sym typeface="Arial" panose="020B0604020202020204" pitchFamily="34" charset="0"/>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3943" rtl="0" eaLnBrk="1" latinLnBrk="0" hangingPunct="1">
        <a:defRPr sz="1099" kern="1200">
          <a:solidFill>
            <a:schemeClr val="tx1"/>
          </a:solidFill>
          <a:latin typeface="+mn-lt"/>
          <a:ea typeface="+mn-ea"/>
          <a:cs typeface="+mn-cs"/>
        </a:defRPr>
      </a:lvl1pPr>
      <a:lvl2pPr marL="456971" algn="l" defTabSz="913943" rtl="0" eaLnBrk="1" latinLnBrk="0" hangingPunct="1">
        <a:defRPr sz="1099" kern="1200">
          <a:solidFill>
            <a:schemeClr val="tx1"/>
          </a:solidFill>
          <a:latin typeface="+mn-lt"/>
          <a:ea typeface="+mn-ea"/>
          <a:cs typeface="+mn-cs"/>
        </a:defRPr>
      </a:lvl2pPr>
      <a:lvl3pPr marL="913943" algn="l" defTabSz="913943" rtl="0" eaLnBrk="1" latinLnBrk="0" hangingPunct="1">
        <a:defRPr sz="1099" kern="1200">
          <a:solidFill>
            <a:schemeClr val="tx1"/>
          </a:solidFill>
          <a:latin typeface="+mn-lt"/>
          <a:ea typeface="+mn-ea"/>
          <a:cs typeface="+mn-cs"/>
        </a:defRPr>
      </a:lvl3pPr>
      <a:lvl4pPr marL="1370914" algn="l" defTabSz="913943" rtl="0" eaLnBrk="1" latinLnBrk="0" hangingPunct="1">
        <a:defRPr sz="1099" kern="1200">
          <a:solidFill>
            <a:schemeClr val="tx1"/>
          </a:solidFill>
          <a:latin typeface="+mn-lt"/>
          <a:ea typeface="+mn-ea"/>
          <a:cs typeface="+mn-cs"/>
        </a:defRPr>
      </a:lvl4pPr>
      <a:lvl5pPr marL="1827886" algn="l" defTabSz="913943" rtl="0" eaLnBrk="1" latinLnBrk="0" hangingPunct="1">
        <a:defRPr sz="1099" kern="1200">
          <a:solidFill>
            <a:schemeClr val="tx1"/>
          </a:solidFill>
          <a:latin typeface="+mn-lt"/>
          <a:ea typeface="+mn-ea"/>
          <a:cs typeface="+mn-cs"/>
        </a:defRPr>
      </a:lvl5pPr>
      <a:lvl6pPr marL="2284857" algn="l" defTabSz="913943" rtl="0" eaLnBrk="1" latinLnBrk="0" hangingPunct="1">
        <a:defRPr sz="1099" kern="1200">
          <a:solidFill>
            <a:schemeClr val="tx1"/>
          </a:solidFill>
          <a:latin typeface="+mn-lt"/>
          <a:ea typeface="+mn-ea"/>
          <a:cs typeface="+mn-cs"/>
        </a:defRPr>
      </a:lvl6pPr>
      <a:lvl7pPr marL="2741828" algn="l" defTabSz="913943" rtl="0" eaLnBrk="1" latinLnBrk="0" hangingPunct="1">
        <a:defRPr sz="1099" kern="1200">
          <a:solidFill>
            <a:schemeClr val="tx1"/>
          </a:solidFill>
          <a:latin typeface="+mn-lt"/>
          <a:ea typeface="+mn-ea"/>
          <a:cs typeface="+mn-cs"/>
        </a:defRPr>
      </a:lvl7pPr>
      <a:lvl8pPr marL="3198800" algn="l" defTabSz="913943" rtl="0" eaLnBrk="1" latinLnBrk="0" hangingPunct="1">
        <a:defRPr sz="1099" kern="1200">
          <a:solidFill>
            <a:schemeClr val="tx1"/>
          </a:solidFill>
          <a:latin typeface="+mn-lt"/>
          <a:ea typeface="+mn-ea"/>
          <a:cs typeface="+mn-cs"/>
        </a:defRPr>
      </a:lvl8pPr>
      <a:lvl9pPr marL="3655771" algn="l" defTabSz="913943" rtl="0" eaLnBrk="1" latinLnBrk="0" hangingPunct="1">
        <a:defRPr sz="10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6" userDrawn="1">
          <p15:clr>
            <a:srgbClr val="F26B43"/>
          </p15:clr>
        </p15:guide>
        <p15:guide id="2" pos="7294" userDrawn="1">
          <p15:clr>
            <a:srgbClr val="F26B43"/>
          </p15:clr>
        </p15:guide>
        <p15:guide id="3" orient="horz" pos="711" userDrawn="1">
          <p15:clr>
            <a:srgbClr val="F26B43"/>
          </p15:clr>
        </p15:guide>
        <p15:guide id="4" orient="horz" pos="383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A504A55-94A1-4BE0-8451-269B82009EDA}"/>
              </a:ext>
            </a:extLst>
          </p:cNvPr>
          <p:cNvGraphicFramePr>
            <a:graphicFrameLocks noChangeAspect="1"/>
          </p:cNvGraphicFramePr>
          <p:nvPr userDrawn="1">
            <p:custDataLst>
              <p:tags r:id="rId1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592" imgH="591" progId="TCLayout.ActiveDocument.1">
                  <p:embed/>
                </p:oleObj>
              </mc:Choice>
              <mc:Fallback>
                <p:oleObj name="think-cell Slide" r:id="rId16" imgW="592" imgH="591" progId="TCLayout.ActiveDocument.1">
                  <p:embed/>
                  <p:pic>
                    <p:nvPicPr>
                      <p:cNvPr id="5" name="Object 4" hidden="1">
                        <a:extLst>
                          <a:ext uri="{FF2B5EF4-FFF2-40B4-BE49-F238E27FC236}">
                            <a16:creationId xmlns:a16="http://schemas.microsoft.com/office/drawing/2014/main" id="{0A504A55-94A1-4BE0-8451-269B82009EDA}"/>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E2AFB9C9-E550-A643-B6BA-1F85DC33CB6D}"/>
              </a:ext>
            </a:extLst>
          </p:cNvPr>
          <p:cNvSpPr>
            <a:spLocks noGrp="1"/>
          </p:cNvSpPr>
          <p:nvPr>
            <p:ph type="title"/>
          </p:nvPr>
        </p:nvSpPr>
        <p:spPr>
          <a:xfrm>
            <a:off x="384048" y="381000"/>
            <a:ext cx="11420856" cy="533400"/>
          </a:xfrm>
          <a:prstGeom prst="rect">
            <a:avLst/>
          </a:prstGeom>
        </p:spPr>
        <p:txBody>
          <a:bodyPr vert="horz" lIns="0" tIns="0" rIns="0" bIns="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D8C041-B2CA-3140-B7D0-C1DCF07DF29D}"/>
              </a:ext>
            </a:extLst>
          </p:cNvPr>
          <p:cNvSpPr>
            <a:spLocks noGrp="1"/>
          </p:cNvSpPr>
          <p:nvPr>
            <p:ph type="body" idx="1"/>
          </p:nvPr>
        </p:nvSpPr>
        <p:spPr>
          <a:xfrm>
            <a:off x="384048" y="1295401"/>
            <a:ext cx="11420856" cy="472440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AD6BCD8-05CB-42C6-AD70-BAD591D95266}"/>
              </a:ext>
            </a:extLst>
          </p:cNvPr>
          <p:cNvCxnSpPr>
            <a:cxnSpLocks/>
          </p:cNvCxnSpPr>
          <p:nvPr userDrawn="1"/>
        </p:nvCxnSpPr>
        <p:spPr>
          <a:xfrm>
            <a:off x="384048" y="1066800"/>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72133AB-67BC-4F74-A07A-65A22E102BAA}"/>
              </a:ext>
            </a:extLst>
          </p:cNvPr>
          <p:cNvCxnSpPr>
            <a:cxnSpLocks/>
          </p:cNvCxnSpPr>
          <p:nvPr userDrawn="1"/>
        </p:nvCxnSpPr>
        <p:spPr>
          <a:xfrm>
            <a:off x="384048" y="6241473"/>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C18E352-8130-4711-86BD-9515E8F1C1C5}"/>
              </a:ext>
            </a:extLst>
          </p:cNvPr>
          <p:cNvPicPr>
            <a:picLocks/>
          </p:cNvPicPr>
          <p:nvPr userDrawn="1"/>
        </p:nvPicPr>
        <p:blipFill>
          <a:blip r:embed="rId18"/>
          <a:stretch>
            <a:fillRect/>
          </a:stretch>
        </p:blipFill>
        <p:spPr>
          <a:xfrm>
            <a:off x="10853928" y="6388101"/>
            <a:ext cx="950976" cy="357859"/>
          </a:xfrm>
          <a:prstGeom prst="rect">
            <a:avLst/>
          </a:prstGeom>
        </p:spPr>
      </p:pic>
      <p:sp>
        <p:nvSpPr>
          <p:cNvPr id="10" name="Footer Placeholder 4">
            <a:extLst>
              <a:ext uri="{FF2B5EF4-FFF2-40B4-BE49-F238E27FC236}">
                <a16:creationId xmlns:a16="http://schemas.microsoft.com/office/drawing/2014/main" id="{C619E110-F4CA-4E4F-B502-8E44D45BE640}"/>
              </a:ext>
            </a:extLst>
          </p:cNvPr>
          <p:cNvSpPr>
            <a:spLocks noGrp="1"/>
          </p:cNvSpPr>
          <p:nvPr>
            <p:ph type="ftr" sz="quarter" idx="3"/>
          </p:nvPr>
        </p:nvSpPr>
        <p:spPr>
          <a:xfrm>
            <a:off x="381000" y="6515098"/>
            <a:ext cx="8077200" cy="342900"/>
          </a:xfrm>
          <a:prstGeom prst="rect">
            <a:avLst/>
          </a:prstGeom>
        </p:spPr>
        <p:txBody>
          <a:bodyPr lIns="0" tIns="0" rIns="0"/>
          <a:lstStyle>
            <a:lvl1pPr algn="l">
              <a:defRPr sz="1000"/>
            </a:lvl1pPr>
          </a:lstStyle>
          <a:p>
            <a:endParaRPr lang="en-CA"/>
          </a:p>
        </p:txBody>
      </p:sp>
      <p:sp>
        <p:nvSpPr>
          <p:cNvPr id="11" name="Date Placeholder 3">
            <a:extLst>
              <a:ext uri="{FF2B5EF4-FFF2-40B4-BE49-F238E27FC236}">
                <a16:creationId xmlns:a16="http://schemas.microsoft.com/office/drawing/2014/main" id="{08947FEE-BC42-AB41-9311-D8AAD7B00567}"/>
              </a:ext>
            </a:extLst>
          </p:cNvPr>
          <p:cNvSpPr>
            <a:spLocks noGrp="1"/>
          </p:cNvSpPr>
          <p:nvPr>
            <p:ph type="dt" sz="half" idx="2"/>
          </p:nvPr>
        </p:nvSpPr>
        <p:spPr>
          <a:xfrm>
            <a:off x="8569452" y="6515098"/>
            <a:ext cx="1474248" cy="342902"/>
          </a:xfrm>
          <a:prstGeom prst="rect">
            <a:avLst/>
          </a:prstGeom>
        </p:spPr>
        <p:txBody>
          <a:bodyPr lIns="0" tIns="0" rIns="0"/>
          <a:lstStyle>
            <a:lvl1pPr>
              <a:defRPr sz="1000"/>
            </a:lvl1pPr>
          </a:lstStyle>
          <a:p>
            <a:endParaRPr lang="en-CA"/>
          </a:p>
        </p:txBody>
      </p:sp>
    </p:spTree>
    <p:extLst>
      <p:ext uri="{BB962C8B-B14F-4D97-AF65-F5344CB8AC3E}">
        <p14:creationId xmlns:p14="http://schemas.microsoft.com/office/powerpoint/2010/main" val="3168584421"/>
      </p:ext>
    </p:extLst>
  </p:cSld>
  <p:clrMap bg1="lt1" tx1="dk1" bg2="lt2" tx2="dk2" accent1="accent1" accent2="accent2" accent3="accent3" accent4="accent4" accent5="accent5" accent6="accent6" hlink="hlink" folHlink="folHlink"/>
  <p:sldLayoutIdLst>
    <p:sldLayoutId id="2147483674" r:id="rId1"/>
    <p:sldLayoutId id="2147483677" r:id="rId2"/>
    <p:sldLayoutId id="2147483689" r:id="rId3"/>
    <p:sldLayoutId id="2147483688" r:id="rId4"/>
    <p:sldLayoutId id="2147483679" r:id="rId5"/>
    <p:sldLayoutId id="2147483680" r:id="rId6"/>
    <p:sldLayoutId id="2147483685" r:id="rId7"/>
    <p:sldLayoutId id="2147483681" r:id="rId8"/>
    <p:sldLayoutId id="2147483686" r:id="rId9"/>
    <p:sldLayoutId id="2147483675" r:id="rId10"/>
    <p:sldLayoutId id="2147483749" r:id="rId11"/>
    <p:sldLayoutId id="2147483751" r:id="rId12"/>
    <p:sldLayoutId id="2147483980" r:id="rId13"/>
  </p:sldLayoutIdLst>
  <p:hf hdr="0" ftr="0" dt="0"/>
  <p:txStyles>
    <p:titleStyle>
      <a:lvl1pPr algn="l" defTabSz="6858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8600" indent="-228600" algn="l" defTabSz="6858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685800" rtl="0" eaLnBrk="1" latinLnBrk="0" hangingPunct="1">
        <a:lnSpc>
          <a:spcPct val="90000"/>
        </a:lnSpc>
        <a:spcBef>
          <a:spcPts val="500"/>
        </a:spcBef>
        <a:buFont typeface="Wingdings" pitchFamily="2" charset="2"/>
        <a:buChar char="§"/>
        <a:defRPr sz="2000" kern="1200">
          <a:solidFill>
            <a:schemeClr val="tx1"/>
          </a:solidFill>
          <a:latin typeface="+mn-lt"/>
          <a:ea typeface="+mn-ea"/>
          <a:cs typeface="+mn-cs"/>
        </a:defRPr>
      </a:lvl2pPr>
      <a:lvl3pPr marL="1143000" indent="-228600" algn="l" defTabSz="6858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685800" rtl="0" eaLnBrk="1" latinLnBrk="0" hangingPunct="1">
        <a:lnSpc>
          <a:spcPct val="90000"/>
        </a:lnSpc>
        <a:spcBef>
          <a:spcPts val="500"/>
        </a:spcBef>
        <a:buFont typeface="Wingdings" pitchFamily="2" charset="2"/>
        <a:buChar char="§"/>
        <a:defRPr sz="1400" kern="1200">
          <a:solidFill>
            <a:schemeClr val="tx1"/>
          </a:solidFill>
          <a:latin typeface="+mn-lt"/>
          <a:ea typeface="+mn-ea"/>
          <a:cs typeface="+mn-cs"/>
        </a:defRPr>
      </a:lvl4pPr>
      <a:lvl5pPr marL="2057400" indent="-228600" algn="l" defTabSz="6858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7436" userDrawn="1">
          <p15:clr>
            <a:srgbClr val="F26B43"/>
          </p15:clr>
        </p15:guide>
        <p15:guide id="4" pos="239" userDrawn="1">
          <p15:clr>
            <a:srgbClr val="F26B43"/>
          </p15:clr>
        </p15:guide>
        <p15:guide id="5" pos="3840" userDrawn="1">
          <p15:clr>
            <a:srgbClr val="F26B43"/>
          </p15:clr>
        </p15:guide>
        <p15:guide id="6" orient="horz" pos="4104" userDrawn="1">
          <p15:clr>
            <a:srgbClr val="F26B43"/>
          </p15:clr>
        </p15:guide>
        <p15:guide id="8" orient="horz" pos="2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22"/>
            </p:custDataLst>
            <p:extLst>
              <p:ext uri="{D42A27DB-BD31-4B8C-83A1-F6EECF244321}">
                <p14:modId xmlns:p14="http://schemas.microsoft.com/office/powerpoint/2010/main" val="31440499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2" imgW="413" imgH="416" progId="TCLayout.ActiveDocument.1">
                  <p:embed/>
                </p:oleObj>
              </mc:Choice>
              <mc:Fallback>
                <p:oleObj name="think-cell Slide" r:id="rId42"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43"/>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2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CA" sz="2500" b="1" i="0" baseline="0">
              <a:solidFill>
                <a:schemeClr val="bg1"/>
              </a:solidFill>
              <a:latin typeface="Arial" panose="020B0604020202020204" pitchFamily="34" charset="0"/>
              <a:ea typeface="+mj-ea"/>
              <a:cs typeface="+mj-cs"/>
              <a:sym typeface="Arial" panose="020B0604020202020204" pitchFamily="34" charset="0"/>
            </a:endParaRPr>
          </a:p>
        </p:txBody>
      </p:sp>
      <p:grpSp>
        <p:nvGrpSpPr>
          <p:cNvPr id="170" name="Grid" hidden="1">
            <a:extLst>
              <a:ext uri="{FF2B5EF4-FFF2-40B4-BE49-F238E27FC236}">
                <a16:creationId xmlns:a16="http://schemas.microsoft.com/office/drawing/2014/main" id="{3BBFEB30-B5C9-4D5C-9A82-066C6BF363E3}"/>
              </a:ext>
            </a:extLst>
          </p:cNvPr>
          <p:cNvGrpSpPr/>
          <p:nvPr userDrawn="1"/>
        </p:nvGrpSpPr>
        <p:grpSpPr>
          <a:xfrm>
            <a:off x="0" y="0"/>
            <a:ext cx="12190476" cy="6858000"/>
            <a:chOff x="0" y="0"/>
            <a:chExt cx="12190476" cy="6858000"/>
          </a:xfrm>
        </p:grpSpPr>
        <p:sp>
          <p:nvSpPr>
            <p:cNvPr id="171" name="Freeform: Shape 170">
              <a:extLst>
                <a:ext uri="{FF2B5EF4-FFF2-40B4-BE49-F238E27FC236}">
                  <a16:creationId xmlns:a16="http://schemas.microsoft.com/office/drawing/2014/main" id="{950B3518-D8B6-4062-A4CE-0C1A1A286FE1}"/>
                </a:ext>
              </a:extLst>
            </p:cNvPr>
            <p:cNvSpPr/>
            <p:nvPr userDrawn="1"/>
          </p:nvSpPr>
          <p:spPr bwMode="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172" name="Freeform: Shape 171">
              <a:extLst>
                <a:ext uri="{FF2B5EF4-FFF2-40B4-BE49-F238E27FC236}">
                  <a16:creationId xmlns:a16="http://schemas.microsoft.com/office/drawing/2014/main" id="{EC45F528-EF91-4619-AF16-5D11F63D2FFC}"/>
                </a:ext>
              </a:extLst>
            </p:cNvPr>
            <p:cNvSpPr/>
            <p:nvPr/>
          </p:nvSpPr>
          <p:spPr bwMode="gray">
            <a:xfrm>
              <a:off x="1524" y="0"/>
              <a:ext cx="12188952" cy="6858000"/>
            </a:xfrm>
            <a:custGeom>
              <a:avLst/>
              <a:gdLst>
                <a:gd name="connsiteX0" fmla="*/ 553212 w 12188952"/>
                <a:gd name="connsiteY0" fmla="*/ 1405610 h 6858000"/>
                <a:gd name="connsiteX1" fmla="*/ 553212 w 12188952"/>
                <a:gd name="connsiteY1" fmla="*/ 1709928 h 6858000"/>
                <a:gd name="connsiteX2" fmla="*/ 551868 w 12188952"/>
                <a:gd name="connsiteY2" fmla="*/ 1709928 h 6858000"/>
                <a:gd name="connsiteX3" fmla="*/ 551868 w 12188952"/>
                <a:gd name="connsiteY3" fmla="*/ 6217920 h 6858000"/>
                <a:gd name="connsiteX4" fmla="*/ 553212 w 12188952"/>
                <a:gd name="connsiteY4" fmla="*/ 6217920 h 6858000"/>
                <a:gd name="connsiteX5" fmla="*/ 11635740 w 12188952"/>
                <a:gd name="connsiteY5" fmla="*/ 6217920 h 6858000"/>
                <a:gd name="connsiteX6" fmla="*/ 11636196 w 12188952"/>
                <a:gd name="connsiteY6" fmla="*/ 6217920 h 6858000"/>
                <a:gd name="connsiteX7" fmla="*/ 11636196 w 12188952"/>
                <a:gd name="connsiteY7" fmla="*/ 1709928 h 6858000"/>
                <a:gd name="connsiteX8" fmla="*/ 11635740 w 12188952"/>
                <a:gd name="connsiteY8" fmla="*/ 1709928 h 6858000"/>
                <a:gd name="connsiteX9" fmla="*/ 11635740 w 12188952"/>
                <a:gd name="connsiteY9" fmla="*/ 1405610 h 6858000"/>
                <a:gd name="connsiteX10" fmla="*/ 0 w 12188952"/>
                <a:gd name="connsiteY10" fmla="*/ 0 h 6858000"/>
                <a:gd name="connsiteX11" fmla="*/ 12188952 w 12188952"/>
                <a:gd name="connsiteY11" fmla="*/ 0 h 6858000"/>
                <a:gd name="connsiteX12" fmla="*/ 12188952 w 12188952"/>
                <a:gd name="connsiteY12" fmla="*/ 6858000 h 6858000"/>
                <a:gd name="connsiteX13" fmla="*/ 0 w 12188952"/>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88952" h="6858000">
                  <a:moveTo>
                    <a:pt x="553212" y="1405610"/>
                  </a:moveTo>
                  <a:lnTo>
                    <a:pt x="553212" y="1709928"/>
                  </a:lnTo>
                  <a:lnTo>
                    <a:pt x="551868" y="1709928"/>
                  </a:lnTo>
                  <a:lnTo>
                    <a:pt x="551868" y="6217920"/>
                  </a:lnTo>
                  <a:lnTo>
                    <a:pt x="553212" y="6217920"/>
                  </a:lnTo>
                  <a:lnTo>
                    <a:pt x="11635740" y="6217920"/>
                  </a:lnTo>
                  <a:lnTo>
                    <a:pt x="11636196" y="6217920"/>
                  </a:lnTo>
                  <a:lnTo>
                    <a:pt x="11636196" y="1709928"/>
                  </a:lnTo>
                  <a:lnTo>
                    <a:pt x="11635740" y="1709928"/>
                  </a:lnTo>
                  <a:lnTo>
                    <a:pt x="11635740" y="1405610"/>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rtl="0"/>
              <a:endParaRPr lang="en-CA">
                <a:solidFill>
                  <a:schemeClr val="tx1"/>
                </a:solidFill>
                <a:latin typeface="+mn-lt"/>
              </a:endParaRPr>
            </a:p>
          </p:txBody>
        </p:sp>
        <p:cxnSp>
          <p:nvCxnSpPr>
            <p:cNvPr id="173" name="Straight Connector 172">
              <a:extLst>
                <a:ext uri="{FF2B5EF4-FFF2-40B4-BE49-F238E27FC236}">
                  <a16:creationId xmlns:a16="http://schemas.microsoft.com/office/drawing/2014/main" id="{77ABF7BA-0428-4141-8351-03A2727DECBD}"/>
                </a:ext>
              </a:extLst>
            </p:cNvPr>
            <p:cNvCxnSpPr/>
            <p:nvPr/>
          </p:nvCxnSpPr>
          <p:spPr bwMode="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94EB93D9-2FE5-4212-8DB4-7A0327E33766}"/>
                </a:ext>
              </a:extLst>
            </p:cNvPr>
            <p:cNvCxnSpPr/>
            <p:nvPr/>
          </p:nvCxnSpPr>
          <p:spPr bwMode="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C2F34081-E688-4287-A553-264328F1E1E1}"/>
                </a:ext>
              </a:extLst>
            </p:cNvPr>
            <p:cNvCxnSpPr/>
            <p:nvPr/>
          </p:nvCxnSpPr>
          <p:spPr bwMode="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6868CDEE-044B-4D04-A5D3-6A526BE51179}"/>
                </a:ext>
              </a:extLst>
            </p:cNvPr>
            <p:cNvCxnSpPr/>
            <p:nvPr/>
          </p:nvCxnSpPr>
          <p:spPr bwMode="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0100C653-5CFA-4B3C-BD97-47499B419B53}"/>
                </a:ext>
              </a:extLst>
            </p:cNvPr>
            <p:cNvCxnSpPr/>
            <p:nvPr/>
          </p:nvCxnSpPr>
          <p:spPr bwMode="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F21F5AB2-1154-4ACD-832F-CB2539EE783F}"/>
                </a:ext>
              </a:extLst>
            </p:cNvPr>
            <p:cNvCxnSpPr/>
            <p:nvPr/>
          </p:nvCxnSpPr>
          <p:spPr bwMode="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466910D2-AFA9-4FD1-8D04-D99BB3645452}"/>
                </a:ext>
              </a:extLst>
            </p:cNvPr>
            <p:cNvCxnSpPr/>
            <p:nvPr/>
          </p:nvCxnSpPr>
          <p:spPr bwMode="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1769A11B-0399-4716-A212-6F179313A427}"/>
                </a:ext>
              </a:extLst>
            </p:cNvPr>
            <p:cNvCxnSpPr/>
            <p:nvPr/>
          </p:nvCxnSpPr>
          <p:spPr bwMode="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2CB3272D-021B-49B8-92A5-D1DEB3202AE0}"/>
                </a:ext>
              </a:extLst>
            </p:cNvPr>
            <p:cNvCxnSpPr/>
            <p:nvPr/>
          </p:nvCxnSpPr>
          <p:spPr bwMode="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61701AE9-04C5-4AD4-8DEE-873680FD231F}"/>
                </a:ext>
              </a:extLst>
            </p:cNvPr>
            <p:cNvCxnSpPr/>
            <p:nvPr/>
          </p:nvCxnSpPr>
          <p:spPr bwMode="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4050D91B-89C3-45DE-BE0C-1430E2BE6F4B}"/>
                </a:ext>
              </a:extLst>
            </p:cNvPr>
            <p:cNvCxnSpPr/>
            <p:nvPr/>
          </p:nvCxnSpPr>
          <p:spPr bwMode="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68E5EF5D-0D94-4FCE-8BE2-F0790F7B1879}"/>
                </a:ext>
              </a:extLst>
            </p:cNvPr>
            <p:cNvCxnSpPr/>
            <p:nvPr/>
          </p:nvCxnSpPr>
          <p:spPr bwMode="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203" name="Freeform: Shape 202">
              <a:extLst>
                <a:ext uri="{FF2B5EF4-FFF2-40B4-BE49-F238E27FC236}">
                  <a16:creationId xmlns:a16="http://schemas.microsoft.com/office/drawing/2014/main" id="{205F8351-710E-49E9-A523-EA0755B417C5}"/>
                </a:ext>
              </a:extLst>
            </p:cNvPr>
            <p:cNvSpPr/>
            <p:nvPr/>
          </p:nvSpPr>
          <p:spPr bwMode="gray">
            <a:xfrm>
              <a:off x="1524" y="0"/>
              <a:ext cx="379314"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04" name="Freeform: Shape 203">
              <a:extLst>
                <a:ext uri="{FF2B5EF4-FFF2-40B4-BE49-F238E27FC236}">
                  <a16:creationId xmlns:a16="http://schemas.microsoft.com/office/drawing/2014/main" id="{47C1C31B-A122-4A09-9500-27B0684B272F}"/>
                </a:ext>
              </a:extLst>
            </p:cNvPr>
            <p:cNvSpPr/>
            <p:nvPr/>
          </p:nvSpPr>
          <p:spPr bwMode="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05" name="Freeform: Shape 204">
              <a:extLst>
                <a:ext uri="{FF2B5EF4-FFF2-40B4-BE49-F238E27FC236}">
                  <a16:creationId xmlns:a16="http://schemas.microsoft.com/office/drawing/2014/main" id="{7DF86859-7D4B-4DA1-91AA-0992644F5903}"/>
                </a:ext>
              </a:extLst>
            </p:cNvPr>
            <p:cNvSpPr/>
            <p:nvPr/>
          </p:nvSpPr>
          <p:spPr bwMode="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06" name="Freeform: Shape 205">
              <a:extLst>
                <a:ext uri="{FF2B5EF4-FFF2-40B4-BE49-F238E27FC236}">
                  <a16:creationId xmlns:a16="http://schemas.microsoft.com/office/drawing/2014/main" id="{3DC3E9CA-569C-4414-A75A-C805A4A40B64}"/>
                </a:ext>
              </a:extLst>
            </p:cNvPr>
            <p:cNvSpPr/>
            <p:nvPr/>
          </p:nvSpPr>
          <p:spPr bwMode="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07" name="Freeform: Shape 206">
              <a:extLst>
                <a:ext uri="{FF2B5EF4-FFF2-40B4-BE49-F238E27FC236}">
                  <a16:creationId xmlns:a16="http://schemas.microsoft.com/office/drawing/2014/main" id="{B532C466-D8D3-43AC-995C-2B54885AC096}"/>
                </a:ext>
              </a:extLst>
            </p:cNvPr>
            <p:cNvSpPr/>
            <p:nvPr/>
          </p:nvSpPr>
          <p:spPr bwMode="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08" name="Freeform: Shape 207">
              <a:extLst>
                <a:ext uri="{FF2B5EF4-FFF2-40B4-BE49-F238E27FC236}">
                  <a16:creationId xmlns:a16="http://schemas.microsoft.com/office/drawing/2014/main" id="{B0920AE1-B909-471F-9E77-7C3A31509F84}"/>
                </a:ext>
              </a:extLst>
            </p:cNvPr>
            <p:cNvSpPr/>
            <p:nvPr/>
          </p:nvSpPr>
          <p:spPr bwMode="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09" name="Freeform: Shape 208">
              <a:extLst>
                <a:ext uri="{FF2B5EF4-FFF2-40B4-BE49-F238E27FC236}">
                  <a16:creationId xmlns:a16="http://schemas.microsoft.com/office/drawing/2014/main" id="{2A1E8190-F3C6-4BF7-97E3-90F3FC84746E}"/>
                </a:ext>
              </a:extLst>
            </p:cNvPr>
            <p:cNvSpPr/>
            <p:nvPr/>
          </p:nvSpPr>
          <p:spPr bwMode="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0" name="Freeform: Shape 209">
              <a:extLst>
                <a:ext uri="{FF2B5EF4-FFF2-40B4-BE49-F238E27FC236}">
                  <a16:creationId xmlns:a16="http://schemas.microsoft.com/office/drawing/2014/main" id="{33B1FC28-C9D6-4928-BCCE-9873C7DEEFDE}"/>
                </a:ext>
              </a:extLst>
            </p:cNvPr>
            <p:cNvSpPr/>
            <p:nvPr/>
          </p:nvSpPr>
          <p:spPr bwMode="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1" name="Freeform: Shape 210">
              <a:extLst>
                <a:ext uri="{FF2B5EF4-FFF2-40B4-BE49-F238E27FC236}">
                  <a16:creationId xmlns:a16="http://schemas.microsoft.com/office/drawing/2014/main" id="{13C9C1F2-E745-44A5-AEA3-9DE0D69F2B15}"/>
                </a:ext>
              </a:extLst>
            </p:cNvPr>
            <p:cNvSpPr/>
            <p:nvPr/>
          </p:nvSpPr>
          <p:spPr bwMode="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2" name="Freeform: Shape 211">
              <a:extLst>
                <a:ext uri="{FF2B5EF4-FFF2-40B4-BE49-F238E27FC236}">
                  <a16:creationId xmlns:a16="http://schemas.microsoft.com/office/drawing/2014/main" id="{3F7DB9B8-09EF-46A7-9839-EE0FA8E11651}"/>
                </a:ext>
              </a:extLst>
            </p:cNvPr>
            <p:cNvSpPr/>
            <p:nvPr/>
          </p:nvSpPr>
          <p:spPr bwMode="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3" name="Freeform: Shape 212">
              <a:extLst>
                <a:ext uri="{FF2B5EF4-FFF2-40B4-BE49-F238E27FC236}">
                  <a16:creationId xmlns:a16="http://schemas.microsoft.com/office/drawing/2014/main" id="{759DC929-939A-40DF-96D2-82427AD8E191}"/>
                </a:ext>
              </a:extLst>
            </p:cNvPr>
            <p:cNvSpPr/>
            <p:nvPr/>
          </p:nvSpPr>
          <p:spPr bwMode="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4" name="Freeform: Shape 213">
              <a:extLst>
                <a:ext uri="{FF2B5EF4-FFF2-40B4-BE49-F238E27FC236}">
                  <a16:creationId xmlns:a16="http://schemas.microsoft.com/office/drawing/2014/main" id="{71E475EA-3BCA-4BD2-9129-0A15F92784B0}"/>
                </a:ext>
              </a:extLst>
            </p:cNvPr>
            <p:cNvSpPr/>
            <p:nvPr/>
          </p:nvSpPr>
          <p:spPr bwMode="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5" name="Freeform: Shape 214">
              <a:extLst>
                <a:ext uri="{FF2B5EF4-FFF2-40B4-BE49-F238E27FC236}">
                  <a16:creationId xmlns:a16="http://schemas.microsoft.com/office/drawing/2014/main" id="{B58358D8-4286-4ED9-A0FF-82879D8C9183}"/>
                </a:ext>
              </a:extLst>
            </p:cNvPr>
            <p:cNvSpPr/>
            <p:nvPr/>
          </p:nvSpPr>
          <p:spPr bwMode="gray">
            <a:xfrm>
              <a:off x="11811162" y="0"/>
              <a:ext cx="379314"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6" name="Freeform: Shape 215">
              <a:extLst>
                <a:ext uri="{FF2B5EF4-FFF2-40B4-BE49-F238E27FC236}">
                  <a16:creationId xmlns:a16="http://schemas.microsoft.com/office/drawing/2014/main" id="{07E8672D-5A21-4EE8-8FA5-FBB35E3AF6F8}"/>
                </a:ext>
              </a:extLst>
            </p:cNvPr>
            <p:cNvSpPr/>
            <p:nvPr/>
          </p:nvSpPr>
          <p:spPr bwMode="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7" name="Freeform: Shape 216">
              <a:extLst>
                <a:ext uri="{FF2B5EF4-FFF2-40B4-BE49-F238E27FC236}">
                  <a16:creationId xmlns:a16="http://schemas.microsoft.com/office/drawing/2014/main" id="{FA059A59-9BBE-4F86-862A-48E139D1EE64}"/>
                </a:ext>
              </a:extLst>
            </p:cNvPr>
            <p:cNvSpPr/>
            <p:nvPr userDrawn="1"/>
          </p:nvSpPr>
          <p:spPr bwMode="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8" name="Freeform: Shape 217">
              <a:extLst>
                <a:ext uri="{FF2B5EF4-FFF2-40B4-BE49-F238E27FC236}">
                  <a16:creationId xmlns:a16="http://schemas.microsoft.com/office/drawing/2014/main" id="{55CF5402-4FC2-4420-ABC5-BBFA3EA9D203}"/>
                </a:ext>
              </a:extLst>
            </p:cNvPr>
            <p:cNvSpPr/>
            <p:nvPr userDrawn="1"/>
          </p:nvSpPr>
          <p:spPr bwMode="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19" name="Freeform: Shape 218">
              <a:extLst>
                <a:ext uri="{FF2B5EF4-FFF2-40B4-BE49-F238E27FC236}">
                  <a16:creationId xmlns:a16="http://schemas.microsoft.com/office/drawing/2014/main" id="{10BB1258-8102-4E47-BE2F-816FBB6BA408}"/>
                </a:ext>
              </a:extLst>
            </p:cNvPr>
            <p:cNvSpPr/>
            <p:nvPr userDrawn="1"/>
          </p:nvSpPr>
          <p:spPr bwMode="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20" name="Freeform: Shape 219">
              <a:extLst>
                <a:ext uri="{FF2B5EF4-FFF2-40B4-BE49-F238E27FC236}">
                  <a16:creationId xmlns:a16="http://schemas.microsoft.com/office/drawing/2014/main" id="{B270BD53-6742-47F1-853C-FA770237F3FD}"/>
                </a:ext>
              </a:extLst>
            </p:cNvPr>
            <p:cNvSpPr/>
            <p:nvPr userDrawn="1"/>
          </p:nvSpPr>
          <p:spPr bwMode="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21" name="Freeform: Shape 220">
              <a:extLst>
                <a:ext uri="{FF2B5EF4-FFF2-40B4-BE49-F238E27FC236}">
                  <a16:creationId xmlns:a16="http://schemas.microsoft.com/office/drawing/2014/main" id="{3395B319-4702-4CD9-838C-C0612B6879BC}"/>
                </a:ext>
              </a:extLst>
            </p:cNvPr>
            <p:cNvSpPr/>
            <p:nvPr userDrawn="1"/>
          </p:nvSpPr>
          <p:spPr bwMode="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22" name="Freeform: Shape 221">
              <a:extLst>
                <a:ext uri="{FF2B5EF4-FFF2-40B4-BE49-F238E27FC236}">
                  <a16:creationId xmlns:a16="http://schemas.microsoft.com/office/drawing/2014/main" id="{AE5E70F1-247D-4F01-A473-C5A9226BCADC}"/>
                </a:ext>
              </a:extLst>
            </p:cNvPr>
            <p:cNvSpPr/>
            <p:nvPr userDrawn="1"/>
          </p:nvSpPr>
          <p:spPr bwMode="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23" name="Freeform: Shape 222">
              <a:extLst>
                <a:ext uri="{FF2B5EF4-FFF2-40B4-BE49-F238E27FC236}">
                  <a16:creationId xmlns:a16="http://schemas.microsoft.com/office/drawing/2014/main" id="{732858E4-B133-4A91-9BCA-BF80F093194A}"/>
                </a:ext>
              </a:extLst>
            </p:cNvPr>
            <p:cNvSpPr/>
            <p:nvPr userDrawn="1"/>
          </p:nvSpPr>
          <p:spPr bwMode="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24" name="Freeform: Shape 223">
              <a:extLst>
                <a:ext uri="{FF2B5EF4-FFF2-40B4-BE49-F238E27FC236}">
                  <a16:creationId xmlns:a16="http://schemas.microsoft.com/office/drawing/2014/main" id="{027DED92-EF7A-4687-A1A4-BDAA2F1EAF12}"/>
                </a:ext>
              </a:extLst>
            </p:cNvPr>
            <p:cNvSpPr/>
            <p:nvPr userDrawn="1"/>
          </p:nvSpPr>
          <p:spPr bwMode="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25" name="Freeform: Shape 224">
              <a:extLst>
                <a:ext uri="{FF2B5EF4-FFF2-40B4-BE49-F238E27FC236}">
                  <a16:creationId xmlns:a16="http://schemas.microsoft.com/office/drawing/2014/main" id="{53D72483-35F2-49AC-989D-0E1BC8456803}"/>
                </a:ext>
              </a:extLst>
            </p:cNvPr>
            <p:cNvSpPr/>
            <p:nvPr userDrawn="1"/>
          </p:nvSpPr>
          <p:spPr bwMode="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sp>
          <p:nvSpPr>
            <p:cNvPr id="226" name="Freeform: Shape 225">
              <a:extLst>
                <a:ext uri="{FF2B5EF4-FFF2-40B4-BE49-F238E27FC236}">
                  <a16:creationId xmlns:a16="http://schemas.microsoft.com/office/drawing/2014/main" id="{2DD2F54E-53A3-49F6-905E-B0F8E1348C8E}"/>
                </a:ext>
              </a:extLst>
            </p:cNvPr>
            <p:cNvSpPr/>
            <p:nvPr userDrawn="1"/>
          </p:nvSpPr>
          <p:spPr bwMode="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CA" sz="1323">
                <a:solidFill>
                  <a:schemeClr val="tx1"/>
                </a:solidFill>
                <a:latin typeface="+mn-lt"/>
              </a:endParaRPr>
            </a:p>
          </p:txBody>
        </p:sp>
        <p:cxnSp>
          <p:nvCxnSpPr>
            <p:cNvPr id="227" name="Straight Connector 226">
              <a:extLst>
                <a:ext uri="{FF2B5EF4-FFF2-40B4-BE49-F238E27FC236}">
                  <a16:creationId xmlns:a16="http://schemas.microsoft.com/office/drawing/2014/main" id="{557A01EE-7FB2-4BA0-B35A-2F95546E4624}"/>
                </a:ext>
              </a:extLst>
            </p:cNvPr>
            <p:cNvCxnSpPr/>
            <p:nvPr userDrawn="1"/>
          </p:nvCxnSpPr>
          <p:spPr bwMode="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7FC1C45B-2B29-4A42-8D4B-721F68CA1348}"/>
                </a:ext>
              </a:extLst>
            </p:cNvPr>
            <p:cNvCxnSpPr/>
            <p:nvPr userDrawn="1"/>
          </p:nvCxnSpPr>
          <p:spPr bwMode="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B1A27E92-9270-4990-A7E0-13762B5DCF31}"/>
                </a:ext>
              </a:extLst>
            </p:cNvPr>
            <p:cNvCxnSpPr/>
            <p:nvPr userDrawn="1"/>
          </p:nvCxnSpPr>
          <p:spPr bwMode="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9F46154D-791B-4F7D-8E1C-E15CD03A29AA}"/>
                </a:ext>
              </a:extLst>
            </p:cNvPr>
            <p:cNvCxnSpPr/>
            <p:nvPr userDrawn="1"/>
          </p:nvCxnSpPr>
          <p:spPr bwMode="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C9B4B757-25C9-484E-A4FE-A49FBA3319A4}"/>
                </a:ext>
              </a:extLst>
            </p:cNvPr>
            <p:cNvCxnSpPr/>
            <p:nvPr userDrawn="1"/>
          </p:nvCxnSpPr>
          <p:spPr bwMode="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75535B4E-91AD-45A5-B3C9-3699892DFD15}"/>
                </a:ext>
              </a:extLst>
            </p:cNvPr>
            <p:cNvCxnSpPr/>
            <p:nvPr userDrawn="1"/>
          </p:nvCxnSpPr>
          <p:spPr bwMode="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BB8DA04A-5D80-45BB-8266-4A4ECB242742}"/>
                </a:ext>
              </a:extLst>
            </p:cNvPr>
            <p:cNvCxnSpPr/>
            <p:nvPr userDrawn="1"/>
          </p:nvCxnSpPr>
          <p:spPr bwMode="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E5E52966-F7BC-421A-9050-FFBE6C9FDFFC}"/>
                </a:ext>
              </a:extLst>
            </p:cNvPr>
            <p:cNvCxnSpPr/>
            <p:nvPr userDrawn="1"/>
          </p:nvCxnSpPr>
          <p:spPr bwMode="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27183FD6-ADDC-4DBA-AD69-7D5A08920C83}"/>
                </a:ext>
              </a:extLst>
            </p:cNvPr>
            <p:cNvCxnSpPr/>
            <p:nvPr userDrawn="1"/>
          </p:nvCxnSpPr>
          <p:spPr bwMode="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3B1C3B52-250A-482D-AE65-9AAC3A76868D}"/>
                </a:ext>
              </a:extLst>
            </p:cNvPr>
            <p:cNvCxnSpPr/>
            <p:nvPr userDrawn="1"/>
          </p:nvCxnSpPr>
          <p:spPr bwMode="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3AB6E369-DE4F-4AA3-9B2B-FD9286DC14EB}"/>
                </a:ext>
              </a:extLst>
            </p:cNvPr>
            <p:cNvCxnSpPr/>
            <p:nvPr userDrawn="1"/>
          </p:nvCxnSpPr>
          <p:spPr bwMode="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02D96B38-98DE-4984-BD84-08887A144206}"/>
                </a:ext>
              </a:extLst>
            </p:cNvPr>
            <p:cNvCxnSpPr/>
            <p:nvPr userDrawn="1"/>
          </p:nvCxnSpPr>
          <p:spPr bwMode="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2A47B8B7-112A-4075-B20A-90A845CE256B}"/>
                </a:ext>
              </a:extLst>
            </p:cNvPr>
            <p:cNvCxnSpPr/>
            <p:nvPr userDrawn="1"/>
          </p:nvCxnSpPr>
          <p:spPr bwMode="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0FEBE3CB-E087-4212-96D5-920E5C903EF2}"/>
                </a:ext>
              </a:extLst>
            </p:cNvPr>
            <p:cNvCxnSpPr/>
            <p:nvPr userDrawn="1"/>
          </p:nvCxnSpPr>
          <p:spPr bwMode="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3686B76C-7301-4C4A-B5BE-0AFF241FAEB0}"/>
                </a:ext>
              </a:extLst>
            </p:cNvPr>
            <p:cNvCxnSpPr/>
            <p:nvPr userDrawn="1"/>
          </p:nvCxnSpPr>
          <p:spPr bwMode="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2B029B6E-808D-40CF-A2D1-AADA131A0D00}"/>
                </a:ext>
              </a:extLst>
            </p:cNvPr>
            <p:cNvCxnSpPr/>
            <p:nvPr userDrawn="1"/>
          </p:nvCxnSpPr>
          <p:spPr bwMode="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8705E053-FBF3-4534-A74B-EC16CC92EE77}"/>
                </a:ext>
              </a:extLst>
            </p:cNvPr>
            <p:cNvCxnSpPr/>
            <p:nvPr userDrawn="1"/>
          </p:nvCxnSpPr>
          <p:spPr bwMode="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BE0E44BE-C4B0-46A9-A59B-A43157B927C1}"/>
                </a:ext>
              </a:extLst>
            </p:cNvPr>
            <p:cNvCxnSpPr/>
            <p:nvPr userDrawn="1"/>
          </p:nvCxnSpPr>
          <p:spPr bwMode="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9B09A95B-D404-461F-A093-7C895E3A741F}"/>
                </a:ext>
              </a:extLst>
            </p:cNvPr>
            <p:cNvCxnSpPr/>
            <p:nvPr userDrawn="1"/>
          </p:nvCxnSpPr>
          <p:spPr bwMode="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A79A7095-2656-44EB-B0A3-4271C7264720}"/>
                </a:ext>
              </a:extLst>
            </p:cNvPr>
            <p:cNvCxnSpPr/>
            <p:nvPr userDrawn="1"/>
          </p:nvCxnSpPr>
          <p:spPr bwMode="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BA4BC595-5B69-4C71-A5EC-2940C48186D2}"/>
                </a:ext>
              </a:extLst>
            </p:cNvPr>
            <p:cNvCxnSpPr/>
            <p:nvPr userDrawn="1"/>
          </p:nvCxnSpPr>
          <p:spPr bwMode="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97474A32-631C-4FA8-B250-D9C17610DA92}"/>
                </a:ext>
              </a:extLst>
            </p:cNvPr>
            <p:cNvCxnSpPr/>
            <p:nvPr userDrawn="1"/>
          </p:nvCxnSpPr>
          <p:spPr bwMode="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4FA397D1-2FFD-4719-93E4-17828F08EC1D}"/>
                </a:ext>
              </a:extLst>
            </p:cNvPr>
            <p:cNvCxnSpPr/>
            <p:nvPr userDrawn="1"/>
          </p:nvCxnSpPr>
          <p:spPr bwMode="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12CDBCAF-60C0-40A4-97EA-7B190F17D13D}"/>
                </a:ext>
              </a:extLst>
            </p:cNvPr>
            <p:cNvCxnSpPr/>
            <p:nvPr userDrawn="1"/>
          </p:nvCxnSpPr>
          <p:spPr bwMode="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88614279-F6F1-4779-A908-BEF080C471AB}"/>
                </a:ext>
              </a:extLst>
            </p:cNvPr>
            <p:cNvCxnSpPr/>
            <p:nvPr userDrawn="1"/>
          </p:nvCxnSpPr>
          <p:spPr bwMode="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D77A8DFC-FE4B-4B06-8AEF-607F9AEE764E}"/>
                </a:ext>
              </a:extLst>
            </p:cNvPr>
            <p:cNvCxnSpPr/>
            <p:nvPr userDrawn="1"/>
          </p:nvCxnSpPr>
          <p:spPr bwMode="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942E819A-5DA8-4032-B3EB-D10DC14D6C84}"/>
                </a:ext>
              </a:extLst>
            </p:cNvPr>
            <p:cNvCxnSpPr/>
            <p:nvPr userDrawn="1"/>
          </p:nvCxnSpPr>
          <p:spPr bwMode="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1912236D-CA1F-4315-989A-12010EB46505}"/>
                </a:ext>
              </a:extLst>
            </p:cNvPr>
            <p:cNvCxnSpPr/>
            <p:nvPr userDrawn="1"/>
          </p:nvCxnSpPr>
          <p:spPr bwMode="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44ED2ACF-C68A-42CC-A632-CD03AB2544F3}"/>
                </a:ext>
              </a:extLst>
            </p:cNvPr>
            <p:cNvCxnSpPr/>
            <p:nvPr userDrawn="1"/>
          </p:nvCxnSpPr>
          <p:spPr bwMode="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4A8F039F-D473-4D39-8AC6-81810B219B3E}"/>
                </a:ext>
              </a:extLst>
            </p:cNvPr>
            <p:cNvCxnSpPr/>
            <p:nvPr userDrawn="1"/>
          </p:nvCxnSpPr>
          <p:spPr bwMode="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BA241E12-AAE1-45D8-9D67-A8007269A3E0}"/>
                </a:ext>
              </a:extLst>
            </p:cNvPr>
            <p:cNvCxnSpPr/>
            <p:nvPr userDrawn="1"/>
          </p:nvCxnSpPr>
          <p:spPr bwMode="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B3D829D9-0D54-4FB5-9FD5-512316CE5897}"/>
                </a:ext>
              </a:extLst>
            </p:cNvPr>
            <p:cNvCxnSpPr/>
            <p:nvPr userDrawn="1"/>
          </p:nvCxnSpPr>
          <p:spPr bwMode="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6DCAEE40-53ED-4281-A3F1-ACB0AA93B7BD}"/>
                </a:ext>
              </a:extLst>
            </p:cNvPr>
            <p:cNvCxnSpPr/>
            <p:nvPr userDrawn="1"/>
          </p:nvCxnSpPr>
          <p:spPr bwMode="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716D3477-104A-45EC-ABA6-46CC43BAB1CA}"/>
                </a:ext>
              </a:extLst>
            </p:cNvPr>
            <p:cNvCxnSpPr/>
            <p:nvPr userDrawn="1"/>
          </p:nvCxnSpPr>
          <p:spPr bwMode="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25EC7B04-40CF-4499-BF37-9874AB2E42BC}"/>
                </a:ext>
              </a:extLst>
            </p:cNvPr>
            <p:cNvCxnSpPr/>
            <p:nvPr userDrawn="1"/>
          </p:nvCxnSpPr>
          <p:spPr bwMode="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A1B7D422-DF11-439B-AA7B-5AE071A4C7DC}"/>
                </a:ext>
              </a:extLst>
            </p:cNvPr>
            <p:cNvCxnSpPr/>
            <p:nvPr userDrawn="1"/>
          </p:nvCxnSpPr>
          <p:spPr bwMode="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21103B97-22A5-4A41-A8B4-4FBC1AB3251F}"/>
                </a:ext>
              </a:extLst>
            </p:cNvPr>
            <p:cNvCxnSpPr/>
            <p:nvPr userDrawn="1"/>
          </p:nvCxnSpPr>
          <p:spPr bwMode="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706654E2-EE76-422E-8306-19CDD004E451}"/>
                </a:ext>
              </a:extLst>
            </p:cNvPr>
            <p:cNvCxnSpPr/>
            <p:nvPr userDrawn="1"/>
          </p:nvCxnSpPr>
          <p:spPr bwMode="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61A46DB1-E3F1-48B8-8CD6-686C08337E3D}"/>
                </a:ext>
              </a:extLst>
            </p:cNvPr>
            <p:cNvCxnSpPr/>
            <p:nvPr userDrawn="1"/>
          </p:nvCxnSpPr>
          <p:spPr bwMode="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C7EB58E3-EE98-4C63-A5FA-31A1F31261BD}"/>
                </a:ext>
              </a:extLst>
            </p:cNvPr>
            <p:cNvCxnSpPr/>
            <p:nvPr userDrawn="1"/>
          </p:nvCxnSpPr>
          <p:spPr bwMode="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FDF83986-66A6-442D-9688-89B353D5848C}"/>
                </a:ext>
              </a:extLst>
            </p:cNvPr>
            <p:cNvCxnSpPr/>
            <p:nvPr userDrawn="1"/>
          </p:nvCxnSpPr>
          <p:spPr bwMode="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AC32EE19-D046-4DA8-83C8-C7090C2032B7}"/>
                </a:ext>
              </a:extLst>
            </p:cNvPr>
            <p:cNvCxnSpPr/>
            <p:nvPr userDrawn="1"/>
          </p:nvCxnSpPr>
          <p:spPr bwMode="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AE9073FA-D009-4B43-AE1C-76B2371EDB72}"/>
                </a:ext>
              </a:extLst>
            </p:cNvPr>
            <p:cNvCxnSpPr/>
            <p:nvPr userDrawn="1"/>
          </p:nvCxnSpPr>
          <p:spPr bwMode="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A37EEEBC-9035-46B4-859D-8637EB5F71E7}"/>
                </a:ext>
              </a:extLst>
            </p:cNvPr>
            <p:cNvCxnSpPr/>
            <p:nvPr userDrawn="1"/>
          </p:nvCxnSpPr>
          <p:spPr bwMode="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271" name="main body box">
              <a:extLst>
                <a:ext uri="{FF2B5EF4-FFF2-40B4-BE49-F238E27FC236}">
                  <a16:creationId xmlns:a16="http://schemas.microsoft.com/office/drawing/2014/main" id="{5A4E68D2-98C2-4107-A058-DD36C69DD1BD}"/>
                </a:ext>
              </a:extLst>
            </p:cNvPr>
            <p:cNvSpPr/>
            <p:nvPr userDrawn="1"/>
          </p:nvSpPr>
          <p:spPr bwMode="gray">
            <a:xfrm>
              <a:off x="380838" y="1863436"/>
              <a:ext cx="11424066" cy="4354484"/>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en-CA" sz="1323">
                <a:solidFill>
                  <a:schemeClr val="tx1"/>
                </a:solidFill>
                <a:latin typeface="+mn-lt"/>
              </a:endParaRPr>
            </a:p>
          </p:txBody>
        </p:sp>
        <p:cxnSp>
          <p:nvCxnSpPr>
            <p:cNvPr id="272" name="Straight Connector 271">
              <a:extLst>
                <a:ext uri="{FF2B5EF4-FFF2-40B4-BE49-F238E27FC236}">
                  <a16:creationId xmlns:a16="http://schemas.microsoft.com/office/drawing/2014/main" id="{CD320E2E-9A90-4FBD-95ED-547D38976E3C}"/>
                </a:ext>
              </a:extLst>
            </p:cNvPr>
            <p:cNvCxnSpPr>
              <a:cxnSpLocks/>
            </p:cNvCxnSpPr>
            <p:nvPr userDrawn="1"/>
          </p:nvCxnSpPr>
          <p:spPr bwMode="gray">
            <a:xfrm>
              <a:off x="380838" y="2331408"/>
              <a:ext cx="11424066" cy="0"/>
            </a:xfrm>
            <a:prstGeom prst="line">
              <a:avLst/>
            </a:prstGeom>
            <a:noFill/>
            <a:ln w="12700">
              <a:solidFill>
                <a:srgbClr val="19D3C5">
                  <a:alpha val="50000"/>
                </a:srgbClr>
              </a:solidFill>
            </a:ln>
          </p:spPr>
        </p:cxnSp>
        <p:cxnSp>
          <p:nvCxnSpPr>
            <p:cNvPr id="273" name="Straight Connector 272">
              <a:extLst>
                <a:ext uri="{FF2B5EF4-FFF2-40B4-BE49-F238E27FC236}">
                  <a16:creationId xmlns:a16="http://schemas.microsoft.com/office/drawing/2014/main" id="{70454B89-8DFA-4EF3-83A9-38CF648F4CD1}"/>
                </a:ext>
              </a:extLst>
            </p:cNvPr>
            <p:cNvCxnSpPr>
              <a:cxnSpLocks/>
            </p:cNvCxnSpPr>
            <p:nvPr userDrawn="1"/>
          </p:nvCxnSpPr>
          <p:spPr bwMode="gray">
            <a:xfrm>
              <a:off x="380838" y="1860735"/>
              <a:ext cx="11424066" cy="0"/>
            </a:xfrm>
            <a:prstGeom prst="line">
              <a:avLst/>
            </a:prstGeom>
            <a:noFill/>
            <a:ln w="12700">
              <a:solidFill>
                <a:srgbClr val="19D3C5">
                  <a:alpha val="50000"/>
                </a:srgbClr>
              </a:solidFill>
            </a:ln>
          </p:spPr>
        </p:cxnSp>
      </p:gr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4"/>
            </p:custDataLst>
          </p:nvPr>
        </p:nvSpPr>
        <p:spPr>
          <a:xfrm>
            <a:off x="384048" y="6246430"/>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t"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CA"/>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5"/>
            </p:custDataLst>
          </p:nvPr>
        </p:nvSpPr>
        <p:spPr>
          <a:xfrm>
            <a:off x="384048" y="474575"/>
            <a:ext cx="11420856"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p>
            <a:pPr lvl="0"/>
            <a:r>
              <a:rPr lang="en-US"/>
              <a:t>Click to edit Master title style</a:t>
            </a:r>
            <a:endParaRPr lang="en-CA"/>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26"/>
            </p:custDataLst>
          </p:nvPr>
        </p:nvSpPr>
        <p:spPr>
          <a:xfrm>
            <a:off x="5987738" y="2343981"/>
            <a:ext cx="3049253" cy="53860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CA"/>
              <a:t>Above Chart Exhibit Title</a:t>
            </a:r>
          </a:p>
          <a:p>
            <a:pPr lvl="0" rtl="0"/>
            <a:r>
              <a:rPr lang="en-CA" sz="1400" b="0"/>
              <a:t>Unit of Measure</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384048" y="2343981"/>
            <a:ext cx="3633375" cy="138499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grpSp>
        <p:nvGrpSpPr>
          <p:cNvPr id="6" name="LegendLines" hidden="1">
            <a:extLst>
              <a:ext uri="{FF2B5EF4-FFF2-40B4-BE49-F238E27FC236}">
                <a16:creationId xmlns:a16="http://schemas.microsoft.com/office/drawing/2014/main" id="{EA234921-0C7A-7D08-2D6F-C793BBB3EDC2}"/>
              </a:ext>
            </a:extLst>
          </p:cNvPr>
          <p:cNvGrpSpPr/>
          <p:nvPr userDrawn="1"/>
        </p:nvGrpSpPr>
        <p:grpSpPr>
          <a:xfrm>
            <a:off x="10317304" y="3355023"/>
            <a:ext cx="1319960" cy="958286"/>
            <a:chOff x="10162879" y="3243772"/>
            <a:chExt cx="1319960" cy="958286"/>
          </a:xfrm>
        </p:grpSpPr>
        <p:sp>
          <p:nvSpPr>
            <p:cNvPr id="7" name="Legend1" hidden="1">
              <a:extLst>
                <a:ext uri="{FF2B5EF4-FFF2-40B4-BE49-F238E27FC236}">
                  <a16:creationId xmlns:a16="http://schemas.microsoft.com/office/drawing/2014/main" id="{F75F3A66-2505-BB0B-5E30-2B59AE049ED6}"/>
                </a:ext>
              </a:extLst>
            </p:cNvPr>
            <p:cNvSpPr txBox="1"/>
            <p:nvPr/>
          </p:nvSpPr>
          <p:spPr>
            <a:xfrm>
              <a:off x="10886522" y="3243772"/>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8" name="Legend2" hidden="1">
              <a:extLst>
                <a:ext uri="{FF2B5EF4-FFF2-40B4-BE49-F238E27FC236}">
                  <a16:creationId xmlns:a16="http://schemas.microsoft.com/office/drawing/2014/main" id="{358C4D19-7BE3-3BB3-FAD4-14D48A59F3BE}"/>
                </a:ext>
              </a:extLst>
            </p:cNvPr>
            <p:cNvSpPr txBox="1"/>
            <p:nvPr/>
          </p:nvSpPr>
          <p:spPr>
            <a:xfrm>
              <a:off x="10886522" y="3615193"/>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9" name="Legend3" hidden="1">
              <a:extLst>
                <a:ext uri="{FF2B5EF4-FFF2-40B4-BE49-F238E27FC236}">
                  <a16:creationId xmlns:a16="http://schemas.microsoft.com/office/drawing/2014/main" id="{CAF3D808-9D98-97DF-72B8-70170E035662}"/>
                </a:ext>
              </a:extLst>
            </p:cNvPr>
            <p:cNvSpPr txBox="1"/>
            <p:nvPr/>
          </p:nvSpPr>
          <p:spPr>
            <a:xfrm>
              <a:off x="10886522" y="3986614"/>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10" name="LineLegend3" hidden="1">
              <a:extLst>
                <a:ext uri="{FF2B5EF4-FFF2-40B4-BE49-F238E27FC236}">
                  <a16:creationId xmlns:a16="http://schemas.microsoft.com/office/drawing/2014/main" id="{6B04EFE2-63A6-8945-2A2C-3B84D8751A5D}"/>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rtl="0"/>
              <a:endParaRPr lang="en-CA" sz="1400" baseline="0">
                <a:ea typeface="+mn-ea"/>
              </a:endParaRPr>
            </a:p>
          </p:txBody>
        </p:sp>
        <p:sp>
          <p:nvSpPr>
            <p:cNvPr id="11" name="LineLegend2" hidden="1">
              <a:extLst>
                <a:ext uri="{FF2B5EF4-FFF2-40B4-BE49-F238E27FC236}">
                  <a16:creationId xmlns:a16="http://schemas.microsoft.com/office/drawing/2014/main" id="{F77F9B09-5D2D-E0CF-5772-62A775EDD085}"/>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rtl="0"/>
              <a:endParaRPr lang="en-CA" sz="1400" baseline="0">
                <a:ea typeface="+mn-ea"/>
              </a:endParaRPr>
            </a:p>
          </p:txBody>
        </p:sp>
        <p:sp>
          <p:nvSpPr>
            <p:cNvPr id="12" name="LineLegend1" hidden="1">
              <a:extLst>
                <a:ext uri="{FF2B5EF4-FFF2-40B4-BE49-F238E27FC236}">
                  <a16:creationId xmlns:a16="http://schemas.microsoft.com/office/drawing/2014/main" id="{54DCC080-16CC-BF91-3814-CBA16AB6AA08}"/>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rtl="0"/>
              <a:endParaRPr lang="en-CA" sz="1400" baseline="0">
                <a:ea typeface="+mn-ea"/>
              </a:endParaRPr>
            </a:p>
          </p:txBody>
        </p:sp>
      </p:grpSp>
      <p:grpSp>
        <p:nvGrpSpPr>
          <p:cNvPr id="13" name="LegendMoons" hidden="1">
            <a:extLst>
              <a:ext uri="{FF2B5EF4-FFF2-40B4-BE49-F238E27FC236}">
                <a16:creationId xmlns:a16="http://schemas.microsoft.com/office/drawing/2014/main" id="{378D6C5F-D742-4C0D-3E03-C353B7610612}"/>
              </a:ext>
            </a:extLst>
          </p:cNvPr>
          <p:cNvGrpSpPr/>
          <p:nvPr userDrawn="1"/>
        </p:nvGrpSpPr>
        <p:grpSpPr>
          <a:xfrm>
            <a:off x="10688315" y="1415983"/>
            <a:ext cx="948949" cy="1731859"/>
            <a:chOff x="7723680" y="1702457"/>
            <a:chExt cx="948949" cy="1731859"/>
          </a:xfrm>
        </p:grpSpPr>
        <p:sp>
          <p:nvSpPr>
            <p:cNvPr id="14" name="Legend1" hidden="1">
              <a:extLst>
                <a:ext uri="{FF2B5EF4-FFF2-40B4-BE49-F238E27FC236}">
                  <a16:creationId xmlns:a16="http://schemas.microsoft.com/office/drawing/2014/main" id="{9A689FE4-E33C-643C-C145-86DF2E5B6FEA}"/>
                </a:ext>
              </a:extLst>
            </p:cNvPr>
            <p:cNvSpPr txBox="1"/>
            <p:nvPr/>
          </p:nvSpPr>
          <p:spPr>
            <a:xfrm>
              <a:off x="8076312" y="1709816"/>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15" name="Legend2" hidden="1">
              <a:extLst>
                <a:ext uri="{FF2B5EF4-FFF2-40B4-BE49-F238E27FC236}">
                  <a16:creationId xmlns:a16="http://schemas.microsoft.com/office/drawing/2014/main" id="{5F644834-E1B1-AE9E-8F4B-2D0E93160992}"/>
                </a:ext>
              </a:extLst>
            </p:cNvPr>
            <p:cNvSpPr txBox="1"/>
            <p:nvPr/>
          </p:nvSpPr>
          <p:spPr>
            <a:xfrm>
              <a:off x="8076312" y="2085275"/>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17" name="Legend3" hidden="1">
              <a:extLst>
                <a:ext uri="{FF2B5EF4-FFF2-40B4-BE49-F238E27FC236}">
                  <a16:creationId xmlns:a16="http://schemas.microsoft.com/office/drawing/2014/main" id="{A23E1154-0A6D-CFBB-2E14-254C48F0D565}"/>
                </a:ext>
              </a:extLst>
            </p:cNvPr>
            <p:cNvSpPr txBox="1"/>
            <p:nvPr/>
          </p:nvSpPr>
          <p:spPr>
            <a:xfrm>
              <a:off x="8076312" y="2460734"/>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18" name="Legend4" hidden="1">
              <a:extLst>
                <a:ext uri="{FF2B5EF4-FFF2-40B4-BE49-F238E27FC236}">
                  <a16:creationId xmlns:a16="http://schemas.microsoft.com/office/drawing/2014/main" id="{B18A95FD-16A0-0AF4-4314-984414461C41}"/>
                </a:ext>
              </a:extLst>
            </p:cNvPr>
            <p:cNvSpPr txBox="1"/>
            <p:nvPr/>
          </p:nvSpPr>
          <p:spPr>
            <a:xfrm>
              <a:off x="8076312" y="2836193"/>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19" name="Legend5" hidden="1">
              <a:extLst>
                <a:ext uri="{FF2B5EF4-FFF2-40B4-BE49-F238E27FC236}">
                  <a16:creationId xmlns:a16="http://schemas.microsoft.com/office/drawing/2014/main" id="{EE5062ED-1CAC-5382-7D75-A509E4F6C6D1}"/>
                </a:ext>
              </a:extLst>
            </p:cNvPr>
            <p:cNvSpPr txBox="1"/>
            <p:nvPr/>
          </p:nvSpPr>
          <p:spPr>
            <a:xfrm>
              <a:off x="8076312" y="3211654"/>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grpSp>
          <p:nvGrpSpPr>
            <p:cNvPr id="20" name="MoonLegend1" hidden="1">
              <a:extLst>
                <a:ext uri="{FF2B5EF4-FFF2-40B4-BE49-F238E27FC236}">
                  <a16:creationId xmlns:a16="http://schemas.microsoft.com/office/drawing/2014/main" id="{2CD292D8-4EE9-4E74-66B8-B57BB644EF4D}"/>
                </a:ext>
              </a:extLst>
            </p:cNvPr>
            <p:cNvGrpSpPr>
              <a:grpSpLocks noChangeAspect="1"/>
            </p:cNvGrpSpPr>
            <p:nvPr>
              <p:custDataLst>
                <p:tags r:id="rId27"/>
              </p:custDataLst>
            </p:nvPr>
          </p:nvGrpSpPr>
          <p:grpSpPr>
            <a:xfrm>
              <a:off x="7723680" y="1702457"/>
              <a:ext cx="228600" cy="228600"/>
              <a:chOff x="762000" y="1270000"/>
              <a:chExt cx="254000" cy="254000"/>
            </a:xfrm>
          </p:grpSpPr>
          <p:sp>
            <p:nvSpPr>
              <p:cNvPr id="33" name="Oval 32" hidden="1">
                <a:extLst>
                  <a:ext uri="{FF2B5EF4-FFF2-40B4-BE49-F238E27FC236}">
                    <a16:creationId xmlns:a16="http://schemas.microsoft.com/office/drawing/2014/main" id="{6A837824-A229-0AE9-C2F1-F129DEDBCF59}"/>
                  </a:ext>
                </a:extLst>
              </p:cNvPr>
              <p:cNvSpPr/>
              <p:nvPr>
                <p:custDataLst>
                  <p:tags r:id="rId40"/>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CA" sz="1400">
                  <a:solidFill>
                    <a:schemeClr val="tx1"/>
                  </a:solidFill>
                </a:endParaRPr>
              </a:p>
            </p:txBody>
          </p:sp>
          <p:sp>
            <p:nvSpPr>
              <p:cNvPr id="34" name="Arc 33" hidden="1">
                <a:extLst>
                  <a:ext uri="{FF2B5EF4-FFF2-40B4-BE49-F238E27FC236}">
                    <a16:creationId xmlns:a16="http://schemas.microsoft.com/office/drawing/2014/main" id="{1DCD6E9F-E4E4-7A3A-E645-A5AAF091AEA3}"/>
                  </a:ext>
                </a:extLst>
              </p:cNvPr>
              <p:cNvSpPr/>
              <p:nvPr>
                <p:custDataLst>
                  <p:tags r:id="rId41"/>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CA" sz="1400"/>
              </a:p>
            </p:txBody>
          </p:sp>
        </p:grpSp>
        <p:grpSp>
          <p:nvGrpSpPr>
            <p:cNvPr id="21" name="MoonLegend2" hidden="1">
              <a:extLst>
                <a:ext uri="{FF2B5EF4-FFF2-40B4-BE49-F238E27FC236}">
                  <a16:creationId xmlns:a16="http://schemas.microsoft.com/office/drawing/2014/main" id="{2A455BD7-0F98-4835-5551-1B24D1D3A3C2}"/>
                </a:ext>
              </a:extLst>
            </p:cNvPr>
            <p:cNvGrpSpPr>
              <a:grpSpLocks noChangeAspect="1"/>
            </p:cNvGrpSpPr>
            <p:nvPr>
              <p:custDataLst>
                <p:tags r:id="rId28"/>
              </p:custDataLst>
            </p:nvPr>
          </p:nvGrpSpPr>
          <p:grpSpPr>
            <a:xfrm>
              <a:off x="7723680" y="2078270"/>
              <a:ext cx="228600" cy="228600"/>
              <a:chOff x="762000" y="1270000"/>
              <a:chExt cx="254000" cy="254000"/>
            </a:xfrm>
          </p:grpSpPr>
          <p:sp>
            <p:nvSpPr>
              <p:cNvPr id="31" name="Oval 30" hidden="1">
                <a:extLst>
                  <a:ext uri="{FF2B5EF4-FFF2-40B4-BE49-F238E27FC236}">
                    <a16:creationId xmlns:a16="http://schemas.microsoft.com/office/drawing/2014/main" id="{CAC01A08-735B-B412-0D8B-1E8FE89804AD}"/>
                  </a:ext>
                </a:extLst>
              </p:cNvPr>
              <p:cNvSpPr/>
              <p:nvPr>
                <p:custDataLst>
                  <p:tags r:id="rId38"/>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CA" sz="1400">
                  <a:solidFill>
                    <a:schemeClr val="tx1"/>
                  </a:solidFill>
                </a:endParaRPr>
              </a:p>
            </p:txBody>
          </p:sp>
          <p:sp>
            <p:nvSpPr>
              <p:cNvPr id="32" name="Arc 31" hidden="1">
                <a:extLst>
                  <a:ext uri="{FF2B5EF4-FFF2-40B4-BE49-F238E27FC236}">
                    <a16:creationId xmlns:a16="http://schemas.microsoft.com/office/drawing/2014/main" id="{DBCA3E94-27FB-7562-2516-A9B173E7BCEF}"/>
                  </a:ext>
                </a:extLst>
              </p:cNvPr>
              <p:cNvSpPr/>
              <p:nvPr>
                <p:custDataLst>
                  <p:tags r:id="rId39"/>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CA" sz="1400"/>
              </a:p>
            </p:txBody>
          </p:sp>
        </p:grpSp>
        <p:grpSp>
          <p:nvGrpSpPr>
            <p:cNvPr id="22" name="MoonLegend3" hidden="1">
              <a:extLst>
                <a:ext uri="{FF2B5EF4-FFF2-40B4-BE49-F238E27FC236}">
                  <a16:creationId xmlns:a16="http://schemas.microsoft.com/office/drawing/2014/main" id="{809F2A49-65C1-70B5-2E0F-C216B814CC60}"/>
                </a:ext>
              </a:extLst>
            </p:cNvPr>
            <p:cNvGrpSpPr>
              <a:grpSpLocks noChangeAspect="1"/>
            </p:cNvGrpSpPr>
            <p:nvPr>
              <p:custDataLst>
                <p:tags r:id="rId29"/>
              </p:custDataLst>
            </p:nvPr>
          </p:nvGrpSpPr>
          <p:grpSpPr>
            <a:xfrm>
              <a:off x="7723680" y="2454085"/>
              <a:ext cx="228600" cy="228600"/>
              <a:chOff x="762000" y="1270000"/>
              <a:chExt cx="254000" cy="254000"/>
            </a:xfrm>
          </p:grpSpPr>
          <p:sp>
            <p:nvSpPr>
              <p:cNvPr id="29" name="Oval 28" hidden="1">
                <a:extLst>
                  <a:ext uri="{FF2B5EF4-FFF2-40B4-BE49-F238E27FC236}">
                    <a16:creationId xmlns:a16="http://schemas.microsoft.com/office/drawing/2014/main" id="{98B2262E-13B1-D6AE-799C-57E70C6CE2FA}"/>
                  </a:ext>
                </a:extLst>
              </p:cNvPr>
              <p:cNvSpPr/>
              <p:nvPr>
                <p:custDataLst>
                  <p:tags r:id="rId36"/>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CA" sz="1400">
                  <a:solidFill>
                    <a:schemeClr val="tx1"/>
                  </a:solidFill>
                </a:endParaRPr>
              </a:p>
            </p:txBody>
          </p:sp>
          <p:sp>
            <p:nvSpPr>
              <p:cNvPr id="30" name="Arc 29" hidden="1">
                <a:extLst>
                  <a:ext uri="{FF2B5EF4-FFF2-40B4-BE49-F238E27FC236}">
                    <a16:creationId xmlns:a16="http://schemas.microsoft.com/office/drawing/2014/main" id="{11EF0689-14D5-C947-D20F-902187B731F3}"/>
                  </a:ext>
                </a:extLst>
              </p:cNvPr>
              <p:cNvSpPr/>
              <p:nvPr>
                <p:custDataLst>
                  <p:tags r:id="rId37"/>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CA" sz="1400"/>
              </a:p>
            </p:txBody>
          </p:sp>
        </p:grpSp>
        <p:grpSp>
          <p:nvGrpSpPr>
            <p:cNvPr id="23" name="MoonLegend4" hidden="1">
              <a:extLst>
                <a:ext uri="{FF2B5EF4-FFF2-40B4-BE49-F238E27FC236}">
                  <a16:creationId xmlns:a16="http://schemas.microsoft.com/office/drawing/2014/main" id="{872312CF-2656-C97E-F68A-7A5417E31A9B}"/>
                </a:ext>
              </a:extLst>
            </p:cNvPr>
            <p:cNvGrpSpPr>
              <a:grpSpLocks noChangeAspect="1"/>
            </p:cNvGrpSpPr>
            <p:nvPr>
              <p:custDataLst>
                <p:tags r:id="rId30"/>
              </p:custDataLst>
            </p:nvPr>
          </p:nvGrpSpPr>
          <p:grpSpPr>
            <a:xfrm>
              <a:off x="7723680" y="2829900"/>
              <a:ext cx="228600" cy="228600"/>
              <a:chOff x="762000" y="1270000"/>
              <a:chExt cx="254000" cy="254000"/>
            </a:xfrm>
          </p:grpSpPr>
          <p:sp>
            <p:nvSpPr>
              <p:cNvPr id="27" name="Oval 26" hidden="1">
                <a:extLst>
                  <a:ext uri="{FF2B5EF4-FFF2-40B4-BE49-F238E27FC236}">
                    <a16:creationId xmlns:a16="http://schemas.microsoft.com/office/drawing/2014/main" id="{D33BCD27-4276-8DE7-7261-5AF0D0B17EE7}"/>
                  </a:ext>
                </a:extLst>
              </p:cNvPr>
              <p:cNvSpPr/>
              <p:nvPr>
                <p:custDataLst>
                  <p:tags r:id="rId34"/>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CA" sz="1400">
                  <a:solidFill>
                    <a:schemeClr val="tx1"/>
                  </a:solidFill>
                </a:endParaRPr>
              </a:p>
            </p:txBody>
          </p:sp>
          <p:sp>
            <p:nvSpPr>
              <p:cNvPr id="28" name="Arc 27" hidden="1">
                <a:extLst>
                  <a:ext uri="{FF2B5EF4-FFF2-40B4-BE49-F238E27FC236}">
                    <a16:creationId xmlns:a16="http://schemas.microsoft.com/office/drawing/2014/main" id="{545582FC-7260-B44E-1D5F-1F332AD88536}"/>
                  </a:ext>
                </a:extLst>
              </p:cNvPr>
              <p:cNvSpPr/>
              <p:nvPr>
                <p:custDataLst>
                  <p:tags r:id="rId35"/>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CA" sz="1400"/>
              </a:p>
            </p:txBody>
          </p:sp>
        </p:grpSp>
        <p:grpSp>
          <p:nvGrpSpPr>
            <p:cNvPr id="24" name="MoonLegend5" hidden="1">
              <a:extLst>
                <a:ext uri="{FF2B5EF4-FFF2-40B4-BE49-F238E27FC236}">
                  <a16:creationId xmlns:a16="http://schemas.microsoft.com/office/drawing/2014/main" id="{D602E704-4E36-B920-77CB-86B935B091F9}"/>
                </a:ext>
              </a:extLst>
            </p:cNvPr>
            <p:cNvGrpSpPr>
              <a:grpSpLocks noChangeAspect="1"/>
            </p:cNvGrpSpPr>
            <p:nvPr>
              <p:custDataLst>
                <p:tags r:id="rId31"/>
              </p:custDataLst>
            </p:nvPr>
          </p:nvGrpSpPr>
          <p:grpSpPr>
            <a:xfrm>
              <a:off x="7723680" y="3205716"/>
              <a:ext cx="228600" cy="228600"/>
              <a:chOff x="762000" y="1270000"/>
              <a:chExt cx="254000" cy="254000"/>
            </a:xfrm>
          </p:grpSpPr>
          <p:sp>
            <p:nvSpPr>
              <p:cNvPr id="25" name="Oval 24" hidden="1">
                <a:extLst>
                  <a:ext uri="{FF2B5EF4-FFF2-40B4-BE49-F238E27FC236}">
                    <a16:creationId xmlns:a16="http://schemas.microsoft.com/office/drawing/2014/main" id="{F9C39D64-626C-1995-4391-4707C2E178E0}"/>
                  </a:ext>
                </a:extLst>
              </p:cNvPr>
              <p:cNvSpPr/>
              <p:nvPr>
                <p:custDataLst>
                  <p:tags r:id="rId32"/>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CA" sz="1400">
                  <a:solidFill>
                    <a:schemeClr val="tx1"/>
                  </a:solidFill>
                </a:endParaRPr>
              </a:p>
            </p:txBody>
          </p:sp>
          <p:sp>
            <p:nvSpPr>
              <p:cNvPr id="26" name="Arc 25" hidden="1">
                <a:extLst>
                  <a:ext uri="{FF2B5EF4-FFF2-40B4-BE49-F238E27FC236}">
                    <a16:creationId xmlns:a16="http://schemas.microsoft.com/office/drawing/2014/main" id="{61B92162-A048-104E-E85E-982ADCE006F3}"/>
                  </a:ext>
                </a:extLst>
              </p:cNvPr>
              <p:cNvSpPr/>
              <p:nvPr>
                <p:custDataLst>
                  <p:tags r:id="rId33"/>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CA" sz="1400"/>
              </a:p>
            </p:txBody>
          </p:sp>
        </p:grpSp>
      </p:grpSp>
      <p:grpSp>
        <p:nvGrpSpPr>
          <p:cNvPr id="35" name="LegendBoxes" hidden="1">
            <a:extLst>
              <a:ext uri="{FF2B5EF4-FFF2-40B4-BE49-F238E27FC236}">
                <a16:creationId xmlns:a16="http://schemas.microsoft.com/office/drawing/2014/main" id="{6E842153-17C2-61F2-E50A-0472058DD745}"/>
              </a:ext>
            </a:extLst>
          </p:cNvPr>
          <p:cNvGrpSpPr/>
          <p:nvPr userDrawn="1"/>
        </p:nvGrpSpPr>
        <p:grpSpPr>
          <a:xfrm>
            <a:off x="10714801" y="4520490"/>
            <a:ext cx="922463" cy="1717282"/>
            <a:chOff x="10652400" y="4322824"/>
            <a:chExt cx="922463" cy="1717282"/>
          </a:xfrm>
        </p:grpSpPr>
        <p:sp>
          <p:nvSpPr>
            <p:cNvPr id="36" name="RectangleLegend1" hidden="1">
              <a:extLst>
                <a:ext uri="{FF2B5EF4-FFF2-40B4-BE49-F238E27FC236}">
                  <a16:creationId xmlns:a16="http://schemas.microsoft.com/office/drawing/2014/main" id="{267CB977-1EF6-2EA7-3481-994A8EB53732}"/>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CA" sz="1400">
                <a:solidFill>
                  <a:schemeClr val="tx1"/>
                </a:solidFill>
              </a:endParaRPr>
            </a:p>
          </p:txBody>
        </p:sp>
        <p:sp>
          <p:nvSpPr>
            <p:cNvPr id="37" name="RectangleLegend2" hidden="1">
              <a:extLst>
                <a:ext uri="{FF2B5EF4-FFF2-40B4-BE49-F238E27FC236}">
                  <a16:creationId xmlns:a16="http://schemas.microsoft.com/office/drawing/2014/main" id="{9D4DF832-46B2-57E4-74B1-48BA66ADEA2C}"/>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CA" sz="1400">
                <a:solidFill>
                  <a:schemeClr val="tx1"/>
                </a:solidFill>
              </a:endParaRPr>
            </a:p>
          </p:txBody>
        </p:sp>
        <p:sp>
          <p:nvSpPr>
            <p:cNvPr id="38" name="RectangleLegend3" hidden="1">
              <a:extLst>
                <a:ext uri="{FF2B5EF4-FFF2-40B4-BE49-F238E27FC236}">
                  <a16:creationId xmlns:a16="http://schemas.microsoft.com/office/drawing/2014/main" id="{83E814A8-4C87-E3C3-F5CD-53EC45671161}"/>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CA" sz="1400">
                <a:solidFill>
                  <a:schemeClr val="tx1"/>
                </a:solidFill>
              </a:endParaRPr>
            </a:p>
          </p:txBody>
        </p:sp>
        <p:sp>
          <p:nvSpPr>
            <p:cNvPr id="39" name="RectangleLegend4" hidden="1">
              <a:extLst>
                <a:ext uri="{FF2B5EF4-FFF2-40B4-BE49-F238E27FC236}">
                  <a16:creationId xmlns:a16="http://schemas.microsoft.com/office/drawing/2014/main" id="{D7DBA70F-2356-A4A0-1268-E501CA01640D}"/>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CA" sz="1400">
                <a:solidFill>
                  <a:schemeClr val="tx1"/>
                </a:solidFill>
              </a:endParaRPr>
            </a:p>
          </p:txBody>
        </p:sp>
        <p:sp>
          <p:nvSpPr>
            <p:cNvPr id="40" name="RectangleLegend5" hidden="1">
              <a:extLst>
                <a:ext uri="{FF2B5EF4-FFF2-40B4-BE49-F238E27FC236}">
                  <a16:creationId xmlns:a16="http://schemas.microsoft.com/office/drawing/2014/main" id="{86A09846-5875-D2B9-DA7D-0948E150BA00}"/>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CA" sz="1400">
                <a:solidFill>
                  <a:schemeClr val="tx1"/>
                </a:solidFill>
              </a:endParaRPr>
            </a:p>
          </p:txBody>
        </p:sp>
        <p:sp>
          <p:nvSpPr>
            <p:cNvPr id="41" name="Legend1" hidden="1">
              <a:extLst>
                <a:ext uri="{FF2B5EF4-FFF2-40B4-BE49-F238E27FC236}">
                  <a16:creationId xmlns:a16="http://schemas.microsoft.com/office/drawing/2014/main" id="{75A08BBB-1344-2912-CDB5-6BBE444F2543}"/>
                </a:ext>
              </a:extLst>
            </p:cNvPr>
            <p:cNvSpPr txBox="1"/>
            <p:nvPr/>
          </p:nvSpPr>
          <p:spPr>
            <a:xfrm>
              <a:off x="10978546" y="4322824"/>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42" name="Legend2" hidden="1">
              <a:extLst>
                <a:ext uri="{FF2B5EF4-FFF2-40B4-BE49-F238E27FC236}">
                  <a16:creationId xmlns:a16="http://schemas.microsoft.com/office/drawing/2014/main" id="{E8C3C11F-972E-CF28-2C6F-F81EA9DCF404}"/>
                </a:ext>
              </a:extLst>
            </p:cNvPr>
            <p:cNvSpPr txBox="1"/>
            <p:nvPr/>
          </p:nvSpPr>
          <p:spPr>
            <a:xfrm>
              <a:off x="10978546" y="4702322"/>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43" name="Legend3" hidden="1">
              <a:extLst>
                <a:ext uri="{FF2B5EF4-FFF2-40B4-BE49-F238E27FC236}">
                  <a16:creationId xmlns:a16="http://schemas.microsoft.com/office/drawing/2014/main" id="{FE3172B7-0D53-82DE-307C-E89379E98741}"/>
                </a:ext>
              </a:extLst>
            </p:cNvPr>
            <p:cNvSpPr txBox="1"/>
            <p:nvPr/>
          </p:nvSpPr>
          <p:spPr>
            <a:xfrm>
              <a:off x="10978546" y="5081820"/>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44" name="Legend4" hidden="1">
              <a:extLst>
                <a:ext uri="{FF2B5EF4-FFF2-40B4-BE49-F238E27FC236}">
                  <a16:creationId xmlns:a16="http://schemas.microsoft.com/office/drawing/2014/main" id="{41ABD00E-621E-20EB-B096-EEB961BA5998}"/>
                </a:ext>
              </a:extLst>
            </p:cNvPr>
            <p:cNvSpPr txBox="1"/>
            <p:nvPr/>
          </p:nvSpPr>
          <p:spPr>
            <a:xfrm>
              <a:off x="10978546" y="5453241"/>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sp>
          <p:nvSpPr>
            <p:cNvPr id="45" name="Legend5" hidden="1">
              <a:extLst>
                <a:ext uri="{FF2B5EF4-FFF2-40B4-BE49-F238E27FC236}">
                  <a16:creationId xmlns:a16="http://schemas.microsoft.com/office/drawing/2014/main" id="{CDD75596-96D4-FA21-EE9A-09A142460E56}"/>
                </a:ext>
              </a:extLst>
            </p:cNvPr>
            <p:cNvSpPr txBox="1"/>
            <p:nvPr/>
          </p:nvSpPr>
          <p:spPr>
            <a:xfrm>
              <a:off x="10978545" y="5824662"/>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CA" sz="1400"/>
                <a:t>Legend</a:t>
              </a:r>
            </a:p>
          </p:txBody>
        </p:sp>
      </p:grpSp>
      <p:pic>
        <p:nvPicPr>
          <p:cNvPr id="53" name="Picture 52">
            <a:extLst>
              <a:ext uri="{FF2B5EF4-FFF2-40B4-BE49-F238E27FC236}">
                <a16:creationId xmlns:a16="http://schemas.microsoft.com/office/drawing/2014/main" id="{4E1107AE-C36E-907E-E193-9F4301EF1A03}"/>
              </a:ext>
            </a:extLst>
          </p:cNvPr>
          <p:cNvPicPr>
            <a:picLocks/>
          </p:cNvPicPr>
          <p:nvPr userDrawn="1"/>
        </p:nvPicPr>
        <p:blipFill>
          <a:blip r:embed="rId44"/>
          <a:stretch>
            <a:fillRect/>
          </a:stretch>
        </p:blipFill>
        <p:spPr>
          <a:xfrm>
            <a:off x="10853928" y="6388101"/>
            <a:ext cx="950976" cy="357859"/>
          </a:xfrm>
          <a:prstGeom prst="rect">
            <a:avLst/>
          </a:prstGeom>
        </p:spPr>
      </p:pic>
      <p:cxnSp>
        <p:nvCxnSpPr>
          <p:cNvPr id="59" name="Straight Connector 58">
            <a:extLst>
              <a:ext uri="{FF2B5EF4-FFF2-40B4-BE49-F238E27FC236}">
                <a16:creationId xmlns:a16="http://schemas.microsoft.com/office/drawing/2014/main" id="{42F71B01-9AA7-FC6A-2303-1A5F02B23CAB}"/>
              </a:ext>
            </a:extLst>
          </p:cNvPr>
          <p:cNvCxnSpPr>
            <a:cxnSpLocks/>
          </p:cNvCxnSpPr>
          <p:nvPr userDrawn="1"/>
        </p:nvCxnSpPr>
        <p:spPr>
          <a:xfrm>
            <a:off x="384048" y="6210993"/>
            <a:ext cx="11420856" cy="0"/>
          </a:xfrm>
          <a:prstGeom prst="line">
            <a:avLst/>
          </a:pr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05B7294-5F30-B529-F78D-A31AE58EE942}"/>
              </a:ext>
            </a:extLst>
          </p:cNvPr>
          <p:cNvCxnSpPr>
            <a:cxnSpLocks/>
          </p:cNvCxnSpPr>
          <p:nvPr userDrawn="1"/>
        </p:nvCxnSpPr>
        <p:spPr>
          <a:xfrm>
            <a:off x="384048" y="1083423"/>
            <a:ext cx="11420856" cy="0"/>
          </a:xfrm>
          <a:prstGeom prst="line">
            <a:avLst/>
          </a:pr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9" name="Sticker" hidden="1">
            <a:extLst>
              <a:ext uri="{FF2B5EF4-FFF2-40B4-BE49-F238E27FC236}">
                <a16:creationId xmlns:a16="http://schemas.microsoft.com/office/drawing/2014/main" id="{32BF8EA6-734C-5DC0-0A46-DE2ED733409F}"/>
              </a:ext>
            </a:extLst>
          </p:cNvPr>
          <p:cNvSpPr txBox="1"/>
          <p:nvPr userDrawn="1"/>
        </p:nvSpPr>
        <p:spPr>
          <a:xfrm>
            <a:off x="384048" y="1419436"/>
            <a:ext cx="450444"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rtl="0"/>
            <a:r>
              <a:rPr lang="en-CA"/>
              <a:t>STICKER</a:t>
            </a:r>
          </a:p>
        </p:txBody>
      </p:sp>
    </p:spTree>
    <p:extLst>
      <p:ext uri="{BB962C8B-B14F-4D97-AF65-F5344CB8AC3E}">
        <p14:creationId xmlns:p14="http://schemas.microsoft.com/office/powerpoint/2010/main" val="3014639164"/>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 id="2147484037" r:id="rId13"/>
    <p:sldLayoutId id="2147484038" r:id="rId14"/>
    <p:sldLayoutId id="2147484039" r:id="rId15"/>
    <p:sldLayoutId id="2147484040" r:id="rId16"/>
    <p:sldLayoutId id="2147484041" r:id="rId17"/>
    <p:sldLayoutId id="2147484042" r:id="rId18"/>
    <p:sldLayoutId id="2147484043" r:id="rId19"/>
    <p:sldLayoutId id="2147484044" r:id="rId20"/>
  </p:sldLayoutIdLst>
  <p:hf sldNum="0" hdr="0" ftr="0"/>
  <p:txStyles>
    <p:titleStyle>
      <a:lvl1pPr algn="l" defTabSz="914400" rtl="0" eaLnBrk="1" latinLnBrk="0" hangingPunct="1">
        <a:lnSpc>
          <a:spcPct val="100000"/>
        </a:lnSpc>
        <a:spcBef>
          <a:spcPct val="0"/>
        </a:spcBef>
        <a:buNone/>
        <a:defRPr lang="en-US" sz="2500" b="0" kern="1200" spc="0" baseline="0" dirty="0">
          <a:ln w="6350" cap="flat">
            <a:noFill/>
            <a:miter lim="800000"/>
          </a:ln>
          <a:solidFill>
            <a:schemeClr val="accent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66">
          <p15:clr>
            <a:srgbClr val="5ACBF0"/>
          </p15:clr>
        </p15:guide>
        <p15:guide id="3" orient="horz" pos="3912">
          <p15:clr>
            <a:srgbClr val="5ACBF0"/>
          </p15:clr>
        </p15:guide>
        <p15:guide id="4" orient="horz" pos="1169">
          <p15:clr>
            <a:srgbClr val="F26B43"/>
          </p15:clr>
        </p15:guide>
        <p15:guide id="5" pos="7440">
          <p15:clr>
            <a:srgbClr val="F26B43"/>
          </p15:clr>
        </p15:guide>
        <p15:guide id="6" pos="240">
          <p15:clr>
            <a:srgbClr val="F26B43"/>
          </p15:clr>
        </p15:guide>
        <p15:guide id="8" orient="horz" pos="4015">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BE9A8BC-9B8C-5A84-FE94-A5D748D4FFF8}"/>
              </a:ext>
            </a:extLst>
          </p:cNvPr>
          <p:cNvGraphicFramePr>
            <a:graphicFrameLocks noChangeAspect="1"/>
          </p:cNvGraphicFramePr>
          <p:nvPr userDrawn="1">
            <p:custDataLst>
              <p:tags r:id="rId18"/>
            </p:custDataLst>
            <p:extLst>
              <p:ext uri="{D42A27DB-BD31-4B8C-83A1-F6EECF244321}">
                <p14:modId xmlns:p14="http://schemas.microsoft.com/office/powerpoint/2010/main" val="958245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9" imgW="473" imgH="473" progId="TCLayout.ActiveDocument.1">
                  <p:embed/>
                </p:oleObj>
              </mc:Choice>
              <mc:Fallback>
                <p:oleObj name="think-cell Slide" r:id="rId19" imgW="473" imgH="473" progId="TCLayout.ActiveDocument.1">
                  <p:embed/>
                  <p:pic>
                    <p:nvPicPr>
                      <p:cNvPr id="5" name="Object 4" hidden="1">
                        <a:extLst>
                          <a:ext uri="{FF2B5EF4-FFF2-40B4-BE49-F238E27FC236}">
                            <a16:creationId xmlns:a16="http://schemas.microsoft.com/office/drawing/2014/main" id="{DBE9A8BC-9B8C-5A84-FE94-A5D748D4FFF8}"/>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E2AFB9C9-E550-A643-B6BA-1F85DC33CB6D}"/>
              </a:ext>
            </a:extLst>
          </p:cNvPr>
          <p:cNvSpPr>
            <a:spLocks noGrp="1"/>
          </p:cNvSpPr>
          <p:nvPr>
            <p:ph type="title"/>
          </p:nvPr>
        </p:nvSpPr>
        <p:spPr>
          <a:xfrm>
            <a:off x="384048" y="381000"/>
            <a:ext cx="11420856" cy="533400"/>
          </a:xfrm>
          <a:prstGeom prst="rect">
            <a:avLst/>
          </a:prstGeom>
        </p:spPr>
        <p:txBody>
          <a:bodyPr vert="horz" lIns="0" tIns="0" rIns="0" bIns="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D8C041-B2CA-3140-B7D0-C1DCF07DF29D}"/>
              </a:ext>
            </a:extLst>
          </p:cNvPr>
          <p:cNvSpPr>
            <a:spLocks noGrp="1"/>
          </p:cNvSpPr>
          <p:nvPr>
            <p:ph type="body" idx="1"/>
          </p:nvPr>
        </p:nvSpPr>
        <p:spPr>
          <a:xfrm>
            <a:off x="384048" y="1295401"/>
            <a:ext cx="11420856" cy="47244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AD6BCD8-05CB-42C6-AD70-BAD591D95266}"/>
              </a:ext>
            </a:extLst>
          </p:cNvPr>
          <p:cNvCxnSpPr>
            <a:cxnSpLocks/>
          </p:cNvCxnSpPr>
          <p:nvPr userDrawn="1"/>
        </p:nvCxnSpPr>
        <p:spPr>
          <a:xfrm>
            <a:off x="384048" y="1066800"/>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72133AB-67BC-4F74-A07A-65A22E102BAA}"/>
              </a:ext>
            </a:extLst>
          </p:cNvPr>
          <p:cNvCxnSpPr>
            <a:cxnSpLocks/>
          </p:cNvCxnSpPr>
          <p:nvPr userDrawn="1"/>
        </p:nvCxnSpPr>
        <p:spPr>
          <a:xfrm>
            <a:off x="384048" y="6241473"/>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C18E352-8130-4711-86BD-9515E8F1C1C5}"/>
              </a:ext>
            </a:extLst>
          </p:cNvPr>
          <p:cNvPicPr>
            <a:picLocks/>
          </p:cNvPicPr>
          <p:nvPr userDrawn="1"/>
        </p:nvPicPr>
        <p:blipFill>
          <a:blip r:embed="rId21"/>
          <a:stretch>
            <a:fillRect/>
          </a:stretch>
        </p:blipFill>
        <p:spPr>
          <a:xfrm>
            <a:off x="10853928" y="6388101"/>
            <a:ext cx="950976" cy="357859"/>
          </a:xfrm>
          <a:prstGeom prst="rect">
            <a:avLst/>
          </a:prstGeom>
        </p:spPr>
      </p:pic>
      <p:sp>
        <p:nvSpPr>
          <p:cNvPr id="10" name="Footer Placeholder 4">
            <a:extLst>
              <a:ext uri="{FF2B5EF4-FFF2-40B4-BE49-F238E27FC236}">
                <a16:creationId xmlns:a16="http://schemas.microsoft.com/office/drawing/2014/main" id="{C619E110-F4CA-4E4F-B502-8E44D45BE640}"/>
              </a:ext>
            </a:extLst>
          </p:cNvPr>
          <p:cNvSpPr>
            <a:spLocks noGrp="1"/>
          </p:cNvSpPr>
          <p:nvPr>
            <p:ph type="ftr" sz="quarter" idx="3"/>
          </p:nvPr>
        </p:nvSpPr>
        <p:spPr>
          <a:xfrm>
            <a:off x="381000" y="6515098"/>
            <a:ext cx="8077200" cy="342900"/>
          </a:xfrm>
          <a:prstGeom prst="rect">
            <a:avLst/>
          </a:prstGeom>
        </p:spPr>
        <p:txBody>
          <a:bodyPr lIns="0" tIns="0" rIns="0"/>
          <a:lstStyle>
            <a:lvl1pPr algn="l">
              <a:defRPr sz="1000"/>
            </a:lvl1pPr>
          </a:lstStyle>
          <a:p>
            <a:r>
              <a:rPr lang="en-CA"/>
              <a:t>CONFIDENTIAL</a:t>
            </a:r>
          </a:p>
        </p:txBody>
      </p:sp>
      <p:sp>
        <p:nvSpPr>
          <p:cNvPr id="11" name="Date Placeholder 3">
            <a:extLst>
              <a:ext uri="{FF2B5EF4-FFF2-40B4-BE49-F238E27FC236}">
                <a16:creationId xmlns:a16="http://schemas.microsoft.com/office/drawing/2014/main" id="{08947FEE-BC42-AB41-9311-D8AAD7B00567}"/>
              </a:ext>
            </a:extLst>
          </p:cNvPr>
          <p:cNvSpPr>
            <a:spLocks noGrp="1"/>
          </p:cNvSpPr>
          <p:nvPr>
            <p:ph type="dt" sz="half" idx="2"/>
          </p:nvPr>
        </p:nvSpPr>
        <p:spPr>
          <a:xfrm>
            <a:off x="8569452" y="6515098"/>
            <a:ext cx="1474248" cy="342902"/>
          </a:xfrm>
          <a:prstGeom prst="rect">
            <a:avLst/>
          </a:prstGeom>
        </p:spPr>
        <p:txBody>
          <a:bodyPr lIns="0" tIns="0" rIns="0"/>
          <a:lstStyle>
            <a:lvl1pPr>
              <a:defRPr sz="1000"/>
            </a:lvl1pPr>
          </a:lstStyle>
          <a:p>
            <a:fld id="{B9EBF019-A5C2-491B-AAE2-7B2CD41A4D97}" type="datetime1">
              <a:rPr lang="en-US" smtClean="0"/>
              <a:t>7/31/2026</a:t>
            </a:fld>
            <a:endParaRPr lang="en-CA"/>
          </a:p>
        </p:txBody>
      </p:sp>
    </p:spTree>
    <p:extLst>
      <p:ext uri="{BB962C8B-B14F-4D97-AF65-F5344CB8AC3E}">
        <p14:creationId xmlns:p14="http://schemas.microsoft.com/office/powerpoint/2010/main" val="1316469757"/>
      </p:ext>
    </p:extLst>
  </p:cSld>
  <p:clrMap bg1="lt1" tx1="dk1" bg2="lt2" tx2="dk2" accent1="accent1" accent2="accent2" accent3="accent3" accent4="accent4" accent5="accent5" accent6="accent6" hlink="hlink" folHlink="folHlink"/>
  <p:sldLayoutIdLst>
    <p:sldLayoutId id="2147484046" r:id="rId1"/>
    <p:sldLayoutId id="2147484047" r:id="rId2"/>
    <p:sldLayoutId id="2147484048" r:id="rId3"/>
    <p:sldLayoutId id="2147484049" r:id="rId4"/>
    <p:sldLayoutId id="2147484050" r:id="rId5"/>
    <p:sldLayoutId id="2147484051" r:id="rId6"/>
    <p:sldLayoutId id="2147484052" r:id="rId7"/>
    <p:sldLayoutId id="2147484053" r:id="rId8"/>
    <p:sldLayoutId id="2147484054" r:id="rId9"/>
    <p:sldLayoutId id="2147484055" r:id="rId10"/>
    <p:sldLayoutId id="2147484056" r:id="rId11"/>
    <p:sldLayoutId id="2147484057" r:id="rId12"/>
    <p:sldLayoutId id="2147484058" r:id="rId13"/>
    <p:sldLayoutId id="2147484059" r:id="rId14"/>
    <p:sldLayoutId id="2147484070" r:id="rId15"/>
    <p:sldLayoutId id="2147484071" r:id="rId16"/>
  </p:sldLayoutIdLst>
  <p:hf hdr="0"/>
  <p:txStyles>
    <p:titleStyle>
      <a:lvl1pPr algn="l" defTabSz="6858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8600" indent="-228600" algn="l" defTabSz="6858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685800" rtl="0" eaLnBrk="1" latinLnBrk="0" hangingPunct="1">
        <a:lnSpc>
          <a:spcPct val="90000"/>
        </a:lnSpc>
        <a:spcBef>
          <a:spcPts val="500"/>
        </a:spcBef>
        <a:buFont typeface="Wingdings" pitchFamily="2" charset="2"/>
        <a:buChar char="§"/>
        <a:defRPr sz="2000" kern="1200">
          <a:solidFill>
            <a:schemeClr val="tx1"/>
          </a:solidFill>
          <a:latin typeface="+mn-lt"/>
          <a:ea typeface="+mn-ea"/>
          <a:cs typeface="+mn-cs"/>
        </a:defRPr>
      </a:lvl2pPr>
      <a:lvl3pPr marL="1143000" indent="-228600" algn="l" defTabSz="6858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685800" rtl="0" eaLnBrk="1" latinLnBrk="0" hangingPunct="1">
        <a:lnSpc>
          <a:spcPct val="90000"/>
        </a:lnSpc>
        <a:spcBef>
          <a:spcPts val="500"/>
        </a:spcBef>
        <a:buFont typeface="Wingdings" pitchFamily="2" charset="2"/>
        <a:buChar char="§"/>
        <a:defRPr sz="1400" kern="1200">
          <a:solidFill>
            <a:schemeClr val="tx1"/>
          </a:solidFill>
          <a:latin typeface="+mn-lt"/>
          <a:ea typeface="+mn-ea"/>
          <a:cs typeface="+mn-cs"/>
        </a:defRPr>
      </a:lvl4pPr>
      <a:lvl5pPr marL="2057400" indent="-228600" algn="l" defTabSz="6858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7436">
          <p15:clr>
            <a:srgbClr val="F26B43"/>
          </p15:clr>
        </p15:guide>
        <p15:guide id="4" pos="239">
          <p15:clr>
            <a:srgbClr val="F26B43"/>
          </p15:clr>
        </p15:guide>
        <p15:guide id="5" pos="3840">
          <p15:clr>
            <a:srgbClr val="F26B43"/>
          </p15:clr>
        </p15:guide>
        <p15:guide id="6" orient="horz" pos="4104">
          <p15:clr>
            <a:srgbClr val="F26B43"/>
          </p15:clr>
        </p15:guide>
        <p15:guide id="8" orient="horz" pos="2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9EAE993-7DEC-4775-BC26-26BFCFA95EF9}"/>
              </a:ext>
            </a:extLst>
          </p:cNvPr>
          <p:cNvGraphicFramePr>
            <a:graphicFrameLocks noChangeAspect="1"/>
          </p:cNvGraphicFramePr>
          <p:nvPr userDrawn="1">
            <p:custDataLst>
              <p:tags r:id="rId11"/>
            </p:custDataLst>
            <p:extLst>
              <p:ext uri="{D42A27DB-BD31-4B8C-83A1-F6EECF244321}">
                <p14:modId xmlns:p14="http://schemas.microsoft.com/office/powerpoint/2010/main" val="23373901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592" imgH="591" progId="TCLayout.ActiveDocument.1">
                  <p:embed/>
                </p:oleObj>
              </mc:Choice>
              <mc:Fallback>
                <p:oleObj name="think-cell Slide" r:id="rId13" imgW="592" imgH="591" progId="TCLayout.ActiveDocument.1">
                  <p:embed/>
                  <p:pic>
                    <p:nvPicPr>
                      <p:cNvPr id="5" name="Object 4" hidden="1">
                        <a:extLst>
                          <a:ext uri="{FF2B5EF4-FFF2-40B4-BE49-F238E27FC236}">
                            <a16:creationId xmlns:a16="http://schemas.microsoft.com/office/drawing/2014/main" id="{69EAE993-7DEC-4775-BC26-26BFCFA95EF9}"/>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0C1337B-6310-4C7E-950D-F4485A25CFA2}"/>
              </a:ext>
            </a:extLst>
          </p:cNvPr>
          <p:cNvSpPr/>
          <p:nvPr userDrawn="1">
            <p:custDataLst>
              <p:tags r:id="rId1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200" b="0" i="0" baseline="0">
              <a:latin typeface="Arial" panose="020B0604020202020204" pitchFamily="34" charset="0"/>
              <a:ea typeface="+mj-ea"/>
              <a:cs typeface="+mj-cs"/>
              <a:sym typeface="Arial" panose="020B0604020202020204" pitchFamily="34" charset="0"/>
            </a:endParaRPr>
          </a:p>
        </p:txBody>
      </p:sp>
      <p:sp>
        <p:nvSpPr>
          <p:cNvPr id="2" name="Title Placeholder 1">
            <a:extLst>
              <a:ext uri="{FF2B5EF4-FFF2-40B4-BE49-F238E27FC236}">
                <a16:creationId xmlns:a16="http://schemas.microsoft.com/office/drawing/2014/main" id="{E2AFB9C9-E550-A643-B6BA-1F85DC33CB6D}"/>
              </a:ext>
            </a:extLst>
          </p:cNvPr>
          <p:cNvSpPr>
            <a:spLocks noGrp="1"/>
          </p:cNvSpPr>
          <p:nvPr>
            <p:ph type="title"/>
          </p:nvPr>
        </p:nvSpPr>
        <p:spPr>
          <a:xfrm>
            <a:off x="384048" y="381000"/>
            <a:ext cx="11420856" cy="533400"/>
          </a:xfrm>
          <a:prstGeom prst="rect">
            <a:avLst/>
          </a:prstGeom>
        </p:spPr>
        <p:txBody>
          <a:bodyPr vert="horz" lIns="0" tIns="0" rIns="0" bIns="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D8C041-B2CA-3140-B7D0-C1DCF07DF29D}"/>
              </a:ext>
            </a:extLst>
          </p:cNvPr>
          <p:cNvSpPr>
            <a:spLocks noGrp="1"/>
          </p:cNvSpPr>
          <p:nvPr>
            <p:ph type="body" idx="1"/>
          </p:nvPr>
        </p:nvSpPr>
        <p:spPr>
          <a:xfrm>
            <a:off x="384048" y="1295401"/>
            <a:ext cx="11420856" cy="472440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AD6BCD8-05CB-42C6-AD70-BAD591D95266}"/>
              </a:ext>
            </a:extLst>
          </p:cNvPr>
          <p:cNvCxnSpPr>
            <a:cxnSpLocks/>
          </p:cNvCxnSpPr>
          <p:nvPr userDrawn="1"/>
        </p:nvCxnSpPr>
        <p:spPr>
          <a:xfrm>
            <a:off x="384048" y="1066800"/>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72133AB-67BC-4F74-A07A-65A22E102BAA}"/>
              </a:ext>
            </a:extLst>
          </p:cNvPr>
          <p:cNvCxnSpPr>
            <a:cxnSpLocks/>
          </p:cNvCxnSpPr>
          <p:nvPr userDrawn="1"/>
        </p:nvCxnSpPr>
        <p:spPr>
          <a:xfrm>
            <a:off x="384048" y="6241473"/>
            <a:ext cx="11420856"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C18E352-8130-4711-86BD-9515E8F1C1C5}"/>
              </a:ext>
            </a:extLst>
          </p:cNvPr>
          <p:cNvPicPr>
            <a:picLocks/>
          </p:cNvPicPr>
          <p:nvPr userDrawn="1"/>
        </p:nvPicPr>
        <p:blipFill>
          <a:blip r:embed="rId15"/>
          <a:stretch>
            <a:fillRect/>
          </a:stretch>
        </p:blipFill>
        <p:spPr>
          <a:xfrm>
            <a:off x="10853928" y="6388101"/>
            <a:ext cx="950976" cy="357859"/>
          </a:xfrm>
          <a:prstGeom prst="rect">
            <a:avLst/>
          </a:prstGeom>
        </p:spPr>
      </p:pic>
      <p:sp>
        <p:nvSpPr>
          <p:cNvPr id="10" name="Footer Placeholder 4">
            <a:extLst>
              <a:ext uri="{FF2B5EF4-FFF2-40B4-BE49-F238E27FC236}">
                <a16:creationId xmlns:a16="http://schemas.microsoft.com/office/drawing/2014/main" id="{C619E110-F4CA-4E4F-B502-8E44D45BE640}"/>
              </a:ext>
            </a:extLst>
          </p:cNvPr>
          <p:cNvSpPr>
            <a:spLocks noGrp="1"/>
          </p:cNvSpPr>
          <p:nvPr>
            <p:ph type="ftr" sz="quarter" idx="3"/>
          </p:nvPr>
        </p:nvSpPr>
        <p:spPr>
          <a:xfrm>
            <a:off x="381000" y="6515098"/>
            <a:ext cx="8077200" cy="342900"/>
          </a:xfrm>
          <a:prstGeom prst="rect">
            <a:avLst/>
          </a:prstGeom>
        </p:spPr>
        <p:txBody>
          <a:bodyPr lIns="0" tIns="0" rIns="0"/>
          <a:lstStyle>
            <a:lvl1pPr algn="l">
              <a:defRPr sz="1000"/>
            </a:lvl1pPr>
          </a:lstStyle>
          <a:p>
            <a:r>
              <a:rPr lang="en-CA"/>
              <a:t>CONFIDENTIAL</a:t>
            </a:r>
          </a:p>
        </p:txBody>
      </p:sp>
      <p:sp>
        <p:nvSpPr>
          <p:cNvPr id="12" name="Footer Placeholder 8">
            <a:extLst>
              <a:ext uri="{FF2B5EF4-FFF2-40B4-BE49-F238E27FC236}">
                <a16:creationId xmlns:a16="http://schemas.microsoft.com/office/drawing/2014/main" id="{21B266CD-9F45-4261-9AAC-F9C9D3217C95}"/>
              </a:ext>
            </a:extLst>
          </p:cNvPr>
          <p:cNvSpPr txBox="1">
            <a:spLocks/>
          </p:cNvSpPr>
          <p:nvPr userDrawn="1"/>
        </p:nvSpPr>
        <p:spPr>
          <a:xfrm>
            <a:off x="9982200" y="152400"/>
            <a:ext cx="14478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t>CONFIDENTIAL</a:t>
            </a:r>
          </a:p>
        </p:txBody>
      </p:sp>
      <p:sp>
        <p:nvSpPr>
          <p:cNvPr id="13" name="Footer Placeholder 8">
            <a:extLst>
              <a:ext uri="{FF2B5EF4-FFF2-40B4-BE49-F238E27FC236}">
                <a16:creationId xmlns:a16="http://schemas.microsoft.com/office/drawing/2014/main" id="{317151BC-72F8-45C7-80BF-84FFC8E5EEC0}"/>
              </a:ext>
            </a:extLst>
          </p:cNvPr>
          <p:cNvSpPr txBox="1">
            <a:spLocks/>
          </p:cNvSpPr>
          <p:nvPr userDrawn="1"/>
        </p:nvSpPr>
        <p:spPr>
          <a:xfrm>
            <a:off x="11430000" y="152400"/>
            <a:ext cx="381000" cy="228600"/>
          </a:xfrm>
          <a:prstGeom prst="rect">
            <a:avLst/>
          </a:prstGeom>
        </p:spPr>
        <p:txBody>
          <a:bodyPr vert="horz" lIns="0" tIns="0" rIns="0" bIns="0" rtlCol="0" anchor="t" anchorCtr="0"/>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B11B169-12C0-D948-9ABB-CACE7597BA3D}" type="slidenum">
              <a:rPr lang="en-CA" smtClean="0"/>
              <a:pPr algn="r"/>
              <a:t>‹#›</a:t>
            </a:fld>
            <a:endParaRPr lang="en-CA"/>
          </a:p>
        </p:txBody>
      </p:sp>
    </p:spTree>
    <p:extLst>
      <p:ext uri="{BB962C8B-B14F-4D97-AF65-F5344CB8AC3E}">
        <p14:creationId xmlns:p14="http://schemas.microsoft.com/office/powerpoint/2010/main" val="491161113"/>
      </p:ext>
    </p:extLst>
  </p:cSld>
  <p:clrMap bg1="lt1" tx1="dk1" bg2="lt2" tx2="dk2" accent1="accent1" accent2="accent2" accent3="accent3" accent4="accent4" accent5="accent5" accent6="accent6" hlink="hlink" folHlink="folHlink"/>
  <p:sldLayoutIdLst>
    <p:sldLayoutId id="2147484061" r:id="rId1"/>
    <p:sldLayoutId id="2147484062" r:id="rId2"/>
    <p:sldLayoutId id="2147484063" r:id="rId3"/>
    <p:sldLayoutId id="2147484064" r:id="rId4"/>
    <p:sldLayoutId id="2147484065" r:id="rId5"/>
    <p:sldLayoutId id="2147484066" r:id="rId6"/>
    <p:sldLayoutId id="2147484067" r:id="rId7"/>
    <p:sldLayoutId id="2147484068" r:id="rId8"/>
    <p:sldLayoutId id="2147484069" r:id="rId9"/>
  </p:sldLayoutIdLst>
  <p:hf sldNum="0" hdr="0"/>
  <p:txStyles>
    <p:titleStyle>
      <a:lvl1pPr algn="l" defTabSz="6858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8600" indent="-228600" algn="l" defTabSz="6858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685800" rtl="0" eaLnBrk="1" latinLnBrk="0" hangingPunct="1">
        <a:lnSpc>
          <a:spcPct val="90000"/>
        </a:lnSpc>
        <a:spcBef>
          <a:spcPts val="500"/>
        </a:spcBef>
        <a:buFont typeface="Wingdings" pitchFamily="2" charset="2"/>
        <a:buChar char="§"/>
        <a:defRPr sz="2000" kern="1200">
          <a:solidFill>
            <a:schemeClr val="tx1"/>
          </a:solidFill>
          <a:latin typeface="+mn-lt"/>
          <a:ea typeface="+mn-ea"/>
          <a:cs typeface="+mn-cs"/>
        </a:defRPr>
      </a:lvl2pPr>
      <a:lvl3pPr marL="1143000" indent="-228600" algn="l" defTabSz="6858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685800" rtl="0" eaLnBrk="1" latinLnBrk="0" hangingPunct="1">
        <a:lnSpc>
          <a:spcPct val="90000"/>
        </a:lnSpc>
        <a:spcBef>
          <a:spcPts val="500"/>
        </a:spcBef>
        <a:buFont typeface="Wingdings" pitchFamily="2" charset="2"/>
        <a:buChar char="§"/>
        <a:defRPr sz="1400" kern="1200">
          <a:solidFill>
            <a:schemeClr val="tx1"/>
          </a:solidFill>
          <a:latin typeface="+mn-lt"/>
          <a:ea typeface="+mn-ea"/>
          <a:cs typeface="+mn-cs"/>
        </a:defRPr>
      </a:lvl4pPr>
      <a:lvl5pPr marL="2057400" indent="-228600" algn="l" defTabSz="6858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7436">
          <p15:clr>
            <a:srgbClr val="F26B43"/>
          </p15:clr>
        </p15:guide>
        <p15:guide id="4" pos="239">
          <p15:clr>
            <a:srgbClr val="F26B43"/>
          </p15:clr>
        </p15:guide>
        <p15:guide id="5" pos="3840">
          <p15:clr>
            <a:srgbClr val="F26B43"/>
          </p15:clr>
        </p15:guide>
        <p15:guide id="6" orient="horz" pos="4104">
          <p15:clr>
            <a:srgbClr val="F26B43"/>
          </p15:clr>
        </p15:guide>
        <p15:guide id="8"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7.png"/><Relationship Id="rId7" Type="http://schemas.openxmlformats.org/officeDocument/2006/relationships/diagramColors" Target="../diagrams/colors1.xml"/><Relationship Id="rId2" Type="http://schemas.openxmlformats.org/officeDocument/2006/relationships/image" Target="../media/image6.png"/><Relationship Id="rId1" Type="http://schemas.openxmlformats.org/officeDocument/2006/relationships/slideLayout" Target="../slideLayouts/slideLayout4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3.xml"/><Relationship Id="rId13" Type="http://schemas.openxmlformats.org/officeDocument/2006/relationships/image" Target="../media/image10.svg"/><Relationship Id="rId3" Type="http://schemas.openxmlformats.org/officeDocument/2006/relationships/diagramLayout" Target="../diagrams/layout2.xml"/><Relationship Id="rId7" Type="http://schemas.openxmlformats.org/officeDocument/2006/relationships/diagramData" Target="../diagrams/data3.xml"/><Relationship Id="rId12" Type="http://schemas.openxmlformats.org/officeDocument/2006/relationships/image" Target="../media/image9.svg"/><Relationship Id="rId17" Type="http://schemas.openxmlformats.org/officeDocument/2006/relationships/image" Target="../media/image14.svg"/><Relationship Id="rId2" Type="http://schemas.openxmlformats.org/officeDocument/2006/relationships/diagramData" Target="../diagrams/data2.xml"/><Relationship Id="rId16" Type="http://schemas.openxmlformats.org/officeDocument/2006/relationships/image" Target="../media/image13.svg"/><Relationship Id="rId1" Type="http://schemas.openxmlformats.org/officeDocument/2006/relationships/slideLayout" Target="../slideLayouts/slideLayout4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5" Type="http://schemas.openxmlformats.org/officeDocument/2006/relationships/image" Target="../media/image12.svg"/><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 Id="rId14" Type="http://schemas.openxmlformats.org/officeDocument/2006/relationships/image" Target="../media/image11.svg"/></Relationships>
</file>

<file path=ppt/slides/_rels/slide6.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svg"/><Relationship Id="rId1" Type="http://schemas.openxmlformats.org/officeDocument/2006/relationships/slideLayout" Target="../slideLayouts/slideLayout42.xml"/><Relationship Id="rId6" Type="http://schemas.openxmlformats.org/officeDocument/2006/relationships/image" Target="../media/image19.svg"/><Relationship Id="rId11" Type="http://schemas.openxmlformats.org/officeDocument/2006/relationships/image" Target="../media/image24.svg"/><Relationship Id="rId5" Type="http://schemas.openxmlformats.org/officeDocument/2006/relationships/image" Target="../media/image18.sv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svg"/></Relationships>
</file>

<file path=ppt/slides/_rels/slide7.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svg"/><Relationship Id="rId1" Type="http://schemas.openxmlformats.org/officeDocument/2006/relationships/slideLayout" Target="../slideLayouts/slideLayout42.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_rels/slide8.xml.rels><?xml version="1.0" encoding="UTF-8" standalone="yes"?>
<Relationships xmlns="http://schemas.openxmlformats.org/package/2006/relationships"><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image" Target="../media/image31.svg"/><Relationship Id="rId1" Type="http://schemas.openxmlformats.org/officeDocument/2006/relationships/slideLayout" Target="../slideLayouts/slideLayout39.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12.xml.rels><?xml version="1.0" encoding="UTF-8" standalone="yes"?>
<Relationships xmlns="http://schemas.openxmlformats.org/package/2006/relationships"><Relationship Id="rId8" Type="http://schemas.openxmlformats.org/officeDocument/2006/relationships/image" Target="../media/image40.png"/><Relationship Id="rId3" Type="http://schemas.microsoft.com/office/2018/10/relationships/comments" Target="../comments/modernComment_7FFFFFD1_686E9B46.xml"/><Relationship Id="rId7" Type="http://schemas.openxmlformats.org/officeDocument/2006/relationships/image" Target="../media/image39.png"/><Relationship Id="rId2" Type="http://schemas.openxmlformats.org/officeDocument/2006/relationships/slideLayout" Target="../slideLayouts/slideLayout50.xml"/><Relationship Id="rId1" Type="http://schemas.openxmlformats.org/officeDocument/2006/relationships/tags" Target="../tags/tag154.xml"/><Relationship Id="rId6" Type="http://schemas.openxmlformats.org/officeDocument/2006/relationships/image" Target="../media/image38.svg"/><Relationship Id="rId5" Type="http://schemas.openxmlformats.org/officeDocument/2006/relationships/image" Target="../media/image37.emf"/><Relationship Id="rId4" Type="http://schemas.openxmlformats.org/officeDocument/2006/relationships/oleObject" Target="../embeddings/oleObject24.bin"/></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microsoft.com/office/2018/10/relationships/comments" Target="../comments/modernComment_7FFFFFC6_D8C2059E.xml"/><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2" Type="http://schemas.openxmlformats.org/officeDocument/2006/relationships/image" Target="../media/image42.svg"/><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7FFFFFCF_F4CCDA7D.xml"/><Relationship Id="rId2" Type="http://schemas.openxmlformats.org/officeDocument/2006/relationships/notesSlide" Target="../notesSlides/notesSlide1.xml"/><Relationship Id="rId1" Type="http://schemas.openxmlformats.org/officeDocument/2006/relationships/slideLayout" Target="../slideLayouts/slideLayout58.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8" Type="http://schemas.openxmlformats.org/officeDocument/2006/relationships/image" Target="../media/image48.svg"/><Relationship Id="rId13" Type="http://schemas.openxmlformats.org/officeDocument/2006/relationships/image" Target="../media/image53.svg"/><Relationship Id="rId3" Type="http://schemas.openxmlformats.org/officeDocument/2006/relationships/image" Target="../media/image43.svg"/><Relationship Id="rId7" Type="http://schemas.openxmlformats.org/officeDocument/2006/relationships/image" Target="../media/image47.svg"/><Relationship Id="rId12" Type="http://schemas.openxmlformats.org/officeDocument/2006/relationships/image" Target="../media/image52.svg"/><Relationship Id="rId2" Type="http://schemas.openxmlformats.org/officeDocument/2006/relationships/notesSlide" Target="../notesSlides/notesSlide2.xml"/><Relationship Id="rId1" Type="http://schemas.openxmlformats.org/officeDocument/2006/relationships/slideLayout" Target="../slideLayouts/slideLayout42.xml"/><Relationship Id="rId6" Type="http://schemas.openxmlformats.org/officeDocument/2006/relationships/image" Target="../media/image46.svg"/><Relationship Id="rId11" Type="http://schemas.openxmlformats.org/officeDocument/2006/relationships/image" Target="../media/image51.svg"/><Relationship Id="rId5" Type="http://schemas.openxmlformats.org/officeDocument/2006/relationships/image" Target="../media/image45.svg"/><Relationship Id="rId10" Type="http://schemas.openxmlformats.org/officeDocument/2006/relationships/image" Target="../media/image50.svg"/><Relationship Id="rId4" Type="http://schemas.openxmlformats.org/officeDocument/2006/relationships/image" Target="../media/image44.svg"/><Relationship Id="rId9" Type="http://schemas.openxmlformats.org/officeDocument/2006/relationships/image" Target="../media/image49.svg"/><Relationship Id="rId14" Type="http://schemas.openxmlformats.org/officeDocument/2006/relationships/image" Target="../media/image54.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9.xml"/></Relationships>
</file>

<file path=ppt/slides/_rels/slide20.xml.rels><?xml version="1.0" encoding="UTF-8" standalone="yes"?>
<Relationships xmlns="http://schemas.openxmlformats.org/package/2006/relationships"><Relationship Id="rId3" Type="http://schemas.openxmlformats.org/officeDocument/2006/relationships/image" Target="../media/image56.png"/><Relationship Id="rId2" Type="http://schemas.microsoft.com/office/2018/10/relationships/comments" Target="../comments/modernComment_7FFFFFBE_579768E1.xml"/><Relationship Id="rId1" Type="http://schemas.openxmlformats.org/officeDocument/2006/relationships/slideLayout" Target="../slideLayouts/slideLayout42.xml"/><Relationship Id="rId4" Type="http://schemas.openxmlformats.org/officeDocument/2006/relationships/image" Target="../media/image5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svg"/><Relationship Id="rId1" Type="http://schemas.openxmlformats.org/officeDocument/2006/relationships/slideLayout" Target="../slideLayouts/slideLayout39.xml"/><Relationship Id="rId4" Type="http://schemas.openxmlformats.org/officeDocument/2006/relationships/image" Target="../media/image60.svg"/></Relationships>
</file>

<file path=ppt/slides/_rels/slide24.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svg"/><Relationship Id="rId1" Type="http://schemas.openxmlformats.org/officeDocument/2006/relationships/slideLayout" Target="../slideLayouts/slideLayout39.xml"/><Relationship Id="rId4" Type="http://schemas.openxmlformats.org/officeDocument/2006/relationships/image" Target="../media/image63.svg"/></Relationships>
</file>

<file path=ppt/slides/_rels/slide25.xml.rels><?xml version="1.0" encoding="UTF-8" standalone="yes"?>
<Relationships xmlns="http://schemas.openxmlformats.org/package/2006/relationships"><Relationship Id="rId2" Type="http://schemas.microsoft.com/office/2018/10/relationships/comments" Target="../comments/modernComment_7FFFFFBB_5FCC544B.xml"/><Relationship Id="rId1" Type="http://schemas.openxmlformats.org/officeDocument/2006/relationships/slideLayout" Target="../slideLayouts/slideLayout3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5AC068-883D-133A-7ED9-92DF0F0B6FA7}"/>
              </a:ext>
            </a:extLst>
          </p:cNvPr>
          <p:cNvSpPr>
            <a:spLocks noGrp="1"/>
          </p:cNvSpPr>
          <p:nvPr>
            <p:ph type="title"/>
          </p:nvPr>
        </p:nvSpPr>
        <p:spPr>
          <a:xfrm>
            <a:off x="384048" y="2711195"/>
            <a:ext cx="11420856" cy="1354217"/>
          </a:xfrm>
        </p:spPr>
        <p:txBody>
          <a:bodyPr/>
          <a:lstStyle/>
          <a:p>
            <a:r>
              <a:rPr lang="en-US" b="1">
                <a:solidFill>
                  <a:srgbClr val="000000"/>
                </a:solidFill>
                <a:cs typeface="Arial"/>
              </a:rPr>
              <a:t>Infrastructure &amp; Operations:</a:t>
            </a:r>
            <a:br>
              <a:rPr lang="en-US" b="1">
                <a:solidFill>
                  <a:srgbClr val="000000"/>
                </a:solidFill>
                <a:cs typeface="Arial"/>
              </a:rPr>
            </a:br>
            <a:r>
              <a:rPr lang="en-US" b="1">
                <a:solidFill>
                  <a:srgbClr val="000000"/>
                </a:solidFill>
                <a:cs typeface="Arial"/>
              </a:rPr>
              <a:t>Cloud Foundations Roadmap</a:t>
            </a:r>
            <a:endParaRPr lang="en-US" b="1">
              <a:cs typeface="Arial"/>
            </a:endParaRPr>
          </a:p>
        </p:txBody>
      </p:sp>
      <p:sp>
        <p:nvSpPr>
          <p:cNvPr id="4" name="Text Placeholder 3">
            <a:extLst>
              <a:ext uri="{FF2B5EF4-FFF2-40B4-BE49-F238E27FC236}">
                <a16:creationId xmlns:a16="http://schemas.microsoft.com/office/drawing/2014/main" id="{60EA7AA2-262B-AC7E-FF62-780DEC2E827B}"/>
              </a:ext>
            </a:extLst>
          </p:cNvPr>
          <p:cNvSpPr>
            <a:spLocks noGrp="1"/>
          </p:cNvSpPr>
          <p:nvPr>
            <p:ph type="body" sz="quarter" idx="13"/>
          </p:nvPr>
        </p:nvSpPr>
        <p:spPr>
          <a:xfrm>
            <a:off x="831044" y="1082457"/>
            <a:ext cx="465734" cy="213820"/>
          </a:xfrm>
        </p:spPr>
        <p:txBody>
          <a:bodyPr/>
          <a:lstStyle/>
          <a:p>
            <a:r>
              <a:rPr lang="en-US" sz="1400" b="1">
                <a:cs typeface="Arial"/>
              </a:rPr>
              <a:t>2025</a:t>
            </a:r>
            <a:endParaRPr lang="en-US" sz="1400" b="1"/>
          </a:p>
        </p:txBody>
      </p:sp>
    </p:spTree>
    <p:extLst>
      <p:ext uri="{BB962C8B-B14F-4D97-AF65-F5344CB8AC3E}">
        <p14:creationId xmlns:p14="http://schemas.microsoft.com/office/powerpoint/2010/main" val="1182135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E804DF-F6A9-C8F3-EA42-38F6A0AE83C8}"/>
              </a:ext>
            </a:extLst>
          </p:cNvPr>
          <p:cNvSpPr>
            <a:spLocks noGrp="1"/>
          </p:cNvSpPr>
          <p:nvPr>
            <p:ph type="title"/>
          </p:nvPr>
        </p:nvSpPr>
        <p:spPr/>
        <p:txBody>
          <a:bodyPr/>
          <a:lstStyle/>
          <a:p>
            <a:r>
              <a:rPr lang="en-US">
                <a:cs typeface="Arial"/>
              </a:rPr>
              <a:t>Document Status</a:t>
            </a:r>
            <a:endParaRPr lang="en-US"/>
          </a:p>
        </p:txBody>
      </p:sp>
      <p:sp>
        <p:nvSpPr>
          <p:cNvPr id="5" name="Content Placeholder 1">
            <a:extLst>
              <a:ext uri="{FF2B5EF4-FFF2-40B4-BE49-F238E27FC236}">
                <a16:creationId xmlns:a16="http://schemas.microsoft.com/office/drawing/2014/main" id="{F8D5FC3B-C030-49DA-B7C7-26E984D31636}"/>
              </a:ext>
            </a:extLst>
          </p:cNvPr>
          <p:cNvSpPr>
            <a:spLocks noGrp="1"/>
          </p:cNvSpPr>
          <p:nvPr/>
        </p:nvSpPr>
        <p:spPr>
          <a:xfrm>
            <a:off x="291020" y="1245487"/>
            <a:ext cx="5578152" cy="4625924"/>
          </a:xfrm>
          <a:prstGeom prst="rect">
            <a:avLst/>
          </a:prstGeom>
        </p:spPr>
        <p:txBody>
          <a:bodyPr vert="horz" lIns="0" tIns="0" rIns="0" bIns="0" rtlCol="0" anchor="t">
            <a:normAutofit lnSpcReduction="10000"/>
          </a:bodyPr>
          <a:lstStyle>
            <a:lvl1pPr marL="228600" indent="-228600" algn="l" defTabSz="6858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685800" rtl="0" eaLnBrk="1" latinLnBrk="0" hangingPunct="1">
              <a:lnSpc>
                <a:spcPct val="90000"/>
              </a:lnSpc>
              <a:spcBef>
                <a:spcPts val="500"/>
              </a:spcBef>
              <a:buFont typeface="Wingdings" pitchFamily="2" charset="2"/>
              <a:buChar char="§"/>
              <a:defRPr sz="2000" kern="1200">
                <a:solidFill>
                  <a:schemeClr val="tx1"/>
                </a:solidFill>
                <a:latin typeface="+mn-lt"/>
                <a:ea typeface="+mn-ea"/>
                <a:cs typeface="+mn-cs"/>
              </a:defRPr>
            </a:lvl2pPr>
            <a:lvl3pPr marL="1143000" indent="-228600" algn="l" defTabSz="6858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685800" rtl="0" eaLnBrk="1" latinLnBrk="0" hangingPunct="1">
              <a:lnSpc>
                <a:spcPct val="90000"/>
              </a:lnSpc>
              <a:spcBef>
                <a:spcPts val="500"/>
              </a:spcBef>
              <a:buFont typeface="Wingdings" pitchFamily="2" charset="2"/>
              <a:buChar char="§"/>
              <a:defRPr sz="1400" kern="1200">
                <a:solidFill>
                  <a:schemeClr val="tx1"/>
                </a:solidFill>
                <a:latin typeface="+mn-lt"/>
                <a:ea typeface="+mn-ea"/>
                <a:cs typeface="+mn-cs"/>
              </a:defRPr>
            </a:lvl4pPr>
            <a:lvl5pPr marL="2057400" indent="-228600" algn="l" defTabSz="6858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45415" indent="0">
              <a:spcBef>
                <a:spcPts val="800"/>
              </a:spcBef>
              <a:spcAft>
                <a:spcPts val="400"/>
              </a:spcAft>
              <a:buNone/>
              <a:defRPr/>
            </a:pPr>
            <a:r>
              <a:rPr lang="en-CA" sz="1600" b="1" dirty="0">
                <a:cs typeface="Arial"/>
              </a:rPr>
              <a:t>Document Status:</a:t>
            </a:r>
            <a:endParaRPr lang="en-US" dirty="0">
              <a:cs typeface="Arial"/>
            </a:endParaRPr>
          </a:p>
          <a:p>
            <a:pPr marL="145415" indent="0">
              <a:spcBef>
                <a:spcPts val="800"/>
              </a:spcBef>
              <a:spcAft>
                <a:spcPts val="400"/>
              </a:spcAft>
              <a:buNone/>
              <a:defRPr/>
            </a:pPr>
            <a:r>
              <a:rPr lang="en-CA" sz="1600" dirty="0">
                <a:cs typeface="Arial"/>
              </a:rPr>
              <a:t>Date : November 24</a:t>
            </a:r>
            <a:r>
              <a:rPr lang="en-CA" sz="1600" baseline="30000" dirty="0">
                <a:cs typeface="Arial"/>
              </a:rPr>
              <a:t>th</a:t>
            </a:r>
            <a:r>
              <a:rPr lang="en-CA" sz="1600" dirty="0">
                <a:cs typeface="Arial"/>
              </a:rPr>
              <a:t>, 2025</a:t>
            </a:r>
            <a:endParaRPr lang="en-CA" sz="1600" dirty="0">
              <a:cs typeface="Arial" pitchFamily="34" charset="0"/>
            </a:endParaRPr>
          </a:p>
          <a:p>
            <a:pPr marL="145415" indent="0">
              <a:spcBef>
                <a:spcPts val="800"/>
              </a:spcBef>
              <a:spcAft>
                <a:spcPts val="400"/>
              </a:spcAft>
              <a:buNone/>
              <a:defRPr/>
            </a:pPr>
            <a:r>
              <a:rPr lang="en-CA" sz="1600" dirty="0">
                <a:cs typeface="Arial"/>
              </a:rPr>
              <a:t>Status: Approved</a:t>
            </a:r>
          </a:p>
          <a:p>
            <a:pPr marL="145415" indent="0">
              <a:spcBef>
                <a:spcPts val="800"/>
              </a:spcBef>
              <a:spcAft>
                <a:spcPts val="400"/>
              </a:spcAft>
              <a:buNone/>
              <a:defRPr/>
            </a:pPr>
            <a:endParaRPr lang="en-CA" sz="1600" b="1" kern="0">
              <a:latin typeface="Raleway"/>
              <a:cs typeface="Arial"/>
            </a:endParaRPr>
          </a:p>
          <a:p>
            <a:pPr marL="145415" indent="0">
              <a:spcBef>
                <a:spcPts val="800"/>
              </a:spcBef>
              <a:spcAft>
                <a:spcPts val="400"/>
              </a:spcAft>
              <a:buNone/>
              <a:defRPr/>
            </a:pPr>
            <a:r>
              <a:rPr lang="en-CA" sz="1600" b="1" dirty="0">
                <a:cs typeface="Arial"/>
              </a:rPr>
              <a:t>Awareness:</a:t>
            </a:r>
            <a:endParaRPr lang="en-CA" dirty="0"/>
          </a:p>
          <a:p>
            <a:pPr marL="145415" indent="0">
              <a:spcBef>
                <a:spcPts val="800"/>
              </a:spcBef>
              <a:spcAft>
                <a:spcPts val="400"/>
              </a:spcAft>
              <a:buNone/>
              <a:defRPr/>
            </a:pPr>
            <a:r>
              <a:rPr lang="en-CA" sz="1600" dirty="0">
                <a:cs typeface="Arial"/>
              </a:rPr>
              <a:t>TTO Roadmap Program Leadership: November 4</a:t>
            </a:r>
            <a:r>
              <a:rPr lang="en-CA" sz="1600" baseline="30000" dirty="0">
                <a:cs typeface="Arial"/>
              </a:rPr>
              <a:t>th</a:t>
            </a:r>
            <a:r>
              <a:rPr lang="en-CA" sz="1600" dirty="0">
                <a:cs typeface="Arial"/>
              </a:rPr>
              <a:t>, 2025 </a:t>
            </a:r>
          </a:p>
          <a:p>
            <a:pPr marL="145415" indent="0">
              <a:spcBef>
                <a:spcPts val="800"/>
              </a:spcBef>
              <a:spcAft>
                <a:spcPts val="400"/>
              </a:spcAft>
              <a:buNone/>
              <a:defRPr/>
            </a:pPr>
            <a:r>
              <a:rPr lang="en-CA" sz="1600" dirty="0">
                <a:cs typeface="Arial"/>
              </a:rPr>
              <a:t>I&amp;O Roadmap Leadership: November 18</a:t>
            </a:r>
            <a:r>
              <a:rPr lang="en-CA" sz="1600" baseline="30000" dirty="0">
                <a:cs typeface="Arial"/>
              </a:rPr>
              <a:t>th</a:t>
            </a:r>
            <a:r>
              <a:rPr lang="en-CA" sz="1600" dirty="0">
                <a:cs typeface="Arial"/>
              </a:rPr>
              <a:t>, 2025</a:t>
            </a:r>
            <a:endParaRPr lang="en-CA" sz="1600" dirty="0">
              <a:cs typeface="Arial" pitchFamily="34" charset="0"/>
            </a:endParaRPr>
          </a:p>
          <a:p>
            <a:pPr marL="145415" indent="0">
              <a:spcBef>
                <a:spcPts val="800"/>
              </a:spcBef>
              <a:spcAft>
                <a:spcPts val="400"/>
              </a:spcAft>
              <a:buNone/>
              <a:defRPr/>
            </a:pPr>
            <a:endParaRPr lang="en-CA" sz="1600">
              <a:cs typeface="Arial"/>
            </a:endParaRPr>
          </a:p>
          <a:p>
            <a:pPr marL="145415" indent="0">
              <a:spcBef>
                <a:spcPts val="800"/>
              </a:spcBef>
              <a:spcAft>
                <a:spcPts val="400"/>
              </a:spcAft>
              <a:buNone/>
              <a:defRPr/>
            </a:pPr>
            <a:r>
              <a:rPr lang="en-CA" sz="1600" b="1" dirty="0">
                <a:cs typeface="Arial"/>
              </a:rPr>
              <a:t>Approval:</a:t>
            </a:r>
            <a:endParaRPr lang="en-CA" sz="1600" b="1" dirty="0">
              <a:cs typeface="Arial" pitchFamily="34" charset="0"/>
            </a:endParaRPr>
          </a:p>
          <a:p>
            <a:pPr marL="145415" indent="0">
              <a:lnSpc>
                <a:spcPct val="100000"/>
              </a:lnSpc>
              <a:spcBef>
                <a:spcPts val="800"/>
              </a:spcBef>
              <a:spcAft>
                <a:spcPts val="400"/>
              </a:spcAft>
              <a:buNone/>
              <a:defRPr/>
            </a:pPr>
            <a:r>
              <a:rPr lang="en-CA" sz="1600" dirty="0">
                <a:cs typeface="Arial"/>
              </a:rPr>
              <a:t>Approved November 24, 2025 by:</a:t>
            </a:r>
          </a:p>
          <a:p>
            <a:pPr marL="145415" indent="0">
              <a:lnSpc>
                <a:spcPct val="100000"/>
              </a:lnSpc>
              <a:spcBef>
                <a:spcPts val="800"/>
              </a:spcBef>
              <a:spcAft>
                <a:spcPts val="400"/>
              </a:spcAft>
              <a:buNone/>
              <a:defRPr/>
            </a:pPr>
            <a:r>
              <a:rPr lang="en-CA" sz="1600" dirty="0">
                <a:cs typeface="Arial"/>
              </a:rPr>
              <a:t>Chief Technology Officer, SVP I&amp;O: Charles Lewis</a:t>
            </a:r>
          </a:p>
          <a:p>
            <a:pPr marL="145415" indent="0">
              <a:lnSpc>
                <a:spcPct val="100000"/>
              </a:lnSpc>
              <a:spcBef>
                <a:spcPts val="800"/>
              </a:spcBef>
              <a:spcAft>
                <a:spcPts val="400"/>
              </a:spcAft>
              <a:buNone/>
              <a:defRPr/>
            </a:pPr>
            <a:r>
              <a:rPr lang="en-CA" sz="1600" dirty="0">
                <a:cs typeface="Arial"/>
              </a:rPr>
              <a:t>Chief Enterprise Architect:   Kaushik Venkatadri</a:t>
            </a:r>
          </a:p>
          <a:p>
            <a:pPr marL="145415" indent="0">
              <a:lnSpc>
                <a:spcPct val="100000"/>
              </a:lnSpc>
              <a:spcBef>
                <a:spcPts val="800"/>
              </a:spcBef>
              <a:spcAft>
                <a:spcPts val="400"/>
              </a:spcAft>
              <a:buNone/>
              <a:defRPr/>
            </a:pPr>
            <a:r>
              <a:rPr lang="en-CA" sz="1600" dirty="0">
                <a:cs typeface="Arial"/>
              </a:rPr>
              <a:t>VP Platform Engineering, I&amp;O: Joe Kitchen</a:t>
            </a:r>
          </a:p>
        </p:txBody>
      </p:sp>
      <p:sp>
        <p:nvSpPr>
          <p:cNvPr id="6" name="Content Placeholder 1">
            <a:extLst>
              <a:ext uri="{FF2B5EF4-FFF2-40B4-BE49-F238E27FC236}">
                <a16:creationId xmlns:a16="http://schemas.microsoft.com/office/drawing/2014/main" id="{FD801EFC-7295-5022-676A-8EB7FBF40B3E}"/>
              </a:ext>
            </a:extLst>
          </p:cNvPr>
          <p:cNvSpPr txBox="1">
            <a:spLocks/>
          </p:cNvSpPr>
          <p:nvPr/>
        </p:nvSpPr>
        <p:spPr>
          <a:xfrm>
            <a:off x="5982983" y="1245487"/>
            <a:ext cx="5578152" cy="4625924"/>
          </a:xfrm>
          <a:prstGeom prst="rect">
            <a:avLst/>
          </a:prstGeom>
        </p:spPr>
        <p:txBody>
          <a:bodyPr vert="horz" lIns="0" tIns="0" rIns="0" bIns="0" rtlCol="0" anchor="t">
            <a:normAutofit/>
          </a:bodyPr>
          <a:lstStyle>
            <a:defPPr>
              <a:defRPr lang="fr-FR"/>
            </a:defPPr>
            <a:lvl1pPr marL="228600" indent="-228600" algn="l" defTabSz="6858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685800" rtl="0" eaLnBrk="1" latinLnBrk="0" hangingPunct="1">
              <a:lnSpc>
                <a:spcPct val="90000"/>
              </a:lnSpc>
              <a:spcBef>
                <a:spcPts val="500"/>
              </a:spcBef>
              <a:buFont typeface="Wingdings" pitchFamily="2" charset="2"/>
              <a:buChar char="§"/>
              <a:defRPr sz="2000" kern="1200">
                <a:solidFill>
                  <a:schemeClr val="tx1"/>
                </a:solidFill>
                <a:latin typeface="+mn-lt"/>
                <a:ea typeface="+mn-ea"/>
                <a:cs typeface="+mn-cs"/>
              </a:defRPr>
            </a:lvl2pPr>
            <a:lvl3pPr marL="1143000" indent="-228600" algn="l" defTabSz="6858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685800" rtl="0" eaLnBrk="1" latinLnBrk="0" hangingPunct="1">
              <a:lnSpc>
                <a:spcPct val="90000"/>
              </a:lnSpc>
              <a:spcBef>
                <a:spcPts val="500"/>
              </a:spcBef>
              <a:buFont typeface="Wingdings" pitchFamily="2" charset="2"/>
              <a:buChar char="§"/>
              <a:defRPr sz="1400" kern="1200">
                <a:solidFill>
                  <a:schemeClr val="tx1"/>
                </a:solidFill>
                <a:latin typeface="+mn-lt"/>
                <a:ea typeface="+mn-ea"/>
                <a:cs typeface="+mn-cs"/>
              </a:defRPr>
            </a:lvl4pPr>
            <a:lvl5pPr marL="2057400" indent="-228600" algn="l" defTabSz="6858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45415" marR="0" lvl="0" indent="0" algn="l" defTabSz="685800" rtl="0" eaLnBrk="1" fontAlgn="auto" latinLnBrk="0" hangingPunct="1">
              <a:lnSpc>
                <a:spcPct val="90000"/>
              </a:lnSpc>
              <a:spcBef>
                <a:spcPts val="800"/>
              </a:spcBef>
              <a:spcAft>
                <a:spcPts val="400"/>
              </a:spcAft>
              <a:buClrTx/>
              <a:buSzTx/>
              <a:buFont typeface="Arial" panose="020B0604020202020204" pitchFamily="34" charset="0"/>
              <a:buNone/>
              <a:tabLst/>
              <a:defRPr/>
            </a:pPr>
            <a:r>
              <a:rPr kumimoji="0" lang="en-CA" sz="1600" b="1" i="0" u="none" strike="noStrike" kern="1200" cap="none" spc="0" normalizeH="0" baseline="0" noProof="0" dirty="0">
                <a:ln>
                  <a:noFill/>
                </a:ln>
                <a:solidFill>
                  <a:srgbClr val="515349"/>
                </a:solidFill>
                <a:effectLst/>
                <a:uLnTx/>
                <a:uFillTx/>
                <a:latin typeface="Arial" panose="020B0604020202020204"/>
                <a:ea typeface="+mn-ea"/>
                <a:cs typeface="Arial"/>
              </a:rPr>
              <a:t>Author:</a:t>
            </a:r>
            <a:endParaRPr kumimoji="0" lang="en-US" sz="2400" b="0" i="0" u="none" strike="noStrike" kern="1200" cap="none" spc="0" normalizeH="0" baseline="0" noProof="0" dirty="0">
              <a:ln>
                <a:noFill/>
              </a:ln>
              <a:solidFill>
                <a:srgbClr val="515349"/>
              </a:solidFill>
              <a:effectLst/>
              <a:uLnTx/>
              <a:uFillTx/>
              <a:latin typeface="Arial" panose="020B0604020202020204"/>
              <a:ea typeface="+mn-ea"/>
              <a:cs typeface="Arial"/>
            </a:endParaRPr>
          </a:p>
          <a:p>
            <a:pPr marL="145415" indent="0">
              <a:spcBef>
                <a:spcPts val="800"/>
              </a:spcBef>
              <a:spcAft>
                <a:spcPts val="400"/>
              </a:spcAft>
              <a:buNone/>
              <a:defRPr/>
            </a:pPr>
            <a:r>
              <a:rPr lang="en-CA" sz="1600" dirty="0">
                <a:solidFill>
                  <a:srgbClr val="515349"/>
                </a:solidFill>
                <a:latin typeface="Arial" panose="020B0604020202020204"/>
                <a:cs typeface="Arial"/>
              </a:rPr>
              <a:t>Santhosh Kumar Chandrashekar</a:t>
            </a:r>
            <a:r>
              <a:rPr kumimoji="0" lang="en-CA" sz="1600" b="0" i="0" u="none" strike="noStrike" kern="1200" cap="none" spc="0" normalizeH="0" baseline="0" noProof="0" dirty="0">
                <a:ln>
                  <a:noFill/>
                </a:ln>
                <a:solidFill>
                  <a:srgbClr val="515349"/>
                </a:solidFill>
                <a:effectLst/>
                <a:uLnTx/>
                <a:uFillTx/>
                <a:latin typeface="Arial" panose="020B0604020202020204"/>
                <a:ea typeface="+mn-ea"/>
                <a:cs typeface="Arial"/>
              </a:rPr>
              <a:t>, Enterprise Architecture</a:t>
            </a:r>
          </a:p>
          <a:p>
            <a:pPr marL="145415" marR="0" lvl="0" indent="0" algn="l" defTabSz="685800" rtl="0" eaLnBrk="1" fontAlgn="auto" latinLnBrk="0" hangingPunct="1">
              <a:lnSpc>
                <a:spcPct val="90000"/>
              </a:lnSpc>
              <a:spcBef>
                <a:spcPts val="800"/>
              </a:spcBef>
              <a:spcAft>
                <a:spcPts val="400"/>
              </a:spcAft>
              <a:buClrTx/>
              <a:buSzTx/>
              <a:buFont typeface="Arial" panose="020B0604020202020204" pitchFamily="34" charset="0"/>
              <a:buNone/>
              <a:tabLst/>
              <a:defRPr/>
            </a:pPr>
            <a:endParaRPr kumimoji="0" lang="en-CA" sz="1600" b="0" i="0" u="none" strike="noStrike" kern="1200" cap="none" spc="0" normalizeH="0" baseline="0" noProof="0">
              <a:ln>
                <a:noFill/>
              </a:ln>
              <a:solidFill>
                <a:srgbClr val="515349"/>
              </a:solidFill>
              <a:effectLst/>
              <a:uLnTx/>
              <a:uFillTx/>
              <a:latin typeface="Arial" panose="020B0604020202020204"/>
              <a:ea typeface="+mn-ea"/>
              <a:cs typeface="Arial"/>
            </a:endParaRPr>
          </a:p>
          <a:p>
            <a:pPr marL="145415" marR="0" lvl="0" indent="0" algn="l" defTabSz="685800" rtl="0" eaLnBrk="1" fontAlgn="auto" latinLnBrk="0" hangingPunct="1">
              <a:lnSpc>
                <a:spcPct val="90000"/>
              </a:lnSpc>
              <a:spcBef>
                <a:spcPts val="800"/>
              </a:spcBef>
              <a:spcAft>
                <a:spcPts val="400"/>
              </a:spcAft>
              <a:buClrTx/>
              <a:buSzTx/>
              <a:buFont typeface="Arial" panose="020B0604020202020204" pitchFamily="34" charset="0"/>
              <a:buNone/>
              <a:tabLst/>
              <a:defRPr/>
            </a:pPr>
            <a:r>
              <a:rPr kumimoji="0" lang="en-CA" sz="1600" b="1" i="0" u="none" strike="noStrike" kern="1200" cap="none" spc="0" normalizeH="0" baseline="0" noProof="0" dirty="0">
                <a:ln>
                  <a:noFill/>
                </a:ln>
                <a:solidFill>
                  <a:srgbClr val="515349"/>
                </a:solidFill>
                <a:effectLst/>
                <a:uLnTx/>
                <a:uFillTx/>
                <a:latin typeface="Arial" panose="020B0604020202020204"/>
                <a:ea typeface="+mn-ea"/>
                <a:cs typeface="Arial"/>
              </a:rPr>
              <a:t>Roadmap Working Group</a:t>
            </a:r>
            <a:r>
              <a:rPr kumimoji="0" lang="en-CA" sz="1600" b="0" i="0" u="none" strike="noStrike" kern="1200" cap="none" spc="0" normalizeH="0" baseline="0" noProof="0" dirty="0">
                <a:ln>
                  <a:noFill/>
                </a:ln>
                <a:solidFill>
                  <a:srgbClr val="515349"/>
                </a:solidFill>
                <a:effectLst/>
                <a:uLnTx/>
                <a:uFillTx/>
                <a:latin typeface="Arial" panose="020B0604020202020204"/>
                <a:ea typeface="+mn-ea"/>
                <a:cs typeface="Arial"/>
              </a:rPr>
              <a:t>:</a:t>
            </a:r>
            <a:endParaRPr lang="en-CA" sz="1600" b="0" i="0" u="none" strike="noStrike" kern="1200" cap="none" spc="0" normalizeH="0" baseline="0" noProof="0" dirty="0">
              <a:ln>
                <a:noFill/>
              </a:ln>
              <a:solidFill>
                <a:srgbClr val="515349"/>
              </a:solidFill>
              <a:effectLst/>
              <a:uLnTx/>
              <a:uFillTx/>
              <a:latin typeface="Arial" panose="020B0604020202020204"/>
              <a:cs typeface="Arial"/>
            </a:endParaRPr>
          </a:p>
          <a:p>
            <a:pPr marL="145415" indent="0">
              <a:spcBef>
                <a:spcPts val="800"/>
              </a:spcBef>
              <a:spcAft>
                <a:spcPts val="400"/>
              </a:spcAft>
              <a:buNone/>
              <a:defRPr/>
            </a:pPr>
            <a:r>
              <a:rPr lang="en-CA" sz="1600" dirty="0">
                <a:solidFill>
                  <a:srgbClr val="515349"/>
                </a:solidFill>
                <a:latin typeface="Arial" panose="020B0604020202020204"/>
                <a:cs typeface="Arial"/>
              </a:rPr>
              <a:t>Dan Caruso &amp; Team</a:t>
            </a:r>
            <a:r>
              <a:rPr kumimoji="0" lang="en-CA" sz="1600" b="0" i="0" u="none" strike="noStrike" kern="1200" cap="none" spc="0" normalizeH="0" baseline="0" noProof="0" dirty="0">
                <a:ln>
                  <a:noFill/>
                </a:ln>
                <a:solidFill>
                  <a:srgbClr val="515349"/>
                </a:solidFill>
                <a:effectLst/>
                <a:uLnTx/>
                <a:uFillTx/>
                <a:latin typeface="Arial" panose="020B0604020202020204"/>
                <a:ea typeface="+mn-ea"/>
                <a:cs typeface="Arial"/>
              </a:rPr>
              <a:t>, Infrastructure &amp; Operations</a:t>
            </a:r>
            <a:endParaRPr lang="en-CA" sz="1600" b="0" i="0" u="none" strike="noStrike" kern="1200" cap="none" spc="0" normalizeH="0" baseline="0" noProof="0" dirty="0">
              <a:ln>
                <a:noFill/>
              </a:ln>
              <a:solidFill>
                <a:srgbClr val="515349"/>
              </a:solidFill>
              <a:effectLst/>
              <a:uLnTx/>
              <a:uFillTx/>
              <a:latin typeface="Arial" panose="020B0604020202020204"/>
              <a:cs typeface="Arial"/>
            </a:endParaRPr>
          </a:p>
          <a:p>
            <a:pPr marL="145415" indent="0">
              <a:spcBef>
                <a:spcPts val="800"/>
              </a:spcBef>
              <a:spcAft>
                <a:spcPts val="400"/>
              </a:spcAft>
              <a:buNone/>
              <a:defRPr/>
            </a:pPr>
            <a:r>
              <a:rPr lang="en-CA" sz="1600" dirty="0">
                <a:solidFill>
                  <a:srgbClr val="515349"/>
                </a:solidFill>
                <a:latin typeface="Arial" panose="020B0604020202020204"/>
                <a:cs typeface="Arial"/>
              </a:rPr>
              <a:t>Gord Rempel, Enterprise Architecture</a:t>
            </a:r>
            <a:endParaRPr lang="en-CA" sz="1600" b="0" i="0" u="none" strike="noStrike" kern="1200" cap="none" spc="0" normalizeH="0" baseline="0" noProof="0" dirty="0">
              <a:ln>
                <a:noFill/>
              </a:ln>
              <a:solidFill>
                <a:srgbClr val="515349"/>
              </a:solidFill>
              <a:effectLst/>
              <a:uLnTx/>
              <a:uFillTx/>
              <a:latin typeface="Arial" panose="020B0604020202020204"/>
              <a:cs typeface="Arial"/>
            </a:endParaRPr>
          </a:p>
          <a:p>
            <a:pPr marL="145415" marR="0" lvl="0" indent="0" algn="l" defTabSz="685800" rtl="0" eaLnBrk="1" fontAlgn="auto" latinLnBrk="0" hangingPunct="1">
              <a:lnSpc>
                <a:spcPct val="90000"/>
              </a:lnSpc>
              <a:spcBef>
                <a:spcPts val="800"/>
              </a:spcBef>
              <a:spcAft>
                <a:spcPts val="400"/>
              </a:spcAft>
              <a:buClrTx/>
              <a:buSzTx/>
              <a:buFont typeface="Arial" panose="020B0604020202020204" pitchFamily="34" charset="0"/>
              <a:buNone/>
              <a:tabLst/>
              <a:defRPr/>
            </a:pPr>
            <a:endParaRPr kumimoji="0" lang="en-CA" sz="1600" b="0" i="0" u="none" strike="noStrike" kern="1200" cap="none" spc="0" normalizeH="0" baseline="0" noProof="0">
              <a:ln>
                <a:noFill/>
              </a:ln>
              <a:solidFill>
                <a:srgbClr val="515349"/>
              </a:solidFill>
              <a:effectLst/>
              <a:uLnTx/>
              <a:uFillTx/>
              <a:latin typeface="Arial" panose="020B0604020202020204"/>
              <a:ea typeface="+mn-ea"/>
              <a:cs typeface="Arial" pitchFamily="34" charset="0"/>
            </a:endParaRPr>
          </a:p>
        </p:txBody>
      </p:sp>
    </p:spTree>
    <p:extLst>
      <p:ext uri="{BB962C8B-B14F-4D97-AF65-F5344CB8AC3E}">
        <p14:creationId xmlns:p14="http://schemas.microsoft.com/office/powerpoint/2010/main" val="1711618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ADCE3-93C5-867F-816F-8B961A02DE09}"/>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9575783A-3659-171D-9794-BA368AC3FB19}"/>
              </a:ext>
            </a:extLst>
          </p:cNvPr>
          <p:cNvSpPr>
            <a:spLocks noGrp="1"/>
          </p:cNvSpPr>
          <p:nvPr>
            <p:ph type="title"/>
          </p:nvPr>
        </p:nvSpPr>
        <p:spPr>
          <a:xfrm>
            <a:off x="384048" y="381000"/>
            <a:ext cx="11420856" cy="533400"/>
          </a:xfrm>
        </p:spPr>
        <p:txBody>
          <a:bodyPr anchor="ctr">
            <a:normAutofit/>
          </a:bodyPr>
          <a:lstStyle/>
          <a:p>
            <a:r>
              <a:rPr lang="en-US"/>
              <a:t>Table of Contents</a:t>
            </a:r>
          </a:p>
        </p:txBody>
      </p:sp>
      <p:sp>
        <p:nvSpPr>
          <p:cNvPr id="47" name="Footer Placeholder 2">
            <a:extLst>
              <a:ext uri="{FF2B5EF4-FFF2-40B4-BE49-F238E27FC236}">
                <a16:creationId xmlns:a16="http://schemas.microsoft.com/office/drawing/2014/main" id="{2B63B417-E3D9-89FE-D34D-FD2F8E51040A}"/>
              </a:ext>
            </a:extLst>
          </p:cNvPr>
          <p:cNvSpPr>
            <a:spLocks noGrp="1"/>
          </p:cNvSpPr>
          <p:nvPr>
            <p:ph type="ftr" sz="quarter" idx="11"/>
          </p:nvPr>
        </p:nvSpPr>
        <p:spPr>
          <a:xfrm>
            <a:off x="381000" y="6515098"/>
            <a:ext cx="8077200" cy="342900"/>
          </a:xfrm>
        </p:spPr>
        <p:txBody>
          <a:bodyPr/>
          <a:lstStyle/>
          <a:p>
            <a:pPr>
              <a:spcAft>
                <a:spcPts val="600"/>
              </a:spcAft>
            </a:pPr>
            <a:r>
              <a:rPr lang="en-CA"/>
              <a:t>CONFIDENTIAL</a:t>
            </a:r>
          </a:p>
        </p:txBody>
      </p:sp>
      <p:sp>
        <p:nvSpPr>
          <p:cNvPr id="4" name="Date Placeholder 3">
            <a:extLst>
              <a:ext uri="{FF2B5EF4-FFF2-40B4-BE49-F238E27FC236}">
                <a16:creationId xmlns:a16="http://schemas.microsoft.com/office/drawing/2014/main" id="{0C27C987-EA32-501F-4F4D-B6FDBFAE2F17}"/>
              </a:ext>
            </a:extLst>
          </p:cNvPr>
          <p:cNvSpPr>
            <a:spLocks noGrp="1"/>
          </p:cNvSpPr>
          <p:nvPr>
            <p:ph type="dt" sz="half" idx="13"/>
          </p:nvPr>
        </p:nvSpPr>
        <p:spPr>
          <a:xfrm>
            <a:off x="8569452" y="6515098"/>
            <a:ext cx="1474248" cy="342902"/>
          </a:xfrm>
        </p:spPr>
        <p:txBody>
          <a:bodyPr>
            <a:normAutofit/>
          </a:bodyPr>
          <a:lstStyle/>
          <a:p>
            <a:pPr>
              <a:spcAft>
                <a:spcPts val="600"/>
              </a:spcAft>
            </a:pPr>
            <a:fld id="{B01D7BC3-961C-46B9-A6DE-2A4B9BFDFACA}" type="datetime1">
              <a:rPr lang="en-US" smtClean="0"/>
              <a:pPr>
                <a:spcAft>
                  <a:spcPts val="600"/>
                </a:spcAft>
              </a:pPr>
              <a:t>7/31/2026</a:t>
            </a:fld>
            <a:endParaRPr lang="en-CA"/>
          </a:p>
        </p:txBody>
      </p:sp>
      <p:graphicFrame>
        <p:nvGraphicFramePr>
          <p:cNvPr id="21" name="Table 20">
            <a:extLst>
              <a:ext uri="{FF2B5EF4-FFF2-40B4-BE49-F238E27FC236}">
                <a16:creationId xmlns:a16="http://schemas.microsoft.com/office/drawing/2014/main" id="{B4BA0A34-AFA4-9628-4EFD-0F83B02F1D02}"/>
              </a:ext>
            </a:extLst>
          </p:cNvPr>
          <p:cNvGraphicFramePr>
            <a:graphicFrameLocks noGrp="1"/>
          </p:cNvGraphicFramePr>
          <p:nvPr>
            <p:extLst>
              <p:ext uri="{D42A27DB-BD31-4B8C-83A1-F6EECF244321}">
                <p14:modId xmlns:p14="http://schemas.microsoft.com/office/powerpoint/2010/main" val="1198189739"/>
              </p:ext>
            </p:extLst>
          </p:nvPr>
        </p:nvGraphicFramePr>
        <p:xfrm>
          <a:off x="2360319" y="1635896"/>
          <a:ext cx="7162801" cy="3773577"/>
        </p:xfrm>
        <a:graphic>
          <a:graphicData uri="http://schemas.openxmlformats.org/drawingml/2006/table">
            <a:tbl>
              <a:tblPr firstRow="1" bandRow="1"/>
              <a:tblGrid>
                <a:gridCol w="5776277">
                  <a:extLst>
                    <a:ext uri="{9D8B030D-6E8A-4147-A177-3AD203B41FA5}">
                      <a16:colId xmlns:a16="http://schemas.microsoft.com/office/drawing/2014/main" val="3702287716"/>
                    </a:ext>
                  </a:extLst>
                </a:gridCol>
                <a:gridCol w="1386524">
                  <a:extLst>
                    <a:ext uri="{9D8B030D-6E8A-4147-A177-3AD203B41FA5}">
                      <a16:colId xmlns:a16="http://schemas.microsoft.com/office/drawing/2014/main" val="4127154724"/>
                    </a:ext>
                  </a:extLst>
                </a:gridCol>
              </a:tblGrid>
              <a:tr h="430327">
                <a:tc>
                  <a:txBody>
                    <a:bodyPr/>
                    <a:lstStyle>
                      <a:lvl1pPr marL="0" algn="l" defTabSz="685783" rtl="0" eaLnBrk="1" latinLnBrk="0" hangingPunct="1">
                        <a:defRPr sz="1351" b="1" kern="1200">
                          <a:solidFill>
                            <a:schemeClr val="lt1"/>
                          </a:solidFill>
                          <a:latin typeface="Arial"/>
                        </a:defRPr>
                      </a:lvl1pPr>
                      <a:lvl2pPr marL="342891" algn="l" defTabSz="685783" rtl="0" eaLnBrk="1" latinLnBrk="0" hangingPunct="1">
                        <a:defRPr sz="1351" b="1" kern="1200">
                          <a:solidFill>
                            <a:schemeClr val="lt1"/>
                          </a:solidFill>
                          <a:latin typeface="Arial"/>
                        </a:defRPr>
                      </a:lvl2pPr>
                      <a:lvl3pPr marL="685783" algn="l" defTabSz="685783" rtl="0" eaLnBrk="1" latinLnBrk="0" hangingPunct="1">
                        <a:defRPr sz="1351" b="1" kern="1200">
                          <a:solidFill>
                            <a:schemeClr val="lt1"/>
                          </a:solidFill>
                          <a:latin typeface="Arial"/>
                        </a:defRPr>
                      </a:lvl3pPr>
                      <a:lvl4pPr marL="1028674" algn="l" defTabSz="685783" rtl="0" eaLnBrk="1" latinLnBrk="0" hangingPunct="1">
                        <a:defRPr sz="1351" b="1" kern="1200">
                          <a:solidFill>
                            <a:schemeClr val="lt1"/>
                          </a:solidFill>
                          <a:latin typeface="Arial"/>
                        </a:defRPr>
                      </a:lvl4pPr>
                      <a:lvl5pPr marL="1371566" algn="l" defTabSz="685783" rtl="0" eaLnBrk="1" latinLnBrk="0" hangingPunct="1">
                        <a:defRPr sz="1351" b="1" kern="1200">
                          <a:solidFill>
                            <a:schemeClr val="lt1"/>
                          </a:solidFill>
                          <a:latin typeface="Arial"/>
                        </a:defRPr>
                      </a:lvl5pPr>
                      <a:lvl6pPr marL="1714457" algn="l" defTabSz="685783" rtl="0" eaLnBrk="1" latinLnBrk="0" hangingPunct="1">
                        <a:defRPr sz="1351" b="1" kern="1200">
                          <a:solidFill>
                            <a:schemeClr val="lt1"/>
                          </a:solidFill>
                          <a:latin typeface="Arial"/>
                        </a:defRPr>
                      </a:lvl6pPr>
                      <a:lvl7pPr marL="2057349" algn="l" defTabSz="685783" rtl="0" eaLnBrk="1" latinLnBrk="0" hangingPunct="1">
                        <a:defRPr sz="1351" b="1" kern="1200">
                          <a:solidFill>
                            <a:schemeClr val="lt1"/>
                          </a:solidFill>
                          <a:latin typeface="Arial"/>
                        </a:defRPr>
                      </a:lvl7pPr>
                      <a:lvl8pPr marL="2400240" algn="l" defTabSz="685783" rtl="0" eaLnBrk="1" latinLnBrk="0" hangingPunct="1">
                        <a:defRPr sz="1351" b="1" kern="1200">
                          <a:solidFill>
                            <a:schemeClr val="lt1"/>
                          </a:solidFill>
                          <a:latin typeface="Arial"/>
                        </a:defRPr>
                      </a:lvl8pPr>
                      <a:lvl9pPr marL="2743131" algn="l" defTabSz="685783" rtl="0" eaLnBrk="1" latinLnBrk="0" hangingPunct="1">
                        <a:defRPr sz="1351" b="1" kern="1200">
                          <a:solidFill>
                            <a:schemeClr val="lt1"/>
                          </a:solidFill>
                          <a:latin typeface="Arial"/>
                        </a:defRPr>
                      </a:lvl9pPr>
                    </a:lstStyle>
                    <a:p>
                      <a:pPr marL="0" algn="ctr" defTabSz="914400" rtl="0" eaLnBrk="1" latinLnBrk="0" hangingPunct="1"/>
                      <a:r>
                        <a:rPr lang="en-US" sz="1900" b="1" kern="1200" dirty="0">
                          <a:solidFill>
                            <a:schemeClr val="lt1"/>
                          </a:solidFill>
                          <a:latin typeface="+mj-lt"/>
                          <a:ea typeface="+mn-ea"/>
                          <a:cs typeface="+mn-cs"/>
                        </a:rPr>
                        <a:t>Topic</a:t>
                      </a:r>
                    </a:p>
                  </a:txBody>
                  <a:tcPr marL="52909" marR="52909" marT="52909" marB="52909"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685783" rtl="0" eaLnBrk="1" latinLnBrk="0" hangingPunct="1">
                        <a:defRPr sz="1351" b="1" kern="1200">
                          <a:solidFill>
                            <a:schemeClr val="lt1"/>
                          </a:solidFill>
                          <a:latin typeface="Arial"/>
                        </a:defRPr>
                      </a:lvl1pPr>
                      <a:lvl2pPr marL="342891" algn="l" defTabSz="685783" rtl="0" eaLnBrk="1" latinLnBrk="0" hangingPunct="1">
                        <a:defRPr sz="1351" b="1" kern="1200">
                          <a:solidFill>
                            <a:schemeClr val="lt1"/>
                          </a:solidFill>
                          <a:latin typeface="Arial"/>
                        </a:defRPr>
                      </a:lvl2pPr>
                      <a:lvl3pPr marL="685783" algn="l" defTabSz="685783" rtl="0" eaLnBrk="1" latinLnBrk="0" hangingPunct="1">
                        <a:defRPr sz="1351" b="1" kern="1200">
                          <a:solidFill>
                            <a:schemeClr val="lt1"/>
                          </a:solidFill>
                          <a:latin typeface="Arial"/>
                        </a:defRPr>
                      </a:lvl3pPr>
                      <a:lvl4pPr marL="1028674" algn="l" defTabSz="685783" rtl="0" eaLnBrk="1" latinLnBrk="0" hangingPunct="1">
                        <a:defRPr sz="1351" b="1" kern="1200">
                          <a:solidFill>
                            <a:schemeClr val="lt1"/>
                          </a:solidFill>
                          <a:latin typeface="Arial"/>
                        </a:defRPr>
                      </a:lvl4pPr>
                      <a:lvl5pPr marL="1371566" algn="l" defTabSz="685783" rtl="0" eaLnBrk="1" latinLnBrk="0" hangingPunct="1">
                        <a:defRPr sz="1351" b="1" kern="1200">
                          <a:solidFill>
                            <a:schemeClr val="lt1"/>
                          </a:solidFill>
                          <a:latin typeface="Arial"/>
                        </a:defRPr>
                      </a:lvl5pPr>
                      <a:lvl6pPr marL="1714457" algn="l" defTabSz="685783" rtl="0" eaLnBrk="1" latinLnBrk="0" hangingPunct="1">
                        <a:defRPr sz="1351" b="1" kern="1200">
                          <a:solidFill>
                            <a:schemeClr val="lt1"/>
                          </a:solidFill>
                          <a:latin typeface="Arial"/>
                        </a:defRPr>
                      </a:lvl6pPr>
                      <a:lvl7pPr marL="2057349" algn="l" defTabSz="685783" rtl="0" eaLnBrk="1" latinLnBrk="0" hangingPunct="1">
                        <a:defRPr sz="1351" b="1" kern="1200">
                          <a:solidFill>
                            <a:schemeClr val="lt1"/>
                          </a:solidFill>
                          <a:latin typeface="Arial"/>
                        </a:defRPr>
                      </a:lvl7pPr>
                      <a:lvl8pPr marL="2400240" algn="l" defTabSz="685783" rtl="0" eaLnBrk="1" latinLnBrk="0" hangingPunct="1">
                        <a:defRPr sz="1351" b="1" kern="1200">
                          <a:solidFill>
                            <a:schemeClr val="lt1"/>
                          </a:solidFill>
                          <a:latin typeface="Arial"/>
                        </a:defRPr>
                      </a:lvl8pPr>
                      <a:lvl9pPr marL="2743131" algn="l" defTabSz="685783" rtl="0" eaLnBrk="1" latinLnBrk="0" hangingPunct="1">
                        <a:defRPr sz="1351" b="1" kern="1200">
                          <a:solidFill>
                            <a:schemeClr val="lt1"/>
                          </a:solidFill>
                          <a:latin typeface="Arial"/>
                        </a:defRPr>
                      </a:lvl9pPr>
                    </a:lstStyle>
                    <a:p>
                      <a:pPr marL="0" algn="ctr" defTabSz="914400" rtl="0" eaLnBrk="1" latinLnBrk="0" hangingPunct="1"/>
                      <a:r>
                        <a:rPr lang="en-US" sz="1900" b="1" kern="1200" dirty="0">
                          <a:solidFill>
                            <a:schemeClr val="lt1"/>
                          </a:solidFill>
                          <a:latin typeface="+mj-lt"/>
                          <a:ea typeface="+mn-ea"/>
                          <a:cs typeface="+mn-cs"/>
                        </a:rPr>
                        <a:t>Page</a:t>
                      </a:r>
                    </a:p>
                  </a:txBody>
                  <a:tcPr marL="52909" marR="52909" marT="52909" marB="52909"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692284143"/>
                  </a:ext>
                </a:extLst>
              </a:tr>
              <a:tr h="331491">
                <a:tc>
                  <a:txBody>
                    <a:bodyPr/>
                    <a:lstStyle/>
                    <a:p>
                      <a:pPr marL="356870" lvl="0" indent="0" algn="l">
                        <a:buNone/>
                      </a:pPr>
                      <a:r>
                        <a:rPr lang="en-CA" sz="1200" kern="1200" dirty="0">
                          <a:solidFill>
                            <a:srgbClr val="000000"/>
                          </a:solidFill>
                          <a:latin typeface="+mn-lt"/>
                          <a:ea typeface="+mn-ea"/>
                          <a:cs typeface="+mn-cs"/>
                        </a:rPr>
                        <a:t>Vision</a:t>
                      </a:r>
                    </a:p>
                  </a:txBody>
                  <a:tcPr marL="6983" marR="6983" marT="6983"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5895" indent="0" algn="l" defTabSz="685800" rtl="0" eaLnBrk="1" fontAlgn="b" latinLnBrk="0" hangingPunct="1">
                        <a:buNone/>
                      </a:pPr>
                      <a:r>
                        <a:rPr lang="en-CA" sz="1200" kern="1200" dirty="0">
                          <a:solidFill>
                            <a:srgbClr val="000000"/>
                          </a:solidFill>
                          <a:latin typeface="+mn-lt"/>
                          <a:ea typeface="+mn-ea"/>
                          <a:cs typeface="+mn-cs"/>
                        </a:rPr>
                        <a:t>3</a:t>
                      </a:r>
                    </a:p>
                  </a:txBody>
                  <a:tcPr marL="374945" marR="6983" marT="6983"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6389755"/>
                  </a:ext>
                </a:extLst>
              </a:tr>
              <a:tr h="331491">
                <a:tc>
                  <a:txBody>
                    <a:bodyPr/>
                    <a:lstStyle/>
                    <a:p>
                      <a:pPr marL="356870" indent="0" algn="l" rtl="0" eaLnBrk="1" fontAlgn="b" latinLnBrk="0" hangingPunct="1">
                        <a:buFont typeface="Arial" panose="020B0604020202020204" pitchFamily="34" charset="0"/>
                        <a:buNone/>
                      </a:pPr>
                      <a:r>
                        <a:rPr lang="en-CA" sz="1200" kern="1200" dirty="0">
                          <a:solidFill>
                            <a:srgbClr val="000000"/>
                          </a:solidFill>
                          <a:latin typeface="+mn-lt"/>
                          <a:ea typeface="+mn-ea"/>
                          <a:cs typeface="+mn-cs"/>
                        </a:rPr>
                        <a:t>Value Chain Map</a:t>
                      </a:r>
                    </a:p>
                  </a:txBody>
                  <a:tcPr marL="6983" marR="6983" marT="6983"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5895" indent="0" algn="l" defTabSz="685800" rtl="0" eaLnBrk="1" fontAlgn="b" latinLnBrk="0" hangingPunct="1">
                        <a:buNone/>
                      </a:pPr>
                      <a:r>
                        <a:rPr lang="en-CA" sz="1200" kern="1200" dirty="0">
                          <a:solidFill>
                            <a:srgbClr val="000000"/>
                          </a:solidFill>
                          <a:latin typeface="+mn-lt"/>
                          <a:ea typeface="+mn-ea"/>
                          <a:cs typeface="+mn-cs"/>
                        </a:rPr>
                        <a:t>4</a:t>
                      </a:r>
                    </a:p>
                  </a:txBody>
                  <a:tcPr marL="374945" marR="6983" marT="6983"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8448240"/>
                  </a:ext>
                </a:extLst>
              </a:tr>
              <a:tr h="331491">
                <a:tc>
                  <a:txBody>
                    <a:bodyPr/>
                    <a:lstStyle/>
                    <a:p>
                      <a:pPr marL="356870" lvl="0" indent="0" algn="l">
                        <a:buNone/>
                      </a:pPr>
                      <a:r>
                        <a:rPr lang="en-CA" sz="1200" b="0" i="0" u="none" strike="noStrike" kern="1200" noProof="0" dirty="0">
                          <a:solidFill>
                            <a:srgbClr val="000000"/>
                          </a:solidFill>
                          <a:latin typeface="Arial"/>
                        </a:rPr>
                        <a:t>I&amp;O Guiding Principles</a:t>
                      </a:r>
                      <a:endParaRPr lang="en-US" dirty="0">
                        <a:solidFill>
                          <a:srgbClr val="000000"/>
                        </a:solidFill>
                      </a:endParaRPr>
                    </a:p>
                  </a:txBody>
                  <a:tcPr marL="6983" marR="6983" marT="6983"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5895" indent="0" algn="l" defTabSz="685800" rtl="0" eaLnBrk="1" fontAlgn="b" latinLnBrk="0" hangingPunct="1">
                        <a:buNone/>
                      </a:pPr>
                      <a:r>
                        <a:rPr lang="en-CA" sz="1200" kern="1200" dirty="0">
                          <a:solidFill>
                            <a:srgbClr val="000000"/>
                          </a:solidFill>
                          <a:latin typeface="+mn-lt"/>
                          <a:ea typeface="+mn-ea"/>
                          <a:cs typeface="+mn-cs"/>
                        </a:rPr>
                        <a:t>5</a:t>
                      </a:r>
                    </a:p>
                  </a:txBody>
                  <a:tcPr marL="374945" marR="6983" marT="6983"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1919673"/>
                  </a:ext>
                </a:extLst>
              </a:tr>
              <a:tr h="331490">
                <a:tc>
                  <a:txBody>
                    <a:bodyPr/>
                    <a:lstStyle/>
                    <a:p>
                      <a:pPr marL="356870" lvl="0" indent="0" algn="l">
                        <a:buNone/>
                      </a:pPr>
                      <a:r>
                        <a:rPr lang="en-CA" sz="1200" b="0" i="0" u="none" strike="noStrike" kern="1200" noProof="0" dirty="0">
                          <a:solidFill>
                            <a:srgbClr val="000000"/>
                          </a:solidFill>
                          <a:latin typeface="Arial"/>
                        </a:rPr>
                        <a:t>Domain Overview</a:t>
                      </a:r>
                    </a:p>
                  </a:txBody>
                  <a:tcPr marL="6982" marR="6982" marT="6982" marB="0" anchor="ct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lnTlToBr w="0">
                      <a:noFill/>
                    </a:lnTlToBr>
                    <a:lnBlToTr w="0">
                      <a:noFill/>
                    </a:lnBlToTr>
                    <a:noFill/>
                  </a:tcPr>
                </a:tc>
                <a:tc>
                  <a:txBody>
                    <a:bodyPr/>
                    <a:lstStyle/>
                    <a:p>
                      <a:pPr marL="175895" lvl="0" indent="0" algn="l" defTabSz="685800">
                        <a:buNone/>
                      </a:pPr>
                      <a:r>
                        <a:rPr lang="en-CA" sz="1200" kern="1200" dirty="0">
                          <a:solidFill>
                            <a:srgbClr val="000000"/>
                          </a:solidFill>
                          <a:latin typeface="+mn-lt"/>
                          <a:ea typeface="+mn-ea"/>
                          <a:cs typeface="+mn-cs"/>
                        </a:rPr>
                        <a:t>6</a:t>
                      </a:r>
                    </a:p>
                  </a:txBody>
                  <a:tcPr marL="374945" marR="6982" marT="6982" marB="0" anchor="ct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lnTlToBr w="0">
                      <a:noFill/>
                    </a:lnTlToBr>
                    <a:lnBlToTr w="0">
                      <a:noFill/>
                    </a:lnBlToTr>
                    <a:noFill/>
                  </a:tcPr>
                </a:tc>
                <a:extLst>
                  <a:ext uri="{0D108BD9-81ED-4DB2-BD59-A6C34878D82A}">
                    <a16:rowId xmlns:a16="http://schemas.microsoft.com/office/drawing/2014/main" val="104248954"/>
                  </a:ext>
                </a:extLst>
              </a:tr>
              <a:tr h="331491">
                <a:tc>
                  <a:txBody>
                    <a:bodyPr/>
                    <a:lstStyle/>
                    <a:p>
                      <a:pPr marL="356870" lvl="0" indent="0" algn="l">
                        <a:buNone/>
                      </a:pPr>
                      <a:r>
                        <a:rPr lang="en-CA" sz="1200" b="0" i="0" u="none" strike="noStrike" kern="1200" noProof="0" dirty="0">
                          <a:solidFill>
                            <a:srgbClr val="000000"/>
                          </a:solidFill>
                          <a:latin typeface="Arial"/>
                        </a:rPr>
                        <a:t>Strategic Roadmap Focus Areas &amp; Transformation Opportunities</a:t>
                      </a:r>
                      <a:endParaRPr lang="en-CA" sz="1200" kern="1200" dirty="0">
                        <a:solidFill>
                          <a:srgbClr val="000000"/>
                        </a:solidFill>
                        <a:latin typeface="+mn-lt"/>
                        <a:ea typeface="+mn-ea"/>
                        <a:cs typeface="+mn-cs"/>
                      </a:endParaRPr>
                    </a:p>
                  </a:txBody>
                  <a:tcPr marL="6983" marR="6983" marT="6983"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5895" indent="0" algn="l" rtl="0" eaLnBrk="1" fontAlgn="b" latinLnBrk="0" hangingPunct="1">
                        <a:buNone/>
                      </a:pPr>
                      <a:r>
                        <a:rPr lang="en-CA" sz="1200" kern="1200" dirty="0">
                          <a:solidFill>
                            <a:srgbClr val="000000"/>
                          </a:solidFill>
                          <a:latin typeface="+mn-lt"/>
                          <a:ea typeface="+mn-ea"/>
                          <a:cs typeface="+mn-cs"/>
                        </a:rPr>
                        <a:t>7</a:t>
                      </a:r>
                    </a:p>
                  </a:txBody>
                  <a:tcPr marL="374945" marR="6983" marT="6983"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5120177"/>
                  </a:ext>
                </a:extLst>
              </a:tr>
              <a:tr h="331490">
                <a:tc>
                  <a:txBody>
                    <a:bodyPr/>
                    <a:lstStyle/>
                    <a:p>
                      <a:pPr marL="356870" lvl="0" indent="0" algn="l">
                        <a:buNone/>
                      </a:pPr>
                      <a:r>
                        <a:rPr lang="en-CA" sz="1200" b="0" i="0" u="none" strike="noStrike" kern="1200" noProof="0" dirty="0">
                          <a:solidFill>
                            <a:srgbClr val="000000"/>
                          </a:solidFill>
                          <a:latin typeface="Arial"/>
                        </a:rPr>
                        <a:t>Capability Mapping</a:t>
                      </a:r>
                    </a:p>
                  </a:txBody>
                  <a:tcPr marL="6982" marR="6982" marT="6982" marB="0" anchor="ct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lnTlToBr w="0">
                      <a:noFill/>
                    </a:lnTlToBr>
                    <a:lnBlToTr w="0">
                      <a:noFill/>
                    </a:lnBlToTr>
                    <a:noFill/>
                  </a:tcPr>
                </a:tc>
                <a:tc>
                  <a:txBody>
                    <a:bodyPr/>
                    <a:lstStyle/>
                    <a:p>
                      <a:pPr marL="175895" lvl="0" indent="0" algn="l">
                        <a:buNone/>
                      </a:pPr>
                      <a:r>
                        <a:rPr lang="en-CA" sz="1200" kern="1200" dirty="0">
                          <a:solidFill>
                            <a:srgbClr val="000000"/>
                          </a:solidFill>
                          <a:latin typeface="+mn-lt"/>
                          <a:ea typeface="+mn-ea"/>
                          <a:cs typeface="+mn-cs"/>
                        </a:rPr>
                        <a:t>8 - 9</a:t>
                      </a:r>
                    </a:p>
                  </a:txBody>
                  <a:tcPr marL="374945" marR="6982" marT="6982" marB="0" anchor="ct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lnTlToBr w="0">
                      <a:noFill/>
                    </a:lnTlToBr>
                    <a:lnBlToTr w="0">
                      <a:noFill/>
                    </a:lnBlToTr>
                    <a:noFill/>
                  </a:tcPr>
                </a:tc>
                <a:extLst>
                  <a:ext uri="{0D108BD9-81ED-4DB2-BD59-A6C34878D82A}">
                    <a16:rowId xmlns:a16="http://schemas.microsoft.com/office/drawing/2014/main" val="3346298703"/>
                  </a:ext>
                </a:extLst>
              </a:tr>
              <a:tr h="331491">
                <a:tc>
                  <a:txBody>
                    <a:bodyPr/>
                    <a:lstStyle/>
                    <a:p>
                      <a:pPr marL="356870" indent="0" algn="l" rtl="0" eaLnBrk="1" fontAlgn="b" latinLnBrk="0" hangingPunct="1">
                        <a:buFont typeface="Arial" panose="020B0604020202020204" pitchFamily="34" charset="0"/>
                        <a:buNone/>
                      </a:pPr>
                      <a:r>
                        <a:rPr lang="en-CA" sz="1200" kern="1200" dirty="0">
                          <a:solidFill>
                            <a:srgbClr val="000000"/>
                          </a:solidFill>
                          <a:latin typeface="+mn-lt"/>
                          <a:ea typeface="+mn-ea"/>
                          <a:cs typeface="+mn-cs"/>
                        </a:rPr>
                        <a:t>Current State</a:t>
                      </a:r>
                    </a:p>
                  </a:txBody>
                  <a:tcPr marL="6983" marR="6983" marT="6983"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5895" indent="0" algn="l" rtl="0" eaLnBrk="1" fontAlgn="b" latinLnBrk="0" hangingPunct="1">
                        <a:buNone/>
                      </a:pPr>
                      <a:r>
                        <a:rPr lang="en-CA" sz="1200" kern="1200" dirty="0">
                          <a:solidFill>
                            <a:srgbClr val="000000"/>
                          </a:solidFill>
                          <a:latin typeface="+mn-lt"/>
                          <a:ea typeface="+mn-ea"/>
                          <a:cs typeface="+mn-cs"/>
                        </a:rPr>
                        <a:t>10 - 15</a:t>
                      </a:r>
                    </a:p>
                  </a:txBody>
                  <a:tcPr marL="374945" marR="6983" marT="6983"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0737637"/>
                  </a:ext>
                </a:extLst>
              </a:tr>
              <a:tr h="331491">
                <a:tc>
                  <a:txBody>
                    <a:bodyPr/>
                    <a:lstStyle/>
                    <a:p>
                      <a:pPr marL="356870" lvl="0" indent="0" algn="l">
                        <a:buNone/>
                      </a:pPr>
                      <a:r>
                        <a:rPr lang="en-CA" sz="1200" kern="1200" dirty="0">
                          <a:solidFill>
                            <a:srgbClr val="000000"/>
                          </a:solidFill>
                          <a:latin typeface="+mn-lt"/>
                          <a:ea typeface="+mn-ea"/>
                          <a:cs typeface="+mn-cs"/>
                        </a:rPr>
                        <a:t>Target State</a:t>
                      </a:r>
                      <a:endParaRPr lang="en-US" sz="1200" dirty="0">
                        <a:solidFill>
                          <a:srgbClr val="000000"/>
                        </a:solidFill>
                      </a:endParaRPr>
                    </a:p>
                  </a:txBody>
                  <a:tcPr marL="6983" marR="6983" marT="6983"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5895" indent="0" algn="l" rtl="0" eaLnBrk="1" fontAlgn="b" latinLnBrk="0" hangingPunct="1">
                        <a:buNone/>
                      </a:pPr>
                      <a:r>
                        <a:rPr lang="en-CA" sz="1200" kern="1200" dirty="0">
                          <a:solidFill>
                            <a:srgbClr val="000000"/>
                          </a:solidFill>
                          <a:latin typeface="+mn-lt"/>
                          <a:ea typeface="+mn-ea"/>
                          <a:cs typeface="+mn-cs"/>
                        </a:rPr>
                        <a:t>16 - 19</a:t>
                      </a:r>
                    </a:p>
                  </a:txBody>
                  <a:tcPr marL="374945" marR="6983" marT="6983"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7104331"/>
                  </a:ext>
                </a:extLst>
              </a:tr>
              <a:tr h="359833">
                <a:tc>
                  <a:txBody>
                    <a:bodyPr/>
                    <a:lstStyle/>
                    <a:p>
                      <a:pPr marL="356870" lvl="0" indent="0" algn="l">
                        <a:buNone/>
                      </a:pPr>
                      <a:r>
                        <a:rPr lang="en-CA" sz="1200" kern="1200" noProof="0" dirty="0">
                          <a:solidFill>
                            <a:srgbClr val="000000"/>
                          </a:solidFill>
                          <a:latin typeface="+mn-lt"/>
                          <a:ea typeface="+mn-ea"/>
                          <a:cs typeface="+mn-cs"/>
                        </a:rPr>
                        <a:t>Work Packages / Initiatives Identification and Sequencing</a:t>
                      </a:r>
                      <a:endParaRPr lang="en-US" sz="1200" kern="1200" dirty="0">
                        <a:solidFill>
                          <a:srgbClr val="000000"/>
                        </a:solidFill>
                        <a:latin typeface="+mn-lt"/>
                        <a:ea typeface="+mn-ea"/>
                        <a:cs typeface="+mn-cs"/>
                      </a:endParaRPr>
                    </a:p>
                  </a:txBody>
                  <a:tcPr marL="6983" marR="6983" marT="6983" marB="0" anchor="ct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lnTlToBr w="0">
                      <a:noFill/>
                    </a:lnTlToBr>
                    <a:lnBlToTr w="0">
                      <a:noFill/>
                    </a:lnBlToTr>
                    <a:noFill/>
                  </a:tcPr>
                </a:tc>
                <a:tc>
                  <a:txBody>
                    <a:bodyPr/>
                    <a:lstStyle/>
                    <a:p>
                      <a:pPr marL="175895" lvl="0" indent="0" algn="l">
                        <a:buNone/>
                      </a:pPr>
                      <a:r>
                        <a:rPr lang="en-CA" sz="1200" kern="1200" dirty="0">
                          <a:solidFill>
                            <a:srgbClr val="000000"/>
                          </a:solidFill>
                          <a:latin typeface="+mn-lt"/>
                          <a:ea typeface="+mn-ea"/>
                          <a:cs typeface="+mn-cs"/>
                        </a:rPr>
                        <a:t>20 - 24</a:t>
                      </a:r>
                    </a:p>
                  </a:txBody>
                  <a:tcPr marL="374945" marR="6983" marT="6983" marB="0" anchor="ct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lnTlToBr w="0">
                      <a:noFill/>
                    </a:lnTlToBr>
                    <a:lnBlToTr w="0">
                      <a:noFill/>
                    </a:lnBlToTr>
                    <a:noFill/>
                  </a:tcPr>
                </a:tc>
                <a:extLst>
                  <a:ext uri="{0D108BD9-81ED-4DB2-BD59-A6C34878D82A}">
                    <a16:rowId xmlns:a16="http://schemas.microsoft.com/office/drawing/2014/main" val="2107440778"/>
                  </a:ext>
                </a:extLst>
              </a:tr>
              <a:tr h="331491">
                <a:tc>
                  <a:txBody>
                    <a:bodyPr/>
                    <a:lstStyle/>
                    <a:p>
                      <a:pPr marL="356870" indent="0" algn="l" rtl="0" eaLnBrk="1" fontAlgn="b" latinLnBrk="0" hangingPunct="1">
                        <a:buFont typeface="Arial" panose="020B0604020202020204" pitchFamily="34" charset="0"/>
                        <a:buNone/>
                      </a:pPr>
                      <a:r>
                        <a:rPr lang="en-CA" sz="1200" kern="1200" dirty="0">
                          <a:solidFill>
                            <a:srgbClr val="000000"/>
                          </a:solidFill>
                          <a:latin typeface="+mn-lt"/>
                          <a:ea typeface="+mn-ea"/>
                          <a:cs typeface="+mn-cs"/>
                        </a:rPr>
                        <a:t>Appendix</a:t>
                      </a:r>
                    </a:p>
                  </a:txBody>
                  <a:tcPr marL="6983" marR="6983" marT="6983"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5895" indent="0" algn="l" rtl="0" eaLnBrk="1" fontAlgn="b" latinLnBrk="0" hangingPunct="1">
                        <a:buNone/>
                      </a:pPr>
                      <a:r>
                        <a:rPr lang="en-CA" sz="1200" kern="1200" dirty="0">
                          <a:solidFill>
                            <a:srgbClr val="000000"/>
                          </a:solidFill>
                          <a:latin typeface="+mn-lt"/>
                          <a:ea typeface="+mn-ea"/>
                          <a:cs typeface="+mn-cs"/>
                        </a:rPr>
                        <a:t>25 - 30</a:t>
                      </a:r>
                    </a:p>
                  </a:txBody>
                  <a:tcPr marL="374945" marR="6983" marT="6983"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3191403"/>
                  </a:ext>
                </a:extLst>
              </a:tr>
            </a:tbl>
          </a:graphicData>
        </a:graphic>
      </p:graphicFrame>
    </p:spTree>
    <p:extLst>
      <p:ext uri="{BB962C8B-B14F-4D97-AF65-F5344CB8AC3E}">
        <p14:creationId xmlns:p14="http://schemas.microsoft.com/office/powerpoint/2010/main" val="3136148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03E9C-0CFF-D3F8-061B-3E7A2618E3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1B9028-BBD3-EF40-AE47-C394160B5364}"/>
              </a:ext>
            </a:extLst>
          </p:cNvPr>
          <p:cNvSpPr>
            <a:spLocks noGrp="1"/>
          </p:cNvSpPr>
          <p:nvPr>
            <p:ph type="title"/>
          </p:nvPr>
        </p:nvSpPr>
        <p:spPr/>
        <p:txBody>
          <a:bodyPr>
            <a:normAutofit/>
          </a:bodyPr>
          <a:lstStyle/>
          <a:p>
            <a:r>
              <a:rPr lang="en-US"/>
              <a:t>Advancing Enterprise Multi-Cloud Maturity</a:t>
            </a:r>
          </a:p>
        </p:txBody>
      </p:sp>
      <p:sp>
        <p:nvSpPr>
          <p:cNvPr id="3" name="Footer Placeholder 2">
            <a:extLst>
              <a:ext uri="{FF2B5EF4-FFF2-40B4-BE49-F238E27FC236}">
                <a16:creationId xmlns:a16="http://schemas.microsoft.com/office/drawing/2014/main" id="{D8975ABA-FFD5-B126-93AC-69F9A50D2BEC}"/>
              </a:ext>
            </a:extLst>
          </p:cNvPr>
          <p:cNvSpPr>
            <a:spLocks noGrp="1"/>
          </p:cNvSpPr>
          <p:nvPr>
            <p:ph type="ftr" sz="quarter" idx="11"/>
          </p:nvPr>
        </p:nvSpPr>
        <p:spPr/>
        <p:txBody>
          <a:bodyPr/>
          <a:lstStyle/>
          <a:p>
            <a:r>
              <a:rPr lang="en-CA"/>
              <a:t>CONFIDENTIAL</a:t>
            </a:r>
          </a:p>
        </p:txBody>
      </p:sp>
      <p:sp>
        <p:nvSpPr>
          <p:cNvPr id="4" name="Date Placeholder 3">
            <a:extLst>
              <a:ext uri="{FF2B5EF4-FFF2-40B4-BE49-F238E27FC236}">
                <a16:creationId xmlns:a16="http://schemas.microsoft.com/office/drawing/2014/main" id="{264123D1-EB98-B79E-3080-27D46691E2C2}"/>
              </a:ext>
            </a:extLst>
          </p:cNvPr>
          <p:cNvSpPr>
            <a:spLocks noGrp="1"/>
          </p:cNvSpPr>
          <p:nvPr>
            <p:ph type="dt" sz="half" idx="13"/>
          </p:nvPr>
        </p:nvSpPr>
        <p:spPr/>
        <p:txBody>
          <a:bodyPr/>
          <a:lstStyle/>
          <a:p>
            <a:fld id="{B01D7BC3-961C-46B9-A6DE-2A4B9BFDFACA}" type="datetime1">
              <a:rPr lang="en-US" smtClean="0"/>
              <a:t>7/31/2026</a:t>
            </a:fld>
            <a:endParaRPr lang="en-CA"/>
          </a:p>
        </p:txBody>
      </p:sp>
      <p:sp>
        <p:nvSpPr>
          <p:cNvPr id="5" name="TextBox 4">
            <a:extLst>
              <a:ext uri="{FF2B5EF4-FFF2-40B4-BE49-F238E27FC236}">
                <a16:creationId xmlns:a16="http://schemas.microsoft.com/office/drawing/2014/main" id="{A486458D-5923-7F18-40B2-339A1FB287D8}"/>
              </a:ext>
            </a:extLst>
          </p:cNvPr>
          <p:cNvSpPr txBox="1"/>
          <p:nvPr/>
        </p:nvSpPr>
        <p:spPr>
          <a:xfrm>
            <a:off x="387007" y="1266572"/>
            <a:ext cx="11486075" cy="537219"/>
          </a:xfrm>
          <a:prstGeom prst="rect">
            <a:avLst/>
          </a:prstGeom>
          <a:noFill/>
        </p:spPr>
        <p:txBody>
          <a:bodyPr wrap="none" lIns="0" tIns="0" rIns="0" bIns="0" numCol="1" spcCol="228600" rtlCol="0" anchor="t">
            <a:noAutofit/>
          </a:bodyPr>
          <a:lstStyle/>
          <a:p>
            <a:pPr>
              <a:spcAft>
                <a:spcPts val="500"/>
              </a:spcAft>
            </a:pPr>
            <a:r>
              <a:rPr lang="en-US" sz="1200" b="1">
                <a:solidFill>
                  <a:srgbClr val="000000"/>
                </a:solidFill>
              </a:rPr>
              <a:t>Vision Statement : </a:t>
            </a:r>
            <a:r>
              <a:rPr lang="en-US" sz="1200">
                <a:solidFill>
                  <a:srgbClr val="000000"/>
                </a:solidFill>
              </a:rPr>
              <a:t>Advance a secure, resilient, and scalable multi-cloud foundation across Azure and AWS into a mature state to accelerate data driven decision making,</a:t>
            </a:r>
            <a:r>
              <a:rPr lang="en-US" sz="1200" b="1">
                <a:solidFill>
                  <a:srgbClr val="000000"/>
                </a:solidFill>
              </a:rPr>
              <a:t> </a:t>
            </a:r>
            <a:endParaRPr lang="en-US" sz="1200">
              <a:solidFill>
                <a:srgbClr val="000000"/>
              </a:solidFill>
            </a:endParaRPr>
          </a:p>
          <a:p>
            <a:pPr>
              <a:spcAft>
                <a:spcPts val="500"/>
              </a:spcAft>
            </a:pPr>
            <a:r>
              <a:rPr lang="en-US" sz="1200">
                <a:solidFill>
                  <a:srgbClr val="000000"/>
                </a:solidFill>
              </a:rPr>
              <a:t>automate enterprise operations and maximize business outcomes, while ensuring a smooth and low-risk GCP exit.</a:t>
            </a:r>
            <a:endParaRPr lang="en-US" sz="1200">
              <a:cs typeface="Arial"/>
            </a:endParaRPr>
          </a:p>
          <a:p>
            <a:pPr algn="l">
              <a:spcAft>
                <a:spcPts val="500"/>
              </a:spcAft>
            </a:pPr>
            <a:endParaRPr lang="en-US" sz="1400" b="1"/>
          </a:p>
        </p:txBody>
      </p:sp>
      <p:pic>
        <p:nvPicPr>
          <p:cNvPr id="1026" name="Picture 2" descr="A logo with a smile&#10;&#10;Description automatically generated">
            <a:extLst>
              <a:ext uri="{FF2B5EF4-FFF2-40B4-BE49-F238E27FC236}">
                <a16:creationId xmlns:a16="http://schemas.microsoft.com/office/drawing/2014/main" id="{1784D4D1-F9D2-CBAB-221E-7B0552CB8E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71342" y="5564703"/>
            <a:ext cx="968411" cy="58104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A blue triangle logo with a black background&#10;&#10;Description automatically generated">
            <a:extLst>
              <a:ext uri="{FF2B5EF4-FFF2-40B4-BE49-F238E27FC236}">
                <a16:creationId xmlns:a16="http://schemas.microsoft.com/office/drawing/2014/main" id="{E6D13945-DC54-7502-8A8B-6AD9773D78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98157" y="5565820"/>
            <a:ext cx="968410" cy="508415"/>
          </a:xfrm>
          <a:prstGeom prst="rect">
            <a:avLst/>
          </a:prstGeom>
          <a:noFill/>
          <a:extLst>
            <a:ext uri="{909E8E84-426E-40DD-AFC4-6F175D3DCCD1}">
              <a14:hiddenFill xmlns:a14="http://schemas.microsoft.com/office/drawing/2010/main">
                <a:solidFill>
                  <a:srgbClr val="FFFFFF"/>
                </a:solidFill>
              </a14:hiddenFill>
            </a:ext>
          </a:extLst>
        </p:spPr>
      </p:pic>
      <p:sp>
        <p:nvSpPr>
          <p:cNvPr id="1036" name="TextBox 1035">
            <a:extLst>
              <a:ext uri="{FF2B5EF4-FFF2-40B4-BE49-F238E27FC236}">
                <a16:creationId xmlns:a16="http://schemas.microsoft.com/office/drawing/2014/main" id="{74BDA852-0934-D8CA-1F87-02144EE27619}"/>
              </a:ext>
            </a:extLst>
          </p:cNvPr>
          <p:cNvSpPr txBox="1"/>
          <p:nvPr/>
        </p:nvSpPr>
        <p:spPr>
          <a:xfrm>
            <a:off x="296489" y="5915237"/>
            <a:ext cx="9272931" cy="276999"/>
          </a:xfrm>
          <a:prstGeom prst="rect">
            <a:avLst/>
          </a:prstGeom>
          <a:noFill/>
        </p:spPr>
        <p:txBody>
          <a:bodyPr wrap="square" lIns="91440" tIns="45720" rIns="91440" bIns="45720" anchor="t">
            <a:spAutoFit/>
          </a:bodyPr>
          <a:lstStyle/>
          <a:p>
            <a:r>
              <a:rPr lang="en-US" sz="1200" b="1" i="1">
                <a:solidFill>
                  <a:srgbClr val="000000"/>
                </a:solidFill>
              </a:rPr>
              <a:t>“Powering the enterprise with automated, secure, resilient and scalable cloud platforms for every business initiative”</a:t>
            </a:r>
            <a:endParaRPr lang="en-US" sz="1200" b="1" i="1">
              <a:solidFill>
                <a:srgbClr val="000000"/>
              </a:solidFill>
              <a:cs typeface="Arial"/>
            </a:endParaRPr>
          </a:p>
        </p:txBody>
      </p:sp>
      <p:sp>
        <p:nvSpPr>
          <p:cNvPr id="1600" name="Oval 1599">
            <a:extLst>
              <a:ext uri="{FF2B5EF4-FFF2-40B4-BE49-F238E27FC236}">
                <a16:creationId xmlns:a16="http://schemas.microsoft.com/office/drawing/2014/main" id="{8D5E2EA6-9F8F-9801-96FD-4A6BF208CE89}"/>
              </a:ext>
            </a:extLst>
          </p:cNvPr>
          <p:cNvSpPr/>
          <p:nvPr/>
        </p:nvSpPr>
        <p:spPr>
          <a:xfrm>
            <a:off x="2409701" y="2270366"/>
            <a:ext cx="2369560" cy="2371919"/>
          </a:xfrm>
          <a:prstGeom prst="ellipse">
            <a:avLst/>
          </a:prstGeom>
          <a:solidFill>
            <a:schemeClr val="bg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Diagram 5">
            <a:extLst>
              <a:ext uri="{FF2B5EF4-FFF2-40B4-BE49-F238E27FC236}">
                <a16:creationId xmlns:a16="http://schemas.microsoft.com/office/drawing/2014/main" id="{C688069A-DBF1-FCE3-566E-0D68BFF49D04}"/>
              </a:ext>
            </a:extLst>
          </p:cNvPr>
          <p:cNvGraphicFramePr/>
          <p:nvPr>
            <p:extLst>
              <p:ext uri="{D42A27DB-BD31-4B8C-83A1-F6EECF244321}">
                <p14:modId xmlns:p14="http://schemas.microsoft.com/office/powerpoint/2010/main" val="102000569"/>
              </p:ext>
            </p:extLst>
          </p:nvPr>
        </p:nvGraphicFramePr>
        <p:xfrm>
          <a:off x="1763594" y="1867567"/>
          <a:ext cx="3618379" cy="281211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577" name="TextBox 1576">
            <a:extLst>
              <a:ext uri="{FF2B5EF4-FFF2-40B4-BE49-F238E27FC236}">
                <a16:creationId xmlns:a16="http://schemas.microsoft.com/office/drawing/2014/main" id="{585303E3-457F-A883-96E2-DB8BE91EF566}"/>
              </a:ext>
            </a:extLst>
          </p:cNvPr>
          <p:cNvSpPr txBox="1"/>
          <p:nvPr/>
        </p:nvSpPr>
        <p:spPr>
          <a:xfrm>
            <a:off x="2718638" y="2946685"/>
            <a:ext cx="1717815" cy="866904"/>
          </a:xfrm>
          <a:prstGeom prst="rect">
            <a:avLst/>
          </a:prstGeom>
          <a:noFill/>
        </p:spPr>
        <p:txBody>
          <a:bodyPr rot="0" spcFirstLastPara="0" vertOverflow="overflow" horzOverflow="overflow" vert="horz" wrap="square" lIns="0" tIns="0" rIns="0" bIns="0" numCol="1" spcCol="228600" rtlCol="0" fromWordArt="0" anchor="ctr" anchorCtr="0" forceAA="0" compatLnSpc="1">
            <a:prstTxWarp prst="textNoShape">
              <a:avLst/>
            </a:prstTxWarp>
            <a:spAutoFit/>
          </a:bodyPr>
          <a:lstStyle/>
          <a:p>
            <a:pPr algn="ctr">
              <a:spcAft>
                <a:spcPts val="500"/>
              </a:spcAft>
            </a:pPr>
            <a:r>
              <a:rPr lang="en-US" sz="1600" b="1">
                <a:solidFill>
                  <a:srgbClr val="000000"/>
                </a:solidFill>
                <a:cs typeface="Arial"/>
              </a:rPr>
              <a:t>Enterprise </a:t>
            </a:r>
            <a:endParaRPr lang="en-US" sz="1600">
              <a:solidFill>
                <a:srgbClr val="000000"/>
              </a:solidFill>
              <a:cs typeface="Arial" panose="020B0604020202020204"/>
            </a:endParaRPr>
          </a:p>
          <a:p>
            <a:pPr algn="ctr">
              <a:spcAft>
                <a:spcPts val="500"/>
              </a:spcAft>
            </a:pPr>
            <a:r>
              <a:rPr lang="en-US" sz="1600" b="1">
                <a:solidFill>
                  <a:srgbClr val="000000"/>
                </a:solidFill>
                <a:cs typeface="Arial"/>
              </a:rPr>
              <a:t>Cloud Value </a:t>
            </a:r>
            <a:endParaRPr lang="en-US" sz="1600">
              <a:solidFill>
                <a:srgbClr val="000000"/>
              </a:solidFill>
              <a:cs typeface="Arial"/>
            </a:endParaRPr>
          </a:p>
          <a:p>
            <a:pPr algn="ctr">
              <a:spcAft>
                <a:spcPts val="500"/>
              </a:spcAft>
            </a:pPr>
            <a:r>
              <a:rPr lang="en-US" sz="1600" b="1">
                <a:solidFill>
                  <a:srgbClr val="000000"/>
                </a:solidFill>
                <a:cs typeface="Arial"/>
              </a:rPr>
              <a:t>Pillars</a:t>
            </a:r>
            <a:endParaRPr lang="en-US" sz="1600">
              <a:solidFill>
                <a:srgbClr val="000000"/>
              </a:solidFill>
              <a:cs typeface="Arial"/>
            </a:endParaRPr>
          </a:p>
        </p:txBody>
      </p:sp>
      <p:sp>
        <p:nvSpPr>
          <p:cNvPr id="1916" name="Arrow: Down 1915">
            <a:extLst>
              <a:ext uri="{FF2B5EF4-FFF2-40B4-BE49-F238E27FC236}">
                <a16:creationId xmlns:a16="http://schemas.microsoft.com/office/drawing/2014/main" id="{219BA650-3258-9813-CABB-64A89EF195BA}"/>
              </a:ext>
            </a:extLst>
          </p:cNvPr>
          <p:cNvSpPr/>
          <p:nvPr/>
        </p:nvSpPr>
        <p:spPr>
          <a:xfrm rot="10800000">
            <a:off x="6864479" y="3641189"/>
            <a:ext cx="142763" cy="190341"/>
          </a:xfrm>
          <a:prstGeom prst="down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17" name="Arrow: Down 1916">
            <a:extLst>
              <a:ext uri="{FF2B5EF4-FFF2-40B4-BE49-F238E27FC236}">
                <a16:creationId xmlns:a16="http://schemas.microsoft.com/office/drawing/2014/main" id="{EE4FDF1D-A663-1126-380F-A5E63DC1990F}"/>
              </a:ext>
            </a:extLst>
          </p:cNvPr>
          <p:cNvSpPr/>
          <p:nvPr/>
        </p:nvSpPr>
        <p:spPr>
          <a:xfrm rot="10800000">
            <a:off x="6864479" y="4027791"/>
            <a:ext cx="142763" cy="190341"/>
          </a:xfrm>
          <a:prstGeom prst="down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62" name="Table 61">
            <a:extLst>
              <a:ext uri="{FF2B5EF4-FFF2-40B4-BE49-F238E27FC236}">
                <a16:creationId xmlns:a16="http://schemas.microsoft.com/office/drawing/2014/main" id="{8F124FBD-9B82-B773-5418-0D2DFC954590}"/>
              </a:ext>
            </a:extLst>
          </p:cNvPr>
          <p:cNvGraphicFramePr>
            <a:graphicFrameLocks noGrp="1"/>
          </p:cNvGraphicFramePr>
          <p:nvPr/>
        </p:nvGraphicFramePr>
        <p:xfrm>
          <a:off x="6812280" y="2836926"/>
          <a:ext cx="2254447" cy="2225039"/>
        </p:xfrm>
        <a:graphic>
          <a:graphicData uri="http://schemas.openxmlformats.org/drawingml/2006/table">
            <a:tbl>
              <a:tblPr firstRow="1" bandRow="1">
                <a:tableStyleId>{5C22544A-7EE6-4342-B048-85BDC9FD1C3A}</a:tableStyleId>
              </a:tblPr>
              <a:tblGrid>
                <a:gridCol w="2254447">
                  <a:extLst>
                    <a:ext uri="{9D8B030D-6E8A-4147-A177-3AD203B41FA5}">
                      <a16:colId xmlns:a16="http://schemas.microsoft.com/office/drawing/2014/main" val="2723144733"/>
                    </a:ext>
                  </a:extLst>
                </a:gridCol>
              </a:tblGrid>
              <a:tr h="370839">
                <a:tc>
                  <a:txBody>
                    <a:bodyPr/>
                    <a:lstStyle/>
                    <a:p>
                      <a:pPr algn="ctr"/>
                      <a:r>
                        <a:rPr lang="en-US" sz="1000" b="0"/>
                        <a:t>Business Outcomes</a:t>
                      </a:r>
                    </a:p>
                  </a:txBody>
                  <a:tcPr anchor="ctr">
                    <a:lnL w="12700">
                      <a:solidFill>
                        <a:schemeClr val="tx1"/>
                      </a:solidFill>
                    </a:lnL>
                    <a:lnR w="12700">
                      <a:solidFill>
                        <a:schemeClr val="tx1"/>
                      </a:solidFill>
                    </a:lnR>
                    <a:lnT w="12700">
                      <a:solidFill>
                        <a:schemeClr val="tx1"/>
                      </a:solidFill>
                    </a:lnT>
                    <a:solidFill>
                      <a:srgbClr val="BA0C2F"/>
                    </a:solidFill>
                  </a:tcPr>
                </a:tc>
                <a:extLst>
                  <a:ext uri="{0D108BD9-81ED-4DB2-BD59-A6C34878D82A}">
                    <a16:rowId xmlns:a16="http://schemas.microsoft.com/office/drawing/2014/main" val="3746816719"/>
                  </a:ext>
                </a:extLst>
              </a:tr>
              <a:tr h="370840">
                <a:tc>
                  <a:txBody>
                    <a:bodyPr/>
                    <a:lstStyle/>
                    <a:p>
                      <a:pPr lvl="0" algn="l">
                        <a:lnSpc>
                          <a:spcPct val="100000"/>
                        </a:lnSpc>
                        <a:spcBef>
                          <a:spcPts val="0"/>
                        </a:spcBef>
                        <a:spcAft>
                          <a:spcPts val="0"/>
                        </a:spcAft>
                        <a:buNone/>
                      </a:pPr>
                      <a:r>
                        <a:rPr lang="en-CA" sz="1000" b="1" i="0" u="none" strike="noStrike" noProof="0">
                          <a:solidFill>
                            <a:srgbClr val="000000"/>
                          </a:solidFill>
                          <a:latin typeface="Arial"/>
                        </a:rPr>
                        <a:t>    Accelerate Time-to-Market</a:t>
                      </a:r>
                      <a:endParaRPr lang="en-US" sz="1000" b="1" i="0" u="none" strike="noStrike" noProof="0">
                        <a:solidFill>
                          <a:srgbClr val="000000"/>
                        </a:solidFill>
                        <a:latin typeface="Arial"/>
                      </a:endParaRPr>
                    </a:p>
                  </a:txBody>
                  <a:tcPr anchor="ctr">
                    <a:lnL w="12700">
                      <a:solidFill>
                        <a:schemeClr val="tx1"/>
                      </a:solidFill>
                    </a:lnL>
                    <a:lnR w="12700">
                      <a:solidFill>
                        <a:schemeClr val="tx1"/>
                      </a:solidFill>
                    </a:lnR>
                    <a:noFill/>
                  </a:tcPr>
                </a:tc>
                <a:extLst>
                  <a:ext uri="{0D108BD9-81ED-4DB2-BD59-A6C34878D82A}">
                    <a16:rowId xmlns:a16="http://schemas.microsoft.com/office/drawing/2014/main" val="74771290"/>
                  </a:ext>
                </a:extLst>
              </a:tr>
              <a:tr h="370840">
                <a:tc>
                  <a:txBody>
                    <a:bodyPr/>
                    <a:lstStyle/>
                    <a:p>
                      <a:pPr lvl="0" algn="l">
                        <a:lnSpc>
                          <a:spcPct val="100000"/>
                        </a:lnSpc>
                        <a:spcBef>
                          <a:spcPts val="0"/>
                        </a:spcBef>
                        <a:spcAft>
                          <a:spcPts val="0"/>
                        </a:spcAft>
                        <a:buNone/>
                      </a:pPr>
                      <a:r>
                        <a:rPr lang="en-CA" sz="1000" b="1" i="0" u="none" strike="noStrike" noProof="0">
                          <a:solidFill>
                            <a:srgbClr val="000000"/>
                          </a:solidFill>
                          <a:latin typeface="Arial"/>
                        </a:rPr>
                        <a:t>    Increase Service Resilience</a:t>
                      </a:r>
                      <a:endParaRPr lang="en-US" sz="1000" b="1" i="0" u="none" strike="noStrike" noProof="0">
                        <a:solidFill>
                          <a:srgbClr val="000000"/>
                        </a:solidFill>
                        <a:latin typeface="Arial"/>
                      </a:endParaRPr>
                    </a:p>
                  </a:txBody>
                  <a:tcPr anchor="ctr">
                    <a:lnL w="12700">
                      <a:solidFill>
                        <a:schemeClr val="tx1"/>
                      </a:solidFill>
                    </a:lnL>
                    <a:lnR w="12700">
                      <a:solidFill>
                        <a:schemeClr val="tx1"/>
                      </a:solidFill>
                    </a:lnR>
                    <a:noFill/>
                  </a:tcPr>
                </a:tc>
                <a:extLst>
                  <a:ext uri="{0D108BD9-81ED-4DB2-BD59-A6C34878D82A}">
                    <a16:rowId xmlns:a16="http://schemas.microsoft.com/office/drawing/2014/main" val="826734751"/>
                  </a:ext>
                </a:extLst>
              </a:tr>
              <a:tr h="370840">
                <a:tc>
                  <a:txBody>
                    <a:bodyPr/>
                    <a:lstStyle/>
                    <a:p>
                      <a:pPr lvl="0" algn="l">
                        <a:lnSpc>
                          <a:spcPct val="100000"/>
                        </a:lnSpc>
                        <a:spcBef>
                          <a:spcPts val="0"/>
                        </a:spcBef>
                        <a:spcAft>
                          <a:spcPts val="0"/>
                        </a:spcAft>
                        <a:buNone/>
                      </a:pPr>
                      <a:r>
                        <a:rPr lang="en-CA" sz="1000" b="1" i="0" u="none" strike="noStrike" noProof="0">
                          <a:solidFill>
                            <a:srgbClr val="000000"/>
                          </a:solidFill>
                          <a:latin typeface="Arial"/>
                        </a:rPr>
                        <a:t>    Strengthen Security Posture</a:t>
                      </a:r>
                      <a:endParaRPr lang="en-US" sz="1000" b="1" i="0" u="none" strike="noStrike" noProof="0">
                        <a:solidFill>
                          <a:srgbClr val="000000"/>
                        </a:solidFill>
                        <a:latin typeface="Arial"/>
                      </a:endParaRPr>
                    </a:p>
                  </a:txBody>
                  <a:tcPr anchor="ctr">
                    <a:lnL w="12700">
                      <a:solidFill>
                        <a:schemeClr val="tx1"/>
                      </a:solidFill>
                    </a:lnL>
                    <a:lnR w="12700">
                      <a:solidFill>
                        <a:schemeClr val="tx1"/>
                      </a:solidFill>
                    </a:lnR>
                    <a:noFill/>
                  </a:tcPr>
                </a:tc>
                <a:extLst>
                  <a:ext uri="{0D108BD9-81ED-4DB2-BD59-A6C34878D82A}">
                    <a16:rowId xmlns:a16="http://schemas.microsoft.com/office/drawing/2014/main" val="3703013286"/>
                  </a:ext>
                </a:extLst>
              </a:tr>
              <a:tr h="370840">
                <a:tc>
                  <a:txBody>
                    <a:bodyPr/>
                    <a:lstStyle/>
                    <a:p>
                      <a:pPr lvl="0" algn="l">
                        <a:lnSpc>
                          <a:spcPct val="100000"/>
                        </a:lnSpc>
                        <a:spcBef>
                          <a:spcPts val="0"/>
                        </a:spcBef>
                        <a:spcAft>
                          <a:spcPts val="0"/>
                        </a:spcAft>
                        <a:buNone/>
                      </a:pPr>
                      <a:r>
                        <a:rPr lang="en-CA" sz="1000" b="1" i="0" u="none" strike="noStrike" noProof="0">
                          <a:solidFill>
                            <a:srgbClr val="000000"/>
                          </a:solidFill>
                          <a:latin typeface="Arial"/>
                        </a:rPr>
                        <a:t>    Improve Customer Experience</a:t>
                      </a:r>
                      <a:endParaRPr lang="en-US" sz="1000" b="1" i="0" u="none" strike="noStrike" noProof="0">
                        <a:solidFill>
                          <a:srgbClr val="000000"/>
                        </a:solidFill>
                        <a:latin typeface="Arial"/>
                      </a:endParaRPr>
                    </a:p>
                  </a:txBody>
                  <a:tcPr anchor="ctr">
                    <a:lnL w="12700">
                      <a:solidFill>
                        <a:schemeClr val="tx1"/>
                      </a:solidFill>
                    </a:lnL>
                    <a:lnR w="12700">
                      <a:solidFill>
                        <a:schemeClr val="tx1"/>
                      </a:solidFill>
                    </a:lnR>
                    <a:noFill/>
                  </a:tcPr>
                </a:tc>
                <a:extLst>
                  <a:ext uri="{0D108BD9-81ED-4DB2-BD59-A6C34878D82A}">
                    <a16:rowId xmlns:a16="http://schemas.microsoft.com/office/drawing/2014/main" val="1197536104"/>
                  </a:ext>
                </a:extLst>
              </a:tr>
              <a:tr h="370840">
                <a:tc>
                  <a:txBody>
                    <a:bodyPr/>
                    <a:lstStyle/>
                    <a:p>
                      <a:pPr lvl="0">
                        <a:buNone/>
                      </a:pPr>
                      <a:r>
                        <a:rPr lang="en-CA" sz="1000" b="1" i="0" u="none" strike="noStrike" noProof="0">
                          <a:solidFill>
                            <a:srgbClr val="000000"/>
                          </a:solidFill>
                          <a:latin typeface="Arial"/>
                        </a:rPr>
                        <a:t>    Reduce TCO</a:t>
                      </a:r>
                      <a:endParaRPr lang="en-US" sz="1000" b="1">
                        <a:solidFill>
                          <a:srgbClr val="000000"/>
                        </a:solidFill>
                      </a:endParaRPr>
                    </a:p>
                  </a:txBody>
                  <a:tcPr anchor="ctr">
                    <a:lnL w="12700">
                      <a:solidFill>
                        <a:schemeClr val="tx1"/>
                      </a:solidFill>
                    </a:lnL>
                    <a:lnR w="12700">
                      <a:solidFill>
                        <a:schemeClr val="tx1"/>
                      </a:solidFill>
                    </a:lnR>
                    <a:lnB w="12700">
                      <a:solidFill>
                        <a:schemeClr val="tx1"/>
                      </a:solidFill>
                    </a:lnB>
                    <a:noFill/>
                  </a:tcPr>
                </a:tc>
                <a:extLst>
                  <a:ext uri="{0D108BD9-81ED-4DB2-BD59-A6C34878D82A}">
                    <a16:rowId xmlns:a16="http://schemas.microsoft.com/office/drawing/2014/main" val="14706"/>
                  </a:ext>
                </a:extLst>
              </a:tr>
            </a:tbl>
          </a:graphicData>
        </a:graphic>
      </p:graphicFrame>
      <p:sp>
        <p:nvSpPr>
          <p:cNvPr id="1836" name="Arrow: Down 1835">
            <a:extLst>
              <a:ext uri="{FF2B5EF4-FFF2-40B4-BE49-F238E27FC236}">
                <a16:creationId xmlns:a16="http://schemas.microsoft.com/office/drawing/2014/main" id="{C280C214-DED9-B2F0-D2A1-ECAF7A876356}"/>
              </a:ext>
            </a:extLst>
          </p:cNvPr>
          <p:cNvSpPr/>
          <p:nvPr/>
        </p:nvSpPr>
        <p:spPr>
          <a:xfrm rot="10800000">
            <a:off x="6864479" y="3279238"/>
            <a:ext cx="142763" cy="190341"/>
          </a:xfrm>
          <a:prstGeom prst="down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37" name="Arrow: Down 1836">
            <a:extLst>
              <a:ext uri="{FF2B5EF4-FFF2-40B4-BE49-F238E27FC236}">
                <a16:creationId xmlns:a16="http://schemas.microsoft.com/office/drawing/2014/main" id="{92D78F95-A285-4EA2-FC48-BDC5A57B278D}"/>
              </a:ext>
            </a:extLst>
          </p:cNvPr>
          <p:cNvSpPr/>
          <p:nvPr/>
        </p:nvSpPr>
        <p:spPr>
          <a:xfrm rot="10800000">
            <a:off x="6864479" y="4389741"/>
            <a:ext cx="142763" cy="190341"/>
          </a:xfrm>
          <a:prstGeom prst="down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38" name="Arrow: Down 1837">
            <a:extLst>
              <a:ext uri="{FF2B5EF4-FFF2-40B4-BE49-F238E27FC236}">
                <a16:creationId xmlns:a16="http://schemas.microsoft.com/office/drawing/2014/main" id="{7BEE46A6-F092-D57C-1A9F-CA91DED33C5A}"/>
              </a:ext>
            </a:extLst>
          </p:cNvPr>
          <p:cNvSpPr/>
          <p:nvPr/>
        </p:nvSpPr>
        <p:spPr>
          <a:xfrm>
            <a:off x="6864479" y="4761216"/>
            <a:ext cx="142763" cy="190341"/>
          </a:xfrm>
          <a:prstGeom prst="down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2299" name="Picture 2298" descr="A white rectangular object with a red circle and black lines&#10;&#10;AI-generated content may be incorrect.">
            <a:extLst>
              <a:ext uri="{FF2B5EF4-FFF2-40B4-BE49-F238E27FC236}">
                <a16:creationId xmlns:a16="http://schemas.microsoft.com/office/drawing/2014/main" id="{7C839041-D80B-A4B9-EB2C-6D154BB52085}"/>
              </a:ext>
            </a:extLst>
          </p:cNvPr>
          <p:cNvPicPr>
            <a:picLocks noChangeAspect="1"/>
          </p:cNvPicPr>
          <p:nvPr/>
        </p:nvPicPr>
        <p:blipFill>
          <a:blip r:embed="rId9"/>
          <a:stretch>
            <a:fillRect/>
          </a:stretch>
        </p:blipFill>
        <p:spPr>
          <a:xfrm>
            <a:off x="1343025" y="4852988"/>
            <a:ext cx="4295775" cy="1066800"/>
          </a:xfrm>
          <a:prstGeom prst="rect">
            <a:avLst/>
          </a:prstGeom>
        </p:spPr>
      </p:pic>
    </p:spTree>
    <p:extLst>
      <p:ext uri="{BB962C8B-B14F-4D97-AF65-F5344CB8AC3E}">
        <p14:creationId xmlns:p14="http://schemas.microsoft.com/office/powerpoint/2010/main" val="1872616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02B56-2EEF-6F97-BA69-3BA158EC11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C5FFB1-05E7-A732-E354-5AD6EE868A72}"/>
              </a:ext>
            </a:extLst>
          </p:cNvPr>
          <p:cNvSpPr>
            <a:spLocks noGrp="1"/>
          </p:cNvSpPr>
          <p:nvPr>
            <p:ph type="title"/>
          </p:nvPr>
        </p:nvSpPr>
        <p:spPr/>
        <p:txBody>
          <a:bodyPr>
            <a:normAutofit/>
          </a:bodyPr>
          <a:lstStyle/>
          <a:p>
            <a:r>
              <a:rPr lang="en-CA" sz="2400">
                <a:cs typeface="Arial"/>
              </a:rPr>
              <a:t>Cloud Foundations Value Chain</a:t>
            </a:r>
            <a:endParaRPr lang="en-US"/>
          </a:p>
        </p:txBody>
      </p:sp>
      <p:sp>
        <p:nvSpPr>
          <p:cNvPr id="3" name="Footer Placeholder 2">
            <a:extLst>
              <a:ext uri="{FF2B5EF4-FFF2-40B4-BE49-F238E27FC236}">
                <a16:creationId xmlns:a16="http://schemas.microsoft.com/office/drawing/2014/main" id="{A6AEA1CD-2192-AA48-722D-0D19416A128C}"/>
              </a:ext>
            </a:extLst>
          </p:cNvPr>
          <p:cNvSpPr>
            <a:spLocks noGrp="1"/>
          </p:cNvSpPr>
          <p:nvPr>
            <p:ph type="ftr" sz="quarter" idx="11"/>
          </p:nvPr>
        </p:nvSpPr>
        <p:spPr/>
        <p:txBody>
          <a:bodyPr/>
          <a:lstStyle/>
          <a:p>
            <a:r>
              <a:rPr lang="en-CA"/>
              <a:t>CONFIDENTIAL</a:t>
            </a:r>
          </a:p>
        </p:txBody>
      </p:sp>
      <p:sp>
        <p:nvSpPr>
          <p:cNvPr id="4" name="TextBox 3">
            <a:extLst>
              <a:ext uri="{FF2B5EF4-FFF2-40B4-BE49-F238E27FC236}">
                <a16:creationId xmlns:a16="http://schemas.microsoft.com/office/drawing/2014/main" id="{9177898A-0E61-4F1C-6C61-3FC0D133359F}"/>
              </a:ext>
            </a:extLst>
          </p:cNvPr>
          <p:cNvSpPr txBox="1"/>
          <p:nvPr/>
        </p:nvSpPr>
        <p:spPr>
          <a:xfrm>
            <a:off x="378812" y="1161489"/>
            <a:ext cx="11424121" cy="369332"/>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a:solidFill>
                  <a:srgbClr val="000000"/>
                </a:solidFill>
                <a:cs typeface="Arial"/>
              </a:rPr>
              <a:t>The </a:t>
            </a:r>
            <a:r>
              <a:rPr lang="en-US" sz="1200" b="1">
                <a:solidFill>
                  <a:srgbClr val="000000"/>
                </a:solidFill>
                <a:cs typeface="Arial"/>
              </a:rPr>
              <a:t>I&amp;O Cloud Foundations </a:t>
            </a:r>
            <a:r>
              <a:rPr lang="en-US" sz="1200">
                <a:solidFill>
                  <a:srgbClr val="000000"/>
                </a:solidFill>
                <a:cs typeface="Arial"/>
              </a:rPr>
              <a:t>Value Chain defines the end-to-end journey from planning to optimization. These chains emphasize delivering value through standardized, secure, and efficient cloud operations, enabling faster innovation and compliance.</a:t>
            </a:r>
          </a:p>
        </p:txBody>
      </p:sp>
      <p:sp>
        <p:nvSpPr>
          <p:cNvPr id="8" name="Rectangle 7">
            <a:extLst>
              <a:ext uri="{FF2B5EF4-FFF2-40B4-BE49-F238E27FC236}">
                <a16:creationId xmlns:a16="http://schemas.microsoft.com/office/drawing/2014/main" id="{BC400F07-01A6-7437-119B-00C80A74127B}"/>
              </a:ext>
            </a:extLst>
          </p:cNvPr>
          <p:cNvSpPr/>
          <p:nvPr/>
        </p:nvSpPr>
        <p:spPr>
          <a:xfrm>
            <a:off x="380999" y="2267514"/>
            <a:ext cx="1672781" cy="1172897"/>
          </a:xfrm>
          <a:prstGeom prst="roundRect">
            <a:avLst/>
          </a:prstGeom>
          <a:solidFill>
            <a:schemeClr val="bg2"/>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b="1">
                <a:solidFill>
                  <a:srgbClr val="000000"/>
                </a:solidFill>
              </a:rPr>
              <a:t>Key Processes / Activities</a:t>
            </a:r>
            <a:endParaRPr lang="en-US">
              <a:cs typeface="Arial"/>
            </a:endParaRPr>
          </a:p>
        </p:txBody>
      </p:sp>
      <p:graphicFrame>
        <p:nvGraphicFramePr>
          <p:cNvPr id="266" name="Diagram 265">
            <a:extLst>
              <a:ext uri="{FF2B5EF4-FFF2-40B4-BE49-F238E27FC236}">
                <a16:creationId xmlns:a16="http://schemas.microsoft.com/office/drawing/2014/main" id="{F5C46E42-2B6C-3FDF-F3CC-CB90C6543231}"/>
              </a:ext>
            </a:extLst>
          </p:cNvPr>
          <p:cNvGraphicFramePr/>
          <p:nvPr>
            <p:extLst>
              <p:ext uri="{D42A27DB-BD31-4B8C-83A1-F6EECF244321}">
                <p14:modId xmlns:p14="http://schemas.microsoft.com/office/powerpoint/2010/main" val="3889529974"/>
              </p:ext>
            </p:extLst>
          </p:nvPr>
        </p:nvGraphicFramePr>
        <p:xfrm>
          <a:off x="2181890" y="1736812"/>
          <a:ext cx="9168667" cy="4373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74" name="Rectangle 673">
            <a:extLst>
              <a:ext uri="{FF2B5EF4-FFF2-40B4-BE49-F238E27FC236}">
                <a16:creationId xmlns:a16="http://schemas.microsoft.com/office/drawing/2014/main" id="{16F2EA2D-1BD8-78E3-90E8-AFF7149F1C40}"/>
              </a:ext>
            </a:extLst>
          </p:cNvPr>
          <p:cNvSpPr/>
          <p:nvPr/>
        </p:nvSpPr>
        <p:spPr>
          <a:xfrm>
            <a:off x="2216881" y="2267513"/>
            <a:ext cx="1672781" cy="1183057"/>
          </a:xfrm>
          <a:prstGeom prst="roundRect">
            <a:avLst/>
          </a:prstGeom>
          <a:solidFill>
            <a:schemeClr val="bg2"/>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marL="171450" indent="-171450">
              <a:buFont typeface="Courier New"/>
              <a:buChar char="o"/>
            </a:pPr>
            <a:r>
              <a:rPr lang="en-US" sz="1000">
                <a:solidFill>
                  <a:srgbClr val="000000"/>
                </a:solidFill>
              </a:rPr>
              <a:t>Assess business needs</a:t>
            </a:r>
            <a:endParaRPr lang="en-US" sz="1000">
              <a:solidFill>
                <a:srgbClr val="000000"/>
              </a:solidFill>
              <a:cs typeface="Arial"/>
            </a:endParaRPr>
          </a:p>
          <a:p>
            <a:pPr marL="171450" indent="-171450">
              <a:buFont typeface="Courier New"/>
              <a:buChar char="o"/>
            </a:pPr>
            <a:r>
              <a:rPr lang="en-US" sz="1000">
                <a:solidFill>
                  <a:srgbClr val="000000"/>
                </a:solidFill>
                <a:cs typeface="Arial"/>
              </a:rPr>
              <a:t>Define cloud strategy (Azure / AWS focus)</a:t>
            </a:r>
          </a:p>
          <a:p>
            <a:pPr marL="171450" indent="-171450">
              <a:buFont typeface="Courier New"/>
              <a:buChar char="o"/>
            </a:pPr>
            <a:r>
              <a:rPr lang="en-US" sz="1000">
                <a:solidFill>
                  <a:srgbClr val="000000"/>
                </a:solidFill>
                <a:cs typeface="Arial"/>
              </a:rPr>
              <a:t>Plan migrations from GCP</a:t>
            </a:r>
          </a:p>
        </p:txBody>
      </p:sp>
      <p:sp>
        <p:nvSpPr>
          <p:cNvPr id="676" name="Rectangle 675">
            <a:extLst>
              <a:ext uri="{FF2B5EF4-FFF2-40B4-BE49-F238E27FC236}">
                <a16:creationId xmlns:a16="http://schemas.microsoft.com/office/drawing/2014/main" id="{8B70C130-DC63-85DF-E1F9-28D85E8FDB8A}"/>
              </a:ext>
            </a:extLst>
          </p:cNvPr>
          <p:cNvSpPr/>
          <p:nvPr/>
        </p:nvSpPr>
        <p:spPr>
          <a:xfrm>
            <a:off x="3985844" y="2267513"/>
            <a:ext cx="1672781" cy="1183057"/>
          </a:xfrm>
          <a:prstGeom prst="roundRect">
            <a:avLst/>
          </a:prstGeom>
          <a:solidFill>
            <a:schemeClr val="bg2"/>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marL="171450" indent="-171450">
              <a:buFont typeface="Courier New"/>
              <a:buChar char="o"/>
            </a:pPr>
            <a:r>
              <a:rPr lang="en-US" sz="1000">
                <a:solidFill>
                  <a:srgbClr val="000000"/>
                </a:solidFill>
              </a:rPr>
              <a:t>Automate landing zones</a:t>
            </a:r>
            <a:endParaRPr lang="en-US" sz="1000">
              <a:solidFill>
                <a:srgbClr val="000000"/>
              </a:solidFill>
              <a:cs typeface="Arial"/>
            </a:endParaRPr>
          </a:p>
          <a:p>
            <a:pPr marL="171450" indent="-171450">
              <a:buFont typeface="Courier New"/>
              <a:buChar char="o"/>
            </a:pPr>
            <a:r>
              <a:rPr lang="en-US" sz="1000">
                <a:solidFill>
                  <a:srgbClr val="000000"/>
                </a:solidFill>
                <a:cs typeface="Arial"/>
              </a:rPr>
              <a:t>Provision compute, storage, network</a:t>
            </a:r>
          </a:p>
          <a:p>
            <a:pPr marL="171450" indent="-171450">
              <a:buFont typeface="Courier New"/>
              <a:buChar char="o"/>
            </a:pPr>
            <a:r>
              <a:rPr lang="en-US" sz="1000">
                <a:solidFill>
                  <a:srgbClr val="000000"/>
                </a:solidFill>
                <a:cs typeface="Arial"/>
              </a:rPr>
              <a:t>Integrate identity &amp; access</a:t>
            </a:r>
          </a:p>
        </p:txBody>
      </p:sp>
      <p:sp>
        <p:nvSpPr>
          <p:cNvPr id="677" name="Rectangle 676">
            <a:extLst>
              <a:ext uri="{FF2B5EF4-FFF2-40B4-BE49-F238E27FC236}">
                <a16:creationId xmlns:a16="http://schemas.microsoft.com/office/drawing/2014/main" id="{6538DC03-B29B-AC28-8C91-047850607836}"/>
              </a:ext>
            </a:extLst>
          </p:cNvPr>
          <p:cNvSpPr/>
          <p:nvPr/>
        </p:nvSpPr>
        <p:spPr>
          <a:xfrm>
            <a:off x="5744305" y="2267513"/>
            <a:ext cx="1672781" cy="1183057"/>
          </a:xfrm>
          <a:prstGeom prst="roundRect">
            <a:avLst/>
          </a:prstGeom>
          <a:solidFill>
            <a:schemeClr val="bg2"/>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marL="171450" indent="-171450">
              <a:buFont typeface="Courier New"/>
              <a:buChar char="o"/>
            </a:pPr>
            <a:r>
              <a:rPr lang="en-US" sz="1000">
                <a:solidFill>
                  <a:srgbClr val="000000"/>
                </a:solidFill>
              </a:rPr>
              <a:t>Monitor performance &amp; security</a:t>
            </a:r>
            <a:endParaRPr lang="en-US" sz="1000">
              <a:solidFill>
                <a:srgbClr val="000000"/>
              </a:solidFill>
              <a:cs typeface="Arial"/>
            </a:endParaRPr>
          </a:p>
          <a:p>
            <a:pPr marL="171450" indent="-171450">
              <a:buFont typeface="Courier New"/>
              <a:buChar char="o"/>
            </a:pPr>
            <a:r>
              <a:rPr lang="en-US" sz="1000">
                <a:solidFill>
                  <a:srgbClr val="000000"/>
                </a:solidFill>
                <a:cs typeface="Arial"/>
              </a:rPr>
              <a:t>Manage incidents &amp; changes</a:t>
            </a:r>
          </a:p>
          <a:p>
            <a:pPr marL="171450" indent="-171450">
              <a:buFont typeface="Courier New"/>
              <a:buChar char="o"/>
            </a:pPr>
            <a:r>
              <a:rPr lang="en-US" sz="1000">
                <a:solidFill>
                  <a:srgbClr val="000000"/>
                </a:solidFill>
                <a:cs typeface="Arial"/>
              </a:rPr>
              <a:t>Ensure compliance audits</a:t>
            </a:r>
          </a:p>
        </p:txBody>
      </p:sp>
      <p:sp>
        <p:nvSpPr>
          <p:cNvPr id="678" name="Rectangle 677">
            <a:extLst>
              <a:ext uri="{FF2B5EF4-FFF2-40B4-BE49-F238E27FC236}">
                <a16:creationId xmlns:a16="http://schemas.microsoft.com/office/drawing/2014/main" id="{2F6417CB-8BB3-9C32-BA29-E1822DF5B324}"/>
              </a:ext>
            </a:extLst>
          </p:cNvPr>
          <p:cNvSpPr/>
          <p:nvPr/>
        </p:nvSpPr>
        <p:spPr>
          <a:xfrm>
            <a:off x="7492997" y="2267513"/>
            <a:ext cx="1672781" cy="1183057"/>
          </a:xfrm>
          <a:prstGeom prst="roundRect">
            <a:avLst/>
          </a:prstGeom>
          <a:solidFill>
            <a:schemeClr val="bg2"/>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marL="171450" indent="-171450">
              <a:buFont typeface="Courier New"/>
              <a:buChar char="o"/>
            </a:pPr>
            <a:r>
              <a:rPr lang="en-US" sz="1000">
                <a:solidFill>
                  <a:srgbClr val="000000"/>
                </a:solidFill>
              </a:rPr>
              <a:t>Analyze costs &amp; usage</a:t>
            </a:r>
            <a:endParaRPr lang="en-US" sz="1000">
              <a:solidFill>
                <a:srgbClr val="000000"/>
              </a:solidFill>
              <a:cs typeface="Arial"/>
            </a:endParaRPr>
          </a:p>
          <a:p>
            <a:pPr marL="171450" indent="-171450">
              <a:buFont typeface="Courier New"/>
              <a:buChar char="o"/>
            </a:pPr>
            <a:r>
              <a:rPr lang="en-US" sz="1000">
                <a:solidFill>
                  <a:srgbClr val="000000"/>
                </a:solidFill>
                <a:cs typeface="Arial"/>
              </a:rPr>
              <a:t>Optimize resources</a:t>
            </a:r>
          </a:p>
          <a:p>
            <a:pPr marL="171450" indent="-171450">
              <a:buFont typeface="Courier New"/>
              <a:buChar char="o"/>
            </a:pPr>
            <a:r>
              <a:rPr lang="en-US" sz="1000">
                <a:solidFill>
                  <a:srgbClr val="000000"/>
                </a:solidFill>
                <a:cs typeface="Arial"/>
              </a:rPr>
              <a:t>Apply AI driven insights</a:t>
            </a:r>
          </a:p>
        </p:txBody>
      </p:sp>
      <p:sp>
        <p:nvSpPr>
          <p:cNvPr id="679" name="Rectangle 678">
            <a:extLst>
              <a:ext uri="{FF2B5EF4-FFF2-40B4-BE49-F238E27FC236}">
                <a16:creationId xmlns:a16="http://schemas.microsoft.com/office/drawing/2014/main" id="{8755D339-4296-0675-F0B4-0DD90C740D91}"/>
              </a:ext>
            </a:extLst>
          </p:cNvPr>
          <p:cNvSpPr/>
          <p:nvPr/>
        </p:nvSpPr>
        <p:spPr>
          <a:xfrm>
            <a:off x="9251458" y="2267513"/>
            <a:ext cx="1672781" cy="1183057"/>
          </a:xfrm>
          <a:prstGeom prst="roundRect">
            <a:avLst/>
          </a:prstGeom>
          <a:solidFill>
            <a:schemeClr val="bg2"/>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marL="171450" indent="-171450">
              <a:buFont typeface="Courier New"/>
              <a:buChar char="o"/>
            </a:pPr>
            <a:r>
              <a:rPr lang="en-US" sz="1000">
                <a:solidFill>
                  <a:srgbClr val="000000"/>
                </a:solidFill>
              </a:rPr>
              <a:t>Retire legacy GCP assets</a:t>
            </a:r>
            <a:endParaRPr lang="en-US" sz="1000">
              <a:solidFill>
                <a:srgbClr val="000000"/>
              </a:solidFill>
              <a:cs typeface="Arial"/>
            </a:endParaRPr>
          </a:p>
          <a:p>
            <a:pPr marL="171450" indent="-171450">
              <a:buFont typeface="Courier New"/>
              <a:buChar char="o"/>
            </a:pPr>
            <a:r>
              <a:rPr lang="en-US" sz="1000">
                <a:solidFill>
                  <a:srgbClr val="000000"/>
                </a:solidFill>
                <a:cs typeface="Arial"/>
              </a:rPr>
              <a:t>Deprovision unused resources</a:t>
            </a:r>
          </a:p>
          <a:p>
            <a:pPr marL="171450" indent="-171450">
              <a:buFont typeface="Courier New"/>
              <a:buChar char="o"/>
            </a:pPr>
            <a:r>
              <a:rPr lang="en-US" sz="1000">
                <a:solidFill>
                  <a:srgbClr val="000000"/>
                </a:solidFill>
                <a:cs typeface="Arial"/>
              </a:rPr>
              <a:t>Archive data securely</a:t>
            </a:r>
          </a:p>
        </p:txBody>
      </p:sp>
      <p:sp>
        <p:nvSpPr>
          <p:cNvPr id="680" name="Rectangle 679">
            <a:extLst>
              <a:ext uri="{FF2B5EF4-FFF2-40B4-BE49-F238E27FC236}">
                <a16:creationId xmlns:a16="http://schemas.microsoft.com/office/drawing/2014/main" id="{41B2DEC6-4C08-E107-4CE8-903E2C7176DB}"/>
              </a:ext>
            </a:extLst>
          </p:cNvPr>
          <p:cNvSpPr/>
          <p:nvPr/>
        </p:nvSpPr>
        <p:spPr>
          <a:xfrm>
            <a:off x="380999" y="3534534"/>
            <a:ext cx="1672781" cy="1172897"/>
          </a:xfrm>
          <a:prstGeom prst="roundRect">
            <a:avLst/>
          </a:prstGeom>
          <a:solidFill>
            <a:schemeClr val="bg2"/>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b="1">
                <a:solidFill>
                  <a:srgbClr val="000000"/>
                </a:solidFill>
              </a:rPr>
              <a:t>Key constituents</a:t>
            </a:r>
            <a:endParaRPr lang="en-US" sz="1200" b="1">
              <a:solidFill>
                <a:srgbClr val="000000"/>
              </a:solidFill>
              <a:cs typeface="Arial"/>
            </a:endParaRPr>
          </a:p>
        </p:txBody>
      </p:sp>
      <p:sp>
        <p:nvSpPr>
          <p:cNvPr id="681" name="Rectangle 680">
            <a:extLst>
              <a:ext uri="{FF2B5EF4-FFF2-40B4-BE49-F238E27FC236}">
                <a16:creationId xmlns:a16="http://schemas.microsoft.com/office/drawing/2014/main" id="{24EA130A-05C9-AAA1-AF27-1849D0306D2B}"/>
              </a:ext>
            </a:extLst>
          </p:cNvPr>
          <p:cNvSpPr/>
          <p:nvPr/>
        </p:nvSpPr>
        <p:spPr>
          <a:xfrm>
            <a:off x="2216881" y="3534533"/>
            <a:ext cx="1672781" cy="1183057"/>
          </a:xfrm>
          <a:prstGeom prst="roundRect">
            <a:avLst/>
          </a:prstGeom>
          <a:solidFill>
            <a:schemeClr val="bg2"/>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marL="171450" indent="-171450">
              <a:buFont typeface="Wingdings"/>
              <a:buChar char="ü"/>
            </a:pPr>
            <a:r>
              <a:rPr lang="en-US" sz="1000">
                <a:solidFill>
                  <a:srgbClr val="000000"/>
                </a:solidFill>
              </a:rPr>
              <a:t>Business Units</a:t>
            </a:r>
            <a:endParaRPr lang="en-US" sz="1000">
              <a:solidFill>
                <a:srgbClr val="000000"/>
              </a:solidFill>
              <a:cs typeface="Arial"/>
            </a:endParaRPr>
          </a:p>
          <a:p>
            <a:pPr marL="171450" indent="-171450">
              <a:buFont typeface="Wingdings"/>
              <a:buChar char="ü"/>
            </a:pPr>
            <a:r>
              <a:rPr lang="en-US" sz="1000">
                <a:solidFill>
                  <a:srgbClr val="000000"/>
                </a:solidFill>
                <a:cs typeface="Arial"/>
              </a:rPr>
              <a:t>IT Leadership</a:t>
            </a:r>
          </a:p>
          <a:p>
            <a:pPr marL="171450" indent="-171450">
              <a:buFont typeface="Wingdings"/>
              <a:buChar char="ü"/>
            </a:pPr>
            <a:r>
              <a:rPr lang="en-US" sz="1000">
                <a:solidFill>
                  <a:srgbClr val="000000"/>
                </a:solidFill>
                <a:cs typeface="Arial"/>
              </a:rPr>
              <a:t>Cloud </a:t>
            </a:r>
            <a:r>
              <a:rPr lang="en-US" sz="1000" err="1">
                <a:solidFill>
                  <a:srgbClr val="000000"/>
                </a:solidFill>
                <a:cs typeface="Arial"/>
              </a:rPr>
              <a:t>CoE</a:t>
            </a:r>
            <a:endParaRPr lang="en-US" sz="1000">
              <a:solidFill>
                <a:srgbClr val="000000"/>
              </a:solidFill>
              <a:cs typeface="Arial"/>
            </a:endParaRPr>
          </a:p>
        </p:txBody>
      </p:sp>
      <p:sp>
        <p:nvSpPr>
          <p:cNvPr id="682" name="Rectangle 681">
            <a:extLst>
              <a:ext uri="{FF2B5EF4-FFF2-40B4-BE49-F238E27FC236}">
                <a16:creationId xmlns:a16="http://schemas.microsoft.com/office/drawing/2014/main" id="{7D75EBAF-050F-5275-B18E-19116D2779C5}"/>
              </a:ext>
            </a:extLst>
          </p:cNvPr>
          <p:cNvSpPr/>
          <p:nvPr/>
        </p:nvSpPr>
        <p:spPr>
          <a:xfrm>
            <a:off x="3985844" y="3534533"/>
            <a:ext cx="1672781" cy="1183057"/>
          </a:xfrm>
          <a:prstGeom prst="roundRect">
            <a:avLst/>
          </a:prstGeom>
          <a:solidFill>
            <a:schemeClr val="bg2"/>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marL="171450" indent="-171450">
              <a:buFont typeface="Wingdings"/>
              <a:buChar char="ü"/>
            </a:pPr>
            <a:r>
              <a:rPr lang="en-US" sz="1000">
                <a:solidFill>
                  <a:srgbClr val="000000"/>
                </a:solidFill>
              </a:rPr>
              <a:t>DevOps Teams</a:t>
            </a:r>
            <a:endParaRPr lang="en-US" sz="1000">
              <a:solidFill>
                <a:srgbClr val="000000"/>
              </a:solidFill>
              <a:cs typeface="Arial"/>
            </a:endParaRPr>
          </a:p>
          <a:p>
            <a:pPr marL="171450" indent="-171450">
              <a:buFont typeface="Wingdings"/>
              <a:buChar char="ü"/>
            </a:pPr>
            <a:r>
              <a:rPr lang="en-US" sz="1000">
                <a:solidFill>
                  <a:srgbClr val="000000"/>
                </a:solidFill>
                <a:cs typeface="Arial"/>
              </a:rPr>
              <a:t>Application Owners</a:t>
            </a:r>
          </a:p>
          <a:p>
            <a:pPr marL="171450" indent="-171450">
              <a:buFont typeface="Wingdings"/>
              <a:buChar char="ü"/>
            </a:pPr>
            <a:r>
              <a:rPr lang="en-US" sz="1000">
                <a:solidFill>
                  <a:srgbClr val="000000"/>
                </a:solidFill>
                <a:cs typeface="Arial"/>
              </a:rPr>
              <a:t>Security Teams</a:t>
            </a:r>
          </a:p>
        </p:txBody>
      </p:sp>
      <p:sp>
        <p:nvSpPr>
          <p:cNvPr id="683" name="Rectangle 682">
            <a:extLst>
              <a:ext uri="{FF2B5EF4-FFF2-40B4-BE49-F238E27FC236}">
                <a16:creationId xmlns:a16="http://schemas.microsoft.com/office/drawing/2014/main" id="{7CC046AE-0985-56E7-8EC0-D139C8B15EFD}"/>
              </a:ext>
            </a:extLst>
          </p:cNvPr>
          <p:cNvSpPr/>
          <p:nvPr/>
        </p:nvSpPr>
        <p:spPr>
          <a:xfrm>
            <a:off x="5744305" y="3534533"/>
            <a:ext cx="1672781" cy="1183057"/>
          </a:xfrm>
          <a:prstGeom prst="roundRect">
            <a:avLst/>
          </a:prstGeom>
          <a:solidFill>
            <a:schemeClr val="bg2"/>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marL="171450" indent="-171450">
              <a:buFont typeface="Wingdings"/>
              <a:buChar char="ü"/>
            </a:pPr>
            <a:r>
              <a:rPr lang="en-US" sz="1000">
                <a:solidFill>
                  <a:srgbClr val="000000"/>
                </a:solidFill>
              </a:rPr>
              <a:t>Operations Teams</a:t>
            </a:r>
            <a:endParaRPr lang="en-US" sz="1000">
              <a:solidFill>
                <a:srgbClr val="000000"/>
              </a:solidFill>
              <a:cs typeface="Arial"/>
            </a:endParaRPr>
          </a:p>
          <a:p>
            <a:pPr marL="171450" indent="-171450">
              <a:buFont typeface="Wingdings"/>
              <a:buChar char="ü"/>
            </a:pPr>
            <a:r>
              <a:rPr lang="en-US" sz="1000">
                <a:solidFill>
                  <a:srgbClr val="000000"/>
                </a:solidFill>
                <a:cs typeface="Arial"/>
              </a:rPr>
              <a:t>Compliance </a:t>
            </a:r>
          </a:p>
          <a:p>
            <a:pPr marL="171450" indent="-171450">
              <a:buFont typeface="Wingdings"/>
              <a:buChar char="ü"/>
            </a:pPr>
            <a:r>
              <a:rPr lang="en-US" sz="1000">
                <a:solidFill>
                  <a:srgbClr val="000000"/>
                </a:solidFill>
                <a:cs typeface="Arial"/>
              </a:rPr>
              <a:t>Vendors (Azure/AWS)</a:t>
            </a:r>
          </a:p>
        </p:txBody>
      </p:sp>
      <p:sp>
        <p:nvSpPr>
          <p:cNvPr id="684" name="Rectangle 683">
            <a:extLst>
              <a:ext uri="{FF2B5EF4-FFF2-40B4-BE49-F238E27FC236}">
                <a16:creationId xmlns:a16="http://schemas.microsoft.com/office/drawing/2014/main" id="{1686CAC3-8C4C-493B-23D8-7CB00984DE46}"/>
              </a:ext>
            </a:extLst>
          </p:cNvPr>
          <p:cNvSpPr/>
          <p:nvPr/>
        </p:nvSpPr>
        <p:spPr>
          <a:xfrm>
            <a:off x="7492997" y="3534533"/>
            <a:ext cx="1672781" cy="1183057"/>
          </a:xfrm>
          <a:prstGeom prst="roundRect">
            <a:avLst/>
          </a:prstGeom>
          <a:solidFill>
            <a:schemeClr val="bg2"/>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marL="171450" indent="-171450">
              <a:buFont typeface="Wingdings"/>
              <a:buChar char="ü"/>
            </a:pPr>
            <a:r>
              <a:rPr lang="en-US" sz="1000">
                <a:solidFill>
                  <a:srgbClr val="000000"/>
                </a:solidFill>
              </a:rPr>
              <a:t>FinOps</a:t>
            </a:r>
            <a:endParaRPr lang="en-US">
              <a:solidFill>
                <a:srgbClr val="515349"/>
              </a:solidFill>
              <a:cs typeface="Arial" panose="020B0604020202020204"/>
            </a:endParaRPr>
          </a:p>
          <a:p>
            <a:pPr marL="171450" indent="-171450">
              <a:buFont typeface="Wingdings"/>
              <a:buChar char="ü"/>
            </a:pPr>
            <a:r>
              <a:rPr lang="en-US" sz="1000">
                <a:solidFill>
                  <a:srgbClr val="000000"/>
                </a:solidFill>
                <a:cs typeface="Arial"/>
              </a:rPr>
              <a:t>Analytics Teams</a:t>
            </a:r>
          </a:p>
          <a:p>
            <a:pPr marL="171450" indent="-171450">
              <a:buFont typeface="Wingdings"/>
              <a:buChar char="ü"/>
            </a:pPr>
            <a:r>
              <a:rPr lang="en-US" sz="1000">
                <a:solidFill>
                  <a:srgbClr val="000000"/>
                </a:solidFill>
                <a:cs typeface="Arial"/>
              </a:rPr>
              <a:t>Optimization Specialists</a:t>
            </a:r>
          </a:p>
        </p:txBody>
      </p:sp>
      <p:sp>
        <p:nvSpPr>
          <p:cNvPr id="685" name="Rectangle 684">
            <a:extLst>
              <a:ext uri="{FF2B5EF4-FFF2-40B4-BE49-F238E27FC236}">
                <a16:creationId xmlns:a16="http://schemas.microsoft.com/office/drawing/2014/main" id="{9A884B06-27A5-F391-C073-A74A077F772E}"/>
              </a:ext>
            </a:extLst>
          </p:cNvPr>
          <p:cNvSpPr/>
          <p:nvPr/>
        </p:nvSpPr>
        <p:spPr>
          <a:xfrm>
            <a:off x="9251458" y="3534533"/>
            <a:ext cx="1672781" cy="1183057"/>
          </a:xfrm>
          <a:prstGeom prst="roundRect">
            <a:avLst/>
          </a:prstGeom>
          <a:solidFill>
            <a:schemeClr val="bg2"/>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marL="171450" indent="-171450">
              <a:buFont typeface="Wingdings"/>
              <a:buChar char="ü"/>
            </a:pPr>
            <a:r>
              <a:rPr lang="en-US" sz="1000">
                <a:solidFill>
                  <a:srgbClr val="000000"/>
                </a:solidFill>
              </a:rPr>
              <a:t>Migration Teams</a:t>
            </a:r>
            <a:endParaRPr lang="en-US">
              <a:solidFill>
                <a:srgbClr val="515349"/>
              </a:solidFill>
              <a:cs typeface="Arial" panose="020B0604020202020204"/>
            </a:endParaRPr>
          </a:p>
          <a:p>
            <a:pPr marL="171450" indent="-171450">
              <a:buFont typeface="Wingdings"/>
              <a:buChar char="ü"/>
            </a:pPr>
            <a:r>
              <a:rPr lang="en-US" sz="1000">
                <a:solidFill>
                  <a:srgbClr val="000000"/>
                </a:solidFill>
                <a:cs typeface="Arial"/>
              </a:rPr>
              <a:t>Data Stewards</a:t>
            </a:r>
          </a:p>
          <a:p>
            <a:pPr marL="171450" indent="-171450">
              <a:buFont typeface="Wingdings"/>
              <a:buChar char="ü"/>
            </a:pPr>
            <a:r>
              <a:rPr lang="en-US" sz="1000">
                <a:solidFill>
                  <a:srgbClr val="000000"/>
                </a:solidFill>
                <a:cs typeface="Arial"/>
              </a:rPr>
              <a:t>Audit Teams</a:t>
            </a:r>
          </a:p>
        </p:txBody>
      </p:sp>
      <p:graphicFrame>
        <p:nvGraphicFramePr>
          <p:cNvPr id="687" name="Diagram 686">
            <a:extLst>
              <a:ext uri="{FF2B5EF4-FFF2-40B4-BE49-F238E27FC236}">
                <a16:creationId xmlns:a16="http://schemas.microsoft.com/office/drawing/2014/main" id="{526ACBD8-96CF-F0EF-B9A5-3CC2013701EB}"/>
              </a:ext>
            </a:extLst>
          </p:cNvPr>
          <p:cNvGraphicFramePr/>
          <p:nvPr>
            <p:extLst>
              <p:ext uri="{D42A27DB-BD31-4B8C-83A1-F6EECF244321}">
                <p14:modId xmlns:p14="http://schemas.microsoft.com/office/powerpoint/2010/main" val="218321707"/>
              </p:ext>
            </p:extLst>
          </p:nvPr>
        </p:nvGraphicFramePr>
        <p:xfrm>
          <a:off x="381000" y="5731646"/>
          <a:ext cx="10968892" cy="4581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6" name="TextBox 35">
            <a:extLst>
              <a:ext uri="{FF2B5EF4-FFF2-40B4-BE49-F238E27FC236}">
                <a16:creationId xmlns:a16="http://schemas.microsoft.com/office/drawing/2014/main" id="{A8168786-D78B-7596-1170-B7D512185635}"/>
              </a:ext>
            </a:extLst>
          </p:cNvPr>
          <p:cNvSpPr txBox="1"/>
          <p:nvPr/>
        </p:nvSpPr>
        <p:spPr>
          <a:xfrm>
            <a:off x="378763" y="5447254"/>
            <a:ext cx="10521484" cy="153888"/>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000">
                <a:solidFill>
                  <a:srgbClr val="000000"/>
                </a:solidFill>
                <a:cs typeface="Arial"/>
              </a:rPr>
              <a:t>This supports journeys like </a:t>
            </a:r>
            <a:r>
              <a:rPr lang="en-US" sz="1000" b="1">
                <a:solidFill>
                  <a:srgbClr val="000000"/>
                </a:solidFill>
                <a:cs typeface="Arial"/>
              </a:rPr>
              <a:t>"Business Application Hosting" </a:t>
            </a:r>
            <a:r>
              <a:rPr lang="en-US" sz="1000">
                <a:solidFill>
                  <a:srgbClr val="000000"/>
                </a:solidFill>
                <a:cs typeface="Arial"/>
              </a:rPr>
              <a:t>on Cloud platforms.</a:t>
            </a:r>
            <a:r>
              <a:rPr lang="en-US" sz="1000" b="1">
                <a:solidFill>
                  <a:srgbClr val="000000"/>
                </a:solidFill>
                <a:cs typeface="Arial"/>
              </a:rPr>
              <a:t> </a:t>
            </a:r>
            <a:endParaRPr lang="en-US" sz="1000">
              <a:solidFill>
                <a:srgbClr val="000000"/>
              </a:solidFill>
              <a:cs typeface="Arial"/>
            </a:endParaRPr>
          </a:p>
        </p:txBody>
      </p:sp>
      <p:sp>
        <p:nvSpPr>
          <p:cNvPr id="660" name="Rectangle 659">
            <a:extLst>
              <a:ext uri="{FF2B5EF4-FFF2-40B4-BE49-F238E27FC236}">
                <a16:creationId xmlns:a16="http://schemas.microsoft.com/office/drawing/2014/main" id="{1571C083-3E68-7C40-32C7-235972B08E64}"/>
              </a:ext>
            </a:extLst>
          </p:cNvPr>
          <p:cNvSpPr/>
          <p:nvPr/>
        </p:nvSpPr>
        <p:spPr>
          <a:xfrm>
            <a:off x="381000" y="1727835"/>
            <a:ext cx="1684020" cy="441960"/>
          </a:xfrm>
          <a:prstGeom prst="roundRect">
            <a:avLst/>
          </a:prstGeom>
          <a:solidFill>
            <a:srgbClr val="BA0C2F"/>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cs typeface="Arial"/>
              </a:rPr>
              <a:t>Value Chain</a:t>
            </a:r>
          </a:p>
        </p:txBody>
      </p:sp>
      <p:pic>
        <p:nvPicPr>
          <p:cNvPr id="262" name="Graphic 261" descr="Lightbulb with solid fill">
            <a:extLst>
              <a:ext uri="{FF2B5EF4-FFF2-40B4-BE49-F238E27FC236}">
                <a16:creationId xmlns:a16="http://schemas.microsoft.com/office/drawing/2014/main" id="{CC607FD3-2E9E-1157-3889-C1F9DB5F191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295525" y="1819275"/>
            <a:ext cx="337563" cy="248792"/>
          </a:xfrm>
          <a:prstGeom prst="rect">
            <a:avLst/>
          </a:prstGeom>
        </p:spPr>
      </p:pic>
      <p:pic>
        <p:nvPicPr>
          <p:cNvPr id="263" name="Graphic 262" descr="Upload with solid fill">
            <a:extLst>
              <a:ext uri="{FF2B5EF4-FFF2-40B4-BE49-F238E27FC236}">
                <a16:creationId xmlns:a16="http://schemas.microsoft.com/office/drawing/2014/main" id="{20303F8F-F6D6-55B7-048F-EBE498FE9BC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191000" y="1819275"/>
            <a:ext cx="247650" cy="247650"/>
          </a:xfrm>
          <a:prstGeom prst="rect">
            <a:avLst/>
          </a:prstGeom>
        </p:spPr>
      </p:pic>
      <p:pic>
        <p:nvPicPr>
          <p:cNvPr id="1552" name="Graphic 1551" descr="Garbage with solid fill">
            <a:extLst>
              <a:ext uri="{FF2B5EF4-FFF2-40B4-BE49-F238E27FC236}">
                <a16:creationId xmlns:a16="http://schemas.microsoft.com/office/drawing/2014/main" id="{A42A0709-44EA-DCE1-6158-D8BDF31D3C1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363075" y="1857375"/>
            <a:ext cx="251080" cy="187072"/>
          </a:xfrm>
          <a:prstGeom prst="rect">
            <a:avLst/>
          </a:prstGeom>
        </p:spPr>
      </p:pic>
      <p:pic>
        <p:nvPicPr>
          <p:cNvPr id="1554" name="Graphic 1553" descr="Gauge with solid fill">
            <a:extLst>
              <a:ext uri="{FF2B5EF4-FFF2-40B4-BE49-F238E27FC236}">
                <a16:creationId xmlns:a16="http://schemas.microsoft.com/office/drawing/2014/main" id="{8FB6FF66-DF49-0B28-7C92-B3502B68BCF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962650" y="1771650"/>
            <a:ext cx="249937" cy="334519"/>
          </a:xfrm>
          <a:prstGeom prst="rect">
            <a:avLst/>
          </a:prstGeom>
        </p:spPr>
      </p:pic>
      <p:pic>
        <p:nvPicPr>
          <p:cNvPr id="1555" name="Graphic 1554" descr="Bar graph with upward trend with solid fill">
            <a:extLst>
              <a:ext uri="{FF2B5EF4-FFF2-40B4-BE49-F238E27FC236}">
                <a16:creationId xmlns:a16="http://schemas.microsoft.com/office/drawing/2014/main" id="{5C9187C5-CA35-B2EA-6751-AADACCDDBE48}"/>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705725" y="1847850"/>
            <a:ext cx="249937" cy="239269"/>
          </a:xfrm>
          <a:prstGeom prst="rect">
            <a:avLst/>
          </a:prstGeom>
        </p:spPr>
      </p:pic>
      <p:sp>
        <p:nvSpPr>
          <p:cNvPr id="1562" name="Rectangle 1561">
            <a:extLst>
              <a:ext uri="{FF2B5EF4-FFF2-40B4-BE49-F238E27FC236}">
                <a16:creationId xmlns:a16="http://schemas.microsoft.com/office/drawing/2014/main" id="{B76AB6D1-C4BF-8B52-7746-C0EF98AA301A}"/>
              </a:ext>
            </a:extLst>
          </p:cNvPr>
          <p:cNvSpPr/>
          <p:nvPr/>
        </p:nvSpPr>
        <p:spPr>
          <a:xfrm>
            <a:off x="384810" y="4798695"/>
            <a:ext cx="10879455" cy="411480"/>
          </a:xfrm>
          <a:prstGeom prst="round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b="1">
                <a:solidFill>
                  <a:srgbClr val="000000"/>
                </a:solidFill>
                <a:cs typeface="Arial"/>
              </a:rPr>
              <a:t>Enterprise Architecture Engagement:</a:t>
            </a:r>
            <a:r>
              <a:rPr lang="en-US" sz="1200">
                <a:solidFill>
                  <a:srgbClr val="0070C0"/>
                </a:solidFill>
                <a:cs typeface="Arial"/>
              </a:rPr>
              <a:t> </a:t>
            </a:r>
            <a:r>
              <a:rPr lang="en-US" sz="1000">
                <a:solidFill>
                  <a:srgbClr val="000000"/>
                </a:solidFill>
                <a:cs typeface="Arial"/>
              </a:rPr>
              <a:t>Contributes to Cloud Strategy &amp; Planning, ensures governance alignment across all lifecycles.</a:t>
            </a:r>
            <a:endParaRPr lang="en-US">
              <a:solidFill>
                <a:srgbClr val="000000"/>
              </a:solidFill>
              <a:cs typeface="Arial"/>
            </a:endParaRPr>
          </a:p>
        </p:txBody>
      </p:sp>
      <p:pic>
        <p:nvPicPr>
          <p:cNvPr id="1564" name="Graphic 1563" descr="Map compass with solid fill">
            <a:extLst>
              <a:ext uri="{FF2B5EF4-FFF2-40B4-BE49-F238E27FC236}">
                <a16:creationId xmlns:a16="http://schemas.microsoft.com/office/drawing/2014/main" id="{41D1D631-52E4-26A8-E813-356269CDE41E}"/>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671691" y="4829175"/>
            <a:ext cx="342900" cy="342900"/>
          </a:xfrm>
          <a:prstGeom prst="rect">
            <a:avLst/>
          </a:prstGeom>
        </p:spPr>
      </p:pic>
    </p:spTree>
    <p:extLst>
      <p:ext uri="{BB962C8B-B14F-4D97-AF65-F5344CB8AC3E}">
        <p14:creationId xmlns:p14="http://schemas.microsoft.com/office/powerpoint/2010/main" val="193210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ED034-6813-53E1-F525-86299A957059}"/>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5C851BD2-C80F-5CA9-48EA-A19D7C8161D0}"/>
              </a:ext>
            </a:extLst>
          </p:cNvPr>
          <p:cNvSpPr>
            <a:spLocks noGrp="1"/>
          </p:cNvSpPr>
          <p:nvPr/>
        </p:nvSpPr>
        <p:spPr>
          <a:xfrm>
            <a:off x="384048" y="381000"/>
            <a:ext cx="11420856" cy="533400"/>
          </a:xfrm>
          <a:prstGeom prst="rect">
            <a:avLst/>
          </a:prstGeom>
        </p:spPr>
        <p:txBody>
          <a:bodyPr vert="horz" lIns="0" tIns="0" rIns="0" bIns="0" rtlCol="0" anchor="ctr">
            <a:normAutofit/>
          </a:bodyPr>
          <a:lstStyle>
            <a:lvl1pPr algn="l" defTabSz="685800" rtl="0" eaLnBrk="1" latinLnBrk="0" hangingPunct="1">
              <a:lnSpc>
                <a:spcPct val="90000"/>
              </a:lnSpc>
              <a:spcBef>
                <a:spcPct val="0"/>
              </a:spcBef>
              <a:buNone/>
              <a:defRPr sz="3200" kern="1200">
                <a:solidFill>
                  <a:schemeClr val="tx2"/>
                </a:solidFill>
                <a:latin typeface="+mj-lt"/>
                <a:ea typeface="+mj-ea"/>
                <a:cs typeface="+mj-cs"/>
              </a:defRPr>
            </a:lvl1pPr>
          </a:lstStyle>
          <a:p>
            <a:r>
              <a:rPr lang="en-CA" sz="2400">
                <a:cs typeface="Arial"/>
              </a:rPr>
              <a:t>I&amp;O Guiding Principles</a:t>
            </a:r>
          </a:p>
        </p:txBody>
      </p:sp>
      <p:sp>
        <p:nvSpPr>
          <p:cNvPr id="22" name="Rectangle 21">
            <a:extLst>
              <a:ext uri="{FF2B5EF4-FFF2-40B4-BE49-F238E27FC236}">
                <a16:creationId xmlns:a16="http://schemas.microsoft.com/office/drawing/2014/main" id="{09874575-4264-B7CB-0268-A55344D3CA21}"/>
              </a:ext>
            </a:extLst>
          </p:cNvPr>
          <p:cNvSpPr/>
          <p:nvPr/>
        </p:nvSpPr>
        <p:spPr>
          <a:xfrm>
            <a:off x="2386679" y="1841191"/>
            <a:ext cx="1650705" cy="467993"/>
          </a:xfrm>
          <a:prstGeom prst="rect">
            <a:avLst/>
          </a:prstGeom>
          <a:solidFill>
            <a:srgbClr val="A9CE27"/>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Buy </a:t>
            </a:r>
            <a:r>
              <a:rPr lang="en-CA" sz="1100">
                <a:solidFill>
                  <a:srgbClr val="FFFFFF"/>
                </a:solidFill>
                <a:latin typeface="Arial" panose="020B0604020202020204"/>
              </a:rPr>
              <a:t>before</a:t>
            </a: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Build</a:t>
            </a:r>
          </a:p>
        </p:txBody>
      </p:sp>
      <p:sp>
        <p:nvSpPr>
          <p:cNvPr id="24" name="Rectangle 23">
            <a:extLst>
              <a:ext uri="{FF2B5EF4-FFF2-40B4-BE49-F238E27FC236}">
                <a16:creationId xmlns:a16="http://schemas.microsoft.com/office/drawing/2014/main" id="{32A7B1E3-AE70-9964-2C23-7BDE20262CA2}"/>
              </a:ext>
            </a:extLst>
          </p:cNvPr>
          <p:cNvSpPr/>
          <p:nvPr/>
        </p:nvSpPr>
        <p:spPr>
          <a:xfrm>
            <a:off x="2386679" y="1296724"/>
            <a:ext cx="1650705" cy="467993"/>
          </a:xfrm>
          <a:prstGeom prst="rect">
            <a:avLst/>
          </a:prstGeom>
          <a:solidFill>
            <a:srgbClr val="EDC6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Cloud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Appropriate</a:t>
            </a:r>
          </a:p>
        </p:txBody>
      </p:sp>
      <p:sp>
        <p:nvSpPr>
          <p:cNvPr id="26" name="Rectangle 25">
            <a:extLst>
              <a:ext uri="{FF2B5EF4-FFF2-40B4-BE49-F238E27FC236}">
                <a16:creationId xmlns:a16="http://schemas.microsoft.com/office/drawing/2014/main" id="{D0728802-F748-586C-997F-E4CBD561985C}"/>
              </a:ext>
            </a:extLst>
          </p:cNvPr>
          <p:cNvSpPr/>
          <p:nvPr/>
        </p:nvSpPr>
        <p:spPr>
          <a:xfrm>
            <a:off x="2386679" y="2930125"/>
            <a:ext cx="1650705" cy="467993"/>
          </a:xfrm>
          <a:prstGeom prst="rect">
            <a:avLst/>
          </a:prstGeom>
          <a:solidFill>
            <a:srgbClr val="41BEF4"/>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Automation Everywhere </a:t>
            </a:r>
          </a:p>
        </p:txBody>
      </p:sp>
      <p:sp>
        <p:nvSpPr>
          <p:cNvPr id="28" name="Rectangle 27">
            <a:extLst>
              <a:ext uri="{FF2B5EF4-FFF2-40B4-BE49-F238E27FC236}">
                <a16:creationId xmlns:a16="http://schemas.microsoft.com/office/drawing/2014/main" id="{285BDA24-C29C-54C8-1369-CE779345CD22}"/>
              </a:ext>
            </a:extLst>
          </p:cNvPr>
          <p:cNvSpPr/>
          <p:nvPr/>
        </p:nvSpPr>
        <p:spPr>
          <a:xfrm>
            <a:off x="2386679" y="3474592"/>
            <a:ext cx="1650705" cy="467993"/>
          </a:xfrm>
          <a:prstGeom prst="rect">
            <a:avLst/>
          </a:prstGeom>
          <a:solidFill>
            <a:srgbClr val="B97CB6"/>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Experientially Focused </a:t>
            </a:r>
          </a:p>
        </p:txBody>
      </p:sp>
      <p:sp>
        <p:nvSpPr>
          <p:cNvPr id="30" name="Rectangle 29">
            <a:extLst>
              <a:ext uri="{FF2B5EF4-FFF2-40B4-BE49-F238E27FC236}">
                <a16:creationId xmlns:a16="http://schemas.microsoft.com/office/drawing/2014/main" id="{57E6951D-4FC9-48A4-4935-860D92E9CA2C}"/>
              </a:ext>
            </a:extLst>
          </p:cNvPr>
          <p:cNvSpPr/>
          <p:nvPr/>
        </p:nvSpPr>
        <p:spPr>
          <a:xfrm>
            <a:off x="2386679" y="2385658"/>
            <a:ext cx="1650705" cy="467993"/>
          </a:xfrm>
          <a:prstGeom prst="rect">
            <a:avLst/>
          </a:prstGeom>
          <a:solidFill>
            <a:srgbClr val="5FC0AD"/>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Responsible Autonomy </a:t>
            </a:r>
          </a:p>
        </p:txBody>
      </p:sp>
      <p:sp>
        <p:nvSpPr>
          <p:cNvPr id="32" name="Rectangle 31">
            <a:extLst>
              <a:ext uri="{FF2B5EF4-FFF2-40B4-BE49-F238E27FC236}">
                <a16:creationId xmlns:a16="http://schemas.microsoft.com/office/drawing/2014/main" id="{3A95F33E-0857-0943-0B11-A7AA982DC3F0}"/>
              </a:ext>
            </a:extLst>
          </p:cNvPr>
          <p:cNvSpPr/>
          <p:nvPr/>
        </p:nvSpPr>
        <p:spPr>
          <a:xfrm>
            <a:off x="2386679" y="4019059"/>
            <a:ext cx="1650705" cy="467993"/>
          </a:xfrm>
          <a:prstGeom prst="rect">
            <a:avLst/>
          </a:prstGeom>
          <a:solidFill>
            <a:srgbClr val="605CA4"/>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Value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Oriented</a:t>
            </a:r>
          </a:p>
        </p:txBody>
      </p:sp>
      <p:sp>
        <p:nvSpPr>
          <p:cNvPr id="34" name="Rectangle 33">
            <a:extLst>
              <a:ext uri="{FF2B5EF4-FFF2-40B4-BE49-F238E27FC236}">
                <a16:creationId xmlns:a16="http://schemas.microsoft.com/office/drawing/2014/main" id="{8445628F-7ABF-3890-058A-9B3E96D9AEFF}"/>
              </a:ext>
            </a:extLst>
          </p:cNvPr>
          <p:cNvSpPr/>
          <p:nvPr/>
        </p:nvSpPr>
        <p:spPr>
          <a:xfrm>
            <a:off x="2386679" y="4563526"/>
            <a:ext cx="1650705" cy="467993"/>
          </a:xfrm>
          <a:prstGeom prst="rect">
            <a:avLst/>
          </a:prstGeom>
          <a:solidFill>
            <a:srgbClr val="2A7DC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E2E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Observability </a:t>
            </a:r>
          </a:p>
        </p:txBody>
      </p:sp>
      <p:sp>
        <p:nvSpPr>
          <p:cNvPr id="36" name="Rectangle 35">
            <a:extLst>
              <a:ext uri="{FF2B5EF4-FFF2-40B4-BE49-F238E27FC236}">
                <a16:creationId xmlns:a16="http://schemas.microsoft.com/office/drawing/2014/main" id="{2CAA383A-B96D-E6A9-8148-570F2C6C1696}"/>
              </a:ext>
            </a:extLst>
          </p:cNvPr>
          <p:cNvSpPr/>
          <p:nvPr/>
        </p:nvSpPr>
        <p:spPr>
          <a:xfrm>
            <a:off x="2386679" y="5107993"/>
            <a:ext cx="1650705" cy="467993"/>
          </a:xfrm>
          <a:prstGeom prst="rect">
            <a:avLst/>
          </a:prstGeom>
          <a:solidFill>
            <a:srgbClr val="277E8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Secure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by Design </a:t>
            </a:r>
          </a:p>
        </p:txBody>
      </p:sp>
      <p:sp>
        <p:nvSpPr>
          <p:cNvPr id="38" name="Rectangle 37">
            <a:extLst>
              <a:ext uri="{FF2B5EF4-FFF2-40B4-BE49-F238E27FC236}">
                <a16:creationId xmlns:a16="http://schemas.microsoft.com/office/drawing/2014/main" id="{A886081A-A186-B530-7652-E8687B14ED74}"/>
              </a:ext>
            </a:extLst>
          </p:cNvPr>
          <p:cNvSpPr/>
          <p:nvPr/>
        </p:nvSpPr>
        <p:spPr>
          <a:xfrm>
            <a:off x="2386679" y="5652462"/>
            <a:ext cx="1650705" cy="467993"/>
          </a:xfrm>
          <a:prstGeom prst="rect">
            <a:avLst/>
          </a:prstGeom>
          <a:solidFill>
            <a:srgbClr val="B08B3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FFFFFF"/>
                </a:solidFill>
                <a:effectLst/>
                <a:uLnTx/>
                <a:uFillTx/>
                <a:latin typeface="Arial" panose="020B0604020202020204"/>
                <a:ea typeface="+mn-ea"/>
                <a:cs typeface="+mn-cs"/>
              </a:rPr>
              <a:t>Continuous Optimization</a:t>
            </a:r>
          </a:p>
        </p:txBody>
      </p:sp>
      <p:sp>
        <p:nvSpPr>
          <p:cNvPr id="40" name="Rectangle 39">
            <a:extLst>
              <a:ext uri="{FF2B5EF4-FFF2-40B4-BE49-F238E27FC236}">
                <a16:creationId xmlns:a16="http://schemas.microsoft.com/office/drawing/2014/main" id="{DA283FCE-2A42-6E2D-2E1E-0D90C8345211}"/>
              </a:ext>
            </a:extLst>
          </p:cNvPr>
          <p:cNvSpPr/>
          <p:nvPr/>
        </p:nvSpPr>
        <p:spPr>
          <a:xfrm>
            <a:off x="4137338" y="1841191"/>
            <a:ext cx="6520573" cy="46799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15349">
                    <a:lumMod val="50000"/>
                  </a:srgbClr>
                </a:solidFill>
                <a:effectLst/>
                <a:uLnTx/>
                <a:uFillTx/>
                <a:latin typeface="Arial" panose="020B0604020202020204"/>
                <a:ea typeface="+mn-ea"/>
                <a:cs typeface="+mn-cs"/>
              </a:rPr>
              <a:t>Whenever possible, choose solutions that abstract management and operations.  SaaS are our first choice, followed by PaaS, followed by IaaS.​</a:t>
            </a:r>
          </a:p>
        </p:txBody>
      </p:sp>
      <p:sp>
        <p:nvSpPr>
          <p:cNvPr id="42" name="Rectangle 41">
            <a:extLst>
              <a:ext uri="{FF2B5EF4-FFF2-40B4-BE49-F238E27FC236}">
                <a16:creationId xmlns:a16="http://schemas.microsoft.com/office/drawing/2014/main" id="{E26E2222-969C-459D-29AE-D80CD4FDA53E}"/>
              </a:ext>
            </a:extLst>
          </p:cNvPr>
          <p:cNvSpPr/>
          <p:nvPr/>
        </p:nvSpPr>
        <p:spPr>
          <a:xfrm>
            <a:off x="4137338" y="1296724"/>
            <a:ext cx="6520573" cy="46799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15349">
                    <a:lumMod val="50000"/>
                  </a:srgbClr>
                </a:solidFill>
                <a:effectLst/>
                <a:uLnTx/>
                <a:uFillTx/>
                <a:latin typeface="Arial" panose="020B0604020202020204"/>
                <a:ea typeface="+mn-ea"/>
                <a:cs typeface="+mn-cs"/>
              </a:rPr>
              <a:t>Cloud first, cloud appropriate.  Leverage pattern-based decision frameworks to inform multi-cloud solution deployment.​</a:t>
            </a:r>
          </a:p>
        </p:txBody>
      </p:sp>
      <p:sp>
        <p:nvSpPr>
          <p:cNvPr id="44" name="Rectangle 43">
            <a:extLst>
              <a:ext uri="{FF2B5EF4-FFF2-40B4-BE49-F238E27FC236}">
                <a16:creationId xmlns:a16="http://schemas.microsoft.com/office/drawing/2014/main" id="{B3FEAAE2-8F9F-E605-29C4-A9E4A3CE31CA}"/>
              </a:ext>
            </a:extLst>
          </p:cNvPr>
          <p:cNvSpPr/>
          <p:nvPr/>
        </p:nvSpPr>
        <p:spPr>
          <a:xfrm>
            <a:off x="4137338" y="2930125"/>
            <a:ext cx="6520573" cy="46799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15349">
                    <a:lumMod val="50000"/>
                  </a:srgbClr>
                </a:solidFill>
                <a:effectLst/>
                <a:uLnTx/>
                <a:uFillTx/>
                <a:latin typeface="Arial" panose="020B0604020202020204"/>
                <a:ea typeface="+mn-ea"/>
                <a:cs typeface="+mn-cs"/>
              </a:rPr>
              <a:t>Solutions are deployed through automated provisioning, configuration, integration, deployment and management.</a:t>
            </a:r>
          </a:p>
        </p:txBody>
      </p:sp>
      <p:sp>
        <p:nvSpPr>
          <p:cNvPr id="46" name="Rectangle 45">
            <a:extLst>
              <a:ext uri="{FF2B5EF4-FFF2-40B4-BE49-F238E27FC236}">
                <a16:creationId xmlns:a16="http://schemas.microsoft.com/office/drawing/2014/main" id="{697DCD99-BFAA-37E6-DACF-F3BD0D70DD43}"/>
              </a:ext>
            </a:extLst>
          </p:cNvPr>
          <p:cNvSpPr/>
          <p:nvPr/>
        </p:nvSpPr>
        <p:spPr>
          <a:xfrm>
            <a:off x="4137338" y="3474592"/>
            <a:ext cx="6520573" cy="46799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15349">
                    <a:lumMod val="50000"/>
                  </a:srgbClr>
                </a:solidFill>
                <a:effectLst/>
                <a:uLnTx/>
                <a:uFillTx/>
                <a:latin typeface="Arial" panose="020B0604020202020204"/>
                <a:ea typeface="+mn-ea"/>
                <a:cs typeface="+mn-cs"/>
              </a:rPr>
              <a:t>Putting the customer at the center of everything we do.  This means placing a high value on the experience.</a:t>
            </a:r>
          </a:p>
        </p:txBody>
      </p:sp>
      <p:sp>
        <p:nvSpPr>
          <p:cNvPr id="48" name="Rectangle 47">
            <a:extLst>
              <a:ext uri="{FF2B5EF4-FFF2-40B4-BE49-F238E27FC236}">
                <a16:creationId xmlns:a16="http://schemas.microsoft.com/office/drawing/2014/main" id="{37D39179-9C66-989C-D299-D78536CDA683}"/>
              </a:ext>
            </a:extLst>
          </p:cNvPr>
          <p:cNvSpPr/>
          <p:nvPr/>
        </p:nvSpPr>
        <p:spPr>
          <a:xfrm>
            <a:off x="4137338" y="2385658"/>
            <a:ext cx="6520573" cy="46799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15349">
                    <a:lumMod val="50000"/>
                  </a:srgbClr>
                </a:solidFill>
                <a:effectLst/>
                <a:uLnTx/>
                <a:uFillTx/>
                <a:latin typeface="Arial" panose="020B0604020202020204"/>
                <a:ea typeface="+mn-ea"/>
                <a:cs typeface="+mn-cs"/>
              </a:rPr>
              <a:t>Practitioners are trusted to act in the best interest of the company and our customers.  Flexibility at the edge governed by a strong foundation.​</a:t>
            </a:r>
          </a:p>
        </p:txBody>
      </p:sp>
      <p:sp>
        <p:nvSpPr>
          <p:cNvPr id="50" name="Rectangle 49">
            <a:extLst>
              <a:ext uri="{FF2B5EF4-FFF2-40B4-BE49-F238E27FC236}">
                <a16:creationId xmlns:a16="http://schemas.microsoft.com/office/drawing/2014/main" id="{3A6668EB-4CDC-1B70-9D40-53ACEEAB7A0D}"/>
              </a:ext>
            </a:extLst>
          </p:cNvPr>
          <p:cNvSpPr/>
          <p:nvPr/>
        </p:nvSpPr>
        <p:spPr>
          <a:xfrm>
            <a:off x="4137338" y="4019059"/>
            <a:ext cx="6520573" cy="46799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15349">
                    <a:lumMod val="50000"/>
                  </a:srgbClr>
                </a:solidFill>
                <a:effectLst/>
                <a:uLnTx/>
                <a:uFillTx/>
                <a:latin typeface="Arial" panose="020B0604020202020204"/>
                <a:ea typeface="+mn-ea"/>
                <a:cs typeface="+mn-cs"/>
              </a:rPr>
              <a:t>Outcomes are connected to value where velocity, frequency, experience, resilience and total cost of ownership are weighted considerations.</a:t>
            </a:r>
          </a:p>
        </p:txBody>
      </p:sp>
      <p:sp>
        <p:nvSpPr>
          <p:cNvPr id="52" name="Rectangle 51">
            <a:extLst>
              <a:ext uri="{FF2B5EF4-FFF2-40B4-BE49-F238E27FC236}">
                <a16:creationId xmlns:a16="http://schemas.microsoft.com/office/drawing/2014/main" id="{3F3B874A-621A-6208-3C75-F0A651452027}"/>
              </a:ext>
            </a:extLst>
          </p:cNvPr>
          <p:cNvSpPr/>
          <p:nvPr/>
        </p:nvSpPr>
        <p:spPr>
          <a:xfrm>
            <a:off x="4137338" y="4563526"/>
            <a:ext cx="6520573" cy="46799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15349">
                    <a:lumMod val="50000"/>
                  </a:srgbClr>
                </a:solidFill>
                <a:effectLst/>
                <a:uLnTx/>
                <a:uFillTx/>
                <a:latin typeface="Arial" panose="020B0604020202020204"/>
                <a:ea typeface="+mn-ea"/>
                <a:cs typeface="+mn-cs"/>
              </a:rPr>
              <a:t>Prioritize unified, real-time visibility and insights into the health, performance and behaviour of services.​</a:t>
            </a:r>
          </a:p>
        </p:txBody>
      </p:sp>
      <p:sp>
        <p:nvSpPr>
          <p:cNvPr id="54" name="Rectangle 53">
            <a:extLst>
              <a:ext uri="{FF2B5EF4-FFF2-40B4-BE49-F238E27FC236}">
                <a16:creationId xmlns:a16="http://schemas.microsoft.com/office/drawing/2014/main" id="{F9D8C586-2FBD-AE8D-1C9D-E0CF890D07F4}"/>
              </a:ext>
            </a:extLst>
          </p:cNvPr>
          <p:cNvSpPr/>
          <p:nvPr/>
        </p:nvSpPr>
        <p:spPr>
          <a:xfrm>
            <a:off x="4137338" y="5107993"/>
            <a:ext cx="6520573" cy="46799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15349">
                    <a:lumMod val="50000"/>
                  </a:srgbClr>
                </a:solidFill>
                <a:effectLst/>
                <a:uLnTx/>
                <a:uFillTx/>
                <a:latin typeface="Arial" panose="020B0604020202020204"/>
                <a:ea typeface="+mn-ea"/>
                <a:cs typeface="+mn-cs"/>
              </a:rPr>
              <a:t>Solutions are governed by a multi-layer security architecture, policy-driven enforcement, data protection and incident detection and handling.</a:t>
            </a:r>
          </a:p>
        </p:txBody>
      </p:sp>
      <p:sp>
        <p:nvSpPr>
          <p:cNvPr id="56" name="Rectangle 55">
            <a:extLst>
              <a:ext uri="{FF2B5EF4-FFF2-40B4-BE49-F238E27FC236}">
                <a16:creationId xmlns:a16="http://schemas.microsoft.com/office/drawing/2014/main" id="{8D8CB9E4-8C9E-9F4B-0CAE-B9DACF88C5E2}"/>
              </a:ext>
            </a:extLst>
          </p:cNvPr>
          <p:cNvSpPr/>
          <p:nvPr/>
        </p:nvSpPr>
        <p:spPr>
          <a:xfrm>
            <a:off x="4137338" y="5652462"/>
            <a:ext cx="6520573" cy="467993"/>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515349">
                    <a:lumMod val="50000"/>
                  </a:srgbClr>
                </a:solidFill>
                <a:effectLst/>
                <a:uLnTx/>
                <a:uFillTx/>
                <a:latin typeface="Arial" panose="020B0604020202020204"/>
                <a:ea typeface="+mn-ea"/>
                <a:cs typeface="+mn-cs"/>
              </a:rPr>
              <a:t>Programmatic measurement and feedback loops to promote efficient use of technology and processes.​</a:t>
            </a:r>
          </a:p>
        </p:txBody>
      </p:sp>
      <p:pic>
        <p:nvPicPr>
          <p:cNvPr id="58" name="Graphic 75" descr="Cloud outline">
            <a:extLst>
              <a:ext uri="{FF2B5EF4-FFF2-40B4-BE49-F238E27FC236}">
                <a16:creationId xmlns:a16="http://schemas.microsoft.com/office/drawing/2014/main" id="{1AF22903-CD73-CD84-8029-36AA39C9850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486634" y="1310710"/>
            <a:ext cx="418344" cy="418344"/>
          </a:xfrm>
          <a:prstGeom prst="rect">
            <a:avLst/>
          </a:prstGeom>
        </p:spPr>
      </p:pic>
      <p:pic>
        <p:nvPicPr>
          <p:cNvPr id="60" name="Graphic 77" descr="Architecture outline">
            <a:extLst>
              <a:ext uri="{FF2B5EF4-FFF2-40B4-BE49-F238E27FC236}">
                <a16:creationId xmlns:a16="http://schemas.microsoft.com/office/drawing/2014/main" id="{7DEAD3C8-72C7-A99C-AE2A-4A44CAE8EB9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86634" y="1861724"/>
            <a:ext cx="418344" cy="418344"/>
          </a:xfrm>
          <a:prstGeom prst="rect">
            <a:avLst/>
          </a:prstGeom>
        </p:spPr>
      </p:pic>
      <p:pic>
        <p:nvPicPr>
          <p:cNvPr id="62" name="Graphic 81" descr="Robot outline">
            <a:extLst>
              <a:ext uri="{FF2B5EF4-FFF2-40B4-BE49-F238E27FC236}">
                <a16:creationId xmlns:a16="http://schemas.microsoft.com/office/drawing/2014/main" id="{BE3561A5-BB1F-E705-F0BE-F8204D5DA08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86634" y="2950658"/>
            <a:ext cx="418344" cy="418344"/>
          </a:xfrm>
          <a:prstGeom prst="rect">
            <a:avLst/>
          </a:prstGeom>
        </p:spPr>
      </p:pic>
      <p:pic>
        <p:nvPicPr>
          <p:cNvPr id="64" name="Graphic 83" descr="Ui Ux outline">
            <a:extLst>
              <a:ext uri="{FF2B5EF4-FFF2-40B4-BE49-F238E27FC236}">
                <a16:creationId xmlns:a16="http://schemas.microsoft.com/office/drawing/2014/main" id="{96D3A22E-DFDD-3FC1-EBCE-0EB11F7B8C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93752" y="2407065"/>
            <a:ext cx="418344" cy="418344"/>
          </a:xfrm>
          <a:prstGeom prst="rect">
            <a:avLst/>
          </a:prstGeom>
        </p:spPr>
      </p:pic>
      <p:pic>
        <p:nvPicPr>
          <p:cNvPr id="66" name="Graphic 85" descr="Diamond outline">
            <a:extLst>
              <a:ext uri="{FF2B5EF4-FFF2-40B4-BE49-F238E27FC236}">
                <a16:creationId xmlns:a16="http://schemas.microsoft.com/office/drawing/2014/main" id="{29E4C1C0-5CA6-48AA-026E-13CD3F42184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86634" y="4036991"/>
            <a:ext cx="418344" cy="418344"/>
          </a:xfrm>
          <a:prstGeom prst="rect">
            <a:avLst/>
          </a:prstGeom>
        </p:spPr>
      </p:pic>
      <p:pic>
        <p:nvPicPr>
          <p:cNvPr id="68" name="Graphic 87" descr="Eye outline">
            <a:extLst>
              <a:ext uri="{FF2B5EF4-FFF2-40B4-BE49-F238E27FC236}">
                <a16:creationId xmlns:a16="http://schemas.microsoft.com/office/drawing/2014/main" id="{EBA38A96-EF50-373B-2472-EC92EEB34C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86634" y="4586880"/>
            <a:ext cx="418344" cy="418344"/>
          </a:xfrm>
          <a:prstGeom prst="rect">
            <a:avLst/>
          </a:prstGeom>
        </p:spPr>
      </p:pic>
      <p:pic>
        <p:nvPicPr>
          <p:cNvPr id="70" name="Graphic 89" descr="Safe outline">
            <a:extLst>
              <a:ext uri="{FF2B5EF4-FFF2-40B4-BE49-F238E27FC236}">
                <a16:creationId xmlns:a16="http://schemas.microsoft.com/office/drawing/2014/main" id="{A08B3CA9-26F9-5F3E-51A5-454B5C9A71C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86634" y="5131348"/>
            <a:ext cx="418344" cy="418344"/>
          </a:xfrm>
          <a:prstGeom prst="rect">
            <a:avLst/>
          </a:prstGeom>
        </p:spPr>
      </p:pic>
      <p:pic>
        <p:nvPicPr>
          <p:cNvPr id="72" name="Graphic 91" descr="End outline">
            <a:extLst>
              <a:ext uri="{FF2B5EF4-FFF2-40B4-BE49-F238E27FC236}">
                <a16:creationId xmlns:a16="http://schemas.microsoft.com/office/drawing/2014/main" id="{E163955E-2420-FC6B-3A78-E63932E320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486634" y="5677225"/>
            <a:ext cx="418344" cy="418344"/>
          </a:xfrm>
          <a:prstGeom prst="rect">
            <a:avLst/>
          </a:prstGeom>
        </p:spPr>
      </p:pic>
      <p:pic>
        <p:nvPicPr>
          <p:cNvPr id="74" name="Graphic 98" descr="Target outline">
            <a:extLst>
              <a:ext uri="{FF2B5EF4-FFF2-40B4-BE49-F238E27FC236}">
                <a16:creationId xmlns:a16="http://schemas.microsoft.com/office/drawing/2014/main" id="{024F7A20-B416-CA82-F0AC-79644D021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486634" y="3503170"/>
            <a:ext cx="418344" cy="418344"/>
          </a:xfrm>
          <a:prstGeom prst="rect">
            <a:avLst/>
          </a:prstGeom>
        </p:spPr>
      </p:pic>
      <p:sp>
        <p:nvSpPr>
          <p:cNvPr id="76" name="Arrow: Up-Down 75">
            <a:extLst>
              <a:ext uri="{FF2B5EF4-FFF2-40B4-BE49-F238E27FC236}">
                <a16:creationId xmlns:a16="http://schemas.microsoft.com/office/drawing/2014/main" id="{CB326B69-F750-1453-2E6B-7CEDEF88C1AA}"/>
              </a:ext>
            </a:extLst>
          </p:cNvPr>
          <p:cNvSpPr/>
          <p:nvPr/>
        </p:nvSpPr>
        <p:spPr>
          <a:xfrm>
            <a:off x="1662980" y="1342562"/>
            <a:ext cx="533695" cy="4823731"/>
          </a:xfrm>
          <a:prstGeom prst="upDownArrow">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vert270" lIns="137160" tIns="137160" rIns="137160" bIns="13716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rgbClr val="FFFFFF"/>
                </a:solidFill>
                <a:effectLst/>
                <a:uLnTx/>
                <a:uFillTx/>
                <a:latin typeface="Arial" panose="020B0604020202020204"/>
                <a:ea typeface="+mn-ea"/>
                <a:cs typeface="+mn-cs"/>
              </a:rPr>
              <a:t>Guiding Principles</a:t>
            </a:r>
          </a:p>
        </p:txBody>
      </p:sp>
      <p:pic>
        <p:nvPicPr>
          <p:cNvPr id="78" name="Graphic 103" descr="Map compass outline">
            <a:extLst>
              <a:ext uri="{FF2B5EF4-FFF2-40B4-BE49-F238E27FC236}">
                <a16:creationId xmlns:a16="http://schemas.microsoft.com/office/drawing/2014/main" id="{7ED63893-2B74-EFF6-A06C-2D131D353C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0321" y="3314429"/>
            <a:ext cx="914400" cy="914400"/>
          </a:xfrm>
          <a:prstGeom prst="rect">
            <a:avLst/>
          </a:prstGeom>
        </p:spPr>
      </p:pic>
    </p:spTree>
    <p:extLst>
      <p:ext uri="{BB962C8B-B14F-4D97-AF65-F5344CB8AC3E}">
        <p14:creationId xmlns:p14="http://schemas.microsoft.com/office/powerpoint/2010/main" val="531630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11A1F-78CE-6BF3-D59C-8C1F2C792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40080-D7FD-9F1F-D2A1-07185126EAF1}"/>
              </a:ext>
            </a:extLst>
          </p:cNvPr>
          <p:cNvSpPr>
            <a:spLocks noGrp="1"/>
          </p:cNvSpPr>
          <p:nvPr>
            <p:ph type="title"/>
          </p:nvPr>
        </p:nvSpPr>
        <p:spPr/>
        <p:txBody>
          <a:bodyPr>
            <a:normAutofit/>
          </a:bodyPr>
          <a:lstStyle/>
          <a:p>
            <a:r>
              <a:rPr lang="en-CA" sz="2400">
                <a:cs typeface="Arial"/>
              </a:rPr>
              <a:t>Six Strategic Domains Driving Cloud Foundations</a:t>
            </a:r>
            <a:endParaRPr lang="en-US"/>
          </a:p>
        </p:txBody>
      </p:sp>
      <p:sp>
        <p:nvSpPr>
          <p:cNvPr id="5" name="TextBox 4">
            <a:extLst>
              <a:ext uri="{FF2B5EF4-FFF2-40B4-BE49-F238E27FC236}">
                <a16:creationId xmlns:a16="http://schemas.microsoft.com/office/drawing/2014/main" id="{CF562A50-8587-4D17-5131-5CFA93AC9D97}"/>
              </a:ext>
            </a:extLst>
          </p:cNvPr>
          <p:cNvSpPr txBox="1"/>
          <p:nvPr/>
        </p:nvSpPr>
        <p:spPr>
          <a:xfrm>
            <a:off x="386368" y="1207394"/>
            <a:ext cx="11419265" cy="369332"/>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US" sz="1200">
                <a:solidFill>
                  <a:srgbClr val="000000"/>
                </a:solidFill>
              </a:rPr>
              <a:t>The</a:t>
            </a:r>
            <a:r>
              <a:rPr lang="en-US" sz="1200" b="1">
                <a:solidFill>
                  <a:srgbClr val="000000"/>
                </a:solidFill>
              </a:rPr>
              <a:t> I&amp;O Cloud Foundations</a:t>
            </a:r>
            <a:r>
              <a:rPr lang="en-US" sz="1200">
                <a:solidFill>
                  <a:srgbClr val="000000"/>
                </a:solidFill>
              </a:rPr>
              <a:t> Roadmap is structured across six strategic domains, each domain strengthens enterprise agility, resilience, and value realization from cloud investments. These domains focus efforts on foundational risk areas and enable targeted delivery of transformation initiatives.</a:t>
            </a:r>
            <a:endParaRPr lang="en-US" sz="1200">
              <a:solidFill>
                <a:srgbClr val="000000"/>
              </a:solidFill>
              <a:cs typeface="Arial"/>
            </a:endParaRPr>
          </a:p>
        </p:txBody>
      </p:sp>
      <p:sp>
        <p:nvSpPr>
          <p:cNvPr id="4" name="Rectangle: Rounded Corners 3">
            <a:extLst>
              <a:ext uri="{FF2B5EF4-FFF2-40B4-BE49-F238E27FC236}">
                <a16:creationId xmlns:a16="http://schemas.microsoft.com/office/drawing/2014/main" id="{ABCC9E11-ECC3-8537-8D2A-34826BA50E2A}"/>
              </a:ext>
            </a:extLst>
          </p:cNvPr>
          <p:cNvSpPr/>
          <p:nvPr/>
        </p:nvSpPr>
        <p:spPr>
          <a:xfrm>
            <a:off x="388620" y="1954530"/>
            <a:ext cx="2745105" cy="182499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500" b="1">
                <a:solidFill>
                  <a:srgbClr val="000000"/>
                </a:solidFill>
                <a:cs typeface="Arial"/>
              </a:rPr>
              <a:t>Foundation</a:t>
            </a:r>
            <a:endParaRPr lang="en-US" sz="1500">
              <a:solidFill>
                <a:srgbClr val="000000"/>
              </a:solidFill>
              <a:cs typeface="Arial"/>
            </a:endParaRPr>
          </a:p>
          <a:p>
            <a:pPr algn="ctr"/>
            <a:endParaRPr lang="en-US" sz="1500" b="1">
              <a:solidFill>
                <a:srgbClr val="BA0C2F"/>
              </a:solidFill>
              <a:cs typeface="Arial"/>
            </a:endParaRPr>
          </a:p>
          <a:p>
            <a:pPr algn="ctr"/>
            <a:r>
              <a:rPr lang="en-US" sz="1000">
                <a:solidFill>
                  <a:srgbClr val="000000"/>
                </a:solidFill>
                <a:cs typeface="Arial"/>
              </a:rPr>
              <a:t>Delivers resilient networking, </a:t>
            </a:r>
            <a:endParaRPr lang="en-US" sz="1000">
              <a:solidFill>
                <a:srgbClr val="515349"/>
              </a:solidFill>
              <a:cs typeface="Arial"/>
            </a:endParaRPr>
          </a:p>
          <a:p>
            <a:pPr algn="ctr"/>
            <a:r>
              <a:rPr lang="en-US" sz="1000">
                <a:solidFill>
                  <a:srgbClr val="000000"/>
                </a:solidFill>
                <a:cs typeface="Arial"/>
              </a:rPr>
              <a:t>inter-regional connectivity, </a:t>
            </a:r>
            <a:endParaRPr lang="en-US" sz="1000">
              <a:solidFill>
                <a:srgbClr val="515349"/>
              </a:solidFill>
              <a:cs typeface="Arial"/>
            </a:endParaRPr>
          </a:p>
          <a:p>
            <a:pPr algn="ctr"/>
            <a:r>
              <a:rPr lang="en-US" sz="1000">
                <a:solidFill>
                  <a:srgbClr val="000000"/>
                </a:solidFill>
                <a:cs typeface="Arial"/>
              </a:rPr>
              <a:t>and robust infrastructure log forwarding to support resilience, scalable and secure cloud operations.</a:t>
            </a:r>
            <a:endParaRPr lang="en-US" sz="1000">
              <a:solidFill>
                <a:srgbClr val="515349"/>
              </a:solidFill>
              <a:cs typeface="Arial"/>
            </a:endParaRPr>
          </a:p>
        </p:txBody>
      </p:sp>
      <p:sp>
        <p:nvSpPr>
          <p:cNvPr id="6" name="Rectangle: Rounded Corners 5">
            <a:extLst>
              <a:ext uri="{FF2B5EF4-FFF2-40B4-BE49-F238E27FC236}">
                <a16:creationId xmlns:a16="http://schemas.microsoft.com/office/drawing/2014/main" id="{E61751F3-E326-7BB2-08B5-2B6932EE8485}"/>
              </a:ext>
            </a:extLst>
          </p:cNvPr>
          <p:cNvSpPr/>
          <p:nvPr/>
        </p:nvSpPr>
        <p:spPr>
          <a:xfrm>
            <a:off x="4608195" y="1954530"/>
            <a:ext cx="2745105" cy="1824990"/>
          </a:xfrm>
          <a:prstGeom prst="roundRect">
            <a:avLst/>
          </a:prstGeom>
          <a:solidFill>
            <a:srgbClr val="F0CCD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500" b="1">
                <a:solidFill>
                  <a:srgbClr val="000000"/>
                </a:solidFill>
                <a:cs typeface="Arial"/>
              </a:rPr>
              <a:t>Security</a:t>
            </a:r>
            <a:endParaRPr lang="en-US" sz="1500">
              <a:solidFill>
                <a:srgbClr val="000000"/>
              </a:solidFill>
              <a:cs typeface="Arial"/>
            </a:endParaRPr>
          </a:p>
          <a:p>
            <a:pPr algn="ctr"/>
            <a:endParaRPr lang="en-US" sz="1500" b="1">
              <a:solidFill>
                <a:srgbClr val="BA0C2F"/>
              </a:solidFill>
              <a:cs typeface="Arial"/>
            </a:endParaRPr>
          </a:p>
          <a:p>
            <a:pPr algn="ctr"/>
            <a:r>
              <a:rPr lang="en-US" sz="1000">
                <a:solidFill>
                  <a:srgbClr val="000000"/>
                </a:solidFill>
                <a:cs typeface="Arial"/>
              </a:rPr>
              <a:t>Ensures cloud data, workloads, and platforms are protected from malware and unauthorized access, embedding security requirements and controls across services.</a:t>
            </a:r>
            <a:endParaRPr lang="en-US" sz="1000">
              <a:solidFill>
                <a:srgbClr val="515349"/>
              </a:solidFill>
              <a:cs typeface="Arial"/>
            </a:endParaRPr>
          </a:p>
        </p:txBody>
      </p:sp>
      <p:sp>
        <p:nvSpPr>
          <p:cNvPr id="7" name="Rectangle: Rounded Corners 6">
            <a:extLst>
              <a:ext uri="{FF2B5EF4-FFF2-40B4-BE49-F238E27FC236}">
                <a16:creationId xmlns:a16="http://schemas.microsoft.com/office/drawing/2014/main" id="{904853C6-4E36-794A-2051-06CFCA345519}"/>
              </a:ext>
            </a:extLst>
          </p:cNvPr>
          <p:cNvSpPr/>
          <p:nvPr/>
        </p:nvSpPr>
        <p:spPr>
          <a:xfrm>
            <a:off x="9056369" y="1954530"/>
            <a:ext cx="2745105" cy="1824990"/>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500" b="1">
                <a:solidFill>
                  <a:srgbClr val="000000"/>
                </a:solidFill>
                <a:cs typeface="Arial"/>
              </a:rPr>
              <a:t>Governance</a:t>
            </a:r>
            <a:endParaRPr lang="en-US" sz="1500">
              <a:solidFill>
                <a:srgbClr val="000000"/>
              </a:solidFill>
              <a:cs typeface="Arial"/>
            </a:endParaRPr>
          </a:p>
          <a:p>
            <a:pPr algn="ctr"/>
            <a:endParaRPr lang="en-US" sz="1500" b="1">
              <a:solidFill>
                <a:srgbClr val="BA0C2F"/>
              </a:solidFill>
              <a:cs typeface="Arial"/>
            </a:endParaRPr>
          </a:p>
          <a:p>
            <a:pPr algn="ctr"/>
            <a:r>
              <a:rPr lang="en-US" sz="1000">
                <a:solidFill>
                  <a:srgbClr val="000000"/>
                </a:solidFill>
                <a:cs typeface="Arial"/>
              </a:rPr>
              <a:t>Unifies platform approaches </a:t>
            </a:r>
            <a:endParaRPr lang="en-US" sz="1000">
              <a:solidFill>
                <a:srgbClr val="515349"/>
              </a:solidFill>
              <a:cs typeface="Arial"/>
            </a:endParaRPr>
          </a:p>
          <a:p>
            <a:pPr algn="ctr"/>
            <a:r>
              <a:rPr lang="en-US" sz="1000">
                <a:solidFill>
                  <a:srgbClr val="000000"/>
                </a:solidFill>
                <a:cs typeface="Arial"/>
              </a:rPr>
              <a:t>and enforces compliance, </a:t>
            </a:r>
            <a:endParaRPr lang="en-US" sz="1000">
              <a:solidFill>
                <a:srgbClr val="515349"/>
              </a:solidFill>
              <a:cs typeface="Arial"/>
            </a:endParaRPr>
          </a:p>
          <a:p>
            <a:pPr algn="ctr"/>
            <a:r>
              <a:rPr lang="en-US" sz="1000">
                <a:solidFill>
                  <a:srgbClr val="000000"/>
                </a:solidFill>
                <a:cs typeface="Arial"/>
              </a:rPr>
              <a:t>standardizing governance, </a:t>
            </a:r>
            <a:endParaRPr lang="en-US" sz="1000">
              <a:solidFill>
                <a:srgbClr val="515349"/>
              </a:solidFill>
              <a:cs typeface="Arial"/>
            </a:endParaRPr>
          </a:p>
          <a:p>
            <a:pPr algn="ctr"/>
            <a:r>
              <a:rPr lang="en-US" sz="1000">
                <a:solidFill>
                  <a:srgbClr val="000000"/>
                </a:solidFill>
                <a:cs typeface="Arial"/>
              </a:rPr>
              <a:t>retiring legacy platforms, </a:t>
            </a:r>
            <a:endParaRPr lang="en-US" sz="1000">
              <a:solidFill>
                <a:srgbClr val="515349"/>
              </a:solidFill>
              <a:cs typeface="Arial"/>
            </a:endParaRPr>
          </a:p>
          <a:p>
            <a:pPr algn="ctr"/>
            <a:r>
              <a:rPr lang="en-US" sz="1000">
                <a:solidFill>
                  <a:srgbClr val="000000"/>
                </a:solidFill>
                <a:cs typeface="Arial"/>
              </a:rPr>
              <a:t>and enhancing cloud data classification.</a:t>
            </a:r>
            <a:endParaRPr lang="en-US" sz="1000">
              <a:solidFill>
                <a:srgbClr val="515349"/>
              </a:solidFill>
              <a:cs typeface="Arial"/>
            </a:endParaRPr>
          </a:p>
        </p:txBody>
      </p:sp>
      <p:sp>
        <p:nvSpPr>
          <p:cNvPr id="8" name="Rectangle: Rounded Corners 7">
            <a:extLst>
              <a:ext uri="{FF2B5EF4-FFF2-40B4-BE49-F238E27FC236}">
                <a16:creationId xmlns:a16="http://schemas.microsoft.com/office/drawing/2014/main" id="{F5FF9075-14B4-C807-EB19-401072E478CA}"/>
              </a:ext>
            </a:extLst>
          </p:cNvPr>
          <p:cNvSpPr/>
          <p:nvPr/>
        </p:nvSpPr>
        <p:spPr>
          <a:xfrm>
            <a:off x="9056369" y="4097655"/>
            <a:ext cx="2745105" cy="1824990"/>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500" b="1">
                <a:solidFill>
                  <a:srgbClr val="000000"/>
                </a:solidFill>
                <a:cs typeface="Arial"/>
              </a:rPr>
              <a:t>Automation</a:t>
            </a:r>
            <a:endParaRPr lang="en-US" sz="1500">
              <a:solidFill>
                <a:srgbClr val="000000"/>
              </a:solidFill>
              <a:cs typeface="Arial"/>
            </a:endParaRPr>
          </a:p>
          <a:p>
            <a:pPr algn="ctr"/>
            <a:endParaRPr lang="en-US" sz="1500" b="1">
              <a:solidFill>
                <a:srgbClr val="000000"/>
              </a:solidFill>
              <a:cs typeface="Arial"/>
            </a:endParaRPr>
          </a:p>
          <a:p>
            <a:pPr algn="ctr"/>
            <a:r>
              <a:rPr lang="en-US" sz="1000">
                <a:solidFill>
                  <a:srgbClr val="000000"/>
                </a:solidFill>
                <a:cs typeface="Arial"/>
              </a:rPr>
              <a:t>Accelerates infrastructure delivery, enables chaos resiliency testing, and implements self-healing/proactive recovery for continuous availability.</a:t>
            </a:r>
            <a:endParaRPr lang="en-US" sz="1000">
              <a:solidFill>
                <a:srgbClr val="515349"/>
              </a:solidFill>
              <a:cs typeface="Arial"/>
            </a:endParaRPr>
          </a:p>
        </p:txBody>
      </p:sp>
      <p:sp>
        <p:nvSpPr>
          <p:cNvPr id="9" name="Rectangle: Rounded Corners 8">
            <a:extLst>
              <a:ext uri="{FF2B5EF4-FFF2-40B4-BE49-F238E27FC236}">
                <a16:creationId xmlns:a16="http://schemas.microsoft.com/office/drawing/2014/main" id="{66C4F7B7-B119-D483-5E00-82C82D55FE2D}"/>
              </a:ext>
            </a:extLst>
          </p:cNvPr>
          <p:cNvSpPr/>
          <p:nvPr/>
        </p:nvSpPr>
        <p:spPr>
          <a:xfrm>
            <a:off x="4608194" y="4097655"/>
            <a:ext cx="2745105" cy="1824990"/>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500" b="1">
                <a:solidFill>
                  <a:srgbClr val="000000"/>
                </a:solidFill>
                <a:cs typeface="Arial"/>
              </a:rPr>
              <a:t>Cost &amp; </a:t>
            </a:r>
          </a:p>
          <a:p>
            <a:pPr algn="ctr"/>
            <a:r>
              <a:rPr lang="en-US" sz="1500" b="1">
                <a:solidFill>
                  <a:srgbClr val="000000"/>
                </a:solidFill>
                <a:cs typeface="Arial"/>
              </a:rPr>
              <a:t>Optimization</a:t>
            </a:r>
            <a:endParaRPr lang="en-US" sz="1500">
              <a:solidFill>
                <a:srgbClr val="000000"/>
              </a:solidFill>
              <a:cs typeface="Arial"/>
            </a:endParaRPr>
          </a:p>
          <a:p>
            <a:pPr algn="ctr"/>
            <a:endParaRPr lang="en-US" sz="1500" b="1">
              <a:solidFill>
                <a:srgbClr val="000000"/>
              </a:solidFill>
              <a:cs typeface="Arial"/>
            </a:endParaRPr>
          </a:p>
          <a:p>
            <a:pPr algn="ctr"/>
            <a:r>
              <a:rPr lang="en-US" sz="1000">
                <a:solidFill>
                  <a:srgbClr val="000000"/>
                </a:solidFill>
                <a:cs typeface="Arial"/>
              </a:rPr>
              <a:t>Improves tagging automation, SaaS migration, and multi-cloud spend visibility to reduce financial risk and </a:t>
            </a:r>
            <a:endParaRPr lang="en-US" sz="1000">
              <a:solidFill>
                <a:srgbClr val="515349"/>
              </a:solidFill>
              <a:cs typeface="Arial"/>
            </a:endParaRPr>
          </a:p>
          <a:p>
            <a:pPr algn="ctr"/>
            <a:r>
              <a:rPr lang="en-US" sz="1000">
                <a:solidFill>
                  <a:srgbClr val="000000"/>
                </a:solidFill>
                <a:cs typeface="Arial"/>
              </a:rPr>
              <a:t>Optimize cloud investments.</a:t>
            </a:r>
            <a:endParaRPr lang="en-US" sz="1000">
              <a:solidFill>
                <a:srgbClr val="515349"/>
              </a:solidFill>
              <a:cs typeface="Arial"/>
            </a:endParaRPr>
          </a:p>
        </p:txBody>
      </p:sp>
      <p:sp>
        <p:nvSpPr>
          <p:cNvPr id="10" name="Rectangle: Rounded Corners 9">
            <a:extLst>
              <a:ext uri="{FF2B5EF4-FFF2-40B4-BE49-F238E27FC236}">
                <a16:creationId xmlns:a16="http://schemas.microsoft.com/office/drawing/2014/main" id="{73B1A881-2D5E-94B2-C6C1-71AD4538D479}"/>
              </a:ext>
            </a:extLst>
          </p:cNvPr>
          <p:cNvSpPr/>
          <p:nvPr/>
        </p:nvSpPr>
        <p:spPr>
          <a:xfrm>
            <a:off x="388619" y="4097655"/>
            <a:ext cx="2745105" cy="1824990"/>
          </a:xfrm>
          <a:prstGeom prst="roundRect">
            <a:avLst/>
          </a:prstGeom>
          <a:solidFill>
            <a:srgbClr val="F2DDA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500" b="1">
                <a:solidFill>
                  <a:srgbClr val="000000"/>
                </a:solidFill>
                <a:cs typeface="Arial"/>
              </a:rPr>
              <a:t>Platform &amp; </a:t>
            </a:r>
          </a:p>
          <a:p>
            <a:pPr algn="ctr"/>
            <a:r>
              <a:rPr lang="en-US" sz="1500" b="1">
                <a:solidFill>
                  <a:srgbClr val="000000"/>
                </a:solidFill>
                <a:cs typeface="Arial"/>
              </a:rPr>
              <a:t>Services</a:t>
            </a:r>
            <a:endParaRPr lang="en-US" sz="1500">
              <a:solidFill>
                <a:srgbClr val="000000"/>
              </a:solidFill>
              <a:cs typeface="Arial"/>
            </a:endParaRPr>
          </a:p>
          <a:p>
            <a:pPr algn="ctr"/>
            <a:endParaRPr lang="en-US" sz="1500" b="1">
              <a:solidFill>
                <a:srgbClr val="000000"/>
              </a:solidFill>
              <a:cs typeface="Arial"/>
            </a:endParaRPr>
          </a:p>
          <a:p>
            <a:pPr algn="ctr"/>
            <a:r>
              <a:rPr lang="en-US" sz="1000">
                <a:solidFill>
                  <a:srgbClr val="000000"/>
                </a:solidFill>
                <a:cs typeface="Arial"/>
              </a:rPr>
              <a:t>Drives modernization with multi-region, multi-cluster, and advanced service mesh capabilities to enable resilient, scalable, reliable application deployments.</a:t>
            </a:r>
            <a:endParaRPr lang="en-US" sz="1000">
              <a:solidFill>
                <a:srgbClr val="515349"/>
              </a:solidFill>
              <a:cs typeface="Arial"/>
            </a:endParaRPr>
          </a:p>
        </p:txBody>
      </p:sp>
      <p:pic>
        <p:nvPicPr>
          <p:cNvPr id="11" name="Graphic 10" descr="User network with solid fill">
            <a:extLst>
              <a:ext uri="{FF2B5EF4-FFF2-40B4-BE49-F238E27FC236}">
                <a16:creationId xmlns:a16="http://schemas.microsoft.com/office/drawing/2014/main" id="{3612E5FB-D5A3-D7C2-054B-396C1D95E7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95325" y="2114550"/>
            <a:ext cx="457200" cy="457200"/>
          </a:xfrm>
          <a:prstGeom prst="rect">
            <a:avLst/>
          </a:prstGeom>
        </p:spPr>
      </p:pic>
      <p:pic>
        <p:nvPicPr>
          <p:cNvPr id="12" name="Graphic 11" descr="Unlock with solid fill">
            <a:extLst>
              <a:ext uri="{FF2B5EF4-FFF2-40B4-BE49-F238E27FC236}">
                <a16:creationId xmlns:a16="http://schemas.microsoft.com/office/drawing/2014/main" id="{EEEC1D9A-17B7-8C19-4103-FAD65646DF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53000" y="2114550"/>
            <a:ext cx="457200" cy="457200"/>
          </a:xfrm>
          <a:prstGeom prst="rect">
            <a:avLst/>
          </a:prstGeom>
        </p:spPr>
      </p:pic>
      <p:pic>
        <p:nvPicPr>
          <p:cNvPr id="13" name="Graphic 12" descr="Map compass with solid fill">
            <a:extLst>
              <a:ext uri="{FF2B5EF4-FFF2-40B4-BE49-F238E27FC236}">
                <a16:creationId xmlns:a16="http://schemas.microsoft.com/office/drawing/2014/main" id="{9CEFCBF7-C4DD-6110-3443-BF0EBF29F1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58300" y="2114550"/>
            <a:ext cx="457200" cy="457200"/>
          </a:xfrm>
          <a:prstGeom prst="rect">
            <a:avLst/>
          </a:prstGeom>
        </p:spPr>
      </p:pic>
      <p:pic>
        <p:nvPicPr>
          <p:cNvPr id="15" name="Graphic 14" descr="Coins with solid fill">
            <a:extLst>
              <a:ext uri="{FF2B5EF4-FFF2-40B4-BE49-F238E27FC236}">
                <a16:creationId xmlns:a16="http://schemas.microsoft.com/office/drawing/2014/main" id="{FA1BB76F-2CCF-C7AF-64FF-9B4D3287BA1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00600" y="4391025"/>
            <a:ext cx="457200" cy="457200"/>
          </a:xfrm>
          <a:prstGeom prst="rect">
            <a:avLst/>
          </a:prstGeom>
        </p:spPr>
      </p:pic>
      <p:pic>
        <p:nvPicPr>
          <p:cNvPr id="16" name="Graphic 15" descr="Robot with solid fill">
            <a:extLst>
              <a:ext uri="{FF2B5EF4-FFF2-40B4-BE49-F238E27FC236}">
                <a16:creationId xmlns:a16="http://schemas.microsoft.com/office/drawing/2014/main" id="{7F624554-1175-F8F6-AFB5-CFBCCA34F62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58300" y="4352925"/>
            <a:ext cx="457200" cy="457200"/>
          </a:xfrm>
          <a:prstGeom prst="rect">
            <a:avLst/>
          </a:prstGeom>
        </p:spPr>
      </p:pic>
      <p:pic>
        <p:nvPicPr>
          <p:cNvPr id="17" name="Graphic 16" descr="Syncing cloud with solid fill">
            <a:extLst>
              <a:ext uri="{FF2B5EF4-FFF2-40B4-BE49-F238E27FC236}">
                <a16:creationId xmlns:a16="http://schemas.microsoft.com/office/drawing/2014/main" id="{654E088D-FB36-1080-1687-0771EBFB276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90550" y="4352925"/>
            <a:ext cx="457200" cy="457200"/>
          </a:xfrm>
          <a:prstGeom prst="rect">
            <a:avLst/>
          </a:prstGeom>
        </p:spPr>
      </p:pic>
    </p:spTree>
    <p:extLst>
      <p:ext uri="{BB962C8B-B14F-4D97-AF65-F5344CB8AC3E}">
        <p14:creationId xmlns:p14="http://schemas.microsoft.com/office/powerpoint/2010/main" val="3346725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8E179-C2D5-FF05-7856-191F6AE225C8}"/>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1396225A-C246-A176-65B6-82CEB082ADDF}"/>
              </a:ext>
            </a:extLst>
          </p:cNvPr>
          <p:cNvSpPr/>
          <p:nvPr/>
        </p:nvSpPr>
        <p:spPr>
          <a:xfrm>
            <a:off x="6505516" y="2047414"/>
            <a:ext cx="5266228" cy="87479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719D77BE-2FFD-E0D4-D11C-27526D13CE95}"/>
              </a:ext>
            </a:extLst>
          </p:cNvPr>
          <p:cNvSpPr/>
          <p:nvPr/>
        </p:nvSpPr>
        <p:spPr>
          <a:xfrm>
            <a:off x="6505516" y="3063413"/>
            <a:ext cx="5266228" cy="87479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ADBD3B11-A12E-7EFF-53A2-D94FE957C5D2}"/>
              </a:ext>
            </a:extLst>
          </p:cNvPr>
          <p:cNvSpPr/>
          <p:nvPr/>
        </p:nvSpPr>
        <p:spPr>
          <a:xfrm>
            <a:off x="6505516" y="4067866"/>
            <a:ext cx="5266228" cy="87479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81537BA3-5B4B-5289-A120-004ADA675878}"/>
              </a:ext>
            </a:extLst>
          </p:cNvPr>
          <p:cNvSpPr/>
          <p:nvPr/>
        </p:nvSpPr>
        <p:spPr>
          <a:xfrm>
            <a:off x="6505516" y="5083867"/>
            <a:ext cx="5266228" cy="87479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1843D644-3FE7-F8CE-17CF-3F9C1ED97537}"/>
              </a:ext>
            </a:extLst>
          </p:cNvPr>
          <p:cNvSpPr/>
          <p:nvPr/>
        </p:nvSpPr>
        <p:spPr>
          <a:xfrm>
            <a:off x="444153" y="2070505"/>
            <a:ext cx="5266228" cy="87479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8C70EA14-FED7-661C-785C-99F31CA00D5D}"/>
              </a:ext>
            </a:extLst>
          </p:cNvPr>
          <p:cNvSpPr/>
          <p:nvPr/>
        </p:nvSpPr>
        <p:spPr>
          <a:xfrm>
            <a:off x="444153" y="3086504"/>
            <a:ext cx="5266228" cy="87479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82EFFF2A-75B6-A544-FB4C-6C516E99F238}"/>
              </a:ext>
            </a:extLst>
          </p:cNvPr>
          <p:cNvSpPr/>
          <p:nvPr/>
        </p:nvSpPr>
        <p:spPr>
          <a:xfrm>
            <a:off x="444153" y="4090957"/>
            <a:ext cx="5266228" cy="87479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53BD6E5F-BDAB-D2FE-583F-13EAFE3FEFBA}"/>
              </a:ext>
            </a:extLst>
          </p:cNvPr>
          <p:cNvSpPr/>
          <p:nvPr/>
        </p:nvSpPr>
        <p:spPr>
          <a:xfrm>
            <a:off x="444153" y="5106958"/>
            <a:ext cx="5266228" cy="87479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8B8CF0-CC78-488B-0CE8-DD2E2422B4E5}"/>
              </a:ext>
            </a:extLst>
          </p:cNvPr>
          <p:cNvSpPr>
            <a:spLocks noGrp="1"/>
          </p:cNvSpPr>
          <p:nvPr>
            <p:ph type="title"/>
          </p:nvPr>
        </p:nvSpPr>
        <p:spPr/>
        <p:txBody>
          <a:bodyPr vert="horz" lIns="0" tIns="0" rIns="0" bIns="0" rtlCol="0" anchor="t">
            <a:normAutofit fontScale="90000"/>
          </a:bodyPr>
          <a:lstStyle/>
          <a:p>
            <a:r>
              <a:rPr lang="en-US">
                <a:cs typeface="Arial"/>
              </a:rPr>
              <a:t>Strategic Focus Areas and 2027 Cloud Transformation Opportunities</a:t>
            </a:r>
          </a:p>
        </p:txBody>
      </p:sp>
      <p:sp>
        <p:nvSpPr>
          <p:cNvPr id="4" name="Footer Placeholder 3">
            <a:extLst>
              <a:ext uri="{FF2B5EF4-FFF2-40B4-BE49-F238E27FC236}">
                <a16:creationId xmlns:a16="http://schemas.microsoft.com/office/drawing/2014/main" id="{8ED1F042-A3BD-34F3-C73E-77FB80F50C39}"/>
              </a:ext>
            </a:extLst>
          </p:cNvPr>
          <p:cNvSpPr>
            <a:spLocks noGrp="1"/>
          </p:cNvSpPr>
          <p:nvPr>
            <p:ph type="ftr" sz="quarter" idx="11"/>
          </p:nvPr>
        </p:nvSpPr>
        <p:spPr/>
        <p:txBody>
          <a:bodyPr/>
          <a:lstStyle/>
          <a:p>
            <a:r>
              <a:rPr lang="en-CA"/>
              <a:t>CONFIDENTIAL</a:t>
            </a:r>
          </a:p>
        </p:txBody>
      </p:sp>
      <p:sp>
        <p:nvSpPr>
          <p:cNvPr id="5" name="Date Placeholder 4">
            <a:extLst>
              <a:ext uri="{FF2B5EF4-FFF2-40B4-BE49-F238E27FC236}">
                <a16:creationId xmlns:a16="http://schemas.microsoft.com/office/drawing/2014/main" id="{F8F07790-7F7F-AC6D-CF9F-268B9FEF8352}"/>
              </a:ext>
            </a:extLst>
          </p:cNvPr>
          <p:cNvSpPr>
            <a:spLocks noGrp="1"/>
          </p:cNvSpPr>
          <p:nvPr>
            <p:ph type="dt" sz="half" idx="13"/>
          </p:nvPr>
        </p:nvSpPr>
        <p:spPr/>
        <p:txBody>
          <a:bodyPr/>
          <a:lstStyle/>
          <a:p>
            <a:fld id="{DFC179E5-4269-44D4-A984-C57F7029D15D}" type="datetime1">
              <a:rPr lang="en-US" smtClean="0"/>
              <a:t>7/31/2026</a:t>
            </a:fld>
            <a:endParaRPr lang="en-CA"/>
          </a:p>
        </p:txBody>
      </p:sp>
      <p:sp>
        <p:nvSpPr>
          <p:cNvPr id="6" name="Rectangle 5">
            <a:extLst>
              <a:ext uri="{FF2B5EF4-FFF2-40B4-BE49-F238E27FC236}">
                <a16:creationId xmlns:a16="http://schemas.microsoft.com/office/drawing/2014/main" id="{CC25B1DB-ECB6-FD99-1683-F11C70B79039}"/>
              </a:ext>
            </a:extLst>
          </p:cNvPr>
          <p:cNvSpPr>
            <a:spLocks/>
          </p:cNvSpPr>
          <p:nvPr/>
        </p:nvSpPr>
        <p:spPr>
          <a:xfrm>
            <a:off x="400303" y="1456932"/>
            <a:ext cx="5349561" cy="4657618"/>
          </a:xfrm>
          <a:prstGeom prst="rect">
            <a:avLst/>
          </a:prstGeom>
          <a:noFill/>
          <a:ln w="6350" cap="sq" cmpd="sng" algn="ctr">
            <a:solidFill>
              <a:srgbClr val="BA0C2F"/>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a:ea typeface="+mn-ea"/>
              <a:cs typeface="+mn-cs"/>
            </a:endParaRPr>
          </a:p>
        </p:txBody>
      </p:sp>
      <p:sp>
        <p:nvSpPr>
          <p:cNvPr id="7" name="Rectangle 6">
            <a:extLst>
              <a:ext uri="{FF2B5EF4-FFF2-40B4-BE49-F238E27FC236}">
                <a16:creationId xmlns:a16="http://schemas.microsoft.com/office/drawing/2014/main" id="{66880B28-D047-6ADD-5434-7B4E237EC0FE}"/>
              </a:ext>
            </a:extLst>
          </p:cNvPr>
          <p:cNvSpPr>
            <a:spLocks/>
          </p:cNvSpPr>
          <p:nvPr/>
        </p:nvSpPr>
        <p:spPr>
          <a:xfrm>
            <a:off x="453505" y="1518659"/>
            <a:ext cx="5233544" cy="396628"/>
          </a:xfrm>
          <a:prstGeom prst="rect">
            <a:avLst/>
          </a:prstGeom>
          <a:solidFill>
            <a:srgbClr val="BA0C2F"/>
          </a:solidFill>
          <a:ln w="6350" cap="sq"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300"/>
              </a:spcBef>
              <a:spcAft>
                <a:spcPts val="300"/>
              </a:spcAft>
              <a:defRPr/>
            </a:pPr>
            <a:r>
              <a:rPr lang="en-US" sz="1500" b="1" kern="0">
                <a:solidFill>
                  <a:srgbClr val="FFFFFF"/>
                </a:solidFill>
                <a:latin typeface="Arial"/>
              </a:rPr>
              <a:t>Strategic Focus Areas</a:t>
            </a:r>
            <a:endParaRPr lang="en-US">
              <a:cs typeface="Arial" panose="020B0604020202020204"/>
            </a:endParaRPr>
          </a:p>
        </p:txBody>
      </p:sp>
      <p:grpSp>
        <p:nvGrpSpPr>
          <p:cNvPr id="13" name="Group 12">
            <a:extLst>
              <a:ext uri="{FF2B5EF4-FFF2-40B4-BE49-F238E27FC236}">
                <a16:creationId xmlns:a16="http://schemas.microsoft.com/office/drawing/2014/main" id="{E066E800-95F4-2EAC-B15A-62E1DC6C72B8}"/>
              </a:ext>
            </a:extLst>
          </p:cNvPr>
          <p:cNvGrpSpPr/>
          <p:nvPr/>
        </p:nvGrpSpPr>
        <p:grpSpPr>
          <a:xfrm>
            <a:off x="6433199" y="1456931"/>
            <a:ext cx="5338016" cy="4657618"/>
            <a:chOff x="527304" y="1168296"/>
            <a:chExt cx="5349561" cy="4957799"/>
          </a:xfrm>
        </p:grpSpPr>
        <p:sp>
          <p:nvSpPr>
            <p:cNvPr id="14" name="Rectangle 13">
              <a:extLst>
                <a:ext uri="{FF2B5EF4-FFF2-40B4-BE49-F238E27FC236}">
                  <a16:creationId xmlns:a16="http://schemas.microsoft.com/office/drawing/2014/main" id="{0673D743-4079-0F9A-FF6E-D7530AFEFC87}"/>
                </a:ext>
              </a:extLst>
            </p:cNvPr>
            <p:cNvSpPr>
              <a:spLocks/>
            </p:cNvSpPr>
            <p:nvPr/>
          </p:nvSpPr>
          <p:spPr>
            <a:xfrm>
              <a:off x="527304" y="1168296"/>
              <a:ext cx="5349561" cy="4957799"/>
            </a:xfrm>
            <a:prstGeom prst="rect">
              <a:avLst/>
            </a:prstGeom>
            <a:noFill/>
            <a:ln w="6350" cap="sq" cmpd="sng" algn="ctr">
              <a:solidFill>
                <a:srgbClr val="BA0C2F"/>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a:ea typeface="+mn-ea"/>
                <a:cs typeface="+mn-cs"/>
              </a:endParaRPr>
            </a:p>
          </p:txBody>
        </p:sp>
        <p:sp>
          <p:nvSpPr>
            <p:cNvPr id="15" name="Rectangle 14">
              <a:extLst>
                <a:ext uri="{FF2B5EF4-FFF2-40B4-BE49-F238E27FC236}">
                  <a16:creationId xmlns:a16="http://schemas.microsoft.com/office/drawing/2014/main" id="{8F7267DB-BC21-12EA-C07C-951274FF8EB0}"/>
                </a:ext>
              </a:extLst>
            </p:cNvPr>
            <p:cNvSpPr>
              <a:spLocks/>
            </p:cNvSpPr>
            <p:nvPr/>
          </p:nvSpPr>
          <p:spPr>
            <a:xfrm>
              <a:off x="580506" y="1234001"/>
              <a:ext cx="5233544" cy="422190"/>
            </a:xfrm>
            <a:prstGeom prst="rect">
              <a:avLst/>
            </a:prstGeom>
            <a:solidFill>
              <a:srgbClr val="BA0C2F"/>
            </a:solidFill>
            <a:ln w="6350" cap="sq"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300"/>
                </a:spcBef>
                <a:spcAft>
                  <a:spcPts val="300"/>
                </a:spcAft>
                <a:defRPr/>
              </a:pPr>
              <a:r>
                <a:rPr lang="en-US" sz="1500" b="1" kern="0">
                  <a:solidFill>
                    <a:srgbClr val="FFFFFF"/>
                  </a:solidFill>
                  <a:latin typeface="Arial"/>
                </a:rPr>
                <a:t>Transformation Opportunities</a:t>
              </a:r>
              <a:endParaRPr lang="en-US"/>
            </a:p>
          </p:txBody>
        </p:sp>
      </p:grpSp>
      <p:grpSp>
        <p:nvGrpSpPr>
          <p:cNvPr id="16" name="Group 15">
            <a:extLst>
              <a:ext uri="{FF2B5EF4-FFF2-40B4-BE49-F238E27FC236}">
                <a16:creationId xmlns:a16="http://schemas.microsoft.com/office/drawing/2014/main" id="{9494CC4C-9B48-29D6-C6AC-9DDA4055F0A0}"/>
              </a:ext>
            </a:extLst>
          </p:cNvPr>
          <p:cNvGrpSpPr>
            <a:grpSpLocks/>
          </p:cNvGrpSpPr>
          <p:nvPr/>
        </p:nvGrpSpPr>
        <p:grpSpPr>
          <a:xfrm>
            <a:off x="6112496" y="3595357"/>
            <a:ext cx="0" cy="692497"/>
            <a:chOff x="5977904" y="3626672"/>
            <a:chExt cx="0" cy="692497"/>
          </a:xfrm>
        </p:grpSpPr>
        <p:cxnSp>
          <p:nvCxnSpPr>
            <p:cNvPr id="17" name="Straight Connector 16">
              <a:extLst>
                <a:ext uri="{FF2B5EF4-FFF2-40B4-BE49-F238E27FC236}">
                  <a16:creationId xmlns:a16="http://schemas.microsoft.com/office/drawing/2014/main" id="{C6A1E29E-AEB4-E340-7D97-4868205F8023}"/>
                </a:ext>
              </a:extLst>
            </p:cNvPr>
            <p:cNvCxnSpPr>
              <a:cxnSpLocks/>
            </p:cNvCxnSpPr>
            <p:nvPr/>
          </p:nvCxnSpPr>
          <p:spPr>
            <a:xfrm>
              <a:off x="5977904" y="3626672"/>
              <a:ext cx="0" cy="692497"/>
            </a:xfrm>
            <a:prstGeom prst="line">
              <a:avLst/>
            </a:prstGeom>
            <a:noFill/>
            <a:ln w="6350" cap="flat" cmpd="sng" algn="ctr">
              <a:solidFill>
                <a:srgbClr val="FFFFFF">
                  <a:lumMod val="75000"/>
                </a:srgbClr>
              </a:solidFill>
              <a:prstDash val="sysDot"/>
              <a:miter lim="800000"/>
              <a:tailEnd type="none"/>
            </a:ln>
            <a:effectLst/>
          </p:spPr>
        </p:cxnSp>
        <p:grpSp>
          <p:nvGrpSpPr>
            <p:cNvPr id="18" name="Group 17">
              <a:extLst>
                <a:ext uri="{FF2B5EF4-FFF2-40B4-BE49-F238E27FC236}">
                  <a16:creationId xmlns:a16="http://schemas.microsoft.com/office/drawing/2014/main" id="{D574783D-5086-2E99-9C87-9C76815D9558}"/>
                </a:ext>
              </a:extLst>
            </p:cNvPr>
            <p:cNvGrpSpPr>
              <a:grpSpLocks noChangeAspect="1"/>
            </p:cNvGrpSpPr>
            <p:nvPr/>
          </p:nvGrpSpPr>
          <p:grpSpPr>
            <a:xfrm>
              <a:off x="5844711" y="3839164"/>
              <a:ext cx="266386" cy="267512"/>
              <a:chOff x="5844711" y="3839164"/>
              <a:chExt cx="327227" cy="328609"/>
            </a:xfrm>
          </p:grpSpPr>
          <p:sp>
            <p:nvSpPr>
              <p:cNvPr id="19" name="Oval 18">
                <a:extLst>
                  <a:ext uri="{FF2B5EF4-FFF2-40B4-BE49-F238E27FC236}">
                    <a16:creationId xmlns:a16="http://schemas.microsoft.com/office/drawing/2014/main" id="{A940A11C-0111-C3A8-15A0-9E2724C30CAF}"/>
                  </a:ext>
                </a:extLst>
              </p:cNvPr>
              <p:cNvSpPr>
                <a:spLocks noChangeAspect="1"/>
              </p:cNvSpPr>
              <p:nvPr/>
            </p:nvSpPr>
            <p:spPr>
              <a:xfrm>
                <a:off x="5844711" y="3839164"/>
                <a:ext cx="327227" cy="328609"/>
              </a:xfrm>
              <a:prstGeom prst="ellipse">
                <a:avLst/>
              </a:prstGeom>
              <a:solidFill>
                <a:srgbClr val="FFFFFF"/>
              </a:solidFill>
              <a:ln>
                <a:solidFill>
                  <a:srgbClr val="BA0C2F"/>
                </a:solidFill>
              </a:ln>
            </p:spPr>
            <p:txBody>
              <a:bodyPr wrap="square" tIns="91440" bIns="91440" rtlCol="0" anchor="ctr">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800"/>
                  </a:spcBef>
                  <a:spcAft>
                    <a:spcPts val="0"/>
                  </a:spcAft>
                  <a:buClrTx/>
                  <a:buSzTx/>
                  <a:buFontTx/>
                  <a:buNone/>
                  <a:tabLst/>
                  <a:defRPr/>
                </a:pPr>
                <a:endParaRPr kumimoji="0" lang="en-US" sz="1100" b="1" i="0" u="none" strike="noStrike" kern="0" cap="none" spc="0" normalizeH="0" baseline="0" noProof="0">
                  <a:ln>
                    <a:noFill/>
                  </a:ln>
                  <a:solidFill>
                    <a:prstClr val="white"/>
                  </a:solidFill>
                  <a:effectLst/>
                  <a:uLnTx/>
                  <a:uFillTx/>
                  <a:latin typeface="Arial" panose="020B0604020202020204"/>
                  <a:ea typeface="+mn-ea"/>
                  <a:cs typeface="+mn-cs"/>
                </a:endParaRPr>
              </a:p>
            </p:txBody>
          </p:sp>
          <p:grpSp>
            <p:nvGrpSpPr>
              <p:cNvPr id="20" name="Group 19">
                <a:extLst>
                  <a:ext uri="{FF2B5EF4-FFF2-40B4-BE49-F238E27FC236}">
                    <a16:creationId xmlns:a16="http://schemas.microsoft.com/office/drawing/2014/main" id="{93E77633-692C-3055-3226-D4971EE45511}"/>
                  </a:ext>
                </a:extLst>
              </p:cNvPr>
              <p:cNvGrpSpPr>
                <a:grpSpLocks/>
              </p:cNvGrpSpPr>
              <p:nvPr/>
            </p:nvGrpSpPr>
            <p:grpSpPr>
              <a:xfrm>
                <a:off x="5913271" y="3920125"/>
                <a:ext cx="190106" cy="166687"/>
                <a:chOff x="5913271" y="3920125"/>
                <a:chExt cx="190106" cy="166687"/>
              </a:xfrm>
            </p:grpSpPr>
            <p:sp>
              <p:nvSpPr>
                <p:cNvPr id="21" name="Arrow: Chevron 20">
                  <a:extLst>
                    <a:ext uri="{FF2B5EF4-FFF2-40B4-BE49-F238E27FC236}">
                      <a16:creationId xmlns:a16="http://schemas.microsoft.com/office/drawing/2014/main" id="{022452C6-EE7A-666D-D332-7541B7CD4738}"/>
                    </a:ext>
                  </a:extLst>
                </p:cNvPr>
                <p:cNvSpPr>
                  <a:spLocks/>
                </p:cNvSpPr>
                <p:nvPr/>
              </p:nvSpPr>
              <p:spPr>
                <a:xfrm>
                  <a:off x="5972408" y="3920125"/>
                  <a:ext cx="130969" cy="166687"/>
                </a:xfrm>
                <a:prstGeom prst="chevron">
                  <a:avLst/>
                </a:prstGeom>
                <a:solidFill>
                  <a:srgbClr val="BA0C2F"/>
                </a:solidFill>
              </p:spPr>
              <p:txBody>
                <a:bodyPr wrap="square" tIns="91440" bIns="91440" rtlCol="0" anchor="ctr">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800"/>
                    </a:spcBef>
                    <a:spcAft>
                      <a:spcPts val="0"/>
                    </a:spcAft>
                    <a:buClrTx/>
                    <a:buSzTx/>
                    <a:buFontTx/>
                    <a:buNone/>
                    <a:tabLst/>
                    <a:defRPr/>
                  </a:pPr>
                  <a:endParaRPr kumimoji="0" lang="en-US" sz="11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22" name="Arrow: Chevron 21">
                  <a:extLst>
                    <a:ext uri="{FF2B5EF4-FFF2-40B4-BE49-F238E27FC236}">
                      <a16:creationId xmlns:a16="http://schemas.microsoft.com/office/drawing/2014/main" id="{82082AC1-4643-7A5C-66DA-453D743C9644}"/>
                    </a:ext>
                  </a:extLst>
                </p:cNvPr>
                <p:cNvSpPr>
                  <a:spLocks/>
                </p:cNvSpPr>
                <p:nvPr/>
              </p:nvSpPr>
              <p:spPr>
                <a:xfrm>
                  <a:off x="5913271" y="3954062"/>
                  <a:ext cx="94463" cy="96432"/>
                </a:xfrm>
                <a:prstGeom prst="chevron">
                  <a:avLst/>
                </a:prstGeom>
                <a:solidFill>
                  <a:srgbClr val="BA0C2F"/>
                </a:solidFill>
              </p:spPr>
              <p:txBody>
                <a:bodyPr wrap="square" tIns="91440" bIns="91440" rtlCol="0" anchor="ctr">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800"/>
                    </a:spcBef>
                    <a:spcAft>
                      <a:spcPts val="0"/>
                    </a:spcAft>
                    <a:buClrTx/>
                    <a:buSzTx/>
                    <a:buFontTx/>
                    <a:buNone/>
                    <a:tabLst/>
                    <a:defRPr/>
                  </a:pPr>
                  <a:endParaRPr kumimoji="0" lang="en-US" sz="1100" b="0" i="0" u="none" strike="noStrike" kern="0" cap="none" spc="0" normalizeH="0" baseline="0" noProof="0">
                    <a:ln>
                      <a:noFill/>
                    </a:ln>
                    <a:solidFill>
                      <a:prstClr val="white"/>
                    </a:solidFill>
                    <a:effectLst/>
                    <a:uLnTx/>
                    <a:uFillTx/>
                    <a:latin typeface="Arial" panose="020B0604020202020204"/>
                    <a:ea typeface="+mn-ea"/>
                    <a:cs typeface="+mn-cs"/>
                  </a:endParaRPr>
                </a:p>
              </p:txBody>
            </p:sp>
          </p:grpSp>
        </p:grpSp>
      </p:grpSp>
      <p:pic>
        <p:nvPicPr>
          <p:cNvPr id="23" name="Graphic 110609">
            <a:extLst>
              <a:ext uri="{FF2B5EF4-FFF2-40B4-BE49-F238E27FC236}">
                <a16:creationId xmlns:a16="http://schemas.microsoft.com/office/drawing/2014/main" id="{B9A15DF6-362C-10CB-A7FC-28820F2E1BA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74624" y="1556447"/>
            <a:ext cx="333693" cy="333693"/>
          </a:xfrm>
          <a:prstGeom prst="rect">
            <a:avLst/>
          </a:prstGeom>
        </p:spPr>
      </p:pic>
      <p:pic>
        <p:nvPicPr>
          <p:cNvPr id="24" name="Graphic 110611">
            <a:extLst>
              <a:ext uri="{FF2B5EF4-FFF2-40B4-BE49-F238E27FC236}">
                <a16:creationId xmlns:a16="http://schemas.microsoft.com/office/drawing/2014/main" id="{5F444F58-3C11-58FD-BDF4-5DB7006F0D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7678" y="1558470"/>
            <a:ext cx="333693" cy="333693"/>
          </a:xfrm>
          <a:prstGeom prst="rect">
            <a:avLst/>
          </a:prstGeom>
        </p:spPr>
      </p:pic>
      <p:sp>
        <p:nvSpPr>
          <p:cNvPr id="26" name="TextBox 25">
            <a:extLst>
              <a:ext uri="{FF2B5EF4-FFF2-40B4-BE49-F238E27FC236}">
                <a16:creationId xmlns:a16="http://schemas.microsoft.com/office/drawing/2014/main" id="{FD439DA3-85FB-0CB4-3139-B7416EF866DB}"/>
              </a:ext>
            </a:extLst>
          </p:cNvPr>
          <p:cNvSpPr txBox="1"/>
          <p:nvPr/>
        </p:nvSpPr>
        <p:spPr>
          <a:xfrm>
            <a:off x="7255811" y="2345001"/>
            <a:ext cx="4423838" cy="402674"/>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cs typeface="Arial"/>
              </a:rPr>
              <a:t>Strengthen Platform Connectivity and Resilience</a:t>
            </a:r>
          </a:p>
          <a:p>
            <a:pPr marL="171450" indent="-171450">
              <a:spcAft>
                <a:spcPts val="500"/>
              </a:spcAft>
              <a:buFont typeface="Wingdings"/>
              <a:buChar char="ü"/>
            </a:pPr>
            <a:r>
              <a:rPr lang="en-US" sz="1000">
                <a:solidFill>
                  <a:srgbClr val="000000"/>
                </a:solidFill>
                <a:cs typeface="Arial"/>
              </a:rPr>
              <a:t>Improves service reliability, recovery speed and customer experience</a:t>
            </a:r>
          </a:p>
        </p:txBody>
      </p:sp>
      <p:sp>
        <p:nvSpPr>
          <p:cNvPr id="28" name="Oval 27">
            <a:extLst>
              <a:ext uri="{FF2B5EF4-FFF2-40B4-BE49-F238E27FC236}">
                <a16:creationId xmlns:a16="http://schemas.microsoft.com/office/drawing/2014/main" id="{4129F173-BBBD-8FC4-496D-E2BBE98B2705}"/>
              </a:ext>
            </a:extLst>
          </p:cNvPr>
          <p:cNvSpPr/>
          <p:nvPr/>
        </p:nvSpPr>
        <p:spPr>
          <a:xfrm>
            <a:off x="6604613" y="2309394"/>
            <a:ext cx="493837" cy="466402"/>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cs typeface="Arial"/>
              </a:rPr>
              <a:t>1</a:t>
            </a:r>
          </a:p>
        </p:txBody>
      </p:sp>
      <p:sp>
        <p:nvSpPr>
          <p:cNvPr id="30" name="TextBox 29">
            <a:extLst>
              <a:ext uri="{FF2B5EF4-FFF2-40B4-BE49-F238E27FC236}">
                <a16:creationId xmlns:a16="http://schemas.microsoft.com/office/drawing/2014/main" id="{894188B5-F206-27D1-37C9-74FE7986AA8F}"/>
              </a:ext>
            </a:extLst>
          </p:cNvPr>
          <p:cNvSpPr txBox="1"/>
          <p:nvPr/>
        </p:nvSpPr>
        <p:spPr>
          <a:xfrm>
            <a:off x="7255810" y="3318514"/>
            <a:ext cx="4423838" cy="402674"/>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ea typeface="+mn-lt"/>
                <a:cs typeface="+mn-lt"/>
              </a:rPr>
              <a:t>Elevate Security and Governance Posture</a:t>
            </a:r>
          </a:p>
          <a:p>
            <a:pPr marL="171450" indent="-171450">
              <a:spcAft>
                <a:spcPts val="500"/>
              </a:spcAft>
              <a:buFont typeface="Wingdings"/>
              <a:buChar char="ü"/>
            </a:pPr>
            <a:r>
              <a:rPr lang="en-US" sz="1000">
                <a:solidFill>
                  <a:srgbClr val="000000"/>
                </a:solidFill>
                <a:cs typeface="Arial"/>
              </a:rPr>
              <a:t>Enables Stronger Security Posture and Compliance Readiness</a:t>
            </a:r>
          </a:p>
        </p:txBody>
      </p:sp>
      <p:sp>
        <p:nvSpPr>
          <p:cNvPr id="32" name="Oval 31">
            <a:extLst>
              <a:ext uri="{FF2B5EF4-FFF2-40B4-BE49-F238E27FC236}">
                <a16:creationId xmlns:a16="http://schemas.microsoft.com/office/drawing/2014/main" id="{1AAF0FBC-A38C-3512-5FF5-91BE065BD761}"/>
              </a:ext>
            </a:extLst>
          </p:cNvPr>
          <p:cNvSpPr/>
          <p:nvPr/>
        </p:nvSpPr>
        <p:spPr>
          <a:xfrm>
            <a:off x="6604612" y="3292432"/>
            <a:ext cx="493837" cy="466402"/>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cs typeface="Arial"/>
              </a:rPr>
              <a:t>2</a:t>
            </a:r>
          </a:p>
        </p:txBody>
      </p:sp>
      <p:sp>
        <p:nvSpPr>
          <p:cNvPr id="34" name="TextBox 33">
            <a:extLst>
              <a:ext uri="{FF2B5EF4-FFF2-40B4-BE49-F238E27FC236}">
                <a16:creationId xmlns:a16="http://schemas.microsoft.com/office/drawing/2014/main" id="{29BDF255-6F92-BC19-389E-F7EF37FB9695}"/>
              </a:ext>
            </a:extLst>
          </p:cNvPr>
          <p:cNvSpPr txBox="1"/>
          <p:nvPr/>
        </p:nvSpPr>
        <p:spPr>
          <a:xfrm>
            <a:off x="7255810" y="4297799"/>
            <a:ext cx="4191975" cy="402674"/>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ea typeface="+mn-lt"/>
                <a:cs typeface="+mn-lt"/>
              </a:rPr>
              <a:t>Automate for Operational Efficiency</a:t>
            </a:r>
          </a:p>
          <a:p>
            <a:pPr marL="171450" indent="-171450">
              <a:spcAft>
                <a:spcPts val="500"/>
              </a:spcAft>
              <a:buFont typeface="Wingdings"/>
              <a:buChar char="ü"/>
            </a:pPr>
            <a:r>
              <a:rPr lang="en-US" sz="1000">
                <a:solidFill>
                  <a:srgbClr val="000000"/>
                </a:solidFill>
                <a:cs typeface="Arial"/>
              </a:rPr>
              <a:t>Accelerates delivery, enhances agility and reduces operational friction</a:t>
            </a:r>
            <a:endParaRPr lang="en-US" sz="1000">
              <a:cs typeface="Arial"/>
            </a:endParaRPr>
          </a:p>
        </p:txBody>
      </p:sp>
      <p:sp>
        <p:nvSpPr>
          <p:cNvPr id="36" name="Oval 35">
            <a:extLst>
              <a:ext uri="{FF2B5EF4-FFF2-40B4-BE49-F238E27FC236}">
                <a16:creationId xmlns:a16="http://schemas.microsoft.com/office/drawing/2014/main" id="{FDA863F3-F745-32D9-7D54-68A70A981807}"/>
              </a:ext>
            </a:extLst>
          </p:cNvPr>
          <p:cNvSpPr/>
          <p:nvPr/>
        </p:nvSpPr>
        <p:spPr>
          <a:xfrm>
            <a:off x="6604612" y="4252668"/>
            <a:ext cx="493837" cy="466402"/>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cs typeface="Arial"/>
              </a:rPr>
              <a:t>3</a:t>
            </a:r>
          </a:p>
        </p:txBody>
      </p:sp>
      <p:sp>
        <p:nvSpPr>
          <p:cNvPr id="38" name="TextBox 37">
            <a:extLst>
              <a:ext uri="{FF2B5EF4-FFF2-40B4-BE49-F238E27FC236}">
                <a16:creationId xmlns:a16="http://schemas.microsoft.com/office/drawing/2014/main" id="{106A8F7F-89DB-F5CB-7630-478DD4F71927}"/>
              </a:ext>
            </a:extLst>
          </p:cNvPr>
          <p:cNvSpPr txBox="1"/>
          <p:nvPr/>
        </p:nvSpPr>
        <p:spPr>
          <a:xfrm>
            <a:off x="7255810" y="5354439"/>
            <a:ext cx="4191975" cy="402674"/>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ea typeface="+mn-lt"/>
                <a:cs typeface="+mn-lt"/>
              </a:rPr>
              <a:t>Optimize Cost and Observability Insights</a:t>
            </a:r>
          </a:p>
          <a:p>
            <a:pPr marL="171450" indent="-171450">
              <a:spcAft>
                <a:spcPts val="500"/>
              </a:spcAft>
              <a:buFont typeface="Wingdings"/>
              <a:buChar char="ü"/>
            </a:pPr>
            <a:r>
              <a:rPr lang="en-US" sz="1000">
                <a:solidFill>
                  <a:srgbClr val="000000"/>
                </a:solidFill>
                <a:cs typeface="Arial"/>
              </a:rPr>
              <a:t>Reduces TCO and Improves Financial Visibility</a:t>
            </a:r>
          </a:p>
        </p:txBody>
      </p:sp>
      <p:sp>
        <p:nvSpPr>
          <p:cNvPr id="40" name="Oval 39">
            <a:extLst>
              <a:ext uri="{FF2B5EF4-FFF2-40B4-BE49-F238E27FC236}">
                <a16:creationId xmlns:a16="http://schemas.microsoft.com/office/drawing/2014/main" id="{2941309E-A218-DC61-63AA-51280F959A5E}"/>
              </a:ext>
            </a:extLst>
          </p:cNvPr>
          <p:cNvSpPr/>
          <p:nvPr/>
        </p:nvSpPr>
        <p:spPr>
          <a:xfrm>
            <a:off x="6604612" y="5290257"/>
            <a:ext cx="493837" cy="466402"/>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cs typeface="Arial"/>
              </a:rPr>
              <a:t>4</a:t>
            </a:r>
          </a:p>
        </p:txBody>
      </p:sp>
      <p:pic>
        <p:nvPicPr>
          <p:cNvPr id="41" name="Graphic 40" descr="Bar graph with upward trend outline">
            <a:extLst>
              <a:ext uri="{FF2B5EF4-FFF2-40B4-BE49-F238E27FC236}">
                <a16:creationId xmlns:a16="http://schemas.microsoft.com/office/drawing/2014/main" id="{3393BF3F-FE1C-E687-96B8-067B075C21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9266" y="5218557"/>
            <a:ext cx="752764" cy="810491"/>
          </a:xfrm>
          <a:prstGeom prst="rect">
            <a:avLst/>
          </a:prstGeom>
        </p:spPr>
      </p:pic>
      <p:pic>
        <p:nvPicPr>
          <p:cNvPr id="42" name="Graphic 41" descr="Single gear outline">
            <a:extLst>
              <a:ext uri="{FF2B5EF4-FFF2-40B4-BE49-F238E27FC236}">
                <a16:creationId xmlns:a16="http://schemas.microsoft.com/office/drawing/2014/main" id="{328F777D-BC2B-5D22-D14F-0E44CAABD56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9266" y="4211568"/>
            <a:ext cx="764310" cy="683491"/>
          </a:xfrm>
          <a:prstGeom prst="rect">
            <a:avLst/>
          </a:prstGeom>
        </p:spPr>
      </p:pic>
      <p:pic>
        <p:nvPicPr>
          <p:cNvPr id="43" name="Graphic 42" descr="Shield Tick outline">
            <a:extLst>
              <a:ext uri="{FF2B5EF4-FFF2-40B4-BE49-F238E27FC236}">
                <a16:creationId xmlns:a16="http://schemas.microsoft.com/office/drawing/2014/main" id="{29CE28B9-CCC8-BCD2-92FF-90B4EB49C30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9266" y="3155269"/>
            <a:ext cx="764309" cy="706583"/>
          </a:xfrm>
          <a:prstGeom prst="rect">
            <a:avLst/>
          </a:prstGeom>
        </p:spPr>
      </p:pic>
      <p:pic>
        <p:nvPicPr>
          <p:cNvPr id="44" name="Graphic 43" descr="Cloud outline">
            <a:extLst>
              <a:ext uri="{FF2B5EF4-FFF2-40B4-BE49-F238E27FC236}">
                <a16:creationId xmlns:a16="http://schemas.microsoft.com/office/drawing/2014/main" id="{E2ED7E52-2298-C06A-FD8D-6C789EFB436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9266" y="2093447"/>
            <a:ext cx="752764" cy="798946"/>
          </a:xfrm>
          <a:prstGeom prst="rect">
            <a:avLst/>
          </a:prstGeom>
        </p:spPr>
      </p:pic>
      <p:sp>
        <p:nvSpPr>
          <p:cNvPr id="47" name="TextBox 46">
            <a:extLst>
              <a:ext uri="{FF2B5EF4-FFF2-40B4-BE49-F238E27FC236}">
                <a16:creationId xmlns:a16="http://schemas.microsoft.com/office/drawing/2014/main" id="{1285E4CB-A00F-8B1C-2AE1-5F433B3C4B4D}"/>
              </a:ext>
            </a:extLst>
          </p:cNvPr>
          <p:cNvSpPr txBox="1"/>
          <p:nvPr/>
        </p:nvSpPr>
        <p:spPr>
          <a:xfrm>
            <a:off x="1775675" y="2203360"/>
            <a:ext cx="3995866" cy="620683"/>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ea typeface="+mn-lt"/>
                <a:cs typeface="+mn-lt"/>
              </a:rPr>
              <a:t>Platform Resilience and Connectivity</a:t>
            </a:r>
          </a:p>
          <a:p>
            <a:pPr marL="171450" indent="-171450">
              <a:spcAft>
                <a:spcPts val="500"/>
              </a:spcAft>
              <a:buFont typeface="Wingdings"/>
              <a:buChar char="q"/>
            </a:pPr>
            <a:r>
              <a:rPr lang="en-US" sz="1000">
                <a:solidFill>
                  <a:srgbClr val="000000"/>
                </a:solidFill>
                <a:cs typeface="Arial"/>
              </a:rPr>
              <a:t>Strengthen inter-region and multi-cloud connectivity</a:t>
            </a:r>
          </a:p>
          <a:p>
            <a:pPr marL="171450" indent="-171450">
              <a:spcAft>
                <a:spcPts val="500"/>
              </a:spcAft>
              <a:buFont typeface="Wingdings"/>
              <a:buChar char="q"/>
            </a:pPr>
            <a:r>
              <a:rPr lang="en-US" sz="1000">
                <a:solidFill>
                  <a:srgbClr val="000000"/>
                </a:solidFill>
                <a:cs typeface="Arial"/>
              </a:rPr>
              <a:t>Improve platform reliability and disaster recovery resilience</a:t>
            </a:r>
          </a:p>
        </p:txBody>
      </p:sp>
      <p:sp>
        <p:nvSpPr>
          <p:cNvPr id="51" name="TextBox 50">
            <a:extLst>
              <a:ext uri="{FF2B5EF4-FFF2-40B4-BE49-F238E27FC236}">
                <a16:creationId xmlns:a16="http://schemas.microsoft.com/office/drawing/2014/main" id="{86C78562-CDA8-8CE1-F6AB-C0A79E3600B2}"/>
              </a:ext>
            </a:extLst>
          </p:cNvPr>
          <p:cNvSpPr txBox="1"/>
          <p:nvPr/>
        </p:nvSpPr>
        <p:spPr>
          <a:xfrm>
            <a:off x="1775673" y="3195486"/>
            <a:ext cx="3974989" cy="620683"/>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ea typeface="+mn-lt"/>
                <a:cs typeface="+mn-lt"/>
              </a:rPr>
              <a:t>Security and Governance</a:t>
            </a:r>
            <a:endParaRPr lang="en-US">
              <a:solidFill>
                <a:srgbClr val="000000"/>
              </a:solidFill>
              <a:ea typeface="+mn-lt"/>
              <a:cs typeface="+mn-lt"/>
            </a:endParaRPr>
          </a:p>
          <a:p>
            <a:pPr marL="171450" indent="-171450">
              <a:spcAft>
                <a:spcPts val="500"/>
              </a:spcAft>
              <a:buFont typeface="Wingdings"/>
              <a:buChar char="q"/>
            </a:pPr>
            <a:r>
              <a:rPr lang="en-US" sz="1000">
                <a:solidFill>
                  <a:srgbClr val="000000"/>
                </a:solidFill>
                <a:cs typeface="Arial"/>
              </a:rPr>
              <a:t>Advance security and governance across cloud environments</a:t>
            </a:r>
          </a:p>
          <a:p>
            <a:pPr marL="171450" indent="-171450">
              <a:spcAft>
                <a:spcPts val="500"/>
              </a:spcAft>
              <a:buFont typeface="Wingdings"/>
              <a:buChar char="q"/>
            </a:pPr>
            <a:r>
              <a:rPr lang="en-US" sz="1000">
                <a:solidFill>
                  <a:srgbClr val="000000"/>
                </a:solidFill>
                <a:cs typeface="Arial"/>
              </a:rPr>
              <a:t>Standardize hardened images and scanning controls</a:t>
            </a:r>
          </a:p>
        </p:txBody>
      </p:sp>
      <p:sp>
        <p:nvSpPr>
          <p:cNvPr id="55" name="TextBox 54">
            <a:extLst>
              <a:ext uri="{FF2B5EF4-FFF2-40B4-BE49-F238E27FC236}">
                <a16:creationId xmlns:a16="http://schemas.microsoft.com/office/drawing/2014/main" id="{DE4152A4-AAE0-74BC-DBD0-551C78996BC9}"/>
              </a:ext>
            </a:extLst>
          </p:cNvPr>
          <p:cNvSpPr txBox="1"/>
          <p:nvPr/>
        </p:nvSpPr>
        <p:spPr>
          <a:xfrm>
            <a:off x="1775673" y="4230479"/>
            <a:ext cx="3972770" cy="620683"/>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ea typeface="+mn-lt"/>
                <a:cs typeface="+mn-lt"/>
              </a:rPr>
              <a:t>Operations and Automation</a:t>
            </a:r>
          </a:p>
          <a:p>
            <a:pPr marL="171450" indent="-171450">
              <a:spcAft>
                <a:spcPts val="500"/>
              </a:spcAft>
              <a:buFont typeface="Wingdings"/>
              <a:buChar char="q"/>
            </a:pPr>
            <a:r>
              <a:rPr lang="en-US" sz="1000">
                <a:solidFill>
                  <a:srgbClr val="000000"/>
                </a:solidFill>
                <a:cs typeface="Arial"/>
              </a:rPr>
              <a:t>Expand self service provisioning capabilities through automation</a:t>
            </a:r>
          </a:p>
          <a:p>
            <a:pPr marL="171450" indent="-171450">
              <a:spcAft>
                <a:spcPts val="500"/>
              </a:spcAft>
              <a:buFont typeface="Wingdings"/>
              <a:buChar char="q"/>
            </a:pPr>
            <a:r>
              <a:rPr lang="en-US" sz="1000">
                <a:solidFill>
                  <a:srgbClr val="000000"/>
                </a:solidFill>
                <a:cs typeface="Arial"/>
              </a:rPr>
              <a:t>Enhance resilience with chaos and recovery testing</a:t>
            </a:r>
          </a:p>
        </p:txBody>
      </p:sp>
      <p:sp>
        <p:nvSpPr>
          <p:cNvPr id="59" name="TextBox 58">
            <a:extLst>
              <a:ext uri="{FF2B5EF4-FFF2-40B4-BE49-F238E27FC236}">
                <a16:creationId xmlns:a16="http://schemas.microsoft.com/office/drawing/2014/main" id="{49617FE7-1F0E-0AEC-B8D2-0F2962C57BC6}"/>
              </a:ext>
            </a:extLst>
          </p:cNvPr>
          <p:cNvSpPr txBox="1"/>
          <p:nvPr/>
        </p:nvSpPr>
        <p:spPr>
          <a:xfrm>
            <a:off x="1775673" y="5246084"/>
            <a:ext cx="3993647" cy="620683"/>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ea typeface="+mn-lt"/>
                <a:cs typeface="+mn-lt"/>
              </a:rPr>
              <a:t>Cost Optimization and Insights</a:t>
            </a:r>
          </a:p>
          <a:p>
            <a:pPr marL="171450" indent="-171450">
              <a:spcAft>
                <a:spcPts val="500"/>
              </a:spcAft>
              <a:buFont typeface="Wingdings"/>
              <a:buChar char="q"/>
            </a:pPr>
            <a:r>
              <a:rPr lang="en-US" sz="1000">
                <a:solidFill>
                  <a:srgbClr val="000000"/>
                </a:solidFill>
                <a:cs typeface="Arial"/>
              </a:rPr>
              <a:t>Enhance cost transparency with unified tagging and FinOps</a:t>
            </a:r>
          </a:p>
          <a:p>
            <a:pPr marL="171450" indent="-171450">
              <a:spcAft>
                <a:spcPts val="500"/>
              </a:spcAft>
              <a:buFont typeface="Wingdings"/>
              <a:buChar char="q"/>
            </a:pPr>
            <a:r>
              <a:rPr lang="en-US" sz="1000">
                <a:solidFill>
                  <a:srgbClr val="000000"/>
                </a:solidFill>
                <a:cs typeface="Arial"/>
              </a:rPr>
              <a:t>Rationalize workloads to optimize spend and placement efficiency</a:t>
            </a:r>
          </a:p>
        </p:txBody>
      </p:sp>
      <p:sp>
        <p:nvSpPr>
          <p:cNvPr id="70" name="TextBox 69">
            <a:extLst>
              <a:ext uri="{FF2B5EF4-FFF2-40B4-BE49-F238E27FC236}">
                <a16:creationId xmlns:a16="http://schemas.microsoft.com/office/drawing/2014/main" id="{4085E890-7BDD-1D97-1679-80C51DDB6BC5}"/>
              </a:ext>
            </a:extLst>
          </p:cNvPr>
          <p:cNvSpPr txBox="1"/>
          <p:nvPr/>
        </p:nvSpPr>
        <p:spPr>
          <a:xfrm>
            <a:off x="381000" y="1143000"/>
            <a:ext cx="11406908" cy="184666"/>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US" sz="1200" baseline="0">
                <a:solidFill>
                  <a:srgbClr val="000000"/>
                </a:solidFill>
                <a:latin typeface="Arial"/>
              </a:rPr>
              <a:t>These focus areas </a:t>
            </a:r>
            <a:r>
              <a:rPr lang="en-US" sz="1200">
                <a:solidFill>
                  <a:srgbClr val="000000"/>
                </a:solidFill>
                <a:latin typeface="Arial"/>
              </a:rPr>
              <a:t>translate cloud</a:t>
            </a:r>
            <a:r>
              <a:rPr lang="en-US" sz="1200" baseline="0">
                <a:solidFill>
                  <a:srgbClr val="000000"/>
                </a:solidFill>
                <a:latin typeface="Arial"/>
              </a:rPr>
              <a:t> </a:t>
            </a:r>
            <a:r>
              <a:rPr lang="en-US" sz="1200">
                <a:solidFill>
                  <a:srgbClr val="000000"/>
                </a:solidFill>
                <a:latin typeface="Arial"/>
              </a:rPr>
              <a:t>priorities </a:t>
            </a:r>
            <a:r>
              <a:rPr lang="en-US" sz="1200" baseline="0">
                <a:solidFill>
                  <a:srgbClr val="000000"/>
                </a:solidFill>
                <a:latin typeface="Arial"/>
              </a:rPr>
              <a:t>into </a:t>
            </a:r>
            <a:r>
              <a:rPr lang="en-US" sz="1200">
                <a:solidFill>
                  <a:srgbClr val="000000"/>
                </a:solidFill>
                <a:latin typeface="Arial"/>
              </a:rPr>
              <a:t>measurable opportunities that advance enterprise agility, resilience and cost efficiency by 2027. </a:t>
            </a:r>
            <a:endParaRPr lang="en-US" sz="1200">
              <a:solidFill>
                <a:srgbClr val="000000"/>
              </a:solidFill>
              <a:cs typeface="Arial"/>
            </a:endParaRPr>
          </a:p>
        </p:txBody>
      </p:sp>
    </p:spTree>
    <p:extLst>
      <p:ext uri="{BB962C8B-B14F-4D97-AF65-F5344CB8AC3E}">
        <p14:creationId xmlns:p14="http://schemas.microsoft.com/office/powerpoint/2010/main" val="3989767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C0B3B-ACF5-925A-FFCF-AE1096088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9AAE2B-C4DB-9464-860D-000DECC00E16}"/>
              </a:ext>
            </a:extLst>
          </p:cNvPr>
          <p:cNvSpPr>
            <a:spLocks noGrp="1"/>
          </p:cNvSpPr>
          <p:nvPr>
            <p:ph type="title"/>
          </p:nvPr>
        </p:nvSpPr>
        <p:spPr/>
        <p:txBody>
          <a:bodyPr/>
          <a:lstStyle/>
          <a:p>
            <a:r>
              <a:rPr lang="en-US"/>
              <a:t>Capability Mapping</a:t>
            </a:r>
          </a:p>
        </p:txBody>
      </p:sp>
      <p:sp>
        <p:nvSpPr>
          <p:cNvPr id="3" name="Content Placeholder 2">
            <a:extLst>
              <a:ext uri="{FF2B5EF4-FFF2-40B4-BE49-F238E27FC236}">
                <a16:creationId xmlns:a16="http://schemas.microsoft.com/office/drawing/2014/main" id="{AAF63F21-8D7E-6665-BBAE-F91E74AB972D}"/>
              </a:ext>
            </a:extLst>
          </p:cNvPr>
          <p:cNvSpPr>
            <a:spLocks noGrp="1"/>
          </p:cNvSpPr>
          <p:nvPr>
            <p:ph idx="1"/>
          </p:nvPr>
        </p:nvSpPr>
        <p:spPr>
          <a:xfrm>
            <a:off x="384048" y="1146290"/>
            <a:ext cx="11430263" cy="809001"/>
          </a:xfrm>
        </p:spPr>
        <p:txBody>
          <a:bodyPr vert="horz" lIns="0" tIns="0" rIns="0" bIns="0" rtlCol="0" anchor="t">
            <a:normAutofit/>
          </a:bodyPr>
          <a:lstStyle/>
          <a:p>
            <a:pPr>
              <a:buNone/>
            </a:pPr>
            <a:r>
              <a:rPr lang="en-US" sz="1200">
                <a:solidFill>
                  <a:srgbClr val="000000"/>
                </a:solidFill>
                <a:ea typeface="+mn-lt"/>
                <a:cs typeface="+mn-lt"/>
              </a:rPr>
              <a:t>For Capability Mapping, I&amp;O roadmaps are mapped to the Canada Life Technology Capability model.  </a:t>
            </a:r>
            <a:endParaRPr lang="en-US" sz="1200">
              <a:solidFill>
                <a:srgbClr val="000000"/>
              </a:solidFill>
              <a:cs typeface="Arial"/>
            </a:endParaRPr>
          </a:p>
          <a:p>
            <a:pPr>
              <a:buFont typeface="Arial"/>
              <a:buChar char="•"/>
            </a:pPr>
            <a:r>
              <a:rPr lang="en-US" sz="1200">
                <a:solidFill>
                  <a:srgbClr val="000000"/>
                </a:solidFill>
                <a:ea typeface="+mn-lt"/>
                <a:cs typeface="+mn-lt"/>
              </a:rPr>
              <a:t>The Canada Life Technology Capability model is based on the Technology Business Management (TBM) taxonomy.</a:t>
            </a:r>
          </a:p>
          <a:p>
            <a:pPr>
              <a:buFont typeface="Arial"/>
              <a:buChar char="•"/>
            </a:pPr>
            <a:r>
              <a:rPr lang="en-US" sz="1200">
                <a:solidFill>
                  <a:srgbClr val="000000"/>
                </a:solidFill>
                <a:ea typeface="+mn-lt"/>
                <a:cs typeface="+mn-lt"/>
              </a:rPr>
              <a:t>Level 1 - 3 are standardized TBM taxonomy names, Level 4 are Canada Life specific modifications.</a:t>
            </a:r>
            <a:endParaRPr lang="en-US" sz="1200">
              <a:solidFill>
                <a:srgbClr val="000000"/>
              </a:solidFill>
              <a:cs typeface="Arial"/>
            </a:endParaRPr>
          </a:p>
        </p:txBody>
      </p:sp>
      <p:sp>
        <p:nvSpPr>
          <p:cNvPr id="4" name="Footer Placeholder 3">
            <a:extLst>
              <a:ext uri="{FF2B5EF4-FFF2-40B4-BE49-F238E27FC236}">
                <a16:creationId xmlns:a16="http://schemas.microsoft.com/office/drawing/2014/main" id="{3B6C5234-7889-AAFF-E813-73AE0E47692E}"/>
              </a:ext>
            </a:extLst>
          </p:cNvPr>
          <p:cNvSpPr>
            <a:spLocks noGrp="1"/>
          </p:cNvSpPr>
          <p:nvPr>
            <p:ph type="ftr" sz="quarter" idx="11"/>
          </p:nvPr>
        </p:nvSpPr>
        <p:spPr/>
        <p:txBody>
          <a:bodyPr/>
          <a:lstStyle/>
          <a:p>
            <a:r>
              <a:rPr lang="en-CA"/>
              <a:t>CONFIDENTIAL</a:t>
            </a:r>
          </a:p>
        </p:txBody>
      </p:sp>
      <p:sp>
        <p:nvSpPr>
          <p:cNvPr id="5" name="Date Placeholder 4">
            <a:extLst>
              <a:ext uri="{FF2B5EF4-FFF2-40B4-BE49-F238E27FC236}">
                <a16:creationId xmlns:a16="http://schemas.microsoft.com/office/drawing/2014/main" id="{3D24EEC6-2D7C-124E-8EAC-1C3CA41C1860}"/>
              </a:ext>
            </a:extLst>
          </p:cNvPr>
          <p:cNvSpPr>
            <a:spLocks noGrp="1"/>
          </p:cNvSpPr>
          <p:nvPr>
            <p:ph type="dt" sz="half" idx="13"/>
          </p:nvPr>
        </p:nvSpPr>
        <p:spPr/>
        <p:txBody>
          <a:bodyPr/>
          <a:lstStyle/>
          <a:p>
            <a:fld id="{DFC179E5-4269-44D4-A984-C57F7029D15D}" type="datetime1">
              <a:rPr lang="en-US" smtClean="0"/>
              <a:t>7/31/2026</a:t>
            </a:fld>
            <a:endParaRPr lang="en-CA"/>
          </a:p>
        </p:txBody>
      </p:sp>
      <p:sp>
        <p:nvSpPr>
          <p:cNvPr id="7" name="Rectangle 6">
            <a:extLst>
              <a:ext uri="{FF2B5EF4-FFF2-40B4-BE49-F238E27FC236}">
                <a16:creationId xmlns:a16="http://schemas.microsoft.com/office/drawing/2014/main" id="{CE1F4DE9-B075-D8A7-512B-697773E03A3B}"/>
              </a:ext>
            </a:extLst>
          </p:cNvPr>
          <p:cNvSpPr/>
          <p:nvPr/>
        </p:nvSpPr>
        <p:spPr>
          <a:xfrm>
            <a:off x="380999" y="2630314"/>
            <a:ext cx="949859" cy="3303761"/>
          </a:xfrm>
          <a:prstGeom prst="rect">
            <a:avLst/>
          </a:prstGeom>
          <a:solidFill>
            <a:srgbClr val="BA0C2F"/>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a:solidFill>
                  <a:schemeClr val="bg1"/>
                </a:solidFill>
              </a:rPr>
              <a:t>Delivery</a:t>
            </a:r>
            <a:endParaRPr lang="en-US">
              <a:solidFill>
                <a:schemeClr val="bg1"/>
              </a:solidFill>
            </a:endParaRPr>
          </a:p>
        </p:txBody>
      </p:sp>
      <p:sp>
        <p:nvSpPr>
          <p:cNvPr id="8" name="Rectangle 7">
            <a:extLst>
              <a:ext uri="{FF2B5EF4-FFF2-40B4-BE49-F238E27FC236}">
                <a16:creationId xmlns:a16="http://schemas.microsoft.com/office/drawing/2014/main" id="{9355C570-4643-9FA7-56A1-36842BB1577C}"/>
              </a:ext>
            </a:extLst>
          </p:cNvPr>
          <p:cNvSpPr/>
          <p:nvPr/>
        </p:nvSpPr>
        <p:spPr>
          <a:xfrm>
            <a:off x="1447799" y="2630314"/>
            <a:ext cx="1603219" cy="3303761"/>
          </a:xfrm>
          <a:prstGeom prst="rect">
            <a:avLst/>
          </a:prstGeom>
          <a:solidFill>
            <a:schemeClr val="accent1"/>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a:solidFill>
                  <a:srgbClr val="000000"/>
                </a:solidFill>
              </a:rPr>
              <a:t>Enabling Platforms</a:t>
            </a:r>
            <a:endParaRPr lang="en-US"/>
          </a:p>
        </p:txBody>
      </p:sp>
      <p:sp>
        <p:nvSpPr>
          <p:cNvPr id="9" name="Rectangle 8">
            <a:extLst>
              <a:ext uri="{FF2B5EF4-FFF2-40B4-BE49-F238E27FC236}">
                <a16:creationId xmlns:a16="http://schemas.microsoft.com/office/drawing/2014/main" id="{DE8AEF12-6618-D84C-BD3C-4BE2EDD93ECB}"/>
              </a:ext>
            </a:extLst>
          </p:cNvPr>
          <p:cNvSpPr/>
          <p:nvPr/>
        </p:nvSpPr>
        <p:spPr>
          <a:xfrm>
            <a:off x="3167959" y="2630314"/>
            <a:ext cx="1603219" cy="3303761"/>
          </a:xfrm>
          <a:prstGeom prst="rect">
            <a:avLst/>
          </a:prstGeom>
          <a:solidFill>
            <a:schemeClr val="bg2">
              <a:lumMod val="90000"/>
            </a:schemeClr>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a:solidFill>
                  <a:srgbClr val="000000"/>
                </a:solidFill>
              </a:rPr>
              <a:t>Foundation Platform</a:t>
            </a:r>
            <a:endParaRPr lang="en-US"/>
          </a:p>
        </p:txBody>
      </p:sp>
      <p:sp>
        <p:nvSpPr>
          <p:cNvPr id="10" name="Rectangle 9">
            <a:extLst>
              <a:ext uri="{FF2B5EF4-FFF2-40B4-BE49-F238E27FC236}">
                <a16:creationId xmlns:a16="http://schemas.microsoft.com/office/drawing/2014/main" id="{7AC82D77-64FF-9E25-0251-7E7BA0821266}"/>
              </a:ext>
            </a:extLst>
          </p:cNvPr>
          <p:cNvSpPr/>
          <p:nvPr/>
        </p:nvSpPr>
        <p:spPr>
          <a:xfrm>
            <a:off x="4952246" y="2630314"/>
            <a:ext cx="1692998" cy="61563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a:solidFill>
                  <a:srgbClr val="000000"/>
                </a:solidFill>
              </a:rPr>
              <a:t>Cloud Service Catalog &amp; Enablement</a:t>
            </a:r>
            <a:endParaRPr lang="en-US" sz="1100">
              <a:solidFill>
                <a:srgbClr val="000000"/>
              </a:solidFill>
              <a:cs typeface="Arial"/>
            </a:endParaRPr>
          </a:p>
        </p:txBody>
      </p:sp>
      <p:sp>
        <p:nvSpPr>
          <p:cNvPr id="11" name="Rectangle 10">
            <a:extLst>
              <a:ext uri="{FF2B5EF4-FFF2-40B4-BE49-F238E27FC236}">
                <a16:creationId xmlns:a16="http://schemas.microsoft.com/office/drawing/2014/main" id="{43B19F47-8ECD-0EE1-DC14-E4159004BA20}"/>
              </a:ext>
            </a:extLst>
          </p:cNvPr>
          <p:cNvSpPr/>
          <p:nvPr/>
        </p:nvSpPr>
        <p:spPr>
          <a:xfrm>
            <a:off x="4952246" y="3538864"/>
            <a:ext cx="1692998" cy="61563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a:solidFill>
                  <a:srgbClr val="000000"/>
                </a:solidFill>
              </a:rPr>
              <a:t>Cloud Migration Enablement</a:t>
            </a:r>
            <a:endParaRPr lang="en-US" sz="1100">
              <a:solidFill>
                <a:srgbClr val="000000"/>
              </a:solidFill>
              <a:cs typeface="Arial"/>
            </a:endParaRPr>
          </a:p>
        </p:txBody>
      </p:sp>
      <p:sp>
        <p:nvSpPr>
          <p:cNvPr id="12" name="Rectangle 11">
            <a:extLst>
              <a:ext uri="{FF2B5EF4-FFF2-40B4-BE49-F238E27FC236}">
                <a16:creationId xmlns:a16="http://schemas.microsoft.com/office/drawing/2014/main" id="{BC44F603-E380-A037-2A9C-B13C368B5266}"/>
              </a:ext>
            </a:extLst>
          </p:cNvPr>
          <p:cNvSpPr/>
          <p:nvPr/>
        </p:nvSpPr>
        <p:spPr>
          <a:xfrm>
            <a:off x="4952246" y="4449113"/>
            <a:ext cx="1692998" cy="61563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a:solidFill>
                  <a:srgbClr val="000000"/>
                </a:solidFill>
              </a:rPr>
              <a:t>Cloud Container Platform Enablement</a:t>
            </a:r>
            <a:endParaRPr lang="en-US" sz="1100">
              <a:solidFill>
                <a:srgbClr val="000000"/>
              </a:solidFill>
              <a:cs typeface="Arial"/>
            </a:endParaRPr>
          </a:p>
        </p:txBody>
      </p:sp>
      <p:sp>
        <p:nvSpPr>
          <p:cNvPr id="13" name="Rectangle 12">
            <a:extLst>
              <a:ext uri="{FF2B5EF4-FFF2-40B4-BE49-F238E27FC236}">
                <a16:creationId xmlns:a16="http://schemas.microsoft.com/office/drawing/2014/main" id="{F65ADF70-CF3C-68AF-3D1F-E2C90C82BF3D}"/>
              </a:ext>
            </a:extLst>
          </p:cNvPr>
          <p:cNvSpPr/>
          <p:nvPr/>
        </p:nvSpPr>
        <p:spPr>
          <a:xfrm>
            <a:off x="4952246" y="5312398"/>
            <a:ext cx="1692998" cy="61563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a:solidFill>
                  <a:srgbClr val="000000"/>
                </a:solidFill>
              </a:rPr>
              <a:t>Cloud Governance &amp; Workload Placement Framework</a:t>
            </a:r>
            <a:endParaRPr lang="en-US" sz="1100">
              <a:solidFill>
                <a:srgbClr val="000000"/>
              </a:solidFill>
              <a:cs typeface="Arial"/>
            </a:endParaRPr>
          </a:p>
        </p:txBody>
      </p:sp>
      <p:sp>
        <p:nvSpPr>
          <p:cNvPr id="6" name="Rectangle 5">
            <a:extLst>
              <a:ext uri="{FF2B5EF4-FFF2-40B4-BE49-F238E27FC236}">
                <a16:creationId xmlns:a16="http://schemas.microsoft.com/office/drawing/2014/main" id="{E43EA87F-311D-5385-59A0-FD61AEE879F2}"/>
              </a:ext>
            </a:extLst>
          </p:cNvPr>
          <p:cNvSpPr/>
          <p:nvPr/>
        </p:nvSpPr>
        <p:spPr>
          <a:xfrm>
            <a:off x="6876454" y="2630314"/>
            <a:ext cx="4928450" cy="6156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lumMod val="50000"/>
                  </a:schemeClr>
                </a:solidFill>
              </a:rPr>
              <a:t>Central repository of all approved, active, and restricted cloud services. Ensures governance, discoverability, and safe adoption.</a:t>
            </a:r>
          </a:p>
        </p:txBody>
      </p:sp>
      <p:sp>
        <p:nvSpPr>
          <p:cNvPr id="14" name="Rectangle 13">
            <a:extLst>
              <a:ext uri="{FF2B5EF4-FFF2-40B4-BE49-F238E27FC236}">
                <a16:creationId xmlns:a16="http://schemas.microsoft.com/office/drawing/2014/main" id="{19F5AFA9-DE3C-47C0-360A-21B9488562C4}"/>
              </a:ext>
            </a:extLst>
          </p:cNvPr>
          <p:cNvSpPr/>
          <p:nvPr/>
        </p:nvSpPr>
        <p:spPr>
          <a:xfrm>
            <a:off x="6876454" y="3538864"/>
            <a:ext cx="4928450" cy="6156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tx1">
                    <a:lumMod val="50000"/>
                  </a:schemeClr>
                </a:solidFill>
              </a:rPr>
              <a:t>Provides frameworks, automation, and tools for all “7Rs” migration strategies, supporting secure, risk-managed migrations based on organization’s workload placement framework.</a:t>
            </a:r>
          </a:p>
        </p:txBody>
      </p:sp>
      <p:sp>
        <p:nvSpPr>
          <p:cNvPr id="15" name="Rectangle 14">
            <a:extLst>
              <a:ext uri="{FF2B5EF4-FFF2-40B4-BE49-F238E27FC236}">
                <a16:creationId xmlns:a16="http://schemas.microsoft.com/office/drawing/2014/main" id="{D3BC2C8B-5546-E03B-1783-89F3C9C5F7FF}"/>
              </a:ext>
            </a:extLst>
          </p:cNvPr>
          <p:cNvSpPr/>
          <p:nvPr/>
        </p:nvSpPr>
        <p:spPr>
          <a:xfrm>
            <a:off x="6876454" y="4449113"/>
            <a:ext cx="4928450" cy="6156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a:solidFill>
                  <a:schemeClr val="tx1">
                    <a:lumMod val="50000"/>
                  </a:schemeClr>
                </a:solidFill>
              </a:rPr>
              <a:t>Supports EKS (AWS) and AKS (Azure) as strategic platforms. Drives project to retire GKE (GCP) and migrate Kubernetes workloads to AWS/Azure, ensuring operational focus and sustainability.</a:t>
            </a:r>
          </a:p>
        </p:txBody>
      </p:sp>
      <p:sp>
        <p:nvSpPr>
          <p:cNvPr id="16" name="Rectangle 15">
            <a:extLst>
              <a:ext uri="{FF2B5EF4-FFF2-40B4-BE49-F238E27FC236}">
                <a16:creationId xmlns:a16="http://schemas.microsoft.com/office/drawing/2014/main" id="{CF2888EF-62ED-5C2D-9D17-BAF2988C75C7}"/>
              </a:ext>
            </a:extLst>
          </p:cNvPr>
          <p:cNvSpPr/>
          <p:nvPr/>
        </p:nvSpPr>
        <p:spPr>
          <a:xfrm>
            <a:off x="6876454" y="5312398"/>
            <a:ext cx="4928450" cy="6156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a:solidFill>
                  <a:schemeClr val="tx1">
                    <a:lumMod val="50000"/>
                  </a:schemeClr>
                </a:solidFill>
              </a:rPr>
              <a:t>Maintains and enforces the organization’s workload placement framework to guide strategic cloud adoption decisions, ensuring each workload is placed in line with business, technology and policy requirements.</a:t>
            </a:r>
            <a:endParaRPr lang="en-US" sz="1100">
              <a:solidFill>
                <a:schemeClr val="tx1">
                  <a:lumMod val="50000"/>
                </a:schemeClr>
              </a:solidFill>
              <a:cs typeface="Arial"/>
            </a:endParaRPr>
          </a:p>
        </p:txBody>
      </p:sp>
      <p:cxnSp>
        <p:nvCxnSpPr>
          <p:cNvPr id="18" name="Straight Connector 17">
            <a:extLst>
              <a:ext uri="{FF2B5EF4-FFF2-40B4-BE49-F238E27FC236}">
                <a16:creationId xmlns:a16="http://schemas.microsoft.com/office/drawing/2014/main" id="{B2873FE7-1E71-7F40-384D-F05DB71B8589}"/>
              </a:ext>
            </a:extLst>
          </p:cNvPr>
          <p:cNvCxnSpPr>
            <a:cxnSpLocks/>
          </p:cNvCxnSpPr>
          <p:nvPr/>
        </p:nvCxnSpPr>
        <p:spPr>
          <a:xfrm>
            <a:off x="380999" y="2508619"/>
            <a:ext cx="11423905"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0EC30CA-37EB-65B1-F484-3B236C006180}"/>
              </a:ext>
            </a:extLst>
          </p:cNvPr>
          <p:cNvSpPr txBox="1"/>
          <p:nvPr/>
        </p:nvSpPr>
        <p:spPr>
          <a:xfrm>
            <a:off x="385541" y="5987822"/>
            <a:ext cx="5040600" cy="184666"/>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a:cs typeface="Arial"/>
              </a:rPr>
              <a:t>* Business Values for L4 level categories are listed in Appendix</a:t>
            </a:r>
          </a:p>
        </p:txBody>
      </p:sp>
      <p:cxnSp>
        <p:nvCxnSpPr>
          <p:cNvPr id="20" name="Straight Connector 19">
            <a:extLst>
              <a:ext uri="{FF2B5EF4-FFF2-40B4-BE49-F238E27FC236}">
                <a16:creationId xmlns:a16="http://schemas.microsoft.com/office/drawing/2014/main" id="{AE9D0D3D-7CF9-497D-8E92-FAC93E797773}"/>
              </a:ext>
            </a:extLst>
          </p:cNvPr>
          <p:cNvCxnSpPr>
            <a:cxnSpLocks/>
          </p:cNvCxnSpPr>
          <p:nvPr/>
        </p:nvCxnSpPr>
        <p:spPr>
          <a:xfrm>
            <a:off x="4938384" y="4321902"/>
            <a:ext cx="6880698" cy="10297"/>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F4A028A-23A3-1C44-CB19-03B7AB5DBEC6}"/>
              </a:ext>
            </a:extLst>
          </p:cNvPr>
          <p:cNvCxnSpPr>
            <a:cxnSpLocks/>
          </p:cNvCxnSpPr>
          <p:nvPr/>
        </p:nvCxnSpPr>
        <p:spPr>
          <a:xfrm>
            <a:off x="4932154" y="5165517"/>
            <a:ext cx="6880698" cy="41189"/>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1DF246C-4CE7-5023-EE3C-2D3568792077}"/>
              </a:ext>
            </a:extLst>
          </p:cNvPr>
          <p:cNvCxnSpPr>
            <a:cxnSpLocks/>
          </p:cNvCxnSpPr>
          <p:nvPr/>
        </p:nvCxnSpPr>
        <p:spPr>
          <a:xfrm>
            <a:off x="4917789" y="3402772"/>
            <a:ext cx="6880698" cy="10297"/>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3193F70-AF5D-FA24-CCE7-F4716DD7346B}"/>
              </a:ext>
            </a:extLst>
          </p:cNvPr>
          <p:cNvSpPr txBox="1"/>
          <p:nvPr/>
        </p:nvSpPr>
        <p:spPr>
          <a:xfrm>
            <a:off x="373944" y="2325981"/>
            <a:ext cx="11437055" cy="153888"/>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000" b="1">
                <a:solidFill>
                  <a:srgbClr val="000000"/>
                </a:solidFill>
                <a:cs typeface="Arial"/>
              </a:rPr>
              <a:t>   L1 Capability                 L2 Capability                           L3 Capability                      L4 Service Category                                                                          Description</a:t>
            </a:r>
            <a:endParaRPr lang="en-US" sz="1000">
              <a:solidFill>
                <a:srgbClr val="000000"/>
              </a:solidFill>
              <a:cs typeface="Arial"/>
            </a:endParaRPr>
          </a:p>
        </p:txBody>
      </p:sp>
      <p:sp>
        <p:nvSpPr>
          <p:cNvPr id="28" name="TextBox 27">
            <a:extLst>
              <a:ext uri="{FF2B5EF4-FFF2-40B4-BE49-F238E27FC236}">
                <a16:creationId xmlns:a16="http://schemas.microsoft.com/office/drawing/2014/main" id="{CD992D57-AACD-8DC4-6FA9-92B0C9E6FE6E}"/>
              </a:ext>
            </a:extLst>
          </p:cNvPr>
          <p:cNvSpPr txBox="1"/>
          <p:nvPr/>
        </p:nvSpPr>
        <p:spPr>
          <a:xfrm>
            <a:off x="376296" y="2017889"/>
            <a:ext cx="6096000" cy="192360"/>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CA" sz="1250" b="1" i="0" u="none" strike="noStrike" baseline="0">
                <a:solidFill>
                  <a:srgbClr val="000000"/>
                </a:solidFill>
                <a:latin typeface="Arial"/>
                <a:ea typeface="Arial"/>
                <a:cs typeface="Arial"/>
              </a:rPr>
              <a:t>Technology categorization with descriptions:</a:t>
            </a:r>
            <a:r>
              <a:rPr sz="1250" b="0" i="0">
                <a:solidFill>
                  <a:srgbClr val="000000"/>
                </a:solidFill>
                <a:latin typeface="Arial"/>
                <a:ea typeface="Arial"/>
                <a:cs typeface="Arial"/>
              </a:rPr>
              <a:t>​</a:t>
            </a:r>
            <a:endParaRPr lang="en-US">
              <a:solidFill>
                <a:srgbClr val="000000"/>
              </a:solidFill>
              <a:cs typeface="Arial"/>
            </a:endParaRPr>
          </a:p>
        </p:txBody>
      </p:sp>
    </p:spTree>
    <p:extLst>
      <p:ext uri="{BB962C8B-B14F-4D97-AF65-F5344CB8AC3E}">
        <p14:creationId xmlns:p14="http://schemas.microsoft.com/office/powerpoint/2010/main" val="2370387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A0DDD-3E19-4D73-2F6D-1B435C5FD6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DC5BF2-9DF3-CC7A-3C8B-15F37BCB11AE}"/>
              </a:ext>
            </a:extLst>
          </p:cNvPr>
          <p:cNvSpPr>
            <a:spLocks noGrp="1"/>
          </p:cNvSpPr>
          <p:nvPr>
            <p:ph type="title"/>
          </p:nvPr>
        </p:nvSpPr>
        <p:spPr/>
        <p:txBody>
          <a:bodyPr/>
          <a:lstStyle/>
          <a:p>
            <a:r>
              <a:rPr lang="en-US"/>
              <a:t>Capability Mapping</a:t>
            </a:r>
          </a:p>
        </p:txBody>
      </p:sp>
      <p:sp>
        <p:nvSpPr>
          <p:cNvPr id="3" name="Content Placeholder 2">
            <a:extLst>
              <a:ext uri="{FF2B5EF4-FFF2-40B4-BE49-F238E27FC236}">
                <a16:creationId xmlns:a16="http://schemas.microsoft.com/office/drawing/2014/main" id="{BD3D0897-4E37-3E43-16E7-DBD6B0E44B9E}"/>
              </a:ext>
            </a:extLst>
          </p:cNvPr>
          <p:cNvSpPr>
            <a:spLocks noGrp="1"/>
          </p:cNvSpPr>
          <p:nvPr>
            <p:ph idx="1"/>
          </p:nvPr>
        </p:nvSpPr>
        <p:spPr>
          <a:xfrm>
            <a:off x="384048" y="1182307"/>
            <a:ext cx="11430263" cy="761147"/>
          </a:xfrm>
        </p:spPr>
        <p:txBody>
          <a:bodyPr vert="horz" lIns="0" tIns="0" rIns="0" bIns="0" rtlCol="0" anchor="t">
            <a:normAutofit/>
          </a:bodyPr>
          <a:lstStyle/>
          <a:p>
            <a:pPr>
              <a:buNone/>
            </a:pPr>
            <a:r>
              <a:rPr lang="en-US" sz="1200">
                <a:solidFill>
                  <a:srgbClr val="000000"/>
                </a:solidFill>
              </a:rPr>
              <a:t>For Capability Mapping, I&amp;O roadmaps are mapped to the Canada Life Technology Capability model.  </a:t>
            </a:r>
            <a:endParaRPr lang="en-US" sz="1200">
              <a:solidFill>
                <a:srgbClr val="000000"/>
              </a:solidFill>
              <a:cs typeface="Arial"/>
            </a:endParaRPr>
          </a:p>
          <a:p>
            <a:pPr>
              <a:buFont typeface="Arial,Sans-Serif"/>
              <a:buChar char="•"/>
            </a:pPr>
            <a:r>
              <a:rPr lang="en-US" sz="1200">
                <a:solidFill>
                  <a:srgbClr val="000000"/>
                </a:solidFill>
              </a:rPr>
              <a:t>The Canada Life Technology Capability model is based on the Technology Business Management (TBM) taxonomy.</a:t>
            </a:r>
            <a:endParaRPr lang="en-US" sz="1200">
              <a:solidFill>
                <a:srgbClr val="000000"/>
              </a:solidFill>
              <a:cs typeface="Arial"/>
            </a:endParaRPr>
          </a:p>
          <a:p>
            <a:pPr>
              <a:buFont typeface="Arial,Sans-Serif"/>
              <a:buChar char="•"/>
            </a:pPr>
            <a:r>
              <a:rPr lang="en-US" sz="1200">
                <a:solidFill>
                  <a:srgbClr val="000000"/>
                </a:solidFill>
              </a:rPr>
              <a:t>Level 1 - 3 are standardized TBM taxonomy names, Level 4 are Canada Life specific modifications.</a:t>
            </a:r>
            <a:endParaRPr lang="en-US" sz="1200">
              <a:solidFill>
                <a:srgbClr val="000000"/>
              </a:solidFill>
              <a:cs typeface="Arial"/>
            </a:endParaRPr>
          </a:p>
          <a:p>
            <a:pPr marL="0" indent="0">
              <a:buNone/>
            </a:pPr>
            <a:endParaRPr lang="en-US" sz="1200"/>
          </a:p>
        </p:txBody>
      </p:sp>
      <p:sp>
        <p:nvSpPr>
          <p:cNvPr id="4" name="Footer Placeholder 3">
            <a:extLst>
              <a:ext uri="{FF2B5EF4-FFF2-40B4-BE49-F238E27FC236}">
                <a16:creationId xmlns:a16="http://schemas.microsoft.com/office/drawing/2014/main" id="{8348DABD-1B4D-D876-02E9-6C7D64E1EA89}"/>
              </a:ext>
            </a:extLst>
          </p:cNvPr>
          <p:cNvSpPr>
            <a:spLocks noGrp="1"/>
          </p:cNvSpPr>
          <p:nvPr>
            <p:ph type="ftr" sz="quarter" idx="11"/>
          </p:nvPr>
        </p:nvSpPr>
        <p:spPr/>
        <p:txBody>
          <a:bodyPr/>
          <a:lstStyle/>
          <a:p>
            <a:r>
              <a:rPr lang="en-CA"/>
              <a:t>CONFIDENTIAL</a:t>
            </a:r>
          </a:p>
        </p:txBody>
      </p:sp>
      <p:sp>
        <p:nvSpPr>
          <p:cNvPr id="5" name="Date Placeholder 4">
            <a:extLst>
              <a:ext uri="{FF2B5EF4-FFF2-40B4-BE49-F238E27FC236}">
                <a16:creationId xmlns:a16="http://schemas.microsoft.com/office/drawing/2014/main" id="{C44E6DDA-613C-6DF6-8488-17E3B39D4D34}"/>
              </a:ext>
            </a:extLst>
          </p:cNvPr>
          <p:cNvSpPr>
            <a:spLocks noGrp="1"/>
          </p:cNvSpPr>
          <p:nvPr>
            <p:ph type="dt" sz="half" idx="13"/>
          </p:nvPr>
        </p:nvSpPr>
        <p:spPr/>
        <p:txBody>
          <a:bodyPr/>
          <a:lstStyle/>
          <a:p>
            <a:fld id="{DFC179E5-4269-44D4-A984-C57F7029D15D}" type="datetime1">
              <a:rPr lang="en-US" smtClean="0"/>
              <a:t>7/31/2026</a:t>
            </a:fld>
            <a:endParaRPr lang="en-CA"/>
          </a:p>
        </p:txBody>
      </p:sp>
      <p:sp>
        <p:nvSpPr>
          <p:cNvPr id="10" name="Rectangle 9">
            <a:extLst>
              <a:ext uri="{FF2B5EF4-FFF2-40B4-BE49-F238E27FC236}">
                <a16:creationId xmlns:a16="http://schemas.microsoft.com/office/drawing/2014/main" id="{D7D844D0-7EC9-6EE7-F3EC-10BE707390EB}"/>
              </a:ext>
            </a:extLst>
          </p:cNvPr>
          <p:cNvSpPr/>
          <p:nvPr/>
        </p:nvSpPr>
        <p:spPr>
          <a:xfrm>
            <a:off x="4952246" y="2625215"/>
            <a:ext cx="1692998" cy="61563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a:solidFill>
                  <a:srgbClr val="000000"/>
                </a:solidFill>
              </a:rPr>
              <a:t>Cloud Platform Provisioning &amp; Landing Zones</a:t>
            </a:r>
            <a:endParaRPr lang="en-US" sz="1100">
              <a:solidFill>
                <a:srgbClr val="000000"/>
              </a:solidFill>
              <a:cs typeface="Arial"/>
            </a:endParaRPr>
          </a:p>
        </p:txBody>
      </p:sp>
      <p:sp>
        <p:nvSpPr>
          <p:cNvPr id="11" name="Rectangle 10">
            <a:extLst>
              <a:ext uri="{FF2B5EF4-FFF2-40B4-BE49-F238E27FC236}">
                <a16:creationId xmlns:a16="http://schemas.microsoft.com/office/drawing/2014/main" id="{97D43E31-3BB8-B2FE-DA63-ABA781EEC0FD}"/>
              </a:ext>
            </a:extLst>
          </p:cNvPr>
          <p:cNvSpPr/>
          <p:nvPr/>
        </p:nvSpPr>
        <p:spPr>
          <a:xfrm>
            <a:off x="4952246" y="3533765"/>
            <a:ext cx="1692998" cy="61563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a:solidFill>
                  <a:srgbClr val="000000"/>
                </a:solidFill>
              </a:rPr>
              <a:t>Infrastructure as Code &amp; Platform Automation</a:t>
            </a:r>
            <a:endParaRPr lang="en-US" sz="1100">
              <a:solidFill>
                <a:srgbClr val="000000"/>
              </a:solidFill>
              <a:cs typeface="Arial"/>
            </a:endParaRPr>
          </a:p>
        </p:txBody>
      </p:sp>
      <p:sp>
        <p:nvSpPr>
          <p:cNvPr id="12" name="Rectangle 11">
            <a:extLst>
              <a:ext uri="{FF2B5EF4-FFF2-40B4-BE49-F238E27FC236}">
                <a16:creationId xmlns:a16="http://schemas.microsoft.com/office/drawing/2014/main" id="{509656B8-D906-46AB-DF29-6B4C9598D139}"/>
              </a:ext>
            </a:extLst>
          </p:cNvPr>
          <p:cNvSpPr/>
          <p:nvPr/>
        </p:nvSpPr>
        <p:spPr>
          <a:xfrm>
            <a:off x="4952246" y="4444014"/>
            <a:ext cx="1692998" cy="61563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a:solidFill>
                  <a:srgbClr val="000000"/>
                </a:solidFill>
              </a:rPr>
              <a:t>Identity &amp; Access </a:t>
            </a:r>
            <a:endParaRPr lang="en-US" sz="1100">
              <a:solidFill>
                <a:srgbClr val="000000"/>
              </a:solidFill>
              <a:cs typeface="Arial"/>
            </a:endParaRPr>
          </a:p>
        </p:txBody>
      </p:sp>
      <p:sp>
        <p:nvSpPr>
          <p:cNvPr id="13" name="Rectangle 12">
            <a:extLst>
              <a:ext uri="{FF2B5EF4-FFF2-40B4-BE49-F238E27FC236}">
                <a16:creationId xmlns:a16="http://schemas.microsoft.com/office/drawing/2014/main" id="{F4E05420-41C6-D3FF-E7A2-C2F68133B1B3}"/>
              </a:ext>
            </a:extLst>
          </p:cNvPr>
          <p:cNvSpPr/>
          <p:nvPr/>
        </p:nvSpPr>
        <p:spPr>
          <a:xfrm>
            <a:off x="4952246" y="5307299"/>
            <a:ext cx="1692998" cy="61563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a:solidFill>
                  <a:srgbClr val="000000"/>
                </a:solidFill>
              </a:rPr>
              <a:t>Cost Management &amp; Resource Optimization</a:t>
            </a:r>
            <a:endParaRPr lang="en-US" sz="1100">
              <a:solidFill>
                <a:srgbClr val="000000"/>
              </a:solidFill>
              <a:cs typeface="Arial"/>
            </a:endParaRPr>
          </a:p>
        </p:txBody>
      </p:sp>
      <p:sp>
        <p:nvSpPr>
          <p:cNvPr id="6" name="Rectangle 5">
            <a:extLst>
              <a:ext uri="{FF2B5EF4-FFF2-40B4-BE49-F238E27FC236}">
                <a16:creationId xmlns:a16="http://schemas.microsoft.com/office/drawing/2014/main" id="{6AF169C3-7B3C-5087-BC28-FDDA35CCFC17}"/>
              </a:ext>
            </a:extLst>
          </p:cNvPr>
          <p:cNvSpPr/>
          <p:nvPr/>
        </p:nvSpPr>
        <p:spPr>
          <a:xfrm>
            <a:off x="6876454" y="2625215"/>
            <a:ext cx="4928450" cy="6156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a:solidFill>
                  <a:schemeClr val="tx1">
                    <a:lumMod val="50000"/>
                  </a:schemeClr>
                </a:solidFill>
              </a:rPr>
              <a:t>Automated secure, and compliant setup of cloud environments in AWS and Azure, accelerating business onboarding and project start.</a:t>
            </a:r>
            <a:endParaRPr lang="en-US" sz="1100">
              <a:solidFill>
                <a:schemeClr val="tx1">
                  <a:lumMod val="50000"/>
                </a:schemeClr>
              </a:solidFill>
              <a:cs typeface="Arial"/>
            </a:endParaRPr>
          </a:p>
        </p:txBody>
      </p:sp>
      <p:sp>
        <p:nvSpPr>
          <p:cNvPr id="14" name="Rectangle 13">
            <a:extLst>
              <a:ext uri="{FF2B5EF4-FFF2-40B4-BE49-F238E27FC236}">
                <a16:creationId xmlns:a16="http://schemas.microsoft.com/office/drawing/2014/main" id="{9D95F16A-D122-652F-7A57-DC13738902DC}"/>
              </a:ext>
            </a:extLst>
          </p:cNvPr>
          <p:cNvSpPr/>
          <p:nvPr/>
        </p:nvSpPr>
        <p:spPr>
          <a:xfrm>
            <a:off x="6876454" y="3533765"/>
            <a:ext cx="4928450" cy="6156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a:solidFill>
                  <a:schemeClr val="tx1">
                    <a:lumMod val="50000"/>
                  </a:schemeClr>
                </a:solidFill>
              </a:rPr>
              <a:t>Codified provisioning, config management, and CI/CD enablement for consistent, scalable governable cloud deployments.</a:t>
            </a:r>
            <a:endParaRPr lang="en-US" sz="1100">
              <a:solidFill>
                <a:schemeClr val="tx1">
                  <a:lumMod val="50000"/>
                </a:schemeClr>
              </a:solidFill>
              <a:cs typeface="Arial"/>
            </a:endParaRPr>
          </a:p>
        </p:txBody>
      </p:sp>
      <p:sp>
        <p:nvSpPr>
          <p:cNvPr id="15" name="Rectangle 14">
            <a:extLst>
              <a:ext uri="{FF2B5EF4-FFF2-40B4-BE49-F238E27FC236}">
                <a16:creationId xmlns:a16="http://schemas.microsoft.com/office/drawing/2014/main" id="{954D6FBC-7FEB-0F27-634D-93A1884DC075}"/>
              </a:ext>
            </a:extLst>
          </p:cNvPr>
          <p:cNvSpPr/>
          <p:nvPr/>
        </p:nvSpPr>
        <p:spPr>
          <a:xfrm>
            <a:off x="6876454" y="4444014"/>
            <a:ext cx="4928450" cy="6156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a:solidFill>
                  <a:schemeClr val="tx1">
                    <a:lumMod val="50000"/>
                  </a:schemeClr>
                </a:solidFill>
              </a:rPr>
              <a:t>Centralized, least-privilege access controls and automated policy enforcement for secure operations at scale.</a:t>
            </a:r>
            <a:endParaRPr lang="en-US" sz="1100">
              <a:solidFill>
                <a:schemeClr val="tx1">
                  <a:lumMod val="50000"/>
                </a:schemeClr>
              </a:solidFill>
              <a:cs typeface="Arial"/>
            </a:endParaRPr>
          </a:p>
        </p:txBody>
      </p:sp>
      <p:sp>
        <p:nvSpPr>
          <p:cNvPr id="16" name="Rectangle 15">
            <a:extLst>
              <a:ext uri="{FF2B5EF4-FFF2-40B4-BE49-F238E27FC236}">
                <a16:creationId xmlns:a16="http://schemas.microsoft.com/office/drawing/2014/main" id="{08A6A4B6-C36E-D674-E527-EE5D1BF1F2C6}"/>
              </a:ext>
            </a:extLst>
          </p:cNvPr>
          <p:cNvSpPr/>
          <p:nvPr/>
        </p:nvSpPr>
        <p:spPr>
          <a:xfrm>
            <a:off x="6876454" y="5307299"/>
            <a:ext cx="4928450" cy="6156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a:solidFill>
                  <a:schemeClr val="tx1">
                    <a:lumMod val="50000"/>
                  </a:schemeClr>
                </a:solidFill>
              </a:rPr>
              <a:t>Spend visibility, tagging, budgeting and automated optimization for cloud cost stewardship and efficiency.</a:t>
            </a:r>
            <a:endParaRPr lang="en-US" sz="1100">
              <a:solidFill>
                <a:schemeClr val="tx1">
                  <a:lumMod val="50000"/>
                </a:schemeClr>
              </a:solidFill>
              <a:cs typeface="Arial"/>
            </a:endParaRPr>
          </a:p>
        </p:txBody>
      </p:sp>
      <p:cxnSp>
        <p:nvCxnSpPr>
          <p:cNvPr id="17" name="Straight Connector 16">
            <a:extLst>
              <a:ext uri="{FF2B5EF4-FFF2-40B4-BE49-F238E27FC236}">
                <a16:creationId xmlns:a16="http://schemas.microsoft.com/office/drawing/2014/main" id="{D12E96B3-4054-583E-99A1-E27862C8A5EC}"/>
              </a:ext>
            </a:extLst>
          </p:cNvPr>
          <p:cNvCxnSpPr>
            <a:cxnSpLocks/>
          </p:cNvCxnSpPr>
          <p:nvPr/>
        </p:nvCxnSpPr>
        <p:spPr>
          <a:xfrm>
            <a:off x="380999" y="2534412"/>
            <a:ext cx="1142390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98ED0BF-26E2-7814-3FF8-68BEF3F152BE}"/>
              </a:ext>
            </a:extLst>
          </p:cNvPr>
          <p:cNvSpPr/>
          <p:nvPr/>
        </p:nvSpPr>
        <p:spPr>
          <a:xfrm>
            <a:off x="380999" y="2625215"/>
            <a:ext cx="949859" cy="3303761"/>
          </a:xfrm>
          <a:prstGeom prst="rect">
            <a:avLst/>
          </a:prstGeom>
          <a:solidFill>
            <a:srgbClr val="BA0C2F"/>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a:solidFill>
                  <a:schemeClr val="bg1"/>
                </a:solidFill>
              </a:rPr>
              <a:t>Delivery</a:t>
            </a:r>
            <a:endParaRPr lang="en-US">
              <a:solidFill>
                <a:schemeClr val="bg1"/>
              </a:solidFill>
            </a:endParaRPr>
          </a:p>
        </p:txBody>
      </p:sp>
      <p:sp>
        <p:nvSpPr>
          <p:cNvPr id="18" name="Rectangle 17">
            <a:extLst>
              <a:ext uri="{FF2B5EF4-FFF2-40B4-BE49-F238E27FC236}">
                <a16:creationId xmlns:a16="http://schemas.microsoft.com/office/drawing/2014/main" id="{B55DCBD2-7142-6D2A-6869-5954731B6B35}"/>
              </a:ext>
            </a:extLst>
          </p:cNvPr>
          <p:cNvSpPr/>
          <p:nvPr/>
        </p:nvSpPr>
        <p:spPr>
          <a:xfrm>
            <a:off x="1447799" y="2625215"/>
            <a:ext cx="1603219" cy="3303761"/>
          </a:xfrm>
          <a:prstGeom prst="rect">
            <a:avLst/>
          </a:prstGeom>
          <a:solidFill>
            <a:schemeClr val="accent1"/>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a:solidFill>
                  <a:srgbClr val="000000"/>
                </a:solidFill>
              </a:rPr>
              <a:t>Enabling Platforms</a:t>
            </a:r>
            <a:endParaRPr lang="en-US"/>
          </a:p>
        </p:txBody>
      </p:sp>
      <p:sp>
        <p:nvSpPr>
          <p:cNvPr id="20" name="Rectangle 19">
            <a:extLst>
              <a:ext uri="{FF2B5EF4-FFF2-40B4-BE49-F238E27FC236}">
                <a16:creationId xmlns:a16="http://schemas.microsoft.com/office/drawing/2014/main" id="{C9608F0F-4621-48D8-232E-15D8E33D882E}"/>
              </a:ext>
            </a:extLst>
          </p:cNvPr>
          <p:cNvSpPr/>
          <p:nvPr/>
        </p:nvSpPr>
        <p:spPr>
          <a:xfrm>
            <a:off x="3167959" y="2625215"/>
            <a:ext cx="1603219" cy="3303761"/>
          </a:xfrm>
          <a:prstGeom prst="rect">
            <a:avLst/>
          </a:prstGeom>
          <a:solidFill>
            <a:schemeClr val="bg2">
              <a:lumMod val="90000"/>
            </a:schemeClr>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a:solidFill>
                  <a:srgbClr val="000000"/>
                </a:solidFill>
              </a:rPr>
              <a:t>Foundation Platform</a:t>
            </a:r>
            <a:endParaRPr lang="en-US"/>
          </a:p>
        </p:txBody>
      </p:sp>
      <p:sp>
        <p:nvSpPr>
          <p:cNvPr id="7" name="TextBox 6">
            <a:extLst>
              <a:ext uri="{FF2B5EF4-FFF2-40B4-BE49-F238E27FC236}">
                <a16:creationId xmlns:a16="http://schemas.microsoft.com/office/drawing/2014/main" id="{CAFAD12D-51C1-5D7E-CF3A-4F2295814A69}"/>
              </a:ext>
            </a:extLst>
          </p:cNvPr>
          <p:cNvSpPr txBox="1"/>
          <p:nvPr/>
        </p:nvSpPr>
        <p:spPr>
          <a:xfrm>
            <a:off x="373944" y="2341308"/>
            <a:ext cx="11437055" cy="153888"/>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000" b="1">
                <a:solidFill>
                  <a:srgbClr val="000000"/>
                </a:solidFill>
                <a:cs typeface="Arial"/>
              </a:rPr>
              <a:t>   L1 Capability                 L2 Capability                           L3 Capability                      L4 Service Category                                                                        Description</a:t>
            </a:r>
            <a:endParaRPr lang="en-US" sz="1000">
              <a:solidFill>
                <a:srgbClr val="000000"/>
              </a:solidFill>
              <a:cs typeface="Arial"/>
            </a:endParaRPr>
          </a:p>
        </p:txBody>
      </p:sp>
      <p:sp>
        <p:nvSpPr>
          <p:cNvPr id="9" name="TextBox 8">
            <a:extLst>
              <a:ext uri="{FF2B5EF4-FFF2-40B4-BE49-F238E27FC236}">
                <a16:creationId xmlns:a16="http://schemas.microsoft.com/office/drawing/2014/main" id="{2227B527-F6B2-C217-8C27-41EA32CF928A}"/>
              </a:ext>
            </a:extLst>
          </p:cNvPr>
          <p:cNvSpPr txBox="1"/>
          <p:nvPr/>
        </p:nvSpPr>
        <p:spPr>
          <a:xfrm>
            <a:off x="376296" y="2033216"/>
            <a:ext cx="6096000" cy="192360"/>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CA" sz="1250" b="1" i="0" u="none" strike="noStrike" baseline="0">
                <a:solidFill>
                  <a:srgbClr val="000000"/>
                </a:solidFill>
                <a:latin typeface="Arial"/>
                <a:ea typeface="Arial"/>
                <a:cs typeface="Arial"/>
              </a:rPr>
              <a:t>Technology categorization with descriptions:</a:t>
            </a:r>
            <a:r>
              <a:rPr sz="1250" b="0" i="0">
                <a:solidFill>
                  <a:srgbClr val="000000"/>
                </a:solidFill>
                <a:latin typeface="Arial"/>
                <a:ea typeface="Arial"/>
                <a:cs typeface="Arial"/>
              </a:rPr>
              <a:t>​</a:t>
            </a:r>
            <a:endParaRPr lang="en-US">
              <a:solidFill>
                <a:srgbClr val="000000"/>
              </a:solidFill>
              <a:cs typeface="Arial"/>
            </a:endParaRPr>
          </a:p>
        </p:txBody>
      </p:sp>
      <p:cxnSp>
        <p:nvCxnSpPr>
          <p:cNvPr id="19" name="Straight Connector 18">
            <a:extLst>
              <a:ext uri="{FF2B5EF4-FFF2-40B4-BE49-F238E27FC236}">
                <a16:creationId xmlns:a16="http://schemas.microsoft.com/office/drawing/2014/main" id="{D4B1CF80-FB8F-6CC9-4AAD-16DC6E0C3883}"/>
              </a:ext>
            </a:extLst>
          </p:cNvPr>
          <p:cNvCxnSpPr>
            <a:cxnSpLocks/>
          </p:cNvCxnSpPr>
          <p:nvPr/>
        </p:nvCxnSpPr>
        <p:spPr>
          <a:xfrm>
            <a:off x="4938384" y="4309006"/>
            <a:ext cx="6880698" cy="10297"/>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A01851D-302E-2230-CEC3-330755ED19E3}"/>
              </a:ext>
            </a:extLst>
          </p:cNvPr>
          <p:cNvCxnSpPr>
            <a:cxnSpLocks/>
          </p:cNvCxnSpPr>
          <p:nvPr/>
        </p:nvCxnSpPr>
        <p:spPr>
          <a:xfrm>
            <a:off x="4932154" y="5199658"/>
            <a:ext cx="6880698" cy="41189"/>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960F14E-0894-16A0-C656-298B402C4F1B}"/>
              </a:ext>
            </a:extLst>
          </p:cNvPr>
          <p:cNvCxnSpPr>
            <a:cxnSpLocks/>
          </p:cNvCxnSpPr>
          <p:nvPr/>
        </p:nvCxnSpPr>
        <p:spPr>
          <a:xfrm>
            <a:off x="4917789" y="3361654"/>
            <a:ext cx="6880698" cy="10297"/>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B321139-4ABA-FF28-B53B-09285596FC25}"/>
              </a:ext>
            </a:extLst>
          </p:cNvPr>
          <p:cNvSpPr txBox="1"/>
          <p:nvPr/>
        </p:nvSpPr>
        <p:spPr>
          <a:xfrm>
            <a:off x="385541" y="5989674"/>
            <a:ext cx="5040600" cy="184666"/>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a:cs typeface="Arial"/>
              </a:rPr>
              <a:t>* Business Values for L4 level categories are listed in Appendix</a:t>
            </a:r>
          </a:p>
        </p:txBody>
      </p:sp>
    </p:spTree>
    <p:extLst>
      <p:ext uri="{BB962C8B-B14F-4D97-AF65-F5344CB8AC3E}">
        <p14:creationId xmlns:p14="http://schemas.microsoft.com/office/powerpoint/2010/main" val="3855297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49381F4-16D8-1E5E-9C77-BCB69BABA122}"/>
              </a:ext>
            </a:extLst>
          </p:cNvPr>
          <p:cNvSpPr>
            <a:spLocks noGrp="1"/>
          </p:cNvSpPr>
          <p:nvPr>
            <p:ph type="ftr" sz="quarter" idx="11"/>
          </p:nvPr>
        </p:nvSpPr>
        <p:spPr/>
        <p:txBody>
          <a:bodyPr/>
          <a:lstStyle/>
          <a:p>
            <a:r>
              <a:rPr lang="en-CA"/>
              <a:t>CONFIDENTIAL</a:t>
            </a:r>
          </a:p>
        </p:txBody>
      </p:sp>
      <p:sp>
        <p:nvSpPr>
          <p:cNvPr id="3" name="TextBox 2">
            <a:extLst>
              <a:ext uri="{FF2B5EF4-FFF2-40B4-BE49-F238E27FC236}">
                <a16:creationId xmlns:a16="http://schemas.microsoft.com/office/drawing/2014/main" id="{766DFD54-3062-FD92-FD28-5DAF4362862B}"/>
              </a:ext>
            </a:extLst>
          </p:cNvPr>
          <p:cNvSpPr txBox="1"/>
          <p:nvPr/>
        </p:nvSpPr>
        <p:spPr>
          <a:xfrm>
            <a:off x="4797136" y="2900795"/>
            <a:ext cx="2831523" cy="677108"/>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US" sz="3200" baseline="0">
                <a:solidFill>
                  <a:srgbClr val="BA0C2F"/>
                </a:solidFill>
                <a:latin typeface="Arial"/>
              </a:rPr>
              <a:t>Current State</a:t>
            </a:r>
            <a:r>
              <a:rPr sz="3200">
                <a:latin typeface="Arial"/>
                <a:ea typeface="Arial"/>
                <a:cs typeface="Arial"/>
              </a:rPr>
              <a:t>​</a:t>
            </a:r>
            <a:endParaRPr lang="en-US"/>
          </a:p>
          <a:p>
            <a:pPr marL="228600" indent="-228600" algn="l">
              <a:spcAft>
                <a:spcPts val="500"/>
              </a:spcAft>
              <a:buFont typeface="Arial" panose="020B0604020202020204" pitchFamily="34" charset="0"/>
              <a:buChar char="•"/>
            </a:pPr>
            <a:endParaRPr lang="en-US" sz="1200"/>
          </a:p>
        </p:txBody>
      </p:sp>
    </p:spTree>
    <p:extLst>
      <p:ext uri="{BB962C8B-B14F-4D97-AF65-F5344CB8AC3E}">
        <p14:creationId xmlns:p14="http://schemas.microsoft.com/office/powerpoint/2010/main" val="1574948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4114FA7-2A24-D5DD-2427-CE3BD98B588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3" name="think-cell data - do not delete" hidden="1">
                        <a:extLst>
                          <a:ext uri="{FF2B5EF4-FFF2-40B4-BE49-F238E27FC236}">
                            <a16:creationId xmlns:a16="http://schemas.microsoft.com/office/drawing/2014/main" id="{D4114FA7-2A24-D5DD-2427-CE3BD98B588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1">
            <a:extLst>
              <a:ext uri="{FF2B5EF4-FFF2-40B4-BE49-F238E27FC236}">
                <a16:creationId xmlns:a16="http://schemas.microsoft.com/office/drawing/2014/main" id="{37042E03-417A-56A9-3190-0190669EA5E6}"/>
              </a:ext>
            </a:extLst>
          </p:cNvPr>
          <p:cNvSpPr txBox="1">
            <a:spLocks/>
          </p:cNvSpPr>
          <p:nvPr/>
        </p:nvSpPr>
        <p:spPr>
          <a:xfrm>
            <a:off x="384048" y="309282"/>
            <a:ext cx="11420856" cy="605118"/>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r>
              <a:rPr lang="en-CA" sz="2800"/>
              <a:t>Enterprise Cloud Landscape</a:t>
            </a:r>
            <a:endParaRPr lang="en-US"/>
          </a:p>
        </p:txBody>
      </p:sp>
      <p:sp>
        <p:nvSpPr>
          <p:cNvPr id="138" name="Date Placeholder 4">
            <a:extLst>
              <a:ext uri="{FF2B5EF4-FFF2-40B4-BE49-F238E27FC236}">
                <a16:creationId xmlns:a16="http://schemas.microsoft.com/office/drawing/2014/main" id="{CEAB9601-2BAB-A997-2BDA-394645CCCE73}"/>
              </a:ext>
            </a:extLst>
          </p:cNvPr>
          <p:cNvSpPr>
            <a:spLocks noGrp="1"/>
          </p:cNvSpPr>
          <p:nvPr>
            <p:ph type="dt" sz="half" idx="14"/>
          </p:nvPr>
        </p:nvSpPr>
        <p:spPr>
          <a:xfrm>
            <a:off x="9499714" y="6199971"/>
            <a:ext cx="111898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827D7-FDA3-42C2-9B0F-2CCD53D6A475}" type="datetime4">
              <a:rPr kumimoji="0" lang="en-US" sz="900" b="0" i="0" u="none" strike="noStrike" kern="1200" cap="none" spc="0" normalizeH="0" baseline="0" noProof="0" smtClean="0">
                <a:ln>
                  <a:noFill/>
                </a:ln>
                <a:solidFill>
                  <a:srgbClr val="515349">
                    <a:tint val="7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July 31, 2026</a:t>
            </a:fld>
            <a:endParaRPr kumimoji="0" lang="en-US" sz="900" b="0" i="0" u="none" strike="noStrike" kern="1200" cap="none" spc="0" normalizeH="0" baseline="0" noProof="0">
              <a:ln>
                <a:noFill/>
              </a:ln>
              <a:solidFill>
                <a:srgbClr val="515349">
                  <a:tint val="75000"/>
                </a:srgbClr>
              </a:solidFill>
              <a:effectLst/>
              <a:uLnTx/>
              <a:uFillTx/>
              <a:latin typeface="Arial" panose="020B0604020202020204"/>
              <a:ea typeface="+mn-ea"/>
              <a:cs typeface="+mn-cs"/>
            </a:endParaRPr>
          </a:p>
        </p:txBody>
      </p:sp>
      <p:sp>
        <p:nvSpPr>
          <p:cNvPr id="29" name="Rectangle 28">
            <a:extLst>
              <a:ext uri="{FF2B5EF4-FFF2-40B4-BE49-F238E27FC236}">
                <a16:creationId xmlns:a16="http://schemas.microsoft.com/office/drawing/2014/main" id="{8D5A5810-9E60-7463-0B0C-2AFC0CCA2DB3}"/>
              </a:ext>
            </a:extLst>
          </p:cNvPr>
          <p:cNvSpPr/>
          <p:nvPr/>
        </p:nvSpPr>
        <p:spPr>
          <a:xfrm>
            <a:off x="1120470" y="4434373"/>
            <a:ext cx="6524673" cy="1444033"/>
          </a:xfrm>
          <a:prstGeom prst="roundRect">
            <a:avLst/>
          </a:prstGeom>
          <a:solidFill>
            <a:srgbClr val="F0CCD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CA" sz="1200" b="1">
                <a:solidFill>
                  <a:srgbClr val="000000"/>
                </a:solidFill>
                <a:latin typeface="+mj-lt"/>
              </a:rPr>
              <a:t>Canada Life operates in a Hybrid multi-cloud platform environment </a:t>
            </a:r>
            <a:r>
              <a:rPr lang="en-CA" sz="1200">
                <a:solidFill>
                  <a:srgbClr val="000000"/>
                </a:solidFill>
                <a:latin typeface="+mj-lt"/>
              </a:rPr>
              <a:t>which enables innovative optionality and flexibility and protects Canda Life from supplier concentration risk.</a:t>
            </a:r>
            <a:endParaRPr lang="en-CA" sz="1200">
              <a:solidFill>
                <a:srgbClr val="000000"/>
              </a:solidFill>
              <a:latin typeface="+mj-lt"/>
              <a:cs typeface="Arial"/>
            </a:endParaRPr>
          </a:p>
          <a:p>
            <a:pPr>
              <a:defRPr/>
            </a:pPr>
            <a:endParaRPr lang="en-CA" sz="1200">
              <a:solidFill>
                <a:srgbClr val="000000"/>
              </a:solidFill>
              <a:latin typeface="+mj-lt"/>
            </a:endParaRPr>
          </a:p>
          <a:p>
            <a:pPr marL="228600" indent="-228600">
              <a:buFont typeface="Arial" panose="020B0604020202020204" pitchFamily="34" charset="0"/>
              <a:buChar char="•"/>
              <a:defRPr/>
            </a:pPr>
            <a:r>
              <a:rPr lang="en-CA" sz="1000">
                <a:solidFill>
                  <a:srgbClr val="000000"/>
                </a:solidFill>
                <a:latin typeface="+mj-lt"/>
              </a:rPr>
              <a:t>Active-Active foundation across region(s)  (Azure, AWS, GCP)</a:t>
            </a:r>
            <a:endParaRPr lang="en-CA" sz="1000">
              <a:solidFill>
                <a:srgbClr val="000000"/>
              </a:solidFill>
              <a:latin typeface="+mj-lt"/>
              <a:cs typeface="Arial"/>
            </a:endParaRPr>
          </a:p>
          <a:p>
            <a:pPr marL="228600" marR="0" lvl="0" indent="-228600" algn="l" defTabSz="914400" rtl="0" eaLnBrk="1" fontAlgn="auto" latinLnBrk="0" hangingPunct="1">
              <a:lnSpc>
                <a:spcPct val="100000"/>
              </a:lnSpc>
              <a:spcBef>
                <a:spcPts val="0"/>
              </a:spcBef>
              <a:buClrTx/>
              <a:buSzTx/>
              <a:buFont typeface="Arial" panose="020B0604020202020204" pitchFamily="34" charset="0"/>
              <a:buChar char="•"/>
              <a:tabLst/>
              <a:defRPr/>
            </a:pPr>
            <a:r>
              <a:rPr lang="en-CA" sz="1000">
                <a:solidFill>
                  <a:srgbClr val="000000"/>
                </a:solidFill>
                <a:latin typeface="+mj-lt"/>
              </a:rPr>
              <a:t>Platform services are highly resilient </a:t>
            </a:r>
            <a:endParaRPr lang="en-CA" sz="1000">
              <a:solidFill>
                <a:srgbClr val="000000"/>
              </a:solidFill>
              <a:latin typeface="+mj-lt"/>
              <a:cs typeface="Arial"/>
            </a:endParaRPr>
          </a:p>
          <a:p>
            <a:pPr marL="228600" indent="-228600">
              <a:buFont typeface="Arial" panose="020B0604020202020204" pitchFamily="34" charset="0"/>
              <a:buChar char="•"/>
              <a:defRPr/>
            </a:pPr>
            <a:r>
              <a:rPr lang="en-CA" sz="1000">
                <a:solidFill>
                  <a:srgbClr val="000000"/>
                </a:solidFill>
                <a:latin typeface="+mj-lt"/>
              </a:rPr>
              <a:t>Significant catalog of platforms and services available from each cloud provider</a:t>
            </a:r>
            <a:endParaRPr lang="en-CA" sz="1000">
              <a:solidFill>
                <a:srgbClr val="000000"/>
              </a:solidFill>
              <a:latin typeface="+mj-lt"/>
              <a:cs typeface="Arial"/>
            </a:endParaRPr>
          </a:p>
        </p:txBody>
      </p:sp>
      <p:sp>
        <p:nvSpPr>
          <p:cNvPr id="2053" name="TextBox 2052">
            <a:extLst>
              <a:ext uri="{FF2B5EF4-FFF2-40B4-BE49-F238E27FC236}">
                <a16:creationId xmlns:a16="http://schemas.microsoft.com/office/drawing/2014/main" id="{ED8F769D-8456-0E7B-8C49-DA34E286CD43}"/>
              </a:ext>
            </a:extLst>
          </p:cNvPr>
          <p:cNvSpPr txBox="1"/>
          <p:nvPr/>
        </p:nvSpPr>
        <p:spPr>
          <a:xfrm>
            <a:off x="8305916" y="1825223"/>
            <a:ext cx="2967613" cy="4053183"/>
          </a:xfrm>
          <a:prstGeom prst="rect">
            <a:avLst/>
          </a:prstGeom>
          <a:solidFill>
            <a:schemeClr val="bg1">
              <a:lumMod val="95000"/>
            </a:schemeClr>
          </a:solid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lIns="91440" tIns="45720" rIns="91440" bIns="45720" anchor="ctr">
            <a:noAutofit/>
          </a:bodyPr>
          <a:lstStyle/>
          <a:p>
            <a:r>
              <a:rPr lang="en-CA" sz="1200" b="1">
                <a:solidFill>
                  <a:schemeClr val="tx1">
                    <a:lumMod val="50000"/>
                  </a:schemeClr>
                </a:solidFill>
              </a:rPr>
              <a:t>Why Hybrid Multi-Cloud?</a:t>
            </a:r>
            <a:endParaRPr lang="en-CA" sz="1200" b="1">
              <a:solidFill>
                <a:schemeClr val="tx1">
                  <a:lumMod val="50000"/>
                </a:schemeClr>
              </a:solidFill>
              <a:cs typeface="Arial"/>
            </a:endParaRPr>
          </a:p>
          <a:p>
            <a:endParaRPr lang="en-CA" sz="1000">
              <a:solidFill>
                <a:schemeClr val="tx1">
                  <a:lumMod val="50000"/>
                </a:schemeClr>
              </a:solidFill>
              <a:cs typeface="Arial"/>
            </a:endParaRPr>
          </a:p>
          <a:p>
            <a:pPr marL="171450" indent="-171450">
              <a:buFont typeface="Arial" panose="020B0604020202020204" pitchFamily="34" charset="0"/>
              <a:buChar char="•"/>
            </a:pPr>
            <a:r>
              <a:rPr lang="en-CA" sz="1000">
                <a:solidFill>
                  <a:schemeClr val="tx1">
                    <a:lumMod val="50000"/>
                  </a:schemeClr>
                </a:solidFill>
              </a:rPr>
              <a:t>Scalability, security, cost, control, and speed</a:t>
            </a:r>
            <a:endParaRPr lang="en-CA" sz="1000">
              <a:solidFill>
                <a:schemeClr val="tx1">
                  <a:lumMod val="50000"/>
                </a:schemeClr>
              </a:solidFill>
              <a:cs typeface="Arial"/>
            </a:endParaRPr>
          </a:p>
          <a:p>
            <a:endParaRPr lang="en-CA" sz="1000">
              <a:solidFill>
                <a:schemeClr val="tx1">
                  <a:lumMod val="50000"/>
                </a:schemeClr>
              </a:solidFill>
              <a:cs typeface="Arial"/>
            </a:endParaRPr>
          </a:p>
          <a:p>
            <a:pPr marL="171450" indent="-171450">
              <a:buFont typeface="Arial" panose="020B0604020202020204" pitchFamily="34" charset="0"/>
              <a:buChar char="•"/>
            </a:pPr>
            <a:r>
              <a:rPr lang="en-CA" sz="1000">
                <a:solidFill>
                  <a:schemeClr val="tx1">
                    <a:lumMod val="50000"/>
                  </a:schemeClr>
                </a:solidFill>
              </a:rPr>
              <a:t>More flexibility and avoiding vendor lock-in</a:t>
            </a:r>
            <a:endParaRPr lang="en-CA" sz="1000">
              <a:solidFill>
                <a:schemeClr val="tx1">
                  <a:lumMod val="50000"/>
                </a:schemeClr>
              </a:solidFill>
              <a:cs typeface="Arial"/>
            </a:endParaRPr>
          </a:p>
          <a:p>
            <a:endParaRPr lang="en-CA" sz="1000">
              <a:solidFill>
                <a:schemeClr val="tx1">
                  <a:lumMod val="50000"/>
                </a:schemeClr>
              </a:solidFill>
              <a:cs typeface="Arial"/>
            </a:endParaRPr>
          </a:p>
          <a:p>
            <a:pPr marL="171450" indent="-171450">
              <a:buFont typeface="Arial" panose="020B0604020202020204" pitchFamily="34" charset="0"/>
              <a:buChar char="•"/>
            </a:pPr>
            <a:r>
              <a:rPr lang="en-CA" sz="1000">
                <a:solidFill>
                  <a:schemeClr val="tx1">
                    <a:lumMod val="50000"/>
                  </a:schemeClr>
                </a:solidFill>
              </a:rPr>
              <a:t>High availability to prevent website outages</a:t>
            </a:r>
            <a:endParaRPr lang="en-CA" sz="1000">
              <a:solidFill>
                <a:schemeClr val="tx1">
                  <a:lumMod val="50000"/>
                </a:schemeClr>
              </a:solidFill>
              <a:cs typeface="Arial"/>
            </a:endParaRPr>
          </a:p>
          <a:p>
            <a:endParaRPr lang="en-CA" sz="1000">
              <a:solidFill>
                <a:schemeClr val="tx1">
                  <a:lumMod val="50000"/>
                </a:schemeClr>
              </a:solidFill>
              <a:cs typeface="Arial"/>
            </a:endParaRPr>
          </a:p>
          <a:p>
            <a:pPr marL="171450" indent="-171450">
              <a:buFont typeface="Arial" panose="020B0604020202020204" pitchFamily="34" charset="0"/>
              <a:buChar char="•"/>
            </a:pPr>
            <a:r>
              <a:rPr lang="en-CA" sz="1000">
                <a:solidFill>
                  <a:schemeClr val="tx1">
                    <a:lumMod val="50000"/>
                  </a:schemeClr>
                </a:solidFill>
              </a:rPr>
              <a:t>Strong data protection and risk mitigation plan</a:t>
            </a:r>
            <a:endParaRPr lang="en-CA" sz="1000">
              <a:solidFill>
                <a:schemeClr val="tx1">
                  <a:lumMod val="50000"/>
                </a:schemeClr>
              </a:solidFill>
              <a:cs typeface="Arial"/>
            </a:endParaRPr>
          </a:p>
          <a:p>
            <a:endParaRPr lang="en-CA" sz="1000">
              <a:solidFill>
                <a:schemeClr val="tx1">
                  <a:lumMod val="50000"/>
                </a:schemeClr>
              </a:solidFill>
              <a:cs typeface="Arial"/>
            </a:endParaRPr>
          </a:p>
          <a:p>
            <a:pPr marL="171450" indent="-171450">
              <a:buFont typeface="Arial" panose="020B0604020202020204" pitchFamily="34" charset="0"/>
              <a:buChar char="•"/>
            </a:pPr>
            <a:r>
              <a:rPr lang="en-CA" sz="1000">
                <a:solidFill>
                  <a:schemeClr val="tx1">
                    <a:lumMod val="50000"/>
                  </a:schemeClr>
                </a:solidFill>
              </a:rPr>
              <a:t>Best latency and load times for customers </a:t>
            </a:r>
            <a:endParaRPr lang="en-CA" sz="1000">
              <a:solidFill>
                <a:schemeClr val="tx1">
                  <a:lumMod val="50000"/>
                </a:schemeClr>
              </a:solidFill>
              <a:cs typeface="Arial"/>
            </a:endParaRPr>
          </a:p>
          <a:p>
            <a:endParaRPr lang="en-CA" sz="1000">
              <a:solidFill>
                <a:schemeClr val="tx1">
                  <a:lumMod val="50000"/>
                </a:schemeClr>
              </a:solidFill>
              <a:cs typeface="Arial"/>
            </a:endParaRPr>
          </a:p>
          <a:p>
            <a:pPr marL="171450" indent="-171450">
              <a:buFont typeface="Arial" panose="020B0604020202020204" pitchFamily="34" charset="0"/>
              <a:buChar char="•"/>
            </a:pPr>
            <a:r>
              <a:rPr lang="en-CA" sz="1000">
                <a:solidFill>
                  <a:schemeClr val="tx1">
                    <a:lumMod val="50000"/>
                  </a:schemeClr>
                </a:solidFill>
              </a:rPr>
              <a:t>Competitive pricing between cloud providers</a:t>
            </a:r>
            <a:endParaRPr lang="en-CA" sz="1000">
              <a:solidFill>
                <a:schemeClr val="tx1">
                  <a:lumMod val="50000"/>
                </a:schemeClr>
              </a:solidFill>
              <a:cs typeface="Arial"/>
            </a:endParaRPr>
          </a:p>
          <a:p>
            <a:endParaRPr lang="en-CA" sz="1000">
              <a:solidFill>
                <a:schemeClr val="tx1">
                  <a:lumMod val="50000"/>
                </a:schemeClr>
              </a:solidFill>
              <a:cs typeface="Arial"/>
            </a:endParaRPr>
          </a:p>
          <a:p>
            <a:pPr marL="171450" indent="-171450">
              <a:buFont typeface="Arial" panose="020B0604020202020204" pitchFamily="34" charset="0"/>
              <a:buChar char="•"/>
            </a:pPr>
            <a:r>
              <a:rPr lang="en-CA" sz="1000">
                <a:solidFill>
                  <a:schemeClr val="tx1">
                    <a:lumMod val="50000"/>
                  </a:schemeClr>
                </a:solidFill>
              </a:rPr>
              <a:t>Constant access to network performance improvements </a:t>
            </a:r>
            <a:endParaRPr lang="en-CA" sz="1000">
              <a:solidFill>
                <a:schemeClr val="tx1">
                  <a:lumMod val="50000"/>
                </a:schemeClr>
              </a:solidFill>
              <a:cs typeface="Arial"/>
            </a:endParaRPr>
          </a:p>
          <a:p>
            <a:endParaRPr lang="en-CA" sz="1000">
              <a:solidFill>
                <a:schemeClr val="tx1">
                  <a:lumMod val="50000"/>
                </a:schemeClr>
              </a:solidFill>
              <a:cs typeface="Arial"/>
            </a:endParaRPr>
          </a:p>
          <a:p>
            <a:pPr marL="171450" indent="-171450">
              <a:buFont typeface="Arial" panose="020B0604020202020204" pitchFamily="34" charset="0"/>
              <a:buChar char="•"/>
            </a:pPr>
            <a:r>
              <a:rPr lang="en-CA" sz="1000">
                <a:solidFill>
                  <a:schemeClr val="tx1">
                    <a:lumMod val="50000"/>
                  </a:schemeClr>
                </a:solidFill>
              </a:rPr>
              <a:t>Following region-specific compliance rules</a:t>
            </a:r>
            <a:endParaRPr lang="en-CA" sz="1000">
              <a:solidFill>
                <a:schemeClr val="tx1">
                  <a:lumMod val="50000"/>
                </a:schemeClr>
              </a:solidFill>
              <a:cs typeface="Arial"/>
            </a:endParaRPr>
          </a:p>
        </p:txBody>
      </p:sp>
      <p:sp>
        <p:nvSpPr>
          <p:cNvPr id="2054" name="Arrow: Pentagon 2053">
            <a:extLst>
              <a:ext uri="{FF2B5EF4-FFF2-40B4-BE49-F238E27FC236}">
                <a16:creationId xmlns:a16="http://schemas.microsoft.com/office/drawing/2014/main" id="{2F80FBDC-4720-472D-AFAA-DEDE45ACE2F1}"/>
              </a:ext>
            </a:extLst>
          </p:cNvPr>
          <p:cNvSpPr/>
          <p:nvPr/>
        </p:nvSpPr>
        <p:spPr>
          <a:xfrm>
            <a:off x="7884164" y="1832796"/>
            <a:ext cx="330406" cy="4053183"/>
          </a:xfrm>
          <a:prstGeom prst="homePlate">
            <a:avLst/>
          </a:prstGeom>
          <a:solidFill>
            <a:schemeClr val="bg2">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rmAutofit/>
          </a:bodyPr>
          <a:lstStyle/>
          <a:p>
            <a:pPr algn="l"/>
            <a:endParaRPr lang="en-CA"/>
          </a:p>
        </p:txBody>
      </p:sp>
      <p:pic>
        <p:nvPicPr>
          <p:cNvPr id="5" name="Graphic 15">
            <a:extLst>
              <a:ext uri="{FF2B5EF4-FFF2-40B4-BE49-F238E27FC236}">
                <a16:creationId xmlns:a16="http://schemas.microsoft.com/office/drawing/2014/main" id="{1828607E-E088-530D-A2FE-5341EE9ADB1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55907" y="2657797"/>
            <a:ext cx="1795793" cy="1075113"/>
          </a:xfrm>
          <a:prstGeom prst="rect">
            <a:avLst/>
          </a:prstGeom>
        </p:spPr>
      </p:pic>
      <p:pic>
        <p:nvPicPr>
          <p:cNvPr id="6" name="Picture 5" descr="Microsoft Azure - Cloud 1">
            <a:extLst>
              <a:ext uri="{FF2B5EF4-FFF2-40B4-BE49-F238E27FC236}">
                <a16:creationId xmlns:a16="http://schemas.microsoft.com/office/drawing/2014/main" id="{A9CE6DE5-14F8-2527-471D-C06BEF6AEA4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97077" y="2430495"/>
            <a:ext cx="1256084" cy="125608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Google Cloud Logo - PNG and Vector - Logo Download">
            <a:extLst>
              <a:ext uri="{FF2B5EF4-FFF2-40B4-BE49-F238E27FC236}">
                <a16:creationId xmlns:a16="http://schemas.microsoft.com/office/drawing/2014/main" id="{DD1AF626-61C6-9827-4C7C-686D1BD8CCD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93364" y="2014883"/>
            <a:ext cx="1836155" cy="114942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81E26CB2-B37A-DC52-2030-8C4D4302DBDC}"/>
              </a:ext>
            </a:extLst>
          </p:cNvPr>
          <p:cNvSpPr/>
          <p:nvPr/>
        </p:nvSpPr>
        <p:spPr>
          <a:xfrm>
            <a:off x="1054933" y="1825223"/>
            <a:ext cx="2113019" cy="2460170"/>
          </a:xfrm>
          <a:prstGeom prst="rect">
            <a:avLst/>
          </a:prstGeom>
          <a:noFill/>
          <a:ln w="3175">
            <a:solidFill>
              <a:schemeClr val="tx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err="1">
              <a:ln>
                <a:noFill/>
              </a:ln>
              <a:solidFill>
                <a:srgbClr val="FFFFFF"/>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20A3F1C4-65AE-D936-6698-133126681F38}"/>
              </a:ext>
            </a:extLst>
          </p:cNvPr>
          <p:cNvSpPr/>
          <p:nvPr/>
        </p:nvSpPr>
        <p:spPr>
          <a:xfrm>
            <a:off x="1120470" y="3247574"/>
            <a:ext cx="1982369" cy="97008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lang="en-CA" sz="1000" b="0" i="0" u="none" strike="noStrike" kern="1200" cap="none" spc="0" normalizeH="0" baseline="0" noProof="0">
                <a:ln>
                  <a:noFill/>
                </a:ln>
                <a:solidFill>
                  <a:schemeClr val="tx1">
                    <a:lumMod val="50000"/>
                  </a:schemeClr>
                </a:solidFill>
                <a:effectLst/>
                <a:uLnTx/>
                <a:uFillTx/>
                <a:latin typeface="Arial" panose="020B0604020202020204"/>
                <a:ea typeface="+mn-ea"/>
                <a:cs typeface="+mn-cs"/>
              </a:rPr>
              <a:t>GCP Exit in progress</a:t>
            </a:r>
            <a:endParaRPr lang="en-CA" sz="1000" b="0" i="0" u="none" strike="noStrike" kern="1200" cap="none" spc="0" normalizeH="0" baseline="0" noProof="0">
              <a:ln>
                <a:noFill/>
              </a:ln>
              <a:solidFill>
                <a:schemeClr val="tx1">
                  <a:lumMod val="50000"/>
                </a:schemeClr>
              </a:solidFill>
              <a:effectLst/>
              <a:uLnTx/>
              <a:uFillTx/>
              <a:latin typeface="Arial" panose="020B0604020202020204"/>
              <a:cs typeface="Arial"/>
            </a:endParaRPr>
          </a:p>
          <a:p>
            <a:pPr marL="171450" indent="-171450">
              <a:spcAft>
                <a:spcPts val="500"/>
              </a:spcAft>
              <a:buFont typeface="Arial" panose="020B0604020202020204" pitchFamily="34" charset="0"/>
              <a:buChar char="•"/>
              <a:defRPr/>
            </a:pPr>
            <a:r>
              <a:rPr kumimoji="0" lang="en-CA" sz="1000" b="0" i="0" u="none" strike="noStrike" kern="1200" cap="none" spc="0" normalizeH="0" baseline="0" noProof="0">
                <a:ln>
                  <a:noFill/>
                </a:ln>
                <a:solidFill>
                  <a:schemeClr val="tx1">
                    <a:lumMod val="50000"/>
                  </a:schemeClr>
                </a:solidFill>
                <a:effectLst/>
                <a:uLnTx/>
                <a:uFillTx/>
                <a:latin typeface="Arial" panose="020B0604020202020204"/>
                <a:ea typeface="+mn-ea"/>
                <a:cs typeface="+mn-cs"/>
              </a:rPr>
              <a:t>SaaS </a:t>
            </a:r>
            <a:r>
              <a:rPr lang="en-CA" sz="1000">
                <a:solidFill>
                  <a:schemeClr val="tx1">
                    <a:lumMod val="50000"/>
                  </a:schemeClr>
                </a:solidFill>
                <a:latin typeface="Arial" panose="020B0604020202020204"/>
              </a:rPr>
              <a:t>offering Apigee to remain in GCP</a:t>
            </a:r>
            <a:endParaRPr lang="en-CA" sz="1000" b="0" i="0" u="none" strike="noStrike" kern="1200" cap="none" spc="0" normalizeH="0" baseline="0" noProof="0">
              <a:ln>
                <a:noFill/>
              </a:ln>
              <a:solidFill>
                <a:schemeClr val="tx1">
                  <a:lumMod val="50000"/>
                </a:schemeClr>
              </a:solidFill>
              <a:effectLst/>
              <a:uLnTx/>
              <a:uFillTx/>
              <a:latin typeface="Arial" panose="020B0604020202020204"/>
              <a:cs typeface="Arial"/>
            </a:endParaRPr>
          </a:p>
        </p:txBody>
      </p:sp>
      <p:sp>
        <p:nvSpPr>
          <p:cNvPr id="12" name="Rectangle 11">
            <a:extLst>
              <a:ext uri="{FF2B5EF4-FFF2-40B4-BE49-F238E27FC236}">
                <a16:creationId xmlns:a16="http://schemas.microsoft.com/office/drawing/2014/main" id="{B39F6B47-53B6-C0B8-DEB7-D45B2B5F64BD}"/>
              </a:ext>
            </a:extLst>
          </p:cNvPr>
          <p:cNvSpPr/>
          <p:nvPr/>
        </p:nvSpPr>
        <p:spPr>
          <a:xfrm>
            <a:off x="3368417" y="1825223"/>
            <a:ext cx="2113019" cy="2460170"/>
          </a:xfrm>
          <a:prstGeom prst="rect">
            <a:avLst/>
          </a:prstGeom>
          <a:noFill/>
          <a:ln w="3175">
            <a:solidFill>
              <a:schemeClr val="tx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err="1">
              <a:ln>
                <a:noFill/>
              </a:ln>
              <a:solidFill>
                <a:srgbClr val="FFFFFF"/>
              </a:solidFill>
              <a:effectLst/>
              <a:uLnTx/>
              <a:uFillTx/>
              <a:latin typeface="Arial" panose="020B0604020202020204"/>
              <a:ea typeface="+mn-ea"/>
              <a:cs typeface="+mn-cs"/>
            </a:endParaRPr>
          </a:p>
        </p:txBody>
      </p:sp>
      <p:sp>
        <p:nvSpPr>
          <p:cNvPr id="14" name="Rectangle 13">
            <a:extLst>
              <a:ext uri="{FF2B5EF4-FFF2-40B4-BE49-F238E27FC236}">
                <a16:creationId xmlns:a16="http://schemas.microsoft.com/office/drawing/2014/main" id="{565E80D0-2E85-B484-F335-ED9D011C019E}"/>
              </a:ext>
            </a:extLst>
          </p:cNvPr>
          <p:cNvSpPr/>
          <p:nvPr/>
        </p:nvSpPr>
        <p:spPr>
          <a:xfrm>
            <a:off x="5597237" y="1825223"/>
            <a:ext cx="2113019" cy="2460170"/>
          </a:xfrm>
          <a:prstGeom prst="rect">
            <a:avLst/>
          </a:prstGeom>
          <a:noFill/>
          <a:ln w="3175">
            <a:solidFill>
              <a:schemeClr val="tx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err="1">
              <a:ln>
                <a:noFill/>
              </a:ln>
              <a:solidFill>
                <a:srgbClr val="FFFFFF"/>
              </a:solidFill>
              <a:effectLst/>
              <a:uLnTx/>
              <a:uFillTx/>
              <a:latin typeface="Arial" panose="020B0604020202020204"/>
              <a:ea typeface="+mn-ea"/>
              <a:cs typeface="+mn-cs"/>
            </a:endParaRPr>
          </a:p>
        </p:txBody>
      </p:sp>
      <p:sp>
        <p:nvSpPr>
          <p:cNvPr id="18" name="Rectangle 17">
            <a:extLst>
              <a:ext uri="{FF2B5EF4-FFF2-40B4-BE49-F238E27FC236}">
                <a16:creationId xmlns:a16="http://schemas.microsoft.com/office/drawing/2014/main" id="{DB29A4B4-CF18-BF08-A9F3-D11B4F58F2F4}"/>
              </a:ext>
            </a:extLst>
          </p:cNvPr>
          <p:cNvSpPr/>
          <p:nvPr/>
        </p:nvSpPr>
        <p:spPr>
          <a:xfrm>
            <a:off x="3283753" y="1376159"/>
            <a:ext cx="4515747" cy="2992500"/>
          </a:xfrm>
          <a:prstGeom prst="rect">
            <a:avLst/>
          </a:prstGeom>
          <a:noFill/>
          <a:ln w="127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R="0" lvl="0" algn="l" defTabSz="914400" rtl="0" eaLnBrk="1" fontAlgn="auto" latinLnBrk="0" hangingPunct="1">
              <a:lnSpc>
                <a:spcPct val="100000"/>
              </a:lnSpc>
              <a:spcBef>
                <a:spcPts val="0"/>
              </a:spcBef>
              <a:spcAft>
                <a:spcPts val="500"/>
              </a:spcAft>
              <a:buClrTx/>
              <a:buSzTx/>
              <a:tabLst/>
              <a:defRPr/>
            </a:pPr>
            <a:r>
              <a:rPr kumimoji="0" lang="en-CA" sz="1400" b="0" i="0" u="none" strike="noStrike" kern="1200" cap="none" spc="0" normalizeH="0" baseline="0" noProof="0">
                <a:ln>
                  <a:noFill/>
                </a:ln>
                <a:solidFill>
                  <a:srgbClr val="C00000"/>
                </a:solidFill>
                <a:effectLst/>
                <a:uLnTx/>
                <a:uFillTx/>
                <a:latin typeface="Arial" panose="020B0604020202020204"/>
                <a:ea typeface="+mn-ea"/>
                <a:cs typeface="+mn-cs"/>
              </a:rPr>
              <a:t>Strategic platforms for service hosting</a:t>
            </a:r>
          </a:p>
        </p:txBody>
      </p:sp>
    </p:spTree>
    <p:extLst>
      <p:ext uri="{BB962C8B-B14F-4D97-AF65-F5344CB8AC3E}">
        <p14:creationId xmlns:p14="http://schemas.microsoft.com/office/powerpoint/2010/main" val="1752079174"/>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6C0C8-5A50-AE92-A193-D01BB6A5A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409DA-60BE-60AA-D698-E949A22F0494}"/>
              </a:ext>
            </a:extLst>
          </p:cNvPr>
          <p:cNvSpPr>
            <a:spLocks noGrp="1"/>
          </p:cNvSpPr>
          <p:nvPr>
            <p:ph type="title"/>
          </p:nvPr>
        </p:nvSpPr>
        <p:spPr/>
        <p:txBody>
          <a:bodyPr>
            <a:normAutofit/>
          </a:bodyPr>
          <a:lstStyle/>
          <a:p>
            <a:r>
              <a:rPr lang="en-US">
                <a:cs typeface="Arial"/>
              </a:rPr>
              <a:t>High Level Current State Architecture</a:t>
            </a:r>
            <a:endParaRPr lang="en-US"/>
          </a:p>
        </p:txBody>
      </p:sp>
      <p:sp>
        <p:nvSpPr>
          <p:cNvPr id="3" name="Footer Placeholder 2">
            <a:extLst>
              <a:ext uri="{FF2B5EF4-FFF2-40B4-BE49-F238E27FC236}">
                <a16:creationId xmlns:a16="http://schemas.microsoft.com/office/drawing/2014/main" id="{F8557554-4EF6-AA64-7CE7-593C24B7FA7E}"/>
              </a:ext>
            </a:extLst>
          </p:cNvPr>
          <p:cNvSpPr>
            <a:spLocks noGrp="1"/>
          </p:cNvSpPr>
          <p:nvPr>
            <p:ph type="ftr" sz="quarter" idx="11"/>
          </p:nvPr>
        </p:nvSpPr>
        <p:spPr/>
        <p:txBody>
          <a:bodyPr/>
          <a:lstStyle/>
          <a:p>
            <a:r>
              <a:rPr lang="en-CA"/>
              <a:t>CONFIDENTIAL</a:t>
            </a:r>
          </a:p>
        </p:txBody>
      </p:sp>
      <p:sp>
        <p:nvSpPr>
          <p:cNvPr id="4" name="Date Placeholder 3">
            <a:extLst>
              <a:ext uri="{FF2B5EF4-FFF2-40B4-BE49-F238E27FC236}">
                <a16:creationId xmlns:a16="http://schemas.microsoft.com/office/drawing/2014/main" id="{E9C334B6-93AF-034F-4052-D880ECD3ACD6}"/>
              </a:ext>
            </a:extLst>
          </p:cNvPr>
          <p:cNvSpPr>
            <a:spLocks noGrp="1"/>
          </p:cNvSpPr>
          <p:nvPr>
            <p:ph type="dt" sz="half" idx="13"/>
          </p:nvPr>
        </p:nvSpPr>
        <p:spPr/>
        <p:txBody>
          <a:bodyPr/>
          <a:lstStyle/>
          <a:p>
            <a:fld id="{B01D7BC3-961C-46B9-A6DE-2A4B9BFDFACA}" type="datetime1">
              <a:rPr lang="en-US" smtClean="0"/>
              <a:t>7/31/2026</a:t>
            </a:fld>
            <a:endParaRPr lang="en-CA"/>
          </a:p>
        </p:txBody>
      </p:sp>
      <p:pic>
        <p:nvPicPr>
          <p:cNvPr id="5" name="Picture 4" descr="A screenshot of a computer&#10;&#10;AI-generated content may be incorrect.">
            <a:extLst>
              <a:ext uri="{FF2B5EF4-FFF2-40B4-BE49-F238E27FC236}">
                <a16:creationId xmlns:a16="http://schemas.microsoft.com/office/drawing/2014/main" id="{00DBFE00-5A30-AB4A-D329-BE299D9B9620}"/>
              </a:ext>
            </a:extLst>
          </p:cNvPr>
          <p:cNvPicPr>
            <a:picLocks noChangeAspect="1"/>
          </p:cNvPicPr>
          <p:nvPr/>
        </p:nvPicPr>
        <p:blipFill>
          <a:blip r:embed="rId3"/>
          <a:stretch>
            <a:fillRect/>
          </a:stretch>
        </p:blipFill>
        <p:spPr>
          <a:xfrm>
            <a:off x="1642063" y="1077854"/>
            <a:ext cx="8136466" cy="5191477"/>
          </a:xfrm>
          <a:prstGeom prst="rect">
            <a:avLst/>
          </a:prstGeom>
        </p:spPr>
      </p:pic>
    </p:spTree>
    <p:extLst>
      <p:ext uri="{BB962C8B-B14F-4D97-AF65-F5344CB8AC3E}">
        <p14:creationId xmlns:p14="http://schemas.microsoft.com/office/powerpoint/2010/main" val="3636594078"/>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F228CB8C-0A5C-88B1-27E0-34AFCE483B32}"/>
              </a:ext>
            </a:extLst>
          </p:cNvPr>
          <p:cNvSpPr/>
          <p:nvPr/>
        </p:nvSpPr>
        <p:spPr>
          <a:xfrm>
            <a:off x="380654" y="2716530"/>
            <a:ext cx="1364673" cy="1122045"/>
          </a:xfrm>
          <a:prstGeom prst="horizontalScroll">
            <a:avLst/>
          </a:prstGeom>
          <a:solidFill>
            <a:srgbClr val="F0CCD2"/>
          </a:solidFill>
          <a:effectLst>
            <a:outerShdw blurRad="63500" dist="38100" dir="2700000">
              <a:srgbClr val="000000">
                <a:alpha val="40000"/>
              </a:srgbClr>
            </a:outerShdw>
            <a:reflection stA="40000" endPos="54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400" b="1">
                <a:solidFill>
                  <a:srgbClr val="BA0C2F"/>
                </a:solidFill>
                <a:cs typeface="Arial" panose="020B0604020202020204"/>
              </a:rPr>
              <a:t>Current </a:t>
            </a:r>
            <a:endParaRPr lang="en-US" sz="1400">
              <a:solidFill>
                <a:srgbClr val="BA0C2F"/>
              </a:solidFill>
              <a:cs typeface="Arial"/>
            </a:endParaRPr>
          </a:p>
          <a:p>
            <a:r>
              <a:rPr lang="en-US" sz="1400" b="1">
                <a:solidFill>
                  <a:srgbClr val="BA0C2F"/>
                </a:solidFill>
                <a:cs typeface="Arial" panose="020B0604020202020204"/>
              </a:rPr>
              <a:t>Maturity</a:t>
            </a:r>
            <a:endParaRPr lang="en-US" sz="1400">
              <a:solidFill>
                <a:srgbClr val="BA0C2F"/>
              </a:solidFill>
              <a:cs typeface="Arial"/>
            </a:endParaRPr>
          </a:p>
          <a:p>
            <a:r>
              <a:rPr lang="en-US" sz="1400" b="1">
                <a:solidFill>
                  <a:srgbClr val="BA0C2F"/>
                </a:solidFill>
                <a:cs typeface="Arial" panose="020B0604020202020204"/>
              </a:rPr>
              <a:t>Level</a:t>
            </a:r>
          </a:p>
        </p:txBody>
      </p:sp>
      <p:sp>
        <p:nvSpPr>
          <p:cNvPr id="2" name="Title 1">
            <a:extLst>
              <a:ext uri="{FF2B5EF4-FFF2-40B4-BE49-F238E27FC236}">
                <a16:creationId xmlns:a16="http://schemas.microsoft.com/office/drawing/2014/main" id="{9DADC490-1774-B19E-3A16-8B6EB5A4CD98}"/>
              </a:ext>
            </a:extLst>
          </p:cNvPr>
          <p:cNvSpPr>
            <a:spLocks noGrp="1"/>
          </p:cNvSpPr>
          <p:nvPr>
            <p:ph type="title"/>
          </p:nvPr>
        </p:nvSpPr>
        <p:spPr/>
        <p:txBody>
          <a:bodyPr>
            <a:normAutofit fontScale="90000"/>
          </a:bodyPr>
          <a:lstStyle/>
          <a:p>
            <a:r>
              <a:rPr lang="en-US">
                <a:cs typeface="Arial"/>
              </a:rPr>
              <a:t>5 Level Cloud Maturity Model – Aligned with AWS &amp; Microsoft CAF</a:t>
            </a:r>
            <a:endParaRPr lang="en-US"/>
          </a:p>
        </p:txBody>
      </p:sp>
      <p:sp>
        <p:nvSpPr>
          <p:cNvPr id="3" name="Footer Placeholder 2">
            <a:extLst>
              <a:ext uri="{FF2B5EF4-FFF2-40B4-BE49-F238E27FC236}">
                <a16:creationId xmlns:a16="http://schemas.microsoft.com/office/drawing/2014/main" id="{47EA5155-39DF-E486-D236-C968D55782C1}"/>
              </a:ext>
            </a:extLst>
          </p:cNvPr>
          <p:cNvSpPr>
            <a:spLocks noGrp="1"/>
          </p:cNvSpPr>
          <p:nvPr>
            <p:ph type="ftr" sz="quarter" idx="11"/>
          </p:nvPr>
        </p:nvSpPr>
        <p:spPr/>
        <p:txBody>
          <a:bodyPr/>
          <a:lstStyle/>
          <a:p>
            <a:r>
              <a:rPr lang="en-CA"/>
              <a:t>CONFIDENTIAL</a:t>
            </a:r>
          </a:p>
        </p:txBody>
      </p:sp>
      <p:sp>
        <p:nvSpPr>
          <p:cNvPr id="4" name="Date Placeholder 3">
            <a:extLst>
              <a:ext uri="{FF2B5EF4-FFF2-40B4-BE49-F238E27FC236}">
                <a16:creationId xmlns:a16="http://schemas.microsoft.com/office/drawing/2014/main" id="{E290BF3E-F5FD-CAAA-5950-5D870811409C}"/>
              </a:ext>
            </a:extLst>
          </p:cNvPr>
          <p:cNvSpPr>
            <a:spLocks noGrp="1"/>
          </p:cNvSpPr>
          <p:nvPr>
            <p:ph type="dt" sz="half" idx="13"/>
          </p:nvPr>
        </p:nvSpPr>
        <p:spPr/>
        <p:txBody>
          <a:bodyPr/>
          <a:lstStyle/>
          <a:p>
            <a:fld id="{B01D7BC3-961C-46B9-A6DE-2A4B9BFDFACA}" type="datetime1">
              <a:rPr lang="en-US" smtClean="0"/>
              <a:t>7/31/2026</a:t>
            </a:fld>
            <a:endParaRPr lang="en-CA"/>
          </a:p>
        </p:txBody>
      </p:sp>
      <p:graphicFrame>
        <p:nvGraphicFramePr>
          <p:cNvPr id="394" name="Table 393">
            <a:extLst>
              <a:ext uri="{FF2B5EF4-FFF2-40B4-BE49-F238E27FC236}">
                <a16:creationId xmlns:a16="http://schemas.microsoft.com/office/drawing/2014/main" id="{7F5AC956-24C8-54A3-48C7-A935E02CC6C9}"/>
              </a:ext>
            </a:extLst>
          </p:cNvPr>
          <p:cNvGraphicFramePr>
            <a:graphicFrameLocks noGrp="1"/>
          </p:cNvGraphicFramePr>
          <p:nvPr>
            <p:extLst>
              <p:ext uri="{D42A27DB-BD31-4B8C-83A1-F6EECF244321}">
                <p14:modId xmlns:p14="http://schemas.microsoft.com/office/powerpoint/2010/main" val="3840777569"/>
              </p:ext>
            </p:extLst>
          </p:nvPr>
        </p:nvGraphicFramePr>
        <p:xfrm>
          <a:off x="2009913" y="1181099"/>
          <a:ext cx="8168634" cy="3627989"/>
        </p:xfrm>
        <a:graphic>
          <a:graphicData uri="http://schemas.openxmlformats.org/drawingml/2006/table">
            <a:tbl>
              <a:tblPr firstRow="1" bandRow="1">
                <a:tableStyleId>{5C22544A-7EE6-4342-B048-85BDC9FD1C3A}</a:tableStyleId>
              </a:tblPr>
              <a:tblGrid>
                <a:gridCol w="940776">
                  <a:extLst>
                    <a:ext uri="{9D8B030D-6E8A-4147-A177-3AD203B41FA5}">
                      <a16:colId xmlns:a16="http://schemas.microsoft.com/office/drawing/2014/main" val="1457427546"/>
                    </a:ext>
                  </a:extLst>
                </a:gridCol>
                <a:gridCol w="1406769">
                  <a:extLst>
                    <a:ext uri="{9D8B030D-6E8A-4147-A177-3AD203B41FA5}">
                      <a16:colId xmlns:a16="http://schemas.microsoft.com/office/drawing/2014/main" val="503574734"/>
                    </a:ext>
                  </a:extLst>
                </a:gridCol>
                <a:gridCol w="3006969">
                  <a:extLst>
                    <a:ext uri="{9D8B030D-6E8A-4147-A177-3AD203B41FA5}">
                      <a16:colId xmlns:a16="http://schemas.microsoft.com/office/drawing/2014/main" val="872954105"/>
                    </a:ext>
                  </a:extLst>
                </a:gridCol>
                <a:gridCol w="2814120">
                  <a:extLst>
                    <a:ext uri="{9D8B030D-6E8A-4147-A177-3AD203B41FA5}">
                      <a16:colId xmlns:a16="http://schemas.microsoft.com/office/drawing/2014/main" val="3784574962"/>
                    </a:ext>
                  </a:extLst>
                </a:gridCol>
              </a:tblGrid>
              <a:tr h="492369">
                <a:tc>
                  <a:txBody>
                    <a:bodyPr/>
                    <a:lstStyle/>
                    <a:p>
                      <a:pPr marL="0" lvl="0" indent="0" algn="ctr">
                        <a:buNone/>
                      </a:pPr>
                      <a:r>
                        <a:rPr lang="en-US" sz="1200" b="1">
                          <a:solidFill>
                            <a:schemeClr val="bg1"/>
                          </a:solidFill>
                        </a:rPr>
                        <a:t>*</a:t>
                      </a:r>
                      <a:r>
                        <a:rPr lang="en-US" sz="1200" b="0">
                          <a:solidFill>
                            <a:schemeClr val="bg1"/>
                          </a:solidFill>
                        </a:rPr>
                        <a:t> Level</a:t>
                      </a:r>
                    </a:p>
                  </a:txBody>
                  <a:tcPr anchor="ctr">
                    <a:solidFill>
                      <a:schemeClr val="accent1"/>
                    </a:solidFill>
                  </a:tcPr>
                </a:tc>
                <a:tc>
                  <a:txBody>
                    <a:bodyPr/>
                    <a:lstStyle/>
                    <a:p>
                      <a:pPr algn="ctr"/>
                      <a:r>
                        <a:rPr lang="en-US" sz="1200" b="0">
                          <a:solidFill>
                            <a:schemeClr val="bg1"/>
                          </a:solidFill>
                        </a:rPr>
                        <a:t>Name</a:t>
                      </a:r>
                    </a:p>
                  </a:txBody>
                  <a:tcPr anchor="ctr">
                    <a:solidFill>
                      <a:schemeClr val="accent1"/>
                    </a:solidFill>
                  </a:tcPr>
                </a:tc>
                <a:tc>
                  <a:txBody>
                    <a:bodyPr/>
                    <a:lstStyle/>
                    <a:p>
                      <a:pPr lvl="0" algn="ctr">
                        <a:buNone/>
                      </a:pPr>
                      <a:r>
                        <a:rPr lang="en-US" sz="1200" b="1">
                          <a:solidFill>
                            <a:srgbClr val="000000"/>
                          </a:solidFill>
                        </a:rPr>
                        <a:t>What it Means</a:t>
                      </a:r>
                    </a:p>
                    <a:p>
                      <a:pPr lvl="0" algn="ctr">
                        <a:buNone/>
                      </a:pPr>
                      <a:r>
                        <a:rPr lang="en-US" sz="1200" b="1">
                          <a:solidFill>
                            <a:srgbClr val="000000"/>
                          </a:solidFill>
                        </a:rPr>
                        <a:t>(Cloud Foundations)</a:t>
                      </a:r>
                    </a:p>
                  </a:txBody>
                  <a:tcPr anchor="ctr">
                    <a:solidFill>
                      <a:schemeClr val="bg2"/>
                    </a:solidFill>
                  </a:tcPr>
                </a:tc>
                <a:tc>
                  <a:txBody>
                    <a:bodyPr/>
                    <a:lstStyle/>
                    <a:p>
                      <a:pPr algn="ctr"/>
                      <a:r>
                        <a:rPr lang="en-US" sz="1200">
                          <a:solidFill>
                            <a:srgbClr val="000000"/>
                          </a:solidFill>
                        </a:rPr>
                        <a:t>Measurable Indicators</a:t>
                      </a:r>
                    </a:p>
                  </a:txBody>
                  <a:tcPr anchor="ctr">
                    <a:solidFill>
                      <a:schemeClr val="bg2"/>
                    </a:solidFill>
                  </a:tcPr>
                </a:tc>
                <a:extLst>
                  <a:ext uri="{0D108BD9-81ED-4DB2-BD59-A6C34878D82A}">
                    <a16:rowId xmlns:a16="http://schemas.microsoft.com/office/drawing/2014/main" val="3354194302"/>
                  </a:ext>
                </a:extLst>
              </a:tr>
              <a:tr h="627124">
                <a:tc>
                  <a:txBody>
                    <a:bodyPr/>
                    <a:lstStyle/>
                    <a:p>
                      <a:pPr algn="ctr"/>
                      <a:r>
                        <a:rPr lang="en-US" sz="1400" b="1">
                          <a:solidFill>
                            <a:schemeClr val="bg1"/>
                          </a:solidFill>
                        </a:rPr>
                        <a:t>1</a:t>
                      </a:r>
                    </a:p>
                  </a:txBody>
                  <a:tcPr anchor="ctr">
                    <a:solidFill>
                      <a:schemeClr val="accent1"/>
                    </a:solidFill>
                  </a:tcPr>
                </a:tc>
                <a:tc>
                  <a:txBody>
                    <a:bodyPr/>
                    <a:lstStyle/>
                    <a:p>
                      <a:pPr lvl="0" algn="ctr">
                        <a:buNone/>
                      </a:pPr>
                      <a:r>
                        <a:rPr lang="en-US" b="1">
                          <a:solidFill>
                            <a:schemeClr val="bg1"/>
                          </a:solidFill>
                        </a:rPr>
                        <a:t>Initial</a:t>
                      </a:r>
                    </a:p>
                  </a:txBody>
                  <a:tcPr anchor="ctr">
                    <a:solidFill>
                      <a:schemeClr val="accent1"/>
                    </a:solidFill>
                  </a:tcPr>
                </a:tc>
                <a:tc>
                  <a:txBody>
                    <a:bodyPr/>
                    <a:lstStyle/>
                    <a:p>
                      <a:pPr lvl="0">
                        <a:buNone/>
                      </a:pPr>
                      <a:r>
                        <a:rPr lang="en-US" sz="1000" b="0" i="0" u="none" strike="noStrike" noProof="0">
                          <a:solidFill>
                            <a:schemeClr val="tx1"/>
                          </a:solidFill>
                          <a:latin typeface="Arial"/>
                        </a:rPr>
                        <a:t>Ad-hoc use; </a:t>
                      </a:r>
                      <a:endParaRPr lang="en-US" sz="1000">
                        <a:solidFill>
                          <a:schemeClr val="tx1"/>
                        </a:solidFill>
                      </a:endParaRPr>
                    </a:p>
                    <a:p>
                      <a:pPr lvl="0">
                        <a:buNone/>
                      </a:pPr>
                      <a:r>
                        <a:rPr lang="en-US" sz="1000" b="0" i="0" u="none" strike="noStrike" noProof="0">
                          <a:solidFill>
                            <a:schemeClr val="tx1"/>
                          </a:solidFill>
                          <a:latin typeface="Arial"/>
                        </a:rPr>
                        <a:t>siloed pilots; </a:t>
                      </a:r>
                      <a:endParaRPr lang="en-US" sz="1000">
                        <a:solidFill>
                          <a:schemeClr val="tx1"/>
                        </a:solidFill>
                      </a:endParaRPr>
                    </a:p>
                    <a:p>
                      <a:pPr lvl="0">
                        <a:buNone/>
                      </a:pPr>
                      <a:r>
                        <a:rPr lang="en-US" sz="1000" b="0" i="0" u="none" strike="noStrike" noProof="0">
                          <a:solidFill>
                            <a:schemeClr val="tx1"/>
                          </a:solidFill>
                          <a:latin typeface="Arial"/>
                        </a:rPr>
                        <a:t>minimal standards/governance.</a:t>
                      </a:r>
                      <a:endParaRPr lang="en-US" sz="1000">
                        <a:solidFill>
                          <a:schemeClr val="tx1"/>
                        </a:solidFill>
                      </a:endParaRPr>
                    </a:p>
                  </a:txBody>
                  <a:tcPr anchor="ctr">
                    <a:solidFill>
                      <a:schemeClr val="bg2"/>
                    </a:solidFill>
                  </a:tcPr>
                </a:tc>
                <a:tc>
                  <a:txBody>
                    <a:bodyPr/>
                    <a:lstStyle/>
                    <a:p>
                      <a:pPr lvl="0">
                        <a:buNone/>
                      </a:pPr>
                      <a:r>
                        <a:rPr lang="en-US" sz="1000" b="0" i="0" u="none" strike="noStrike" noProof="0">
                          <a:solidFill>
                            <a:schemeClr val="tx1"/>
                          </a:solidFill>
                          <a:latin typeface="Arial"/>
                        </a:rPr>
                        <a:t>&lt;20% </a:t>
                      </a:r>
                      <a:r>
                        <a:rPr lang="en-US" sz="1000" b="0" i="0" u="none" strike="noStrike" noProof="0" err="1">
                          <a:solidFill>
                            <a:schemeClr val="tx1"/>
                          </a:solidFill>
                          <a:latin typeface="Arial"/>
                        </a:rPr>
                        <a:t>IaC</a:t>
                      </a:r>
                      <a:r>
                        <a:rPr lang="en-US" sz="1000" b="0" i="0" u="none" strike="noStrike" noProof="0">
                          <a:solidFill>
                            <a:schemeClr val="tx1"/>
                          </a:solidFill>
                          <a:latin typeface="Arial"/>
                        </a:rPr>
                        <a:t> coverage; ad-hoc accounts; low tagging; basic monitoring only</a:t>
                      </a:r>
                      <a:endParaRPr lang="en-US" sz="1000">
                        <a:solidFill>
                          <a:schemeClr val="tx1"/>
                        </a:solidFill>
                      </a:endParaRPr>
                    </a:p>
                  </a:txBody>
                  <a:tcPr anchor="ctr">
                    <a:solidFill>
                      <a:schemeClr val="bg2"/>
                    </a:solidFill>
                  </a:tcPr>
                </a:tc>
                <a:extLst>
                  <a:ext uri="{0D108BD9-81ED-4DB2-BD59-A6C34878D82A}">
                    <a16:rowId xmlns:a16="http://schemas.microsoft.com/office/drawing/2014/main" val="3540324706"/>
                  </a:ext>
                </a:extLst>
              </a:tr>
              <a:tr h="627124">
                <a:tc>
                  <a:txBody>
                    <a:bodyPr/>
                    <a:lstStyle/>
                    <a:p>
                      <a:pPr algn="ctr"/>
                      <a:r>
                        <a:rPr lang="en-US" sz="1400" b="1">
                          <a:solidFill>
                            <a:schemeClr val="bg1"/>
                          </a:solidFill>
                        </a:rPr>
                        <a:t>2</a:t>
                      </a:r>
                    </a:p>
                  </a:txBody>
                  <a:tcPr anchor="ctr">
                    <a:solidFill>
                      <a:schemeClr val="accent1"/>
                    </a:solidFill>
                  </a:tcPr>
                </a:tc>
                <a:tc>
                  <a:txBody>
                    <a:bodyPr/>
                    <a:lstStyle/>
                    <a:p>
                      <a:pPr lvl="0" algn="ctr">
                        <a:buNone/>
                      </a:pPr>
                      <a:r>
                        <a:rPr lang="en-US" b="1">
                          <a:solidFill>
                            <a:schemeClr val="bg1"/>
                          </a:solidFill>
                        </a:rPr>
                        <a:t>Managed</a:t>
                      </a:r>
                    </a:p>
                  </a:txBody>
                  <a:tcPr anchor="ctr">
                    <a:solidFill>
                      <a:schemeClr val="accent1"/>
                    </a:solidFill>
                  </a:tcPr>
                </a:tc>
                <a:tc>
                  <a:txBody>
                    <a:bodyPr/>
                    <a:lstStyle/>
                    <a:p>
                      <a:pPr lvl="0">
                        <a:buNone/>
                      </a:pPr>
                      <a:r>
                        <a:rPr lang="en-US" sz="1000" b="0" i="0" u="none" strike="noStrike" noProof="0">
                          <a:solidFill>
                            <a:schemeClr val="tx1"/>
                          </a:solidFill>
                          <a:latin typeface="Arial"/>
                        </a:rPr>
                        <a:t>Foundational guardrails in place; </a:t>
                      </a:r>
                      <a:endParaRPr lang="en-US">
                        <a:solidFill>
                          <a:schemeClr val="tx1"/>
                        </a:solidFill>
                      </a:endParaRPr>
                    </a:p>
                    <a:p>
                      <a:pPr lvl="0">
                        <a:buNone/>
                      </a:pPr>
                      <a:r>
                        <a:rPr lang="en-US" sz="1000" b="0" i="0" u="none" strike="noStrike" noProof="0">
                          <a:solidFill>
                            <a:schemeClr val="tx1"/>
                          </a:solidFill>
                          <a:latin typeface="Arial"/>
                        </a:rPr>
                        <a:t>landing zones; basic automation; </a:t>
                      </a:r>
                      <a:endParaRPr lang="en-US">
                        <a:solidFill>
                          <a:schemeClr val="tx1"/>
                        </a:solidFill>
                      </a:endParaRPr>
                    </a:p>
                    <a:p>
                      <a:pPr lvl="0">
                        <a:buNone/>
                      </a:pPr>
                      <a:r>
                        <a:rPr lang="en-US" sz="1000" b="0" i="0" u="none" strike="noStrike" noProof="0">
                          <a:solidFill>
                            <a:schemeClr val="tx1"/>
                          </a:solidFill>
                          <a:latin typeface="Arial"/>
                        </a:rPr>
                        <a:t>repeatable patterns.</a:t>
                      </a:r>
                      <a:endParaRPr lang="en-US">
                        <a:solidFill>
                          <a:schemeClr val="tx1"/>
                        </a:solidFill>
                      </a:endParaRPr>
                    </a:p>
                  </a:txBody>
                  <a:tcPr anchor="ctr">
                    <a:solidFill>
                      <a:schemeClr val="bg2"/>
                    </a:solidFill>
                  </a:tcPr>
                </a:tc>
                <a:tc>
                  <a:txBody>
                    <a:bodyPr/>
                    <a:lstStyle/>
                    <a:p>
                      <a:pPr lvl="0">
                        <a:buNone/>
                      </a:pPr>
                      <a:r>
                        <a:rPr lang="en-US" sz="1000" b="0" i="0" u="none" strike="noStrike" noProof="0">
                          <a:solidFill>
                            <a:schemeClr val="tx1"/>
                          </a:solidFill>
                          <a:latin typeface="Arial"/>
                        </a:rPr>
                        <a:t>40–60% </a:t>
                      </a:r>
                      <a:r>
                        <a:rPr lang="en-US" sz="1000" b="0" i="0" u="none" strike="noStrike" noProof="0" err="1">
                          <a:solidFill>
                            <a:schemeClr val="tx1"/>
                          </a:solidFill>
                          <a:latin typeface="Arial"/>
                        </a:rPr>
                        <a:t>IaC</a:t>
                      </a:r>
                      <a:r>
                        <a:rPr lang="en-US" sz="1000" b="0" i="0" u="none" strike="noStrike" noProof="0">
                          <a:solidFill>
                            <a:schemeClr val="tx1"/>
                          </a:solidFill>
                          <a:latin typeface="Arial"/>
                        </a:rPr>
                        <a:t>; RBAC baseline; 70% resource tagging; starter CI/CD; cost reporting exists</a:t>
                      </a:r>
                      <a:endParaRPr lang="en-US" sz="1000">
                        <a:solidFill>
                          <a:schemeClr val="tx1"/>
                        </a:solidFill>
                      </a:endParaRPr>
                    </a:p>
                  </a:txBody>
                  <a:tcPr anchor="ctr">
                    <a:solidFill>
                      <a:schemeClr val="bg2"/>
                    </a:solidFill>
                  </a:tcPr>
                </a:tc>
                <a:extLst>
                  <a:ext uri="{0D108BD9-81ED-4DB2-BD59-A6C34878D82A}">
                    <a16:rowId xmlns:a16="http://schemas.microsoft.com/office/drawing/2014/main" val="4243760218"/>
                  </a:ext>
                </a:extLst>
              </a:tr>
              <a:tr h="627124">
                <a:tc>
                  <a:txBody>
                    <a:bodyPr/>
                    <a:lstStyle/>
                    <a:p>
                      <a:pPr algn="ctr"/>
                      <a:r>
                        <a:rPr lang="en-US" sz="1400" b="1">
                          <a:solidFill>
                            <a:schemeClr val="bg1"/>
                          </a:solidFill>
                        </a:rPr>
                        <a:t>3</a:t>
                      </a:r>
                    </a:p>
                  </a:txBody>
                  <a:tcPr anchor="ctr">
                    <a:solidFill>
                      <a:srgbClr val="BA0C2F"/>
                    </a:solidFill>
                  </a:tcPr>
                </a:tc>
                <a:tc>
                  <a:txBody>
                    <a:bodyPr/>
                    <a:lstStyle/>
                    <a:p>
                      <a:pPr lvl="0" algn="ctr">
                        <a:buNone/>
                      </a:pPr>
                      <a:r>
                        <a:rPr lang="en-US" b="1">
                          <a:solidFill>
                            <a:schemeClr val="bg1"/>
                          </a:solidFill>
                        </a:rPr>
                        <a:t>Defined</a:t>
                      </a:r>
                    </a:p>
                  </a:txBody>
                  <a:tcPr anchor="ctr">
                    <a:solidFill>
                      <a:schemeClr val="accent1"/>
                    </a:solidFill>
                  </a:tcPr>
                </a:tc>
                <a:tc>
                  <a:txBody>
                    <a:bodyPr/>
                    <a:lstStyle/>
                    <a:p>
                      <a:pPr lvl="0">
                        <a:buNone/>
                      </a:pPr>
                      <a:r>
                        <a:rPr lang="en-US" sz="1000" b="0" i="0" u="none" strike="noStrike" noProof="0">
                          <a:solidFill>
                            <a:schemeClr val="tx1"/>
                          </a:solidFill>
                          <a:latin typeface="Arial"/>
                        </a:rPr>
                        <a:t>Enterprise standards &amp; reference architectures; </a:t>
                      </a:r>
                      <a:endParaRPr lang="en-US">
                        <a:solidFill>
                          <a:schemeClr val="tx1"/>
                        </a:solidFill>
                      </a:endParaRPr>
                    </a:p>
                    <a:p>
                      <a:pPr lvl="0">
                        <a:buNone/>
                      </a:pPr>
                      <a:r>
                        <a:rPr lang="en-US" sz="1000" b="0" i="0" u="none" strike="noStrike" noProof="0">
                          <a:solidFill>
                            <a:schemeClr val="tx1"/>
                          </a:solidFill>
                          <a:latin typeface="Arial"/>
                        </a:rPr>
                        <a:t>governed operations; integrated DevOps; </a:t>
                      </a:r>
                      <a:endParaRPr lang="en-US">
                        <a:solidFill>
                          <a:schemeClr val="tx1"/>
                        </a:solidFill>
                      </a:endParaRPr>
                    </a:p>
                    <a:p>
                      <a:pPr lvl="0">
                        <a:buNone/>
                      </a:pPr>
                      <a:r>
                        <a:rPr lang="en-US" sz="1000" b="0" i="0" u="none" strike="noStrike" noProof="0">
                          <a:solidFill>
                            <a:schemeClr val="tx1"/>
                          </a:solidFill>
                          <a:latin typeface="Arial"/>
                        </a:rPr>
                        <a:t>baseline FinOps &amp; SecOps.</a:t>
                      </a:r>
                      <a:endParaRPr lang="en-US">
                        <a:solidFill>
                          <a:schemeClr val="tx1"/>
                        </a:solidFill>
                      </a:endParaRPr>
                    </a:p>
                  </a:txBody>
                  <a:tcPr anchor="ctr">
                    <a:solidFill>
                      <a:schemeClr val="bg2"/>
                    </a:solidFill>
                  </a:tcPr>
                </a:tc>
                <a:tc>
                  <a:txBody>
                    <a:bodyPr/>
                    <a:lstStyle/>
                    <a:p>
                      <a:pPr lvl="0">
                        <a:buNone/>
                      </a:pPr>
                      <a:r>
                        <a:rPr lang="en-US" sz="1000" b="0" i="0" u="none" strike="noStrike" noProof="0">
                          <a:solidFill>
                            <a:schemeClr val="tx1"/>
                          </a:solidFill>
                          <a:latin typeface="Arial"/>
                        </a:rPr>
                        <a:t>70–85% </a:t>
                      </a:r>
                      <a:r>
                        <a:rPr lang="en-US" sz="1000" b="0" i="0" u="none" strike="noStrike" noProof="0" err="1">
                          <a:solidFill>
                            <a:schemeClr val="tx1"/>
                          </a:solidFill>
                          <a:latin typeface="Arial"/>
                        </a:rPr>
                        <a:t>IaC</a:t>
                      </a:r>
                      <a:r>
                        <a:rPr lang="en-US" sz="1000" b="0" i="0" u="none" strike="noStrike" noProof="0">
                          <a:solidFill>
                            <a:schemeClr val="tx1"/>
                          </a:solidFill>
                          <a:latin typeface="Arial"/>
                        </a:rPr>
                        <a:t>; policy-as-code; centralized logging/metrics; FinOps dashboards; </a:t>
                      </a:r>
                      <a:endParaRPr lang="en-US">
                        <a:solidFill>
                          <a:schemeClr val="tx1"/>
                        </a:solidFill>
                      </a:endParaRPr>
                    </a:p>
                    <a:p>
                      <a:pPr lvl="0">
                        <a:buNone/>
                      </a:pPr>
                      <a:r>
                        <a:rPr lang="en-US" sz="1000" b="0" i="0" u="none" strike="noStrike" noProof="0">
                          <a:solidFill>
                            <a:schemeClr val="tx1"/>
                          </a:solidFill>
                          <a:latin typeface="Arial"/>
                        </a:rPr>
                        <a:t>security automation</a:t>
                      </a:r>
                      <a:endParaRPr lang="en-US">
                        <a:solidFill>
                          <a:schemeClr val="tx1"/>
                        </a:solidFill>
                      </a:endParaRPr>
                    </a:p>
                  </a:txBody>
                  <a:tcPr anchor="ctr">
                    <a:solidFill>
                      <a:schemeClr val="bg2"/>
                    </a:solidFill>
                  </a:tcPr>
                </a:tc>
                <a:extLst>
                  <a:ext uri="{0D108BD9-81ED-4DB2-BD59-A6C34878D82A}">
                    <a16:rowId xmlns:a16="http://schemas.microsoft.com/office/drawing/2014/main" val="3527625151"/>
                  </a:ext>
                </a:extLst>
              </a:tr>
              <a:tr h="627124">
                <a:tc>
                  <a:txBody>
                    <a:bodyPr/>
                    <a:lstStyle/>
                    <a:p>
                      <a:pPr algn="ctr"/>
                      <a:r>
                        <a:rPr lang="en-US" sz="1400" b="1">
                          <a:solidFill>
                            <a:schemeClr val="bg1"/>
                          </a:solidFill>
                        </a:rPr>
                        <a:t>4</a:t>
                      </a:r>
                    </a:p>
                  </a:txBody>
                  <a:tcPr anchor="ctr">
                    <a:solidFill>
                      <a:schemeClr val="accent1"/>
                    </a:solidFill>
                  </a:tcPr>
                </a:tc>
                <a:tc>
                  <a:txBody>
                    <a:bodyPr/>
                    <a:lstStyle/>
                    <a:p>
                      <a:pPr lvl="0" algn="ctr">
                        <a:buNone/>
                      </a:pPr>
                      <a:r>
                        <a:rPr lang="en-US" b="1">
                          <a:solidFill>
                            <a:schemeClr val="bg1"/>
                          </a:solidFill>
                        </a:rPr>
                        <a:t>Measured</a:t>
                      </a:r>
                    </a:p>
                  </a:txBody>
                  <a:tcPr anchor="ctr">
                    <a:solidFill>
                      <a:schemeClr val="accent1"/>
                    </a:solidFill>
                  </a:tcPr>
                </a:tc>
                <a:tc>
                  <a:txBody>
                    <a:bodyPr/>
                    <a:lstStyle/>
                    <a:p>
                      <a:pPr lvl="0">
                        <a:buNone/>
                      </a:pPr>
                      <a:r>
                        <a:rPr lang="en-US" sz="1000" b="0" i="0" u="none" strike="noStrike" noProof="0">
                          <a:solidFill>
                            <a:schemeClr val="tx1"/>
                          </a:solidFill>
                          <a:latin typeface="Arial"/>
                        </a:rPr>
                        <a:t>Data-driven operations; SRE embedded; </a:t>
                      </a:r>
                      <a:endParaRPr lang="en-US">
                        <a:solidFill>
                          <a:schemeClr val="tx1"/>
                        </a:solidFill>
                      </a:endParaRPr>
                    </a:p>
                    <a:p>
                      <a:pPr lvl="0">
                        <a:buNone/>
                      </a:pPr>
                      <a:r>
                        <a:rPr lang="en-US" sz="1000" b="0" i="0" u="none" strike="noStrike" noProof="0">
                          <a:solidFill>
                            <a:schemeClr val="tx1"/>
                          </a:solidFill>
                          <a:latin typeface="Arial"/>
                        </a:rPr>
                        <a:t>multi-cloud consistently governed; </a:t>
                      </a:r>
                      <a:endParaRPr lang="en-US">
                        <a:solidFill>
                          <a:schemeClr val="tx1"/>
                        </a:solidFill>
                      </a:endParaRPr>
                    </a:p>
                    <a:p>
                      <a:pPr lvl="0">
                        <a:buNone/>
                      </a:pPr>
                      <a:r>
                        <a:rPr lang="en-US" sz="1000" b="0" i="0" u="none" strike="noStrike" noProof="0">
                          <a:solidFill>
                            <a:schemeClr val="tx1"/>
                          </a:solidFill>
                          <a:latin typeface="Arial"/>
                        </a:rPr>
                        <a:t>proactive resilience &amp; cost control.</a:t>
                      </a:r>
                      <a:endParaRPr lang="en-US">
                        <a:solidFill>
                          <a:schemeClr val="tx1"/>
                        </a:solidFill>
                      </a:endParaRPr>
                    </a:p>
                  </a:txBody>
                  <a:tcPr anchor="ctr">
                    <a:solidFill>
                      <a:schemeClr val="bg2"/>
                    </a:solidFill>
                  </a:tcPr>
                </a:tc>
                <a:tc>
                  <a:txBody>
                    <a:bodyPr/>
                    <a:lstStyle/>
                    <a:p>
                      <a:pPr lvl="0">
                        <a:buNone/>
                      </a:pPr>
                      <a:r>
                        <a:rPr lang="en-US" sz="1000" b="0" i="0" u="none" strike="noStrike" noProof="0">
                          <a:solidFill>
                            <a:schemeClr val="tx1"/>
                          </a:solidFill>
                          <a:latin typeface="Arial"/>
                        </a:rPr>
                        <a:t>SLO/SLI &amp; error budgets; 90%+ automated provisioning; drift = near-zero.</a:t>
                      </a:r>
                    </a:p>
                  </a:txBody>
                  <a:tcPr anchor="ctr">
                    <a:solidFill>
                      <a:schemeClr val="bg2"/>
                    </a:solidFill>
                  </a:tcPr>
                </a:tc>
                <a:extLst>
                  <a:ext uri="{0D108BD9-81ED-4DB2-BD59-A6C34878D82A}">
                    <a16:rowId xmlns:a16="http://schemas.microsoft.com/office/drawing/2014/main" val="46357506"/>
                  </a:ext>
                </a:extLst>
              </a:tr>
              <a:tr h="627124">
                <a:tc>
                  <a:txBody>
                    <a:bodyPr/>
                    <a:lstStyle/>
                    <a:p>
                      <a:pPr algn="ctr"/>
                      <a:r>
                        <a:rPr lang="en-US" sz="1400" b="1">
                          <a:solidFill>
                            <a:schemeClr val="bg1"/>
                          </a:solidFill>
                        </a:rPr>
                        <a:t>5</a:t>
                      </a:r>
                    </a:p>
                  </a:txBody>
                  <a:tcPr anchor="ctr">
                    <a:solidFill>
                      <a:schemeClr val="accent1"/>
                    </a:solidFill>
                  </a:tcPr>
                </a:tc>
                <a:tc>
                  <a:txBody>
                    <a:bodyPr/>
                    <a:lstStyle/>
                    <a:p>
                      <a:pPr lvl="0" algn="ctr">
                        <a:buNone/>
                      </a:pPr>
                      <a:r>
                        <a:rPr lang="en-US" b="1">
                          <a:solidFill>
                            <a:schemeClr val="bg1"/>
                          </a:solidFill>
                        </a:rPr>
                        <a:t>Optimized</a:t>
                      </a:r>
                    </a:p>
                  </a:txBody>
                  <a:tcPr anchor="ctr">
                    <a:solidFill>
                      <a:schemeClr val="accent1"/>
                    </a:solidFill>
                  </a:tcPr>
                </a:tc>
                <a:tc>
                  <a:txBody>
                    <a:bodyPr/>
                    <a:lstStyle/>
                    <a:p>
                      <a:pPr lvl="0">
                        <a:buNone/>
                      </a:pPr>
                      <a:r>
                        <a:rPr lang="en-US" sz="1000" b="0" i="0" u="none" strike="noStrike" noProof="0">
                          <a:solidFill>
                            <a:schemeClr val="tx1"/>
                          </a:solidFill>
                          <a:latin typeface="Arial"/>
                        </a:rPr>
                        <a:t>Continuous improvement; </a:t>
                      </a:r>
                      <a:endParaRPr lang="en-US">
                        <a:solidFill>
                          <a:schemeClr val="tx1"/>
                        </a:solidFill>
                      </a:endParaRPr>
                    </a:p>
                    <a:p>
                      <a:pPr lvl="0">
                        <a:buNone/>
                      </a:pPr>
                      <a:r>
                        <a:rPr lang="en-US" sz="1000" b="0" i="0" u="none" strike="noStrike" noProof="0">
                          <a:solidFill>
                            <a:schemeClr val="tx1"/>
                          </a:solidFill>
                          <a:latin typeface="Arial"/>
                        </a:rPr>
                        <a:t>AI-Ops &amp; auto-remediation; adaptive governance; </a:t>
                      </a:r>
                      <a:endParaRPr lang="en-US">
                        <a:solidFill>
                          <a:schemeClr val="tx1"/>
                        </a:solidFill>
                      </a:endParaRPr>
                    </a:p>
                    <a:p>
                      <a:pPr lvl="0">
                        <a:buNone/>
                      </a:pPr>
                      <a:r>
                        <a:rPr lang="en-US" sz="1000" b="0" i="0" u="none" strike="noStrike" noProof="0">
                          <a:solidFill>
                            <a:schemeClr val="tx1"/>
                          </a:solidFill>
                          <a:latin typeface="Arial"/>
                        </a:rPr>
                        <a:t>cloud KPIs tied to business outcomes.</a:t>
                      </a:r>
                      <a:endParaRPr lang="en-US">
                        <a:solidFill>
                          <a:schemeClr val="tx1"/>
                        </a:solidFill>
                      </a:endParaRPr>
                    </a:p>
                  </a:txBody>
                  <a:tcPr anchor="ctr">
                    <a:solidFill>
                      <a:schemeClr val="bg2"/>
                    </a:solidFill>
                  </a:tcPr>
                </a:tc>
                <a:tc>
                  <a:txBody>
                    <a:bodyPr/>
                    <a:lstStyle/>
                    <a:p>
                      <a:pPr lvl="0">
                        <a:buNone/>
                      </a:pPr>
                      <a:r>
                        <a:rPr lang="en-US" sz="1000" b="0" i="0" u="none" strike="noStrike" noProof="0">
                          <a:solidFill>
                            <a:schemeClr val="tx1"/>
                          </a:solidFill>
                          <a:latin typeface="Arial"/>
                        </a:rPr>
                        <a:t>&gt;95% auto-remediation; predictive scaling; policy auto-fix; KPIs linked to OKRs (e.g., cost-to-serve, lead time)</a:t>
                      </a:r>
                      <a:endParaRPr lang="en-US">
                        <a:solidFill>
                          <a:schemeClr val="tx1"/>
                        </a:solidFill>
                      </a:endParaRPr>
                    </a:p>
                  </a:txBody>
                  <a:tcPr anchor="ctr">
                    <a:solidFill>
                      <a:schemeClr val="bg2"/>
                    </a:solidFill>
                  </a:tcPr>
                </a:tc>
                <a:extLst>
                  <a:ext uri="{0D108BD9-81ED-4DB2-BD59-A6C34878D82A}">
                    <a16:rowId xmlns:a16="http://schemas.microsoft.com/office/drawing/2014/main" val="3652696593"/>
                  </a:ext>
                </a:extLst>
              </a:tr>
            </a:tbl>
          </a:graphicData>
        </a:graphic>
      </p:graphicFrame>
      <p:sp>
        <p:nvSpPr>
          <p:cNvPr id="5" name="TextBox 4">
            <a:extLst>
              <a:ext uri="{FF2B5EF4-FFF2-40B4-BE49-F238E27FC236}">
                <a16:creationId xmlns:a16="http://schemas.microsoft.com/office/drawing/2014/main" id="{DEB6ABDB-DD7F-84BE-ED0B-F1AB2AD707D9}"/>
              </a:ext>
            </a:extLst>
          </p:cNvPr>
          <p:cNvSpPr txBox="1"/>
          <p:nvPr/>
        </p:nvSpPr>
        <p:spPr>
          <a:xfrm>
            <a:off x="381105" y="5499479"/>
            <a:ext cx="11248063" cy="589905"/>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lgn="ctr">
              <a:spcAft>
                <a:spcPts val="500"/>
              </a:spcAft>
            </a:pPr>
            <a:r>
              <a:rPr lang="en-US" sz="1000" b="1" i="1">
                <a:ea typeface="+mn-lt"/>
                <a:cs typeface="+mn-lt"/>
              </a:rPr>
              <a:t>* </a:t>
            </a:r>
            <a:r>
              <a:rPr lang="en-US" sz="1000" i="1">
                <a:ea typeface="+mn-lt"/>
                <a:cs typeface="+mn-lt"/>
              </a:rPr>
              <a:t> Levels adapted from Gartner cloud strategy guidance and industry best practices.</a:t>
            </a:r>
            <a:endParaRPr lang="en-US">
              <a:cs typeface="Arial" panose="020B0604020202020204"/>
            </a:endParaRPr>
          </a:p>
          <a:p>
            <a:pPr algn="ctr">
              <a:spcAft>
                <a:spcPts val="500"/>
              </a:spcAft>
            </a:pPr>
            <a:r>
              <a:rPr lang="en-US" sz="1000" i="1">
                <a:ea typeface="+mn-lt"/>
                <a:cs typeface="+mn-lt"/>
              </a:rPr>
              <a:t>Aligned to AWS Cloud Adoption Framework (Assess → Mobilize → Migrate &amp; Modernize → Operate → Transform), and </a:t>
            </a:r>
          </a:p>
          <a:p>
            <a:pPr algn="ctr">
              <a:spcAft>
                <a:spcPts val="500"/>
              </a:spcAft>
            </a:pPr>
            <a:r>
              <a:rPr lang="en-US" sz="1000" i="1">
                <a:ea typeface="+mn-lt"/>
                <a:cs typeface="+mn-lt"/>
              </a:rPr>
              <a:t>Microsoft Cloud Adoption Framework (Plan/Ready → Adopt → Govern/Manage → Innovate).</a:t>
            </a:r>
            <a:endParaRPr lang="en-US" sz="1000" i="1">
              <a:cs typeface="Arial" panose="020B0604020202020204"/>
            </a:endParaRPr>
          </a:p>
        </p:txBody>
      </p:sp>
      <p:pic>
        <p:nvPicPr>
          <p:cNvPr id="9" name="Graphic 8" descr="Marker with solid fill">
            <a:extLst>
              <a:ext uri="{FF2B5EF4-FFF2-40B4-BE49-F238E27FC236}">
                <a16:creationId xmlns:a16="http://schemas.microsoft.com/office/drawing/2014/main" id="{70BF2E72-CF5C-6F2E-A676-BB1676E565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23035" y="2990850"/>
            <a:ext cx="647700" cy="581025"/>
          </a:xfrm>
          <a:prstGeom prst="rect">
            <a:avLst/>
          </a:prstGeom>
        </p:spPr>
      </p:pic>
      <p:sp>
        <p:nvSpPr>
          <p:cNvPr id="13" name="Rectangle 12">
            <a:extLst>
              <a:ext uri="{FF2B5EF4-FFF2-40B4-BE49-F238E27FC236}">
                <a16:creationId xmlns:a16="http://schemas.microsoft.com/office/drawing/2014/main" id="{97B2AEC3-08F3-1C32-7DC0-C3E37E7BF48D}"/>
              </a:ext>
            </a:extLst>
          </p:cNvPr>
          <p:cNvSpPr/>
          <p:nvPr/>
        </p:nvSpPr>
        <p:spPr>
          <a:xfrm>
            <a:off x="2007870" y="4960620"/>
            <a:ext cx="8172450" cy="365760"/>
          </a:xfrm>
          <a:prstGeom prst="rect">
            <a:avLst/>
          </a:prstGeom>
          <a:solidFill>
            <a:srgbClr val="BA0C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Arial"/>
              </a:rPr>
              <a:t>People                          Process                      Technology</a:t>
            </a:r>
          </a:p>
        </p:txBody>
      </p:sp>
    </p:spTree>
    <p:extLst>
      <p:ext uri="{BB962C8B-B14F-4D97-AF65-F5344CB8AC3E}">
        <p14:creationId xmlns:p14="http://schemas.microsoft.com/office/powerpoint/2010/main" val="3158768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8644C-3E0B-E03B-3D31-9C72D1D42D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C860E9-8DC0-B8B9-05A8-24E64DC20E76}"/>
              </a:ext>
            </a:extLst>
          </p:cNvPr>
          <p:cNvSpPr>
            <a:spLocks noGrp="1"/>
          </p:cNvSpPr>
          <p:nvPr>
            <p:ph type="title"/>
          </p:nvPr>
        </p:nvSpPr>
        <p:spPr/>
        <p:txBody>
          <a:bodyPr/>
          <a:lstStyle/>
          <a:p>
            <a:r>
              <a:rPr lang="en-CA" sz="2400">
                <a:cs typeface="Arial"/>
              </a:rPr>
              <a:t>Cloud Capability Maturity: Current vs Target State</a:t>
            </a:r>
          </a:p>
        </p:txBody>
      </p:sp>
      <p:sp>
        <p:nvSpPr>
          <p:cNvPr id="3" name="Footer Placeholder 2">
            <a:extLst>
              <a:ext uri="{FF2B5EF4-FFF2-40B4-BE49-F238E27FC236}">
                <a16:creationId xmlns:a16="http://schemas.microsoft.com/office/drawing/2014/main" id="{D86EC500-EA4F-8AB5-BEBD-5FDCB894114E}"/>
              </a:ext>
            </a:extLst>
          </p:cNvPr>
          <p:cNvSpPr>
            <a:spLocks noGrp="1"/>
          </p:cNvSpPr>
          <p:nvPr>
            <p:ph type="ftr" sz="quarter" idx="11"/>
          </p:nvPr>
        </p:nvSpPr>
        <p:spPr/>
        <p:txBody>
          <a:bodyPr/>
          <a:lstStyle/>
          <a:p>
            <a:r>
              <a:rPr lang="en-CA"/>
              <a:t>CONFIDENTIAL</a:t>
            </a:r>
          </a:p>
        </p:txBody>
      </p:sp>
      <p:graphicFrame>
        <p:nvGraphicFramePr>
          <p:cNvPr id="5" name="Chart 4">
            <a:extLst>
              <a:ext uri="{FF2B5EF4-FFF2-40B4-BE49-F238E27FC236}">
                <a16:creationId xmlns:a16="http://schemas.microsoft.com/office/drawing/2014/main" id="{C837E61A-B6D8-8614-F16C-07E606E62C9F}"/>
              </a:ext>
            </a:extLst>
          </p:cNvPr>
          <p:cNvGraphicFramePr/>
          <p:nvPr/>
        </p:nvGraphicFramePr>
        <p:xfrm>
          <a:off x="6298605" y="1257177"/>
          <a:ext cx="5506861" cy="3200786"/>
        </p:xfrm>
        <a:graphic>
          <a:graphicData uri="http://schemas.openxmlformats.org/drawingml/2006/chart">
            <c:chart xmlns:c="http://schemas.openxmlformats.org/drawingml/2006/chart" xmlns:r="http://schemas.openxmlformats.org/officeDocument/2006/relationships" r:id="rId4"/>
          </a:graphicData>
        </a:graphic>
      </p:graphicFrame>
      <p:sp>
        <p:nvSpPr>
          <p:cNvPr id="575" name="Rectangle: Rounded Corners 574">
            <a:extLst>
              <a:ext uri="{FF2B5EF4-FFF2-40B4-BE49-F238E27FC236}">
                <a16:creationId xmlns:a16="http://schemas.microsoft.com/office/drawing/2014/main" id="{5515049A-E064-6930-69A4-C27F46764101}"/>
              </a:ext>
            </a:extLst>
          </p:cNvPr>
          <p:cNvSpPr/>
          <p:nvPr/>
        </p:nvSpPr>
        <p:spPr>
          <a:xfrm>
            <a:off x="528519" y="3196507"/>
            <a:ext cx="5046688" cy="909403"/>
          </a:xfrm>
          <a:prstGeom prst="roundRect">
            <a:avLst/>
          </a:prstGeom>
          <a:solidFill>
            <a:srgbClr val="F0CCD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rgbClr val="000000"/>
                </a:solidFill>
                <a:latin typeface="Arial"/>
                <a:ea typeface="Calibri"/>
                <a:cs typeface="Calibri"/>
              </a:rPr>
              <a:t>Key Insight:</a:t>
            </a:r>
          </a:p>
          <a:p>
            <a:pPr algn="ctr"/>
            <a:r>
              <a:rPr lang="en-US" sz="1200">
                <a:solidFill>
                  <a:srgbClr val="000000"/>
                </a:solidFill>
                <a:ea typeface="Calibri"/>
                <a:cs typeface="Calibri"/>
              </a:rPr>
              <a:t>Solid foundation in provisioning,</a:t>
            </a:r>
          </a:p>
          <a:p>
            <a:pPr algn="ctr"/>
            <a:r>
              <a:rPr lang="en-US" sz="1200">
                <a:solidFill>
                  <a:srgbClr val="000000"/>
                </a:solidFill>
                <a:ea typeface="Calibri"/>
                <a:cs typeface="Calibri"/>
              </a:rPr>
              <a:t>Uplift required in security integration, automation scale, </a:t>
            </a:r>
          </a:p>
          <a:p>
            <a:pPr algn="ctr"/>
            <a:r>
              <a:rPr lang="en-US" sz="1200">
                <a:solidFill>
                  <a:srgbClr val="000000"/>
                </a:solidFill>
                <a:ea typeface="Calibri"/>
                <a:cs typeface="Calibri"/>
              </a:rPr>
              <a:t>and unified governance.</a:t>
            </a:r>
          </a:p>
        </p:txBody>
      </p:sp>
      <p:sp>
        <p:nvSpPr>
          <p:cNvPr id="576" name="Rectangle: Rounded Corners 575">
            <a:extLst>
              <a:ext uri="{FF2B5EF4-FFF2-40B4-BE49-F238E27FC236}">
                <a16:creationId xmlns:a16="http://schemas.microsoft.com/office/drawing/2014/main" id="{023E301C-C6CD-7A19-2A82-9BBC2A8B2676}"/>
              </a:ext>
            </a:extLst>
          </p:cNvPr>
          <p:cNvSpPr/>
          <p:nvPr/>
        </p:nvSpPr>
        <p:spPr>
          <a:xfrm>
            <a:off x="528519" y="1858576"/>
            <a:ext cx="5046688" cy="909403"/>
          </a:xfrm>
          <a:prstGeom prst="roundRect">
            <a:avLst/>
          </a:prstGeom>
          <a:solidFill>
            <a:srgbClr val="F0CCD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rgbClr val="000000"/>
                </a:solidFill>
                <a:latin typeface="Arial"/>
                <a:ea typeface="Calibri"/>
                <a:cs typeface="Calibri"/>
              </a:rPr>
              <a:t>Assessment Approach:</a:t>
            </a:r>
          </a:p>
          <a:p>
            <a:pPr algn="ctr"/>
            <a:r>
              <a:rPr lang="en-US" sz="1200">
                <a:solidFill>
                  <a:srgbClr val="000000"/>
                </a:solidFill>
                <a:ea typeface="Calibri"/>
                <a:cs typeface="Calibri"/>
              </a:rPr>
              <a:t>Based on AWS and Azure Cloud Adaption Frameworks,</a:t>
            </a:r>
          </a:p>
          <a:p>
            <a:pPr algn="ctr"/>
            <a:r>
              <a:rPr lang="en-US" sz="1200">
                <a:solidFill>
                  <a:srgbClr val="000000"/>
                </a:solidFill>
                <a:ea typeface="Calibri"/>
                <a:cs typeface="Calibri"/>
              </a:rPr>
              <a:t>Validated through stakeholder discussions and cloud vendor audits.</a:t>
            </a:r>
          </a:p>
        </p:txBody>
      </p:sp>
      <p:sp>
        <p:nvSpPr>
          <p:cNvPr id="598" name="Rectangle: Rounded Corners 597">
            <a:extLst>
              <a:ext uri="{FF2B5EF4-FFF2-40B4-BE49-F238E27FC236}">
                <a16:creationId xmlns:a16="http://schemas.microsoft.com/office/drawing/2014/main" id="{F3294FEF-38CB-3E54-5802-85A3F96CE337}"/>
              </a:ext>
            </a:extLst>
          </p:cNvPr>
          <p:cNvSpPr/>
          <p:nvPr/>
        </p:nvSpPr>
        <p:spPr>
          <a:xfrm>
            <a:off x="519658" y="4525575"/>
            <a:ext cx="5046688" cy="909403"/>
          </a:xfrm>
          <a:prstGeom prst="roundRect">
            <a:avLst/>
          </a:prstGeom>
          <a:solidFill>
            <a:srgbClr val="F0CCD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spcBef>
                <a:spcPct val="0"/>
              </a:spcBef>
              <a:spcAft>
                <a:spcPct val="35000"/>
              </a:spcAft>
            </a:pPr>
            <a:r>
              <a:rPr lang="en-US" sz="1200" b="1">
                <a:solidFill>
                  <a:srgbClr val="000000"/>
                </a:solidFill>
                <a:latin typeface="Arial"/>
                <a:ea typeface="Calibri"/>
                <a:cs typeface="Arial"/>
              </a:rPr>
              <a:t>Target Alignment:</a:t>
            </a:r>
            <a:endParaRPr lang="en-US" b="1">
              <a:solidFill>
                <a:srgbClr val="000000"/>
              </a:solidFill>
              <a:latin typeface="Arial"/>
              <a:ea typeface="Calibri"/>
              <a:cs typeface="Arial"/>
            </a:endParaRPr>
          </a:p>
          <a:p>
            <a:pPr algn="ctr">
              <a:lnSpc>
                <a:spcPct val="90000"/>
              </a:lnSpc>
              <a:spcBef>
                <a:spcPct val="0"/>
              </a:spcBef>
              <a:spcAft>
                <a:spcPct val="35000"/>
              </a:spcAft>
            </a:pPr>
            <a:r>
              <a:rPr lang="en-US" sz="1200">
                <a:solidFill>
                  <a:srgbClr val="000000"/>
                </a:solidFill>
                <a:latin typeface="Arial"/>
                <a:ea typeface="Calibri"/>
                <a:cs typeface="Arial"/>
              </a:rPr>
              <a:t>Benchmarked against AWS and Microsoft CAF to guide roadmap maturity goals.</a:t>
            </a:r>
            <a:endParaRPr lang="en-US" sz="1200">
              <a:solidFill>
                <a:srgbClr val="FFFFFF"/>
              </a:solidFill>
              <a:ea typeface="Calibri"/>
              <a:cs typeface="Arial"/>
            </a:endParaRPr>
          </a:p>
        </p:txBody>
      </p:sp>
      <p:graphicFrame>
        <p:nvGraphicFramePr>
          <p:cNvPr id="7" name="Table 6">
            <a:extLst>
              <a:ext uri="{FF2B5EF4-FFF2-40B4-BE49-F238E27FC236}">
                <a16:creationId xmlns:a16="http://schemas.microsoft.com/office/drawing/2014/main" id="{A559A5A7-1C39-2F2E-4D4E-B6DB586025C2}"/>
              </a:ext>
            </a:extLst>
          </p:cNvPr>
          <p:cNvGraphicFramePr>
            <a:graphicFrameLocks noGrp="1"/>
          </p:cNvGraphicFramePr>
          <p:nvPr>
            <p:extLst>
              <p:ext uri="{D42A27DB-BD31-4B8C-83A1-F6EECF244321}">
                <p14:modId xmlns:p14="http://schemas.microsoft.com/office/powerpoint/2010/main" val="4269114068"/>
              </p:ext>
            </p:extLst>
          </p:nvPr>
        </p:nvGraphicFramePr>
        <p:xfrm>
          <a:off x="6310044" y="4443573"/>
          <a:ext cx="5493489" cy="1504602"/>
        </p:xfrm>
        <a:graphic>
          <a:graphicData uri="http://schemas.openxmlformats.org/drawingml/2006/table">
            <a:tbl>
              <a:tblPr bandRow="1">
                <a:tableStyleId>{5C22544A-7EE6-4342-B048-85BDC9FD1C3A}</a:tableStyleId>
              </a:tblPr>
              <a:tblGrid>
                <a:gridCol w="1514982">
                  <a:extLst>
                    <a:ext uri="{9D8B030D-6E8A-4147-A177-3AD203B41FA5}">
                      <a16:colId xmlns:a16="http://schemas.microsoft.com/office/drawing/2014/main" val="1898066250"/>
                    </a:ext>
                  </a:extLst>
                </a:gridCol>
                <a:gridCol w="951179">
                  <a:extLst>
                    <a:ext uri="{9D8B030D-6E8A-4147-A177-3AD203B41FA5}">
                      <a16:colId xmlns:a16="http://schemas.microsoft.com/office/drawing/2014/main" val="3545472476"/>
                    </a:ext>
                  </a:extLst>
                </a:gridCol>
                <a:gridCol w="945116">
                  <a:extLst>
                    <a:ext uri="{9D8B030D-6E8A-4147-A177-3AD203B41FA5}">
                      <a16:colId xmlns:a16="http://schemas.microsoft.com/office/drawing/2014/main" val="1488957305"/>
                    </a:ext>
                  </a:extLst>
                </a:gridCol>
                <a:gridCol w="2082212">
                  <a:extLst>
                    <a:ext uri="{9D8B030D-6E8A-4147-A177-3AD203B41FA5}">
                      <a16:colId xmlns:a16="http://schemas.microsoft.com/office/drawing/2014/main" val="743227469"/>
                    </a:ext>
                  </a:extLst>
                </a:gridCol>
              </a:tblGrid>
              <a:tr h="213852">
                <a:tc>
                  <a:txBody>
                    <a:bodyPr/>
                    <a:lstStyle/>
                    <a:p>
                      <a:pPr algn="ctr">
                        <a:buNone/>
                      </a:pPr>
                      <a:r>
                        <a:rPr lang="en-US" sz="1000" b="1">
                          <a:solidFill>
                            <a:srgbClr val="000000"/>
                          </a:solidFill>
                          <a:effectLst/>
                        </a:rPr>
                        <a:t>Capabilities</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b="1">
                          <a:solidFill>
                            <a:schemeClr val="bg1"/>
                          </a:solidFill>
                          <a:effectLst/>
                        </a:rPr>
                        <a:t>Current State</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rgbClr val="BA0C2F"/>
                    </a:solidFill>
                  </a:tcPr>
                </a:tc>
                <a:tc>
                  <a:txBody>
                    <a:bodyPr/>
                    <a:lstStyle/>
                    <a:p>
                      <a:pPr algn="ctr">
                        <a:buNone/>
                      </a:pPr>
                      <a:r>
                        <a:rPr lang="en-US" sz="1000" b="1">
                          <a:solidFill>
                            <a:schemeClr val="bg1"/>
                          </a:solidFill>
                          <a:effectLst/>
                        </a:rPr>
                        <a:t>Target State</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50000"/>
                      </a:schemeClr>
                    </a:solidFill>
                  </a:tcPr>
                </a:tc>
                <a:tc>
                  <a:txBody>
                    <a:bodyPr/>
                    <a:lstStyle/>
                    <a:p>
                      <a:pPr algn="ctr">
                        <a:buNone/>
                      </a:pPr>
                      <a:r>
                        <a:rPr lang="en-US" sz="1000" b="1">
                          <a:solidFill>
                            <a:srgbClr val="000000"/>
                          </a:solidFill>
                          <a:effectLst/>
                        </a:rPr>
                        <a:t>Change Focus</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503717045"/>
                  </a:ext>
                </a:extLst>
              </a:tr>
              <a:tr h="213852">
                <a:tc>
                  <a:txBody>
                    <a:bodyPr/>
                    <a:lstStyle/>
                    <a:p>
                      <a:pPr algn="ctr">
                        <a:buNone/>
                      </a:pPr>
                      <a:r>
                        <a:rPr lang="en-US" sz="1000">
                          <a:solidFill>
                            <a:srgbClr val="000000"/>
                          </a:solidFill>
                          <a:effectLst/>
                        </a:rPr>
                        <a:t>Platform Foundation</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a:solidFill>
                            <a:srgbClr val="000000"/>
                          </a:solidFill>
                          <a:effectLst/>
                        </a:rPr>
                        <a:t>3</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a:solidFill>
                            <a:srgbClr val="000000"/>
                          </a:solidFill>
                          <a:effectLst/>
                        </a:rPr>
                        <a:t>4</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a:solidFill>
                            <a:srgbClr val="000000"/>
                          </a:solidFill>
                          <a:effectLst/>
                        </a:rPr>
                        <a:t>Incremental improvement</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020158890"/>
                  </a:ext>
                </a:extLst>
              </a:tr>
              <a:tr h="213852">
                <a:tc>
                  <a:txBody>
                    <a:bodyPr/>
                    <a:lstStyle/>
                    <a:p>
                      <a:pPr algn="ctr">
                        <a:buNone/>
                      </a:pPr>
                      <a:r>
                        <a:rPr lang="en-US" sz="1000">
                          <a:solidFill>
                            <a:srgbClr val="000000"/>
                          </a:solidFill>
                          <a:effectLst/>
                        </a:rPr>
                        <a:t>Platform Automation</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a:solidFill>
                            <a:srgbClr val="000000"/>
                          </a:solidFill>
                          <a:effectLst/>
                        </a:rPr>
                        <a:t>4</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a:solidFill>
                            <a:srgbClr val="000000"/>
                          </a:solidFill>
                          <a:effectLst/>
                        </a:rPr>
                        <a:t>5</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a:solidFill>
                            <a:srgbClr val="000000"/>
                          </a:solidFill>
                          <a:effectLst/>
                        </a:rPr>
                        <a:t>Scale automation enterprise-wide</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855799601"/>
                  </a:ext>
                </a:extLst>
              </a:tr>
              <a:tr h="213852">
                <a:tc>
                  <a:txBody>
                    <a:bodyPr/>
                    <a:lstStyle/>
                    <a:p>
                      <a:pPr algn="ctr">
                        <a:buNone/>
                      </a:pPr>
                      <a:r>
                        <a:rPr lang="en-US" sz="1000">
                          <a:solidFill>
                            <a:srgbClr val="000000"/>
                          </a:solidFill>
                          <a:effectLst/>
                        </a:rPr>
                        <a:t>Security &amp; Identity</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a:solidFill>
                            <a:srgbClr val="000000"/>
                          </a:solidFill>
                          <a:effectLst/>
                        </a:rPr>
                        <a:t>2</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a:solidFill>
                            <a:srgbClr val="000000"/>
                          </a:solidFill>
                          <a:effectLst/>
                        </a:rPr>
                        <a:t>5</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a:solidFill>
                            <a:srgbClr val="000000"/>
                          </a:solidFill>
                          <a:effectLst/>
                        </a:rPr>
                        <a:t>Major uplift required</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131438928"/>
                  </a:ext>
                </a:extLst>
              </a:tr>
              <a:tr h="213852">
                <a:tc>
                  <a:txBody>
                    <a:bodyPr/>
                    <a:lstStyle/>
                    <a:p>
                      <a:pPr algn="ctr">
                        <a:buNone/>
                      </a:pPr>
                      <a:r>
                        <a:rPr lang="en-US" sz="1000">
                          <a:solidFill>
                            <a:srgbClr val="000000"/>
                          </a:solidFill>
                          <a:effectLst/>
                        </a:rPr>
                        <a:t>Monitoring &amp; Insights</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a:solidFill>
                            <a:srgbClr val="000000"/>
                          </a:solidFill>
                          <a:effectLst/>
                        </a:rPr>
                        <a:t>3</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a:solidFill>
                            <a:srgbClr val="000000"/>
                          </a:solidFill>
                          <a:effectLst/>
                        </a:rPr>
                        <a:t>5</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a:solidFill>
                            <a:srgbClr val="000000"/>
                          </a:solidFill>
                          <a:effectLst/>
                        </a:rPr>
                        <a:t>Expand observability &amp; analytics</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011149901"/>
                  </a:ext>
                </a:extLst>
              </a:tr>
              <a:tr h="213852">
                <a:tc>
                  <a:txBody>
                    <a:bodyPr/>
                    <a:lstStyle/>
                    <a:p>
                      <a:pPr algn="ctr">
                        <a:buNone/>
                      </a:pPr>
                      <a:r>
                        <a:rPr lang="en-US" sz="1000">
                          <a:solidFill>
                            <a:srgbClr val="000000"/>
                          </a:solidFill>
                          <a:effectLst/>
                        </a:rPr>
                        <a:t>Cost &amp; Optimization</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a:solidFill>
                            <a:srgbClr val="000000"/>
                          </a:solidFill>
                          <a:effectLst/>
                        </a:rPr>
                        <a:t>3</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a:solidFill>
                            <a:srgbClr val="000000"/>
                          </a:solidFill>
                          <a:effectLst/>
                        </a:rPr>
                        <a:t>4</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a:solidFill>
                            <a:srgbClr val="000000"/>
                          </a:solidFill>
                          <a:effectLst/>
                        </a:rPr>
                        <a:t>Standardize policy and controls</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806329381"/>
                  </a:ext>
                </a:extLst>
              </a:tr>
              <a:tr h="221490">
                <a:tc>
                  <a:txBody>
                    <a:bodyPr/>
                    <a:lstStyle/>
                    <a:p>
                      <a:pPr algn="ctr">
                        <a:buNone/>
                      </a:pPr>
                      <a:r>
                        <a:rPr lang="en-US" sz="1000">
                          <a:solidFill>
                            <a:srgbClr val="000000"/>
                          </a:solidFill>
                          <a:effectLst/>
                        </a:rPr>
                        <a:t>Governance &amp; Risk</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a:solidFill>
                            <a:srgbClr val="000000"/>
                          </a:solidFill>
                          <a:effectLst/>
                        </a:rPr>
                        <a:t>3</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a:solidFill>
                            <a:srgbClr val="000000"/>
                          </a:solidFill>
                          <a:effectLst/>
                        </a:rPr>
                        <a:t>5</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sz="1000">
                          <a:solidFill>
                            <a:srgbClr val="000000"/>
                          </a:solidFill>
                          <a:effectLst/>
                        </a:rPr>
                        <a:t>Strengthen tagging &amp; transparency</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387014297"/>
                  </a:ext>
                </a:extLst>
              </a:tr>
            </a:tbl>
          </a:graphicData>
        </a:graphic>
      </p:graphicFrame>
    </p:spTree>
    <p:extLst>
      <p:ext uri="{BB962C8B-B14F-4D97-AF65-F5344CB8AC3E}">
        <p14:creationId xmlns:p14="http://schemas.microsoft.com/office/powerpoint/2010/main" val="4107065981"/>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D3321-77A0-0C15-A018-404C15227E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BE43E5-A1E5-5097-09E6-C27B5AE802AE}"/>
              </a:ext>
            </a:extLst>
          </p:cNvPr>
          <p:cNvSpPr>
            <a:spLocks noGrp="1"/>
          </p:cNvSpPr>
          <p:nvPr>
            <p:ph type="title"/>
          </p:nvPr>
        </p:nvSpPr>
        <p:spPr/>
        <p:txBody>
          <a:bodyPr/>
          <a:lstStyle/>
          <a:p>
            <a:r>
              <a:rPr lang="en-CA" sz="2400">
                <a:cs typeface="Arial"/>
              </a:rPr>
              <a:t>Evolving from Current State Insights to Future-Ready Cloud Focus Areas</a:t>
            </a:r>
            <a:endParaRPr lang="en-US"/>
          </a:p>
        </p:txBody>
      </p:sp>
      <p:sp>
        <p:nvSpPr>
          <p:cNvPr id="3" name="Footer Placeholder 2">
            <a:extLst>
              <a:ext uri="{FF2B5EF4-FFF2-40B4-BE49-F238E27FC236}">
                <a16:creationId xmlns:a16="http://schemas.microsoft.com/office/drawing/2014/main" id="{D1EAA0F5-5185-AC65-2E93-ECA0F7286A5D}"/>
              </a:ext>
            </a:extLst>
          </p:cNvPr>
          <p:cNvSpPr>
            <a:spLocks noGrp="1"/>
          </p:cNvSpPr>
          <p:nvPr>
            <p:ph type="ftr" sz="quarter" idx="11"/>
          </p:nvPr>
        </p:nvSpPr>
        <p:spPr/>
        <p:txBody>
          <a:bodyPr/>
          <a:lstStyle/>
          <a:p>
            <a:r>
              <a:rPr lang="en-CA"/>
              <a:t>CONFIDENTIAL</a:t>
            </a:r>
          </a:p>
        </p:txBody>
      </p:sp>
      <p:sp>
        <p:nvSpPr>
          <p:cNvPr id="4" name="Date Placeholder 3">
            <a:extLst>
              <a:ext uri="{FF2B5EF4-FFF2-40B4-BE49-F238E27FC236}">
                <a16:creationId xmlns:a16="http://schemas.microsoft.com/office/drawing/2014/main" id="{93C06297-7CF4-6260-C9B4-7D60618C15E1}"/>
              </a:ext>
            </a:extLst>
          </p:cNvPr>
          <p:cNvSpPr>
            <a:spLocks noGrp="1"/>
          </p:cNvSpPr>
          <p:nvPr>
            <p:ph type="dt" sz="half" idx="13"/>
          </p:nvPr>
        </p:nvSpPr>
        <p:spPr/>
        <p:txBody>
          <a:bodyPr/>
          <a:lstStyle/>
          <a:p>
            <a:fld id="{B01D7BC3-961C-46B9-A6DE-2A4B9BFDFACA}" type="datetime1">
              <a:rPr lang="en-US" smtClean="0"/>
              <a:t>7/31/2026</a:t>
            </a:fld>
            <a:endParaRPr lang="en-CA"/>
          </a:p>
        </p:txBody>
      </p:sp>
      <p:sp>
        <p:nvSpPr>
          <p:cNvPr id="8" name="Rectangle 7">
            <a:extLst>
              <a:ext uri="{FF2B5EF4-FFF2-40B4-BE49-F238E27FC236}">
                <a16:creationId xmlns:a16="http://schemas.microsoft.com/office/drawing/2014/main" id="{39A9E30B-BC64-5C57-B1A3-9720E9FDA516}"/>
              </a:ext>
            </a:extLst>
          </p:cNvPr>
          <p:cNvSpPr>
            <a:spLocks/>
          </p:cNvSpPr>
          <p:nvPr/>
        </p:nvSpPr>
        <p:spPr>
          <a:xfrm>
            <a:off x="400303" y="1533132"/>
            <a:ext cx="5349561" cy="4571893"/>
          </a:xfrm>
          <a:prstGeom prst="rect">
            <a:avLst/>
          </a:prstGeom>
          <a:noFill/>
          <a:ln w="6350" cap="sq" cmpd="sng" algn="ctr">
            <a:solidFill>
              <a:srgbClr val="BA0C2F"/>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a:ea typeface="+mn-ea"/>
              <a:cs typeface="+mn-cs"/>
            </a:endParaRPr>
          </a:p>
        </p:txBody>
      </p:sp>
      <p:sp>
        <p:nvSpPr>
          <p:cNvPr id="19" name="Rectangle: Rounded Corners 18">
            <a:extLst>
              <a:ext uri="{FF2B5EF4-FFF2-40B4-BE49-F238E27FC236}">
                <a16:creationId xmlns:a16="http://schemas.microsoft.com/office/drawing/2014/main" id="{FCF6CB88-31B8-C48B-18DC-F3852DEFACA2}"/>
              </a:ext>
            </a:extLst>
          </p:cNvPr>
          <p:cNvSpPr/>
          <p:nvPr/>
        </p:nvSpPr>
        <p:spPr>
          <a:xfrm rot="-10800000" flipV="1">
            <a:off x="1303020" y="1645920"/>
            <a:ext cx="4267200" cy="690749"/>
          </a:xfrm>
          <a:prstGeom prst="round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500"/>
              </a:spcAft>
            </a:pPr>
            <a:r>
              <a:rPr lang="en-US" sz="1200" b="1">
                <a:solidFill>
                  <a:srgbClr val="000000"/>
                </a:solidFill>
                <a:cs typeface="Arial"/>
              </a:rPr>
              <a:t>Platform Diversity:</a:t>
            </a:r>
            <a:endParaRPr lang="en-US" sz="1200">
              <a:solidFill>
                <a:srgbClr val="515349"/>
              </a:solidFill>
              <a:cs typeface="Arial"/>
            </a:endParaRPr>
          </a:p>
          <a:p>
            <a:pPr>
              <a:spcAft>
                <a:spcPts val="500"/>
              </a:spcAft>
            </a:pPr>
            <a:r>
              <a:rPr lang="en-US" sz="1000">
                <a:solidFill>
                  <a:srgbClr val="000000"/>
                </a:solidFill>
                <a:cs typeface="Arial"/>
              </a:rPr>
              <a:t>Multiple cloud and container platforms in use, leading to varied operational models.</a:t>
            </a:r>
            <a:endParaRPr lang="en-US" sz="1000">
              <a:solidFill>
                <a:srgbClr val="515349"/>
              </a:solidFill>
              <a:cs typeface="Arial"/>
            </a:endParaRPr>
          </a:p>
        </p:txBody>
      </p:sp>
      <p:sp>
        <p:nvSpPr>
          <p:cNvPr id="54" name="Rectangle: Rounded Corners 53">
            <a:extLst>
              <a:ext uri="{FF2B5EF4-FFF2-40B4-BE49-F238E27FC236}">
                <a16:creationId xmlns:a16="http://schemas.microsoft.com/office/drawing/2014/main" id="{B3D20795-5B69-47F8-1F81-76686B5C6A16}"/>
              </a:ext>
            </a:extLst>
          </p:cNvPr>
          <p:cNvSpPr/>
          <p:nvPr/>
        </p:nvSpPr>
        <p:spPr>
          <a:xfrm rot="10800000" flipV="1">
            <a:off x="1303020" y="2379344"/>
            <a:ext cx="4267200" cy="690749"/>
          </a:xfrm>
          <a:prstGeom prst="round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Aft>
                <a:spcPts val="500"/>
              </a:spcAft>
            </a:pPr>
            <a:r>
              <a:rPr lang="en-US" sz="1200" b="1">
                <a:solidFill>
                  <a:srgbClr val="000000"/>
                </a:solidFill>
                <a:cs typeface="Arial"/>
              </a:rPr>
              <a:t>Security Maturity:</a:t>
            </a:r>
            <a:endParaRPr lang="en-US" sz="1200">
              <a:solidFill>
                <a:srgbClr val="515349"/>
              </a:solidFill>
              <a:cs typeface="Arial"/>
            </a:endParaRPr>
          </a:p>
          <a:p>
            <a:pPr>
              <a:spcAft>
                <a:spcPts val="500"/>
              </a:spcAft>
            </a:pPr>
            <a:r>
              <a:rPr lang="en-US" sz="1000">
                <a:solidFill>
                  <a:srgbClr val="000000"/>
                </a:solidFill>
                <a:cs typeface="Arial"/>
              </a:rPr>
              <a:t>Inconsistent implementation of enterprise security controls and scanning practices.</a:t>
            </a:r>
            <a:endParaRPr lang="en-US" sz="1000">
              <a:solidFill>
                <a:srgbClr val="515349"/>
              </a:solidFill>
              <a:cs typeface="Arial"/>
            </a:endParaRPr>
          </a:p>
        </p:txBody>
      </p:sp>
      <p:sp>
        <p:nvSpPr>
          <p:cNvPr id="55" name="Rectangle: Rounded Corners 54">
            <a:extLst>
              <a:ext uri="{FF2B5EF4-FFF2-40B4-BE49-F238E27FC236}">
                <a16:creationId xmlns:a16="http://schemas.microsoft.com/office/drawing/2014/main" id="{E017865A-C674-A577-1767-100EC0075529}"/>
              </a:ext>
            </a:extLst>
          </p:cNvPr>
          <p:cNvSpPr/>
          <p:nvPr/>
        </p:nvSpPr>
        <p:spPr>
          <a:xfrm rot="-10800000" flipV="1">
            <a:off x="1303020" y="3112769"/>
            <a:ext cx="4267200" cy="690749"/>
          </a:xfrm>
          <a:prstGeom prst="round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Aft>
                <a:spcPts val="500"/>
              </a:spcAft>
            </a:pPr>
            <a:r>
              <a:rPr lang="en-US" sz="1200" b="1">
                <a:solidFill>
                  <a:srgbClr val="000000"/>
                </a:solidFill>
                <a:cs typeface="Arial"/>
              </a:rPr>
              <a:t>Automation Coverage:</a:t>
            </a:r>
            <a:endParaRPr lang="en-US" sz="1200">
              <a:solidFill>
                <a:srgbClr val="515349"/>
              </a:solidFill>
              <a:cs typeface="Arial"/>
            </a:endParaRPr>
          </a:p>
          <a:p>
            <a:pPr>
              <a:spcAft>
                <a:spcPts val="500"/>
              </a:spcAft>
            </a:pPr>
            <a:r>
              <a:rPr lang="en-US" sz="1000">
                <a:solidFill>
                  <a:srgbClr val="000000"/>
                </a:solidFill>
                <a:cs typeface="Arial"/>
              </a:rPr>
              <a:t>Strong automation foundation with scope to expand into self-service and resilience validation.</a:t>
            </a:r>
            <a:endParaRPr lang="en-US" sz="1000">
              <a:solidFill>
                <a:srgbClr val="515349"/>
              </a:solidFill>
              <a:cs typeface="Arial"/>
            </a:endParaRPr>
          </a:p>
        </p:txBody>
      </p:sp>
      <p:sp>
        <p:nvSpPr>
          <p:cNvPr id="56" name="Rectangle: Rounded Corners 55">
            <a:extLst>
              <a:ext uri="{FF2B5EF4-FFF2-40B4-BE49-F238E27FC236}">
                <a16:creationId xmlns:a16="http://schemas.microsoft.com/office/drawing/2014/main" id="{DEA1DDB7-29CF-F93F-69B5-5B097CCB6971}"/>
              </a:ext>
            </a:extLst>
          </p:cNvPr>
          <p:cNvSpPr/>
          <p:nvPr/>
        </p:nvSpPr>
        <p:spPr>
          <a:xfrm rot="-10800000" flipV="1">
            <a:off x="1303020" y="3846194"/>
            <a:ext cx="4267200" cy="690749"/>
          </a:xfrm>
          <a:prstGeom prst="round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rtl="0"/>
            <a:r>
              <a:rPr lang="en-US" sz="1200" b="1" baseline="0">
                <a:solidFill>
                  <a:srgbClr val="000000"/>
                </a:solidFill>
                <a:latin typeface="Arial"/>
                <a:ea typeface="Segoe UI"/>
                <a:cs typeface="Segoe UI"/>
              </a:rPr>
              <a:t>Governance Consistency:</a:t>
            </a:r>
            <a:r>
              <a:rPr lang="en-US" sz="1200">
                <a:solidFill>
                  <a:srgbClr val="000000"/>
                </a:solidFill>
                <a:latin typeface="Arial"/>
                <a:ea typeface="Segoe UI"/>
                <a:cs typeface="Segoe UI"/>
              </a:rPr>
              <a:t>​</a:t>
            </a:r>
          </a:p>
          <a:p>
            <a:r>
              <a:rPr lang="en-US" sz="1000" baseline="0">
                <a:solidFill>
                  <a:srgbClr val="000000"/>
                </a:solidFill>
                <a:latin typeface="Arial"/>
                <a:ea typeface="Segoe UI"/>
                <a:cs typeface="Segoe UI"/>
              </a:rPr>
              <a:t>Established governance model, but policies and workload </a:t>
            </a:r>
            <a:r>
              <a:rPr lang="en-US" sz="1000">
                <a:solidFill>
                  <a:srgbClr val="000000"/>
                </a:solidFill>
                <a:latin typeface="Arial"/>
                <a:ea typeface="Segoe UI"/>
                <a:cs typeface="Segoe UI"/>
              </a:rPr>
              <a:t>placement applied</a:t>
            </a:r>
            <a:r>
              <a:rPr lang="en-US" sz="1000" baseline="0">
                <a:solidFill>
                  <a:srgbClr val="000000"/>
                </a:solidFill>
                <a:latin typeface="Arial"/>
                <a:ea typeface="Segoe UI"/>
                <a:cs typeface="Segoe UI"/>
              </a:rPr>
              <a:t> inconsistently across teams.</a:t>
            </a:r>
            <a:r>
              <a:rPr lang="en-US" sz="1000">
                <a:solidFill>
                  <a:srgbClr val="000000"/>
                </a:solidFill>
                <a:latin typeface="Arial"/>
                <a:ea typeface="Segoe UI"/>
                <a:cs typeface="Segoe UI"/>
              </a:rPr>
              <a:t>​</a:t>
            </a:r>
            <a:endParaRPr lang="en-US" sz="1000">
              <a:solidFill>
                <a:srgbClr val="000000"/>
              </a:solidFill>
              <a:cs typeface="Arial"/>
            </a:endParaRPr>
          </a:p>
        </p:txBody>
      </p:sp>
      <p:sp>
        <p:nvSpPr>
          <p:cNvPr id="57" name="Rectangle: Rounded Corners 56">
            <a:extLst>
              <a:ext uri="{FF2B5EF4-FFF2-40B4-BE49-F238E27FC236}">
                <a16:creationId xmlns:a16="http://schemas.microsoft.com/office/drawing/2014/main" id="{9A2EAF92-88F3-D7DD-B247-CA1FA08CF1A8}"/>
              </a:ext>
            </a:extLst>
          </p:cNvPr>
          <p:cNvSpPr/>
          <p:nvPr/>
        </p:nvSpPr>
        <p:spPr>
          <a:xfrm rot="10800000" flipV="1">
            <a:off x="1293495" y="4579619"/>
            <a:ext cx="4267200" cy="690749"/>
          </a:xfrm>
          <a:prstGeom prst="round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rtl="0"/>
            <a:r>
              <a:rPr lang="en-US" sz="1200" b="1" baseline="0">
                <a:solidFill>
                  <a:srgbClr val="000000"/>
                </a:solidFill>
                <a:latin typeface="Arial"/>
                <a:ea typeface="Segoe UI"/>
                <a:cs typeface="Segoe UI"/>
              </a:rPr>
              <a:t>Cost Visibility:</a:t>
            </a:r>
            <a:r>
              <a:rPr lang="en-US" sz="1200">
                <a:solidFill>
                  <a:srgbClr val="000000"/>
                </a:solidFill>
                <a:latin typeface="Arial"/>
                <a:ea typeface="Segoe UI"/>
                <a:cs typeface="Segoe UI"/>
              </a:rPr>
              <a:t>​</a:t>
            </a:r>
          </a:p>
          <a:p>
            <a:pPr rtl="0"/>
            <a:r>
              <a:rPr lang="en-US" sz="1000" baseline="0">
                <a:solidFill>
                  <a:srgbClr val="000000"/>
                </a:solidFill>
                <a:latin typeface="Arial"/>
                <a:ea typeface="Segoe UI"/>
                <a:cs typeface="Segoe UI"/>
              </a:rPr>
              <a:t>Cloud spend visibility improving, but further optimization opportunities.</a:t>
            </a:r>
            <a:r>
              <a:rPr lang="en-US" sz="1000">
                <a:solidFill>
                  <a:srgbClr val="000000"/>
                </a:solidFill>
                <a:latin typeface="Arial"/>
                <a:ea typeface="Segoe UI"/>
                <a:cs typeface="Segoe UI"/>
              </a:rPr>
              <a:t>​</a:t>
            </a:r>
            <a:endParaRPr lang="en-US">
              <a:solidFill>
                <a:srgbClr val="000000"/>
              </a:solidFill>
              <a:cs typeface="Arial"/>
            </a:endParaRPr>
          </a:p>
        </p:txBody>
      </p:sp>
      <p:sp>
        <p:nvSpPr>
          <p:cNvPr id="58" name="Rectangle: Rounded Corners 57">
            <a:extLst>
              <a:ext uri="{FF2B5EF4-FFF2-40B4-BE49-F238E27FC236}">
                <a16:creationId xmlns:a16="http://schemas.microsoft.com/office/drawing/2014/main" id="{7E41879B-F4F3-71D3-CB20-8CB0FD86AB85}"/>
              </a:ext>
            </a:extLst>
          </p:cNvPr>
          <p:cNvSpPr/>
          <p:nvPr/>
        </p:nvSpPr>
        <p:spPr>
          <a:xfrm rot="-10800000" flipV="1">
            <a:off x="1293495" y="5313044"/>
            <a:ext cx="4267200" cy="690749"/>
          </a:xfrm>
          <a:prstGeom prst="round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rtl="0"/>
            <a:r>
              <a:rPr lang="en-US" sz="1200" b="1" baseline="0">
                <a:solidFill>
                  <a:srgbClr val="000000"/>
                </a:solidFill>
                <a:latin typeface="Arial"/>
                <a:ea typeface="Segoe UI"/>
                <a:cs typeface="Segoe UI"/>
              </a:rPr>
              <a:t>Skills Alignment:</a:t>
            </a:r>
            <a:r>
              <a:rPr lang="en-US" sz="1200">
                <a:solidFill>
                  <a:srgbClr val="000000"/>
                </a:solidFill>
                <a:latin typeface="Arial"/>
                <a:ea typeface="Segoe UI"/>
                <a:cs typeface="Segoe UI"/>
              </a:rPr>
              <a:t>​</a:t>
            </a:r>
          </a:p>
          <a:p>
            <a:pPr rtl="0"/>
            <a:r>
              <a:rPr lang="en-US" sz="1000" baseline="0">
                <a:solidFill>
                  <a:srgbClr val="000000"/>
                </a:solidFill>
                <a:latin typeface="Arial"/>
                <a:ea typeface="Segoe UI"/>
                <a:cs typeface="Segoe UI"/>
              </a:rPr>
              <a:t>Teams at varying maturity levels across Azure and AWS capabilities.</a:t>
            </a:r>
            <a:r>
              <a:rPr lang="en-US" sz="1000">
                <a:solidFill>
                  <a:srgbClr val="000000"/>
                </a:solidFill>
                <a:latin typeface="Arial"/>
                <a:ea typeface="Segoe UI"/>
                <a:cs typeface="Segoe UI"/>
              </a:rPr>
              <a:t>​</a:t>
            </a:r>
            <a:endParaRPr lang="en-US">
              <a:solidFill>
                <a:srgbClr val="000000"/>
              </a:solidFill>
              <a:cs typeface="Arial"/>
            </a:endParaRPr>
          </a:p>
        </p:txBody>
      </p:sp>
      <p:pic>
        <p:nvPicPr>
          <p:cNvPr id="59" name="Graphic 58" descr="Puzzle with solid fill">
            <a:extLst>
              <a:ext uri="{FF2B5EF4-FFF2-40B4-BE49-F238E27FC236}">
                <a16:creationId xmlns:a16="http://schemas.microsoft.com/office/drawing/2014/main" id="{78B1156F-8A04-BD63-9675-4AF827A951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0075" y="1733550"/>
            <a:ext cx="457200" cy="457200"/>
          </a:xfrm>
          <a:prstGeom prst="rect">
            <a:avLst/>
          </a:prstGeom>
        </p:spPr>
      </p:pic>
      <p:pic>
        <p:nvPicPr>
          <p:cNvPr id="60" name="Graphic 59" descr="Shield Tick with solid fill">
            <a:extLst>
              <a:ext uri="{FF2B5EF4-FFF2-40B4-BE49-F238E27FC236}">
                <a16:creationId xmlns:a16="http://schemas.microsoft.com/office/drawing/2014/main" id="{1B50EE39-3CFA-8E45-0285-4113AD00AE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0075" y="2495550"/>
            <a:ext cx="457200" cy="457200"/>
          </a:xfrm>
          <a:prstGeom prst="rect">
            <a:avLst/>
          </a:prstGeom>
        </p:spPr>
      </p:pic>
      <p:pic>
        <p:nvPicPr>
          <p:cNvPr id="61" name="Graphic 60" descr="Single gear with solid fill">
            <a:extLst>
              <a:ext uri="{FF2B5EF4-FFF2-40B4-BE49-F238E27FC236}">
                <a16:creationId xmlns:a16="http://schemas.microsoft.com/office/drawing/2014/main" id="{7137901D-3776-CD31-7E5B-D99D2838DF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0075" y="3200400"/>
            <a:ext cx="457200" cy="457200"/>
          </a:xfrm>
          <a:prstGeom prst="rect">
            <a:avLst/>
          </a:prstGeom>
        </p:spPr>
      </p:pic>
      <p:pic>
        <p:nvPicPr>
          <p:cNvPr id="62" name="Graphic 61" descr="Map compass with solid fill">
            <a:extLst>
              <a:ext uri="{FF2B5EF4-FFF2-40B4-BE49-F238E27FC236}">
                <a16:creationId xmlns:a16="http://schemas.microsoft.com/office/drawing/2014/main" id="{E55A531B-0494-ACD2-B961-F3725A6BDD1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0075" y="3962400"/>
            <a:ext cx="457200" cy="457200"/>
          </a:xfrm>
          <a:prstGeom prst="rect">
            <a:avLst/>
          </a:prstGeom>
        </p:spPr>
      </p:pic>
      <p:pic>
        <p:nvPicPr>
          <p:cNvPr id="63" name="Graphic 62" descr="Dollar with solid fill">
            <a:extLst>
              <a:ext uri="{FF2B5EF4-FFF2-40B4-BE49-F238E27FC236}">
                <a16:creationId xmlns:a16="http://schemas.microsoft.com/office/drawing/2014/main" id="{741301A7-680D-96FB-CA98-F086A8D532A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0075" y="4695825"/>
            <a:ext cx="457200" cy="457200"/>
          </a:xfrm>
          <a:prstGeom prst="rect">
            <a:avLst/>
          </a:prstGeom>
        </p:spPr>
      </p:pic>
      <p:pic>
        <p:nvPicPr>
          <p:cNvPr id="64" name="Graphic 63" descr="Graduation cap with solid fill">
            <a:extLst>
              <a:ext uri="{FF2B5EF4-FFF2-40B4-BE49-F238E27FC236}">
                <a16:creationId xmlns:a16="http://schemas.microsoft.com/office/drawing/2014/main" id="{B8DAADD7-C2E9-BB2D-8B00-D488BAF06BF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0075" y="5429250"/>
            <a:ext cx="457200" cy="457200"/>
          </a:xfrm>
          <a:prstGeom prst="rect">
            <a:avLst/>
          </a:prstGeom>
        </p:spPr>
      </p:pic>
      <p:sp>
        <p:nvSpPr>
          <p:cNvPr id="67" name="Rectangle 66">
            <a:extLst>
              <a:ext uri="{FF2B5EF4-FFF2-40B4-BE49-F238E27FC236}">
                <a16:creationId xmlns:a16="http://schemas.microsoft.com/office/drawing/2014/main" id="{DEA95F99-F65F-B799-B26B-545E9B47EC98}"/>
              </a:ext>
            </a:extLst>
          </p:cNvPr>
          <p:cNvSpPr>
            <a:spLocks/>
          </p:cNvSpPr>
          <p:nvPr/>
        </p:nvSpPr>
        <p:spPr>
          <a:xfrm>
            <a:off x="6448677" y="1533131"/>
            <a:ext cx="5349561" cy="4571893"/>
          </a:xfrm>
          <a:prstGeom prst="rect">
            <a:avLst/>
          </a:prstGeom>
          <a:noFill/>
          <a:ln w="6350" cap="sq" cmpd="sng" algn="ctr">
            <a:solidFill>
              <a:srgbClr val="BA0C2F"/>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a:ea typeface="+mn-ea"/>
              <a:cs typeface="+mn-cs"/>
            </a:endParaRPr>
          </a:p>
        </p:txBody>
      </p:sp>
      <p:sp>
        <p:nvSpPr>
          <p:cNvPr id="68" name="Rectangle: Rounded Corners 67">
            <a:extLst>
              <a:ext uri="{FF2B5EF4-FFF2-40B4-BE49-F238E27FC236}">
                <a16:creationId xmlns:a16="http://schemas.microsoft.com/office/drawing/2014/main" id="{D843883D-117F-1B62-ABBB-5772BB57B32E}"/>
              </a:ext>
            </a:extLst>
          </p:cNvPr>
          <p:cNvSpPr/>
          <p:nvPr/>
        </p:nvSpPr>
        <p:spPr>
          <a:xfrm rot="10800000" flipV="1">
            <a:off x="7351394" y="1645919"/>
            <a:ext cx="4267200" cy="690749"/>
          </a:xfrm>
          <a:prstGeom prst="roundRect">
            <a:avLst/>
          </a:prstGeom>
          <a:solidFill>
            <a:srgbClr val="F0CCD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Aft>
                <a:spcPts val="500"/>
              </a:spcAft>
            </a:pPr>
            <a:r>
              <a:rPr lang="en-US" sz="1200" b="1">
                <a:solidFill>
                  <a:srgbClr val="000000"/>
                </a:solidFill>
                <a:cs typeface="Arial"/>
              </a:rPr>
              <a:t>Platform Streamlining:</a:t>
            </a:r>
            <a:endParaRPr lang="en-US" sz="1200">
              <a:solidFill>
                <a:srgbClr val="515349"/>
              </a:solidFill>
              <a:cs typeface="Arial"/>
            </a:endParaRPr>
          </a:p>
          <a:p>
            <a:pPr>
              <a:spcAft>
                <a:spcPts val="500"/>
              </a:spcAft>
            </a:pPr>
            <a:r>
              <a:rPr lang="en-US" sz="1000">
                <a:solidFill>
                  <a:srgbClr val="000000"/>
                </a:solidFill>
                <a:cs typeface="Arial"/>
              </a:rPr>
              <a:t>Align on core container platforms (</a:t>
            </a:r>
            <a:r>
              <a:rPr lang="en-US" sz="1000" err="1">
                <a:solidFill>
                  <a:srgbClr val="000000"/>
                </a:solidFill>
                <a:cs typeface="Arial"/>
              </a:rPr>
              <a:t>e.g.,AKS</a:t>
            </a:r>
            <a:r>
              <a:rPr lang="en-US" sz="1000">
                <a:solidFill>
                  <a:srgbClr val="000000"/>
                </a:solidFill>
                <a:cs typeface="Arial"/>
              </a:rPr>
              <a:t>/EKS) and rationalize GCP workloads &amp; </a:t>
            </a:r>
            <a:r>
              <a:rPr lang="en-US" sz="1000" err="1">
                <a:solidFill>
                  <a:srgbClr val="000000"/>
                </a:solidFill>
                <a:cs typeface="Arial"/>
              </a:rPr>
              <a:t>Frontdoor</a:t>
            </a:r>
            <a:r>
              <a:rPr lang="en-US" sz="1000">
                <a:solidFill>
                  <a:srgbClr val="000000"/>
                </a:solidFill>
                <a:cs typeface="Arial"/>
              </a:rPr>
              <a:t>.</a:t>
            </a:r>
            <a:endParaRPr lang="en-US" sz="1000">
              <a:solidFill>
                <a:srgbClr val="515349"/>
              </a:solidFill>
              <a:cs typeface="Arial"/>
            </a:endParaRPr>
          </a:p>
        </p:txBody>
      </p:sp>
      <p:sp>
        <p:nvSpPr>
          <p:cNvPr id="69" name="Rectangle: Rounded Corners 68">
            <a:extLst>
              <a:ext uri="{FF2B5EF4-FFF2-40B4-BE49-F238E27FC236}">
                <a16:creationId xmlns:a16="http://schemas.microsoft.com/office/drawing/2014/main" id="{BA41D1BC-4EA7-7283-2173-80A421137565}"/>
              </a:ext>
            </a:extLst>
          </p:cNvPr>
          <p:cNvSpPr/>
          <p:nvPr/>
        </p:nvSpPr>
        <p:spPr>
          <a:xfrm rot="10800000" flipV="1">
            <a:off x="7351394" y="2379343"/>
            <a:ext cx="4267200" cy="690749"/>
          </a:xfrm>
          <a:prstGeom prst="roundRect">
            <a:avLst/>
          </a:prstGeom>
          <a:solidFill>
            <a:srgbClr val="F0CCD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Aft>
                <a:spcPts val="500"/>
              </a:spcAft>
            </a:pPr>
            <a:r>
              <a:rPr lang="en-US" sz="1200" b="1">
                <a:solidFill>
                  <a:srgbClr val="000000"/>
                </a:solidFill>
                <a:cs typeface="Arial"/>
              </a:rPr>
              <a:t>Security by Design:</a:t>
            </a:r>
            <a:endParaRPr lang="en-US" sz="1200">
              <a:solidFill>
                <a:srgbClr val="515349"/>
              </a:solidFill>
              <a:cs typeface="Arial"/>
            </a:endParaRPr>
          </a:p>
          <a:p>
            <a:pPr>
              <a:spcAft>
                <a:spcPts val="500"/>
              </a:spcAft>
            </a:pPr>
            <a:r>
              <a:rPr lang="en-US" sz="1000">
                <a:solidFill>
                  <a:srgbClr val="000000"/>
                </a:solidFill>
                <a:cs typeface="Arial"/>
              </a:rPr>
              <a:t>Embed enterprise security patterns and standardized hardened builds.</a:t>
            </a:r>
            <a:endParaRPr lang="en-US" sz="1000">
              <a:solidFill>
                <a:srgbClr val="515349"/>
              </a:solidFill>
              <a:cs typeface="Arial"/>
            </a:endParaRPr>
          </a:p>
        </p:txBody>
      </p:sp>
      <p:sp>
        <p:nvSpPr>
          <p:cNvPr id="70" name="Rectangle: Rounded Corners 69">
            <a:extLst>
              <a:ext uri="{FF2B5EF4-FFF2-40B4-BE49-F238E27FC236}">
                <a16:creationId xmlns:a16="http://schemas.microsoft.com/office/drawing/2014/main" id="{319FA15E-5510-B834-A0C9-F9AF5CE8E906}"/>
              </a:ext>
            </a:extLst>
          </p:cNvPr>
          <p:cNvSpPr/>
          <p:nvPr/>
        </p:nvSpPr>
        <p:spPr>
          <a:xfrm rot="10800000" flipV="1">
            <a:off x="7351394" y="3112768"/>
            <a:ext cx="4267200" cy="690749"/>
          </a:xfrm>
          <a:prstGeom prst="roundRect">
            <a:avLst/>
          </a:prstGeom>
          <a:solidFill>
            <a:srgbClr val="F0CCD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Aft>
                <a:spcPts val="500"/>
              </a:spcAft>
            </a:pPr>
            <a:r>
              <a:rPr lang="en-US" sz="1200" b="1">
                <a:solidFill>
                  <a:srgbClr val="000000"/>
                </a:solidFill>
                <a:cs typeface="Arial"/>
              </a:rPr>
              <a:t>Automation at Scale:</a:t>
            </a:r>
            <a:endParaRPr lang="en-US" sz="1200">
              <a:solidFill>
                <a:srgbClr val="515349"/>
              </a:solidFill>
              <a:cs typeface="Arial"/>
            </a:endParaRPr>
          </a:p>
          <a:p>
            <a:pPr>
              <a:spcAft>
                <a:spcPts val="500"/>
              </a:spcAft>
            </a:pPr>
            <a:r>
              <a:rPr lang="en-US" sz="1000">
                <a:solidFill>
                  <a:srgbClr val="000000"/>
                </a:solidFill>
                <a:cs typeface="Arial"/>
              </a:rPr>
              <a:t>Leverage automation maturity to enable full self-service, predictive monitoring, and resilience testing.</a:t>
            </a:r>
            <a:endParaRPr lang="en-US" sz="1000">
              <a:solidFill>
                <a:srgbClr val="515349"/>
              </a:solidFill>
              <a:cs typeface="Arial"/>
            </a:endParaRPr>
          </a:p>
        </p:txBody>
      </p:sp>
      <p:sp>
        <p:nvSpPr>
          <p:cNvPr id="71" name="Rectangle: Rounded Corners 70">
            <a:extLst>
              <a:ext uri="{FF2B5EF4-FFF2-40B4-BE49-F238E27FC236}">
                <a16:creationId xmlns:a16="http://schemas.microsoft.com/office/drawing/2014/main" id="{6E4BB580-B2FC-023B-A77E-2A0CCB441DBD}"/>
              </a:ext>
            </a:extLst>
          </p:cNvPr>
          <p:cNvSpPr/>
          <p:nvPr/>
        </p:nvSpPr>
        <p:spPr>
          <a:xfrm rot="10800000" flipV="1">
            <a:off x="7351394" y="3846193"/>
            <a:ext cx="4267200" cy="690749"/>
          </a:xfrm>
          <a:prstGeom prst="roundRect">
            <a:avLst/>
          </a:prstGeom>
          <a:solidFill>
            <a:srgbClr val="F0CCD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Aft>
                <a:spcPts val="500"/>
              </a:spcAft>
            </a:pPr>
            <a:r>
              <a:rPr lang="en-US" sz="1200" b="1">
                <a:solidFill>
                  <a:srgbClr val="000000"/>
                </a:solidFill>
                <a:latin typeface="Arial"/>
                <a:ea typeface="Segoe UI"/>
                <a:cs typeface="Arial"/>
              </a:rPr>
              <a:t>Unified </a:t>
            </a:r>
            <a:r>
              <a:rPr lang="en-US" sz="1200" b="1" baseline="0">
                <a:solidFill>
                  <a:srgbClr val="000000"/>
                </a:solidFill>
                <a:latin typeface="Arial"/>
                <a:ea typeface="Segoe UI"/>
                <a:cs typeface="Arial"/>
              </a:rPr>
              <a:t>Governance:</a:t>
            </a:r>
            <a:endParaRPr lang="en-US" sz="1200">
              <a:solidFill>
                <a:srgbClr val="515349"/>
              </a:solidFill>
              <a:latin typeface="Arial"/>
              <a:ea typeface="Segoe UI"/>
              <a:cs typeface="Arial"/>
            </a:endParaRPr>
          </a:p>
          <a:p>
            <a:pPr>
              <a:spcAft>
                <a:spcPts val="500"/>
              </a:spcAft>
            </a:pPr>
            <a:r>
              <a:rPr lang="en-US" sz="1000">
                <a:solidFill>
                  <a:srgbClr val="000000"/>
                </a:solidFill>
                <a:latin typeface="Arial"/>
                <a:ea typeface="Segoe UI"/>
                <a:cs typeface="Arial"/>
              </a:rPr>
              <a:t>Standardize </a:t>
            </a:r>
            <a:r>
              <a:rPr lang="en-US" sz="1000" baseline="0">
                <a:solidFill>
                  <a:srgbClr val="000000"/>
                </a:solidFill>
                <a:latin typeface="Arial"/>
                <a:ea typeface="Segoe UI"/>
                <a:cs typeface="Arial"/>
              </a:rPr>
              <a:t>policies and workload </a:t>
            </a:r>
            <a:r>
              <a:rPr lang="en-US" sz="1000">
                <a:solidFill>
                  <a:srgbClr val="000000"/>
                </a:solidFill>
                <a:latin typeface="Arial"/>
                <a:ea typeface="Segoe UI"/>
                <a:cs typeface="Arial"/>
              </a:rPr>
              <a:t>placement through automated guardrails</a:t>
            </a:r>
            <a:r>
              <a:rPr lang="en-US" sz="1000" baseline="0">
                <a:solidFill>
                  <a:srgbClr val="000000"/>
                </a:solidFill>
                <a:latin typeface="Arial"/>
                <a:ea typeface="Segoe UI"/>
                <a:cs typeface="Arial"/>
              </a:rPr>
              <a:t>.</a:t>
            </a:r>
            <a:endParaRPr lang="en-US" sz="1000">
              <a:solidFill>
                <a:srgbClr val="515349"/>
              </a:solidFill>
              <a:latin typeface="Arial"/>
              <a:ea typeface="Segoe UI"/>
              <a:cs typeface="Arial"/>
            </a:endParaRPr>
          </a:p>
        </p:txBody>
      </p:sp>
      <p:sp>
        <p:nvSpPr>
          <p:cNvPr id="72" name="Rectangle: Rounded Corners 71">
            <a:extLst>
              <a:ext uri="{FF2B5EF4-FFF2-40B4-BE49-F238E27FC236}">
                <a16:creationId xmlns:a16="http://schemas.microsoft.com/office/drawing/2014/main" id="{0C776C20-49E4-5F3D-8E21-128E6E9DE445}"/>
              </a:ext>
            </a:extLst>
          </p:cNvPr>
          <p:cNvSpPr/>
          <p:nvPr/>
        </p:nvSpPr>
        <p:spPr>
          <a:xfrm rot="10800000" flipV="1">
            <a:off x="7341869" y="4579618"/>
            <a:ext cx="4267200" cy="690749"/>
          </a:xfrm>
          <a:prstGeom prst="roundRect">
            <a:avLst/>
          </a:prstGeom>
          <a:solidFill>
            <a:srgbClr val="F0CCD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Aft>
                <a:spcPts val="500"/>
              </a:spcAft>
            </a:pPr>
            <a:r>
              <a:rPr lang="en-US" sz="1200" b="1" baseline="0">
                <a:solidFill>
                  <a:srgbClr val="000000"/>
                </a:solidFill>
                <a:latin typeface="Arial"/>
                <a:ea typeface="Segoe UI"/>
                <a:cs typeface="Arial"/>
              </a:rPr>
              <a:t>Cost </a:t>
            </a:r>
            <a:r>
              <a:rPr lang="en-US" sz="1200" b="1">
                <a:solidFill>
                  <a:srgbClr val="000000"/>
                </a:solidFill>
                <a:latin typeface="Arial"/>
                <a:ea typeface="Segoe UI"/>
                <a:cs typeface="Arial"/>
              </a:rPr>
              <a:t>Optimization</a:t>
            </a:r>
            <a:r>
              <a:rPr lang="en-US" sz="1200" b="1" baseline="0">
                <a:solidFill>
                  <a:srgbClr val="000000"/>
                </a:solidFill>
                <a:latin typeface="Arial"/>
                <a:ea typeface="Segoe UI"/>
                <a:cs typeface="Arial"/>
              </a:rPr>
              <a:t>:</a:t>
            </a:r>
            <a:endParaRPr lang="en-US" sz="1200">
              <a:solidFill>
                <a:srgbClr val="515349"/>
              </a:solidFill>
              <a:latin typeface="Arial"/>
              <a:ea typeface="Segoe UI"/>
              <a:cs typeface="Arial"/>
            </a:endParaRPr>
          </a:p>
          <a:p>
            <a:pPr>
              <a:spcAft>
                <a:spcPts val="500"/>
              </a:spcAft>
            </a:pPr>
            <a:r>
              <a:rPr lang="en-US" sz="1000">
                <a:solidFill>
                  <a:srgbClr val="000000"/>
                </a:solidFill>
                <a:latin typeface="Arial"/>
                <a:ea typeface="Segoe UI"/>
                <a:cs typeface="Arial"/>
              </a:rPr>
              <a:t>Mature FinOps practices for automated </a:t>
            </a:r>
            <a:r>
              <a:rPr lang="en-US" sz="1000" baseline="0">
                <a:solidFill>
                  <a:srgbClr val="000000"/>
                </a:solidFill>
                <a:latin typeface="Arial"/>
                <a:ea typeface="Segoe UI"/>
                <a:cs typeface="Arial"/>
              </a:rPr>
              <a:t>spend </a:t>
            </a:r>
            <a:r>
              <a:rPr lang="en-US" sz="1000">
                <a:solidFill>
                  <a:srgbClr val="000000"/>
                </a:solidFill>
                <a:latin typeface="Arial"/>
                <a:ea typeface="Segoe UI"/>
                <a:cs typeface="Arial"/>
              </a:rPr>
              <a:t>insights and efficiency</a:t>
            </a:r>
          </a:p>
        </p:txBody>
      </p:sp>
      <p:sp>
        <p:nvSpPr>
          <p:cNvPr id="73" name="Rectangle: Rounded Corners 72">
            <a:extLst>
              <a:ext uri="{FF2B5EF4-FFF2-40B4-BE49-F238E27FC236}">
                <a16:creationId xmlns:a16="http://schemas.microsoft.com/office/drawing/2014/main" id="{E82F01CD-E3BA-F054-C83B-92896759716C}"/>
              </a:ext>
            </a:extLst>
          </p:cNvPr>
          <p:cNvSpPr/>
          <p:nvPr/>
        </p:nvSpPr>
        <p:spPr>
          <a:xfrm rot="10800000" flipV="1">
            <a:off x="7341869" y="5313043"/>
            <a:ext cx="4267200" cy="690749"/>
          </a:xfrm>
          <a:prstGeom prst="roundRect">
            <a:avLst/>
          </a:prstGeom>
          <a:solidFill>
            <a:srgbClr val="F0CCD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Aft>
                <a:spcPts val="500"/>
              </a:spcAft>
            </a:pPr>
            <a:r>
              <a:rPr lang="en-US" sz="1200" b="1">
                <a:solidFill>
                  <a:srgbClr val="000000"/>
                </a:solidFill>
                <a:latin typeface="Arial"/>
                <a:ea typeface="Segoe UI"/>
                <a:cs typeface="Arial"/>
              </a:rPr>
              <a:t>Workforce Enablement</a:t>
            </a:r>
            <a:r>
              <a:rPr lang="en-US" sz="1200" b="1" baseline="0">
                <a:solidFill>
                  <a:srgbClr val="000000"/>
                </a:solidFill>
                <a:latin typeface="Arial"/>
                <a:ea typeface="Segoe UI"/>
                <a:cs typeface="Arial"/>
              </a:rPr>
              <a:t>:</a:t>
            </a:r>
            <a:endParaRPr lang="en-US" sz="1200">
              <a:solidFill>
                <a:srgbClr val="515349"/>
              </a:solidFill>
              <a:latin typeface="Arial"/>
              <a:ea typeface="Segoe UI"/>
              <a:cs typeface="Arial"/>
            </a:endParaRPr>
          </a:p>
          <a:p>
            <a:pPr>
              <a:spcAft>
                <a:spcPts val="500"/>
              </a:spcAft>
            </a:pPr>
            <a:r>
              <a:rPr lang="en-US" sz="1000">
                <a:solidFill>
                  <a:srgbClr val="000000"/>
                </a:solidFill>
                <a:latin typeface="Arial"/>
                <a:ea typeface="Segoe UI"/>
                <a:cs typeface="Arial"/>
              </a:rPr>
              <a:t>Invest in cross-cloud upskilling </a:t>
            </a:r>
            <a:r>
              <a:rPr lang="en-US" sz="1000" baseline="0">
                <a:solidFill>
                  <a:srgbClr val="000000"/>
                </a:solidFill>
                <a:latin typeface="Arial"/>
                <a:ea typeface="Segoe UI"/>
                <a:cs typeface="Arial"/>
              </a:rPr>
              <a:t>and </a:t>
            </a:r>
            <a:r>
              <a:rPr lang="en-US" sz="1000">
                <a:solidFill>
                  <a:srgbClr val="000000"/>
                </a:solidFill>
                <a:latin typeface="Arial"/>
                <a:ea typeface="Segoe UI"/>
                <a:cs typeface="Arial"/>
              </a:rPr>
              <a:t>targeted certifications</a:t>
            </a:r>
            <a:r>
              <a:rPr lang="en-US" sz="1000" baseline="0">
                <a:solidFill>
                  <a:srgbClr val="000000"/>
                </a:solidFill>
                <a:latin typeface="Arial"/>
                <a:ea typeface="Segoe UI"/>
                <a:cs typeface="Arial"/>
              </a:rPr>
              <a:t>.</a:t>
            </a:r>
            <a:endParaRPr lang="en-US" sz="1000">
              <a:solidFill>
                <a:srgbClr val="515349"/>
              </a:solidFill>
              <a:latin typeface="Arial"/>
              <a:ea typeface="Segoe UI"/>
              <a:cs typeface="Arial"/>
            </a:endParaRPr>
          </a:p>
        </p:txBody>
      </p:sp>
      <p:pic>
        <p:nvPicPr>
          <p:cNvPr id="80" name="Graphic 79" descr="Circular flowchart with solid fill">
            <a:extLst>
              <a:ext uri="{FF2B5EF4-FFF2-40B4-BE49-F238E27FC236}">
                <a16:creationId xmlns:a16="http://schemas.microsoft.com/office/drawing/2014/main" id="{62C86CF1-EEEA-2125-4B3C-15C68E68D09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57975" y="1790700"/>
            <a:ext cx="457200" cy="457200"/>
          </a:xfrm>
          <a:prstGeom prst="rect">
            <a:avLst/>
          </a:prstGeom>
        </p:spPr>
      </p:pic>
      <p:pic>
        <p:nvPicPr>
          <p:cNvPr id="81" name="Graphic 80" descr="Full Brick Wall with solid fill">
            <a:extLst>
              <a:ext uri="{FF2B5EF4-FFF2-40B4-BE49-F238E27FC236}">
                <a16:creationId xmlns:a16="http://schemas.microsoft.com/office/drawing/2014/main" id="{01992146-DFDD-93CC-2CC9-78B4A18FA78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657975" y="2495550"/>
            <a:ext cx="457200" cy="457200"/>
          </a:xfrm>
          <a:prstGeom prst="rect">
            <a:avLst/>
          </a:prstGeom>
        </p:spPr>
      </p:pic>
      <p:pic>
        <p:nvPicPr>
          <p:cNvPr id="82" name="Graphic 81" descr="Robot with solid fill">
            <a:extLst>
              <a:ext uri="{FF2B5EF4-FFF2-40B4-BE49-F238E27FC236}">
                <a16:creationId xmlns:a16="http://schemas.microsoft.com/office/drawing/2014/main" id="{B7BEE062-782A-92A9-559C-1961451A63F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657975" y="3228975"/>
            <a:ext cx="457200" cy="457200"/>
          </a:xfrm>
          <a:prstGeom prst="rect">
            <a:avLst/>
          </a:prstGeom>
        </p:spPr>
      </p:pic>
      <p:pic>
        <p:nvPicPr>
          <p:cNvPr id="83" name="Graphic 82" descr="Bank with solid fill">
            <a:extLst>
              <a:ext uri="{FF2B5EF4-FFF2-40B4-BE49-F238E27FC236}">
                <a16:creationId xmlns:a16="http://schemas.microsoft.com/office/drawing/2014/main" id="{07CC4C61-EAD5-806B-777C-9325C0AAF15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657975" y="3962400"/>
            <a:ext cx="457200" cy="457200"/>
          </a:xfrm>
          <a:prstGeom prst="rect">
            <a:avLst/>
          </a:prstGeom>
        </p:spPr>
      </p:pic>
      <p:pic>
        <p:nvPicPr>
          <p:cNvPr id="84" name="Graphic 83" descr="Upward trend with solid fill">
            <a:extLst>
              <a:ext uri="{FF2B5EF4-FFF2-40B4-BE49-F238E27FC236}">
                <a16:creationId xmlns:a16="http://schemas.microsoft.com/office/drawing/2014/main" id="{0B198474-2EAF-F5F8-6890-AC4BCCC74A1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657975" y="4695825"/>
            <a:ext cx="457200" cy="457200"/>
          </a:xfrm>
          <a:prstGeom prst="rect">
            <a:avLst/>
          </a:prstGeom>
        </p:spPr>
      </p:pic>
      <p:pic>
        <p:nvPicPr>
          <p:cNvPr id="85" name="Graphic 84" descr="Rocket with solid fill">
            <a:extLst>
              <a:ext uri="{FF2B5EF4-FFF2-40B4-BE49-F238E27FC236}">
                <a16:creationId xmlns:a16="http://schemas.microsoft.com/office/drawing/2014/main" id="{352DD724-7A02-EA38-3EA4-8057EF4934F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657975" y="5429250"/>
            <a:ext cx="457200" cy="457200"/>
          </a:xfrm>
          <a:prstGeom prst="rect">
            <a:avLst/>
          </a:prstGeom>
        </p:spPr>
      </p:pic>
      <p:sp>
        <p:nvSpPr>
          <p:cNvPr id="86" name="Arrow: Right 85">
            <a:extLst>
              <a:ext uri="{FF2B5EF4-FFF2-40B4-BE49-F238E27FC236}">
                <a16:creationId xmlns:a16="http://schemas.microsoft.com/office/drawing/2014/main" id="{0CB3EAC3-7A7F-EFA3-6457-167395C2BE07}"/>
              </a:ext>
            </a:extLst>
          </p:cNvPr>
          <p:cNvSpPr/>
          <p:nvPr/>
        </p:nvSpPr>
        <p:spPr>
          <a:xfrm>
            <a:off x="5848350" y="1137285"/>
            <a:ext cx="518160" cy="365760"/>
          </a:xfrm>
          <a:prstGeom prst="rightArrow">
            <a:avLst/>
          </a:prstGeom>
          <a:solidFill>
            <a:srgbClr val="BA0C2F"/>
          </a:solidFill>
          <a:ln>
            <a:solidFill>
              <a:srgbClr val="BA0C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Rounded Corners 88">
            <a:extLst>
              <a:ext uri="{FF2B5EF4-FFF2-40B4-BE49-F238E27FC236}">
                <a16:creationId xmlns:a16="http://schemas.microsoft.com/office/drawing/2014/main" id="{C6EB9572-1C90-CB78-DA95-28A3CC7C2070}"/>
              </a:ext>
            </a:extLst>
          </p:cNvPr>
          <p:cNvSpPr/>
          <p:nvPr/>
        </p:nvSpPr>
        <p:spPr>
          <a:xfrm>
            <a:off x="386715" y="1141095"/>
            <a:ext cx="5364480" cy="377190"/>
          </a:xfrm>
          <a:prstGeom prst="roundRect">
            <a:avLst/>
          </a:prstGeom>
          <a:solidFill>
            <a:srgbClr val="BA0C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cs typeface="Arial"/>
              </a:rPr>
              <a:t>Current Observations</a:t>
            </a:r>
            <a:endParaRPr lang="en-US" sz="1500">
              <a:cs typeface="Arial"/>
            </a:endParaRPr>
          </a:p>
        </p:txBody>
      </p:sp>
      <p:sp>
        <p:nvSpPr>
          <p:cNvPr id="90" name="Rectangle: Rounded Corners 89">
            <a:extLst>
              <a:ext uri="{FF2B5EF4-FFF2-40B4-BE49-F238E27FC236}">
                <a16:creationId xmlns:a16="http://schemas.microsoft.com/office/drawing/2014/main" id="{2CA64D5D-3720-0936-5A81-42BDD47A0512}"/>
              </a:ext>
            </a:extLst>
          </p:cNvPr>
          <p:cNvSpPr/>
          <p:nvPr/>
        </p:nvSpPr>
        <p:spPr>
          <a:xfrm>
            <a:off x="6444614" y="1141094"/>
            <a:ext cx="5354955" cy="377190"/>
          </a:xfrm>
          <a:prstGeom prst="roundRect">
            <a:avLst/>
          </a:prstGeom>
          <a:solidFill>
            <a:srgbClr val="BA0C2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500" b="1">
                <a:solidFill>
                  <a:schemeClr val="bg1"/>
                </a:solidFill>
                <a:cs typeface="Arial"/>
              </a:rPr>
              <a:t>Strategic Focus for Future State</a:t>
            </a:r>
          </a:p>
        </p:txBody>
      </p:sp>
    </p:spTree>
    <p:extLst>
      <p:ext uri="{BB962C8B-B14F-4D97-AF65-F5344CB8AC3E}">
        <p14:creationId xmlns:p14="http://schemas.microsoft.com/office/powerpoint/2010/main" val="483783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22BE9-9D4B-ADAF-699A-F16101EC0EB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9D4C4E5-116D-547E-44D1-3E60740A1EC7}"/>
              </a:ext>
            </a:extLst>
          </p:cNvPr>
          <p:cNvSpPr>
            <a:spLocks noGrp="1"/>
          </p:cNvSpPr>
          <p:nvPr>
            <p:ph type="ftr" sz="quarter" idx="11"/>
          </p:nvPr>
        </p:nvSpPr>
        <p:spPr/>
        <p:txBody>
          <a:bodyPr/>
          <a:lstStyle/>
          <a:p>
            <a:r>
              <a:rPr lang="en-CA"/>
              <a:t>CONFIDENTIAL</a:t>
            </a:r>
          </a:p>
        </p:txBody>
      </p:sp>
      <p:sp>
        <p:nvSpPr>
          <p:cNvPr id="3" name="TextBox 2">
            <a:extLst>
              <a:ext uri="{FF2B5EF4-FFF2-40B4-BE49-F238E27FC236}">
                <a16:creationId xmlns:a16="http://schemas.microsoft.com/office/drawing/2014/main" id="{8D5CA65C-B10A-2CDF-9B35-07EEDAC1C83E}"/>
              </a:ext>
            </a:extLst>
          </p:cNvPr>
          <p:cNvSpPr txBox="1"/>
          <p:nvPr/>
        </p:nvSpPr>
        <p:spPr>
          <a:xfrm>
            <a:off x="4797136" y="2900795"/>
            <a:ext cx="2831523" cy="677108"/>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US" sz="3200">
                <a:solidFill>
                  <a:srgbClr val="BA0C2F"/>
                </a:solidFill>
                <a:latin typeface="Arial"/>
              </a:rPr>
              <a:t>Target State</a:t>
            </a:r>
            <a:r>
              <a:rPr sz="3200">
                <a:latin typeface="Arial"/>
                <a:ea typeface="Arial"/>
                <a:cs typeface="Arial"/>
              </a:rPr>
              <a:t>​</a:t>
            </a:r>
            <a:endParaRPr lang="en-US"/>
          </a:p>
          <a:p>
            <a:pPr marL="228600" indent="-228600" algn="l">
              <a:spcAft>
                <a:spcPts val="500"/>
              </a:spcAft>
              <a:buFont typeface="Arial" panose="020B0604020202020204" pitchFamily="34" charset="0"/>
              <a:buChar char="•"/>
            </a:pPr>
            <a:endParaRPr lang="en-US" sz="1200"/>
          </a:p>
        </p:txBody>
      </p:sp>
    </p:spTree>
    <p:extLst>
      <p:ext uri="{BB962C8B-B14F-4D97-AF65-F5344CB8AC3E}">
        <p14:creationId xmlns:p14="http://schemas.microsoft.com/office/powerpoint/2010/main" val="42102171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49313-5FB4-586F-E335-855A4FBE3A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BA145E-249F-F87A-F7E1-4D49464E3416}"/>
              </a:ext>
            </a:extLst>
          </p:cNvPr>
          <p:cNvSpPr>
            <a:spLocks noGrp="1"/>
          </p:cNvSpPr>
          <p:nvPr>
            <p:ph type="title"/>
          </p:nvPr>
        </p:nvSpPr>
        <p:spPr/>
        <p:txBody>
          <a:bodyPr/>
          <a:lstStyle/>
          <a:p>
            <a:r>
              <a:rPr lang="en-CA" sz="2400">
                <a:cs typeface="Arial"/>
              </a:rPr>
              <a:t>Design Principles for Target State Architecture &amp; Expected Business Outcomes</a:t>
            </a:r>
            <a:endParaRPr lang="en-US" sz="2400">
              <a:cs typeface="Arial"/>
            </a:endParaRPr>
          </a:p>
        </p:txBody>
      </p:sp>
      <p:sp>
        <p:nvSpPr>
          <p:cNvPr id="3" name="Footer Placeholder 2">
            <a:extLst>
              <a:ext uri="{FF2B5EF4-FFF2-40B4-BE49-F238E27FC236}">
                <a16:creationId xmlns:a16="http://schemas.microsoft.com/office/drawing/2014/main" id="{387F31EB-1BFA-C695-C81D-091671ED1644}"/>
              </a:ext>
            </a:extLst>
          </p:cNvPr>
          <p:cNvSpPr>
            <a:spLocks noGrp="1"/>
          </p:cNvSpPr>
          <p:nvPr>
            <p:ph type="ftr" sz="quarter" idx="11"/>
          </p:nvPr>
        </p:nvSpPr>
        <p:spPr/>
        <p:txBody>
          <a:bodyPr/>
          <a:lstStyle/>
          <a:p>
            <a:r>
              <a:rPr lang="en-CA"/>
              <a:t>CONFIDENTIAL</a:t>
            </a:r>
          </a:p>
        </p:txBody>
      </p:sp>
      <p:sp>
        <p:nvSpPr>
          <p:cNvPr id="4" name="Date Placeholder 3">
            <a:extLst>
              <a:ext uri="{FF2B5EF4-FFF2-40B4-BE49-F238E27FC236}">
                <a16:creationId xmlns:a16="http://schemas.microsoft.com/office/drawing/2014/main" id="{F5A5FDEF-D604-6FAF-57A0-069588F369B4}"/>
              </a:ext>
            </a:extLst>
          </p:cNvPr>
          <p:cNvSpPr>
            <a:spLocks noGrp="1"/>
          </p:cNvSpPr>
          <p:nvPr>
            <p:ph type="dt" sz="half" idx="13"/>
          </p:nvPr>
        </p:nvSpPr>
        <p:spPr/>
        <p:txBody>
          <a:bodyPr/>
          <a:lstStyle/>
          <a:p>
            <a:fld id="{B01D7BC3-961C-46B9-A6DE-2A4B9BFDFACA}" type="datetime1">
              <a:rPr lang="en-US" smtClean="0"/>
              <a:t>7/31/2026</a:t>
            </a:fld>
            <a:endParaRPr lang="en-CA"/>
          </a:p>
        </p:txBody>
      </p:sp>
      <p:sp>
        <p:nvSpPr>
          <p:cNvPr id="6" name="TextBox 5">
            <a:extLst>
              <a:ext uri="{FF2B5EF4-FFF2-40B4-BE49-F238E27FC236}">
                <a16:creationId xmlns:a16="http://schemas.microsoft.com/office/drawing/2014/main" id="{E7B81CD9-40DF-E778-2316-70630DED31B3}"/>
              </a:ext>
            </a:extLst>
          </p:cNvPr>
          <p:cNvSpPr txBox="1"/>
          <p:nvPr/>
        </p:nvSpPr>
        <p:spPr>
          <a:xfrm>
            <a:off x="431564" y="1258085"/>
            <a:ext cx="5229643" cy="553998"/>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b="1">
                <a:solidFill>
                  <a:srgbClr val="000000"/>
                </a:solidFill>
                <a:ea typeface="+mn-lt"/>
                <a:cs typeface="+mn-lt"/>
              </a:rPr>
              <a:t>Key</a:t>
            </a:r>
            <a:r>
              <a:rPr lang="en-US" b="1">
                <a:solidFill>
                  <a:srgbClr val="000000"/>
                </a:solidFill>
                <a:cs typeface="Arial"/>
              </a:rPr>
              <a:t> Design Principles                                                           </a:t>
            </a:r>
            <a:endParaRPr lang="en-US">
              <a:solidFill>
                <a:srgbClr val="000000"/>
              </a:solidFill>
              <a:cs typeface="Arial"/>
            </a:endParaRPr>
          </a:p>
        </p:txBody>
      </p:sp>
      <p:sp>
        <p:nvSpPr>
          <p:cNvPr id="9" name="TextBox 8">
            <a:extLst>
              <a:ext uri="{FF2B5EF4-FFF2-40B4-BE49-F238E27FC236}">
                <a16:creationId xmlns:a16="http://schemas.microsoft.com/office/drawing/2014/main" id="{FFCE49DD-4E7C-D00F-447B-888C667AA3C4}"/>
              </a:ext>
            </a:extLst>
          </p:cNvPr>
          <p:cNvSpPr txBox="1"/>
          <p:nvPr/>
        </p:nvSpPr>
        <p:spPr>
          <a:xfrm>
            <a:off x="1086743" y="1820897"/>
            <a:ext cx="4423838" cy="433452"/>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ea typeface="+mn-lt"/>
                <a:cs typeface="+mn-lt"/>
              </a:rPr>
              <a:t>Cloud-Agnostic Abstraction:</a:t>
            </a:r>
            <a:endParaRPr lang="en-US">
              <a:solidFill>
                <a:srgbClr val="000000"/>
              </a:solidFill>
              <a:cs typeface="Arial"/>
            </a:endParaRPr>
          </a:p>
          <a:p>
            <a:pPr>
              <a:spcAft>
                <a:spcPts val="500"/>
              </a:spcAft>
            </a:pPr>
            <a:r>
              <a:rPr lang="en-US" sz="1200">
                <a:solidFill>
                  <a:srgbClr val="000000"/>
                </a:solidFill>
                <a:cs typeface="Arial"/>
              </a:rPr>
              <a:t>Foundation capabilities modeled for Azure &amp; AWS equivalence.</a:t>
            </a:r>
          </a:p>
        </p:txBody>
      </p:sp>
      <p:sp>
        <p:nvSpPr>
          <p:cNvPr id="13" name="Oval 12">
            <a:extLst>
              <a:ext uri="{FF2B5EF4-FFF2-40B4-BE49-F238E27FC236}">
                <a16:creationId xmlns:a16="http://schemas.microsoft.com/office/drawing/2014/main" id="{0043D1BD-321C-2481-6A4F-763EEF1A2AE3}"/>
              </a:ext>
            </a:extLst>
          </p:cNvPr>
          <p:cNvSpPr/>
          <p:nvPr/>
        </p:nvSpPr>
        <p:spPr>
          <a:xfrm>
            <a:off x="435545" y="1804340"/>
            <a:ext cx="493837" cy="466402"/>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cs typeface="Arial"/>
              </a:rPr>
              <a:t>1</a:t>
            </a:r>
          </a:p>
        </p:txBody>
      </p:sp>
      <p:sp>
        <p:nvSpPr>
          <p:cNvPr id="14" name="Oval 13">
            <a:extLst>
              <a:ext uri="{FF2B5EF4-FFF2-40B4-BE49-F238E27FC236}">
                <a16:creationId xmlns:a16="http://schemas.microsoft.com/office/drawing/2014/main" id="{E97031C4-9A3B-7C4D-5C85-6941FB7A8C3C}"/>
              </a:ext>
            </a:extLst>
          </p:cNvPr>
          <p:cNvSpPr/>
          <p:nvPr/>
        </p:nvSpPr>
        <p:spPr>
          <a:xfrm>
            <a:off x="5688264" y="1804340"/>
            <a:ext cx="493837" cy="466402"/>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rgbClr val="000000"/>
                </a:solidFill>
                <a:cs typeface="Arial"/>
              </a:rPr>
              <a:t>1</a:t>
            </a:r>
          </a:p>
        </p:txBody>
      </p:sp>
      <p:sp>
        <p:nvSpPr>
          <p:cNvPr id="21" name="TextBox 20">
            <a:extLst>
              <a:ext uri="{FF2B5EF4-FFF2-40B4-BE49-F238E27FC236}">
                <a16:creationId xmlns:a16="http://schemas.microsoft.com/office/drawing/2014/main" id="{4073284F-0FCB-D2D7-04D5-477955C8BC9A}"/>
              </a:ext>
            </a:extLst>
          </p:cNvPr>
          <p:cNvSpPr txBox="1"/>
          <p:nvPr/>
        </p:nvSpPr>
        <p:spPr>
          <a:xfrm>
            <a:off x="6359782" y="1820897"/>
            <a:ext cx="5396673" cy="433452"/>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ea typeface="+mn-lt"/>
                <a:cs typeface="+mn-lt"/>
              </a:rPr>
              <a:t>Cost Efficiency</a:t>
            </a:r>
            <a:r>
              <a:rPr lang="en-US" sz="1200" b="1">
                <a:solidFill>
                  <a:srgbClr val="000000"/>
                </a:solidFill>
                <a:cs typeface="Arial"/>
              </a:rPr>
              <a:t>:</a:t>
            </a:r>
            <a:endParaRPr lang="en-US">
              <a:solidFill>
                <a:srgbClr val="000000"/>
              </a:solidFill>
              <a:cs typeface="Arial"/>
            </a:endParaRPr>
          </a:p>
          <a:p>
            <a:pPr>
              <a:spcAft>
                <a:spcPts val="500"/>
              </a:spcAft>
            </a:pPr>
            <a:r>
              <a:rPr lang="en-US" sz="1200">
                <a:solidFill>
                  <a:srgbClr val="000000"/>
                </a:solidFill>
                <a:ea typeface="+mn-lt"/>
                <a:cs typeface="+mn-lt"/>
              </a:rPr>
              <a:t>Contain spend growth through optimization while enabling business expansion.</a:t>
            </a:r>
            <a:endParaRPr lang="en-US">
              <a:solidFill>
                <a:srgbClr val="000000"/>
              </a:solidFill>
              <a:cs typeface="Arial"/>
            </a:endParaRPr>
          </a:p>
        </p:txBody>
      </p:sp>
      <p:sp>
        <p:nvSpPr>
          <p:cNvPr id="22" name="TextBox 21">
            <a:extLst>
              <a:ext uri="{FF2B5EF4-FFF2-40B4-BE49-F238E27FC236}">
                <a16:creationId xmlns:a16="http://schemas.microsoft.com/office/drawing/2014/main" id="{74CE261C-D7D8-9A9B-2460-2FB97E99FBDB}"/>
              </a:ext>
            </a:extLst>
          </p:cNvPr>
          <p:cNvSpPr txBox="1"/>
          <p:nvPr/>
        </p:nvSpPr>
        <p:spPr>
          <a:xfrm>
            <a:off x="5689600" y="1259840"/>
            <a:ext cx="4196080" cy="276999"/>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b="1">
                <a:solidFill>
                  <a:srgbClr val="000000"/>
                </a:solidFill>
                <a:cs typeface="Segoe UI"/>
              </a:rPr>
              <a:t>Expected Business Outcomes</a:t>
            </a:r>
            <a:endParaRPr lang="en-US">
              <a:solidFill>
                <a:srgbClr val="000000"/>
              </a:solidFill>
              <a:cs typeface="Arial"/>
            </a:endParaRPr>
          </a:p>
        </p:txBody>
      </p:sp>
      <p:sp>
        <p:nvSpPr>
          <p:cNvPr id="23" name="TextBox 22">
            <a:extLst>
              <a:ext uri="{FF2B5EF4-FFF2-40B4-BE49-F238E27FC236}">
                <a16:creationId xmlns:a16="http://schemas.microsoft.com/office/drawing/2014/main" id="{632C0A4A-988A-DDA2-B2B2-852F76BE2068}"/>
              </a:ext>
            </a:extLst>
          </p:cNvPr>
          <p:cNvSpPr txBox="1"/>
          <p:nvPr/>
        </p:nvSpPr>
        <p:spPr>
          <a:xfrm>
            <a:off x="1086742" y="2369537"/>
            <a:ext cx="4423838" cy="433452"/>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ea typeface="+mn-lt"/>
                <a:cs typeface="+mn-lt"/>
              </a:rPr>
              <a:t>Resilient Modular Architecture:</a:t>
            </a:r>
          </a:p>
          <a:p>
            <a:pPr>
              <a:spcAft>
                <a:spcPts val="500"/>
              </a:spcAft>
            </a:pPr>
            <a:r>
              <a:rPr lang="en-US" sz="1200">
                <a:solidFill>
                  <a:srgbClr val="000000"/>
                </a:solidFill>
                <a:ea typeface="+mn-lt"/>
                <a:cs typeface="+mn-lt"/>
              </a:rPr>
              <a:t>Separate but integrated landing zones, policies, and automation.</a:t>
            </a:r>
            <a:endParaRPr lang="en-US">
              <a:solidFill>
                <a:srgbClr val="000000"/>
              </a:solidFill>
              <a:cs typeface="Arial"/>
            </a:endParaRPr>
          </a:p>
        </p:txBody>
      </p:sp>
      <p:sp>
        <p:nvSpPr>
          <p:cNvPr id="24" name="Oval 23">
            <a:extLst>
              <a:ext uri="{FF2B5EF4-FFF2-40B4-BE49-F238E27FC236}">
                <a16:creationId xmlns:a16="http://schemas.microsoft.com/office/drawing/2014/main" id="{56F64C50-57DA-17AC-440A-A475A300843E}"/>
              </a:ext>
            </a:extLst>
          </p:cNvPr>
          <p:cNvSpPr/>
          <p:nvPr/>
        </p:nvSpPr>
        <p:spPr>
          <a:xfrm>
            <a:off x="435544" y="2352980"/>
            <a:ext cx="493837" cy="466402"/>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cs typeface="Arial"/>
              </a:rPr>
              <a:t>2</a:t>
            </a:r>
          </a:p>
        </p:txBody>
      </p:sp>
      <p:sp>
        <p:nvSpPr>
          <p:cNvPr id="25" name="Oval 24">
            <a:extLst>
              <a:ext uri="{FF2B5EF4-FFF2-40B4-BE49-F238E27FC236}">
                <a16:creationId xmlns:a16="http://schemas.microsoft.com/office/drawing/2014/main" id="{D33FACEE-AF32-C88D-FD6C-BB4DF27925CA}"/>
              </a:ext>
            </a:extLst>
          </p:cNvPr>
          <p:cNvSpPr/>
          <p:nvPr/>
        </p:nvSpPr>
        <p:spPr>
          <a:xfrm>
            <a:off x="5688263" y="2352980"/>
            <a:ext cx="493837" cy="466402"/>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rgbClr val="000000"/>
                </a:solidFill>
                <a:cs typeface="Arial"/>
              </a:rPr>
              <a:t>2</a:t>
            </a:r>
          </a:p>
        </p:txBody>
      </p:sp>
      <p:sp>
        <p:nvSpPr>
          <p:cNvPr id="26" name="TextBox 25">
            <a:extLst>
              <a:ext uri="{FF2B5EF4-FFF2-40B4-BE49-F238E27FC236}">
                <a16:creationId xmlns:a16="http://schemas.microsoft.com/office/drawing/2014/main" id="{03F821E5-3D92-026F-EAD7-0946BE3DAFC0}"/>
              </a:ext>
            </a:extLst>
          </p:cNvPr>
          <p:cNvSpPr txBox="1"/>
          <p:nvPr/>
        </p:nvSpPr>
        <p:spPr>
          <a:xfrm>
            <a:off x="6359782" y="2369537"/>
            <a:ext cx="5165911" cy="433452"/>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ea typeface="+mn-lt"/>
                <a:cs typeface="+mn-lt"/>
              </a:rPr>
              <a:t>Speed to Value</a:t>
            </a:r>
            <a:r>
              <a:rPr lang="en-US" sz="1200" b="1">
                <a:solidFill>
                  <a:srgbClr val="000000"/>
                </a:solidFill>
                <a:cs typeface="Arial"/>
              </a:rPr>
              <a:t>:</a:t>
            </a:r>
            <a:endParaRPr lang="en-US">
              <a:solidFill>
                <a:srgbClr val="000000"/>
              </a:solidFill>
              <a:cs typeface="Arial"/>
            </a:endParaRPr>
          </a:p>
          <a:p>
            <a:pPr>
              <a:spcAft>
                <a:spcPts val="500"/>
              </a:spcAft>
            </a:pPr>
            <a:r>
              <a:rPr lang="en-US" sz="1200">
                <a:solidFill>
                  <a:srgbClr val="000000"/>
                </a:solidFill>
                <a:ea typeface="+mn-lt"/>
                <a:cs typeface="+mn-lt"/>
              </a:rPr>
              <a:t>Accelerate time-to-market for business products and automated services.</a:t>
            </a:r>
            <a:endParaRPr lang="en-US">
              <a:solidFill>
                <a:srgbClr val="000000"/>
              </a:solidFill>
              <a:cs typeface="Arial"/>
            </a:endParaRPr>
          </a:p>
        </p:txBody>
      </p:sp>
      <p:sp>
        <p:nvSpPr>
          <p:cNvPr id="27" name="TextBox 26">
            <a:extLst>
              <a:ext uri="{FF2B5EF4-FFF2-40B4-BE49-F238E27FC236}">
                <a16:creationId xmlns:a16="http://schemas.microsoft.com/office/drawing/2014/main" id="{E6A1DC95-78B0-6E6F-D00A-B679BF537223}"/>
              </a:ext>
            </a:extLst>
          </p:cNvPr>
          <p:cNvSpPr txBox="1"/>
          <p:nvPr/>
        </p:nvSpPr>
        <p:spPr>
          <a:xfrm>
            <a:off x="1086742" y="2918177"/>
            <a:ext cx="4191975" cy="433452"/>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ea typeface="+mn-lt"/>
                <a:cs typeface="+mn-lt"/>
              </a:rPr>
              <a:t>Security &amp; Governance by Design:</a:t>
            </a:r>
          </a:p>
          <a:p>
            <a:pPr>
              <a:spcAft>
                <a:spcPts val="500"/>
              </a:spcAft>
            </a:pPr>
            <a:r>
              <a:rPr lang="en-US" sz="1200">
                <a:solidFill>
                  <a:srgbClr val="000000"/>
                </a:solidFill>
                <a:ea typeface="+mn-lt"/>
                <a:cs typeface="+mn-lt"/>
              </a:rPr>
              <a:t>Policy-driven guardrails, automated compliance.</a:t>
            </a:r>
            <a:endParaRPr lang="en-US">
              <a:solidFill>
                <a:srgbClr val="000000"/>
              </a:solidFill>
              <a:cs typeface="Arial"/>
            </a:endParaRPr>
          </a:p>
        </p:txBody>
      </p:sp>
      <p:sp>
        <p:nvSpPr>
          <p:cNvPr id="28" name="Oval 27">
            <a:extLst>
              <a:ext uri="{FF2B5EF4-FFF2-40B4-BE49-F238E27FC236}">
                <a16:creationId xmlns:a16="http://schemas.microsoft.com/office/drawing/2014/main" id="{468EDA45-2847-282C-CB6B-52FB2B7240B2}"/>
              </a:ext>
            </a:extLst>
          </p:cNvPr>
          <p:cNvSpPr/>
          <p:nvPr/>
        </p:nvSpPr>
        <p:spPr>
          <a:xfrm>
            <a:off x="435543" y="2901620"/>
            <a:ext cx="493837" cy="466402"/>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cs typeface="Arial"/>
              </a:rPr>
              <a:t>3</a:t>
            </a:r>
          </a:p>
        </p:txBody>
      </p:sp>
      <p:sp>
        <p:nvSpPr>
          <p:cNvPr id="29" name="Oval 28">
            <a:extLst>
              <a:ext uri="{FF2B5EF4-FFF2-40B4-BE49-F238E27FC236}">
                <a16:creationId xmlns:a16="http://schemas.microsoft.com/office/drawing/2014/main" id="{8D1F923A-D1D5-C493-8C28-F3BA21FBF312}"/>
              </a:ext>
            </a:extLst>
          </p:cNvPr>
          <p:cNvSpPr/>
          <p:nvPr/>
        </p:nvSpPr>
        <p:spPr>
          <a:xfrm>
            <a:off x="5688263" y="2901620"/>
            <a:ext cx="493837" cy="466402"/>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rgbClr val="000000"/>
                </a:solidFill>
                <a:cs typeface="Arial"/>
              </a:rPr>
              <a:t>3</a:t>
            </a:r>
          </a:p>
        </p:txBody>
      </p:sp>
      <p:sp>
        <p:nvSpPr>
          <p:cNvPr id="30" name="TextBox 29">
            <a:extLst>
              <a:ext uri="{FF2B5EF4-FFF2-40B4-BE49-F238E27FC236}">
                <a16:creationId xmlns:a16="http://schemas.microsoft.com/office/drawing/2014/main" id="{E113B904-AAEF-C46C-5D6C-8A18F0C7CB68}"/>
              </a:ext>
            </a:extLst>
          </p:cNvPr>
          <p:cNvSpPr txBox="1"/>
          <p:nvPr/>
        </p:nvSpPr>
        <p:spPr>
          <a:xfrm>
            <a:off x="6359782" y="2918177"/>
            <a:ext cx="4581201" cy="433452"/>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ea typeface="+mn-lt"/>
                <a:cs typeface="+mn-lt"/>
              </a:rPr>
              <a:t>Risk &amp; Compliance:</a:t>
            </a:r>
            <a:endParaRPr lang="en-US">
              <a:solidFill>
                <a:srgbClr val="000000"/>
              </a:solidFill>
              <a:cs typeface="Arial"/>
            </a:endParaRPr>
          </a:p>
          <a:p>
            <a:pPr>
              <a:spcAft>
                <a:spcPts val="500"/>
              </a:spcAft>
            </a:pPr>
            <a:r>
              <a:rPr lang="en-US" sz="1200">
                <a:solidFill>
                  <a:srgbClr val="000000"/>
                </a:solidFill>
                <a:ea typeface="+mn-lt"/>
                <a:cs typeface="+mn-lt"/>
              </a:rPr>
              <a:t>Reduce operational risk via unified cloud governance and security.</a:t>
            </a:r>
            <a:endParaRPr lang="en-US">
              <a:solidFill>
                <a:srgbClr val="000000"/>
              </a:solidFill>
              <a:ea typeface="+mn-lt"/>
              <a:cs typeface="+mn-lt"/>
            </a:endParaRPr>
          </a:p>
        </p:txBody>
      </p:sp>
      <p:sp>
        <p:nvSpPr>
          <p:cNvPr id="31" name="TextBox 30">
            <a:extLst>
              <a:ext uri="{FF2B5EF4-FFF2-40B4-BE49-F238E27FC236}">
                <a16:creationId xmlns:a16="http://schemas.microsoft.com/office/drawing/2014/main" id="{60569DDC-0FDC-1998-F3BA-83D2CA983B69}"/>
              </a:ext>
            </a:extLst>
          </p:cNvPr>
          <p:cNvSpPr txBox="1"/>
          <p:nvPr/>
        </p:nvSpPr>
        <p:spPr>
          <a:xfrm>
            <a:off x="1086742" y="3466817"/>
            <a:ext cx="4191975" cy="433452"/>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ea typeface="+mn-lt"/>
                <a:cs typeface="+mn-lt"/>
              </a:rPr>
              <a:t>Data-Centric Visibility:</a:t>
            </a:r>
          </a:p>
          <a:p>
            <a:pPr>
              <a:spcAft>
                <a:spcPts val="500"/>
              </a:spcAft>
            </a:pPr>
            <a:r>
              <a:rPr lang="en-US" sz="1200">
                <a:solidFill>
                  <a:srgbClr val="000000"/>
                </a:solidFill>
                <a:ea typeface="+mn-lt"/>
                <a:cs typeface="+mn-lt"/>
              </a:rPr>
              <a:t>Unified telemetry, FinOps for traceability.</a:t>
            </a:r>
            <a:endParaRPr lang="en-US">
              <a:solidFill>
                <a:srgbClr val="000000"/>
              </a:solidFill>
              <a:cs typeface="Arial"/>
            </a:endParaRPr>
          </a:p>
        </p:txBody>
      </p:sp>
      <p:sp>
        <p:nvSpPr>
          <p:cNvPr id="32" name="Oval 31">
            <a:extLst>
              <a:ext uri="{FF2B5EF4-FFF2-40B4-BE49-F238E27FC236}">
                <a16:creationId xmlns:a16="http://schemas.microsoft.com/office/drawing/2014/main" id="{26B0A983-E489-C9C9-1256-86B85227C337}"/>
              </a:ext>
            </a:extLst>
          </p:cNvPr>
          <p:cNvSpPr/>
          <p:nvPr/>
        </p:nvSpPr>
        <p:spPr>
          <a:xfrm>
            <a:off x="435543" y="3450260"/>
            <a:ext cx="493837" cy="466402"/>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cs typeface="Arial"/>
              </a:rPr>
              <a:t>4</a:t>
            </a:r>
          </a:p>
        </p:txBody>
      </p:sp>
      <p:sp>
        <p:nvSpPr>
          <p:cNvPr id="33" name="Oval 32">
            <a:extLst>
              <a:ext uri="{FF2B5EF4-FFF2-40B4-BE49-F238E27FC236}">
                <a16:creationId xmlns:a16="http://schemas.microsoft.com/office/drawing/2014/main" id="{808E7AAF-D60F-829B-E5A2-0A32F93ED9B6}"/>
              </a:ext>
            </a:extLst>
          </p:cNvPr>
          <p:cNvSpPr/>
          <p:nvPr/>
        </p:nvSpPr>
        <p:spPr>
          <a:xfrm>
            <a:off x="5688263" y="3450260"/>
            <a:ext cx="493837" cy="466402"/>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rgbClr val="000000"/>
                </a:solidFill>
                <a:cs typeface="Arial"/>
              </a:rPr>
              <a:t>4</a:t>
            </a:r>
          </a:p>
        </p:txBody>
      </p:sp>
      <p:sp>
        <p:nvSpPr>
          <p:cNvPr id="34" name="TextBox 33">
            <a:extLst>
              <a:ext uri="{FF2B5EF4-FFF2-40B4-BE49-F238E27FC236}">
                <a16:creationId xmlns:a16="http://schemas.microsoft.com/office/drawing/2014/main" id="{79D00109-99A3-DE22-75B3-2EE0F576AE93}"/>
              </a:ext>
            </a:extLst>
          </p:cNvPr>
          <p:cNvSpPr txBox="1"/>
          <p:nvPr/>
        </p:nvSpPr>
        <p:spPr>
          <a:xfrm>
            <a:off x="6359782" y="3466817"/>
            <a:ext cx="4191975" cy="433452"/>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ea typeface="+mn-lt"/>
                <a:cs typeface="+mn-lt"/>
              </a:rPr>
              <a:t>Strategic Focus</a:t>
            </a:r>
            <a:r>
              <a:rPr lang="en-US" sz="1200" b="1">
                <a:solidFill>
                  <a:srgbClr val="000000"/>
                </a:solidFill>
                <a:cs typeface="Arial"/>
              </a:rPr>
              <a:t>:</a:t>
            </a:r>
            <a:endParaRPr lang="en-US">
              <a:solidFill>
                <a:srgbClr val="000000"/>
              </a:solidFill>
              <a:cs typeface="Arial"/>
            </a:endParaRPr>
          </a:p>
          <a:p>
            <a:pPr>
              <a:spcAft>
                <a:spcPts val="500"/>
              </a:spcAft>
            </a:pPr>
            <a:r>
              <a:rPr lang="en-US" sz="1200">
                <a:solidFill>
                  <a:srgbClr val="000000"/>
                </a:solidFill>
                <a:ea typeface="+mn-lt"/>
                <a:cs typeface="+mn-lt"/>
              </a:rPr>
              <a:t>Simplify IT landscape by exiting non-strategic cloud providers.</a:t>
            </a:r>
            <a:endParaRPr lang="en-US">
              <a:solidFill>
                <a:srgbClr val="000000"/>
              </a:solidFill>
              <a:cs typeface="Arial"/>
            </a:endParaRPr>
          </a:p>
        </p:txBody>
      </p:sp>
      <p:sp>
        <p:nvSpPr>
          <p:cNvPr id="35" name="TextBox 34">
            <a:extLst>
              <a:ext uri="{FF2B5EF4-FFF2-40B4-BE49-F238E27FC236}">
                <a16:creationId xmlns:a16="http://schemas.microsoft.com/office/drawing/2014/main" id="{74229D55-D99E-8C93-64B1-72F26AD64E7A}"/>
              </a:ext>
            </a:extLst>
          </p:cNvPr>
          <p:cNvSpPr txBox="1"/>
          <p:nvPr/>
        </p:nvSpPr>
        <p:spPr>
          <a:xfrm>
            <a:off x="1086742" y="3995137"/>
            <a:ext cx="4191975" cy="433452"/>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ea typeface="+mn-lt"/>
                <a:cs typeface="+mn-lt"/>
              </a:rPr>
              <a:t>Progressive Retirement of GCP Workloads:</a:t>
            </a:r>
          </a:p>
          <a:p>
            <a:pPr>
              <a:spcAft>
                <a:spcPts val="500"/>
              </a:spcAft>
            </a:pPr>
            <a:r>
              <a:rPr lang="en-US" sz="1200">
                <a:solidFill>
                  <a:srgbClr val="000000"/>
                </a:solidFill>
                <a:ea typeface="+mn-lt"/>
                <a:cs typeface="+mn-lt"/>
              </a:rPr>
              <a:t>Freeze/migrate workloads by phase-out date.</a:t>
            </a:r>
            <a:endParaRPr lang="en-US">
              <a:solidFill>
                <a:srgbClr val="000000"/>
              </a:solidFill>
              <a:cs typeface="Arial"/>
            </a:endParaRPr>
          </a:p>
        </p:txBody>
      </p:sp>
      <p:sp>
        <p:nvSpPr>
          <p:cNvPr id="36" name="Oval 35">
            <a:extLst>
              <a:ext uri="{FF2B5EF4-FFF2-40B4-BE49-F238E27FC236}">
                <a16:creationId xmlns:a16="http://schemas.microsoft.com/office/drawing/2014/main" id="{4CD79B69-96F5-1A39-EF12-8FEB07D1AED7}"/>
              </a:ext>
            </a:extLst>
          </p:cNvPr>
          <p:cNvSpPr/>
          <p:nvPr/>
        </p:nvSpPr>
        <p:spPr>
          <a:xfrm>
            <a:off x="435543" y="3978580"/>
            <a:ext cx="493837" cy="466402"/>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cs typeface="Arial"/>
              </a:rPr>
              <a:t>5</a:t>
            </a:r>
          </a:p>
        </p:txBody>
      </p:sp>
      <p:sp>
        <p:nvSpPr>
          <p:cNvPr id="37" name="Oval 36">
            <a:extLst>
              <a:ext uri="{FF2B5EF4-FFF2-40B4-BE49-F238E27FC236}">
                <a16:creationId xmlns:a16="http://schemas.microsoft.com/office/drawing/2014/main" id="{65BF33DB-AC3B-9B93-3142-4A4B83C11659}"/>
              </a:ext>
            </a:extLst>
          </p:cNvPr>
          <p:cNvSpPr/>
          <p:nvPr/>
        </p:nvSpPr>
        <p:spPr>
          <a:xfrm>
            <a:off x="5688263" y="3978580"/>
            <a:ext cx="493837" cy="466402"/>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a:solidFill>
                  <a:srgbClr val="000000"/>
                </a:solidFill>
                <a:cs typeface="Arial"/>
              </a:rPr>
              <a:t>5</a:t>
            </a:r>
          </a:p>
        </p:txBody>
      </p:sp>
      <p:sp>
        <p:nvSpPr>
          <p:cNvPr id="38" name="TextBox 37">
            <a:extLst>
              <a:ext uri="{FF2B5EF4-FFF2-40B4-BE49-F238E27FC236}">
                <a16:creationId xmlns:a16="http://schemas.microsoft.com/office/drawing/2014/main" id="{5AD62A33-CA5B-47CB-CF6C-B87725375422}"/>
              </a:ext>
            </a:extLst>
          </p:cNvPr>
          <p:cNvSpPr txBox="1"/>
          <p:nvPr/>
        </p:nvSpPr>
        <p:spPr>
          <a:xfrm>
            <a:off x="6359782" y="3995137"/>
            <a:ext cx="4974525" cy="433452"/>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b="1">
                <a:solidFill>
                  <a:srgbClr val="000000"/>
                </a:solidFill>
                <a:ea typeface="+mn-lt"/>
                <a:cs typeface="+mn-lt"/>
              </a:rPr>
              <a:t>Cloud Maturity Uplift</a:t>
            </a:r>
            <a:r>
              <a:rPr lang="en-US" sz="1200" b="1">
                <a:solidFill>
                  <a:srgbClr val="000000"/>
                </a:solidFill>
                <a:cs typeface="Arial"/>
              </a:rPr>
              <a:t>:</a:t>
            </a:r>
            <a:endParaRPr lang="en-US">
              <a:solidFill>
                <a:srgbClr val="000000"/>
              </a:solidFill>
              <a:cs typeface="Arial"/>
            </a:endParaRPr>
          </a:p>
          <a:p>
            <a:pPr>
              <a:spcAft>
                <a:spcPts val="500"/>
              </a:spcAft>
            </a:pPr>
            <a:r>
              <a:rPr lang="en-US" sz="1200">
                <a:solidFill>
                  <a:srgbClr val="000000"/>
                </a:solidFill>
                <a:ea typeface="+mn-lt"/>
                <a:cs typeface="+mn-lt"/>
              </a:rPr>
              <a:t>Target 4+ (measured) ratings across all radar assessed cloud capability.</a:t>
            </a:r>
            <a:endParaRPr lang="en-US">
              <a:solidFill>
                <a:srgbClr val="000000"/>
              </a:solidFill>
              <a:cs typeface="Arial"/>
            </a:endParaRPr>
          </a:p>
        </p:txBody>
      </p:sp>
    </p:spTree>
    <p:extLst>
      <p:ext uri="{BB962C8B-B14F-4D97-AF65-F5344CB8AC3E}">
        <p14:creationId xmlns:p14="http://schemas.microsoft.com/office/powerpoint/2010/main" val="3750398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B9487-0FE7-9F7D-38C0-84E198271C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645E33-184E-E055-C2E5-1955DFBB4B4D}"/>
              </a:ext>
            </a:extLst>
          </p:cNvPr>
          <p:cNvSpPr>
            <a:spLocks noGrp="1"/>
          </p:cNvSpPr>
          <p:nvPr>
            <p:ph type="title"/>
          </p:nvPr>
        </p:nvSpPr>
        <p:spPr/>
        <p:txBody>
          <a:bodyPr/>
          <a:lstStyle/>
          <a:p>
            <a:r>
              <a:rPr lang="en-CA" sz="2400">
                <a:cs typeface="Arial"/>
              </a:rPr>
              <a:t>High Level Target state architecture</a:t>
            </a:r>
            <a:endParaRPr lang="en-US"/>
          </a:p>
        </p:txBody>
      </p:sp>
      <p:sp>
        <p:nvSpPr>
          <p:cNvPr id="4" name="Footer Placeholder 3">
            <a:extLst>
              <a:ext uri="{FF2B5EF4-FFF2-40B4-BE49-F238E27FC236}">
                <a16:creationId xmlns:a16="http://schemas.microsoft.com/office/drawing/2014/main" id="{426FF000-EA5E-5D43-B9E2-D603826BB6CF}"/>
              </a:ext>
            </a:extLst>
          </p:cNvPr>
          <p:cNvSpPr>
            <a:spLocks noGrp="1"/>
          </p:cNvSpPr>
          <p:nvPr>
            <p:ph type="ftr" sz="quarter" idx="11"/>
          </p:nvPr>
        </p:nvSpPr>
        <p:spPr/>
        <p:txBody>
          <a:bodyPr/>
          <a:lstStyle/>
          <a:p>
            <a:r>
              <a:rPr lang="en-CA"/>
              <a:t>CONFIDENTIAL</a:t>
            </a:r>
          </a:p>
        </p:txBody>
      </p:sp>
      <p:sp>
        <p:nvSpPr>
          <p:cNvPr id="5" name="Date Placeholder 4">
            <a:extLst>
              <a:ext uri="{FF2B5EF4-FFF2-40B4-BE49-F238E27FC236}">
                <a16:creationId xmlns:a16="http://schemas.microsoft.com/office/drawing/2014/main" id="{73AB8A11-9E53-D01A-8FC2-461CD73A4692}"/>
              </a:ext>
            </a:extLst>
          </p:cNvPr>
          <p:cNvSpPr>
            <a:spLocks noGrp="1"/>
          </p:cNvSpPr>
          <p:nvPr>
            <p:ph type="dt" sz="half" idx="13"/>
          </p:nvPr>
        </p:nvSpPr>
        <p:spPr/>
        <p:txBody>
          <a:bodyPr/>
          <a:lstStyle/>
          <a:p>
            <a:fld id="{DFC179E5-4269-44D4-A984-C57F7029D15D}" type="datetime1">
              <a:rPr lang="en-US" smtClean="0"/>
              <a:t>7/31/2026</a:t>
            </a:fld>
            <a:endParaRPr lang="en-CA"/>
          </a:p>
        </p:txBody>
      </p:sp>
      <p:sp>
        <p:nvSpPr>
          <p:cNvPr id="3" name="TextBox 2">
            <a:extLst>
              <a:ext uri="{FF2B5EF4-FFF2-40B4-BE49-F238E27FC236}">
                <a16:creationId xmlns:a16="http://schemas.microsoft.com/office/drawing/2014/main" id="{F74CB2E9-7157-6E9B-6BF1-3746B2944876}"/>
              </a:ext>
            </a:extLst>
          </p:cNvPr>
          <p:cNvSpPr txBox="1"/>
          <p:nvPr/>
        </p:nvSpPr>
        <p:spPr>
          <a:xfrm>
            <a:off x="375634" y="1153468"/>
            <a:ext cx="11419266" cy="618118"/>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a:solidFill>
                  <a:srgbClr val="000000"/>
                </a:solidFill>
              </a:rPr>
              <a:t>The target architecture advances the cloud foundation to a secure, resilient, unified, scalable and automated state across Azure and AWS, supporting smooth GCP workloads (GKE &amp; </a:t>
            </a:r>
            <a:r>
              <a:rPr lang="en-US" sz="1200" err="1">
                <a:solidFill>
                  <a:srgbClr val="000000"/>
                </a:solidFill>
              </a:rPr>
              <a:t>Frontdoor</a:t>
            </a:r>
            <a:r>
              <a:rPr lang="en-US" sz="1200">
                <a:solidFill>
                  <a:srgbClr val="000000"/>
                </a:solidFill>
              </a:rPr>
              <a:t>) exit and multi-cloud operations.</a:t>
            </a:r>
            <a:r>
              <a:rPr lang="en-US" sz="1200"/>
              <a:t> </a:t>
            </a:r>
          </a:p>
          <a:p>
            <a:pPr>
              <a:spcAft>
                <a:spcPts val="500"/>
              </a:spcAft>
            </a:pPr>
            <a:r>
              <a:rPr lang="en-US" sz="1200">
                <a:solidFill>
                  <a:srgbClr val="000000"/>
                </a:solidFill>
              </a:rPr>
              <a:t>This future state architecture enables: </a:t>
            </a:r>
            <a:endParaRPr lang="en-US" sz="1200">
              <a:solidFill>
                <a:srgbClr val="000000"/>
              </a:solidFill>
              <a:cs typeface="Arial" panose="020B0604020202020204"/>
            </a:endParaRPr>
          </a:p>
        </p:txBody>
      </p:sp>
      <p:pic>
        <p:nvPicPr>
          <p:cNvPr id="9" name="Picture 8" descr="A screenshot of a computer&#10;&#10;AI-generated content may be incorrect.">
            <a:extLst>
              <a:ext uri="{FF2B5EF4-FFF2-40B4-BE49-F238E27FC236}">
                <a16:creationId xmlns:a16="http://schemas.microsoft.com/office/drawing/2014/main" id="{F32E14DF-504A-4279-3984-BD07871009A2}"/>
              </a:ext>
            </a:extLst>
          </p:cNvPr>
          <p:cNvPicPr>
            <a:picLocks noChangeAspect="1"/>
          </p:cNvPicPr>
          <p:nvPr/>
        </p:nvPicPr>
        <p:blipFill>
          <a:blip r:embed="rId2"/>
          <a:stretch>
            <a:fillRect/>
          </a:stretch>
        </p:blipFill>
        <p:spPr>
          <a:xfrm>
            <a:off x="7251148" y="1891679"/>
            <a:ext cx="4867964" cy="3969163"/>
          </a:xfrm>
          <a:prstGeom prst="rect">
            <a:avLst/>
          </a:prstGeom>
        </p:spPr>
      </p:pic>
      <p:sp>
        <p:nvSpPr>
          <p:cNvPr id="19" name="Rectangle: Rounded Corners 18">
            <a:extLst>
              <a:ext uri="{FF2B5EF4-FFF2-40B4-BE49-F238E27FC236}">
                <a16:creationId xmlns:a16="http://schemas.microsoft.com/office/drawing/2014/main" id="{F41C72F7-37FF-7798-6420-B5F20C40F467}"/>
              </a:ext>
            </a:extLst>
          </p:cNvPr>
          <p:cNvSpPr/>
          <p:nvPr/>
        </p:nvSpPr>
        <p:spPr>
          <a:xfrm>
            <a:off x="371592" y="1940277"/>
            <a:ext cx="6759222" cy="762000"/>
          </a:xfrm>
          <a:prstGeom prst="round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500"/>
              </a:spcAft>
            </a:pPr>
            <a:r>
              <a:rPr lang="en-US" sz="1000" b="1">
                <a:solidFill>
                  <a:srgbClr val="000000"/>
                </a:solidFill>
                <a:cs typeface="Arial"/>
              </a:rPr>
              <a:t>Centralized governance and compliance</a:t>
            </a:r>
            <a:r>
              <a:rPr lang="en-US" sz="1000">
                <a:solidFill>
                  <a:srgbClr val="000000"/>
                </a:solidFill>
                <a:cs typeface="Arial"/>
              </a:rPr>
              <a:t> through unified policies and identity frameworks, ensuring consistent security and regulatory adherence across clouds.</a:t>
            </a:r>
            <a:endParaRPr lang="en-US" sz="1000">
              <a:solidFill>
                <a:srgbClr val="000000"/>
              </a:solidFill>
            </a:endParaRPr>
          </a:p>
        </p:txBody>
      </p:sp>
      <p:sp>
        <p:nvSpPr>
          <p:cNvPr id="20" name="Rectangle: Rounded Corners 19">
            <a:extLst>
              <a:ext uri="{FF2B5EF4-FFF2-40B4-BE49-F238E27FC236}">
                <a16:creationId xmlns:a16="http://schemas.microsoft.com/office/drawing/2014/main" id="{7C9D6770-E4E9-333D-CA3B-B7A8EAC7AA26}"/>
              </a:ext>
            </a:extLst>
          </p:cNvPr>
          <p:cNvSpPr/>
          <p:nvPr/>
        </p:nvSpPr>
        <p:spPr>
          <a:xfrm>
            <a:off x="380999" y="2786944"/>
            <a:ext cx="6759222" cy="762000"/>
          </a:xfrm>
          <a:prstGeom prst="round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Aft>
                <a:spcPts val="500"/>
              </a:spcAft>
            </a:pPr>
            <a:r>
              <a:rPr lang="en-US" sz="1000" b="1">
                <a:solidFill>
                  <a:srgbClr val="000000"/>
                </a:solidFill>
                <a:cs typeface="Arial"/>
              </a:rPr>
              <a:t>Resilient and automated landing zones</a:t>
            </a:r>
            <a:r>
              <a:rPr lang="en-US" sz="1000">
                <a:solidFill>
                  <a:srgbClr val="000000"/>
                </a:solidFill>
                <a:cs typeface="Arial"/>
              </a:rPr>
              <a:t> designed for each cloud provider, facilitating scalable, secure workload deployments with automated guardrails.</a:t>
            </a:r>
          </a:p>
        </p:txBody>
      </p:sp>
      <p:sp>
        <p:nvSpPr>
          <p:cNvPr id="21" name="Rectangle: Rounded Corners 20">
            <a:extLst>
              <a:ext uri="{FF2B5EF4-FFF2-40B4-BE49-F238E27FC236}">
                <a16:creationId xmlns:a16="http://schemas.microsoft.com/office/drawing/2014/main" id="{866D330B-E8AB-4445-5BC0-D00DD0F9FC38}"/>
              </a:ext>
            </a:extLst>
          </p:cNvPr>
          <p:cNvSpPr/>
          <p:nvPr/>
        </p:nvSpPr>
        <p:spPr>
          <a:xfrm>
            <a:off x="380999" y="3633610"/>
            <a:ext cx="6759222" cy="762000"/>
          </a:xfrm>
          <a:prstGeom prst="round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Aft>
                <a:spcPts val="500"/>
              </a:spcAft>
            </a:pPr>
            <a:r>
              <a:rPr lang="en-US" sz="1000" b="1">
                <a:solidFill>
                  <a:srgbClr val="000000"/>
                </a:solidFill>
                <a:cs typeface="Arial"/>
              </a:rPr>
              <a:t>Unified logging, monitoring, and cost management</a:t>
            </a:r>
            <a:r>
              <a:rPr lang="en-US" sz="1000">
                <a:solidFill>
                  <a:srgbClr val="000000"/>
                </a:solidFill>
                <a:cs typeface="Arial"/>
              </a:rPr>
              <a:t> to provide operational visibility, proactive issue detection, and financial control across all cloud environments.</a:t>
            </a:r>
            <a:endParaRPr lang="en-US"/>
          </a:p>
        </p:txBody>
      </p:sp>
      <p:sp>
        <p:nvSpPr>
          <p:cNvPr id="22" name="Rectangle: Rounded Corners 21">
            <a:extLst>
              <a:ext uri="{FF2B5EF4-FFF2-40B4-BE49-F238E27FC236}">
                <a16:creationId xmlns:a16="http://schemas.microsoft.com/office/drawing/2014/main" id="{5D8D6824-585E-ACC2-DEDA-0A1E2C10223B}"/>
              </a:ext>
            </a:extLst>
          </p:cNvPr>
          <p:cNvSpPr/>
          <p:nvPr/>
        </p:nvSpPr>
        <p:spPr>
          <a:xfrm>
            <a:off x="380999" y="4452054"/>
            <a:ext cx="6759222" cy="762000"/>
          </a:xfrm>
          <a:prstGeom prst="round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Aft>
                <a:spcPts val="500"/>
              </a:spcAft>
            </a:pPr>
            <a:r>
              <a:rPr lang="en-US" sz="1000" b="1">
                <a:solidFill>
                  <a:srgbClr val="000000"/>
                </a:solidFill>
                <a:cs typeface="Arial"/>
              </a:rPr>
              <a:t>Self-service capabilities for development teams</a:t>
            </a:r>
            <a:r>
              <a:rPr lang="en-US" sz="1000">
                <a:solidFill>
                  <a:srgbClr val="000000"/>
                </a:solidFill>
                <a:cs typeface="Arial"/>
              </a:rPr>
              <a:t> that empower faster innovation through on-demand provisioning and automated workflows.</a:t>
            </a:r>
          </a:p>
        </p:txBody>
      </p:sp>
      <p:sp>
        <p:nvSpPr>
          <p:cNvPr id="23" name="Rectangle: Rounded Corners 22">
            <a:extLst>
              <a:ext uri="{FF2B5EF4-FFF2-40B4-BE49-F238E27FC236}">
                <a16:creationId xmlns:a16="http://schemas.microsoft.com/office/drawing/2014/main" id="{656300FD-FCDA-04F8-249A-7E698FF7ED0F}"/>
              </a:ext>
            </a:extLst>
          </p:cNvPr>
          <p:cNvSpPr/>
          <p:nvPr/>
        </p:nvSpPr>
        <p:spPr>
          <a:xfrm>
            <a:off x="380999" y="5289313"/>
            <a:ext cx="6759222" cy="762000"/>
          </a:xfrm>
          <a:prstGeom prst="round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Aft>
                <a:spcPts val="500"/>
              </a:spcAft>
            </a:pPr>
            <a:r>
              <a:rPr lang="en-US" sz="1000" b="1">
                <a:solidFill>
                  <a:srgbClr val="000000"/>
                </a:solidFill>
                <a:cs typeface="Arial"/>
              </a:rPr>
              <a:t>Reference architecture and patterns</a:t>
            </a:r>
            <a:r>
              <a:rPr lang="en-US" sz="1000">
                <a:solidFill>
                  <a:srgbClr val="000000"/>
                </a:solidFill>
                <a:cs typeface="Arial"/>
              </a:rPr>
              <a:t> supporting workload migration, modernization, and integration, accelerating digital transformation initiatives.</a:t>
            </a:r>
          </a:p>
        </p:txBody>
      </p:sp>
    </p:spTree>
    <p:extLst>
      <p:ext uri="{BB962C8B-B14F-4D97-AF65-F5344CB8AC3E}">
        <p14:creationId xmlns:p14="http://schemas.microsoft.com/office/powerpoint/2010/main" val="26488557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BF897-7BE8-2425-CAE5-5F12FC5F82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29DB19-F50E-6354-39B9-DF57CA95ED84}"/>
              </a:ext>
            </a:extLst>
          </p:cNvPr>
          <p:cNvSpPr>
            <a:spLocks noGrp="1"/>
          </p:cNvSpPr>
          <p:nvPr>
            <p:ph type="title"/>
          </p:nvPr>
        </p:nvSpPr>
        <p:spPr/>
        <p:txBody>
          <a:bodyPr/>
          <a:lstStyle/>
          <a:p>
            <a:r>
              <a:rPr lang="en-US">
                <a:cs typeface="Arial"/>
              </a:rPr>
              <a:t>Unified Target High Level Architecture</a:t>
            </a:r>
            <a:endParaRPr lang="en-US"/>
          </a:p>
        </p:txBody>
      </p:sp>
      <p:sp>
        <p:nvSpPr>
          <p:cNvPr id="3" name="Footer Placeholder 2">
            <a:extLst>
              <a:ext uri="{FF2B5EF4-FFF2-40B4-BE49-F238E27FC236}">
                <a16:creationId xmlns:a16="http://schemas.microsoft.com/office/drawing/2014/main" id="{BEBD8688-8B92-B0AB-9DB8-12E8219FF199}"/>
              </a:ext>
            </a:extLst>
          </p:cNvPr>
          <p:cNvSpPr>
            <a:spLocks noGrp="1"/>
          </p:cNvSpPr>
          <p:nvPr>
            <p:ph type="ftr" sz="quarter" idx="11"/>
          </p:nvPr>
        </p:nvSpPr>
        <p:spPr/>
        <p:txBody>
          <a:bodyPr/>
          <a:lstStyle/>
          <a:p>
            <a:r>
              <a:rPr lang="en-CA"/>
              <a:t>CONFIDENTIAL</a:t>
            </a:r>
          </a:p>
        </p:txBody>
      </p:sp>
      <p:sp>
        <p:nvSpPr>
          <p:cNvPr id="4" name="Date Placeholder 3">
            <a:extLst>
              <a:ext uri="{FF2B5EF4-FFF2-40B4-BE49-F238E27FC236}">
                <a16:creationId xmlns:a16="http://schemas.microsoft.com/office/drawing/2014/main" id="{E2C161CE-9217-9EF7-854B-A6A68169D68A}"/>
              </a:ext>
            </a:extLst>
          </p:cNvPr>
          <p:cNvSpPr>
            <a:spLocks noGrp="1"/>
          </p:cNvSpPr>
          <p:nvPr>
            <p:ph type="dt" sz="half" idx="13"/>
          </p:nvPr>
        </p:nvSpPr>
        <p:spPr/>
        <p:txBody>
          <a:bodyPr/>
          <a:lstStyle/>
          <a:p>
            <a:fld id="{B01D7BC3-961C-46B9-A6DE-2A4B9BFDFACA}" type="datetime1">
              <a:rPr lang="en-US" smtClean="0"/>
              <a:t>7/31/2026</a:t>
            </a:fld>
            <a:endParaRPr lang="en-CA"/>
          </a:p>
        </p:txBody>
      </p:sp>
      <p:pic>
        <p:nvPicPr>
          <p:cNvPr id="8" name="Picture 7" descr="A red rectangle on a black background&#10;&#10;AI-generated content may be incorrect.">
            <a:extLst>
              <a:ext uri="{FF2B5EF4-FFF2-40B4-BE49-F238E27FC236}">
                <a16:creationId xmlns:a16="http://schemas.microsoft.com/office/drawing/2014/main" id="{8FF0A709-30E4-4324-6273-7DC68F60C1E1}"/>
              </a:ext>
            </a:extLst>
          </p:cNvPr>
          <p:cNvPicPr>
            <a:picLocks noChangeAspect="1"/>
          </p:cNvPicPr>
          <p:nvPr/>
        </p:nvPicPr>
        <p:blipFill>
          <a:blip r:embed="rId3"/>
          <a:stretch>
            <a:fillRect/>
          </a:stretch>
        </p:blipFill>
        <p:spPr>
          <a:xfrm>
            <a:off x="7810500" y="381000"/>
            <a:ext cx="3848100" cy="800100"/>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84BD1022-5983-04F1-DD5D-F985CEA0B8F7}"/>
              </a:ext>
            </a:extLst>
          </p:cNvPr>
          <p:cNvPicPr>
            <a:picLocks noChangeAspect="1"/>
          </p:cNvPicPr>
          <p:nvPr/>
        </p:nvPicPr>
        <p:blipFill>
          <a:blip r:embed="rId4"/>
          <a:stretch>
            <a:fillRect/>
          </a:stretch>
        </p:blipFill>
        <p:spPr>
          <a:xfrm>
            <a:off x="1679693" y="1049632"/>
            <a:ext cx="8145873" cy="5200884"/>
          </a:xfrm>
          <a:prstGeom prst="rect">
            <a:avLst/>
          </a:prstGeom>
        </p:spPr>
      </p:pic>
    </p:spTree>
    <p:extLst>
      <p:ext uri="{BB962C8B-B14F-4D97-AF65-F5344CB8AC3E}">
        <p14:creationId xmlns:p14="http://schemas.microsoft.com/office/powerpoint/2010/main" val="1469540577"/>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EA615-C336-9ECE-50FF-532D8D4BAEF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103AA1C-CF6B-9FF7-D30D-A1F419ADA139}"/>
              </a:ext>
            </a:extLst>
          </p:cNvPr>
          <p:cNvSpPr>
            <a:spLocks noGrp="1"/>
          </p:cNvSpPr>
          <p:nvPr>
            <p:ph type="ftr" sz="quarter" idx="11"/>
          </p:nvPr>
        </p:nvSpPr>
        <p:spPr/>
        <p:txBody>
          <a:bodyPr/>
          <a:lstStyle/>
          <a:p>
            <a:r>
              <a:rPr lang="en-CA"/>
              <a:t>CONFIDENTIAL</a:t>
            </a:r>
          </a:p>
        </p:txBody>
      </p:sp>
      <p:sp>
        <p:nvSpPr>
          <p:cNvPr id="3" name="TextBox 2">
            <a:extLst>
              <a:ext uri="{FF2B5EF4-FFF2-40B4-BE49-F238E27FC236}">
                <a16:creationId xmlns:a16="http://schemas.microsoft.com/office/drawing/2014/main" id="{61345861-977E-9D93-58E1-3719FE51C316}"/>
              </a:ext>
            </a:extLst>
          </p:cNvPr>
          <p:cNvSpPr txBox="1"/>
          <p:nvPr/>
        </p:nvSpPr>
        <p:spPr>
          <a:xfrm>
            <a:off x="2330161" y="2900795"/>
            <a:ext cx="7851198" cy="1046440"/>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CA" sz="2400">
                <a:solidFill>
                  <a:srgbClr val="BA0C2F"/>
                </a:solidFill>
                <a:latin typeface="Arial"/>
              </a:rPr>
              <a:t>Work Packages / Initiatives Identification and Sequencing</a:t>
            </a:r>
            <a:endParaRPr lang="en-US" sz="2400">
              <a:solidFill>
                <a:srgbClr val="000000"/>
              </a:solidFill>
              <a:latin typeface="Arial"/>
            </a:endParaRPr>
          </a:p>
          <a:p>
            <a:r>
              <a:rPr sz="3200">
                <a:latin typeface="Arial"/>
                <a:ea typeface="Arial"/>
                <a:cs typeface="Arial"/>
              </a:rPr>
              <a:t>​</a:t>
            </a:r>
            <a:endParaRPr lang="en-US">
              <a:cs typeface="Arial"/>
            </a:endParaRPr>
          </a:p>
          <a:p>
            <a:pPr marL="228600" indent="-228600" algn="l">
              <a:spcAft>
                <a:spcPts val="500"/>
              </a:spcAft>
              <a:buFont typeface="Arial" panose="020B0604020202020204" pitchFamily="34" charset="0"/>
              <a:buChar char="•"/>
            </a:pPr>
            <a:endParaRPr lang="en-US" sz="1200"/>
          </a:p>
        </p:txBody>
      </p:sp>
    </p:spTree>
    <p:extLst>
      <p:ext uri="{BB962C8B-B14F-4D97-AF65-F5344CB8AC3E}">
        <p14:creationId xmlns:p14="http://schemas.microsoft.com/office/powerpoint/2010/main" val="2508479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06860-0631-E91A-5BF6-96DF6ABF516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374D03A-629E-2899-3C79-03603481F66E}"/>
              </a:ext>
            </a:extLst>
          </p:cNvPr>
          <p:cNvSpPr>
            <a:spLocks noGrp="1"/>
          </p:cNvSpPr>
          <p:nvPr>
            <p:ph type="ftr" sz="quarter" idx="11"/>
          </p:nvPr>
        </p:nvSpPr>
        <p:spPr/>
        <p:txBody>
          <a:bodyPr/>
          <a:lstStyle/>
          <a:p>
            <a:r>
              <a:rPr lang="en-CA"/>
              <a:t>CONFIDENTIAL</a:t>
            </a:r>
          </a:p>
        </p:txBody>
      </p:sp>
      <p:graphicFrame>
        <p:nvGraphicFramePr>
          <p:cNvPr id="4" name="Table 3">
            <a:extLst>
              <a:ext uri="{FF2B5EF4-FFF2-40B4-BE49-F238E27FC236}">
                <a16:creationId xmlns:a16="http://schemas.microsoft.com/office/drawing/2014/main" id="{0B6A0768-6F92-5A0B-2B17-47FD1D8A675B}"/>
              </a:ext>
            </a:extLst>
          </p:cNvPr>
          <p:cNvGraphicFramePr>
            <a:graphicFrameLocks noGrp="1"/>
          </p:cNvGraphicFramePr>
          <p:nvPr>
            <p:extLst>
              <p:ext uri="{D42A27DB-BD31-4B8C-83A1-F6EECF244321}">
                <p14:modId xmlns:p14="http://schemas.microsoft.com/office/powerpoint/2010/main" val="2664342563"/>
              </p:ext>
            </p:extLst>
          </p:nvPr>
        </p:nvGraphicFramePr>
        <p:xfrm>
          <a:off x="1822173" y="1148521"/>
          <a:ext cx="9963072" cy="4638297"/>
        </p:xfrm>
        <a:graphic>
          <a:graphicData uri="http://schemas.openxmlformats.org/drawingml/2006/table">
            <a:tbl>
              <a:tblPr firstRow="1" bandRow="1">
                <a:tableStyleId>{5C22544A-7EE6-4342-B048-85BDC9FD1C3A}</a:tableStyleId>
              </a:tblPr>
              <a:tblGrid>
                <a:gridCol w="2636948">
                  <a:extLst>
                    <a:ext uri="{9D8B030D-6E8A-4147-A177-3AD203B41FA5}">
                      <a16:colId xmlns:a16="http://schemas.microsoft.com/office/drawing/2014/main" val="4095750723"/>
                    </a:ext>
                  </a:extLst>
                </a:gridCol>
                <a:gridCol w="869323">
                  <a:extLst>
                    <a:ext uri="{9D8B030D-6E8A-4147-A177-3AD203B41FA5}">
                      <a16:colId xmlns:a16="http://schemas.microsoft.com/office/drawing/2014/main" val="426486618"/>
                    </a:ext>
                  </a:extLst>
                </a:gridCol>
                <a:gridCol w="3216498">
                  <a:extLst>
                    <a:ext uri="{9D8B030D-6E8A-4147-A177-3AD203B41FA5}">
                      <a16:colId xmlns:a16="http://schemas.microsoft.com/office/drawing/2014/main" val="3182208987"/>
                    </a:ext>
                  </a:extLst>
                </a:gridCol>
                <a:gridCol w="3240303">
                  <a:extLst>
                    <a:ext uri="{9D8B030D-6E8A-4147-A177-3AD203B41FA5}">
                      <a16:colId xmlns:a16="http://schemas.microsoft.com/office/drawing/2014/main" val="311424707"/>
                    </a:ext>
                  </a:extLst>
                </a:gridCol>
              </a:tblGrid>
              <a:tr h="272841">
                <a:tc>
                  <a:txBody>
                    <a:bodyPr/>
                    <a:lstStyle/>
                    <a:p>
                      <a:pPr lvl="0" algn="ctr">
                        <a:buNone/>
                      </a:pPr>
                      <a:r>
                        <a:rPr lang="en-CA" sz="1100" b="1" i="0" u="none" strike="noStrike">
                          <a:solidFill>
                            <a:schemeClr val="bg1"/>
                          </a:solidFill>
                          <a:effectLst/>
                          <a:latin typeface="Aptos Narrow"/>
                        </a:rPr>
                        <a:t>Priority Name</a:t>
                      </a:r>
                    </a:p>
                  </a:txBody>
                  <a:tcPr>
                    <a:lnL w="12700">
                      <a:solidFill>
                        <a:schemeClr val="tx1"/>
                      </a:solidFill>
                    </a:lnL>
                    <a:lnR w="12700">
                      <a:solidFill>
                        <a:schemeClr val="tx1"/>
                      </a:solidFill>
                    </a:lnR>
                    <a:lnT w="12700">
                      <a:solidFill>
                        <a:schemeClr val="tx1"/>
                      </a:solidFill>
                    </a:lnT>
                    <a:lnB w="12700">
                      <a:solidFill>
                        <a:schemeClr val="tx1"/>
                      </a:solidFill>
                    </a:lnB>
                    <a:solidFill>
                      <a:srgbClr val="BA0C2F"/>
                    </a:solidFill>
                  </a:tcPr>
                </a:tc>
                <a:tc>
                  <a:txBody>
                    <a:bodyPr/>
                    <a:lstStyle/>
                    <a:p>
                      <a:pPr lvl="0" algn="ctr">
                        <a:buNone/>
                      </a:pPr>
                      <a:r>
                        <a:rPr lang="en-CA" sz="1100" b="1" i="0" u="none" strike="noStrike">
                          <a:solidFill>
                            <a:schemeClr val="bg1"/>
                          </a:solidFill>
                          <a:effectLst/>
                          <a:latin typeface="Aptos Narrow"/>
                        </a:rPr>
                        <a:t>Rank</a:t>
                      </a:r>
                      <a:endParaRPr lang="en-US"/>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BA0C2F"/>
                    </a:solidFill>
                  </a:tcPr>
                </a:tc>
                <a:tc>
                  <a:txBody>
                    <a:bodyPr/>
                    <a:lstStyle/>
                    <a:p>
                      <a:pPr algn="ctr" fontAlgn="ctr"/>
                      <a:r>
                        <a:rPr lang="en-CA" sz="1100" b="1" i="0" u="none" strike="noStrike">
                          <a:solidFill>
                            <a:schemeClr val="bg1"/>
                          </a:solidFill>
                          <a:effectLst/>
                          <a:latin typeface="Aptos Narrow"/>
                        </a:rPr>
                        <a:t>Pain Point</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BA0C2F"/>
                    </a:solidFill>
                  </a:tcPr>
                </a:tc>
                <a:tc>
                  <a:txBody>
                    <a:bodyPr/>
                    <a:lstStyle/>
                    <a:p>
                      <a:pPr lvl="0" algn="ctr">
                        <a:buNone/>
                      </a:pPr>
                      <a:r>
                        <a:rPr lang="en-CA" sz="1100" b="1" i="0" u="none" strike="noStrike" noProof="0">
                          <a:solidFill>
                            <a:schemeClr val="bg1"/>
                          </a:solidFill>
                          <a:effectLst/>
                          <a:latin typeface="Aptos Narrow"/>
                        </a:rPr>
                        <a:t>Business Impact / Growth Drivers</a:t>
                      </a:r>
                      <a:endParaRPr lang="en-CA" sz="1100" b="1" i="0" u="none" strike="noStrike">
                        <a:solidFill>
                          <a:schemeClr val="bg1"/>
                        </a:solidFill>
                        <a:effectLst/>
                        <a:latin typeface="Aptos Narrow"/>
                      </a:endParaRPr>
                    </a:p>
                  </a:txBody>
                  <a:tcP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BA0C2F"/>
                    </a:solidFill>
                  </a:tcPr>
                </a:tc>
                <a:extLst>
                  <a:ext uri="{0D108BD9-81ED-4DB2-BD59-A6C34878D82A}">
                    <a16:rowId xmlns:a16="http://schemas.microsoft.com/office/drawing/2014/main" val="3429149584"/>
                  </a:ext>
                </a:extLst>
              </a:tr>
              <a:tr h="272841">
                <a:tc>
                  <a:txBody>
                    <a:bodyPr/>
                    <a:lstStyle/>
                    <a:p>
                      <a:pPr lvl="0" algn="ctr">
                        <a:buNone/>
                      </a:pPr>
                      <a:r>
                        <a:rPr lang="en-US" sz="1000" b="0" i="0" u="none" strike="noStrike" noProof="0">
                          <a:solidFill>
                            <a:srgbClr val="000000"/>
                          </a:solidFill>
                          <a:effectLst/>
                          <a:latin typeface="Aptos Narrow"/>
                        </a:rPr>
                        <a:t>Cross Region Hub Peering</a:t>
                      </a:r>
                      <a:endParaRPr lang="en-US" sz="1000"/>
                    </a:p>
                  </a:txBody>
                  <a:tcPr>
                    <a:lnL w="12700">
                      <a:solidFill>
                        <a:schemeClr val="tx1"/>
                      </a:solidFill>
                    </a:lnL>
                    <a:lnR w="12700">
                      <a:solidFill>
                        <a:schemeClr val="tx1"/>
                      </a:solidFill>
                    </a:lnR>
                    <a:lnT w="12700">
                      <a:solidFill>
                        <a:schemeClr val="tx1"/>
                      </a:solidFill>
                    </a:lnT>
                    <a:solidFill>
                      <a:schemeClr val="bg1"/>
                    </a:solidFill>
                  </a:tcPr>
                </a:tc>
                <a:tc>
                  <a:txBody>
                    <a:bodyPr/>
                    <a:lstStyle/>
                    <a:p>
                      <a:pPr lvl="0" algn="ctr">
                        <a:buNone/>
                      </a:pPr>
                      <a:r>
                        <a:rPr lang="en-CA" sz="1100" b="1" i="0" u="none" strike="noStrike">
                          <a:solidFill>
                            <a:srgbClr val="000000"/>
                          </a:solidFill>
                          <a:effectLst/>
                          <a:latin typeface="Aptos Narrow"/>
                        </a:rPr>
                        <a:t>Low</a:t>
                      </a:r>
                      <a:endParaRPr lang="en-US"/>
                    </a:p>
                  </a:txBody>
                  <a:tcP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solidFill>
                      <a:srgbClr val="00B050"/>
                    </a:solidFill>
                  </a:tcPr>
                </a:tc>
                <a:tc>
                  <a:txBody>
                    <a:bodyPr/>
                    <a:lstStyle/>
                    <a:p>
                      <a:pPr lvl="0" algn="ctr">
                        <a:buNone/>
                      </a:pPr>
                      <a:r>
                        <a:rPr lang="en-US" sz="1100" b="0" i="0" u="none" strike="noStrike" kern="1200" noProof="0">
                          <a:solidFill>
                            <a:srgbClr val="000000"/>
                          </a:solidFill>
                          <a:effectLst/>
                          <a:latin typeface="Aptos"/>
                          <a:ea typeface="+mn-ea"/>
                          <a:cs typeface="+mn-cs"/>
                        </a:rPr>
                        <a:t>Inter-regional traffic via Equinix routes</a:t>
                      </a:r>
                      <a:endParaRPr lang="en-US" sz="1100" b="0" i="0" u="none" strike="noStrike" kern="1200">
                        <a:solidFill>
                          <a:srgbClr val="000000"/>
                        </a:solidFill>
                        <a:effectLst/>
                        <a:latin typeface="Aptos"/>
                        <a:ea typeface="+mn-ea"/>
                        <a:cs typeface="+mn-cs"/>
                      </a:endParaRPr>
                    </a:p>
                  </a:txBody>
                  <a:tcP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solidFill>
                      <a:schemeClr val="bg1"/>
                    </a:solidFill>
                  </a:tcPr>
                </a:tc>
                <a:tc>
                  <a:txBody>
                    <a:bodyPr/>
                    <a:lstStyle/>
                    <a:p>
                      <a:pPr lvl="0" algn="ctr">
                        <a:buNone/>
                      </a:pPr>
                      <a:r>
                        <a:rPr lang="en-CA" sz="1100" b="0" i="0" u="none" strike="noStrike" kern="1200">
                          <a:solidFill>
                            <a:srgbClr val="000000"/>
                          </a:solidFill>
                          <a:effectLst/>
                          <a:latin typeface="Aptos Narrow"/>
                          <a:ea typeface="+mn-ea"/>
                          <a:cs typeface="+mn-cs"/>
                        </a:rPr>
                        <a:t>Reduced latency with inter-regional peering</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514721221"/>
                  </a:ext>
                </a:extLst>
              </a:tr>
              <a:tr h="272841">
                <a:tc>
                  <a:txBody>
                    <a:bodyPr/>
                    <a:lstStyle/>
                    <a:p>
                      <a:pPr lvl="0" algn="ctr">
                        <a:buNone/>
                      </a:pPr>
                      <a:r>
                        <a:rPr lang="en-US" sz="1000" b="0" i="0" u="none" strike="noStrike" noProof="0">
                          <a:solidFill>
                            <a:srgbClr val="000000"/>
                          </a:solidFill>
                          <a:effectLst/>
                          <a:latin typeface="Aptos Narrow"/>
                        </a:rPr>
                        <a:t>Calgary Equinix Connection</a:t>
                      </a:r>
                      <a:endParaRPr lang="en-US" sz="1000"/>
                    </a:p>
                  </a:txBody>
                  <a:tcPr>
                    <a:lnL w="12700">
                      <a:solidFill>
                        <a:schemeClr val="tx1"/>
                      </a:solidFill>
                    </a:lnL>
                    <a:lnR w="12700">
                      <a:solidFill>
                        <a:schemeClr val="tx1"/>
                      </a:solidFill>
                    </a:lnR>
                    <a:solidFill>
                      <a:schemeClr val="bg1"/>
                    </a:solidFill>
                  </a:tcPr>
                </a:tc>
                <a:tc>
                  <a:txBody>
                    <a:bodyPr/>
                    <a:lstStyle/>
                    <a:p>
                      <a:pPr lvl="0" algn="ctr">
                        <a:buNone/>
                      </a:pPr>
                      <a:r>
                        <a:rPr lang="en-CA" sz="1100" b="1" i="0" u="none" strike="noStrike">
                          <a:solidFill>
                            <a:srgbClr val="000000"/>
                          </a:solidFill>
                          <a:effectLst/>
                          <a:latin typeface="Aptos Narrow"/>
                        </a:rPr>
                        <a:t>Low</a:t>
                      </a:r>
                      <a:endParaRPr lang="en-US">
                        <a:solidFill>
                          <a:srgbClr val="000000"/>
                        </a:solidFill>
                      </a:endParaRPr>
                    </a:p>
                  </a:txBody>
                  <a:tcPr>
                    <a:lnL w="12700">
                      <a:solidFill>
                        <a:schemeClr val="tx1"/>
                      </a:solidFill>
                    </a:lnL>
                    <a:lnR w="12700">
                      <a:solidFill>
                        <a:schemeClr val="tx1"/>
                      </a:solidFill>
                    </a:lnR>
                    <a:solidFill>
                      <a:srgbClr val="00B050"/>
                    </a:solidFill>
                  </a:tcPr>
                </a:tc>
                <a:tc>
                  <a:txBody>
                    <a:bodyPr/>
                    <a:lstStyle/>
                    <a:p>
                      <a:pPr lvl="0" algn="ctr">
                        <a:buNone/>
                      </a:pPr>
                      <a:r>
                        <a:rPr lang="en-CA" sz="1100" b="0" i="0" u="none" strike="noStrike" kern="1200">
                          <a:solidFill>
                            <a:srgbClr val="000000"/>
                          </a:solidFill>
                          <a:effectLst/>
                          <a:latin typeface="Aptos"/>
                          <a:ea typeface="+mn-ea"/>
                          <a:cs typeface="+mn-cs"/>
                        </a:rPr>
                        <a:t>Regional failure containment needed</a:t>
                      </a:r>
                    </a:p>
                  </a:txBody>
                  <a:tcPr>
                    <a:lnL w="12700">
                      <a:solidFill>
                        <a:schemeClr val="tx1"/>
                      </a:solidFill>
                    </a:lnL>
                    <a:lnR w="12700">
                      <a:solidFill>
                        <a:schemeClr val="tx1"/>
                      </a:solidFill>
                    </a:lnR>
                    <a:solidFill>
                      <a:schemeClr val="bg1"/>
                    </a:solidFill>
                  </a:tcPr>
                </a:tc>
                <a:tc>
                  <a:txBody>
                    <a:bodyPr/>
                    <a:lstStyle/>
                    <a:p>
                      <a:pPr lvl="0" algn="ctr">
                        <a:buNone/>
                      </a:pPr>
                      <a:r>
                        <a:rPr lang="en-US" sz="1100" b="0" i="0" u="none" strike="noStrike" kern="1200" noProof="0">
                          <a:solidFill>
                            <a:srgbClr val="000000"/>
                          </a:solidFill>
                          <a:effectLst/>
                          <a:latin typeface="Aptos"/>
                        </a:rPr>
                        <a:t>Decouple Canada west region from Central </a:t>
                      </a:r>
                    </a:p>
                  </a:txBody>
                  <a:tcPr>
                    <a:lnL w="12700" cap="flat" cmpd="sng" algn="ctr">
                      <a:solidFill>
                        <a:schemeClr val="tx1"/>
                      </a:solidFill>
                      <a:prstDash val="solid"/>
                      <a:round/>
                      <a:headEnd type="none" w="med" len="med"/>
                      <a:tailEnd type="none" w="med" len="med"/>
                    </a:lnL>
                    <a:lnR w="12700">
                      <a:solidFill>
                        <a:schemeClr val="tx1"/>
                      </a:solidFill>
                    </a:lnR>
                    <a:solidFill>
                      <a:schemeClr val="bg1"/>
                    </a:solidFill>
                  </a:tcPr>
                </a:tc>
                <a:extLst>
                  <a:ext uri="{0D108BD9-81ED-4DB2-BD59-A6C34878D82A}">
                    <a16:rowId xmlns:a16="http://schemas.microsoft.com/office/drawing/2014/main" val="226056900"/>
                  </a:ext>
                </a:extLst>
              </a:tr>
              <a:tr h="272841">
                <a:tc>
                  <a:txBody>
                    <a:bodyPr/>
                    <a:lstStyle/>
                    <a:p>
                      <a:pPr lvl="0" algn="ctr">
                        <a:buNone/>
                      </a:pPr>
                      <a:r>
                        <a:rPr lang="en-US" sz="1000" b="0" i="0" u="none" strike="noStrike" noProof="0">
                          <a:solidFill>
                            <a:srgbClr val="000000"/>
                          </a:solidFill>
                          <a:effectLst/>
                          <a:latin typeface="Aptos Narrow"/>
                        </a:rPr>
                        <a:t>Cloud Log Forwarding Platform</a:t>
                      </a:r>
                      <a:endParaRPr lang="en-US" sz="1000"/>
                    </a:p>
                  </a:txBody>
                  <a:tcPr>
                    <a:lnL w="12700">
                      <a:solidFill>
                        <a:schemeClr val="tx1"/>
                      </a:solidFill>
                    </a:lnL>
                    <a:lnR w="12700">
                      <a:solidFill>
                        <a:schemeClr val="tx1"/>
                      </a:solidFill>
                    </a:lnR>
                    <a:lnB w="12700">
                      <a:solidFill>
                        <a:schemeClr val="tx1"/>
                      </a:solidFill>
                    </a:lnB>
                    <a:solidFill>
                      <a:schemeClr val="bg1"/>
                    </a:solidFill>
                  </a:tcPr>
                </a:tc>
                <a:tc>
                  <a:txBody>
                    <a:bodyPr/>
                    <a:lstStyle/>
                    <a:p>
                      <a:pPr lvl="0" algn="ctr">
                        <a:buNone/>
                      </a:pPr>
                      <a:r>
                        <a:rPr lang="en-CA" sz="1100" b="1" i="0" u="none" strike="noStrike">
                          <a:solidFill>
                            <a:srgbClr val="000000"/>
                          </a:solidFill>
                          <a:effectLst/>
                          <a:latin typeface="Aptos Narrow"/>
                        </a:rPr>
                        <a:t>High</a:t>
                      </a:r>
                      <a:endParaRPr lang="en-US">
                        <a:solidFill>
                          <a:srgbClr val="000000"/>
                        </a:solidFill>
                      </a:endParaRPr>
                    </a:p>
                  </a:txBody>
                  <a:tcPr>
                    <a:lnL w="12700">
                      <a:solidFill>
                        <a:schemeClr val="tx1"/>
                      </a:solidFill>
                    </a:lnL>
                    <a:lnR w="12700">
                      <a:solidFill>
                        <a:schemeClr val="tx1"/>
                      </a:solidFill>
                    </a:lnR>
                    <a:lnB w="12700" cap="flat" cmpd="sng" algn="ctr">
                      <a:solidFill>
                        <a:schemeClr val="tx1"/>
                      </a:solidFill>
                      <a:prstDash val="solid"/>
                      <a:round/>
                      <a:headEnd type="none" w="med" len="med"/>
                      <a:tailEnd type="none" w="med" len="med"/>
                    </a:lnB>
                    <a:solidFill>
                      <a:srgbClr val="FF0000"/>
                    </a:solidFill>
                  </a:tcPr>
                </a:tc>
                <a:tc>
                  <a:txBody>
                    <a:bodyPr/>
                    <a:lstStyle/>
                    <a:p>
                      <a:pPr lvl="0" algn="ctr">
                        <a:buNone/>
                      </a:pPr>
                      <a:r>
                        <a:rPr lang="en-CA" sz="1100" b="0" i="0" u="none" strike="noStrike" kern="1200">
                          <a:solidFill>
                            <a:srgbClr val="000000"/>
                          </a:solidFill>
                          <a:effectLst/>
                          <a:latin typeface="Aptos"/>
                          <a:ea typeface="+mn-ea"/>
                          <a:cs typeface="+mn-cs"/>
                        </a:rPr>
                        <a:t>Inconsistent log forwarding, costly tools</a:t>
                      </a:r>
                    </a:p>
                  </a:txBody>
                  <a:tcPr>
                    <a:lnL w="12700">
                      <a:solidFill>
                        <a:schemeClr val="tx1"/>
                      </a:solidFill>
                    </a:lnL>
                    <a:lnR w="12700">
                      <a:solidFill>
                        <a:schemeClr val="tx1"/>
                      </a:solidFill>
                    </a:lnR>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CA" sz="1100" b="0" i="0" u="none" strike="noStrike" kern="1200">
                          <a:solidFill>
                            <a:srgbClr val="000000"/>
                          </a:solidFill>
                          <a:effectLst/>
                          <a:latin typeface="Aptos Narrow"/>
                          <a:ea typeface="+mn-ea"/>
                          <a:cs typeface="+mn-cs"/>
                        </a:rPr>
                        <a:t>Cost savings with Cribl, better observability</a:t>
                      </a:r>
                      <a:endParaRPr lang="en-CA" sz="1100" b="0" i="0" u="none" strike="noStrike" kern="1200" err="1">
                        <a:solidFill>
                          <a:srgbClr val="000000"/>
                        </a:solidFill>
                        <a:effectLst/>
                        <a:latin typeface="Aptos Narrow"/>
                        <a:ea typeface="+mn-ea"/>
                        <a:cs typeface="+mn-cs"/>
                      </a:endParaRPr>
                    </a:p>
                  </a:txBody>
                  <a:tcPr>
                    <a:lnL w="12700" cap="flat" cmpd="sng" algn="ctr">
                      <a:solidFill>
                        <a:schemeClr val="tx1"/>
                      </a:solidFill>
                      <a:prstDash val="solid"/>
                      <a:round/>
                      <a:headEnd type="none" w="med" len="med"/>
                      <a:tailEnd type="none" w="med" len="med"/>
                    </a:lnL>
                    <a:lnR w="12700">
                      <a:solidFill>
                        <a:schemeClr val="tx1"/>
                      </a:solidFill>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77278845"/>
                  </a:ext>
                </a:extLst>
              </a:tr>
              <a:tr h="272841">
                <a:tc>
                  <a:txBody>
                    <a:bodyPr/>
                    <a:lstStyle/>
                    <a:p>
                      <a:pPr lvl="0" algn="ctr">
                        <a:buNone/>
                      </a:pPr>
                      <a:r>
                        <a:rPr lang="en-US" sz="1000" b="0" i="0" u="none" strike="noStrike" noProof="0">
                          <a:solidFill>
                            <a:srgbClr val="000000"/>
                          </a:solidFill>
                          <a:effectLst/>
                          <a:latin typeface="Aptos Narrow"/>
                        </a:rPr>
                        <a:t>Cloud Storage Antivirus Protection </a:t>
                      </a:r>
                      <a:endParaRPr lang="en-US" sz="1000"/>
                    </a:p>
                  </a:txBody>
                  <a:tcPr>
                    <a:lnL w="12700">
                      <a:solidFill>
                        <a:schemeClr val="tx1"/>
                      </a:solidFill>
                    </a:lnL>
                    <a:lnR w="12700">
                      <a:solidFill>
                        <a:schemeClr val="tx1"/>
                      </a:solidFill>
                    </a:lnR>
                    <a:lnT w="12700">
                      <a:solidFill>
                        <a:schemeClr val="tx1"/>
                      </a:solidFill>
                    </a:lnT>
                    <a:solidFill>
                      <a:schemeClr val="bg1"/>
                    </a:solidFill>
                  </a:tcPr>
                </a:tc>
                <a:tc>
                  <a:txBody>
                    <a:bodyPr/>
                    <a:lstStyle/>
                    <a:p>
                      <a:pPr lvl="0" algn="ctr">
                        <a:buNone/>
                      </a:pPr>
                      <a:r>
                        <a:rPr lang="en-CA" sz="1100" b="1" i="0" u="none" strike="noStrike" noProof="0">
                          <a:solidFill>
                            <a:srgbClr val="000000"/>
                          </a:solidFill>
                          <a:effectLst/>
                          <a:latin typeface="Aptos Narrow"/>
                        </a:rPr>
                        <a:t>High</a:t>
                      </a:r>
                      <a:endParaRPr lang="en-US"/>
                    </a:p>
                  </a:txBody>
                  <a:tcP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solidFill>
                      <a:srgbClr val="FF0000"/>
                    </a:solidFill>
                  </a:tcPr>
                </a:tc>
                <a:tc>
                  <a:txBody>
                    <a:bodyPr/>
                    <a:lstStyle/>
                    <a:p>
                      <a:pPr lvl="0" algn="ctr">
                        <a:buNone/>
                      </a:pPr>
                      <a:r>
                        <a:rPr lang="en-CA" sz="1100" b="0" i="0" u="none" strike="noStrike" kern="1200">
                          <a:solidFill>
                            <a:srgbClr val="000000"/>
                          </a:solidFill>
                          <a:effectLst/>
                          <a:latin typeface="Aptos"/>
                          <a:ea typeface="+mn-ea"/>
                          <a:cs typeface="+mn-cs"/>
                        </a:rPr>
                        <a:t>Files scanned only on copy, no active scan</a:t>
                      </a:r>
                    </a:p>
                  </a:txBody>
                  <a:tcP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solidFill>
                      <a:schemeClr val="bg1"/>
                    </a:solidFill>
                  </a:tcPr>
                </a:tc>
                <a:tc>
                  <a:txBody>
                    <a:bodyPr/>
                    <a:lstStyle/>
                    <a:p>
                      <a:pPr lvl="0" algn="ctr">
                        <a:buNone/>
                      </a:pPr>
                      <a:r>
                        <a:rPr lang="en-CA" sz="1100" b="0" i="0" u="none" strike="noStrike" kern="1200">
                          <a:solidFill>
                            <a:srgbClr val="000000"/>
                          </a:solidFill>
                          <a:effectLst/>
                          <a:latin typeface="Aptos Narrow"/>
                          <a:ea typeface="+mn-ea"/>
                          <a:cs typeface="+mn-cs"/>
                        </a:rPr>
                        <a:t>Enhanced security with </a:t>
                      </a:r>
                      <a:r>
                        <a:rPr lang="en-US" sz="1100" b="0" i="0" u="none" strike="noStrike" kern="1200" noProof="0">
                          <a:solidFill>
                            <a:srgbClr val="000000"/>
                          </a:solidFill>
                          <a:effectLst/>
                          <a:latin typeface="Aptos"/>
                        </a:rPr>
                        <a:t>Antivirus solution</a:t>
                      </a:r>
                      <a:endParaRPr lang="en-CA" sz="1100" b="0" i="0" u="none" strike="noStrike" kern="1200">
                        <a:solidFill>
                          <a:srgbClr val="000000"/>
                        </a:solidFill>
                        <a:effectLst/>
                        <a:latin typeface="Aptos Narrow"/>
                        <a:ea typeface="+mn-ea"/>
                        <a:cs typeface="+mn-cs"/>
                      </a:endParaRP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504118705"/>
                  </a:ext>
                </a:extLst>
              </a:tr>
              <a:tr h="272841">
                <a:tc>
                  <a:txBody>
                    <a:bodyPr/>
                    <a:lstStyle/>
                    <a:p>
                      <a:pPr lvl="0" algn="ctr">
                        <a:buNone/>
                      </a:pPr>
                      <a:r>
                        <a:rPr lang="en-US" sz="1000" b="0" i="0" u="none" strike="noStrike" noProof="0">
                          <a:solidFill>
                            <a:srgbClr val="000000"/>
                          </a:solidFill>
                          <a:effectLst/>
                          <a:latin typeface="Aptos Narrow"/>
                        </a:rPr>
                        <a:t>Service Catalogue with Security Centric View </a:t>
                      </a:r>
                      <a:endParaRPr lang="en-US" sz="1000"/>
                    </a:p>
                  </a:txBody>
                  <a:tcPr>
                    <a:lnL w="12700">
                      <a:solidFill>
                        <a:schemeClr val="tx1"/>
                      </a:solidFill>
                    </a:lnL>
                    <a:lnR w="12700">
                      <a:solidFill>
                        <a:schemeClr val="tx1"/>
                      </a:solidFill>
                    </a:lnR>
                    <a:solidFill>
                      <a:schemeClr val="bg1"/>
                    </a:solidFill>
                  </a:tcPr>
                </a:tc>
                <a:tc>
                  <a:txBody>
                    <a:bodyPr/>
                    <a:lstStyle/>
                    <a:p>
                      <a:pPr lvl="0" algn="ctr">
                        <a:buNone/>
                      </a:pPr>
                      <a:r>
                        <a:rPr lang="en-CA" sz="1100" b="1" i="0" u="none" strike="noStrike" noProof="0">
                          <a:solidFill>
                            <a:srgbClr val="000000"/>
                          </a:solidFill>
                          <a:effectLst/>
                          <a:latin typeface="Aptos Narrow"/>
                        </a:rPr>
                        <a:t>High</a:t>
                      </a:r>
                      <a:endParaRPr lang="en-US"/>
                    </a:p>
                  </a:txBody>
                  <a:tcPr>
                    <a:lnL w="12700">
                      <a:solidFill>
                        <a:schemeClr val="tx1"/>
                      </a:solidFill>
                    </a:lnL>
                    <a:lnR w="12700">
                      <a:solidFill>
                        <a:schemeClr val="tx1"/>
                      </a:solidFill>
                    </a:lnR>
                    <a:solidFill>
                      <a:srgbClr val="FF0000"/>
                    </a:solidFill>
                  </a:tcPr>
                </a:tc>
                <a:tc>
                  <a:txBody>
                    <a:bodyPr/>
                    <a:lstStyle/>
                    <a:p>
                      <a:pPr lvl="0" algn="ctr">
                        <a:buNone/>
                      </a:pPr>
                      <a:r>
                        <a:rPr lang="en-CA" sz="1100" b="0" i="0" u="none" strike="noStrike" kern="1200">
                          <a:solidFill>
                            <a:srgbClr val="000000"/>
                          </a:solidFill>
                          <a:effectLst/>
                          <a:latin typeface="Aptos"/>
                          <a:ea typeface="+mn-ea"/>
                          <a:cs typeface="+mn-cs"/>
                        </a:rPr>
                        <a:t>Lack of security controls in Catalogue / EADP</a:t>
                      </a:r>
                    </a:p>
                  </a:txBody>
                  <a:tcPr>
                    <a:lnL w="12700">
                      <a:solidFill>
                        <a:schemeClr val="tx1"/>
                      </a:solidFill>
                    </a:lnL>
                    <a:lnR w="12700">
                      <a:solidFill>
                        <a:schemeClr val="tx1"/>
                      </a:solidFill>
                    </a:lnR>
                    <a:solidFill>
                      <a:schemeClr val="bg1"/>
                    </a:solidFill>
                  </a:tcPr>
                </a:tc>
                <a:tc>
                  <a:txBody>
                    <a:bodyPr/>
                    <a:lstStyle/>
                    <a:p>
                      <a:pPr lvl="0" algn="ctr">
                        <a:buNone/>
                      </a:pPr>
                      <a:r>
                        <a:rPr lang="en-CA" sz="1100" b="0" i="0" u="none" strike="noStrike" kern="1200">
                          <a:solidFill>
                            <a:srgbClr val="000000"/>
                          </a:solidFill>
                          <a:effectLst/>
                          <a:latin typeface="Aptos Narrow"/>
                          <a:ea typeface="+mn-ea"/>
                          <a:cs typeface="+mn-cs"/>
                        </a:rPr>
                        <a:t>Improved governance with updated controls</a:t>
                      </a:r>
                    </a:p>
                  </a:txBody>
                  <a:tcPr>
                    <a:lnL w="12700" cap="flat" cmpd="sng" algn="ctr">
                      <a:solidFill>
                        <a:schemeClr val="tx1"/>
                      </a:solidFill>
                      <a:prstDash val="solid"/>
                      <a:round/>
                      <a:headEnd type="none" w="med" len="med"/>
                      <a:tailEnd type="none" w="med" len="med"/>
                    </a:lnL>
                    <a:lnR w="12700">
                      <a:solidFill>
                        <a:schemeClr val="tx1"/>
                      </a:solidFill>
                    </a:lnR>
                    <a:solidFill>
                      <a:schemeClr val="bg1"/>
                    </a:solidFill>
                  </a:tcPr>
                </a:tc>
                <a:extLst>
                  <a:ext uri="{0D108BD9-81ED-4DB2-BD59-A6C34878D82A}">
                    <a16:rowId xmlns:a16="http://schemas.microsoft.com/office/drawing/2014/main" val="2173015831"/>
                  </a:ext>
                </a:extLst>
              </a:tr>
              <a:tr h="272841">
                <a:tc>
                  <a:txBody>
                    <a:bodyPr/>
                    <a:lstStyle/>
                    <a:p>
                      <a:pPr lvl="0" algn="ctr">
                        <a:buNone/>
                      </a:pPr>
                      <a:r>
                        <a:rPr lang="en-US" sz="1000" b="0" i="0" u="none" strike="noStrike" noProof="0">
                          <a:solidFill>
                            <a:srgbClr val="000000"/>
                          </a:solidFill>
                          <a:effectLst/>
                          <a:latin typeface="Aptos Narrow"/>
                        </a:rPr>
                        <a:t>Hardened Container Image Platform</a:t>
                      </a:r>
                      <a:endParaRPr lang="en-US" sz="1000"/>
                    </a:p>
                  </a:txBody>
                  <a:tcPr>
                    <a:lnL w="12700">
                      <a:solidFill>
                        <a:schemeClr val="tx1"/>
                      </a:solidFill>
                    </a:lnL>
                    <a:lnR w="12700">
                      <a:solidFill>
                        <a:schemeClr val="tx1"/>
                      </a:solidFill>
                    </a:lnR>
                    <a:lnB w="12700">
                      <a:solidFill>
                        <a:schemeClr val="tx1"/>
                      </a:solidFill>
                    </a:lnB>
                    <a:solidFill>
                      <a:schemeClr val="bg1"/>
                    </a:solidFill>
                  </a:tcPr>
                </a:tc>
                <a:tc>
                  <a:txBody>
                    <a:bodyPr/>
                    <a:lstStyle/>
                    <a:p>
                      <a:pPr lvl="0" algn="ctr">
                        <a:buNone/>
                      </a:pPr>
                      <a:r>
                        <a:rPr lang="en-CA" sz="1100" b="1" i="0" u="none" strike="noStrike">
                          <a:solidFill>
                            <a:srgbClr val="000000"/>
                          </a:solidFill>
                          <a:effectLst/>
                          <a:latin typeface="Aptos Narrow"/>
                        </a:rPr>
                        <a:t>Medium</a:t>
                      </a:r>
                      <a:endParaRPr lang="en-US"/>
                    </a:p>
                  </a:txBody>
                  <a:tcPr>
                    <a:lnL w="12700">
                      <a:solidFill>
                        <a:schemeClr val="tx1"/>
                      </a:solidFill>
                    </a:lnL>
                    <a:lnR w="12700">
                      <a:solidFill>
                        <a:schemeClr val="tx1"/>
                      </a:solidFill>
                    </a:lnR>
                    <a:lnB w="12700" cap="flat" cmpd="sng" algn="ctr">
                      <a:solidFill>
                        <a:schemeClr val="tx1"/>
                      </a:solidFill>
                      <a:prstDash val="solid"/>
                      <a:round/>
                      <a:headEnd type="none" w="med" len="med"/>
                      <a:tailEnd type="none" w="med" len="med"/>
                    </a:lnB>
                    <a:solidFill>
                      <a:srgbClr val="FFC000"/>
                    </a:solidFill>
                  </a:tcPr>
                </a:tc>
                <a:tc>
                  <a:txBody>
                    <a:bodyPr/>
                    <a:lstStyle/>
                    <a:p>
                      <a:pPr lvl="0" algn="ctr">
                        <a:buNone/>
                      </a:pPr>
                      <a:r>
                        <a:rPr lang="en-CA" sz="1100" b="0" i="0" u="none" strike="noStrike" kern="1200">
                          <a:solidFill>
                            <a:srgbClr val="000000"/>
                          </a:solidFill>
                          <a:effectLst/>
                          <a:latin typeface="Aptos"/>
                          <a:ea typeface="+mn-ea"/>
                          <a:cs typeface="+mn-cs"/>
                        </a:rPr>
                        <a:t>Challenging due to image volume</a:t>
                      </a:r>
                    </a:p>
                  </a:txBody>
                  <a:tcPr>
                    <a:lnL w="12700">
                      <a:solidFill>
                        <a:schemeClr val="tx1"/>
                      </a:solidFill>
                    </a:lnL>
                    <a:lnR w="12700">
                      <a:solidFill>
                        <a:schemeClr val="tx1"/>
                      </a:solidFill>
                    </a:lnR>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CA" sz="1100" b="0" i="0" u="none" strike="noStrike" kern="1200">
                          <a:solidFill>
                            <a:srgbClr val="000000"/>
                          </a:solidFill>
                          <a:effectLst/>
                          <a:latin typeface="Aptos Narrow"/>
                          <a:ea typeface="+mn-ea"/>
                          <a:cs typeface="+mn-cs"/>
                        </a:rPr>
                        <a:t>Secure container deployment</a:t>
                      </a:r>
                    </a:p>
                  </a:txBody>
                  <a:tcPr>
                    <a:lnL w="12700" cap="flat" cmpd="sng" algn="ctr">
                      <a:solidFill>
                        <a:schemeClr val="tx1"/>
                      </a:solidFill>
                      <a:prstDash val="solid"/>
                      <a:round/>
                      <a:headEnd type="none" w="med" len="med"/>
                      <a:tailEnd type="none" w="med" len="med"/>
                    </a:lnL>
                    <a:lnR w="12700">
                      <a:solidFill>
                        <a:schemeClr val="tx1"/>
                      </a:solidFill>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32420237"/>
                  </a:ext>
                </a:extLst>
              </a:tr>
              <a:tr h="272841">
                <a:tc>
                  <a:txBody>
                    <a:bodyPr/>
                    <a:lstStyle/>
                    <a:p>
                      <a:pPr lvl="0" algn="ctr">
                        <a:buNone/>
                      </a:pPr>
                      <a:r>
                        <a:rPr lang="en-CA" sz="1000" b="0" i="0" u="none" strike="noStrike" noProof="0">
                          <a:solidFill>
                            <a:srgbClr val="000000"/>
                          </a:solidFill>
                          <a:effectLst/>
                          <a:latin typeface="Aptos Narrow"/>
                        </a:rPr>
                        <a:t>Unified, Governed Container Platforms</a:t>
                      </a:r>
                      <a:endParaRPr lang="en-US" sz="1000"/>
                    </a:p>
                  </a:txBody>
                  <a:tcPr>
                    <a:lnL w="12700">
                      <a:solidFill>
                        <a:schemeClr val="tx1"/>
                      </a:solidFill>
                    </a:lnL>
                    <a:lnR w="12700">
                      <a:solidFill>
                        <a:schemeClr val="tx1"/>
                      </a:solidFill>
                    </a:lnR>
                    <a:lnT w="12700">
                      <a:solidFill>
                        <a:schemeClr val="tx1"/>
                      </a:solidFill>
                    </a:lnT>
                    <a:solidFill>
                      <a:schemeClr val="bg1"/>
                    </a:solidFill>
                  </a:tcPr>
                </a:tc>
                <a:tc>
                  <a:txBody>
                    <a:bodyPr/>
                    <a:lstStyle/>
                    <a:p>
                      <a:pPr lvl="0" algn="ctr">
                        <a:buNone/>
                      </a:pPr>
                      <a:r>
                        <a:rPr lang="en-CA" sz="1100" b="1" i="0" u="none" strike="noStrike" noProof="0">
                          <a:solidFill>
                            <a:srgbClr val="000000"/>
                          </a:solidFill>
                          <a:effectLst/>
                          <a:latin typeface="Aptos Narrow"/>
                        </a:rPr>
                        <a:t>Medium</a:t>
                      </a:r>
                      <a:endParaRPr lang="en-US"/>
                    </a:p>
                  </a:txBody>
                  <a:tcP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solidFill>
                      <a:srgbClr val="FFC000"/>
                    </a:solidFill>
                  </a:tcPr>
                </a:tc>
                <a:tc>
                  <a:txBody>
                    <a:bodyPr/>
                    <a:lstStyle/>
                    <a:p>
                      <a:pPr lvl="0" algn="ctr">
                        <a:buNone/>
                      </a:pPr>
                      <a:r>
                        <a:rPr lang="en-CA" sz="1100" b="0" i="0" u="none" strike="noStrike" kern="1200">
                          <a:solidFill>
                            <a:srgbClr val="000000"/>
                          </a:solidFill>
                          <a:effectLst/>
                          <a:latin typeface="Aptos"/>
                          <a:ea typeface="+mn-ea"/>
                          <a:cs typeface="+mn-cs"/>
                        </a:rPr>
                        <a:t>Disparate platforms increase overhead</a:t>
                      </a:r>
                    </a:p>
                  </a:txBody>
                  <a:tcP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solidFill>
                      <a:schemeClr val="bg1"/>
                    </a:solidFill>
                  </a:tcPr>
                </a:tc>
                <a:tc>
                  <a:txBody>
                    <a:bodyPr/>
                    <a:lstStyle/>
                    <a:p>
                      <a:pPr lvl="0" algn="ctr">
                        <a:buNone/>
                      </a:pPr>
                      <a:r>
                        <a:rPr lang="en-CA" sz="1100" b="0" i="0" u="none" strike="noStrike" kern="1200">
                          <a:solidFill>
                            <a:srgbClr val="000000"/>
                          </a:solidFill>
                          <a:effectLst/>
                          <a:latin typeface="Aptos Narrow"/>
                          <a:ea typeface="+mn-ea"/>
                          <a:cs typeface="+mn-cs"/>
                        </a:rPr>
                        <a:t>Centralized governance across clouds</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43110912"/>
                  </a:ext>
                </a:extLst>
              </a:tr>
              <a:tr h="272841">
                <a:tc>
                  <a:txBody>
                    <a:bodyPr/>
                    <a:lstStyle/>
                    <a:p>
                      <a:pPr lvl="0" algn="ctr">
                        <a:buNone/>
                      </a:pPr>
                      <a:r>
                        <a:rPr lang="en-US" sz="1000" b="0" i="0" u="none" strike="noStrike" noProof="0">
                          <a:solidFill>
                            <a:srgbClr val="000000"/>
                          </a:solidFill>
                          <a:effectLst/>
                          <a:latin typeface="Aptos Narrow"/>
                        </a:rPr>
                        <a:t>Data Classification in Cloud </a:t>
                      </a:r>
                      <a:endParaRPr lang="en-US" sz="1000"/>
                    </a:p>
                  </a:txBody>
                  <a:tcPr>
                    <a:lnL w="12700">
                      <a:solidFill>
                        <a:schemeClr val="tx1"/>
                      </a:solidFill>
                    </a:lnL>
                    <a:lnR w="12700">
                      <a:solidFill>
                        <a:schemeClr val="tx1"/>
                      </a:solidFill>
                    </a:lnR>
                    <a:lnB w="12700">
                      <a:solidFill>
                        <a:schemeClr val="tx1"/>
                      </a:solidFill>
                    </a:lnB>
                    <a:solidFill>
                      <a:schemeClr val="bg1"/>
                    </a:solidFill>
                  </a:tcPr>
                </a:tc>
                <a:tc>
                  <a:txBody>
                    <a:bodyPr/>
                    <a:lstStyle/>
                    <a:p>
                      <a:pPr lvl="0" algn="ctr">
                        <a:buNone/>
                      </a:pPr>
                      <a:r>
                        <a:rPr lang="en-CA" sz="1100" b="1" i="0" u="none" strike="noStrike" noProof="0">
                          <a:solidFill>
                            <a:srgbClr val="000000"/>
                          </a:solidFill>
                          <a:effectLst/>
                          <a:latin typeface="Aptos Narrow"/>
                        </a:rPr>
                        <a:t>Medium</a:t>
                      </a:r>
                      <a:endParaRPr lang="en-US"/>
                    </a:p>
                  </a:txBody>
                  <a:tcPr>
                    <a:lnL w="12700">
                      <a:solidFill>
                        <a:schemeClr val="tx1"/>
                      </a:solidFill>
                    </a:lnL>
                    <a:lnR w="12700">
                      <a:solidFill>
                        <a:schemeClr val="tx1"/>
                      </a:solidFill>
                    </a:lnR>
                    <a:lnB w="12700" cap="flat" cmpd="sng" algn="ctr">
                      <a:solidFill>
                        <a:schemeClr val="tx1"/>
                      </a:solidFill>
                      <a:prstDash val="solid"/>
                      <a:round/>
                      <a:headEnd type="none" w="med" len="med"/>
                      <a:tailEnd type="none" w="med" len="med"/>
                    </a:lnB>
                    <a:solidFill>
                      <a:srgbClr val="FFC000"/>
                    </a:solidFill>
                  </a:tcPr>
                </a:tc>
                <a:tc>
                  <a:txBody>
                    <a:bodyPr/>
                    <a:lstStyle/>
                    <a:p>
                      <a:pPr lvl="0" algn="ctr">
                        <a:buNone/>
                      </a:pPr>
                      <a:r>
                        <a:rPr lang="en-CA" sz="1100" b="0" i="0" u="none" strike="noStrike" kern="1200">
                          <a:solidFill>
                            <a:srgbClr val="000000"/>
                          </a:solidFill>
                          <a:effectLst/>
                          <a:latin typeface="Aptos"/>
                          <a:ea typeface="+mn-ea"/>
                          <a:cs typeface="+mn-cs"/>
                        </a:rPr>
                        <a:t>No data classification in cloud environments</a:t>
                      </a:r>
                    </a:p>
                  </a:txBody>
                  <a:tcPr>
                    <a:lnL w="12700">
                      <a:solidFill>
                        <a:schemeClr val="tx1"/>
                      </a:solidFill>
                    </a:lnL>
                    <a:lnR w="12700">
                      <a:solidFill>
                        <a:schemeClr val="tx1"/>
                      </a:solidFill>
                    </a:lnR>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CA" sz="1100" b="0" i="0" u="none" strike="noStrike" kern="1200">
                          <a:solidFill>
                            <a:srgbClr val="000000"/>
                          </a:solidFill>
                          <a:effectLst/>
                          <a:latin typeface="Aptos Narrow"/>
                          <a:ea typeface="+mn-ea"/>
                          <a:cs typeface="+mn-cs"/>
                        </a:rPr>
                        <a:t>Data protection via DAM project</a:t>
                      </a:r>
                    </a:p>
                  </a:txBody>
                  <a:tcPr>
                    <a:lnL w="12700" cap="flat" cmpd="sng" algn="ctr">
                      <a:solidFill>
                        <a:schemeClr val="tx1"/>
                      </a:solidFill>
                      <a:prstDash val="solid"/>
                      <a:round/>
                      <a:headEnd type="none" w="med" len="med"/>
                      <a:tailEnd type="none" w="med" len="med"/>
                    </a:lnL>
                    <a:lnR w="12700">
                      <a:solidFill>
                        <a:schemeClr val="tx1"/>
                      </a:solidFill>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3719552"/>
                  </a:ext>
                </a:extLst>
              </a:tr>
              <a:tr h="272841">
                <a:tc>
                  <a:txBody>
                    <a:bodyPr/>
                    <a:lstStyle/>
                    <a:p>
                      <a:pPr lvl="0" algn="ctr">
                        <a:buNone/>
                      </a:pPr>
                      <a:r>
                        <a:rPr lang="en-US" sz="1000" b="0" i="0" u="none" strike="noStrike" noProof="0">
                          <a:solidFill>
                            <a:srgbClr val="000000"/>
                          </a:solidFill>
                          <a:effectLst/>
                          <a:latin typeface="Aptos Narrow"/>
                        </a:rPr>
                        <a:t>Multi Region Patterns</a:t>
                      </a:r>
                      <a:endParaRPr lang="en-US" sz="1000">
                        <a:latin typeface="Aptos Narrow"/>
                      </a:endParaRPr>
                    </a:p>
                  </a:txBody>
                  <a:tcPr>
                    <a:lnL w="12700">
                      <a:solidFill>
                        <a:schemeClr val="tx1"/>
                      </a:solidFill>
                    </a:lnL>
                    <a:lnR w="12700">
                      <a:solidFill>
                        <a:schemeClr val="tx1"/>
                      </a:solidFill>
                    </a:lnR>
                    <a:lnT w="12700">
                      <a:solidFill>
                        <a:schemeClr val="tx1"/>
                      </a:solidFill>
                    </a:lnT>
                    <a:solidFill>
                      <a:schemeClr val="bg1"/>
                    </a:solidFill>
                  </a:tcPr>
                </a:tc>
                <a:tc>
                  <a:txBody>
                    <a:bodyPr/>
                    <a:lstStyle/>
                    <a:p>
                      <a:pPr lvl="0" algn="ctr">
                        <a:buNone/>
                      </a:pPr>
                      <a:r>
                        <a:rPr lang="en-CA" sz="1100" b="1" i="0" u="none" strike="noStrike" kern="1200" noProof="0">
                          <a:solidFill>
                            <a:srgbClr val="000000"/>
                          </a:solidFill>
                          <a:effectLst/>
                          <a:latin typeface="Aptos Narrow"/>
                          <a:ea typeface="+mn-ea"/>
                          <a:cs typeface="+mn-cs"/>
                        </a:rPr>
                        <a:t>Low</a:t>
                      </a:r>
                      <a:endParaRPr lang="en-US" sz="1100" b="1" i="0" u="none" strike="noStrike" kern="1200">
                        <a:solidFill>
                          <a:srgbClr val="000000"/>
                        </a:solidFill>
                        <a:effectLst/>
                        <a:latin typeface="Aptos Narrow"/>
                        <a:ea typeface="+mn-ea"/>
                        <a:cs typeface="+mn-cs"/>
                      </a:endParaRPr>
                    </a:p>
                  </a:txBody>
                  <a:tcP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solidFill>
                      <a:srgbClr val="00B050"/>
                    </a:solidFill>
                  </a:tcPr>
                </a:tc>
                <a:tc>
                  <a:txBody>
                    <a:bodyPr/>
                    <a:lstStyle/>
                    <a:p>
                      <a:pPr lvl="0" algn="ctr">
                        <a:buNone/>
                      </a:pPr>
                      <a:r>
                        <a:rPr lang="en-CA" sz="1100" b="0" i="0" u="none" strike="noStrike" kern="1200">
                          <a:solidFill>
                            <a:srgbClr val="000000"/>
                          </a:solidFill>
                          <a:effectLst/>
                          <a:latin typeface="Aptos"/>
                          <a:ea typeface="+mn-ea"/>
                          <a:cs typeface="+mn-cs"/>
                        </a:rPr>
                        <a:t>Need for multi-region design patterns</a:t>
                      </a:r>
                    </a:p>
                  </a:txBody>
                  <a:tcP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solidFill>
                      <a:schemeClr val="bg1"/>
                    </a:solidFill>
                  </a:tcPr>
                </a:tc>
                <a:tc>
                  <a:txBody>
                    <a:bodyPr/>
                    <a:lstStyle/>
                    <a:p>
                      <a:pPr lvl="0" algn="ctr">
                        <a:buNone/>
                      </a:pPr>
                      <a:r>
                        <a:rPr lang="en-CA" sz="1100" b="0" i="0" u="none" strike="noStrike" kern="1200">
                          <a:solidFill>
                            <a:srgbClr val="000000"/>
                          </a:solidFill>
                          <a:effectLst/>
                          <a:latin typeface="Aptos Narrow"/>
                          <a:ea typeface="+mn-ea"/>
                          <a:cs typeface="+mn-cs"/>
                        </a:rPr>
                        <a:t>Faster time to market for use cases</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644954879"/>
                  </a:ext>
                </a:extLst>
              </a:tr>
              <a:tr h="272841">
                <a:tc>
                  <a:txBody>
                    <a:bodyPr/>
                    <a:lstStyle/>
                    <a:p>
                      <a:pPr lvl="0" algn="ctr">
                        <a:buNone/>
                      </a:pPr>
                      <a:r>
                        <a:rPr lang="en-US" sz="1000" b="0" i="0" u="none" strike="noStrike" noProof="0" err="1">
                          <a:solidFill>
                            <a:srgbClr val="000000"/>
                          </a:solidFill>
                          <a:effectLst/>
                          <a:latin typeface="Aptos Narrow"/>
                        </a:rPr>
                        <a:t>Tetrate</a:t>
                      </a:r>
                      <a:r>
                        <a:rPr lang="en-US" sz="1000" b="0" i="0" u="none" strike="noStrike" noProof="0">
                          <a:solidFill>
                            <a:srgbClr val="000000"/>
                          </a:solidFill>
                          <a:effectLst/>
                          <a:latin typeface="Aptos Narrow"/>
                        </a:rPr>
                        <a:t> Service Bridge (TSB) Enhancements</a:t>
                      </a:r>
                      <a:endParaRPr lang="en-US" sz="1000">
                        <a:latin typeface="Aptos Narrow"/>
                      </a:endParaRPr>
                    </a:p>
                  </a:txBody>
                  <a:tcPr>
                    <a:lnL w="12700">
                      <a:solidFill>
                        <a:schemeClr val="tx1"/>
                      </a:solidFill>
                    </a:lnL>
                    <a:lnR w="12700">
                      <a:solidFill>
                        <a:schemeClr val="tx1"/>
                      </a:solidFill>
                    </a:lnR>
                    <a:solidFill>
                      <a:schemeClr val="bg1"/>
                    </a:solidFill>
                  </a:tcPr>
                </a:tc>
                <a:tc>
                  <a:txBody>
                    <a:bodyPr/>
                    <a:lstStyle/>
                    <a:p>
                      <a:pPr lvl="0" algn="ctr">
                        <a:buNone/>
                      </a:pPr>
                      <a:r>
                        <a:rPr lang="en-CA" sz="1100" b="1" i="0" u="none" strike="noStrike" noProof="0">
                          <a:solidFill>
                            <a:srgbClr val="000000"/>
                          </a:solidFill>
                          <a:effectLst/>
                          <a:latin typeface="Aptos Narrow"/>
                        </a:rPr>
                        <a:t>Medium</a:t>
                      </a:r>
                      <a:endParaRPr lang="en-US"/>
                    </a:p>
                  </a:txBody>
                  <a:tcPr>
                    <a:lnL w="12700">
                      <a:solidFill>
                        <a:schemeClr val="tx1"/>
                      </a:solidFill>
                    </a:lnL>
                    <a:lnR w="12700">
                      <a:solidFill>
                        <a:schemeClr val="tx1"/>
                      </a:solidFill>
                    </a:lnR>
                    <a:solidFill>
                      <a:srgbClr val="FFC000"/>
                    </a:solidFill>
                  </a:tcPr>
                </a:tc>
                <a:tc>
                  <a:txBody>
                    <a:bodyPr/>
                    <a:lstStyle/>
                    <a:p>
                      <a:pPr lvl="0" algn="ctr">
                        <a:buNone/>
                      </a:pPr>
                      <a:r>
                        <a:rPr lang="en-CA" sz="1100" b="0" i="0" u="none" strike="noStrike" kern="1200">
                          <a:solidFill>
                            <a:srgbClr val="000000"/>
                          </a:solidFill>
                          <a:effectLst/>
                          <a:latin typeface="Aptos"/>
                          <a:ea typeface="+mn-ea"/>
                          <a:cs typeface="+mn-cs"/>
                        </a:rPr>
                        <a:t>Single cluster risk, Azure integration</a:t>
                      </a:r>
                    </a:p>
                  </a:txBody>
                  <a:tcPr>
                    <a:lnL w="12700">
                      <a:solidFill>
                        <a:schemeClr val="tx1"/>
                      </a:solidFill>
                    </a:lnL>
                    <a:lnR w="12700">
                      <a:solidFill>
                        <a:schemeClr val="tx1"/>
                      </a:solidFill>
                    </a:lnR>
                    <a:solidFill>
                      <a:schemeClr val="bg1"/>
                    </a:solidFill>
                  </a:tcPr>
                </a:tc>
                <a:tc>
                  <a:txBody>
                    <a:bodyPr/>
                    <a:lstStyle/>
                    <a:p>
                      <a:pPr lvl="0" algn="ctr">
                        <a:buNone/>
                      </a:pPr>
                      <a:r>
                        <a:rPr lang="en-CA" sz="1100" b="0" i="0" u="none" strike="noStrike" kern="1200">
                          <a:solidFill>
                            <a:srgbClr val="000000"/>
                          </a:solidFill>
                          <a:effectLst/>
                          <a:latin typeface="Aptos Narrow"/>
                          <a:ea typeface="+mn-ea"/>
                          <a:cs typeface="+mn-cs"/>
                        </a:rPr>
                        <a:t>Multi-cluster failover, service mesh on AKS</a:t>
                      </a:r>
                    </a:p>
                  </a:txBody>
                  <a:tcPr>
                    <a:lnL w="12700" cap="flat" cmpd="sng" algn="ctr">
                      <a:solidFill>
                        <a:schemeClr val="tx1"/>
                      </a:solidFill>
                      <a:prstDash val="solid"/>
                      <a:round/>
                      <a:headEnd type="none" w="med" len="med"/>
                      <a:tailEnd type="none" w="med" len="med"/>
                    </a:lnL>
                    <a:lnR w="12700">
                      <a:solidFill>
                        <a:schemeClr val="tx1"/>
                      </a:solidFill>
                    </a:lnR>
                    <a:solidFill>
                      <a:schemeClr val="bg1"/>
                    </a:solidFill>
                  </a:tcPr>
                </a:tc>
                <a:extLst>
                  <a:ext uri="{0D108BD9-81ED-4DB2-BD59-A6C34878D82A}">
                    <a16:rowId xmlns:a16="http://schemas.microsoft.com/office/drawing/2014/main" val="483949252"/>
                  </a:ext>
                </a:extLst>
              </a:tr>
              <a:tr h="272841">
                <a:tc>
                  <a:txBody>
                    <a:bodyPr/>
                    <a:lstStyle/>
                    <a:p>
                      <a:pPr lvl="0" algn="ctr">
                        <a:buNone/>
                      </a:pPr>
                      <a:r>
                        <a:rPr lang="en-US" sz="1000" b="0" i="0" u="none" strike="noStrike" noProof="0">
                          <a:solidFill>
                            <a:srgbClr val="000000"/>
                          </a:solidFill>
                          <a:effectLst/>
                          <a:latin typeface="Aptos Narrow"/>
                        </a:rPr>
                        <a:t>Network Security Groups Automation</a:t>
                      </a:r>
                      <a:endParaRPr lang="en-US" sz="1000">
                        <a:latin typeface="Aptos Narrow"/>
                      </a:endParaRPr>
                    </a:p>
                  </a:txBody>
                  <a:tcPr>
                    <a:lnL w="12700">
                      <a:solidFill>
                        <a:schemeClr val="tx1"/>
                      </a:solidFill>
                    </a:lnL>
                    <a:lnR w="12700">
                      <a:solidFill>
                        <a:schemeClr val="tx1"/>
                      </a:solidFill>
                    </a:lnR>
                    <a:lnB w="12700">
                      <a:solidFill>
                        <a:schemeClr val="tx1"/>
                      </a:solidFill>
                    </a:lnB>
                    <a:solidFill>
                      <a:schemeClr val="bg1"/>
                    </a:solidFill>
                  </a:tcPr>
                </a:tc>
                <a:tc>
                  <a:txBody>
                    <a:bodyPr/>
                    <a:lstStyle/>
                    <a:p>
                      <a:pPr lvl="0" algn="ctr">
                        <a:buNone/>
                      </a:pPr>
                      <a:r>
                        <a:rPr lang="en-CA" sz="1100" b="1" i="0" u="none" strike="noStrike" noProof="0">
                          <a:solidFill>
                            <a:srgbClr val="000000"/>
                          </a:solidFill>
                          <a:effectLst/>
                          <a:latin typeface="Aptos Narrow"/>
                        </a:rPr>
                        <a:t>Low</a:t>
                      </a:r>
                      <a:endParaRPr lang="en-US"/>
                    </a:p>
                  </a:txBody>
                  <a:tcPr>
                    <a:lnL w="12700">
                      <a:solidFill>
                        <a:schemeClr val="tx1"/>
                      </a:solidFill>
                    </a:lnL>
                    <a:lnR w="12700">
                      <a:solidFill>
                        <a:schemeClr val="tx1"/>
                      </a:solidFill>
                    </a:lnR>
                    <a:lnB w="12700" cap="flat" cmpd="sng" algn="ctr">
                      <a:solidFill>
                        <a:schemeClr val="tx1"/>
                      </a:solidFill>
                      <a:prstDash val="solid"/>
                      <a:round/>
                      <a:headEnd type="none" w="med" len="med"/>
                      <a:tailEnd type="none" w="med" len="med"/>
                    </a:lnB>
                    <a:solidFill>
                      <a:srgbClr val="00B050"/>
                    </a:solidFill>
                  </a:tcPr>
                </a:tc>
                <a:tc>
                  <a:txBody>
                    <a:bodyPr/>
                    <a:lstStyle/>
                    <a:p>
                      <a:pPr lvl="0" algn="ctr">
                        <a:buNone/>
                      </a:pPr>
                      <a:r>
                        <a:rPr lang="en-CA" sz="1100" b="0" i="0" u="none" strike="noStrike" kern="1200">
                          <a:solidFill>
                            <a:srgbClr val="000000"/>
                          </a:solidFill>
                          <a:effectLst/>
                          <a:latin typeface="Aptos"/>
                          <a:ea typeface="+mn-ea"/>
                          <a:cs typeface="+mn-cs"/>
                        </a:rPr>
                        <a:t>Manual segmentation limits efficiency</a:t>
                      </a:r>
                    </a:p>
                  </a:txBody>
                  <a:tcPr>
                    <a:lnL w="12700">
                      <a:solidFill>
                        <a:schemeClr val="tx1"/>
                      </a:solidFill>
                    </a:lnL>
                    <a:lnR w="12700">
                      <a:solidFill>
                        <a:schemeClr val="tx1"/>
                      </a:solidFill>
                    </a:lnR>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CA" sz="1100" b="0" i="0" u="none" strike="noStrike" kern="1200">
                          <a:solidFill>
                            <a:srgbClr val="000000"/>
                          </a:solidFill>
                          <a:effectLst/>
                          <a:latin typeface="Aptos Narrow"/>
                          <a:ea typeface="+mn-ea"/>
                          <a:cs typeface="+mn-cs"/>
                        </a:rPr>
                        <a:t>Automated micro segmentation</a:t>
                      </a:r>
                    </a:p>
                  </a:txBody>
                  <a:tcPr>
                    <a:lnL w="12700" cap="flat" cmpd="sng" algn="ctr">
                      <a:solidFill>
                        <a:schemeClr val="tx1"/>
                      </a:solidFill>
                      <a:prstDash val="solid"/>
                      <a:round/>
                      <a:headEnd type="none" w="med" len="med"/>
                      <a:tailEnd type="none" w="med" len="med"/>
                    </a:lnL>
                    <a:lnR w="12700">
                      <a:solidFill>
                        <a:schemeClr val="tx1"/>
                      </a:solidFill>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357838"/>
                  </a:ext>
                </a:extLst>
              </a:tr>
              <a:tr h="272841">
                <a:tc>
                  <a:txBody>
                    <a:bodyPr/>
                    <a:lstStyle/>
                    <a:p>
                      <a:pPr lvl="0" algn="ctr">
                        <a:buNone/>
                      </a:pPr>
                      <a:r>
                        <a:rPr lang="en-US" sz="1000" b="0" i="0" u="none" strike="noStrike" noProof="0">
                          <a:solidFill>
                            <a:srgbClr val="000000"/>
                          </a:solidFill>
                          <a:effectLst/>
                          <a:latin typeface="Aptos Narrow"/>
                        </a:rPr>
                        <a:t>Tagging Automation</a:t>
                      </a:r>
                      <a:endParaRPr lang="en-US" sz="1000"/>
                    </a:p>
                  </a:txBody>
                  <a:tcPr>
                    <a:lnL w="12700">
                      <a:solidFill>
                        <a:schemeClr val="tx1"/>
                      </a:solidFill>
                    </a:lnL>
                    <a:lnR w="12700">
                      <a:solidFill>
                        <a:schemeClr val="tx1"/>
                      </a:solidFill>
                    </a:lnR>
                    <a:lnT w="12700">
                      <a:solidFill>
                        <a:schemeClr val="tx1"/>
                      </a:solidFill>
                    </a:lnT>
                    <a:solidFill>
                      <a:schemeClr val="bg1"/>
                    </a:solidFill>
                  </a:tcPr>
                </a:tc>
                <a:tc>
                  <a:txBody>
                    <a:bodyPr/>
                    <a:lstStyle/>
                    <a:p>
                      <a:pPr lvl="0" algn="ctr">
                        <a:buNone/>
                      </a:pPr>
                      <a:r>
                        <a:rPr lang="en-CA" sz="1100" b="1" i="0" u="none" strike="noStrike" noProof="0">
                          <a:solidFill>
                            <a:srgbClr val="000000"/>
                          </a:solidFill>
                          <a:effectLst/>
                          <a:latin typeface="Aptos Narrow"/>
                        </a:rPr>
                        <a:t>Medium</a:t>
                      </a:r>
                      <a:endParaRPr lang="en-US"/>
                    </a:p>
                  </a:txBody>
                  <a:tcP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solidFill>
                      <a:srgbClr val="FFC000"/>
                    </a:solidFill>
                  </a:tcPr>
                </a:tc>
                <a:tc>
                  <a:txBody>
                    <a:bodyPr/>
                    <a:lstStyle/>
                    <a:p>
                      <a:pPr lvl="0" algn="ctr">
                        <a:buNone/>
                      </a:pPr>
                      <a:r>
                        <a:rPr lang="en-CA" sz="1100" b="0" i="0" u="none" strike="noStrike" kern="1200">
                          <a:solidFill>
                            <a:srgbClr val="000000"/>
                          </a:solidFill>
                          <a:effectLst/>
                          <a:latin typeface="Aptos"/>
                          <a:ea typeface="+mn-ea"/>
                          <a:cs typeface="+mn-cs"/>
                        </a:rPr>
                        <a:t>Child objects not tagged</a:t>
                      </a:r>
                    </a:p>
                  </a:txBody>
                  <a:tcP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solidFill>
                      <a:schemeClr val="bg1"/>
                    </a:solidFill>
                  </a:tcPr>
                </a:tc>
                <a:tc>
                  <a:txBody>
                    <a:bodyPr/>
                    <a:lstStyle/>
                    <a:p>
                      <a:pPr lvl="0" algn="ctr">
                        <a:buNone/>
                      </a:pPr>
                      <a:r>
                        <a:rPr lang="en-CA" sz="1100" b="0" i="0" u="none" strike="noStrike" kern="1200">
                          <a:solidFill>
                            <a:srgbClr val="000000"/>
                          </a:solidFill>
                          <a:effectLst/>
                          <a:latin typeface="Aptos Narrow"/>
                          <a:ea typeface="+mn-ea"/>
                          <a:cs typeface="+mn-cs"/>
                        </a:rPr>
                        <a:t>Improved cost tracking with multi-cloud tags</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925997139"/>
                  </a:ext>
                </a:extLst>
              </a:tr>
              <a:tr h="272841">
                <a:tc>
                  <a:txBody>
                    <a:bodyPr/>
                    <a:lstStyle/>
                    <a:p>
                      <a:pPr lvl="0" algn="ctr">
                        <a:buNone/>
                      </a:pPr>
                      <a:r>
                        <a:rPr lang="en-US" sz="1000" b="0" i="0" u="none" strike="noStrike" noProof="0" err="1">
                          <a:solidFill>
                            <a:srgbClr val="000000"/>
                          </a:solidFill>
                          <a:effectLst/>
                          <a:latin typeface="Aptos Narrow"/>
                        </a:rPr>
                        <a:t>Frontdoor</a:t>
                      </a:r>
                      <a:r>
                        <a:rPr lang="en-US" sz="1000" b="0" i="0" u="none" strike="noStrike" noProof="0">
                          <a:solidFill>
                            <a:srgbClr val="000000"/>
                          </a:solidFill>
                          <a:effectLst/>
                          <a:latin typeface="Aptos Narrow"/>
                        </a:rPr>
                        <a:t> Migration</a:t>
                      </a:r>
                      <a:endParaRPr lang="en-US" sz="1000"/>
                    </a:p>
                  </a:txBody>
                  <a:tcPr>
                    <a:lnL w="12700">
                      <a:solidFill>
                        <a:schemeClr val="tx1"/>
                      </a:solidFill>
                    </a:lnL>
                    <a:lnR w="12700">
                      <a:solidFill>
                        <a:schemeClr val="tx1"/>
                      </a:solidFill>
                    </a:lnR>
                    <a:lnB w="12700">
                      <a:solidFill>
                        <a:schemeClr val="tx1"/>
                      </a:solidFill>
                    </a:lnB>
                    <a:solidFill>
                      <a:schemeClr val="bg1"/>
                    </a:solidFill>
                  </a:tcPr>
                </a:tc>
                <a:tc>
                  <a:txBody>
                    <a:bodyPr/>
                    <a:lstStyle/>
                    <a:p>
                      <a:pPr lvl="0" algn="ctr">
                        <a:buNone/>
                      </a:pPr>
                      <a:r>
                        <a:rPr lang="en-CA" sz="1100" b="1" i="0" u="none" strike="noStrike" noProof="0">
                          <a:solidFill>
                            <a:srgbClr val="000000"/>
                          </a:solidFill>
                          <a:effectLst/>
                          <a:latin typeface="Aptos Narrow"/>
                        </a:rPr>
                        <a:t>Medium</a:t>
                      </a:r>
                      <a:endParaRPr lang="en-US"/>
                    </a:p>
                  </a:txBody>
                  <a:tcPr>
                    <a:lnL w="12700">
                      <a:solidFill>
                        <a:schemeClr val="tx1"/>
                      </a:solidFill>
                    </a:lnL>
                    <a:lnR w="12700">
                      <a:solidFill>
                        <a:schemeClr val="tx1"/>
                      </a:solidFill>
                    </a:lnR>
                    <a:lnB w="12700" cap="flat" cmpd="sng" algn="ctr">
                      <a:solidFill>
                        <a:schemeClr val="tx1"/>
                      </a:solidFill>
                      <a:prstDash val="solid"/>
                      <a:round/>
                      <a:headEnd type="none" w="med" len="med"/>
                      <a:tailEnd type="none" w="med" len="med"/>
                    </a:lnB>
                    <a:solidFill>
                      <a:srgbClr val="FFC000"/>
                    </a:solidFill>
                  </a:tcPr>
                </a:tc>
                <a:tc>
                  <a:txBody>
                    <a:bodyPr/>
                    <a:lstStyle/>
                    <a:p>
                      <a:pPr lvl="0" algn="ctr">
                        <a:buNone/>
                      </a:pPr>
                      <a:r>
                        <a:rPr lang="en-CA" sz="1100" b="0" i="0" u="none" strike="noStrike" kern="1200">
                          <a:solidFill>
                            <a:srgbClr val="000000"/>
                          </a:solidFill>
                          <a:effectLst/>
                          <a:latin typeface="Aptos"/>
                          <a:ea typeface="+mn-ea"/>
                          <a:cs typeface="+mn-cs"/>
                        </a:rPr>
                        <a:t>GCP reliance</a:t>
                      </a:r>
                    </a:p>
                  </a:txBody>
                  <a:tcPr>
                    <a:lnL w="12700">
                      <a:solidFill>
                        <a:schemeClr val="tx1"/>
                      </a:solidFill>
                    </a:lnL>
                    <a:lnR w="12700">
                      <a:solidFill>
                        <a:schemeClr val="tx1"/>
                      </a:solidFill>
                    </a:lnR>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CA" sz="1100" b="0" i="0" u="none" strike="noStrike" kern="1200">
                          <a:solidFill>
                            <a:srgbClr val="000000"/>
                          </a:solidFill>
                          <a:effectLst/>
                          <a:latin typeface="Aptos Narrow"/>
                          <a:ea typeface="+mn-ea"/>
                          <a:cs typeface="+mn-cs"/>
                        </a:rPr>
                        <a:t>Risk mitigation, Cost savings via SaaS migration</a:t>
                      </a:r>
                    </a:p>
                  </a:txBody>
                  <a:tcPr>
                    <a:lnL w="12700" cap="flat" cmpd="sng" algn="ctr">
                      <a:solidFill>
                        <a:schemeClr val="tx1"/>
                      </a:solidFill>
                      <a:prstDash val="solid"/>
                      <a:round/>
                      <a:headEnd type="none" w="med" len="med"/>
                      <a:tailEnd type="none" w="med" len="med"/>
                    </a:lnL>
                    <a:lnR w="12700">
                      <a:solidFill>
                        <a:schemeClr val="tx1"/>
                      </a:solidFill>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8221075"/>
                  </a:ext>
                </a:extLst>
              </a:tr>
              <a:tr h="272841">
                <a:tc>
                  <a:txBody>
                    <a:bodyPr/>
                    <a:lstStyle/>
                    <a:p>
                      <a:pPr lvl="0" algn="ctr">
                        <a:buNone/>
                      </a:pPr>
                      <a:r>
                        <a:rPr lang="en-US" sz="1000" b="0" i="0" u="none" strike="noStrike" noProof="0">
                          <a:solidFill>
                            <a:srgbClr val="000000"/>
                          </a:solidFill>
                          <a:effectLst/>
                          <a:latin typeface="Aptos Narrow"/>
                        </a:rPr>
                        <a:t>Self Service tooling</a:t>
                      </a:r>
                      <a:endParaRPr lang="en-US" sz="1000"/>
                    </a:p>
                  </a:txBody>
                  <a:tcPr>
                    <a:lnL w="12700">
                      <a:solidFill>
                        <a:schemeClr val="tx1"/>
                      </a:solidFill>
                    </a:lnL>
                    <a:lnR w="12700">
                      <a:solidFill>
                        <a:schemeClr val="tx1"/>
                      </a:solidFill>
                    </a:lnR>
                    <a:lnT w="12700">
                      <a:solidFill>
                        <a:schemeClr val="tx1"/>
                      </a:solidFill>
                    </a:lnT>
                    <a:solidFill>
                      <a:schemeClr val="bg1"/>
                    </a:solidFill>
                  </a:tcPr>
                </a:tc>
                <a:tc>
                  <a:txBody>
                    <a:bodyPr/>
                    <a:lstStyle/>
                    <a:p>
                      <a:pPr marL="0" lvl="0" algn="ctr" defTabSz="685800" rtl="0" eaLnBrk="1" latinLnBrk="0" hangingPunct="1">
                        <a:buNone/>
                      </a:pPr>
                      <a:r>
                        <a:rPr lang="en-CA" sz="1100" b="1" i="0" u="none" strike="noStrike" kern="1200" noProof="0">
                          <a:solidFill>
                            <a:srgbClr val="000000"/>
                          </a:solidFill>
                          <a:effectLst/>
                          <a:latin typeface="Aptos Narrow"/>
                          <a:ea typeface="+mn-ea"/>
                          <a:cs typeface="+mn-cs"/>
                        </a:rPr>
                        <a:t>Medium</a:t>
                      </a:r>
                      <a:endParaRPr lang="en-US" sz="1100" b="1" i="0" u="none" strike="noStrike" kern="1200">
                        <a:solidFill>
                          <a:srgbClr val="000000"/>
                        </a:solidFill>
                        <a:effectLst/>
                        <a:latin typeface="Aptos Narrow"/>
                        <a:ea typeface="+mn-ea"/>
                        <a:cs typeface="+mn-cs"/>
                      </a:endParaRPr>
                    </a:p>
                  </a:txBody>
                  <a:tcP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solidFill>
                      <a:srgbClr val="FFC000"/>
                    </a:solidFill>
                  </a:tcPr>
                </a:tc>
                <a:tc>
                  <a:txBody>
                    <a:bodyPr/>
                    <a:lstStyle/>
                    <a:p>
                      <a:pPr lvl="0" algn="ctr">
                        <a:buNone/>
                      </a:pPr>
                      <a:r>
                        <a:rPr lang="en-CA" sz="1100" b="0" i="0" u="none" strike="noStrike" kern="1200">
                          <a:solidFill>
                            <a:srgbClr val="000000"/>
                          </a:solidFill>
                          <a:effectLst/>
                          <a:latin typeface="Aptos"/>
                          <a:ea typeface="+mn-ea"/>
                          <a:cs typeface="+mn-cs"/>
                        </a:rPr>
                        <a:t>Lack of self-service for infra delivery</a:t>
                      </a:r>
                    </a:p>
                  </a:txBody>
                  <a:tcP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solidFill>
                      <a:schemeClr val="bg1"/>
                    </a:solidFill>
                  </a:tcPr>
                </a:tc>
                <a:tc>
                  <a:txBody>
                    <a:bodyPr/>
                    <a:lstStyle/>
                    <a:p>
                      <a:pPr lvl="0" algn="ctr">
                        <a:buNone/>
                      </a:pPr>
                      <a:r>
                        <a:rPr lang="en-CA" sz="1100" b="0" i="0" u="none" strike="noStrike" kern="1200">
                          <a:solidFill>
                            <a:srgbClr val="000000"/>
                          </a:solidFill>
                          <a:effectLst/>
                          <a:latin typeface="Aptos Narrow"/>
                          <a:ea typeface="+mn-ea"/>
                          <a:cs typeface="+mn-cs"/>
                        </a:rPr>
                        <a:t>Faster delivery with </a:t>
                      </a:r>
                      <a:r>
                        <a:rPr lang="en-CA" sz="1100" b="0" i="0" u="none" strike="noStrike" kern="1200" err="1">
                          <a:solidFill>
                            <a:srgbClr val="000000"/>
                          </a:solidFill>
                          <a:effectLst/>
                          <a:latin typeface="Aptos Narrow"/>
                          <a:ea typeface="+mn-ea"/>
                          <a:cs typeface="+mn-cs"/>
                        </a:rPr>
                        <a:t>IaC</a:t>
                      </a:r>
                      <a:r>
                        <a:rPr lang="en-CA" sz="1100" b="0" i="0" u="none" strike="noStrike" kern="1200">
                          <a:solidFill>
                            <a:srgbClr val="000000"/>
                          </a:solidFill>
                          <a:effectLst/>
                          <a:latin typeface="Aptos Narrow"/>
                          <a:ea typeface="+mn-ea"/>
                          <a:cs typeface="+mn-cs"/>
                        </a:rPr>
                        <a:t> tools</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885711268"/>
                  </a:ext>
                </a:extLst>
              </a:tr>
              <a:tr h="272841">
                <a:tc>
                  <a:txBody>
                    <a:bodyPr/>
                    <a:lstStyle/>
                    <a:p>
                      <a:pPr lvl="0" algn="ctr">
                        <a:buNone/>
                      </a:pPr>
                      <a:r>
                        <a:rPr lang="en-US" sz="1000" b="0" i="0" u="none" strike="noStrike" noProof="0">
                          <a:solidFill>
                            <a:srgbClr val="000000"/>
                          </a:solidFill>
                          <a:effectLst/>
                          <a:latin typeface="Aptos Narrow"/>
                        </a:rPr>
                        <a:t>Chaos Resiliency Testing</a:t>
                      </a:r>
                      <a:endParaRPr lang="en-US" sz="1000"/>
                    </a:p>
                  </a:txBody>
                  <a:tcPr>
                    <a:lnL w="12700">
                      <a:solidFill>
                        <a:schemeClr val="tx1"/>
                      </a:solidFill>
                    </a:lnL>
                    <a:lnR w="12700">
                      <a:solidFill>
                        <a:schemeClr val="tx1"/>
                      </a:solidFill>
                    </a:lnR>
                    <a:solidFill>
                      <a:schemeClr val="bg1"/>
                    </a:solidFill>
                  </a:tcPr>
                </a:tc>
                <a:tc>
                  <a:txBody>
                    <a:bodyPr/>
                    <a:lstStyle/>
                    <a:p>
                      <a:pPr marL="0" lvl="0" algn="ctr" defTabSz="685800" rtl="0" eaLnBrk="1" latinLnBrk="0" hangingPunct="1">
                        <a:buNone/>
                      </a:pPr>
                      <a:r>
                        <a:rPr lang="en-CA" sz="1100" b="1" i="0" u="none" strike="noStrike" kern="1200" noProof="0">
                          <a:solidFill>
                            <a:srgbClr val="000000"/>
                          </a:solidFill>
                          <a:effectLst/>
                          <a:latin typeface="Aptos Narrow"/>
                          <a:ea typeface="+mn-ea"/>
                          <a:cs typeface="+mn-cs"/>
                        </a:rPr>
                        <a:t>Medium</a:t>
                      </a:r>
                      <a:endParaRPr lang="en-US" sz="1100" b="1" i="0" u="none" strike="noStrike" kern="1200">
                        <a:solidFill>
                          <a:srgbClr val="000000"/>
                        </a:solidFill>
                        <a:effectLst/>
                        <a:latin typeface="Aptos Narrow"/>
                        <a:ea typeface="+mn-ea"/>
                        <a:cs typeface="+mn-cs"/>
                      </a:endParaRPr>
                    </a:p>
                  </a:txBody>
                  <a:tcPr>
                    <a:lnL w="12700">
                      <a:solidFill>
                        <a:schemeClr val="tx1"/>
                      </a:solidFill>
                    </a:lnL>
                    <a:lnR w="12700">
                      <a:solidFill>
                        <a:schemeClr val="tx1"/>
                      </a:solidFill>
                    </a:lnR>
                    <a:solidFill>
                      <a:srgbClr val="FFC000"/>
                    </a:solidFill>
                  </a:tcPr>
                </a:tc>
                <a:tc>
                  <a:txBody>
                    <a:bodyPr/>
                    <a:lstStyle/>
                    <a:p>
                      <a:pPr lvl="0" algn="ctr">
                        <a:buNone/>
                      </a:pPr>
                      <a:r>
                        <a:rPr lang="en-CA" sz="1100" b="0" i="0" u="none" strike="noStrike" kern="1200">
                          <a:solidFill>
                            <a:srgbClr val="000000"/>
                          </a:solidFill>
                          <a:effectLst/>
                          <a:latin typeface="Aptos"/>
                          <a:ea typeface="+mn-ea"/>
                          <a:cs typeface="+mn-cs"/>
                        </a:rPr>
                        <a:t>No testing for resilience</a:t>
                      </a:r>
                    </a:p>
                  </a:txBody>
                  <a:tcPr>
                    <a:lnL w="12700">
                      <a:solidFill>
                        <a:schemeClr val="tx1"/>
                      </a:solidFill>
                    </a:lnL>
                    <a:lnR w="12700">
                      <a:solidFill>
                        <a:schemeClr val="tx1"/>
                      </a:solidFill>
                    </a:lnR>
                    <a:solidFill>
                      <a:schemeClr val="bg1"/>
                    </a:solidFill>
                  </a:tcPr>
                </a:tc>
                <a:tc>
                  <a:txBody>
                    <a:bodyPr/>
                    <a:lstStyle/>
                    <a:p>
                      <a:pPr lvl="0" algn="ctr">
                        <a:buNone/>
                      </a:pPr>
                      <a:r>
                        <a:rPr lang="en-CA" sz="1100" b="0" i="0" u="none" strike="noStrike" kern="1200">
                          <a:solidFill>
                            <a:srgbClr val="000000"/>
                          </a:solidFill>
                          <a:effectLst/>
                          <a:latin typeface="Aptos Narrow"/>
                          <a:ea typeface="+mn-ea"/>
                          <a:cs typeface="+mn-cs"/>
                        </a:rPr>
                        <a:t>Resilience/availability</a:t>
                      </a:r>
                    </a:p>
                  </a:txBody>
                  <a:tcPr>
                    <a:lnL w="12700" cap="flat" cmpd="sng" algn="ctr">
                      <a:solidFill>
                        <a:schemeClr val="tx1"/>
                      </a:solidFill>
                      <a:prstDash val="solid"/>
                      <a:round/>
                      <a:headEnd type="none" w="med" len="med"/>
                      <a:tailEnd type="none" w="med" len="med"/>
                    </a:lnL>
                    <a:lnR w="12700">
                      <a:solidFill>
                        <a:schemeClr val="tx1"/>
                      </a:solidFill>
                    </a:lnR>
                    <a:solidFill>
                      <a:schemeClr val="bg1"/>
                    </a:solidFill>
                  </a:tcPr>
                </a:tc>
                <a:extLst>
                  <a:ext uri="{0D108BD9-81ED-4DB2-BD59-A6C34878D82A}">
                    <a16:rowId xmlns:a16="http://schemas.microsoft.com/office/drawing/2014/main" val="1771240417"/>
                  </a:ext>
                </a:extLst>
              </a:tr>
              <a:tr h="272841">
                <a:tc>
                  <a:txBody>
                    <a:bodyPr/>
                    <a:lstStyle/>
                    <a:p>
                      <a:pPr lvl="0" algn="ctr">
                        <a:buNone/>
                      </a:pPr>
                      <a:r>
                        <a:rPr lang="en-US" sz="1000" b="0" i="0" u="none" strike="noStrike" noProof="0">
                          <a:solidFill>
                            <a:srgbClr val="000000"/>
                          </a:solidFill>
                          <a:effectLst/>
                          <a:latin typeface="Aptos Narrow"/>
                        </a:rPr>
                        <a:t>Proactive/Self Recovery</a:t>
                      </a:r>
                      <a:endParaRPr lang="en-US" sz="1000"/>
                    </a:p>
                  </a:txBody>
                  <a:tcPr>
                    <a:lnL w="12700">
                      <a:solidFill>
                        <a:schemeClr val="tx1"/>
                      </a:solidFill>
                    </a:lnL>
                    <a:lnR w="12700">
                      <a:solidFill>
                        <a:schemeClr val="tx1"/>
                      </a:solidFill>
                    </a:lnR>
                    <a:lnB w="12700">
                      <a:solidFill>
                        <a:schemeClr val="tx1"/>
                      </a:solidFill>
                    </a:lnB>
                    <a:solidFill>
                      <a:schemeClr val="bg1"/>
                    </a:solidFill>
                  </a:tcPr>
                </a:tc>
                <a:tc>
                  <a:txBody>
                    <a:bodyPr/>
                    <a:lstStyle/>
                    <a:p>
                      <a:pPr lvl="0" algn="ctr">
                        <a:buNone/>
                      </a:pPr>
                      <a:r>
                        <a:rPr lang="en-CA" sz="1100" b="1" i="0" u="none" strike="noStrike" kern="1200" noProof="0">
                          <a:solidFill>
                            <a:srgbClr val="000000"/>
                          </a:solidFill>
                          <a:effectLst/>
                          <a:latin typeface="Aptos Narrow"/>
                          <a:ea typeface="+mn-ea"/>
                          <a:cs typeface="+mn-cs"/>
                        </a:rPr>
                        <a:t>Low</a:t>
                      </a:r>
                      <a:endParaRPr lang="en-US" sz="1100" b="1" i="0" u="none" strike="noStrike" kern="1200">
                        <a:solidFill>
                          <a:srgbClr val="000000"/>
                        </a:solidFill>
                        <a:effectLst/>
                        <a:latin typeface="Aptos Narrow"/>
                        <a:ea typeface="+mn-ea"/>
                        <a:cs typeface="+mn-cs"/>
                      </a:endParaRPr>
                    </a:p>
                  </a:txBody>
                  <a:tcPr>
                    <a:lnL w="12700">
                      <a:solidFill>
                        <a:schemeClr val="tx1"/>
                      </a:solidFill>
                    </a:lnL>
                    <a:lnR w="12700">
                      <a:solidFill>
                        <a:schemeClr val="tx1"/>
                      </a:solidFill>
                    </a:lnR>
                    <a:lnB w="12700">
                      <a:solidFill>
                        <a:schemeClr val="tx1"/>
                      </a:solidFill>
                    </a:lnB>
                    <a:solidFill>
                      <a:srgbClr val="00B050"/>
                    </a:solidFill>
                  </a:tcPr>
                </a:tc>
                <a:tc>
                  <a:txBody>
                    <a:bodyPr/>
                    <a:lstStyle/>
                    <a:p>
                      <a:pPr lvl="0" algn="ctr">
                        <a:buNone/>
                      </a:pPr>
                      <a:r>
                        <a:rPr lang="en-CA" sz="1100" b="0" i="0" u="none" strike="noStrike" kern="1200">
                          <a:solidFill>
                            <a:srgbClr val="000000"/>
                          </a:solidFill>
                          <a:effectLst/>
                          <a:latin typeface="Aptos"/>
                          <a:ea typeface="+mn-ea"/>
                          <a:cs typeface="+mn-cs"/>
                        </a:rPr>
                        <a:t>Slow recovery from outages</a:t>
                      </a:r>
                    </a:p>
                  </a:txBody>
                  <a:tcPr>
                    <a:lnL w="12700">
                      <a:solidFill>
                        <a:schemeClr val="tx1"/>
                      </a:solidFill>
                    </a:lnL>
                    <a:lnR w="12700">
                      <a:solidFill>
                        <a:schemeClr val="tx1"/>
                      </a:solidFill>
                    </a:lnR>
                    <a:lnB w="12700">
                      <a:solidFill>
                        <a:schemeClr val="tx1"/>
                      </a:solidFill>
                    </a:lnB>
                    <a:solidFill>
                      <a:schemeClr val="bg1"/>
                    </a:solidFill>
                  </a:tcPr>
                </a:tc>
                <a:tc>
                  <a:txBody>
                    <a:bodyPr/>
                    <a:lstStyle/>
                    <a:p>
                      <a:pPr lvl="0" algn="ctr">
                        <a:buNone/>
                      </a:pPr>
                      <a:r>
                        <a:rPr lang="en-CA" sz="1100" b="0" i="0" u="none" strike="noStrike" kern="1200">
                          <a:solidFill>
                            <a:srgbClr val="000000"/>
                          </a:solidFill>
                          <a:effectLst/>
                          <a:latin typeface="Aptos Narrow"/>
                          <a:ea typeface="+mn-ea"/>
                          <a:cs typeface="+mn-cs"/>
                        </a:rPr>
                        <a:t>Reduced downtime with self healing</a:t>
                      </a:r>
                    </a:p>
                  </a:txBody>
                  <a:tcPr>
                    <a:lnL w="12700" cap="flat" cmpd="sng" algn="ctr">
                      <a:solidFill>
                        <a:schemeClr val="tx1"/>
                      </a:solidFill>
                      <a:prstDash val="solid"/>
                      <a:round/>
                      <a:headEnd type="none" w="med" len="med"/>
                      <a:tailEnd type="none" w="med" len="med"/>
                    </a:lnL>
                    <a:lnR w="12700">
                      <a:solidFill>
                        <a:schemeClr val="tx1"/>
                      </a:solidFill>
                    </a:lnR>
                    <a:lnB w="12700">
                      <a:solidFill>
                        <a:schemeClr val="tx1"/>
                      </a:solidFill>
                    </a:lnB>
                    <a:solidFill>
                      <a:schemeClr val="bg1"/>
                    </a:solidFill>
                  </a:tcPr>
                </a:tc>
                <a:extLst>
                  <a:ext uri="{0D108BD9-81ED-4DB2-BD59-A6C34878D82A}">
                    <a16:rowId xmlns:a16="http://schemas.microsoft.com/office/drawing/2014/main" val="1024475618"/>
                  </a:ext>
                </a:extLst>
              </a:tr>
            </a:tbl>
          </a:graphicData>
        </a:graphic>
      </p:graphicFrame>
      <p:graphicFrame>
        <p:nvGraphicFramePr>
          <p:cNvPr id="7" name="Table 6">
            <a:extLst>
              <a:ext uri="{FF2B5EF4-FFF2-40B4-BE49-F238E27FC236}">
                <a16:creationId xmlns:a16="http://schemas.microsoft.com/office/drawing/2014/main" id="{0A3C3511-1E2D-1E5B-A7B9-B92D571C4591}"/>
              </a:ext>
            </a:extLst>
          </p:cNvPr>
          <p:cNvGraphicFramePr>
            <a:graphicFrameLocks noGrp="1"/>
          </p:cNvGraphicFramePr>
          <p:nvPr>
            <p:extLst>
              <p:ext uri="{D42A27DB-BD31-4B8C-83A1-F6EECF244321}">
                <p14:modId xmlns:p14="http://schemas.microsoft.com/office/powerpoint/2010/main" val="1624809755"/>
              </p:ext>
            </p:extLst>
          </p:nvPr>
        </p:nvGraphicFramePr>
        <p:xfrm>
          <a:off x="408608" y="1148522"/>
          <a:ext cx="1390918" cy="4644603"/>
        </p:xfrm>
        <a:graphic>
          <a:graphicData uri="http://schemas.openxmlformats.org/drawingml/2006/table">
            <a:tbl>
              <a:tblPr firstRow="1" bandRow="1">
                <a:tableStyleId>{5C22544A-7EE6-4342-B048-85BDC9FD1C3A}</a:tableStyleId>
              </a:tblPr>
              <a:tblGrid>
                <a:gridCol w="1390918">
                  <a:extLst>
                    <a:ext uri="{9D8B030D-6E8A-4147-A177-3AD203B41FA5}">
                      <a16:colId xmlns:a16="http://schemas.microsoft.com/office/drawing/2014/main" val="1919377309"/>
                    </a:ext>
                  </a:extLst>
                </a:gridCol>
              </a:tblGrid>
              <a:tr h="263873">
                <a:tc>
                  <a:txBody>
                    <a:bodyPr/>
                    <a:lstStyle/>
                    <a:p>
                      <a:pPr lvl="0" algn="ctr">
                        <a:buNone/>
                      </a:pPr>
                      <a:r>
                        <a:rPr lang="en-CA" sz="1100" b="1" i="0" u="none" strike="noStrike">
                          <a:solidFill>
                            <a:schemeClr val="bg1"/>
                          </a:solidFill>
                          <a:effectLst/>
                          <a:latin typeface="Aptos Narrow"/>
                        </a:rPr>
                        <a:t>Domain</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rgbClr val="BA0C2F"/>
                    </a:solidFill>
                  </a:tcPr>
                </a:tc>
                <a:extLst>
                  <a:ext uri="{0D108BD9-81ED-4DB2-BD59-A6C34878D82A}">
                    <a16:rowId xmlns:a16="http://schemas.microsoft.com/office/drawing/2014/main" val="3429149584"/>
                  </a:ext>
                </a:extLst>
              </a:tr>
              <a:tr h="818444">
                <a:tc>
                  <a:txBody>
                    <a:bodyPr/>
                    <a:lstStyle/>
                    <a:p>
                      <a:pPr lvl="0" algn="ctr">
                        <a:buNone/>
                      </a:pPr>
                      <a:r>
                        <a:rPr lang="en-US" sz="1200" b="1" i="0" u="none" strike="noStrike" noProof="0">
                          <a:solidFill>
                            <a:srgbClr val="000000"/>
                          </a:solidFill>
                          <a:latin typeface="Arial"/>
                        </a:rPr>
                        <a:t>Foundation</a:t>
                      </a:r>
                      <a:endParaRPr lang="en-US" sz="1200" b="1">
                        <a:solidFill>
                          <a:srgbClr val="000000"/>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2"/>
                    </a:solidFill>
                  </a:tcPr>
                </a:tc>
                <a:extLst>
                  <a:ext uri="{0D108BD9-81ED-4DB2-BD59-A6C34878D82A}">
                    <a16:rowId xmlns:a16="http://schemas.microsoft.com/office/drawing/2014/main" val="3841504021"/>
                  </a:ext>
                </a:extLst>
              </a:tr>
              <a:tr h="820938">
                <a:tc>
                  <a:txBody>
                    <a:bodyPr/>
                    <a:lstStyle/>
                    <a:p>
                      <a:pPr lvl="0" algn="ctr">
                        <a:buNone/>
                      </a:pPr>
                      <a:r>
                        <a:rPr lang="en-US" sz="1200" b="1" i="0" u="none" strike="noStrike" kern="1200" noProof="0">
                          <a:solidFill>
                            <a:srgbClr val="000000"/>
                          </a:solidFill>
                          <a:latin typeface="Arial"/>
                          <a:ea typeface="+mn-ea"/>
                          <a:cs typeface="+mn-cs"/>
                        </a:rPr>
                        <a:t>Security</a:t>
                      </a:r>
                      <a:endParaRPr lang="en-US" sz="1200" b="1" i="0" u="none" strike="noStrike" kern="1200">
                        <a:solidFill>
                          <a:srgbClr val="000000"/>
                        </a:solidFill>
                        <a:latin typeface="Arial"/>
                        <a:ea typeface="+mn-ea"/>
                        <a:cs typeface="+mn-cs"/>
                      </a:endParaRP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bg2"/>
                    </a:solidFill>
                  </a:tcPr>
                </a:tc>
                <a:extLst>
                  <a:ext uri="{0D108BD9-81ED-4DB2-BD59-A6C34878D82A}">
                    <a16:rowId xmlns:a16="http://schemas.microsoft.com/office/drawing/2014/main" val="3421895046"/>
                  </a:ext>
                </a:extLst>
              </a:tr>
              <a:tr h="527746">
                <a:tc>
                  <a:txBody>
                    <a:bodyPr/>
                    <a:lstStyle/>
                    <a:p>
                      <a:pPr lvl="0" algn="ctr">
                        <a:buNone/>
                      </a:pPr>
                      <a:r>
                        <a:rPr lang="en-US" sz="1200" b="1" i="0" u="none" strike="noStrike" kern="1200" noProof="0">
                          <a:solidFill>
                            <a:srgbClr val="000000"/>
                          </a:solidFill>
                          <a:latin typeface="Arial"/>
                          <a:ea typeface="+mn-ea"/>
                          <a:cs typeface="+mn-cs"/>
                        </a:rPr>
                        <a:t>Governance</a:t>
                      </a:r>
                      <a:endParaRPr lang="en-US" sz="1200" b="1" i="0" u="none" strike="noStrike" kern="1200">
                        <a:solidFill>
                          <a:srgbClr val="000000"/>
                        </a:solidFill>
                        <a:latin typeface="Arial"/>
                        <a:ea typeface="+mn-ea"/>
                        <a:cs typeface="+mn-c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2"/>
                    </a:solidFill>
                  </a:tcPr>
                </a:tc>
                <a:extLst>
                  <a:ext uri="{0D108BD9-81ED-4DB2-BD59-A6C34878D82A}">
                    <a16:rowId xmlns:a16="http://schemas.microsoft.com/office/drawing/2014/main" val="1170847590"/>
                  </a:ext>
                </a:extLst>
              </a:tr>
              <a:tr h="850258">
                <a:tc>
                  <a:txBody>
                    <a:bodyPr/>
                    <a:lstStyle/>
                    <a:p>
                      <a:pPr lvl="0" algn="ctr">
                        <a:lnSpc>
                          <a:spcPct val="100000"/>
                        </a:lnSpc>
                        <a:spcBef>
                          <a:spcPts val="0"/>
                        </a:spcBef>
                        <a:spcAft>
                          <a:spcPts val="0"/>
                        </a:spcAft>
                        <a:buNone/>
                      </a:pPr>
                      <a:r>
                        <a:rPr lang="en-US" sz="1200" b="1" i="0" u="none" strike="noStrike" kern="1200" noProof="0">
                          <a:solidFill>
                            <a:srgbClr val="000000"/>
                          </a:solidFill>
                          <a:latin typeface="Arial"/>
                        </a:rPr>
                        <a:t>Platform &amp; Services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2"/>
                    </a:solidFill>
                  </a:tcPr>
                </a:tc>
                <a:extLst>
                  <a:ext uri="{0D108BD9-81ED-4DB2-BD59-A6C34878D82A}">
                    <a16:rowId xmlns:a16="http://schemas.microsoft.com/office/drawing/2014/main" val="3651783015"/>
                  </a:ext>
                </a:extLst>
              </a:tr>
              <a:tr h="571725">
                <a:tc>
                  <a:txBody>
                    <a:bodyPr/>
                    <a:lstStyle/>
                    <a:p>
                      <a:pPr lvl="0" algn="ctr">
                        <a:lnSpc>
                          <a:spcPct val="100000"/>
                        </a:lnSpc>
                        <a:spcBef>
                          <a:spcPts val="0"/>
                        </a:spcBef>
                        <a:spcAft>
                          <a:spcPts val="0"/>
                        </a:spcAft>
                        <a:buNone/>
                      </a:pPr>
                      <a:r>
                        <a:rPr lang="en-US" sz="1200" b="1" i="0" u="none" strike="noStrike" kern="1200" noProof="0">
                          <a:solidFill>
                            <a:srgbClr val="000000"/>
                          </a:solidFill>
                          <a:latin typeface="Arial"/>
                          <a:ea typeface="+mn-ea"/>
                          <a:cs typeface="+mn-cs"/>
                        </a:rPr>
                        <a:t>Cost &amp; Optimization</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2"/>
                    </a:solidFill>
                  </a:tcPr>
                </a:tc>
                <a:extLst>
                  <a:ext uri="{0D108BD9-81ED-4DB2-BD59-A6C34878D82A}">
                    <a16:rowId xmlns:a16="http://schemas.microsoft.com/office/drawing/2014/main" val="3079158298"/>
                  </a:ext>
                </a:extLst>
              </a:tr>
              <a:tr h="791619">
                <a:tc>
                  <a:txBody>
                    <a:bodyPr/>
                    <a:lstStyle/>
                    <a:p>
                      <a:pPr lvl="0" algn="ctr">
                        <a:buNone/>
                      </a:pPr>
                      <a:r>
                        <a:rPr lang="en-US" sz="1200" b="1" i="0" u="none" strike="noStrike" kern="1200" noProof="0">
                          <a:solidFill>
                            <a:srgbClr val="000000"/>
                          </a:solidFill>
                          <a:latin typeface="Arial"/>
                          <a:ea typeface="+mn-ea"/>
                          <a:cs typeface="+mn-cs"/>
                        </a:rPr>
                        <a:t>Automation</a:t>
                      </a:r>
                      <a:endParaRPr lang="en-US" sz="1200" b="1" i="0" u="none" strike="noStrike" kern="1200">
                        <a:solidFill>
                          <a:srgbClr val="000000"/>
                        </a:solidFill>
                        <a:latin typeface="Arial"/>
                        <a:ea typeface="+mn-ea"/>
                        <a:cs typeface="+mn-c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2"/>
                    </a:solidFill>
                  </a:tcPr>
                </a:tc>
                <a:extLst>
                  <a:ext uri="{0D108BD9-81ED-4DB2-BD59-A6C34878D82A}">
                    <a16:rowId xmlns:a16="http://schemas.microsoft.com/office/drawing/2014/main" val="1976482940"/>
                  </a:ext>
                </a:extLst>
              </a:tr>
            </a:tbl>
          </a:graphicData>
        </a:graphic>
      </p:graphicFrame>
      <p:sp>
        <p:nvSpPr>
          <p:cNvPr id="2" name="TextBox 1">
            <a:extLst>
              <a:ext uri="{FF2B5EF4-FFF2-40B4-BE49-F238E27FC236}">
                <a16:creationId xmlns:a16="http://schemas.microsoft.com/office/drawing/2014/main" id="{90D3D146-4536-CC75-FF8C-7C2898815054}"/>
              </a:ext>
            </a:extLst>
          </p:cNvPr>
          <p:cNvSpPr txBox="1"/>
          <p:nvPr/>
        </p:nvSpPr>
        <p:spPr>
          <a:xfrm>
            <a:off x="353391" y="568739"/>
            <a:ext cx="6096000" cy="553998"/>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CA" sz="2400" baseline="0">
                <a:solidFill>
                  <a:srgbClr val="BA0C2F"/>
                </a:solidFill>
                <a:latin typeface="Arial"/>
              </a:rPr>
              <a:t>Roadmap Priorities &amp; Pain Points</a:t>
            </a:r>
            <a:r>
              <a:rPr lang="en-CA" sz="2400">
                <a:solidFill>
                  <a:srgbClr val="BA0C2F"/>
                </a:solidFill>
                <a:latin typeface="Arial"/>
              </a:rPr>
              <a:t> Summary</a:t>
            </a:r>
            <a:endParaRPr lang="en-US"/>
          </a:p>
          <a:p>
            <a:pPr marL="228600" indent="-228600" algn="l">
              <a:spcAft>
                <a:spcPts val="500"/>
              </a:spcAft>
              <a:buFont typeface="Arial" panose="020B0604020202020204" pitchFamily="34" charset="0"/>
              <a:buChar char="•"/>
            </a:pPr>
            <a:endParaRPr lang="en-US" sz="1200"/>
          </a:p>
        </p:txBody>
      </p:sp>
      <p:sp>
        <p:nvSpPr>
          <p:cNvPr id="5" name="TextBox 4">
            <a:extLst>
              <a:ext uri="{FF2B5EF4-FFF2-40B4-BE49-F238E27FC236}">
                <a16:creationId xmlns:a16="http://schemas.microsoft.com/office/drawing/2014/main" id="{21DC081D-F0DF-DF72-6120-4BA52C1B3DA7}"/>
              </a:ext>
            </a:extLst>
          </p:cNvPr>
          <p:cNvSpPr txBox="1"/>
          <p:nvPr/>
        </p:nvSpPr>
        <p:spPr>
          <a:xfrm>
            <a:off x="385541" y="5940197"/>
            <a:ext cx="5040600" cy="184666"/>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200">
                <a:cs typeface="Arial"/>
              </a:rPr>
              <a:t>* Detailed priority objectives in next slides</a:t>
            </a:r>
          </a:p>
        </p:txBody>
      </p:sp>
    </p:spTree>
    <p:extLst>
      <p:ext uri="{BB962C8B-B14F-4D97-AF65-F5344CB8AC3E}">
        <p14:creationId xmlns:p14="http://schemas.microsoft.com/office/powerpoint/2010/main" val="42399517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67FA9B1-17DD-2FA1-1801-144356CA68CD}"/>
              </a:ext>
            </a:extLst>
          </p:cNvPr>
          <p:cNvSpPr>
            <a:spLocks noGrp="1"/>
          </p:cNvSpPr>
          <p:nvPr>
            <p:ph type="ftr" sz="quarter" idx="11"/>
          </p:nvPr>
        </p:nvSpPr>
        <p:spPr/>
        <p:txBody>
          <a:bodyPr/>
          <a:lstStyle/>
          <a:p>
            <a:r>
              <a:rPr lang="en-CA"/>
              <a:t>CONFIDENTIAL</a:t>
            </a:r>
          </a:p>
        </p:txBody>
      </p:sp>
      <p:sp>
        <p:nvSpPr>
          <p:cNvPr id="5" name="Date Placeholder 4">
            <a:extLst>
              <a:ext uri="{FF2B5EF4-FFF2-40B4-BE49-F238E27FC236}">
                <a16:creationId xmlns:a16="http://schemas.microsoft.com/office/drawing/2014/main" id="{93582173-F0A5-111B-10C2-482989EB928D}"/>
              </a:ext>
            </a:extLst>
          </p:cNvPr>
          <p:cNvSpPr>
            <a:spLocks noGrp="1"/>
          </p:cNvSpPr>
          <p:nvPr>
            <p:ph type="dt" sz="half" idx="13"/>
          </p:nvPr>
        </p:nvSpPr>
        <p:spPr/>
        <p:txBody>
          <a:bodyPr/>
          <a:lstStyle/>
          <a:p>
            <a:fld id="{DFC179E5-4269-44D4-A984-C57F7029D15D}" type="datetime1">
              <a:rPr lang="en-US" smtClean="0"/>
              <a:t>7/31/2026</a:t>
            </a:fld>
            <a:endParaRPr lang="en-CA"/>
          </a:p>
        </p:txBody>
      </p:sp>
      <p:sp>
        <p:nvSpPr>
          <p:cNvPr id="7" name="TextBox 19">
            <a:extLst>
              <a:ext uri="{FF2B5EF4-FFF2-40B4-BE49-F238E27FC236}">
                <a16:creationId xmlns:a16="http://schemas.microsoft.com/office/drawing/2014/main" id="{02553730-4828-63A0-E1AE-85D3B1B48CE8}"/>
              </a:ext>
            </a:extLst>
          </p:cNvPr>
          <p:cNvSpPr txBox="1">
            <a:spLocks/>
          </p:cNvSpPr>
          <p:nvPr/>
        </p:nvSpPr>
        <p:spPr>
          <a:xfrm>
            <a:off x="384048" y="1535485"/>
            <a:ext cx="997077" cy="4241572"/>
          </a:xfrm>
          <a:prstGeom prst="rect">
            <a:avLst/>
          </a:prstGeom>
          <a:solidFill>
            <a:schemeClr val="bg1">
              <a:lumMod val="95000"/>
            </a:schemeClr>
          </a:solidFill>
        </p:spPr>
        <p:txBody>
          <a:bodyPr vert="horz" wrap="square" lIns="45720" tIns="27432" rIns="45720" bIns="45720" rtlCol="0" anchor="t" anchorCtr="0">
            <a:no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defTabSz="914381">
              <a:spcBef>
                <a:spcPts val="0"/>
              </a:spcBef>
              <a:spcAft>
                <a:spcPts val="0"/>
              </a:spcAft>
              <a:buClr>
                <a:srgbClr val="515349"/>
              </a:buClr>
              <a:buNone/>
              <a:defRPr/>
            </a:pPr>
            <a:r>
              <a:rPr lang="en-US" sz="1000" b="1">
                <a:solidFill>
                  <a:srgbClr val="BA0C2F"/>
                </a:solidFill>
                <a:latin typeface="Arial"/>
                <a:cs typeface="Arial"/>
              </a:rPr>
              <a:t>Cloud Foundations</a:t>
            </a:r>
            <a:r>
              <a:rPr kumimoji="0" lang="en-US" sz="1000" b="1" i="0" u="none" strike="noStrike" kern="1200" cap="none" spc="0" normalizeH="0" baseline="0" noProof="0">
                <a:ln>
                  <a:noFill/>
                </a:ln>
                <a:solidFill>
                  <a:srgbClr val="BA0C2F"/>
                </a:solidFill>
                <a:effectLst/>
                <a:uLnTx/>
                <a:uFillTx/>
                <a:latin typeface="Arial"/>
                <a:ea typeface="+mn-ea"/>
                <a:cs typeface="Arial"/>
              </a:rPr>
              <a:t> </a:t>
            </a:r>
            <a:r>
              <a:rPr lang="en-US" sz="1000" b="1">
                <a:solidFill>
                  <a:srgbClr val="BA0C2F"/>
                </a:solidFill>
                <a:latin typeface="Arial"/>
                <a:cs typeface="Arial"/>
              </a:rPr>
              <a:t>I&amp;O </a:t>
            </a:r>
            <a:r>
              <a:rPr kumimoji="0" lang="en-US" sz="1000" b="1" i="0" u="none" strike="noStrike" kern="1200" cap="none" spc="0" normalizeH="0" baseline="0" noProof="0">
                <a:ln>
                  <a:noFill/>
                </a:ln>
                <a:solidFill>
                  <a:srgbClr val="BA0C2F"/>
                </a:solidFill>
                <a:effectLst/>
                <a:uLnTx/>
                <a:uFillTx/>
                <a:latin typeface="Arial"/>
                <a:ea typeface="+mn-ea"/>
                <a:cs typeface="Arial"/>
              </a:rPr>
              <a:t>Specific</a:t>
            </a:r>
            <a:endParaRPr kumimoji="0" lang="vi-VN" sz="1000" b="1" i="0" u="none" strike="noStrike" kern="1200" cap="none" spc="0" normalizeH="0" baseline="0" noProof="0">
              <a:ln>
                <a:noFill/>
              </a:ln>
              <a:solidFill>
                <a:srgbClr val="BA0C2F"/>
              </a:solidFill>
              <a:effectLst/>
              <a:uLnTx/>
              <a:uFillTx/>
              <a:latin typeface="Arial"/>
              <a:ea typeface="+mn-ea"/>
              <a:cs typeface="Arial"/>
            </a:endParaRPr>
          </a:p>
        </p:txBody>
      </p:sp>
      <p:grpSp>
        <p:nvGrpSpPr>
          <p:cNvPr id="14" name="Group 13">
            <a:extLst>
              <a:ext uri="{FF2B5EF4-FFF2-40B4-BE49-F238E27FC236}">
                <a16:creationId xmlns:a16="http://schemas.microsoft.com/office/drawing/2014/main" id="{339BCE3A-94B5-D3CC-6679-00676C64F8AD}"/>
              </a:ext>
            </a:extLst>
          </p:cNvPr>
          <p:cNvGrpSpPr/>
          <p:nvPr/>
        </p:nvGrpSpPr>
        <p:grpSpPr>
          <a:xfrm>
            <a:off x="416422" y="1294209"/>
            <a:ext cx="997077" cy="199302"/>
            <a:chOff x="384049" y="1294209"/>
            <a:chExt cx="997077" cy="199302"/>
          </a:xfrm>
        </p:grpSpPr>
        <p:cxnSp>
          <p:nvCxnSpPr>
            <p:cNvPr id="77" name="Straight Connector 76">
              <a:extLst>
                <a:ext uri="{FF2B5EF4-FFF2-40B4-BE49-F238E27FC236}">
                  <a16:creationId xmlns:a16="http://schemas.microsoft.com/office/drawing/2014/main" id="{5BB6528A-168C-E5A8-F6BD-DF12F2ED8185}"/>
                </a:ext>
              </a:extLst>
            </p:cNvPr>
            <p:cNvCxnSpPr>
              <a:cxnSpLocks/>
            </p:cNvCxnSpPr>
            <p:nvPr/>
          </p:nvCxnSpPr>
          <p:spPr>
            <a:xfrm>
              <a:off x="384049" y="1493511"/>
              <a:ext cx="997077" cy="0"/>
            </a:xfrm>
            <a:prstGeom prst="line">
              <a:avLst/>
            </a:prstGeom>
            <a:ln w="6350" cap="flat">
              <a:solidFill>
                <a:srgbClr val="C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8" name="TextBox 39">
              <a:extLst>
                <a:ext uri="{FF2B5EF4-FFF2-40B4-BE49-F238E27FC236}">
                  <a16:creationId xmlns:a16="http://schemas.microsoft.com/office/drawing/2014/main" id="{E6CF3244-638D-CA4D-0C93-10233CBD8D25}"/>
                </a:ext>
              </a:extLst>
            </p:cNvPr>
            <p:cNvSpPr txBox="1"/>
            <p:nvPr/>
          </p:nvSpPr>
          <p:spPr>
            <a:xfrm>
              <a:off x="384049" y="1294209"/>
              <a:ext cx="997077" cy="153888"/>
            </a:xfrm>
            <a:prstGeom prst="rect">
              <a:avLst/>
            </a:prstGeom>
          </p:spPr>
          <p:txBody>
            <a:bodyPr vert="horz" wrap="square" lIns="0" tIns="0" rIns="0" bIns="0" rtlCol="0" anchor="b">
              <a:spAutoFit/>
            </a:bodyPr>
            <a:lstStyle>
              <a:defPPr>
                <a:defRPr lang="en-US"/>
              </a:defPPr>
              <a:lvl1pPr marL="0" lvl="0" indent="0" algn="l" defTabSz="992490" rtl="0" eaLnBrk="1" latinLnBrk="0" hangingPunct="1">
                <a:lnSpc>
                  <a:spcPct val="100000"/>
                </a:lnSpc>
                <a:spcBef>
                  <a:spcPts val="326"/>
                </a:spcBef>
                <a:spcAft>
                  <a:spcPts val="326"/>
                </a:spcAft>
                <a:buClr>
                  <a:schemeClr val="tx1"/>
                </a:buClr>
                <a:buSzPct val="100000"/>
                <a:buFont typeface="Segoe UI" panose="020B0502040204020203" pitchFamily="34" charset="0"/>
                <a:buChar char="​"/>
                <a:defRPr lang="en-US" sz="1737" kern="1200" dirty="0">
                  <a:solidFill>
                    <a:schemeClr val="tx1"/>
                  </a:solidFill>
                  <a:latin typeface="+mn-lt"/>
                  <a:ea typeface="+mn-ea"/>
                  <a:cs typeface="Arial" panose="020B0604020202020204" pitchFamily="34" charset="0"/>
                </a:defRPr>
              </a:lvl1pPr>
              <a:lvl2pPr marL="248122" lvl="1" indent="-248122" algn="l" defTabSz="992490" rtl="0" eaLnBrk="1" latinLnBrk="0" hangingPunct="1">
                <a:lnSpc>
                  <a:spcPct val="100000"/>
                </a:lnSpc>
                <a:spcBef>
                  <a:spcPts val="0"/>
                </a:spcBef>
                <a:spcAft>
                  <a:spcPts val="326"/>
                </a:spcAft>
                <a:buClr>
                  <a:schemeClr val="tx1"/>
                </a:buClr>
                <a:buSzPct val="110000"/>
                <a:buFont typeface="Wingdings" panose="05000000000000000000" pitchFamily="2" charset="2"/>
                <a:buChar char=""/>
                <a:defRPr lang="en-US" sz="1737" kern="1200" dirty="0">
                  <a:solidFill>
                    <a:schemeClr val="tx1"/>
                  </a:solidFill>
                  <a:latin typeface="+mn-lt"/>
                  <a:ea typeface="+mn-ea"/>
                  <a:cs typeface="+mn-cs"/>
                </a:defRPr>
              </a:lvl2pPr>
              <a:lvl3pPr marL="476395" lvl="2" indent="-228273" algn="l" defTabSz="992490" rtl="0" eaLnBrk="1" latinLnBrk="0" hangingPunct="1">
                <a:lnSpc>
                  <a:spcPct val="100000"/>
                </a:lnSpc>
                <a:spcBef>
                  <a:spcPts val="0"/>
                </a:spcBef>
                <a:spcAft>
                  <a:spcPts val="326"/>
                </a:spcAft>
                <a:buClr>
                  <a:schemeClr val="tx1"/>
                </a:buClr>
                <a:buSzPct val="110000"/>
                <a:buFont typeface="Arial" panose="020B0604020202020204" pitchFamily="34" charset="0"/>
                <a:buChar char="‒"/>
                <a:defRPr lang="en-US" sz="1737" kern="1200" dirty="0">
                  <a:solidFill>
                    <a:schemeClr val="tx1"/>
                  </a:solidFill>
                  <a:latin typeface="+mn-lt"/>
                  <a:ea typeface="+mn-ea"/>
                  <a:cs typeface="+mn-cs"/>
                </a:defRPr>
              </a:lvl3pPr>
              <a:lvl4pPr marL="645118" lvl="3" indent="-168723" algn="l" defTabSz="992490" rtl="0" eaLnBrk="1" latinLnBrk="0" hangingPunct="1">
                <a:lnSpc>
                  <a:spcPct val="100000"/>
                </a:lnSpc>
                <a:spcBef>
                  <a:spcPts val="0"/>
                </a:spcBef>
                <a:spcAft>
                  <a:spcPts val="326"/>
                </a:spcAft>
                <a:buClr>
                  <a:schemeClr val="tx1"/>
                </a:buClr>
                <a:buSzPct val="100000"/>
                <a:buFont typeface="Arial" panose="020B0604020202020204" pitchFamily="34" charset="0"/>
                <a:buChar char="•"/>
                <a:defRPr lang="en-US" sz="1737" kern="1200" dirty="0">
                  <a:solidFill>
                    <a:schemeClr val="tx1"/>
                  </a:solidFill>
                  <a:latin typeface="+mn-lt"/>
                  <a:ea typeface="+mn-ea"/>
                  <a:cs typeface="+mn-cs"/>
                </a:defRPr>
              </a:lvl4pPr>
              <a:lvl5pPr marL="883316" lvl="4" indent="-158798" algn="l" defTabSz="992490" rtl="0" eaLnBrk="1" latinLnBrk="0" hangingPunct="1">
                <a:lnSpc>
                  <a:spcPct val="100000"/>
                </a:lnSpc>
                <a:spcBef>
                  <a:spcPts val="0"/>
                </a:spcBef>
                <a:spcAft>
                  <a:spcPts val="326"/>
                </a:spcAft>
                <a:buClr>
                  <a:schemeClr val="tx1"/>
                </a:buClr>
                <a:buSzPct val="100000"/>
                <a:buFont typeface="Arial" panose="020B0604020202020204" pitchFamily="34" charset="0"/>
                <a:buChar char="̶"/>
                <a:defRPr lang="en-US" sz="1737" kern="1200" dirty="0">
                  <a:solidFill>
                    <a:schemeClr val="tx1"/>
                  </a:solidFill>
                  <a:latin typeface="+mn-lt"/>
                  <a:ea typeface="+mn-ea"/>
                  <a:cs typeface="+mn-cs"/>
                </a:defRPr>
              </a:lvl5pPr>
              <a:lvl6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6pPr>
              <a:lvl7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7pPr>
              <a:lvl8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8pPr>
              <a:lvl9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9pPr>
            </a:lstStyle>
            <a:p>
              <a:pPr marL="0" marR="0" lvl="0" indent="0" algn="l" defTabSz="914381" rtl="0" eaLnBrk="1" fontAlgn="auto" latinLnBrk="0" hangingPunct="1">
                <a:lnSpc>
                  <a:spcPct val="100000"/>
                </a:lnSpc>
                <a:spcBef>
                  <a:spcPts val="276"/>
                </a:spcBef>
                <a:spcAft>
                  <a:spcPts val="276"/>
                </a:spcAft>
                <a:buClr>
                  <a:srgbClr val="515349"/>
                </a:buClr>
                <a:buSzPct val="100000"/>
                <a:buFont typeface="Segoe UI" panose="020B0502040204020203" pitchFamily="34" charset="0"/>
                <a:buNone/>
                <a:tabLst/>
                <a:defRPr/>
              </a:pPr>
              <a:r>
                <a:rPr kumimoji="0" lang="vi-VN" sz="1000" b="1" i="0" u="none" strike="noStrike" kern="1200" cap="none" spc="0" normalizeH="0" baseline="0" noProof="0" err="1">
                  <a:ln>
                    <a:noFill/>
                  </a:ln>
                  <a:solidFill>
                    <a:srgbClr val="000000"/>
                  </a:solidFill>
                  <a:effectLst/>
                  <a:uLnTx/>
                  <a:uFillTx/>
                  <a:latin typeface="Arial"/>
                  <a:ea typeface="+mn-ea"/>
                  <a:cs typeface="Arial"/>
                </a:rPr>
                <a:t>Category</a:t>
              </a:r>
              <a:endParaRPr lang="vi-VN" sz="1000" b="1" i="0" u="none" strike="noStrike" kern="1200" cap="none" spc="0" normalizeH="0" baseline="0" noProof="0" err="1">
                <a:ln>
                  <a:noFill/>
                </a:ln>
                <a:solidFill>
                  <a:srgbClr val="000000"/>
                </a:solidFill>
                <a:effectLst/>
                <a:uLnTx/>
                <a:uFillTx/>
                <a:latin typeface="Arial"/>
                <a:cs typeface="Arial"/>
              </a:endParaRPr>
            </a:p>
          </p:txBody>
        </p:sp>
      </p:grpSp>
      <p:grpSp>
        <p:nvGrpSpPr>
          <p:cNvPr id="15" name="Group 14">
            <a:extLst>
              <a:ext uri="{FF2B5EF4-FFF2-40B4-BE49-F238E27FC236}">
                <a16:creationId xmlns:a16="http://schemas.microsoft.com/office/drawing/2014/main" id="{6E9EBC9F-6CFC-0DD3-C447-3C990E3BBD10}"/>
              </a:ext>
            </a:extLst>
          </p:cNvPr>
          <p:cNvGrpSpPr/>
          <p:nvPr/>
        </p:nvGrpSpPr>
        <p:grpSpPr>
          <a:xfrm>
            <a:off x="1751624" y="1294209"/>
            <a:ext cx="3896011" cy="199302"/>
            <a:chOff x="1090477" y="1294209"/>
            <a:chExt cx="3896011" cy="199302"/>
          </a:xfrm>
        </p:grpSpPr>
        <p:cxnSp>
          <p:nvCxnSpPr>
            <p:cNvPr id="75" name="Straight Connector 74">
              <a:extLst>
                <a:ext uri="{FF2B5EF4-FFF2-40B4-BE49-F238E27FC236}">
                  <a16:creationId xmlns:a16="http://schemas.microsoft.com/office/drawing/2014/main" id="{8043345A-89F2-32D4-0A1D-BB1AB21B9DB4}"/>
                </a:ext>
              </a:extLst>
            </p:cNvPr>
            <p:cNvCxnSpPr>
              <a:cxnSpLocks/>
            </p:cNvCxnSpPr>
            <p:nvPr/>
          </p:nvCxnSpPr>
          <p:spPr>
            <a:xfrm>
              <a:off x="1466774" y="1493511"/>
              <a:ext cx="3519714" cy="0"/>
            </a:xfrm>
            <a:prstGeom prst="line">
              <a:avLst/>
            </a:prstGeom>
            <a:ln w="635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6" name="TextBox 39">
              <a:extLst>
                <a:ext uri="{FF2B5EF4-FFF2-40B4-BE49-F238E27FC236}">
                  <a16:creationId xmlns:a16="http://schemas.microsoft.com/office/drawing/2014/main" id="{FE5D453F-BE75-963E-8CD2-AB3746C6DCE0}"/>
                </a:ext>
              </a:extLst>
            </p:cNvPr>
            <p:cNvSpPr txBox="1"/>
            <p:nvPr/>
          </p:nvSpPr>
          <p:spPr>
            <a:xfrm>
              <a:off x="1090477" y="1294209"/>
              <a:ext cx="3519714" cy="153888"/>
            </a:xfrm>
            <a:prstGeom prst="rect">
              <a:avLst/>
            </a:prstGeom>
          </p:spPr>
          <p:txBody>
            <a:bodyPr vert="horz" wrap="square" lIns="0" tIns="0" rIns="0" bIns="0" rtlCol="0" anchor="b">
              <a:spAutoFit/>
            </a:bodyPr>
            <a:lstStyle>
              <a:defPPr>
                <a:defRPr lang="en-US"/>
              </a:defPPr>
              <a:lvl1pPr marL="0" lvl="0" indent="0" algn="l" defTabSz="992490" rtl="0" eaLnBrk="1" latinLnBrk="0" hangingPunct="1">
                <a:lnSpc>
                  <a:spcPct val="100000"/>
                </a:lnSpc>
                <a:spcBef>
                  <a:spcPts val="326"/>
                </a:spcBef>
                <a:spcAft>
                  <a:spcPts val="326"/>
                </a:spcAft>
                <a:buClr>
                  <a:schemeClr val="tx1"/>
                </a:buClr>
                <a:buSzPct val="100000"/>
                <a:buFont typeface="Segoe UI" panose="020B0502040204020203" pitchFamily="34" charset="0"/>
                <a:buChar char="​"/>
                <a:defRPr lang="en-US" sz="1737" kern="1200" dirty="0">
                  <a:solidFill>
                    <a:schemeClr val="tx1"/>
                  </a:solidFill>
                  <a:latin typeface="+mn-lt"/>
                  <a:ea typeface="+mn-ea"/>
                  <a:cs typeface="Arial" panose="020B0604020202020204" pitchFamily="34" charset="0"/>
                </a:defRPr>
              </a:lvl1pPr>
              <a:lvl2pPr marL="248122" lvl="1" indent="-248122" algn="l" defTabSz="992490" rtl="0" eaLnBrk="1" latinLnBrk="0" hangingPunct="1">
                <a:lnSpc>
                  <a:spcPct val="100000"/>
                </a:lnSpc>
                <a:spcBef>
                  <a:spcPts val="0"/>
                </a:spcBef>
                <a:spcAft>
                  <a:spcPts val="326"/>
                </a:spcAft>
                <a:buClr>
                  <a:schemeClr val="tx1"/>
                </a:buClr>
                <a:buSzPct val="110000"/>
                <a:buFont typeface="Wingdings" panose="05000000000000000000" pitchFamily="2" charset="2"/>
                <a:buChar char=""/>
                <a:defRPr lang="en-US" sz="1737" kern="1200" dirty="0">
                  <a:solidFill>
                    <a:schemeClr val="tx1"/>
                  </a:solidFill>
                  <a:latin typeface="+mn-lt"/>
                  <a:ea typeface="+mn-ea"/>
                  <a:cs typeface="+mn-cs"/>
                </a:defRPr>
              </a:lvl2pPr>
              <a:lvl3pPr marL="476395" lvl="2" indent="-228273" algn="l" defTabSz="992490" rtl="0" eaLnBrk="1" latinLnBrk="0" hangingPunct="1">
                <a:lnSpc>
                  <a:spcPct val="100000"/>
                </a:lnSpc>
                <a:spcBef>
                  <a:spcPts val="0"/>
                </a:spcBef>
                <a:spcAft>
                  <a:spcPts val="326"/>
                </a:spcAft>
                <a:buClr>
                  <a:schemeClr val="tx1"/>
                </a:buClr>
                <a:buSzPct val="110000"/>
                <a:buFont typeface="Arial" panose="020B0604020202020204" pitchFamily="34" charset="0"/>
                <a:buChar char="‒"/>
                <a:defRPr lang="en-US" sz="1737" kern="1200" dirty="0">
                  <a:solidFill>
                    <a:schemeClr val="tx1"/>
                  </a:solidFill>
                  <a:latin typeface="+mn-lt"/>
                  <a:ea typeface="+mn-ea"/>
                  <a:cs typeface="+mn-cs"/>
                </a:defRPr>
              </a:lvl3pPr>
              <a:lvl4pPr marL="645118" lvl="3" indent="-168723" algn="l" defTabSz="992490" rtl="0" eaLnBrk="1" latinLnBrk="0" hangingPunct="1">
                <a:lnSpc>
                  <a:spcPct val="100000"/>
                </a:lnSpc>
                <a:spcBef>
                  <a:spcPts val="0"/>
                </a:spcBef>
                <a:spcAft>
                  <a:spcPts val="326"/>
                </a:spcAft>
                <a:buClr>
                  <a:schemeClr val="tx1"/>
                </a:buClr>
                <a:buSzPct val="100000"/>
                <a:buFont typeface="Arial" panose="020B0604020202020204" pitchFamily="34" charset="0"/>
                <a:buChar char="•"/>
                <a:defRPr lang="en-US" sz="1737" kern="1200" dirty="0">
                  <a:solidFill>
                    <a:schemeClr val="tx1"/>
                  </a:solidFill>
                  <a:latin typeface="+mn-lt"/>
                  <a:ea typeface="+mn-ea"/>
                  <a:cs typeface="+mn-cs"/>
                </a:defRPr>
              </a:lvl4pPr>
              <a:lvl5pPr marL="883316" lvl="4" indent="-158798" algn="l" defTabSz="992490" rtl="0" eaLnBrk="1" latinLnBrk="0" hangingPunct="1">
                <a:lnSpc>
                  <a:spcPct val="100000"/>
                </a:lnSpc>
                <a:spcBef>
                  <a:spcPts val="0"/>
                </a:spcBef>
                <a:spcAft>
                  <a:spcPts val="326"/>
                </a:spcAft>
                <a:buClr>
                  <a:schemeClr val="tx1"/>
                </a:buClr>
                <a:buSzPct val="100000"/>
                <a:buFont typeface="Arial" panose="020B0604020202020204" pitchFamily="34" charset="0"/>
                <a:buChar char="̶"/>
                <a:defRPr lang="en-US" sz="1737" kern="1200" dirty="0">
                  <a:solidFill>
                    <a:schemeClr val="tx1"/>
                  </a:solidFill>
                  <a:latin typeface="+mn-lt"/>
                  <a:ea typeface="+mn-ea"/>
                  <a:cs typeface="+mn-cs"/>
                </a:defRPr>
              </a:lvl5pPr>
              <a:lvl6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6pPr>
              <a:lvl7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7pPr>
              <a:lvl8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8pPr>
              <a:lvl9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9pPr>
            </a:lstStyle>
            <a:p>
              <a:pPr defTabSz="914381">
                <a:spcBef>
                  <a:spcPts val="276"/>
                </a:spcBef>
                <a:spcAft>
                  <a:spcPts val="276"/>
                </a:spcAft>
                <a:buClr>
                  <a:srgbClr val="515349"/>
                </a:buClr>
                <a:buNone/>
                <a:defRPr/>
              </a:pPr>
              <a:r>
                <a:rPr kumimoji="0" lang="en-CA" sz="1000" b="1" i="0" u="none" strike="noStrike" kern="1200" cap="none" spc="0" normalizeH="0" baseline="0" noProof="0">
                  <a:ln>
                    <a:noFill/>
                  </a:ln>
                  <a:solidFill>
                    <a:srgbClr val="000000"/>
                  </a:solidFill>
                  <a:effectLst/>
                  <a:uLnTx/>
                  <a:uFillTx/>
                  <a:latin typeface="Arial"/>
                  <a:ea typeface="+mn-ea"/>
                  <a:cs typeface="Arial"/>
                </a:rPr>
                <a:t>Work Packages</a:t>
              </a:r>
              <a:r>
                <a:rPr lang="en-CA" sz="1000" b="1">
                  <a:solidFill>
                    <a:srgbClr val="000000"/>
                  </a:solidFill>
                  <a:latin typeface="Arial"/>
                  <a:cs typeface="Arial"/>
                </a:rPr>
                <a:t> </a:t>
              </a:r>
              <a:r>
                <a:rPr kumimoji="0" lang="en-CA" sz="1000" b="1" i="0" u="none" strike="noStrike" kern="1200" cap="none" spc="0" normalizeH="0" baseline="0" noProof="0">
                  <a:ln>
                    <a:noFill/>
                  </a:ln>
                  <a:solidFill>
                    <a:srgbClr val="000000"/>
                  </a:solidFill>
                  <a:effectLst/>
                  <a:uLnTx/>
                  <a:uFillTx/>
                  <a:latin typeface="Arial"/>
                  <a:ea typeface="+mn-ea"/>
                  <a:cs typeface="Arial"/>
                </a:rPr>
                <a:t>/</a:t>
              </a:r>
              <a:r>
                <a:rPr lang="en-CA" sz="1000" b="1">
                  <a:solidFill>
                    <a:srgbClr val="000000"/>
                  </a:solidFill>
                  <a:latin typeface="Arial"/>
                  <a:cs typeface="Arial"/>
                </a:rPr>
                <a:t> </a:t>
              </a:r>
              <a:r>
                <a:rPr kumimoji="0" lang="vi-VN" sz="1000" b="1" i="0" u="none" strike="noStrike" kern="1200" cap="none" spc="0" normalizeH="0" baseline="0" noProof="0" err="1">
                  <a:ln>
                    <a:noFill/>
                  </a:ln>
                  <a:solidFill>
                    <a:srgbClr val="000000"/>
                  </a:solidFill>
                  <a:effectLst/>
                  <a:uLnTx/>
                  <a:uFillTx/>
                  <a:latin typeface="Arial"/>
                  <a:ea typeface="+mn-ea"/>
                  <a:cs typeface="Arial"/>
                </a:rPr>
                <a:t>Initiatives</a:t>
              </a:r>
              <a:endParaRPr lang="vi-VN" sz="1000" b="1" i="0" u="none" strike="noStrike" kern="1200" cap="none" spc="0" normalizeH="0" baseline="0" noProof="0" err="1">
                <a:ln>
                  <a:noFill/>
                </a:ln>
                <a:solidFill>
                  <a:srgbClr val="000000"/>
                </a:solidFill>
                <a:effectLst/>
                <a:uLnTx/>
                <a:uFillTx/>
                <a:latin typeface="Arial"/>
                <a:cs typeface="Arial"/>
              </a:endParaRPr>
            </a:p>
          </p:txBody>
        </p:sp>
      </p:grpSp>
      <p:grpSp>
        <p:nvGrpSpPr>
          <p:cNvPr id="16" name="Group 15">
            <a:extLst>
              <a:ext uri="{FF2B5EF4-FFF2-40B4-BE49-F238E27FC236}">
                <a16:creationId xmlns:a16="http://schemas.microsoft.com/office/drawing/2014/main" id="{402E7D3E-CBBE-7EAC-F68B-6EB8945A5F88}"/>
              </a:ext>
            </a:extLst>
          </p:cNvPr>
          <p:cNvGrpSpPr/>
          <p:nvPr/>
        </p:nvGrpSpPr>
        <p:grpSpPr>
          <a:xfrm>
            <a:off x="4761690" y="1294209"/>
            <a:ext cx="7043214" cy="199302"/>
            <a:chOff x="4761690" y="1294209"/>
            <a:chExt cx="7043214" cy="199302"/>
          </a:xfrm>
        </p:grpSpPr>
        <p:cxnSp>
          <p:nvCxnSpPr>
            <p:cNvPr id="73" name="Straight Connector 72">
              <a:extLst>
                <a:ext uri="{FF2B5EF4-FFF2-40B4-BE49-F238E27FC236}">
                  <a16:creationId xmlns:a16="http://schemas.microsoft.com/office/drawing/2014/main" id="{5FD107E4-B031-017C-2D4F-C55F3911AE6A}"/>
                </a:ext>
              </a:extLst>
            </p:cNvPr>
            <p:cNvCxnSpPr>
              <a:cxnSpLocks/>
            </p:cNvCxnSpPr>
            <p:nvPr/>
          </p:nvCxnSpPr>
          <p:spPr>
            <a:xfrm>
              <a:off x="5072135" y="1493511"/>
              <a:ext cx="6732769" cy="0"/>
            </a:xfrm>
            <a:prstGeom prst="line">
              <a:avLst/>
            </a:prstGeom>
            <a:ln w="635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4" name="TextBox 39">
              <a:extLst>
                <a:ext uri="{FF2B5EF4-FFF2-40B4-BE49-F238E27FC236}">
                  <a16:creationId xmlns:a16="http://schemas.microsoft.com/office/drawing/2014/main" id="{76E8154A-55BC-619D-6C36-F5C54718A187}"/>
                </a:ext>
              </a:extLst>
            </p:cNvPr>
            <p:cNvSpPr txBox="1"/>
            <p:nvPr/>
          </p:nvSpPr>
          <p:spPr>
            <a:xfrm>
              <a:off x="4761690" y="1294209"/>
              <a:ext cx="6732769" cy="153888"/>
            </a:xfrm>
            <a:prstGeom prst="rect">
              <a:avLst/>
            </a:prstGeom>
          </p:spPr>
          <p:txBody>
            <a:bodyPr vert="horz" wrap="square" lIns="0" tIns="0" rIns="0" bIns="0" rtlCol="0" anchor="b">
              <a:spAutoFit/>
            </a:bodyPr>
            <a:lstStyle>
              <a:defPPr>
                <a:defRPr lang="en-US"/>
              </a:defPPr>
              <a:lvl1pPr marL="0" lvl="0" indent="0" algn="l" defTabSz="992490" rtl="0" eaLnBrk="1" latinLnBrk="0" hangingPunct="1">
                <a:lnSpc>
                  <a:spcPct val="100000"/>
                </a:lnSpc>
                <a:spcBef>
                  <a:spcPts val="326"/>
                </a:spcBef>
                <a:spcAft>
                  <a:spcPts val="326"/>
                </a:spcAft>
                <a:buClr>
                  <a:schemeClr val="tx1"/>
                </a:buClr>
                <a:buSzPct val="100000"/>
                <a:buFont typeface="Segoe UI" panose="020B0502040204020203" pitchFamily="34" charset="0"/>
                <a:buChar char="​"/>
                <a:defRPr lang="en-US" sz="1737" kern="1200" dirty="0">
                  <a:solidFill>
                    <a:schemeClr val="tx1"/>
                  </a:solidFill>
                  <a:latin typeface="+mn-lt"/>
                  <a:ea typeface="+mn-ea"/>
                  <a:cs typeface="Arial" panose="020B0604020202020204" pitchFamily="34" charset="0"/>
                </a:defRPr>
              </a:lvl1pPr>
              <a:lvl2pPr marL="248122" lvl="1" indent="-248122" algn="l" defTabSz="992490" rtl="0" eaLnBrk="1" latinLnBrk="0" hangingPunct="1">
                <a:lnSpc>
                  <a:spcPct val="100000"/>
                </a:lnSpc>
                <a:spcBef>
                  <a:spcPts val="0"/>
                </a:spcBef>
                <a:spcAft>
                  <a:spcPts val="326"/>
                </a:spcAft>
                <a:buClr>
                  <a:schemeClr val="tx1"/>
                </a:buClr>
                <a:buSzPct val="110000"/>
                <a:buFont typeface="Wingdings" panose="05000000000000000000" pitchFamily="2" charset="2"/>
                <a:buChar char=""/>
                <a:defRPr lang="en-US" sz="1737" kern="1200" dirty="0">
                  <a:solidFill>
                    <a:schemeClr val="tx1"/>
                  </a:solidFill>
                  <a:latin typeface="+mn-lt"/>
                  <a:ea typeface="+mn-ea"/>
                  <a:cs typeface="+mn-cs"/>
                </a:defRPr>
              </a:lvl2pPr>
              <a:lvl3pPr marL="476395" lvl="2" indent="-228273" algn="l" defTabSz="992490" rtl="0" eaLnBrk="1" latinLnBrk="0" hangingPunct="1">
                <a:lnSpc>
                  <a:spcPct val="100000"/>
                </a:lnSpc>
                <a:spcBef>
                  <a:spcPts val="0"/>
                </a:spcBef>
                <a:spcAft>
                  <a:spcPts val="326"/>
                </a:spcAft>
                <a:buClr>
                  <a:schemeClr val="tx1"/>
                </a:buClr>
                <a:buSzPct val="110000"/>
                <a:buFont typeface="Arial" panose="020B0604020202020204" pitchFamily="34" charset="0"/>
                <a:buChar char="‒"/>
                <a:defRPr lang="en-US" sz="1737" kern="1200" dirty="0">
                  <a:solidFill>
                    <a:schemeClr val="tx1"/>
                  </a:solidFill>
                  <a:latin typeface="+mn-lt"/>
                  <a:ea typeface="+mn-ea"/>
                  <a:cs typeface="+mn-cs"/>
                </a:defRPr>
              </a:lvl3pPr>
              <a:lvl4pPr marL="645118" lvl="3" indent="-168723" algn="l" defTabSz="992490" rtl="0" eaLnBrk="1" latinLnBrk="0" hangingPunct="1">
                <a:lnSpc>
                  <a:spcPct val="100000"/>
                </a:lnSpc>
                <a:spcBef>
                  <a:spcPts val="0"/>
                </a:spcBef>
                <a:spcAft>
                  <a:spcPts val="326"/>
                </a:spcAft>
                <a:buClr>
                  <a:schemeClr val="tx1"/>
                </a:buClr>
                <a:buSzPct val="100000"/>
                <a:buFont typeface="Arial" panose="020B0604020202020204" pitchFamily="34" charset="0"/>
                <a:buChar char="•"/>
                <a:defRPr lang="en-US" sz="1737" kern="1200" dirty="0">
                  <a:solidFill>
                    <a:schemeClr val="tx1"/>
                  </a:solidFill>
                  <a:latin typeface="+mn-lt"/>
                  <a:ea typeface="+mn-ea"/>
                  <a:cs typeface="+mn-cs"/>
                </a:defRPr>
              </a:lvl4pPr>
              <a:lvl5pPr marL="883316" lvl="4" indent="-158798" algn="l" defTabSz="992490" rtl="0" eaLnBrk="1" latinLnBrk="0" hangingPunct="1">
                <a:lnSpc>
                  <a:spcPct val="100000"/>
                </a:lnSpc>
                <a:spcBef>
                  <a:spcPts val="0"/>
                </a:spcBef>
                <a:spcAft>
                  <a:spcPts val="326"/>
                </a:spcAft>
                <a:buClr>
                  <a:schemeClr val="tx1"/>
                </a:buClr>
                <a:buSzPct val="100000"/>
                <a:buFont typeface="Arial" panose="020B0604020202020204" pitchFamily="34" charset="0"/>
                <a:buChar char="̶"/>
                <a:defRPr lang="en-US" sz="1737" kern="1200" dirty="0">
                  <a:solidFill>
                    <a:schemeClr val="tx1"/>
                  </a:solidFill>
                  <a:latin typeface="+mn-lt"/>
                  <a:ea typeface="+mn-ea"/>
                  <a:cs typeface="+mn-cs"/>
                </a:defRPr>
              </a:lvl5pPr>
              <a:lvl6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6pPr>
              <a:lvl7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7pPr>
              <a:lvl8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8pPr>
              <a:lvl9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9pPr>
            </a:lstStyle>
            <a:p>
              <a:pPr marL="0" marR="0" lvl="0" indent="0" algn="l" defTabSz="914381" rtl="0" eaLnBrk="1" fontAlgn="auto" latinLnBrk="0" hangingPunct="1">
                <a:lnSpc>
                  <a:spcPct val="100000"/>
                </a:lnSpc>
                <a:spcBef>
                  <a:spcPts val="276"/>
                </a:spcBef>
                <a:spcAft>
                  <a:spcPts val="276"/>
                </a:spcAft>
                <a:buClr>
                  <a:srgbClr val="515349"/>
                </a:buClr>
                <a:buSzPct val="100000"/>
                <a:buFont typeface="Segoe UI" panose="020B0502040204020203" pitchFamily="34" charset="0"/>
                <a:buNone/>
                <a:tabLst/>
                <a:defRPr/>
              </a:pPr>
              <a:r>
                <a:rPr lang="vi-VN" sz="1000" b="1" err="1">
                  <a:solidFill>
                    <a:srgbClr val="000000"/>
                  </a:solidFill>
                  <a:latin typeface="Arial"/>
                  <a:cs typeface="Arial"/>
                </a:rPr>
                <a:t>Objective</a:t>
              </a:r>
              <a:endParaRPr lang="vi-VN" sz="1000" b="1" i="0" u="none" strike="noStrike" kern="1200" cap="none" spc="0" normalizeH="0" baseline="0" noProof="0">
                <a:ln>
                  <a:noFill/>
                </a:ln>
                <a:solidFill>
                  <a:srgbClr val="000000"/>
                </a:solidFill>
                <a:effectLst/>
                <a:uLnTx/>
                <a:uFillTx/>
                <a:latin typeface="Arial"/>
                <a:cs typeface="Arial" panose="020B0604020202020204" pitchFamily="34" charset="0"/>
              </a:endParaRPr>
            </a:p>
          </p:txBody>
        </p:sp>
      </p:grpSp>
      <p:sp>
        <p:nvSpPr>
          <p:cNvPr id="21" name="Oval 20">
            <a:extLst>
              <a:ext uri="{FF2B5EF4-FFF2-40B4-BE49-F238E27FC236}">
                <a16:creationId xmlns:a16="http://schemas.microsoft.com/office/drawing/2014/main" id="{49996176-2699-1642-C502-A95EB47A2FD6}"/>
              </a:ext>
            </a:extLst>
          </p:cNvPr>
          <p:cNvSpPr/>
          <p:nvPr/>
        </p:nvSpPr>
        <p:spPr>
          <a:xfrm>
            <a:off x="1466773" y="2581934"/>
            <a:ext cx="95238" cy="94666"/>
          </a:xfrm>
          <a:prstGeom prst="ellipse">
            <a:avLst/>
          </a:prstGeom>
          <a:solidFill>
            <a:srgbClr val="C00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81"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sp>
        <p:nvSpPr>
          <p:cNvPr id="22" name="Oval 21">
            <a:extLst>
              <a:ext uri="{FF2B5EF4-FFF2-40B4-BE49-F238E27FC236}">
                <a16:creationId xmlns:a16="http://schemas.microsoft.com/office/drawing/2014/main" id="{4B1710AF-2527-020B-5CAB-88FE47F20424}"/>
              </a:ext>
            </a:extLst>
          </p:cNvPr>
          <p:cNvSpPr/>
          <p:nvPr/>
        </p:nvSpPr>
        <p:spPr>
          <a:xfrm>
            <a:off x="1466773" y="1728568"/>
            <a:ext cx="95238" cy="94666"/>
          </a:xfrm>
          <a:prstGeom prst="ellipse">
            <a:avLst/>
          </a:prstGeom>
          <a:solidFill>
            <a:srgbClr val="C00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81"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sp>
        <p:nvSpPr>
          <p:cNvPr id="24" name="Oval 23">
            <a:extLst>
              <a:ext uri="{FF2B5EF4-FFF2-40B4-BE49-F238E27FC236}">
                <a16:creationId xmlns:a16="http://schemas.microsoft.com/office/drawing/2014/main" id="{BF6ED7B2-E108-9654-1ABC-57A497C0341B}"/>
              </a:ext>
            </a:extLst>
          </p:cNvPr>
          <p:cNvSpPr/>
          <p:nvPr/>
        </p:nvSpPr>
        <p:spPr>
          <a:xfrm>
            <a:off x="1466773" y="2141615"/>
            <a:ext cx="95238" cy="94666"/>
          </a:xfrm>
          <a:prstGeom prst="ellipse">
            <a:avLst/>
          </a:prstGeom>
          <a:solidFill>
            <a:srgbClr val="C00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81"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sp>
        <p:nvSpPr>
          <p:cNvPr id="26" name="TextBox 167">
            <a:extLst>
              <a:ext uri="{FF2B5EF4-FFF2-40B4-BE49-F238E27FC236}">
                <a16:creationId xmlns:a16="http://schemas.microsoft.com/office/drawing/2014/main" id="{FE8B32BB-4074-27EF-6906-6E4D5BDE4BAA}"/>
              </a:ext>
            </a:extLst>
          </p:cNvPr>
          <p:cNvSpPr txBox="1"/>
          <p:nvPr/>
        </p:nvSpPr>
        <p:spPr>
          <a:xfrm>
            <a:off x="9570544" y="1301461"/>
            <a:ext cx="1468351" cy="138499"/>
          </a:xfrm>
          <a:prstGeom prst="rect">
            <a:avLst/>
          </a:prstGeom>
          <a:noFill/>
          <a:ln w="6350">
            <a:noFill/>
            <a:miter lim="800000"/>
          </a:ln>
        </p:spPr>
        <p:txBody>
          <a:bodyPr vert="horz" wrap="none" lIns="0" tIns="0" rIns="0" bIns="0" rtlCol="0" anchor="t">
            <a:spAutoFit/>
          </a:bodyPr>
          <a:lstStyle>
            <a:defPPr>
              <a:defRPr lang="en-US"/>
            </a:defPPr>
            <a:lvl1pPr marL="0" algn="l" defTabSz="914400" rtl="0" eaLnBrk="1" latinLnBrk="0" hangingPunct="1">
              <a:spcBef>
                <a:spcPts val="300"/>
              </a:spcBef>
              <a:spcAft>
                <a:spcPts val="300"/>
              </a:spcAft>
              <a:buNone/>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81" rtl="0" eaLnBrk="1" fontAlgn="auto" latinLnBrk="0" hangingPunct="1">
              <a:lnSpc>
                <a:spcPct val="100000"/>
              </a:lnSpc>
              <a:spcBef>
                <a:spcPts val="300"/>
              </a:spcBef>
              <a:spcAft>
                <a:spcPts val="300"/>
              </a:spcAft>
              <a:buClrTx/>
              <a:buSzTx/>
              <a:buFontTx/>
              <a:buNone/>
              <a:tabLst/>
              <a:defRPr/>
            </a:pPr>
            <a:r>
              <a:rPr kumimoji="0" lang="vi-VN" sz="900" b="0" i="0" u="none" strike="noStrike" kern="1200" cap="none" spc="0" normalizeH="0" baseline="0" noProof="0" err="1">
                <a:ln>
                  <a:noFill/>
                </a:ln>
                <a:solidFill>
                  <a:srgbClr val="000000"/>
                </a:solidFill>
                <a:effectLst/>
                <a:uLnTx/>
                <a:uFillTx/>
                <a:latin typeface="Arial"/>
                <a:ea typeface="+mn-ea"/>
                <a:cs typeface="+mn-cs"/>
              </a:rPr>
              <a:t>New</a:t>
            </a:r>
            <a:r>
              <a:rPr kumimoji="0" lang="vi-VN" sz="900" b="0" i="0" u="none" strike="noStrike" kern="1200" cap="none" spc="0" normalizeH="0" baseline="0" noProof="0">
                <a:ln>
                  <a:noFill/>
                </a:ln>
                <a:solidFill>
                  <a:srgbClr val="000000"/>
                </a:solidFill>
                <a:effectLst/>
                <a:uLnTx/>
                <a:uFillTx/>
                <a:latin typeface="Arial"/>
                <a:ea typeface="+mn-ea"/>
                <a:cs typeface="+mn-cs"/>
              </a:rPr>
              <a:t> </a:t>
            </a:r>
            <a:r>
              <a:rPr kumimoji="0" lang="en-CA" sz="900" b="0" i="0" u="none" strike="noStrike" kern="1200" cap="none" spc="0" normalizeH="0" baseline="0" noProof="0">
                <a:ln>
                  <a:noFill/>
                </a:ln>
                <a:solidFill>
                  <a:srgbClr val="000000"/>
                </a:solidFill>
                <a:effectLst/>
                <a:uLnTx/>
                <a:uFillTx/>
                <a:latin typeface="Arial"/>
                <a:ea typeface="+mn-ea"/>
                <a:cs typeface="+mn-cs"/>
              </a:rPr>
              <a:t>Work Package/</a:t>
            </a:r>
            <a:r>
              <a:rPr kumimoji="0" lang="vi-VN" sz="900" b="0" i="0" u="none" strike="noStrike" kern="1200" cap="none" spc="0" normalizeH="0" baseline="0" noProof="0" err="1">
                <a:ln>
                  <a:noFill/>
                </a:ln>
                <a:solidFill>
                  <a:srgbClr val="000000"/>
                </a:solidFill>
                <a:effectLst/>
                <a:uLnTx/>
                <a:uFillTx/>
                <a:latin typeface="Arial"/>
                <a:ea typeface="+mn-ea"/>
                <a:cs typeface="+mn-cs"/>
              </a:rPr>
              <a:t>Initiative</a:t>
            </a:r>
            <a:endParaRPr lang="en-US" sz="900" b="0" i="0" u="none" strike="noStrike" kern="1200" cap="none" spc="0" normalizeH="0" baseline="0" noProof="0" err="1">
              <a:ln>
                <a:noFill/>
              </a:ln>
              <a:solidFill>
                <a:srgbClr val="000000"/>
              </a:solidFill>
              <a:effectLst/>
              <a:uLnTx/>
              <a:uFillTx/>
              <a:latin typeface="Arial"/>
              <a:cs typeface="Arial"/>
            </a:endParaRPr>
          </a:p>
        </p:txBody>
      </p:sp>
      <p:sp>
        <p:nvSpPr>
          <p:cNvPr id="27" name="Oval 26">
            <a:extLst>
              <a:ext uri="{FF2B5EF4-FFF2-40B4-BE49-F238E27FC236}">
                <a16:creationId xmlns:a16="http://schemas.microsoft.com/office/drawing/2014/main" id="{E30CEF18-B8F1-FB46-FB83-6061454F756A}"/>
              </a:ext>
            </a:extLst>
          </p:cNvPr>
          <p:cNvSpPr/>
          <p:nvPr/>
        </p:nvSpPr>
        <p:spPr>
          <a:xfrm>
            <a:off x="9444027" y="1330315"/>
            <a:ext cx="80790" cy="80791"/>
          </a:xfrm>
          <a:prstGeom prst="ellipse">
            <a:avLst/>
          </a:prstGeom>
          <a:solidFill>
            <a:srgbClr val="C00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81" rtl="0" eaLnBrk="1" fontAlgn="auto" latinLnBrk="0" hangingPunct="1">
              <a:lnSpc>
                <a:spcPct val="100000"/>
              </a:lnSpc>
              <a:spcBef>
                <a:spcPts val="300"/>
              </a:spcBef>
              <a:spcAft>
                <a:spcPts val="300"/>
              </a:spcAft>
              <a:buClrTx/>
              <a:buSzTx/>
              <a:buFontTx/>
              <a:buNone/>
              <a:tabLst/>
              <a:defRPr/>
            </a:pPr>
            <a:endParaRPr kumimoji="0" lang="en-US" sz="900" b="0" i="0" u="none" strike="noStrike" kern="1200" cap="none" spc="0" normalizeH="0" baseline="0" noProof="0">
              <a:ln>
                <a:noFill/>
              </a:ln>
              <a:solidFill>
                <a:srgbClr val="515349"/>
              </a:solidFill>
              <a:effectLst/>
              <a:uLnTx/>
              <a:uFillTx/>
              <a:latin typeface="Arial"/>
              <a:ea typeface="+mn-ea"/>
              <a:cs typeface="+mn-cs"/>
            </a:endParaRPr>
          </a:p>
        </p:txBody>
      </p:sp>
      <p:sp>
        <p:nvSpPr>
          <p:cNvPr id="29" name="Oval 28">
            <a:extLst>
              <a:ext uri="{FF2B5EF4-FFF2-40B4-BE49-F238E27FC236}">
                <a16:creationId xmlns:a16="http://schemas.microsoft.com/office/drawing/2014/main" id="{D7DA9910-3B6C-1C1A-30EC-E47E68A3D8C7}"/>
              </a:ext>
            </a:extLst>
          </p:cNvPr>
          <p:cNvSpPr/>
          <p:nvPr/>
        </p:nvSpPr>
        <p:spPr>
          <a:xfrm>
            <a:off x="1466773" y="3001095"/>
            <a:ext cx="95238" cy="94666"/>
          </a:xfrm>
          <a:prstGeom prst="ellipse">
            <a:avLst/>
          </a:prstGeom>
          <a:solidFill>
            <a:srgbClr val="C00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sp>
        <p:nvSpPr>
          <p:cNvPr id="32" name="Oval 31">
            <a:extLst>
              <a:ext uri="{FF2B5EF4-FFF2-40B4-BE49-F238E27FC236}">
                <a16:creationId xmlns:a16="http://schemas.microsoft.com/office/drawing/2014/main" id="{966D8C98-7ED0-AAB2-411E-617E07A56181}"/>
              </a:ext>
            </a:extLst>
          </p:cNvPr>
          <p:cNvSpPr/>
          <p:nvPr/>
        </p:nvSpPr>
        <p:spPr>
          <a:xfrm>
            <a:off x="1466773" y="3443960"/>
            <a:ext cx="95238" cy="94666"/>
          </a:xfrm>
          <a:prstGeom prst="ellipse">
            <a:avLst/>
          </a:prstGeom>
          <a:solidFill>
            <a:srgbClr val="C00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sp>
        <p:nvSpPr>
          <p:cNvPr id="34" name="Oval 33">
            <a:extLst>
              <a:ext uri="{FF2B5EF4-FFF2-40B4-BE49-F238E27FC236}">
                <a16:creationId xmlns:a16="http://schemas.microsoft.com/office/drawing/2014/main" id="{70EAD39F-1826-A592-FBBB-BB3BCCDF1D2A}"/>
              </a:ext>
            </a:extLst>
          </p:cNvPr>
          <p:cNvSpPr/>
          <p:nvPr/>
        </p:nvSpPr>
        <p:spPr>
          <a:xfrm>
            <a:off x="1466773" y="3828251"/>
            <a:ext cx="95238" cy="94666"/>
          </a:xfrm>
          <a:prstGeom prst="ellipse">
            <a:avLst/>
          </a:prstGeom>
          <a:solidFill>
            <a:srgbClr val="C00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sp>
        <p:nvSpPr>
          <p:cNvPr id="35" name="Oval 34">
            <a:extLst>
              <a:ext uri="{FF2B5EF4-FFF2-40B4-BE49-F238E27FC236}">
                <a16:creationId xmlns:a16="http://schemas.microsoft.com/office/drawing/2014/main" id="{070233A6-05AA-280B-19D7-51C111D55A17}"/>
              </a:ext>
            </a:extLst>
          </p:cNvPr>
          <p:cNvSpPr/>
          <p:nvPr/>
        </p:nvSpPr>
        <p:spPr>
          <a:xfrm>
            <a:off x="1466773" y="4259198"/>
            <a:ext cx="95238" cy="94666"/>
          </a:xfrm>
          <a:prstGeom prst="ellipse">
            <a:avLst/>
          </a:prstGeom>
          <a:solidFill>
            <a:srgbClr val="C00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sp>
        <p:nvSpPr>
          <p:cNvPr id="53" name="Oval 52">
            <a:extLst>
              <a:ext uri="{FF2B5EF4-FFF2-40B4-BE49-F238E27FC236}">
                <a16:creationId xmlns:a16="http://schemas.microsoft.com/office/drawing/2014/main" id="{CDE191BD-1D15-264F-73A6-A9957CA3E759}"/>
              </a:ext>
            </a:extLst>
          </p:cNvPr>
          <p:cNvSpPr/>
          <p:nvPr/>
        </p:nvSpPr>
        <p:spPr>
          <a:xfrm>
            <a:off x="1466773" y="4682200"/>
            <a:ext cx="95238" cy="94666"/>
          </a:xfrm>
          <a:prstGeom prst="ellipse">
            <a:avLst/>
          </a:prstGeom>
          <a:solidFill>
            <a:srgbClr val="C00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81"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sp>
        <p:nvSpPr>
          <p:cNvPr id="83" name="Title 1">
            <a:extLst>
              <a:ext uri="{FF2B5EF4-FFF2-40B4-BE49-F238E27FC236}">
                <a16:creationId xmlns:a16="http://schemas.microsoft.com/office/drawing/2014/main" id="{4EA5FF3C-7567-82BE-E62D-E47427203594}"/>
              </a:ext>
            </a:extLst>
          </p:cNvPr>
          <p:cNvSpPr>
            <a:spLocks noGrp="1"/>
          </p:cNvSpPr>
          <p:nvPr>
            <p:ph type="title"/>
          </p:nvPr>
        </p:nvSpPr>
        <p:spPr>
          <a:xfrm>
            <a:off x="384048" y="381000"/>
            <a:ext cx="11420856" cy="533400"/>
          </a:xfrm>
        </p:spPr>
        <p:txBody>
          <a:bodyPr/>
          <a:lstStyle/>
          <a:p>
            <a:r>
              <a:rPr lang="en-CA" sz="2400">
                <a:cs typeface="Arial"/>
              </a:rPr>
              <a:t>Strategic Work Packages / Initiatives &amp; Objectives - Cloud Foundations Specific</a:t>
            </a:r>
            <a:endParaRPr lang="en-US"/>
          </a:p>
        </p:txBody>
      </p:sp>
      <p:graphicFrame>
        <p:nvGraphicFramePr>
          <p:cNvPr id="12" name="Table 11">
            <a:extLst>
              <a:ext uri="{FF2B5EF4-FFF2-40B4-BE49-F238E27FC236}">
                <a16:creationId xmlns:a16="http://schemas.microsoft.com/office/drawing/2014/main" id="{0092CA69-68EF-C3D7-34A2-1C3CCF76235A}"/>
              </a:ext>
            </a:extLst>
          </p:cNvPr>
          <p:cNvGraphicFramePr>
            <a:graphicFrameLocks noGrp="1"/>
          </p:cNvGraphicFramePr>
          <p:nvPr>
            <p:extLst>
              <p:ext uri="{D42A27DB-BD31-4B8C-83A1-F6EECF244321}">
                <p14:modId xmlns:p14="http://schemas.microsoft.com/office/powerpoint/2010/main" val="3132897146"/>
              </p:ext>
            </p:extLst>
          </p:nvPr>
        </p:nvGraphicFramePr>
        <p:xfrm>
          <a:off x="1734365" y="1533679"/>
          <a:ext cx="10081264" cy="4241007"/>
        </p:xfrm>
        <a:graphic>
          <a:graphicData uri="http://schemas.openxmlformats.org/drawingml/2006/table">
            <a:tbl>
              <a:tblPr firstRow="1" bandRow="1">
                <a:tableStyleId>{5C22544A-7EE6-4342-B048-85BDC9FD1C3A}</a:tableStyleId>
              </a:tblPr>
              <a:tblGrid>
                <a:gridCol w="2528047">
                  <a:extLst>
                    <a:ext uri="{9D8B030D-6E8A-4147-A177-3AD203B41FA5}">
                      <a16:colId xmlns:a16="http://schemas.microsoft.com/office/drawing/2014/main" val="703374884"/>
                    </a:ext>
                  </a:extLst>
                </a:gridCol>
                <a:gridCol w="7553217">
                  <a:extLst>
                    <a:ext uri="{9D8B030D-6E8A-4147-A177-3AD203B41FA5}">
                      <a16:colId xmlns:a16="http://schemas.microsoft.com/office/drawing/2014/main" val="6324210"/>
                    </a:ext>
                  </a:extLst>
                </a:gridCol>
              </a:tblGrid>
              <a:tr h="424101">
                <a:tc>
                  <a:txBody>
                    <a:bodyPr/>
                    <a:lstStyle/>
                    <a:p>
                      <a:pPr lvl="0">
                        <a:buNone/>
                      </a:pPr>
                      <a:r>
                        <a:rPr lang="en-US" sz="1000" b="1" i="0" u="none" strike="noStrike" noProof="0">
                          <a:solidFill>
                            <a:srgbClr val="000000"/>
                          </a:solidFill>
                        </a:rPr>
                        <a:t>C1:</a:t>
                      </a:r>
                      <a:r>
                        <a:rPr lang="en-US" sz="1000" b="0" i="0" u="none" strike="noStrike" noProof="0">
                          <a:solidFill>
                            <a:srgbClr val="000000"/>
                          </a:solidFill>
                        </a:rPr>
                        <a:t> Cloud Log Forwarding Platform</a:t>
                      </a:r>
                      <a:endParaRPr lang="en-US" sz="1000">
                        <a:solidFill>
                          <a:srgbClr val="000000"/>
                        </a:solidFill>
                      </a:endParaRPr>
                    </a:p>
                  </a:txBody>
                  <a:tcPr anchor="ctr">
                    <a:solidFill>
                      <a:schemeClr val="bg1">
                        <a:lumMod val="95000"/>
                      </a:schemeClr>
                    </a:solidFill>
                  </a:tcPr>
                </a:tc>
                <a:tc>
                  <a:txBody>
                    <a:bodyPr/>
                    <a:lstStyle/>
                    <a:p>
                      <a:pPr lvl="0">
                        <a:buNone/>
                      </a:pPr>
                      <a:r>
                        <a:rPr lang="en-US" sz="1000" b="0" i="0" u="none" strike="noStrike" noProof="0">
                          <a:solidFill>
                            <a:srgbClr val="000000"/>
                          </a:solidFill>
                          <a:latin typeface="Arial"/>
                        </a:rPr>
                        <a:t>Reduce complexity and costs of cloud native log bus, close gap on s3 based log retrieval, noise/volume reduction of shipped logs.</a:t>
                      </a:r>
                      <a:endParaRPr lang="en-US" sz="1000">
                        <a:solidFill>
                          <a:srgbClr val="000000"/>
                        </a:solidFill>
                      </a:endParaRPr>
                    </a:p>
                  </a:txBody>
                  <a:tcPr anchor="ctr">
                    <a:solidFill>
                      <a:schemeClr val="bg1">
                        <a:lumMod val="95000"/>
                      </a:schemeClr>
                    </a:solidFill>
                  </a:tcPr>
                </a:tc>
                <a:extLst>
                  <a:ext uri="{0D108BD9-81ED-4DB2-BD59-A6C34878D82A}">
                    <a16:rowId xmlns:a16="http://schemas.microsoft.com/office/drawing/2014/main" val="4196109915"/>
                  </a:ext>
                </a:extLst>
              </a:tr>
              <a:tr h="424101">
                <a:tc>
                  <a:txBody>
                    <a:bodyPr/>
                    <a:lstStyle/>
                    <a:p>
                      <a:pPr marL="0" lvl="0" algn="l">
                        <a:buNone/>
                      </a:pPr>
                      <a:r>
                        <a:rPr lang="en-US" sz="1000" b="1" i="0" u="none" strike="noStrike" kern="1200" noProof="0">
                          <a:solidFill>
                            <a:srgbClr val="000000"/>
                          </a:solidFill>
                          <a:latin typeface="Arial"/>
                        </a:rPr>
                        <a:t>C2: </a:t>
                      </a:r>
                      <a:r>
                        <a:rPr lang="en-US" sz="1000" b="0" i="0" u="none" strike="noStrike" kern="1200" noProof="0">
                          <a:solidFill>
                            <a:srgbClr val="000000"/>
                          </a:solidFill>
                          <a:latin typeface="+mn-lt"/>
                          <a:ea typeface="+mn-ea"/>
                          <a:cs typeface="+mn-cs"/>
                        </a:rPr>
                        <a:t>Hardened Container Image Platform</a:t>
                      </a:r>
                      <a:endParaRPr lang="en-US" sz="1000" b="0" i="0" u="none" strike="noStrike" kern="1200">
                        <a:solidFill>
                          <a:srgbClr val="000000"/>
                        </a:solidFill>
                        <a:latin typeface="+mn-lt"/>
                        <a:ea typeface="+mn-ea"/>
                        <a:cs typeface="+mn-cs"/>
                      </a:endParaRPr>
                    </a:p>
                  </a:txBody>
                  <a:tcPr anchor="ctr">
                    <a:solidFill>
                      <a:schemeClr val="bg1">
                        <a:lumMod val="95000"/>
                      </a:schemeClr>
                    </a:solidFill>
                  </a:tcPr>
                </a:tc>
                <a:tc>
                  <a:txBody>
                    <a:bodyPr/>
                    <a:lstStyle/>
                    <a:p>
                      <a:pPr marL="0" lvl="0" algn="l" defTabSz="685800" rtl="0" eaLnBrk="1" latinLnBrk="0" hangingPunct="1">
                        <a:buNone/>
                      </a:pPr>
                      <a:r>
                        <a:rPr lang="en-US" sz="1000" b="0" i="0" u="none" strike="noStrike" kern="1200" noProof="0">
                          <a:solidFill>
                            <a:srgbClr val="000000"/>
                          </a:solidFill>
                          <a:latin typeface="+mn-lt"/>
                          <a:ea typeface="+mn-ea"/>
                          <a:cs typeface="+mn-cs"/>
                        </a:rPr>
                        <a:t>Simplify container image currency management and lifecycle</a:t>
                      </a:r>
                      <a:endParaRPr lang="en-US" sz="1000" b="0" i="0" u="none" strike="noStrike" kern="1200">
                        <a:solidFill>
                          <a:srgbClr val="000000"/>
                        </a:solidFill>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1628608952"/>
                  </a:ext>
                </a:extLst>
              </a:tr>
              <a:tr h="424101">
                <a:tc>
                  <a:txBody>
                    <a:bodyPr/>
                    <a:lstStyle/>
                    <a:p>
                      <a:pPr marL="0" lvl="0" algn="l">
                        <a:buNone/>
                      </a:pPr>
                      <a:r>
                        <a:rPr lang="en-US" sz="1000" b="1" i="0" u="none" strike="noStrike" kern="1200" noProof="0">
                          <a:solidFill>
                            <a:srgbClr val="000000"/>
                          </a:solidFill>
                          <a:latin typeface="Arial"/>
                        </a:rPr>
                        <a:t>C3: </a:t>
                      </a:r>
                      <a:r>
                        <a:rPr lang="en-US" sz="1000" b="0" i="0" u="none" strike="noStrike" kern="1200" noProof="0">
                          <a:solidFill>
                            <a:srgbClr val="000000"/>
                          </a:solidFill>
                          <a:latin typeface="Arial"/>
                        </a:rPr>
                        <a:t>Tagging Automation</a:t>
                      </a:r>
                      <a:endParaRPr lang="en-US" sz="1000" b="0" i="0" u="none" strike="noStrike" kern="1200" noProof="0">
                        <a:solidFill>
                          <a:srgbClr val="000000"/>
                        </a:solidFill>
                        <a:latin typeface="+mn-lt"/>
                        <a:ea typeface="+mn-ea"/>
                        <a:cs typeface="+mn-cs"/>
                      </a:endParaRPr>
                    </a:p>
                  </a:txBody>
                  <a:tcPr anchor="ctr">
                    <a:solidFill>
                      <a:schemeClr val="bg1">
                        <a:lumMod val="95000"/>
                      </a:schemeClr>
                    </a:solidFill>
                  </a:tcPr>
                </a:tc>
                <a:tc>
                  <a:txBody>
                    <a:bodyPr/>
                    <a:lstStyle/>
                    <a:p>
                      <a:pPr lvl="0" algn="l">
                        <a:lnSpc>
                          <a:spcPct val="100000"/>
                        </a:lnSpc>
                        <a:spcBef>
                          <a:spcPts val="0"/>
                        </a:spcBef>
                        <a:spcAft>
                          <a:spcPts val="0"/>
                        </a:spcAft>
                        <a:buNone/>
                      </a:pPr>
                      <a:r>
                        <a:rPr lang="en-US" sz="1000" b="0" i="0" u="none" strike="noStrike" kern="1200" noProof="0">
                          <a:solidFill>
                            <a:srgbClr val="000000"/>
                          </a:solidFill>
                          <a:latin typeface="Arial"/>
                        </a:rPr>
                        <a:t>Introduce automated tag management via ServiceNow, ensuring CMDB updates are reflected on workload tags.</a:t>
                      </a:r>
                      <a:endParaRPr lang="en-US" sz="1000" b="0" i="0" u="none" strike="noStrike" kern="1200">
                        <a:solidFill>
                          <a:srgbClr val="000000"/>
                        </a:solidFill>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4006221998"/>
                  </a:ext>
                </a:extLst>
              </a:tr>
              <a:tr h="424100">
                <a:tc>
                  <a:txBody>
                    <a:bodyPr/>
                    <a:lstStyle/>
                    <a:p>
                      <a:pPr lvl="0" algn="l">
                        <a:lnSpc>
                          <a:spcPct val="100000"/>
                        </a:lnSpc>
                        <a:spcBef>
                          <a:spcPts val="0"/>
                        </a:spcBef>
                        <a:spcAft>
                          <a:spcPts val="0"/>
                        </a:spcAft>
                        <a:buNone/>
                      </a:pPr>
                      <a:r>
                        <a:rPr lang="en-US" sz="1000" b="1" i="0" u="none" strike="noStrike" kern="1200" noProof="0">
                          <a:solidFill>
                            <a:srgbClr val="000000"/>
                          </a:solidFill>
                          <a:latin typeface="Arial"/>
                        </a:rPr>
                        <a:t>C4: </a:t>
                      </a:r>
                      <a:r>
                        <a:rPr lang="en-US" sz="1000" b="0" i="0" u="none" strike="noStrike" kern="1200" noProof="0">
                          <a:solidFill>
                            <a:srgbClr val="000000"/>
                          </a:solidFill>
                          <a:latin typeface="Arial"/>
                        </a:rPr>
                        <a:t>Self Service tooling</a:t>
                      </a:r>
                      <a:endParaRPr lang="en-CA" sz="1000" b="0" i="0" u="none" strike="noStrike" kern="1200" noProof="0">
                        <a:solidFill>
                          <a:srgbClr val="000000"/>
                        </a:solidFill>
                        <a:latin typeface="+mn-lt"/>
                        <a:ea typeface="+mn-ea"/>
                        <a:cs typeface="+mn-cs"/>
                      </a:endParaRPr>
                    </a:p>
                  </a:txBody>
                  <a:tcPr anchor="ctr">
                    <a:solidFill>
                      <a:schemeClr val="bg1">
                        <a:lumMod val="95000"/>
                      </a:schemeClr>
                    </a:solidFill>
                  </a:tcPr>
                </a:tc>
                <a:tc>
                  <a:txBody>
                    <a:bodyPr/>
                    <a:lstStyle/>
                    <a:p>
                      <a:pPr lvl="0" algn="l">
                        <a:lnSpc>
                          <a:spcPct val="100000"/>
                        </a:lnSpc>
                        <a:spcBef>
                          <a:spcPts val="0"/>
                        </a:spcBef>
                        <a:spcAft>
                          <a:spcPts val="0"/>
                        </a:spcAft>
                        <a:buNone/>
                      </a:pPr>
                      <a:r>
                        <a:rPr lang="en-US" sz="1000" b="0" i="0" u="none" strike="noStrike" kern="1200" noProof="0">
                          <a:solidFill>
                            <a:srgbClr val="000000"/>
                          </a:solidFill>
                          <a:latin typeface="Arial"/>
                        </a:rPr>
                        <a:t>Enabling teams to self-service common cloud patterns, increase efficiency by shifting left.</a:t>
                      </a:r>
                      <a:endParaRPr lang="en-US" sz="1000" b="0" i="0" u="none" strike="noStrike" kern="1200" noProof="0">
                        <a:solidFill>
                          <a:srgbClr val="515349"/>
                        </a:solidFill>
                        <a:latin typeface="Arial"/>
                      </a:endParaRPr>
                    </a:p>
                  </a:txBody>
                  <a:tcPr anchor="ctr">
                    <a:solidFill>
                      <a:schemeClr val="bg1">
                        <a:lumMod val="95000"/>
                      </a:schemeClr>
                    </a:solidFill>
                  </a:tcPr>
                </a:tc>
                <a:extLst>
                  <a:ext uri="{0D108BD9-81ED-4DB2-BD59-A6C34878D82A}">
                    <a16:rowId xmlns:a16="http://schemas.microsoft.com/office/drawing/2014/main" val="395796678"/>
                  </a:ext>
                </a:extLst>
              </a:tr>
              <a:tr h="424101">
                <a:tc>
                  <a:txBody>
                    <a:bodyPr/>
                    <a:lstStyle/>
                    <a:p>
                      <a:pPr lvl="0" algn="l">
                        <a:lnSpc>
                          <a:spcPct val="100000"/>
                        </a:lnSpc>
                        <a:spcBef>
                          <a:spcPts val="0"/>
                        </a:spcBef>
                        <a:spcAft>
                          <a:spcPts val="0"/>
                        </a:spcAft>
                        <a:buNone/>
                      </a:pPr>
                      <a:r>
                        <a:rPr lang="en-US" sz="1000" b="1" i="0" u="none" strike="noStrike" kern="1200" noProof="0">
                          <a:solidFill>
                            <a:srgbClr val="000000"/>
                          </a:solidFill>
                          <a:latin typeface="Arial"/>
                        </a:rPr>
                        <a:t>C5: </a:t>
                      </a:r>
                      <a:r>
                        <a:rPr lang="en-CA" sz="1000" b="0" i="0" u="none" strike="noStrike" kern="1200" noProof="0">
                          <a:solidFill>
                            <a:srgbClr val="000000"/>
                          </a:solidFill>
                          <a:latin typeface="Arial"/>
                        </a:rPr>
                        <a:t>GCP GKE workloads Exit</a:t>
                      </a:r>
                      <a:endParaRPr lang="en-US" sz="1000" b="0" i="0" u="none" strike="noStrike" kern="1200" noProof="0">
                        <a:solidFill>
                          <a:srgbClr val="515349"/>
                        </a:solidFill>
                        <a:latin typeface="Arial"/>
                      </a:endParaRPr>
                    </a:p>
                  </a:txBody>
                  <a:tcPr anchor="ctr">
                    <a:solidFill>
                      <a:schemeClr val="bg1">
                        <a:lumMod val="95000"/>
                      </a:schemeClr>
                    </a:solidFill>
                  </a:tcPr>
                </a:tc>
                <a:tc>
                  <a:txBody>
                    <a:bodyPr/>
                    <a:lstStyle/>
                    <a:p>
                      <a:pPr lvl="0" algn="l">
                        <a:lnSpc>
                          <a:spcPct val="100000"/>
                        </a:lnSpc>
                        <a:spcBef>
                          <a:spcPts val="0"/>
                        </a:spcBef>
                        <a:spcAft>
                          <a:spcPts val="0"/>
                        </a:spcAft>
                        <a:buNone/>
                      </a:pPr>
                      <a:r>
                        <a:rPr lang="en-US" sz="1000" b="0" i="0" u="none" strike="noStrike" kern="1200" noProof="0">
                          <a:solidFill>
                            <a:srgbClr val="000000"/>
                          </a:solidFill>
                          <a:latin typeface="Arial"/>
                        </a:rPr>
                        <a:t>Decommission all workloads from GCP GKE and migrate to the target cloud platform to optimize cost, simplify operations, and align with strategic cloud architecture.</a:t>
                      </a:r>
                      <a:endParaRPr lang="en-US" sz="1000" b="0" i="0" u="none" strike="noStrike" kern="1200" noProof="0">
                        <a:solidFill>
                          <a:srgbClr val="515349"/>
                        </a:solidFill>
                        <a:latin typeface="Arial"/>
                      </a:endParaRPr>
                    </a:p>
                  </a:txBody>
                  <a:tcPr anchor="ctr">
                    <a:solidFill>
                      <a:schemeClr val="bg1">
                        <a:lumMod val="95000"/>
                      </a:schemeClr>
                    </a:solidFill>
                  </a:tcPr>
                </a:tc>
                <a:extLst>
                  <a:ext uri="{0D108BD9-81ED-4DB2-BD59-A6C34878D82A}">
                    <a16:rowId xmlns:a16="http://schemas.microsoft.com/office/drawing/2014/main" val="3205496116"/>
                  </a:ext>
                </a:extLst>
              </a:tr>
              <a:tr h="424101">
                <a:tc>
                  <a:txBody>
                    <a:bodyPr/>
                    <a:lstStyle/>
                    <a:p>
                      <a:pPr marL="0" lvl="0" algn="l">
                        <a:buNone/>
                      </a:pPr>
                      <a:r>
                        <a:rPr lang="en-US" sz="1000" b="1" i="0" u="none" strike="noStrike" kern="1200" noProof="0">
                          <a:solidFill>
                            <a:srgbClr val="000000"/>
                          </a:solidFill>
                          <a:latin typeface="Arial"/>
                        </a:rPr>
                        <a:t>C6: </a:t>
                      </a:r>
                      <a:r>
                        <a:rPr lang="en-US" sz="1000" b="0" i="0" u="none" strike="noStrike" kern="1200" noProof="0">
                          <a:solidFill>
                            <a:srgbClr val="000000"/>
                          </a:solidFill>
                          <a:latin typeface="Arial"/>
                        </a:rPr>
                        <a:t>Tetrate Service Bridge (TSB) Enhancements</a:t>
                      </a:r>
                      <a:endParaRPr lang="en-US" sz="1000" b="0" i="0" u="none" strike="noStrike" kern="1200" noProof="0">
                        <a:solidFill>
                          <a:srgbClr val="000000"/>
                        </a:solidFill>
                        <a:latin typeface="+mn-lt"/>
                        <a:ea typeface="+mn-ea"/>
                        <a:cs typeface="+mn-cs"/>
                      </a:endParaRPr>
                    </a:p>
                  </a:txBody>
                  <a:tcPr anchor="ctr">
                    <a:solidFill>
                      <a:schemeClr val="bg1">
                        <a:lumMod val="95000"/>
                      </a:schemeClr>
                    </a:solidFill>
                  </a:tcPr>
                </a:tc>
                <a:tc>
                  <a:txBody>
                    <a:bodyPr/>
                    <a:lstStyle/>
                    <a:p>
                      <a:pPr lvl="0" algn="l">
                        <a:lnSpc>
                          <a:spcPct val="100000"/>
                        </a:lnSpc>
                        <a:spcBef>
                          <a:spcPts val="0"/>
                        </a:spcBef>
                        <a:spcAft>
                          <a:spcPts val="0"/>
                        </a:spcAft>
                        <a:buNone/>
                      </a:pPr>
                      <a:r>
                        <a:rPr lang="en-US" sz="1000" b="0" i="0" u="none" strike="noStrike" kern="1200" noProof="0">
                          <a:solidFill>
                            <a:srgbClr val="000000"/>
                          </a:solidFill>
                          <a:latin typeface="Arial"/>
                        </a:rPr>
                        <a:t>Extend Tetrate Service Bridge to Azure for a centralized mesh solution.</a:t>
                      </a:r>
                      <a:endParaRPr lang="en-US" sz="1000" b="0" i="0" u="none" strike="noStrike" kern="1200">
                        <a:solidFill>
                          <a:srgbClr val="000000"/>
                        </a:solidFill>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4002417429"/>
                  </a:ext>
                </a:extLst>
              </a:tr>
              <a:tr h="424101">
                <a:tc>
                  <a:txBody>
                    <a:bodyPr/>
                    <a:lstStyle/>
                    <a:p>
                      <a:pPr marL="0" lvl="0" algn="l">
                        <a:buNone/>
                      </a:pPr>
                      <a:r>
                        <a:rPr lang="en-US" sz="1000" b="1" i="0" u="none" strike="noStrike" kern="1200" noProof="0">
                          <a:solidFill>
                            <a:srgbClr val="000000"/>
                          </a:solidFill>
                          <a:latin typeface="Arial"/>
                        </a:rPr>
                        <a:t>C7: </a:t>
                      </a:r>
                      <a:r>
                        <a:rPr lang="en-US" sz="1000" b="0" i="0" u="none" strike="noStrike" kern="1200" noProof="0">
                          <a:solidFill>
                            <a:srgbClr val="000000"/>
                          </a:solidFill>
                          <a:latin typeface="+mn-lt"/>
                          <a:ea typeface="+mn-ea"/>
                          <a:cs typeface="+mn-cs"/>
                        </a:rPr>
                        <a:t>Chaos Resiliency Testing</a:t>
                      </a:r>
                      <a:endParaRPr lang="en-US" sz="1000" b="0" i="0" u="none" strike="noStrike" kern="1200">
                        <a:solidFill>
                          <a:srgbClr val="000000"/>
                        </a:solidFill>
                        <a:latin typeface="+mn-lt"/>
                        <a:ea typeface="+mn-ea"/>
                        <a:cs typeface="+mn-cs"/>
                      </a:endParaRPr>
                    </a:p>
                  </a:txBody>
                  <a:tcPr anchor="ctr">
                    <a:solidFill>
                      <a:schemeClr val="bg1">
                        <a:lumMod val="95000"/>
                      </a:schemeClr>
                    </a:solidFill>
                  </a:tcPr>
                </a:tc>
                <a:tc>
                  <a:txBody>
                    <a:bodyPr/>
                    <a:lstStyle/>
                    <a:p>
                      <a:pPr marL="0" lvl="0" algn="l" defTabSz="685800" rtl="0" eaLnBrk="1" latinLnBrk="0" hangingPunct="1">
                        <a:buNone/>
                      </a:pPr>
                      <a:r>
                        <a:rPr lang="en-US" sz="1000" b="0" i="0" u="none" strike="noStrike" kern="1200" noProof="0">
                          <a:solidFill>
                            <a:srgbClr val="000000"/>
                          </a:solidFill>
                          <a:latin typeface="+mn-lt"/>
                          <a:ea typeface="+mn-ea"/>
                          <a:cs typeface="+mn-cs"/>
                        </a:rPr>
                        <a:t>Chaos testing as a service offering. Providing teams with the ability to deploy chaos testing for resiliency and DR scenarios.</a:t>
                      </a:r>
                      <a:endParaRPr lang="en-US" sz="1000" b="0" i="0" u="none" strike="noStrike" kern="1200">
                        <a:solidFill>
                          <a:srgbClr val="000000"/>
                        </a:solidFill>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800951551"/>
                  </a:ext>
                </a:extLst>
              </a:tr>
              <a:tr h="424101">
                <a:tc>
                  <a:txBody>
                    <a:bodyPr/>
                    <a:lstStyle/>
                    <a:p>
                      <a:pPr marL="0" lvl="0" algn="l">
                        <a:buNone/>
                      </a:pPr>
                      <a:r>
                        <a:rPr lang="en-US" sz="1000" b="1" i="0" u="none" strike="noStrike" kern="1200" noProof="0">
                          <a:solidFill>
                            <a:srgbClr val="000000"/>
                          </a:solidFill>
                          <a:latin typeface="Arial"/>
                        </a:rPr>
                        <a:t>C8: </a:t>
                      </a:r>
                      <a:r>
                        <a:rPr lang="en-US" sz="1000" b="0" i="0" u="none" strike="noStrike" kern="1200" noProof="0">
                          <a:solidFill>
                            <a:srgbClr val="000000"/>
                          </a:solidFill>
                          <a:latin typeface="+mn-lt"/>
                          <a:ea typeface="+mn-ea"/>
                          <a:cs typeface="+mn-cs"/>
                        </a:rPr>
                        <a:t>Network Security Groups Automation</a:t>
                      </a:r>
                      <a:endParaRPr lang="en-US" sz="1000" b="0" i="0" u="none" strike="noStrike" kern="1200">
                        <a:solidFill>
                          <a:srgbClr val="000000"/>
                        </a:solidFill>
                        <a:latin typeface="+mn-lt"/>
                        <a:ea typeface="+mn-ea"/>
                        <a:cs typeface="+mn-cs"/>
                      </a:endParaRPr>
                    </a:p>
                  </a:txBody>
                  <a:tcPr anchor="ctr">
                    <a:solidFill>
                      <a:schemeClr val="bg1">
                        <a:lumMod val="95000"/>
                      </a:schemeClr>
                    </a:solidFill>
                  </a:tcPr>
                </a:tc>
                <a:tc>
                  <a:txBody>
                    <a:bodyPr/>
                    <a:lstStyle/>
                    <a:p>
                      <a:pPr marL="0" lvl="0" algn="l" rtl="0">
                        <a:buNone/>
                      </a:pPr>
                      <a:r>
                        <a:rPr lang="en-US" sz="1000" b="0" i="0" u="none" strike="noStrike" kern="1200" noProof="0">
                          <a:solidFill>
                            <a:srgbClr val="000000"/>
                          </a:solidFill>
                          <a:latin typeface="+mn-lt"/>
                          <a:ea typeface="+mn-ea"/>
                          <a:cs typeface="+mn-cs"/>
                        </a:rPr>
                        <a:t>Control and limit intra-VPC/VNET traffic with automated end to end rule sets. Strengthen our foundation security with additional layers of protect.</a:t>
                      </a:r>
                    </a:p>
                  </a:txBody>
                  <a:tcPr anchor="ctr">
                    <a:solidFill>
                      <a:schemeClr val="bg1">
                        <a:lumMod val="95000"/>
                      </a:schemeClr>
                    </a:solidFill>
                  </a:tcPr>
                </a:tc>
                <a:extLst>
                  <a:ext uri="{0D108BD9-81ED-4DB2-BD59-A6C34878D82A}">
                    <a16:rowId xmlns:a16="http://schemas.microsoft.com/office/drawing/2014/main" val="654616153"/>
                  </a:ext>
                </a:extLst>
              </a:tr>
              <a:tr h="424100">
                <a:tc>
                  <a:txBody>
                    <a:bodyPr/>
                    <a:lstStyle/>
                    <a:p>
                      <a:pPr marL="0" lvl="0" algn="l">
                        <a:buNone/>
                      </a:pPr>
                      <a:r>
                        <a:rPr lang="en-US" sz="1000" b="1" i="0" u="none" strike="noStrike" kern="1200" noProof="0">
                          <a:solidFill>
                            <a:srgbClr val="000000"/>
                          </a:solidFill>
                          <a:latin typeface="Arial"/>
                        </a:rPr>
                        <a:t>C9: </a:t>
                      </a:r>
                      <a:r>
                        <a:rPr lang="en-US" sz="1000" b="0" i="0" u="none" strike="noStrike" kern="1200" noProof="0">
                          <a:solidFill>
                            <a:srgbClr val="000000"/>
                          </a:solidFill>
                          <a:latin typeface="+mn-lt"/>
                          <a:ea typeface="+mn-ea"/>
                          <a:cs typeface="+mn-cs"/>
                        </a:rPr>
                        <a:t>Proactive/Self Recovery</a:t>
                      </a:r>
                      <a:endParaRPr lang="en-US" sz="1000" b="0" i="0" u="none" strike="noStrike" kern="1200">
                        <a:solidFill>
                          <a:srgbClr val="000000"/>
                        </a:solidFill>
                        <a:latin typeface="+mn-lt"/>
                        <a:ea typeface="+mn-ea"/>
                        <a:cs typeface="+mn-cs"/>
                      </a:endParaRPr>
                    </a:p>
                  </a:txBody>
                  <a:tcPr anchor="ctr">
                    <a:solidFill>
                      <a:schemeClr val="bg1">
                        <a:lumMod val="95000"/>
                      </a:schemeClr>
                    </a:solidFill>
                  </a:tcPr>
                </a:tc>
                <a:tc>
                  <a:txBody>
                    <a:bodyPr/>
                    <a:lstStyle/>
                    <a:p>
                      <a:pPr marL="0" lvl="0" algn="l" rtl="0">
                        <a:buNone/>
                      </a:pPr>
                      <a:r>
                        <a:rPr lang="en-US" sz="1000" b="0" i="0" u="none" strike="noStrike" kern="1200" noProof="0">
                          <a:solidFill>
                            <a:srgbClr val="000000"/>
                          </a:solidFill>
                          <a:latin typeface="+mn-lt"/>
                          <a:ea typeface="+mn-ea"/>
                          <a:cs typeface="+mn-cs"/>
                        </a:rPr>
                        <a:t>Evaluate proactive monitoring tooling.  Implement automated recovery solutions for common failure scenarios to reduce INC and recovery time.</a:t>
                      </a:r>
                      <a:endParaRPr lang="en-US"/>
                    </a:p>
                  </a:txBody>
                  <a:tcPr anchor="ctr">
                    <a:solidFill>
                      <a:schemeClr val="bg1">
                        <a:lumMod val="95000"/>
                      </a:schemeClr>
                    </a:solidFill>
                  </a:tcPr>
                </a:tc>
                <a:extLst>
                  <a:ext uri="{0D108BD9-81ED-4DB2-BD59-A6C34878D82A}">
                    <a16:rowId xmlns:a16="http://schemas.microsoft.com/office/drawing/2014/main" val="2788124659"/>
                  </a:ext>
                </a:extLst>
              </a:tr>
              <a:tr h="424100">
                <a:tc>
                  <a:txBody>
                    <a:bodyPr/>
                    <a:lstStyle/>
                    <a:p>
                      <a:pPr marL="0" lvl="0" algn="l">
                        <a:buNone/>
                      </a:pPr>
                      <a:r>
                        <a:rPr lang="en-US" sz="1000" b="1" i="0" u="none" strike="noStrike" kern="1200" noProof="0">
                          <a:solidFill>
                            <a:srgbClr val="000000"/>
                          </a:solidFill>
                          <a:latin typeface="+mn-lt"/>
                          <a:ea typeface="+mn-ea"/>
                          <a:cs typeface="+mn-cs"/>
                        </a:rPr>
                        <a:t>C10:</a:t>
                      </a:r>
                      <a:r>
                        <a:rPr lang="en-US" sz="1000" b="0" i="0" u="none" strike="noStrike" kern="1200" noProof="0">
                          <a:solidFill>
                            <a:srgbClr val="000000"/>
                          </a:solidFill>
                          <a:latin typeface="+mn-lt"/>
                          <a:ea typeface="+mn-ea"/>
                          <a:cs typeface="+mn-cs"/>
                        </a:rPr>
                        <a:t> Multi Region Patterns</a:t>
                      </a:r>
                      <a:endParaRPr lang="en-US" sz="1000" b="0" i="0" u="none" strike="noStrike" kern="1200">
                        <a:solidFill>
                          <a:srgbClr val="000000"/>
                        </a:solidFill>
                        <a:latin typeface="+mn-lt"/>
                        <a:ea typeface="+mn-ea"/>
                        <a:cs typeface="+mn-cs"/>
                      </a:endParaRPr>
                    </a:p>
                  </a:txBody>
                  <a:tcPr anchor="ctr">
                    <a:solidFill>
                      <a:schemeClr val="bg1">
                        <a:lumMod val="95000"/>
                      </a:schemeClr>
                    </a:solidFill>
                  </a:tcPr>
                </a:tc>
                <a:tc>
                  <a:txBody>
                    <a:bodyPr/>
                    <a:lstStyle/>
                    <a:p>
                      <a:pPr marL="0" lvl="0" algn="l" rtl="0">
                        <a:buNone/>
                      </a:pPr>
                      <a:r>
                        <a:rPr lang="en-US" sz="1000" b="0" i="0" u="none" strike="noStrike" kern="1200" noProof="0">
                          <a:solidFill>
                            <a:srgbClr val="000000"/>
                          </a:solidFill>
                          <a:latin typeface="+mn-lt"/>
                          <a:ea typeface="+mn-ea"/>
                          <a:cs typeface="+mn-cs"/>
                        </a:rPr>
                        <a:t>Prepare for future architecture with multi region deployment patterns for service catalogue. </a:t>
                      </a:r>
                      <a:endParaRPr lang="en-US" sz="1000" b="0" i="0" u="none" strike="noStrike" kern="1200">
                        <a:solidFill>
                          <a:srgbClr val="000000"/>
                        </a:solidFill>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741733782"/>
                  </a:ext>
                </a:extLst>
              </a:tr>
            </a:tbl>
          </a:graphicData>
        </a:graphic>
      </p:graphicFrame>
      <p:sp>
        <p:nvSpPr>
          <p:cNvPr id="2" name="Oval 1">
            <a:extLst>
              <a:ext uri="{FF2B5EF4-FFF2-40B4-BE49-F238E27FC236}">
                <a16:creationId xmlns:a16="http://schemas.microsoft.com/office/drawing/2014/main" id="{C028666C-A823-60AD-3B13-D12E2428CBA2}"/>
              </a:ext>
            </a:extLst>
          </p:cNvPr>
          <p:cNvSpPr/>
          <p:nvPr/>
        </p:nvSpPr>
        <p:spPr>
          <a:xfrm>
            <a:off x="1466773" y="5105721"/>
            <a:ext cx="95238" cy="94666"/>
          </a:xfrm>
          <a:prstGeom prst="ellipse">
            <a:avLst/>
          </a:prstGeom>
          <a:solidFill>
            <a:srgbClr val="C00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pic>
        <p:nvPicPr>
          <p:cNvPr id="8" name="Graphic 258">
            <a:extLst>
              <a:ext uri="{FF2B5EF4-FFF2-40B4-BE49-F238E27FC236}">
                <a16:creationId xmlns:a16="http://schemas.microsoft.com/office/drawing/2014/main" id="{C31600DE-B6EE-0974-D810-FDAB221F78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97240" y="1192592"/>
            <a:ext cx="283885" cy="283885"/>
          </a:xfrm>
          <a:prstGeom prst="rect">
            <a:avLst/>
          </a:prstGeom>
        </p:spPr>
      </p:pic>
      <p:pic>
        <p:nvPicPr>
          <p:cNvPr id="9" name="Graphic 260">
            <a:extLst>
              <a:ext uri="{FF2B5EF4-FFF2-40B4-BE49-F238E27FC236}">
                <a16:creationId xmlns:a16="http://schemas.microsoft.com/office/drawing/2014/main" id="{B3792013-2158-5ECE-77AF-6B96F36DB5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26306" y="1192592"/>
            <a:ext cx="283885" cy="283885"/>
          </a:xfrm>
          <a:prstGeom prst="rect">
            <a:avLst/>
          </a:prstGeom>
        </p:spPr>
      </p:pic>
      <p:pic>
        <p:nvPicPr>
          <p:cNvPr id="10" name="Graphic 16">
            <a:extLst>
              <a:ext uri="{FF2B5EF4-FFF2-40B4-BE49-F238E27FC236}">
                <a16:creationId xmlns:a16="http://schemas.microsoft.com/office/drawing/2014/main" id="{9B4AD9CF-51A9-6D9A-69C6-7066686997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25218" y="1173738"/>
            <a:ext cx="283885" cy="283885"/>
          </a:xfrm>
          <a:prstGeom prst="rect">
            <a:avLst/>
          </a:prstGeom>
        </p:spPr>
      </p:pic>
      <p:sp>
        <p:nvSpPr>
          <p:cNvPr id="3" name="Oval 2">
            <a:extLst>
              <a:ext uri="{FF2B5EF4-FFF2-40B4-BE49-F238E27FC236}">
                <a16:creationId xmlns:a16="http://schemas.microsoft.com/office/drawing/2014/main" id="{7D3E363F-6160-0C6C-AB7B-1208957E9DC2}"/>
              </a:ext>
            </a:extLst>
          </p:cNvPr>
          <p:cNvSpPr/>
          <p:nvPr/>
        </p:nvSpPr>
        <p:spPr>
          <a:xfrm>
            <a:off x="1466773" y="5519647"/>
            <a:ext cx="95238" cy="94666"/>
          </a:xfrm>
          <a:prstGeom prst="ellipse">
            <a:avLst/>
          </a:prstGeom>
          <a:solidFill>
            <a:srgbClr val="C00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spTree>
    <p:extLst>
      <p:ext uri="{BB962C8B-B14F-4D97-AF65-F5344CB8AC3E}">
        <p14:creationId xmlns:p14="http://schemas.microsoft.com/office/powerpoint/2010/main" val="15956060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8B86B-A7E9-301A-475B-4C657242EA39}"/>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CC70317-0EAC-0E68-6B76-D88587B6B5EF}"/>
              </a:ext>
            </a:extLst>
          </p:cNvPr>
          <p:cNvSpPr>
            <a:spLocks noGrp="1"/>
          </p:cNvSpPr>
          <p:nvPr>
            <p:ph type="ftr" sz="quarter" idx="11"/>
          </p:nvPr>
        </p:nvSpPr>
        <p:spPr/>
        <p:txBody>
          <a:bodyPr/>
          <a:lstStyle/>
          <a:p>
            <a:r>
              <a:rPr lang="en-CA"/>
              <a:t>CONFIDENTIAL</a:t>
            </a:r>
          </a:p>
        </p:txBody>
      </p:sp>
      <p:sp>
        <p:nvSpPr>
          <p:cNvPr id="5" name="Date Placeholder 4">
            <a:extLst>
              <a:ext uri="{FF2B5EF4-FFF2-40B4-BE49-F238E27FC236}">
                <a16:creationId xmlns:a16="http://schemas.microsoft.com/office/drawing/2014/main" id="{F387BFC4-CD68-213E-30F5-34E7DFEA5BF3}"/>
              </a:ext>
            </a:extLst>
          </p:cNvPr>
          <p:cNvSpPr>
            <a:spLocks noGrp="1"/>
          </p:cNvSpPr>
          <p:nvPr>
            <p:ph type="dt" sz="half" idx="13"/>
          </p:nvPr>
        </p:nvSpPr>
        <p:spPr/>
        <p:txBody>
          <a:bodyPr/>
          <a:lstStyle/>
          <a:p>
            <a:fld id="{DFC179E5-4269-44D4-A984-C57F7029D15D}" type="datetime1">
              <a:rPr lang="en-US" smtClean="0"/>
              <a:t>7/31/2026</a:t>
            </a:fld>
            <a:endParaRPr lang="en-CA"/>
          </a:p>
        </p:txBody>
      </p:sp>
      <p:sp>
        <p:nvSpPr>
          <p:cNvPr id="7" name="TextBox 19">
            <a:extLst>
              <a:ext uri="{FF2B5EF4-FFF2-40B4-BE49-F238E27FC236}">
                <a16:creationId xmlns:a16="http://schemas.microsoft.com/office/drawing/2014/main" id="{66881F1A-8A8C-E9C8-B287-1E12205F119D}"/>
              </a:ext>
            </a:extLst>
          </p:cNvPr>
          <p:cNvSpPr txBox="1">
            <a:spLocks/>
          </p:cNvSpPr>
          <p:nvPr/>
        </p:nvSpPr>
        <p:spPr>
          <a:xfrm>
            <a:off x="392609" y="1570107"/>
            <a:ext cx="988516" cy="1306965"/>
          </a:xfrm>
          <a:prstGeom prst="rect">
            <a:avLst/>
          </a:prstGeom>
          <a:solidFill>
            <a:schemeClr val="bg1">
              <a:lumMod val="95000"/>
            </a:schemeClr>
          </a:solidFill>
          <a:ln>
            <a:noFill/>
          </a:ln>
        </p:spPr>
        <p:txBody>
          <a:bodyPr vert="horz" wrap="square" lIns="45720" tIns="27432" rIns="45720" bIns="45720" rtlCol="0" anchor="t" anchorCtr="0">
            <a:no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defTabSz="914381">
              <a:spcBef>
                <a:spcPts val="0"/>
              </a:spcBef>
              <a:spcAft>
                <a:spcPts val="0"/>
              </a:spcAft>
              <a:buClr>
                <a:srgbClr val="515349"/>
              </a:buClr>
              <a:buNone/>
              <a:defRPr/>
            </a:pPr>
            <a:r>
              <a:rPr lang="en-US" sz="1000" b="1">
                <a:solidFill>
                  <a:srgbClr val="BA0C2F"/>
                </a:solidFill>
                <a:latin typeface="Arial"/>
                <a:cs typeface="Arial"/>
              </a:rPr>
              <a:t>Network specific</a:t>
            </a:r>
          </a:p>
          <a:p>
            <a:pPr defTabSz="914381">
              <a:spcBef>
                <a:spcPts val="0"/>
              </a:spcBef>
              <a:spcAft>
                <a:spcPts val="0"/>
              </a:spcAft>
              <a:buNone/>
              <a:defRPr/>
            </a:pPr>
            <a:endParaRPr lang="en-US" sz="1000" b="1">
              <a:solidFill>
                <a:srgbClr val="BA0C2F"/>
              </a:solidFill>
              <a:latin typeface="Arial"/>
              <a:cs typeface="Arial"/>
            </a:endParaRPr>
          </a:p>
          <a:p>
            <a:pPr defTabSz="914381">
              <a:spcBef>
                <a:spcPts val="0"/>
              </a:spcBef>
              <a:spcAft>
                <a:spcPts val="0"/>
              </a:spcAft>
              <a:buNone/>
              <a:defRPr/>
            </a:pPr>
            <a:endParaRPr lang="en-US" sz="1000" b="1">
              <a:solidFill>
                <a:srgbClr val="BA0C2F"/>
              </a:solidFill>
              <a:latin typeface="Arial"/>
              <a:cs typeface="Arial"/>
            </a:endParaRPr>
          </a:p>
        </p:txBody>
      </p:sp>
      <p:cxnSp>
        <p:nvCxnSpPr>
          <p:cNvPr id="77" name="Straight Connector 76">
            <a:extLst>
              <a:ext uri="{FF2B5EF4-FFF2-40B4-BE49-F238E27FC236}">
                <a16:creationId xmlns:a16="http://schemas.microsoft.com/office/drawing/2014/main" id="{ACA04E36-0123-48B8-4055-CB59B1F97F95}"/>
              </a:ext>
            </a:extLst>
          </p:cNvPr>
          <p:cNvCxnSpPr>
            <a:cxnSpLocks/>
          </p:cNvCxnSpPr>
          <p:nvPr/>
        </p:nvCxnSpPr>
        <p:spPr>
          <a:xfrm>
            <a:off x="384049" y="1493511"/>
            <a:ext cx="997077" cy="0"/>
          </a:xfrm>
          <a:prstGeom prst="line">
            <a:avLst/>
          </a:prstGeom>
          <a:ln w="6350" cap="flat">
            <a:solidFill>
              <a:srgbClr val="BA0C2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8" name="TextBox 39">
            <a:extLst>
              <a:ext uri="{FF2B5EF4-FFF2-40B4-BE49-F238E27FC236}">
                <a16:creationId xmlns:a16="http://schemas.microsoft.com/office/drawing/2014/main" id="{F9DF39D8-308C-A13B-D788-7C7D92086487}"/>
              </a:ext>
            </a:extLst>
          </p:cNvPr>
          <p:cNvSpPr txBox="1"/>
          <p:nvPr/>
        </p:nvSpPr>
        <p:spPr>
          <a:xfrm>
            <a:off x="384049" y="1294209"/>
            <a:ext cx="997077" cy="153888"/>
          </a:xfrm>
          <a:prstGeom prst="rect">
            <a:avLst/>
          </a:prstGeom>
        </p:spPr>
        <p:txBody>
          <a:bodyPr vert="horz" wrap="square" lIns="0" tIns="0" rIns="0" bIns="0" rtlCol="0" anchor="b">
            <a:spAutoFit/>
          </a:bodyPr>
          <a:lstStyle>
            <a:defPPr>
              <a:defRPr lang="en-US"/>
            </a:defPPr>
            <a:lvl1pPr marL="0" lvl="0" indent="0" algn="l" defTabSz="992490" rtl="0" eaLnBrk="1" latinLnBrk="0" hangingPunct="1">
              <a:lnSpc>
                <a:spcPct val="100000"/>
              </a:lnSpc>
              <a:spcBef>
                <a:spcPts val="326"/>
              </a:spcBef>
              <a:spcAft>
                <a:spcPts val="326"/>
              </a:spcAft>
              <a:buClr>
                <a:schemeClr val="tx1"/>
              </a:buClr>
              <a:buSzPct val="100000"/>
              <a:buFont typeface="Segoe UI" panose="020B0502040204020203" pitchFamily="34" charset="0"/>
              <a:buChar char="​"/>
              <a:defRPr lang="en-US" sz="1737" kern="1200" dirty="0">
                <a:solidFill>
                  <a:schemeClr val="tx1"/>
                </a:solidFill>
                <a:latin typeface="+mn-lt"/>
                <a:ea typeface="+mn-ea"/>
                <a:cs typeface="Arial" panose="020B0604020202020204" pitchFamily="34" charset="0"/>
              </a:defRPr>
            </a:lvl1pPr>
            <a:lvl2pPr marL="248122" lvl="1" indent="-248122" algn="l" defTabSz="992490" rtl="0" eaLnBrk="1" latinLnBrk="0" hangingPunct="1">
              <a:lnSpc>
                <a:spcPct val="100000"/>
              </a:lnSpc>
              <a:spcBef>
                <a:spcPts val="0"/>
              </a:spcBef>
              <a:spcAft>
                <a:spcPts val="326"/>
              </a:spcAft>
              <a:buClr>
                <a:schemeClr val="tx1"/>
              </a:buClr>
              <a:buSzPct val="110000"/>
              <a:buFont typeface="Wingdings" panose="05000000000000000000" pitchFamily="2" charset="2"/>
              <a:buChar char=""/>
              <a:defRPr lang="en-US" sz="1737" kern="1200" dirty="0">
                <a:solidFill>
                  <a:schemeClr val="tx1"/>
                </a:solidFill>
                <a:latin typeface="+mn-lt"/>
                <a:ea typeface="+mn-ea"/>
                <a:cs typeface="+mn-cs"/>
              </a:defRPr>
            </a:lvl2pPr>
            <a:lvl3pPr marL="476395" lvl="2" indent="-228273" algn="l" defTabSz="992490" rtl="0" eaLnBrk="1" latinLnBrk="0" hangingPunct="1">
              <a:lnSpc>
                <a:spcPct val="100000"/>
              </a:lnSpc>
              <a:spcBef>
                <a:spcPts val="0"/>
              </a:spcBef>
              <a:spcAft>
                <a:spcPts val="326"/>
              </a:spcAft>
              <a:buClr>
                <a:schemeClr val="tx1"/>
              </a:buClr>
              <a:buSzPct val="110000"/>
              <a:buFont typeface="Arial" panose="020B0604020202020204" pitchFamily="34" charset="0"/>
              <a:buChar char="‒"/>
              <a:defRPr lang="en-US" sz="1737" kern="1200" dirty="0">
                <a:solidFill>
                  <a:schemeClr val="tx1"/>
                </a:solidFill>
                <a:latin typeface="+mn-lt"/>
                <a:ea typeface="+mn-ea"/>
                <a:cs typeface="+mn-cs"/>
              </a:defRPr>
            </a:lvl3pPr>
            <a:lvl4pPr marL="645118" lvl="3" indent="-168723" algn="l" defTabSz="992490" rtl="0" eaLnBrk="1" latinLnBrk="0" hangingPunct="1">
              <a:lnSpc>
                <a:spcPct val="100000"/>
              </a:lnSpc>
              <a:spcBef>
                <a:spcPts val="0"/>
              </a:spcBef>
              <a:spcAft>
                <a:spcPts val="326"/>
              </a:spcAft>
              <a:buClr>
                <a:schemeClr val="tx1"/>
              </a:buClr>
              <a:buSzPct val="100000"/>
              <a:buFont typeface="Arial" panose="020B0604020202020204" pitchFamily="34" charset="0"/>
              <a:buChar char="•"/>
              <a:defRPr lang="en-US" sz="1737" kern="1200" dirty="0">
                <a:solidFill>
                  <a:schemeClr val="tx1"/>
                </a:solidFill>
                <a:latin typeface="+mn-lt"/>
                <a:ea typeface="+mn-ea"/>
                <a:cs typeface="+mn-cs"/>
              </a:defRPr>
            </a:lvl4pPr>
            <a:lvl5pPr marL="883316" lvl="4" indent="-158798" algn="l" defTabSz="992490" rtl="0" eaLnBrk="1" latinLnBrk="0" hangingPunct="1">
              <a:lnSpc>
                <a:spcPct val="100000"/>
              </a:lnSpc>
              <a:spcBef>
                <a:spcPts val="0"/>
              </a:spcBef>
              <a:spcAft>
                <a:spcPts val="326"/>
              </a:spcAft>
              <a:buClr>
                <a:schemeClr val="tx1"/>
              </a:buClr>
              <a:buSzPct val="100000"/>
              <a:buFont typeface="Arial" panose="020B0604020202020204" pitchFamily="34" charset="0"/>
              <a:buChar char="̶"/>
              <a:defRPr lang="en-US" sz="1737" kern="1200" dirty="0">
                <a:solidFill>
                  <a:schemeClr val="tx1"/>
                </a:solidFill>
                <a:latin typeface="+mn-lt"/>
                <a:ea typeface="+mn-ea"/>
                <a:cs typeface="+mn-cs"/>
              </a:defRPr>
            </a:lvl5pPr>
            <a:lvl6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6pPr>
            <a:lvl7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7pPr>
            <a:lvl8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8pPr>
            <a:lvl9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9pPr>
          </a:lstStyle>
          <a:p>
            <a:pPr marL="0" marR="0" lvl="0" indent="0" algn="l" defTabSz="914381" rtl="0" eaLnBrk="1" fontAlgn="auto" latinLnBrk="0" hangingPunct="1">
              <a:lnSpc>
                <a:spcPct val="100000"/>
              </a:lnSpc>
              <a:spcBef>
                <a:spcPts val="276"/>
              </a:spcBef>
              <a:spcAft>
                <a:spcPts val="276"/>
              </a:spcAft>
              <a:buClr>
                <a:srgbClr val="515349"/>
              </a:buClr>
              <a:buSzPct val="100000"/>
              <a:buFont typeface="Segoe UI" panose="020B0502040204020203" pitchFamily="34" charset="0"/>
              <a:buNone/>
              <a:tabLst/>
              <a:defRPr/>
            </a:pPr>
            <a:r>
              <a:rPr kumimoji="0" lang="vi-VN" sz="1000" b="1" i="0" u="none" strike="noStrike" kern="1200" cap="none" spc="0" normalizeH="0" baseline="0" noProof="0" err="1">
                <a:ln>
                  <a:noFill/>
                </a:ln>
                <a:solidFill>
                  <a:srgbClr val="000000"/>
                </a:solidFill>
                <a:effectLst/>
                <a:uLnTx/>
                <a:uFillTx/>
                <a:latin typeface="Arial"/>
                <a:ea typeface="+mn-ea"/>
                <a:cs typeface="Arial"/>
              </a:rPr>
              <a:t>Category</a:t>
            </a:r>
            <a:endParaRPr lang="vi-VN" sz="1000" b="1" i="0" u="none" strike="noStrike" kern="1200" cap="none" spc="0" normalizeH="0" baseline="0" noProof="0">
              <a:ln>
                <a:noFill/>
              </a:ln>
              <a:solidFill>
                <a:srgbClr val="000000"/>
              </a:solidFill>
              <a:effectLst/>
              <a:uLnTx/>
              <a:uFillTx/>
              <a:latin typeface="Arial"/>
              <a:cs typeface="Arial"/>
            </a:endParaRPr>
          </a:p>
        </p:txBody>
      </p:sp>
      <p:cxnSp>
        <p:nvCxnSpPr>
          <p:cNvPr id="75" name="Straight Connector 74">
            <a:extLst>
              <a:ext uri="{FF2B5EF4-FFF2-40B4-BE49-F238E27FC236}">
                <a16:creationId xmlns:a16="http://schemas.microsoft.com/office/drawing/2014/main" id="{3CEFEF84-409B-CBCC-210C-7262FEDBE789}"/>
              </a:ext>
            </a:extLst>
          </p:cNvPr>
          <p:cNvCxnSpPr>
            <a:cxnSpLocks/>
          </p:cNvCxnSpPr>
          <p:nvPr/>
        </p:nvCxnSpPr>
        <p:spPr>
          <a:xfrm flipV="1">
            <a:off x="1720775" y="1486113"/>
            <a:ext cx="10096587" cy="14796"/>
          </a:xfrm>
          <a:prstGeom prst="line">
            <a:avLst/>
          </a:prstGeom>
          <a:ln w="635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6" name="TextBox 39">
            <a:extLst>
              <a:ext uri="{FF2B5EF4-FFF2-40B4-BE49-F238E27FC236}">
                <a16:creationId xmlns:a16="http://schemas.microsoft.com/office/drawing/2014/main" id="{94CD4FE6-5A7B-9BE9-A3D1-80AB348D119D}"/>
              </a:ext>
            </a:extLst>
          </p:cNvPr>
          <p:cNvSpPr txBox="1"/>
          <p:nvPr/>
        </p:nvSpPr>
        <p:spPr>
          <a:xfrm>
            <a:off x="1722784" y="1301607"/>
            <a:ext cx="1973520" cy="153888"/>
          </a:xfrm>
          <a:prstGeom prst="rect">
            <a:avLst/>
          </a:prstGeom>
        </p:spPr>
        <p:txBody>
          <a:bodyPr vert="horz" wrap="square" lIns="0" tIns="0" rIns="0" bIns="0" rtlCol="0" anchor="b">
            <a:spAutoFit/>
          </a:bodyPr>
          <a:lstStyle>
            <a:defPPr>
              <a:defRPr lang="en-US"/>
            </a:defPPr>
            <a:lvl1pPr marL="0" lvl="0" indent="0" algn="l" defTabSz="992490" rtl="0" eaLnBrk="1" latinLnBrk="0" hangingPunct="1">
              <a:lnSpc>
                <a:spcPct val="100000"/>
              </a:lnSpc>
              <a:spcBef>
                <a:spcPts val="326"/>
              </a:spcBef>
              <a:spcAft>
                <a:spcPts val="326"/>
              </a:spcAft>
              <a:buClr>
                <a:schemeClr val="tx1"/>
              </a:buClr>
              <a:buSzPct val="100000"/>
              <a:buFont typeface="Segoe UI" panose="020B0502040204020203" pitchFamily="34" charset="0"/>
              <a:buChar char="​"/>
              <a:defRPr lang="en-US" sz="1737" kern="1200" dirty="0">
                <a:solidFill>
                  <a:schemeClr val="tx1"/>
                </a:solidFill>
                <a:latin typeface="+mn-lt"/>
                <a:ea typeface="+mn-ea"/>
                <a:cs typeface="Arial" panose="020B0604020202020204" pitchFamily="34" charset="0"/>
              </a:defRPr>
            </a:lvl1pPr>
            <a:lvl2pPr marL="248122" lvl="1" indent="-248122" algn="l" defTabSz="992490" rtl="0" eaLnBrk="1" latinLnBrk="0" hangingPunct="1">
              <a:lnSpc>
                <a:spcPct val="100000"/>
              </a:lnSpc>
              <a:spcBef>
                <a:spcPts val="0"/>
              </a:spcBef>
              <a:spcAft>
                <a:spcPts val="326"/>
              </a:spcAft>
              <a:buClr>
                <a:schemeClr val="tx1"/>
              </a:buClr>
              <a:buSzPct val="110000"/>
              <a:buFont typeface="Wingdings" panose="05000000000000000000" pitchFamily="2" charset="2"/>
              <a:buChar char=""/>
              <a:defRPr lang="en-US" sz="1737" kern="1200" dirty="0">
                <a:solidFill>
                  <a:schemeClr val="tx1"/>
                </a:solidFill>
                <a:latin typeface="+mn-lt"/>
                <a:ea typeface="+mn-ea"/>
                <a:cs typeface="+mn-cs"/>
              </a:defRPr>
            </a:lvl2pPr>
            <a:lvl3pPr marL="476395" lvl="2" indent="-228273" algn="l" defTabSz="992490" rtl="0" eaLnBrk="1" latinLnBrk="0" hangingPunct="1">
              <a:lnSpc>
                <a:spcPct val="100000"/>
              </a:lnSpc>
              <a:spcBef>
                <a:spcPts val="0"/>
              </a:spcBef>
              <a:spcAft>
                <a:spcPts val="326"/>
              </a:spcAft>
              <a:buClr>
                <a:schemeClr val="tx1"/>
              </a:buClr>
              <a:buSzPct val="110000"/>
              <a:buFont typeface="Arial" panose="020B0604020202020204" pitchFamily="34" charset="0"/>
              <a:buChar char="‒"/>
              <a:defRPr lang="en-US" sz="1737" kern="1200" dirty="0">
                <a:solidFill>
                  <a:schemeClr val="tx1"/>
                </a:solidFill>
                <a:latin typeface="+mn-lt"/>
                <a:ea typeface="+mn-ea"/>
                <a:cs typeface="+mn-cs"/>
              </a:defRPr>
            </a:lvl3pPr>
            <a:lvl4pPr marL="645118" lvl="3" indent="-168723" algn="l" defTabSz="992490" rtl="0" eaLnBrk="1" latinLnBrk="0" hangingPunct="1">
              <a:lnSpc>
                <a:spcPct val="100000"/>
              </a:lnSpc>
              <a:spcBef>
                <a:spcPts val="0"/>
              </a:spcBef>
              <a:spcAft>
                <a:spcPts val="326"/>
              </a:spcAft>
              <a:buClr>
                <a:schemeClr val="tx1"/>
              </a:buClr>
              <a:buSzPct val="100000"/>
              <a:buFont typeface="Arial" panose="020B0604020202020204" pitchFamily="34" charset="0"/>
              <a:buChar char="•"/>
              <a:defRPr lang="en-US" sz="1737" kern="1200" dirty="0">
                <a:solidFill>
                  <a:schemeClr val="tx1"/>
                </a:solidFill>
                <a:latin typeface="+mn-lt"/>
                <a:ea typeface="+mn-ea"/>
                <a:cs typeface="+mn-cs"/>
              </a:defRPr>
            </a:lvl4pPr>
            <a:lvl5pPr marL="883316" lvl="4" indent="-158798" algn="l" defTabSz="992490" rtl="0" eaLnBrk="1" latinLnBrk="0" hangingPunct="1">
              <a:lnSpc>
                <a:spcPct val="100000"/>
              </a:lnSpc>
              <a:spcBef>
                <a:spcPts val="0"/>
              </a:spcBef>
              <a:spcAft>
                <a:spcPts val="326"/>
              </a:spcAft>
              <a:buClr>
                <a:schemeClr val="tx1"/>
              </a:buClr>
              <a:buSzPct val="100000"/>
              <a:buFont typeface="Arial" panose="020B0604020202020204" pitchFamily="34" charset="0"/>
              <a:buChar char="̶"/>
              <a:defRPr lang="en-US" sz="1737" kern="1200" dirty="0">
                <a:solidFill>
                  <a:schemeClr val="tx1"/>
                </a:solidFill>
                <a:latin typeface="+mn-lt"/>
                <a:ea typeface="+mn-ea"/>
                <a:cs typeface="+mn-cs"/>
              </a:defRPr>
            </a:lvl5pPr>
            <a:lvl6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6pPr>
            <a:lvl7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7pPr>
            <a:lvl8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8pPr>
            <a:lvl9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9pPr>
          </a:lstStyle>
          <a:p>
            <a:pPr defTabSz="914381">
              <a:spcBef>
                <a:spcPts val="276"/>
              </a:spcBef>
              <a:spcAft>
                <a:spcPts val="276"/>
              </a:spcAft>
              <a:buClr>
                <a:srgbClr val="515349"/>
              </a:buClr>
              <a:buNone/>
              <a:defRPr/>
            </a:pPr>
            <a:r>
              <a:rPr kumimoji="0" lang="en-CA" sz="1000" b="1" i="0" u="none" strike="noStrike" kern="1200" cap="none" spc="0" normalizeH="0" baseline="0" noProof="0">
                <a:ln>
                  <a:noFill/>
                </a:ln>
                <a:solidFill>
                  <a:srgbClr val="000000"/>
                </a:solidFill>
                <a:effectLst/>
                <a:uLnTx/>
                <a:uFillTx/>
                <a:latin typeface="Arial"/>
                <a:ea typeface="+mn-ea"/>
                <a:cs typeface="Arial"/>
              </a:rPr>
              <a:t>Work Packages</a:t>
            </a:r>
            <a:r>
              <a:rPr lang="en-CA" sz="1000" b="1">
                <a:solidFill>
                  <a:srgbClr val="000000"/>
                </a:solidFill>
                <a:latin typeface="Arial"/>
                <a:cs typeface="Arial"/>
              </a:rPr>
              <a:t> </a:t>
            </a:r>
            <a:r>
              <a:rPr kumimoji="0" lang="en-CA" sz="1000" b="1" i="0" u="none" strike="noStrike" kern="1200" cap="none" spc="0" normalizeH="0" baseline="0" noProof="0">
                <a:ln>
                  <a:noFill/>
                </a:ln>
                <a:solidFill>
                  <a:srgbClr val="000000"/>
                </a:solidFill>
                <a:effectLst/>
                <a:uLnTx/>
                <a:uFillTx/>
                <a:latin typeface="Arial"/>
                <a:ea typeface="+mn-ea"/>
                <a:cs typeface="Arial"/>
              </a:rPr>
              <a:t>/</a:t>
            </a:r>
            <a:r>
              <a:rPr lang="en-CA" sz="1000" b="1">
                <a:solidFill>
                  <a:srgbClr val="000000"/>
                </a:solidFill>
                <a:latin typeface="Arial"/>
                <a:cs typeface="Arial"/>
              </a:rPr>
              <a:t> </a:t>
            </a:r>
            <a:r>
              <a:rPr kumimoji="0" lang="vi-VN" sz="1000" b="1" i="0" u="none" strike="noStrike" kern="1200" cap="none" spc="0" normalizeH="0" baseline="0" noProof="0" err="1">
                <a:ln>
                  <a:noFill/>
                </a:ln>
                <a:solidFill>
                  <a:srgbClr val="000000"/>
                </a:solidFill>
                <a:effectLst/>
                <a:uLnTx/>
                <a:uFillTx/>
                <a:latin typeface="Arial"/>
                <a:ea typeface="+mn-ea"/>
                <a:cs typeface="Arial"/>
              </a:rPr>
              <a:t>Initiatives</a:t>
            </a:r>
            <a:endParaRPr lang="vi-VN" sz="1000" b="1" i="0" u="none" strike="noStrike" kern="1200" cap="none" spc="0" normalizeH="0" baseline="0" noProof="0">
              <a:ln>
                <a:noFill/>
              </a:ln>
              <a:solidFill>
                <a:srgbClr val="000000"/>
              </a:solidFill>
              <a:effectLst/>
              <a:uLnTx/>
              <a:uFillTx/>
              <a:latin typeface="Arial"/>
              <a:cs typeface="Arial"/>
            </a:endParaRPr>
          </a:p>
        </p:txBody>
      </p:sp>
      <p:sp>
        <p:nvSpPr>
          <p:cNvPr id="74" name="TextBox 39">
            <a:extLst>
              <a:ext uri="{FF2B5EF4-FFF2-40B4-BE49-F238E27FC236}">
                <a16:creationId xmlns:a16="http://schemas.microsoft.com/office/drawing/2014/main" id="{4167019F-9610-7B7A-556F-55EB1B49710E}"/>
              </a:ext>
            </a:extLst>
          </p:cNvPr>
          <p:cNvSpPr txBox="1"/>
          <p:nvPr/>
        </p:nvSpPr>
        <p:spPr>
          <a:xfrm>
            <a:off x="4658209" y="1301607"/>
            <a:ext cx="732944" cy="153888"/>
          </a:xfrm>
          <a:prstGeom prst="rect">
            <a:avLst/>
          </a:prstGeom>
        </p:spPr>
        <p:txBody>
          <a:bodyPr vert="horz" wrap="square" lIns="0" tIns="0" rIns="0" bIns="0" rtlCol="0" anchor="b">
            <a:spAutoFit/>
          </a:bodyPr>
          <a:lstStyle>
            <a:defPPr>
              <a:defRPr lang="en-US"/>
            </a:defPPr>
            <a:lvl1pPr marL="0" lvl="0" indent="0" algn="l" defTabSz="992490" rtl="0" eaLnBrk="1" latinLnBrk="0" hangingPunct="1">
              <a:lnSpc>
                <a:spcPct val="100000"/>
              </a:lnSpc>
              <a:spcBef>
                <a:spcPts val="326"/>
              </a:spcBef>
              <a:spcAft>
                <a:spcPts val="326"/>
              </a:spcAft>
              <a:buClr>
                <a:schemeClr val="tx1"/>
              </a:buClr>
              <a:buSzPct val="100000"/>
              <a:buFont typeface="Segoe UI" panose="020B0502040204020203" pitchFamily="34" charset="0"/>
              <a:buChar char="​"/>
              <a:defRPr lang="en-US" sz="1737" kern="1200" dirty="0">
                <a:solidFill>
                  <a:schemeClr val="tx1"/>
                </a:solidFill>
                <a:latin typeface="+mn-lt"/>
                <a:ea typeface="+mn-ea"/>
                <a:cs typeface="Arial" panose="020B0604020202020204" pitchFamily="34" charset="0"/>
              </a:defRPr>
            </a:lvl1pPr>
            <a:lvl2pPr marL="248122" lvl="1" indent="-248122" algn="l" defTabSz="992490" rtl="0" eaLnBrk="1" latinLnBrk="0" hangingPunct="1">
              <a:lnSpc>
                <a:spcPct val="100000"/>
              </a:lnSpc>
              <a:spcBef>
                <a:spcPts val="0"/>
              </a:spcBef>
              <a:spcAft>
                <a:spcPts val="326"/>
              </a:spcAft>
              <a:buClr>
                <a:schemeClr val="tx1"/>
              </a:buClr>
              <a:buSzPct val="110000"/>
              <a:buFont typeface="Wingdings" panose="05000000000000000000" pitchFamily="2" charset="2"/>
              <a:buChar char=""/>
              <a:defRPr lang="en-US" sz="1737" kern="1200" dirty="0">
                <a:solidFill>
                  <a:schemeClr val="tx1"/>
                </a:solidFill>
                <a:latin typeface="+mn-lt"/>
                <a:ea typeface="+mn-ea"/>
                <a:cs typeface="+mn-cs"/>
              </a:defRPr>
            </a:lvl2pPr>
            <a:lvl3pPr marL="476395" lvl="2" indent="-228273" algn="l" defTabSz="992490" rtl="0" eaLnBrk="1" latinLnBrk="0" hangingPunct="1">
              <a:lnSpc>
                <a:spcPct val="100000"/>
              </a:lnSpc>
              <a:spcBef>
                <a:spcPts val="0"/>
              </a:spcBef>
              <a:spcAft>
                <a:spcPts val="326"/>
              </a:spcAft>
              <a:buClr>
                <a:schemeClr val="tx1"/>
              </a:buClr>
              <a:buSzPct val="110000"/>
              <a:buFont typeface="Arial" panose="020B0604020202020204" pitchFamily="34" charset="0"/>
              <a:buChar char="‒"/>
              <a:defRPr lang="en-US" sz="1737" kern="1200" dirty="0">
                <a:solidFill>
                  <a:schemeClr val="tx1"/>
                </a:solidFill>
                <a:latin typeface="+mn-lt"/>
                <a:ea typeface="+mn-ea"/>
                <a:cs typeface="+mn-cs"/>
              </a:defRPr>
            </a:lvl3pPr>
            <a:lvl4pPr marL="645118" lvl="3" indent="-168723" algn="l" defTabSz="992490" rtl="0" eaLnBrk="1" latinLnBrk="0" hangingPunct="1">
              <a:lnSpc>
                <a:spcPct val="100000"/>
              </a:lnSpc>
              <a:spcBef>
                <a:spcPts val="0"/>
              </a:spcBef>
              <a:spcAft>
                <a:spcPts val="326"/>
              </a:spcAft>
              <a:buClr>
                <a:schemeClr val="tx1"/>
              </a:buClr>
              <a:buSzPct val="100000"/>
              <a:buFont typeface="Arial" panose="020B0604020202020204" pitchFamily="34" charset="0"/>
              <a:buChar char="•"/>
              <a:defRPr lang="en-US" sz="1737" kern="1200" dirty="0">
                <a:solidFill>
                  <a:schemeClr val="tx1"/>
                </a:solidFill>
                <a:latin typeface="+mn-lt"/>
                <a:ea typeface="+mn-ea"/>
                <a:cs typeface="+mn-cs"/>
              </a:defRPr>
            </a:lvl4pPr>
            <a:lvl5pPr marL="883316" lvl="4" indent="-158798" algn="l" defTabSz="992490" rtl="0" eaLnBrk="1" latinLnBrk="0" hangingPunct="1">
              <a:lnSpc>
                <a:spcPct val="100000"/>
              </a:lnSpc>
              <a:spcBef>
                <a:spcPts val="0"/>
              </a:spcBef>
              <a:spcAft>
                <a:spcPts val="326"/>
              </a:spcAft>
              <a:buClr>
                <a:schemeClr val="tx1"/>
              </a:buClr>
              <a:buSzPct val="100000"/>
              <a:buFont typeface="Arial" panose="020B0604020202020204" pitchFamily="34" charset="0"/>
              <a:buChar char="̶"/>
              <a:defRPr lang="en-US" sz="1737" kern="1200" dirty="0">
                <a:solidFill>
                  <a:schemeClr val="tx1"/>
                </a:solidFill>
                <a:latin typeface="+mn-lt"/>
                <a:ea typeface="+mn-ea"/>
                <a:cs typeface="+mn-cs"/>
              </a:defRPr>
            </a:lvl5pPr>
            <a:lvl6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6pPr>
            <a:lvl7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7pPr>
            <a:lvl8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8pPr>
            <a:lvl9pPr marL="1178582" indent="-186092" algn="l" defTabSz="992490" rtl="0" eaLnBrk="1" latinLnBrk="0" hangingPunct="1">
              <a:lnSpc>
                <a:spcPct val="100000"/>
              </a:lnSpc>
              <a:spcBef>
                <a:spcPts val="0"/>
              </a:spcBef>
              <a:spcAft>
                <a:spcPts val="326"/>
              </a:spcAft>
              <a:buSzPct val="100000"/>
              <a:buFont typeface="Arial" panose="020B0604020202020204" pitchFamily="34" charset="0"/>
              <a:buChar char="▫"/>
              <a:defRPr sz="1737" kern="1200">
                <a:solidFill>
                  <a:schemeClr val="tx1"/>
                </a:solidFill>
                <a:latin typeface="+mn-lt"/>
                <a:ea typeface="+mn-ea"/>
                <a:cs typeface="Arial" panose="020B0604020202020204" pitchFamily="34" charset="0"/>
              </a:defRPr>
            </a:lvl9pPr>
          </a:lstStyle>
          <a:p>
            <a:pPr marL="0" marR="0" lvl="0" indent="0" algn="l" defTabSz="914381" rtl="0" eaLnBrk="1" fontAlgn="auto" latinLnBrk="0" hangingPunct="1">
              <a:lnSpc>
                <a:spcPct val="100000"/>
              </a:lnSpc>
              <a:spcBef>
                <a:spcPts val="276"/>
              </a:spcBef>
              <a:spcAft>
                <a:spcPts val="276"/>
              </a:spcAft>
              <a:buClr>
                <a:srgbClr val="515349"/>
              </a:buClr>
              <a:buSzPct val="100000"/>
              <a:buFont typeface="Segoe UI" panose="020B0502040204020203" pitchFamily="34" charset="0"/>
              <a:buNone/>
              <a:tabLst/>
              <a:defRPr/>
            </a:pPr>
            <a:r>
              <a:rPr lang="vi-VN" sz="1000" b="1" err="1">
                <a:solidFill>
                  <a:srgbClr val="000000"/>
                </a:solidFill>
                <a:latin typeface="Arial"/>
                <a:cs typeface="Arial"/>
              </a:rPr>
              <a:t>Objective</a:t>
            </a:r>
            <a:endParaRPr lang="vi-VN" sz="1000" b="1" i="0" u="none" strike="noStrike" kern="1200" cap="none" spc="0" normalizeH="0" baseline="0" noProof="0">
              <a:ln>
                <a:noFill/>
              </a:ln>
              <a:solidFill>
                <a:srgbClr val="000000"/>
              </a:solidFill>
              <a:effectLst/>
              <a:uLnTx/>
              <a:uFillTx/>
              <a:latin typeface="Arial"/>
              <a:cs typeface="Arial" panose="020B0604020202020204" pitchFamily="34" charset="0"/>
            </a:endParaRPr>
          </a:p>
        </p:txBody>
      </p:sp>
      <p:pic>
        <p:nvPicPr>
          <p:cNvPr id="17" name="Graphic 258">
            <a:extLst>
              <a:ext uri="{FF2B5EF4-FFF2-40B4-BE49-F238E27FC236}">
                <a16:creationId xmlns:a16="http://schemas.microsoft.com/office/drawing/2014/main" id="{A679B8D0-A8BE-D58E-50B5-6AC6D5F8302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97240" y="1192592"/>
            <a:ext cx="283885" cy="283885"/>
          </a:xfrm>
          <a:prstGeom prst="rect">
            <a:avLst/>
          </a:prstGeom>
        </p:spPr>
      </p:pic>
      <p:pic>
        <p:nvPicPr>
          <p:cNvPr id="18" name="Graphic 260">
            <a:extLst>
              <a:ext uri="{FF2B5EF4-FFF2-40B4-BE49-F238E27FC236}">
                <a16:creationId xmlns:a16="http://schemas.microsoft.com/office/drawing/2014/main" id="{66288A26-D423-785F-183A-A2B3C0C5A8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88676" y="1192592"/>
            <a:ext cx="283885" cy="283885"/>
          </a:xfrm>
          <a:prstGeom prst="rect">
            <a:avLst/>
          </a:prstGeom>
        </p:spPr>
      </p:pic>
      <p:sp>
        <p:nvSpPr>
          <p:cNvPr id="20" name="Oval 19">
            <a:extLst>
              <a:ext uri="{FF2B5EF4-FFF2-40B4-BE49-F238E27FC236}">
                <a16:creationId xmlns:a16="http://schemas.microsoft.com/office/drawing/2014/main" id="{E5093F8D-C99F-BBB8-4190-7A07BFF7832F}"/>
              </a:ext>
            </a:extLst>
          </p:cNvPr>
          <p:cNvSpPr/>
          <p:nvPr/>
        </p:nvSpPr>
        <p:spPr>
          <a:xfrm>
            <a:off x="1514398" y="1712747"/>
            <a:ext cx="95238" cy="9466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81"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sp>
        <p:nvSpPr>
          <p:cNvPr id="21" name="Oval 20">
            <a:extLst>
              <a:ext uri="{FF2B5EF4-FFF2-40B4-BE49-F238E27FC236}">
                <a16:creationId xmlns:a16="http://schemas.microsoft.com/office/drawing/2014/main" id="{955127FD-28EB-B828-97B1-EF8C78459456}"/>
              </a:ext>
            </a:extLst>
          </p:cNvPr>
          <p:cNvSpPr/>
          <p:nvPr/>
        </p:nvSpPr>
        <p:spPr>
          <a:xfrm>
            <a:off x="1514398" y="3087347"/>
            <a:ext cx="95238" cy="94666"/>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81"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sp>
        <p:nvSpPr>
          <p:cNvPr id="22" name="Oval 21">
            <a:extLst>
              <a:ext uri="{FF2B5EF4-FFF2-40B4-BE49-F238E27FC236}">
                <a16:creationId xmlns:a16="http://schemas.microsoft.com/office/drawing/2014/main" id="{1CD71664-3E3A-2211-732A-F6C3A836933E}"/>
              </a:ext>
            </a:extLst>
          </p:cNvPr>
          <p:cNvSpPr/>
          <p:nvPr/>
        </p:nvSpPr>
        <p:spPr>
          <a:xfrm>
            <a:off x="1514398" y="2180725"/>
            <a:ext cx="95238" cy="9466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81"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sp>
        <p:nvSpPr>
          <p:cNvPr id="24" name="Oval 23">
            <a:extLst>
              <a:ext uri="{FF2B5EF4-FFF2-40B4-BE49-F238E27FC236}">
                <a16:creationId xmlns:a16="http://schemas.microsoft.com/office/drawing/2014/main" id="{952C5170-F512-DC68-5354-00A0188B1DEF}"/>
              </a:ext>
            </a:extLst>
          </p:cNvPr>
          <p:cNvSpPr/>
          <p:nvPr/>
        </p:nvSpPr>
        <p:spPr>
          <a:xfrm>
            <a:off x="1514398" y="2626650"/>
            <a:ext cx="95238" cy="94666"/>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81"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sp>
        <p:nvSpPr>
          <p:cNvPr id="26" name="TextBox 167">
            <a:extLst>
              <a:ext uri="{FF2B5EF4-FFF2-40B4-BE49-F238E27FC236}">
                <a16:creationId xmlns:a16="http://schemas.microsoft.com/office/drawing/2014/main" id="{10FA09BB-3DA3-8102-EA0E-E2FD4270E925}"/>
              </a:ext>
            </a:extLst>
          </p:cNvPr>
          <p:cNvSpPr txBox="1"/>
          <p:nvPr/>
        </p:nvSpPr>
        <p:spPr>
          <a:xfrm>
            <a:off x="7878545" y="5601387"/>
            <a:ext cx="2757165" cy="138499"/>
          </a:xfrm>
          <a:prstGeom prst="rect">
            <a:avLst/>
          </a:prstGeom>
          <a:noFill/>
          <a:ln w="6350">
            <a:noFill/>
            <a:miter lim="800000"/>
          </a:ln>
        </p:spPr>
        <p:txBody>
          <a:bodyPr vert="horz" wrap="none" lIns="0" tIns="0" rIns="0" bIns="0" rtlCol="0" anchor="t">
            <a:spAutoFit/>
          </a:bodyPr>
          <a:lstStyle>
            <a:defPPr>
              <a:defRPr lang="en-US"/>
            </a:defPPr>
            <a:lvl1pPr marL="0" algn="l" defTabSz="914400" rtl="0" eaLnBrk="1" latinLnBrk="0" hangingPunct="1">
              <a:spcBef>
                <a:spcPts val="300"/>
              </a:spcBef>
              <a:spcAft>
                <a:spcPts val="300"/>
              </a:spcAft>
              <a:buNone/>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81">
              <a:defRPr/>
            </a:pPr>
            <a:r>
              <a:rPr lang="vi-VN" sz="900">
                <a:solidFill>
                  <a:srgbClr val="000000"/>
                </a:solidFill>
                <a:latin typeface="Arial"/>
              </a:rPr>
              <a:t>I&amp;O </a:t>
            </a:r>
            <a:r>
              <a:rPr lang="vi-VN" sz="900" err="1">
                <a:solidFill>
                  <a:srgbClr val="000000"/>
                </a:solidFill>
                <a:latin typeface="Arial"/>
              </a:rPr>
              <a:t>driven</a:t>
            </a:r>
            <a:r>
              <a:rPr lang="vi-VN" sz="900">
                <a:solidFill>
                  <a:srgbClr val="000000"/>
                </a:solidFill>
                <a:latin typeface="Arial"/>
              </a:rPr>
              <a:t> </a:t>
            </a:r>
            <a:r>
              <a:rPr lang="vi-VN" sz="900" err="1">
                <a:solidFill>
                  <a:srgbClr val="000000"/>
                </a:solidFill>
                <a:latin typeface="Arial"/>
              </a:rPr>
              <a:t>initiatives</a:t>
            </a:r>
            <a:r>
              <a:rPr lang="vi-VN" sz="900">
                <a:solidFill>
                  <a:srgbClr val="000000"/>
                </a:solidFill>
                <a:latin typeface="Arial"/>
              </a:rPr>
              <a:t> </a:t>
            </a:r>
            <a:r>
              <a:rPr lang="vi-VN" sz="900" err="1">
                <a:solidFill>
                  <a:srgbClr val="000000"/>
                </a:solidFill>
                <a:latin typeface="Arial"/>
              </a:rPr>
              <a:t>referenced</a:t>
            </a:r>
            <a:r>
              <a:rPr lang="vi-VN" sz="900">
                <a:solidFill>
                  <a:srgbClr val="000000"/>
                </a:solidFill>
                <a:latin typeface="Arial"/>
              </a:rPr>
              <a:t> in </a:t>
            </a:r>
            <a:r>
              <a:rPr lang="vi-VN" sz="900" err="1">
                <a:solidFill>
                  <a:srgbClr val="000000"/>
                </a:solidFill>
                <a:latin typeface="Arial"/>
              </a:rPr>
              <a:t>Network</a:t>
            </a:r>
            <a:r>
              <a:rPr lang="vi-VN" sz="900">
                <a:solidFill>
                  <a:srgbClr val="000000"/>
                </a:solidFill>
                <a:latin typeface="Arial"/>
              </a:rPr>
              <a:t> </a:t>
            </a:r>
            <a:r>
              <a:rPr lang="vi-VN" sz="900" err="1">
                <a:solidFill>
                  <a:srgbClr val="000000"/>
                </a:solidFill>
                <a:latin typeface="Arial"/>
              </a:rPr>
              <a:t>roadmap</a:t>
            </a:r>
            <a:endParaRPr lang="en-US" err="1">
              <a:solidFill>
                <a:srgbClr val="000000"/>
              </a:solidFill>
              <a:cs typeface="Arial"/>
            </a:endParaRPr>
          </a:p>
        </p:txBody>
      </p:sp>
      <p:sp>
        <p:nvSpPr>
          <p:cNvPr id="27" name="Oval 26">
            <a:extLst>
              <a:ext uri="{FF2B5EF4-FFF2-40B4-BE49-F238E27FC236}">
                <a16:creationId xmlns:a16="http://schemas.microsoft.com/office/drawing/2014/main" id="{08D43FAF-73EA-4A85-3A22-668A60727321}"/>
              </a:ext>
            </a:extLst>
          </p:cNvPr>
          <p:cNvSpPr/>
          <p:nvPr/>
        </p:nvSpPr>
        <p:spPr>
          <a:xfrm>
            <a:off x="7672434" y="5619142"/>
            <a:ext cx="80790" cy="80791"/>
          </a:xfrm>
          <a:prstGeom prst="ellipse">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81" rtl="0" eaLnBrk="1" fontAlgn="auto" latinLnBrk="0" hangingPunct="1">
              <a:lnSpc>
                <a:spcPct val="100000"/>
              </a:lnSpc>
              <a:spcBef>
                <a:spcPts val="300"/>
              </a:spcBef>
              <a:spcAft>
                <a:spcPts val="300"/>
              </a:spcAft>
              <a:buClrTx/>
              <a:buSzTx/>
              <a:buFontTx/>
              <a:buNone/>
              <a:tabLst/>
              <a:defRPr/>
            </a:pPr>
            <a:endParaRPr kumimoji="0" lang="en-US" sz="900" b="0" i="0" u="none" strike="noStrike" kern="1200" cap="none" spc="0" normalizeH="0" baseline="0" noProof="0">
              <a:ln>
                <a:noFill/>
              </a:ln>
              <a:solidFill>
                <a:srgbClr val="515349"/>
              </a:solidFill>
              <a:effectLst/>
              <a:uLnTx/>
              <a:uFillTx/>
              <a:latin typeface="Arial"/>
              <a:ea typeface="+mn-ea"/>
              <a:cs typeface="+mn-cs"/>
            </a:endParaRPr>
          </a:p>
        </p:txBody>
      </p:sp>
      <p:pic>
        <p:nvPicPr>
          <p:cNvPr id="65" name="Graphic 16">
            <a:extLst>
              <a:ext uri="{FF2B5EF4-FFF2-40B4-BE49-F238E27FC236}">
                <a16:creationId xmlns:a16="http://schemas.microsoft.com/office/drawing/2014/main" id="{42776D0F-D961-F46C-F18A-E35B041340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25218" y="1173738"/>
            <a:ext cx="283885" cy="283885"/>
          </a:xfrm>
          <a:prstGeom prst="rect">
            <a:avLst/>
          </a:prstGeom>
        </p:spPr>
      </p:pic>
      <p:sp>
        <p:nvSpPr>
          <p:cNvPr id="83" name="Title 1">
            <a:extLst>
              <a:ext uri="{FF2B5EF4-FFF2-40B4-BE49-F238E27FC236}">
                <a16:creationId xmlns:a16="http://schemas.microsoft.com/office/drawing/2014/main" id="{AF693FA6-E78D-8BBC-46FC-DC57F06F67A7}"/>
              </a:ext>
            </a:extLst>
          </p:cNvPr>
          <p:cNvSpPr>
            <a:spLocks noGrp="1"/>
          </p:cNvSpPr>
          <p:nvPr>
            <p:ph type="title"/>
          </p:nvPr>
        </p:nvSpPr>
        <p:spPr>
          <a:xfrm>
            <a:off x="384048" y="381000"/>
            <a:ext cx="11420856" cy="533400"/>
          </a:xfrm>
        </p:spPr>
        <p:txBody>
          <a:bodyPr>
            <a:normAutofit fontScale="90000"/>
          </a:bodyPr>
          <a:lstStyle/>
          <a:p>
            <a:r>
              <a:rPr lang="en-CA" sz="2400">
                <a:cs typeface="Arial"/>
              </a:rPr>
              <a:t>Cloud Foundations Roadmap Dependencies – Network, Security &amp; Observability Specific</a:t>
            </a:r>
            <a:endParaRPr lang="en-US"/>
          </a:p>
        </p:txBody>
      </p:sp>
      <p:graphicFrame>
        <p:nvGraphicFramePr>
          <p:cNvPr id="12" name="Table 11">
            <a:extLst>
              <a:ext uri="{FF2B5EF4-FFF2-40B4-BE49-F238E27FC236}">
                <a16:creationId xmlns:a16="http://schemas.microsoft.com/office/drawing/2014/main" id="{0BA84B5A-65BF-E0C2-AE02-26E860C44B1F}"/>
              </a:ext>
            </a:extLst>
          </p:cNvPr>
          <p:cNvGraphicFramePr>
            <a:graphicFrameLocks noGrp="1"/>
          </p:cNvGraphicFramePr>
          <p:nvPr>
            <p:extLst>
              <p:ext uri="{D42A27DB-BD31-4B8C-83A1-F6EECF244321}">
                <p14:modId xmlns:p14="http://schemas.microsoft.com/office/powerpoint/2010/main" val="3553121413"/>
              </p:ext>
            </p:extLst>
          </p:nvPr>
        </p:nvGraphicFramePr>
        <p:xfrm>
          <a:off x="1723159" y="1567296"/>
          <a:ext cx="10081268" cy="3110918"/>
        </p:xfrm>
        <a:graphic>
          <a:graphicData uri="http://schemas.openxmlformats.org/drawingml/2006/table">
            <a:tbl>
              <a:tblPr firstRow="1" bandRow="1">
                <a:tableStyleId>{5C22544A-7EE6-4342-B048-85BDC9FD1C3A}</a:tableStyleId>
              </a:tblPr>
              <a:tblGrid>
                <a:gridCol w="2581835">
                  <a:extLst>
                    <a:ext uri="{9D8B030D-6E8A-4147-A177-3AD203B41FA5}">
                      <a16:colId xmlns:a16="http://schemas.microsoft.com/office/drawing/2014/main" val="703374884"/>
                    </a:ext>
                  </a:extLst>
                </a:gridCol>
                <a:gridCol w="7499433">
                  <a:extLst>
                    <a:ext uri="{9D8B030D-6E8A-4147-A177-3AD203B41FA5}">
                      <a16:colId xmlns:a16="http://schemas.microsoft.com/office/drawing/2014/main" val="6324210"/>
                    </a:ext>
                  </a:extLst>
                </a:gridCol>
              </a:tblGrid>
              <a:tr h="449580">
                <a:tc>
                  <a:txBody>
                    <a:bodyPr/>
                    <a:lstStyle/>
                    <a:p>
                      <a:pPr lvl="0">
                        <a:buNone/>
                      </a:pPr>
                      <a:r>
                        <a:rPr lang="en-US" sz="1000" b="0" i="0" u="none" strike="noStrike" noProof="0">
                          <a:solidFill>
                            <a:srgbClr val="000000"/>
                          </a:solidFill>
                        </a:rPr>
                        <a:t>Cross Region Hub Peering</a:t>
                      </a:r>
                      <a:endParaRPr lang="en-US"/>
                    </a:p>
                  </a:txBody>
                  <a:tcPr anchor="ctr">
                    <a:solidFill>
                      <a:schemeClr val="bg2"/>
                    </a:solidFill>
                  </a:tcPr>
                </a:tc>
                <a:tc>
                  <a:txBody>
                    <a:bodyPr/>
                    <a:lstStyle/>
                    <a:p>
                      <a:pPr marL="0" marR="0" lvl="0" indent="0" algn="l">
                        <a:lnSpc>
                          <a:spcPct val="100000"/>
                        </a:lnSpc>
                        <a:spcBef>
                          <a:spcPts val="0"/>
                        </a:spcBef>
                        <a:spcAft>
                          <a:spcPts val="0"/>
                        </a:spcAft>
                        <a:buNone/>
                      </a:pPr>
                      <a:r>
                        <a:rPr lang="en-US" sz="1000" b="0" i="0" u="none" strike="noStrike" noProof="0">
                          <a:solidFill>
                            <a:srgbClr val="000000"/>
                          </a:solidFill>
                          <a:latin typeface="Arial"/>
                        </a:rPr>
                        <a:t>Enable efficient routing between cloud regions, reducing latency and dependency on Equinix.</a:t>
                      </a:r>
                      <a:endParaRPr lang="en-US" sz="1000">
                        <a:solidFill>
                          <a:srgbClr val="000000"/>
                        </a:solidFill>
                      </a:endParaRPr>
                    </a:p>
                  </a:txBody>
                  <a:tcPr anchor="ctr">
                    <a:solidFill>
                      <a:schemeClr val="bg2"/>
                    </a:solidFill>
                  </a:tcPr>
                </a:tc>
                <a:extLst>
                  <a:ext uri="{0D108BD9-81ED-4DB2-BD59-A6C34878D82A}">
                    <a16:rowId xmlns:a16="http://schemas.microsoft.com/office/drawing/2014/main" val="2780926344"/>
                  </a:ext>
                </a:extLst>
              </a:tr>
              <a:tr h="443557">
                <a:tc>
                  <a:txBody>
                    <a:bodyPr/>
                    <a:lstStyle/>
                    <a:p>
                      <a:pPr lvl="0">
                        <a:buNone/>
                      </a:pPr>
                      <a:r>
                        <a:rPr lang="en-US" sz="1000" b="0" i="0" u="none" strike="noStrike" noProof="0">
                          <a:solidFill>
                            <a:srgbClr val="000000"/>
                          </a:solidFill>
                        </a:rPr>
                        <a:t>Calgary Equinix Connection</a:t>
                      </a:r>
                      <a:endParaRPr lang="en-US"/>
                    </a:p>
                  </a:txBody>
                  <a:tcPr anchor="ctr">
                    <a:solidFill>
                      <a:schemeClr val="bg2"/>
                    </a:solidFill>
                  </a:tcPr>
                </a:tc>
                <a:tc>
                  <a:txBody>
                    <a:bodyPr/>
                    <a:lstStyle/>
                    <a:p>
                      <a:pPr lvl="0">
                        <a:buNone/>
                      </a:pPr>
                      <a:r>
                        <a:rPr lang="en-US" sz="1000" b="0" i="0" u="none" strike="noStrike" noProof="0">
                          <a:solidFill>
                            <a:srgbClr val="000000"/>
                          </a:solidFill>
                          <a:latin typeface="Arial"/>
                        </a:rPr>
                        <a:t>Align Equinix location with cloud region to ensure we have effective geo redundancy.</a:t>
                      </a:r>
                      <a:endParaRPr lang="en-US" sz="1000">
                        <a:solidFill>
                          <a:srgbClr val="000000"/>
                        </a:solidFill>
                      </a:endParaRPr>
                    </a:p>
                  </a:txBody>
                  <a:tcPr anchor="ctr">
                    <a:solidFill>
                      <a:schemeClr val="bg2"/>
                    </a:solidFill>
                  </a:tcPr>
                </a:tc>
                <a:extLst>
                  <a:ext uri="{0D108BD9-81ED-4DB2-BD59-A6C34878D82A}">
                    <a16:rowId xmlns:a16="http://schemas.microsoft.com/office/drawing/2014/main" val="1335052754"/>
                  </a:ext>
                </a:extLst>
              </a:tr>
              <a:tr h="443557">
                <a:tc>
                  <a:txBody>
                    <a:bodyPr/>
                    <a:lstStyle/>
                    <a:p>
                      <a:pPr lvl="0" algn="l">
                        <a:lnSpc>
                          <a:spcPct val="100000"/>
                        </a:lnSpc>
                        <a:spcBef>
                          <a:spcPts val="0"/>
                        </a:spcBef>
                        <a:spcAft>
                          <a:spcPts val="0"/>
                        </a:spcAft>
                        <a:buNone/>
                      </a:pPr>
                      <a:r>
                        <a:rPr lang="en-US" sz="1000" b="0" i="0" u="none" strike="noStrike" noProof="0" err="1">
                          <a:solidFill>
                            <a:srgbClr val="000000"/>
                          </a:solidFill>
                          <a:latin typeface="Arial"/>
                        </a:rPr>
                        <a:t>Frontdoor</a:t>
                      </a:r>
                      <a:r>
                        <a:rPr lang="en-US" sz="1000" b="0" i="0" u="none" strike="noStrike" noProof="0">
                          <a:solidFill>
                            <a:srgbClr val="000000"/>
                          </a:solidFill>
                          <a:latin typeface="Arial"/>
                        </a:rPr>
                        <a:t> Migration</a:t>
                      </a:r>
                      <a:endParaRPr lang="en-US"/>
                    </a:p>
                  </a:txBody>
                  <a:tcPr anchor="ctr">
                    <a:solidFill>
                      <a:schemeClr val="bg2"/>
                    </a:solidFill>
                  </a:tcPr>
                </a:tc>
                <a:tc>
                  <a:txBody>
                    <a:bodyPr/>
                    <a:lstStyle/>
                    <a:p>
                      <a:pPr lvl="0" algn="l">
                        <a:lnSpc>
                          <a:spcPct val="100000"/>
                        </a:lnSpc>
                        <a:spcBef>
                          <a:spcPts val="0"/>
                        </a:spcBef>
                        <a:spcAft>
                          <a:spcPts val="0"/>
                        </a:spcAft>
                        <a:buNone/>
                      </a:pPr>
                      <a:r>
                        <a:rPr lang="en-US" sz="1000" b="0" i="0" u="none" strike="noStrike" noProof="0">
                          <a:solidFill>
                            <a:srgbClr val="000000"/>
                          </a:solidFill>
                          <a:latin typeface="Arial"/>
                        </a:rPr>
                        <a:t>Reduce dependencies on non-strategic platform GCP.</a:t>
                      </a:r>
                      <a:endParaRPr lang="en-US"/>
                    </a:p>
                  </a:txBody>
                  <a:tcPr anchor="ctr">
                    <a:solidFill>
                      <a:schemeClr val="bg2"/>
                    </a:solidFill>
                  </a:tcPr>
                </a:tc>
                <a:extLst>
                  <a:ext uri="{0D108BD9-81ED-4DB2-BD59-A6C34878D82A}">
                    <a16:rowId xmlns:a16="http://schemas.microsoft.com/office/drawing/2014/main" val="1495034774"/>
                  </a:ext>
                </a:extLst>
              </a:tr>
              <a:tr h="443556">
                <a:tc>
                  <a:txBody>
                    <a:bodyPr/>
                    <a:lstStyle/>
                    <a:p>
                      <a:pPr lvl="0" algn="l">
                        <a:lnSpc>
                          <a:spcPct val="100000"/>
                        </a:lnSpc>
                        <a:spcBef>
                          <a:spcPts val="0"/>
                        </a:spcBef>
                        <a:spcAft>
                          <a:spcPts val="0"/>
                        </a:spcAft>
                        <a:buNone/>
                      </a:pPr>
                      <a:r>
                        <a:rPr lang="en-US" sz="1000" b="0" i="0" u="none" strike="noStrike" noProof="0">
                          <a:solidFill>
                            <a:srgbClr val="000000"/>
                          </a:solidFill>
                          <a:latin typeface="Arial"/>
                        </a:rPr>
                        <a:t>Data Classification in Cloud</a:t>
                      </a:r>
                      <a:endParaRPr lang="en-US" sz="1000" b="0" i="0" u="none" strike="noStrike" noProof="0">
                        <a:solidFill>
                          <a:srgbClr val="515349"/>
                        </a:solidFill>
                        <a:latin typeface="Arial"/>
                      </a:endParaRPr>
                    </a:p>
                  </a:txBody>
                  <a:tcPr anchor="ctr">
                    <a:solidFill>
                      <a:schemeClr val="bg2"/>
                    </a:solidFill>
                  </a:tcPr>
                </a:tc>
                <a:tc>
                  <a:txBody>
                    <a:bodyPr/>
                    <a:lstStyle/>
                    <a:p>
                      <a:pPr lvl="0" algn="l">
                        <a:lnSpc>
                          <a:spcPct val="100000"/>
                        </a:lnSpc>
                        <a:spcBef>
                          <a:spcPts val="0"/>
                        </a:spcBef>
                        <a:spcAft>
                          <a:spcPts val="0"/>
                        </a:spcAft>
                        <a:buNone/>
                      </a:pPr>
                      <a:r>
                        <a:rPr lang="en-US" sz="1000" b="0" i="0" u="none" strike="noStrike" noProof="0">
                          <a:solidFill>
                            <a:srgbClr val="000000"/>
                          </a:solidFill>
                          <a:latin typeface="Arial"/>
                        </a:rPr>
                        <a:t>Close gap on data classification and visibility in Azure and AWS. (DAM Project)</a:t>
                      </a:r>
                      <a:endParaRPr lang="en-US" sz="1000" b="0" i="0" u="none" strike="noStrike" noProof="0">
                        <a:solidFill>
                          <a:srgbClr val="515349"/>
                        </a:solidFill>
                        <a:latin typeface="Arial"/>
                      </a:endParaRPr>
                    </a:p>
                  </a:txBody>
                  <a:tcPr anchor="ctr">
                    <a:solidFill>
                      <a:schemeClr val="bg2"/>
                    </a:solidFill>
                  </a:tcPr>
                </a:tc>
                <a:extLst>
                  <a:ext uri="{0D108BD9-81ED-4DB2-BD59-A6C34878D82A}">
                    <a16:rowId xmlns:a16="http://schemas.microsoft.com/office/drawing/2014/main" val="4107639752"/>
                  </a:ext>
                </a:extLst>
              </a:tr>
              <a:tr h="443556">
                <a:tc>
                  <a:txBody>
                    <a:bodyPr/>
                    <a:lstStyle/>
                    <a:p>
                      <a:pPr lvl="0" algn="l">
                        <a:lnSpc>
                          <a:spcPct val="100000"/>
                        </a:lnSpc>
                        <a:spcBef>
                          <a:spcPts val="0"/>
                        </a:spcBef>
                        <a:spcAft>
                          <a:spcPts val="0"/>
                        </a:spcAft>
                        <a:buNone/>
                      </a:pPr>
                      <a:r>
                        <a:rPr lang="en-US" sz="1000" b="0" i="0" u="none" strike="noStrike" kern="1200" noProof="0">
                          <a:solidFill>
                            <a:srgbClr val="000000"/>
                          </a:solidFill>
                          <a:latin typeface="Arial"/>
                          <a:ea typeface="+mn-ea"/>
                          <a:cs typeface="+mn-cs"/>
                        </a:rPr>
                        <a:t>Cloud Storage Antivirus Protection</a:t>
                      </a:r>
                      <a:endParaRPr lang="en-US" sz="1000" b="0" i="0" u="none" strike="noStrike" kern="1200">
                        <a:solidFill>
                          <a:srgbClr val="000000"/>
                        </a:solidFill>
                        <a:latin typeface="Arial"/>
                        <a:ea typeface="+mn-ea"/>
                        <a:cs typeface="+mn-cs"/>
                      </a:endParaRPr>
                    </a:p>
                  </a:txBody>
                  <a:tcPr anchor="ctr">
                    <a:solidFill>
                      <a:schemeClr val="bg2"/>
                    </a:solidFill>
                  </a:tcPr>
                </a:tc>
                <a:tc>
                  <a:txBody>
                    <a:bodyPr/>
                    <a:lstStyle/>
                    <a:p>
                      <a:pPr lvl="0" algn="l">
                        <a:lnSpc>
                          <a:spcPct val="100000"/>
                        </a:lnSpc>
                        <a:spcBef>
                          <a:spcPts val="0"/>
                        </a:spcBef>
                        <a:spcAft>
                          <a:spcPts val="0"/>
                        </a:spcAft>
                        <a:buNone/>
                      </a:pPr>
                      <a:r>
                        <a:rPr lang="en-US" sz="1000" b="0" i="0" u="none" strike="noStrike" noProof="0">
                          <a:solidFill>
                            <a:srgbClr val="000000"/>
                          </a:solidFill>
                        </a:rPr>
                        <a:t>Close gap on ability to directly scan object storage services</a:t>
                      </a:r>
                      <a:endParaRPr lang="en-US"/>
                    </a:p>
                  </a:txBody>
                  <a:tcPr anchor="ctr">
                    <a:solidFill>
                      <a:schemeClr val="bg2"/>
                    </a:solidFill>
                  </a:tcPr>
                </a:tc>
                <a:extLst>
                  <a:ext uri="{0D108BD9-81ED-4DB2-BD59-A6C34878D82A}">
                    <a16:rowId xmlns:a16="http://schemas.microsoft.com/office/drawing/2014/main" val="2507574829"/>
                  </a:ext>
                </a:extLst>
              </a:tr>
              <a:tr h="443556">
                <a:tc>
                  <a:txBody>
                    <a:bodyPr/>
                    <a:lstStyle/>
                    <a:p>
                      <a:pPr lvl="0" algn="l">
                        <a:lnSpc>
                          <a:spcPct val="100000"/>
                        </a:lnSpc>
                        <a:spcBef>
                          <a:spcPts val="0"/>
                        </a:spcBef>
                        <a:spcAft>
                          <a:spcPts val="0"/>
                        </a:spcAft>
                        <a:buNone/>
                      </a:pPr>
                      <a:r>
                        <a:rPr lang="en-US" sz="1000" b="0" i="0" u="none" strike="noStrike" kern="1200" noProof="0">
                          <a:solidFill>
                            <a:srgbClr val="000000"/>
                          </a:solidFill>
                        </a:rPr>
                        <a:t>Service Catalogue with Security Centric View </a:t>
                      </a:r>
                      <a:endParaRPr lang="en-US"/>
                    </a:p>
                  </a:txBody>
                  <a:tcPr anchor="ctr">
                    <a:solidFill>
                      <a:schemeClr val="bg2"/>
                    </a:solidFill>
                  </a:tcPr>
                </a:tc>
                <a:tc>
                  <a:txBody>
                    <a:bodyPr/>
                    <a:lstStyle/>
                    <a:p>
                      <a:pPr lvl="0" algn="l">
                        <a:lnSpc>
                          <a:spcPct val="100000"/>
                        </a:lnSpc>
                        <a:spcBef>
                          <a:spcPts val="0"/>
                        </a:spcBef>
                        <a:spcAft>
                          <a:spcPts val="0"/>
                        </a:spcAft>
                        <a:buNone/>
                      </a:pPr>
                      <a:r>
                        <a:rPr lang="en-US" sz="1000" b="0" i="0" u="none" strike="noStrike" noProof="0">
                          <a:solidFill>
                            <a:srgbClr val="000000"/>
                          </a:solidFill>
                          <a:latin typeface="Arial"/>
                        </a:rPr>
                        <a:t>Fortify Service Catalogue with detailed Security requirements, minimum policies, guardrails and affected rules (CSPM)</a:t>
                      </a:r>
                      <a:endParaRPr lang="en-US"/>
                    </a:p>
                  </a:txBody>
                  <a:tcPr anchor="ctr">
                    <a:solidFill>
                      <a:schemeClr val="bg2"/>
                    </a:solidFill>
                  </a:tcPr>
                </a:tc>
                <a:extLst>
                  <a:ext uri="{0D108BD9-81ED-4DB2-BD59-A6C34878D82A}">
                    <a16:rowId xmlns:a16="http://schemas.microsoft.com/office/drawing/2014/main" val="2904915880"/>
                  </a:ext>
                </a:extLst>
              </a:tr>
              <a:tr h="443556">
                <a:tc>
                  <a:txBody>
                    <a:bodyPr/>
                    <a:lstStyle/>
                    <a:p>
                      <a:pPr lvl="0" algn="l">
                        <a:lnSpc>
                          <a:spcPct val="100000"/>
                        </a:lnSpc>
                        <a:spcBef>
                          <a:spcPts val="0"/>
                        </a:spcBef>
                        <a:spcAft>
                          <a:spcPts val="0"/>
                        </a:spcAft>
                        <a:buNone/>
                      </a:pPr>
                      <a:r>
                        <a:rPr lang="en-CA" sz="1000" b="0" i="0" u="none" strike="noStrike" kern="1200" noProof="0">
                          <a:solidFill>
                            <a:srgbClr val="000000"/>
                          </a:solidFill>
                          <a:latin typeface="Arial"/>
                        </a:rPr>
                        <a:t>Event Driven Automation Design and Implementation</a:t>
                      </a:r>
                      <a:endParaRPr lang="en-US" sz="1000" b="0" i="0" u="none" strike="noStrike" kern="1200" noProof="0">
                        <a:solidFill>
                          <a:srgbClr val="000000"/>
                        </a:solidFill>
                        <a:latin typeface="Arial"/>
                      </a:endParaRPr>
                    </a:p>
                  </a:txBody>
                  <a:tcPr anchor="ctr">
                    <a:solidFill>
                      <a:schemeClr val="bg2"/>
                    </a:solidFill>
                  </a:tcPr>
                </a:tc>
                <a:tc>
                  <a:txBody>
                    <a:bodyPr/>
                    <a:lstStyle/>
                    <a:p>
                      <a:pPr lvl="0" algn="l">
                        <a:lnSpc>
                          <a:spcPct val="100000"/>
                        </a:lnSpc>
                        <a:spcBef>
                          <a:spcPts val="0"/>
                        </a:spcBef>
                        <a:spcAft>
                          <a:spcPts val="0"/>
                        </a:spcAft>
                        <a:buNone/>
                      </a:pPr>
                      <a:r>
                        <a:rPr lang="en-CA" sz="1000" b="0" i="0" u="none" strike="noStrike" noProof="0">
                          <a:solidFill>
                            <a:srgbClr val="000000"/>
                          </a:solidFill>
                          <a:latin typeface="Arial"/>
                        </a:rPr>
                        <a:t>Enhance event driven automation and intelligent automation capabilities building on prior framework</a:t>
                      </a:r>
                      <a:r>
                        <a:rPr lang="en-US" sz="1000" b="0" i="0" u="none" strike="noStrike" noProof="0">
                          <a:solidFill>
                            <a:srgbClr val="000000"/>
                          </a:solidFill>
                          <a:latin typeface="Arial"/>
                        </a:rPr>
                        <a:t>.</a:t>
                      </a:r>
                    </a:p>
                  </a:txBody>
                  <a:tcPr anchor="ctr">
                    <a:solidFill>
                      <a:schemeClr val="bg2"/>
                    </a:solidFill>
                  </a:tcPr>
                </a:tc>
                <a:extLst>
                  <a:ext uri="{0D108BD9-81ED-4DB2-BD59-A6C34878D82A}">
                    <a16:rowId xmlns:a16="http://schemas.microsoft.com/office/drawing/2014/main" val="563501194"/>
                  </a:ext>
                </a:extLst>
              </a:tr>
            </a:tbl>
          </a:graphicData>
        </a:graphic>
      </p:graphicFrame>
      <p:sp>
        <p:nvSpPr>
          <p:cNvPr id="2" name="Oval 1">
            <a:extLst>
              <a:ext uri="{FF2B5EF4-FFF2-40B4-BE49-F238E27FC236}">
                <a16:creationId xmlns:a16="http://schemas.microsoft.com/office/drawing/2014/main" id="{FFA6C4CB-0EA3-F8FE-DA7E-B07BF7772234}"/>
              </a:ext>
            </a:extLst>
          </p:cNvPr>
          <p:cNvSpPr/>
          <p:nvPr/>
        </p:nvSpPr>
        <p:spPr>
          <a:xfrm>
            <a:off x="7675894" y="5844458"/>
            <a:ext cx="95238" cy="94666"/>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81"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sp>
        <p:nvSpPr>
          <p:cNvPr id="6" name="TextBox 167">
            <a:extLst>
              <a:ext uri="{FF2B5EF4-FFF2-40B4-BE49-F238E27FC236}">
                <a16:creationId xmlns:a16="http://schemas.microsoft.com/office/drawing/2014/main" id="{8375C1FF-7354-D89F-0834-87192D571709}"/>
              </a:ext>
            </a:extLst>
          </p:cNvPr>
          <p:cNvSpPr txBox="1"/>
          <p:nvPr/>
        </p:nvSpPr>
        <p:spPr>
          <a:xfrm>
            <a:off x="7878545" y="5817757"/>
            <a:ext cx="1269578" cy="138499"/>
          </a:xfrm>
          <a:prstGeom prst="rect">
            <a:avLst/>
          </a:prstGeom>
          <a:noFill/>
          <a:ln w="6350">
            <a:noFill/>
            <a:miter lim="800000"/>
          </a:ln>
        </p:spPr>
        <p:txBody>
          <a:bodyPr vert="horz" wrap="none" lIns="0" tIns="0" rIns="0" bIns="0" rtlCol="0" anchor="t">
            <a:spAutoFit/>
          </a:bodyPr>
          <a:lstStyle>
            <a:defPPr>
              <a:defRPr lang="en-US"/>
            </a:defPPr>
            <a:lvl1pPr marL="0" algn="l" defTabSz="914400" rtl="0" eaLnBrk="1" latinLnBrk="0" hangingPunct="1">
              <a:spcBef>
                <a:spcPts val="300"/>
              </a:spcBef>
              <a:spcAft>
                <a:spcPts val="300"/>
              </a:spcAft>
              <a:buNone/>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81">
              <a:defRPr/>
            </a:pPr>
            <a:r>
              <a:rPr lang="vi-VN" sz="900" err="1">
                <a:solidFill>
                  <a:srgbClr val="000000"/>
                </a:solidFill>
                <a:latin typeface="Arial"/>
              </a:rPr>
              <a:t>Security</a:t>
            </a:r>
            <a:r>
              <a:rPr lang="vi-VN" sz="900">
                <a:solidFill>
                  <a:srgbClr val="000000"/>
                </a:solidFill>
                <a:latin typeface="Arial"/>
              </a:rPr>
              <a:t> </a:t>
            </a:r>
            <a:r>
              <a:rPr lang="vi-VN" sz="900" err="1">
                <a:solidFill>
                  <a:srgbClr val="000000"/>
                </a:solidFill>
                <a:latin typeface="Arial"/>
              </a:rPr>
              <a:t>driven</a:t>
            </a:r>
            <a:r>
              <a:rPr lang="vi-VN" sz="900">
                <a:solidFill>
                  <a:srgbClr val="000000"/>
                </a:solidFill>
                <a:latin typeface="Arial"/>
              </a:rPr>
              <a:t> </a:t>
            </a:r>
            <a:r>
              <a:rPr lang="vi-VN" sz="900" err="1">
                <a:solidFill>
                  <a:srgbClr val="000000"/>
                </a:solidFill>
                <a:latin typeface="Arial"/>
              </a:rPr>
              <a:t>initiatives</a:t>
            </a:r>
            <a:endParaRPr lang="en-US" err="1"/>
          </a:p>
        </p:txBody>
      </p:sp>
      <p:sp>
        <p:nvSpPr>
          <p:cNvPr id="8" name="TextBox 19">
            <a:extLst>
              <a:ext uri="{FF2B5EF4-FFF2-40B4-BE49-F238E27FC236}">
                <a16:creationId xmlns:a16="http://schemas.microsoft.com/office/drawing/2014/main" id="{FF75C9C4-EE8D-C0C8-D54C-B877938532EF}"/>
              </a:ext>
            </a:extLst>
          </p:cNvPr>
          <p:cNvSpPr txBox="1">
            <a:spLocks/>
          </p:cNvSpPr>
          <p:nvPr/>
        </p:nvSpPr>
        <p:spPr>
          <a:xfrm>
            <a:off x="384048" y="2915366"/>
            <a:ext cx="997077" cy="1313472"/>
          </a:xfrm>
          <a:prstGeom prst="rect">
            <a:avLst/>
          </a:prstGeom>
          <a:solidFill>
            <a:schemeClr val="bg1">
              <a:lumMod val="95000"/>
            </a:schemeClr>
          </a:solidFill>
          <a:ln>
            <a:noFill/>
          </a:ln>
        </p:spPr>
        <p:txBody>
          <a:bodyPr vert="horz" wrap="square" lIns="45720" tIns="27432" rIns="45720" bIns="45720" rtlCol="0" anchor="t" anchorCtr="0">
            <a:no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defTabSz="914381">
              <a:spcBef>
                <a:spcPts val="0"/>
              </a:spcBef>
              <a:spcAft>
                <a:spcPts val="0"/>
              </a:spcAft>
              <a:buClr>
                <a:srgbClr val="515349"/>
              </a:buClr>
              <a:buNone/>
              <a:defRPr/>
            </a:pPr>
            <a:r>
              <a:rPr lang="en-US" sz="1000" b="1">
                <a:solidFill>
                  <a:srgbClr val="BA0C2F"/>
                </a:solidFill>
                <a:latin typeface="Arial"/>
                <a:cs typeface="Arial"/>
              </a:rPr>
              <a:t>Security </a:t>
            </a:r>
            <a:r>
              <a:rPr kumimoji="0" lang="en-US" sz="1000" b="1" i="0" u="none" strike="noStrike" kern="1200" cap="none" spc="0" normalizeH="0" baseline="0" noProof="0">
                <a:ln>
                  <a:noFill/>
                </a:ln>
                <a:solidFill>
                  <a:srgbClr val="BA0C2F"/>
                </a:solidFill>
                <a:effectLst/>
                <a:uLnTx/>
                <a:uFillTx/>
                <a:latin typeface="Arial"/>
                <a:ea typeface="+mn-ea"/>
                <a:cs typeface="Arial"/>
              </a:rPr>
              <a:t>Specific</a:t>
            </a:r>
            <a:endParaRPr lang="en-US" sz="1000" b="1" i="0" u="none" strike="noStrike" kern="1200" cap="none" spc="0" normalizeH="0" baseline="0" noProof="0">
              <a:ln>
                <a:noFill/>
              </a:ln>
              <a:solidFill>
                <a:srgbClr val="BA0C2F"/>
              </a:solidFill>
              <a:effectLst/>
              <a:uLnTx/>
              <a:uFillTx/>
              <a:latin typeface="Arial"/>
              <a:cs typeface="Arial"/>
            </a:endParaRPr>
          </a:p>
        </p:txBody>
      </p:sp>
      <p:sp>
        <p:nvSpPr>
          <p:cNvPr id="9" name="Oval 8">
            <a:extLst>
              <a:ext uri="{FF2B5EF4-FFF2-40B4-BE49-F238E27FC236}">
                <a16:creationId xmlns:a16="http://schemas.microsoft.com/office/drawing/2014/main" id="{54562C47-C8D0-3FE7-175B-1331B154DA47}"/>
              </a:ext>
            </a:extLst>
          </p:cNvPr>
          <p:cNvSpPr/>
          <p:nvPr/>
        </p:nvSpPr>
        <p:spPr>
          <a:xfrm>
            <a:off x="1514398" y="3520088"/>
            <a:ext cx="95238" cy="94666"/>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81"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sp>
        <p:nvSpPr>
          <p:cNvPr id="10" name="Oval 9">
            <a:extLst>
              <a:ext uri="{FF2B5EF4-FFF2-40B4-BE49-F238E27FC236}">
                <a16:creationId xmlns:a16="http://schemas.microsoft.com/office/drawing/2014/main" id="{1B78D376-ECAD-FD99-3771-8997795B2528}"/>
              </a:ext>
            </a:extLst>
          </p:cNvPr>
          <p:cNvSpPr/>
          <p:nvPr/>
        </p:nvSpPr>
        <p:spPr>
          <a:xfrm>
            <a:off x="1514398" y="3952828"/>
            <a:ext cx="95238" cy="94666"/>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81"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sp>
        <p:nvSpPr>
          <p:cNvPr id="3" name="TextBox 19">
            <a:extLst>
              <a:ext uri="{FF2B5EF4-FFF2-40B4-BE49-F238E27FC236}">
                <a16:creationId xmlns:a16="http://schemas.microsoft.com/office/drawing/2014/main" id="{1AEFC65D-4D1B-5BA4-E8D3-4275D61ADD76}"/>
              </a:ext>
            </a:extLst>
          </p:cNvPr>
          <p:cNvSpPr txBox="1">
            <a:spLocks/>
          </p:cNvSpPr>
          <p:nvPr/>
        </p:nvSpPr>
        <p:spPr>
          <a:xfrm>
            <a:off x="392608" y="4259568"/>
            <a:ext cx="988516" cy="416333"/>
          </a:xfrm>
          <a:prstGeom prst="rect">
            <a:avLst/>
          </a:prstGeom>
          <a:solidFill>
            <a:schemeClr val="bg1">
              <a:lumMod val="95000"/>
            </a:schemeClr>
          </a:solidFill>
          <a:ln>
            <a:noFill/>
          </a:ln>
        </p:spPr>
        <p:txBody>
          <a:bodyPr vert="horz" wrap="square" lIns="45720" tIns="27432" rIns="45720" bIns="45720" rtlCol="0" anchor="t" anchorCtr="0">
            <a:noAutofit/>
          </a:bodyPr>
          <a:lstStyle>
            <a:defPPr>
              <a:defRPr lang="en-US"/>
            </a:defPPr>
            <a:lvl1pPr marL="0" lv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lvl="1"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lvl="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lvl="3"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lvl="4"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defTabSz="914381">
              <a:spcBef>
                <a:spcPts val="0"/>
              </a:spcBef>
              <a:spcAft>
                <a:spcPts val="0"/>
              </a:spcAft>
              <a:buClr>
                <a:srgbClr val="515349"/>
              </a:buClr>
              <a:buNone/>
              <a:defRPr/>
            </a:pPr>
            <a:r>
              <a:rPr lang="en-US" sz="1000" b="1">
                <a:solidFill>
                  <a:srgbClr val="BA0C2F"/>
                </a:solidFill>
                <a:latin typeface="Arial"/>
                <a:cs typeface="Arial"/>
              </a:rPr>
              <a:t>Observability Specific</a:t>
            </a:r>
            <a:endParaRPr lang="en-US" sz="1000" b="1"/>
          </a:p>
        </p:txBody>
      </p:sp>
      <p:sp>
        <p:nvSpPr>
          <p:cNvPr id="11" name="Oval 10">
            <a:extLst>
              <a:ext uri="{FF2B5EF4-FFF2-40B4-BE49-F238E27FC236}">
                <a16:creationId xmlns:a16="http://schemas.microsoft.com/office/drawing/2014/main" id="{5757EC60-92A8-E047-9FD1-77D8BFC41F31}"/>
              </a:ext>
            </a:extLst>
          </p:cNvPr>
          <p:cNvSpPr/>
          <p:nvPr/>
        </p:nvSpPr>
        <p:spPr>
          <a:xfrm>
            <a:off x="1514397" y="4415164"/>
            <a:ext cx="95238" cy="94666"/>
          </a:xfrm>
          <a:prstGeom prst="ellipse">
            <a:avLst/>
          </a:prstGeom>
          <a:solidFill>
            <a:srgbClr val="00B05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81"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sp>
        <p:nvSpPr>
          <p:cNvPr id="13" name="Oval 12">
            <a:extLst>
              <a:ext uri="{FF2B5EF4-FFF2-40B4-BE49-F238E27FC236}">
                <a16:creationId xmlns:a16="http://schemas.microsoft.com/office/drawing/2014/main" id="{8DC5039E-0BF9-6F2C-922E-1622BF30CCB9}"/>
              </a:ext>
            </a:extLst>
          </p:cNvPr>
          <p:cNvSpPr/>
          <p:nvPr/>
        </p:nvSpPr>
        <p:spPr>
          <a:xfrm>
            <a:off x="7675894" y="6058502"/>
            <a:ext cx="95238" cy="94666"/>
          </a:xfrm>
          <a:prstGeom prst="ellipse">
            <a:avLst/>
          </a:prstGeom>
          <a:solidFill>
            <a:srgbClr val="00B05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81"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515349"/>
              </a:solidFill>
              <a:effectLst/>
              <a:uLnTx/>
              <a:uFillTx/>
              <a:latin typeface="Arial"/>
              <a:ea typeface="+mn-ea"/>
              <a:cs typeface="+mn-cs"/>
            </a:endParaRPr>
          </a:p>
        </p:txBody>
      </p:sp>
      <p:sp>
        <p:nvSpPr>
          <p:cNvPr id="19" name="TextBox 167">
            <a:extLst>
              <a:ext uri="{FF2B5EF4-FFF2-40B4-BE49-F238E27FC236}">
                <a16:creationId xmlns:a16="http://schemas.microsoft.com/office/drawing/2014/main" id="{17C7B6EB-1BA9-2F6E-150B-1629CAD2F415}"/>
              </a:ext>
            </a:extLst>
          </p:cNvPr>
          <p:cNvSpPr txBox="1"/>
          <p:nvPr/>
        </p:nvSpPr>
        <p:spPr>
          <a:xfrm>
            <a:off x="7887106" y="6031801"/>
            <a:ext cx="3943387" cy="138499"/>
          </a:xfrm>
          <a:prstGeom prst="rect">
            <a:avLst/>
          </a:prstGeom>
          <a:noFill/>
          <a:ln w="6350">
            <a:noFill/>
            <a:miter lim="800000"/>
          </a:ln>
        </p:spPr>
        <p:txBody>
          <a:bodyPr vert="horz" wrap="none" lIns="0" tIns="0" rIns="0" bIns="0" rtlCol="0" anchor="t">
            <a:spAutoFit/>
          </a:bodyPr>
          <a:lstStyle>
            <a:defPPr>
              <a:defRPr lang="en-US"/>
            </a:defPPr>
            <a:lvl1pPr marL="0" algn="l" defTabSz="914400" rtl="0" eaLnBrk="1" latinLnBrk="0" hangingPunct="1">
              <a:spcBef>
                <a:spcPts val="300"/>
              </a:spcBef>
              <a:spcAft>
                <a:spcPts val="300"/>
              </a:spcAft>
              <a:buNone/>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81">
              <a:defRPr/>
            </a:pPr>
            <a:r>
              <a:rPr lang="vi-VN" sz="900" err="1">
                <a:solidFill>
                  <a:srgbClr val="000000"/>
                </a:solidFill>
                <a:latin typeface="Arial"/>
              </a:rPr>
              <a:t>Cloud</a:t>
            </a:r>
            <a:r>
              <a:rPr lang="vi-VN" sz="900">
                <a:solidFill>
                  <a:srgbClr val="000000"/>
                </a:solidFill>
                <a:latin typeface="Arial"/>
              </a:rPr>
              <a:t> </a:t>
            </a:r>
            <a:r>
              <a:rPr lang="vi-VN" sz="900" err="1">
                <a:solidFill>
                  <a:srgbClr val="000000"/>
                </a:solidFill>
                <a:latin typeface="Arial"/>
              </a:rPr>
              <a:t>dependent</a:t>
            </a:r>
            <a:r>
              <a:rPr lang="vi-VN" sz="900">
                <a:solidFill>
                  <a:srgbClr val="000000"/>
                </a:solidFill>
                <a:latin typeface="Arial"/>
              </a:rPr>
              <a:t> </a:t>
            </a:r>
            <a:r>
              <a:rPr lang="vi-VN" sz="900" err="1">
                <a:solidFill>
                  <a:srgbClr val="000000"/>
                </a:solidFill>
                <a:latin typeface="Arial"/>
              </a:rPr>
              <a:t>initiative</a:t>
            </a:r>
            <a:r>
              <a:rPr lang="vi-VN" sz="900">
                <a:solidFill>
                  <a:srgbClr val="000000"/>
                </a:solidFill>
                <a:latin typeface="Arial"/>
              </a:rPr>
              <a:t> </a:t>
            </a:r>
            <a:r>
              <a:rPr lang="vi-VN" sz="900" err="1">
                <a:solidFill>
                  <a:srgbClr val="000000"/>
                </a:solidFill>
                <a:latin typeface="Arial"/>
              </a:rPr>
              <a:t>referenced</a:t>
            </a:r>
            <a:r>
              <a:rPr lang="vi-VN" sz="900">
                <a:solidFill>
                  <a:srgbClr val="000000"/>
                </a:solidFill>
                <a:latin typeface="Arial"/>
              </a:rPr>
              <a:t> in </a:t>
            </a:r>
            <a:r>
              <a:rPr lang="vi-VN" sz="900" err="1">
                <a:solidFill>
                  <a:srgbClr val="000000"/>
                </a:solidFill>
                <a:latin typeface="Arial"/>
              </a:rPr>
              <a:t>Monitoring</a:t>
            </a:r>
            <a:r>
              <a:rPr lang="vi-VN" sz="900">
                <a:solidFill>
                  <a:srgbClr val="000000"/>
                </a:solidFill>
                <a:latin typeface="Arial"/>
              </a:rPr>
              <a:t> &amp; </a:t>
            </a:r>
            <a:r>
              <a:rPr lang="vi-VN" sz="900" err="1">
                <a:solidFill>
                  <a:srgbClr val="000000"/>
                </a:solidFill>
                <a:latin typeface="Arial"/>
              </a:rPr>
              <a:t>Observability</a:t>
            </a:r>
            <a:r>
              <a:rPr lang="vi-VN" sz="900">
                <a:solidFill>
                  <a:srgbClr val="000000"/>
                </a:solidFill>
                <a:latin typeface="Arial"/>
              </a:rPr>
              <a:t> </a:t>
            </a:r>
            <a:r>
              <a:rPr lang="vi-VN" sz="900" err="1">
                <a:solidFill>
                  <a:srgbClr val="000000"/>
                </a:solidFill>
                <a:latin typeface="Arial"/>
              </a:rPr>
              <a:t>Roadmap</a:t>
            </a:r>
            <a:endParaRPr lang="en-US" err="1"/>
          </a:p>
        </p:txBody>
      </p:sp>
      <p:cxnSp>
        <p:nvCxnSpPr>
          <p:cNvPr id="28" name="Straight Arrow Connector 27">
            <a:extLst>
              <a:ext uri="{FF2B5EF4-FFF2-40B4-BE49-F238E27FC236}">
                <a16:creationId xmlns:a16="http://schemas.microsoft.com/office/drawing/2014/main" id="{72F6A8E1-B87A-1708-AC99-133CAAD28F27}"/>
              </a:ext>
            </a:extLst>
          </p:cNvPr>
          <p:cNvCxnSpPr/>
          <p:nvPr/>
        </p:nvCxnSpPr>
        <p:spPr>
          <a:xfrm flipV="1">
            <a:off x="380937" y="4231942"/>
            <a:ext cx="11412244" cy="10358"/>
          </a:xfrm>
          <a:prstGeom prst="straightConnector1">
            <a:avLst/>
          </a:prstGeom>
          <a:ln>
            <a:prstDash val="dash"/>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2E0A90D-1B11-436F-3FF2-566442478284}"/>
              </a:ext>
            </a:extLst>
          </p:cNvPr>
          <p:cNvCxnSpPr>
            <a:cxnSpLocks/>
          </p:cNvCxnSpPr>
          <p:nvPr/>
        </p:nvCxnSpPr>
        <p:spPr>
          <a:xfrm flipV="1">
            <a:off x="380937" y="2890508"/>
            <a:ext cx="11412244" cy="10358"/>
          </a:xfrm>
          <a:prstGeom prst="straightConnector1">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38563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21">
            <a:extLst>
              <a:ext uri="{FF2B5EF4-FFF2-40B4-BE49-F238E27FC236}">
                <a16:creationId xmlns:a16="http://schemas.microsoft.com/office/drawing/2014/main" id="{6156CCD1-A241-2D2C-3A9A-670D216275F1}"/>
              </a:ext>
            </a:extLst>
          </p:cNvPr>
          <p:cNvSpPr txBox="1">
            <a:spLocks/>
          </p:cNvSpPr>
          <p:nvPr/>
        </p:nvSpPr>
        <p:spPr>
          <a:xfrm>
            <a:off x="1448448" y="3212094"/>
            <a:ext cx="2285495" cy="271070"/>
          </a:xfrm>
          <a:prstGeom prst="rect">
            <a:avLst/>
          </a:prstGeom>
          <a:solidFill>
            <a:srgbClr val="FBC4CF"/>
          </a:solidFill>
          <a:ln w="6350">
            <a:noFill/>
            <a:miter lim="800000"/>
          </a:ln>
        </p:spPr>
        <p:txBody>
          <a:bodyPr vert="horz" wrap="square" lIns="182880" tIns="36000" rIns="36000" bIns="36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81">
              <a:spcBef>
                <a:spcPts val="300"/>
              </a:spcBef>
              <a:spcAft>
                <a:spcPts val="300"/>
              </a:spcAft>
              <a:defRPr/>
            </a:pPr>
            <a:r>
              <a:rPr lang="en-US" sz="1000">
                <a:solidFill>
                  <a:srgbClr val="000000"/>
                </a:solidFill>
                <a:latin typeface="Aptos Narrow"/>
                <a:cs typeface="Arial"/>
              </a:rPr>
              <a:t>TSB integration in Azure</a:t>
            </a:r>
            <a:endParaRPr lang="en-US">
              <a:cs typeface="Arial"/>
            </a:endParaRPr>
          </a:p>
        </p:txBody>
      </p:sp>
      <p:sp>
        <p:nvSpPr>
          <p:cNvPr id="64" name="TextBox 163">
            <a:extLst>
              <a:ext uri="{FF2B5EF4-FFF2-40B4-BE49-F238E27FC236}">
                <a16:creationId xmlns:a16="http://schemas.microsoft.com/office/drawing/2014/main" id="{DA4A0A83-946A-B931-6834-CAFFF28AB8F0}"/>
              </a:ext>
            </a:extLst>
          </p:cNvPr>
          <p:cNvSpPr txBox="1">
            <a:spLocks/>
          </p:cNvSpPr>
          <p:nvPr/>
        </p:nvSpPr>
        <p:spPr>
          <a:xfrm>
            <a:off x="9971535" y="4660147"/>
            <a:ext cx="2070101" cy="646331"/>
          </a:xfrm>
          <a:prstGeom prst="rect">
            <a:avLst/>
          </a:prstGeom>
          <a:solidFill>
            <a:schemeClr val="bg1">
              <a:lumMod val="95000"/>
            </a:schemeClr>
          </a:solidFill>
          <a:ln w="6350">
            <a:noFill/>
            <a:miter lim="800000"/>
          </a:ln>
        </p:spPr>
        <p:txBody>
          <a:bodyPr vert="horz" wrap="square" lIns="45720" tIns="91440" rIns="45720" bIns="9144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31775" lvl="1">
              <a:spcBef>
                <a:spcPts val="300"/>
              </a:spcBef>
              <a:spcAft>
                <a:spcPts val="300"/>
              </a:spcAft>
              <a:defRPr/>
            </a:pPr>
            <a:r>
              <a:rPr lang="en-US" sz="1000">
                <a:solidFill>
                  <a:srgbClr val="515349"/>
                </a:solidFill>
                <a:latin typeface="Arial"/>
              </a:rPr>
              <a:t>I&amp;O driven dependent initiatives referenced in Network roadmap</a:t>
            </a:r>
            <a:endParaRPr lang="en-US" sz="1000">
              <a:cs typeface="Arial"/>
            </a:endParaRPr>
          </a:p>
        </p:txBody>
      </p:sp>
      <p:sp>
        <p:nvSpPr>
          <p:cNvPr id="2" name="Title 1">
            <a:extLst>
              <a:ext uri="{FF2B5EF4-FFF2-40B4-BE49-F238E27FC236}">
                <a16:creationId xmlns:a16="http://schemas.microsoft.com/office/drawing/2014/main" id="{A25C8C87-CD9A-0D8B-145E-C7E08E40288A}"/>
              </a:ext>
            </a:extLst>
          </p:cNvPr>
          <p:cNvSpPr>
            <a:spLocks noGrp="1"/>
          </p:cNvSpPr>
          <p:nvPr>
            <p:ph type="title"/>
          </p:nvPr>
        </p:nvSpPr>
        <p:spPr/>
        <p:txBody>
          <a:bodyPr/>
          <a:lstStyle/>
          <a:p>
            <a:r>
              <a:rPr lang="en-CA" sz="2400">
                <a:cs typeface="Arial"/>
              </a:rPr>
              <a:t>Work Packages / Initiatives Sequencing (2026-2027)</a:t>
            </a:r>
            <a:endParaRPr lang="en-US"/>
          </a:p>
        </p:txBody>
      </p:sp>
      <p:sp>
        <p:nvSpPr>
          <p:cNvPr id="4" name="Footer Placeholder 3">
            <a:extLst>
              <a:ext uri="{FF2B5EF4-FFF2-40B4-BE49-F238E27FC236}">
                <a16:creationId xmlns:a16="http://schemas.microsoft.com/office/drawing/2014/main" id="{FED5DFFE-44C7-52A2-0438-5974E3BB8761}"/>
              </a:ext>
            </a:extLst>
          </p:cNvPr>
          <p:cNvSpPr>
            <a:spLocks noGrp="1"/>
          </p:cNvSpPr>
          <p:nvPr>
            <p:ph type="ftr" sz="quarter" idx="11"/>
          </p:nvPr>
        </p:nvSpPr>
        <p:spPr/>
        <p:txBody>
          <a:bodyPr/>
          <a:lstStyle/>
          <a:p>
            <a:r>
              <a:rPr lang="en-CA"/>
              <a:t>CONFIDENTIAL</a:t>
            </a:r>
          </a:p>
        </p:txBody>
      </p:sp>
      <p:sp>
        <p:nvSpPr>
          <p:cNvPr id="5" name="Date Placeholder 4">
            <a:extLst>
              <a:ext uri="{FF2B5EF4-FFF2-40B4-BE49-F238E27FC236}">
                <a16:creationId xmlns:a16="http://schemas.microsoft.com/office/drawing/2014/main" id="{A28BAF15-D0BD-28E0-1454-FAB40F85EE6E}"/>
              </a:ext>
            </a:extLst>
          </p:cNvPr>
          <p:cNvSpPr>
            <a:spLocks noGrp="1"/>
          </p:cNvSpPr>
          <p:nvPr>
            <p:ph type="dt" sz="half" idx="13"/>
          </p:nvPr>
        </p:nvSpPr>
        <p:spPr/>
        <p:txBody>
          <a:bodyPr/>
          <a:lstStyle/>
          <a:p>
            <a:fld id="{DFC179E5-4269-44D4-A984-C57F7029D15D}" type="datetime1">
              <a:rPr lang="en-US" smtClean="0"/>
              <a:t>7/31/2026</a:t>
            </a:fld>
            <a:endParaRPr lang="en-CA"/>
          </a:p>
        </p:txBody>
      </p:sp>
      <p:sp>
        <p:nvSpPr>
          <p:cNvPr id="3" name="TextBox 141">
            <a:extLst>
              <a:ext uri="{FF2B5EF4-FFF2-40B4-BE49-F238E27FC236}">
                <a16:creationId xmlns:a16="http://schemas.microsoft.com/office/drawing/2014/main" id="{204109FA-44CB-4077-EF95-3F9DA5B09A6A}"/>
              </a:ext>
            </a:extLst>
          </p:cNvPr>
          <p:cNvSpPr txBox="1">
            <a:spLocks/>
          </p:cNvSpPr>
          <p:nvPr/>
        </p:nvSpPr>
        <p:spPr>
          <a:xfrm>
            <a:off x="251886" y="1152688"/>
            <a:ext cx="4962347" cy="476922"/>
          </a:xfrm>
          <a:prstGeom prst="chevron">
            <a:avLst>
              <a:gd name="adj" fmla="val 28868"/>
            </a:avLst>
          </a:prstGeom>
          <a:solidFill>
            <a:srgbClr val="BA0C2F"/>
          </a:solidFill>
          <a:ln w="6350">
            <a:noFill/>
            <a:miter lim="800000"/>
          </a:ln>
        </p:spPr>
        <p:txBody>
          <a:bodyPr vert="horz" wrap="square" lIns="0" tIns="72000" rIns="0" bIns="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81"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a:ea typeface="+mn-ea"/>
                <a:cs typeface="+mn-cs"/>
              </a:rPr>
              <a:t>2026</a:t>
            </a:r>
          </a:p>
        </p:txBody>
      </p:sp>
      <p:sp>
        <p:nvSpPr>
          <p:cNvPr id="6" name="TextBox 142">
            <a:extLst>
              <a:ext uri="{FF2B5EF4-FFF2-40B4-BE49-F238E27FC236}">
                <a16:creationId xmlns:a16="http://schemas.microsoft.com/office/drawing/2014/main" id="{EBDFB7CA-A51E-7F89-6057-B3D3AEBC35B7}"/>
              </a:ext>
            </a:extLst>
          </p:cNvPr>
          <p:cNvSpPr txBox="1">
            <a:spLocks/>
          </p:cNvSpPr>
          <p:nvPr/>
        </p:nvSpPr>
        <p:spPr>
          <a:xfrm>
            <a:off x="5148196" y="1152689"/>
            <a:ext cx="4622169" cy="476921"/>
          </a:xfrm>
          <a:prstGeom prst="chevron">
            <a:avLst>
              <a:gd name="adj" fmla="val 28868"/>
            </a:avLst>
          </a:prstGeom>
          <a:solidFill>
            <a:srgbClr val="BA0C2F"/>
          </a:solidFill>
          <a:ln w="6350">
            <a:noFill/>
            <a:miter lim="800000"/>
          </a:ln>
        </p:spPr>
        <p:txBody>
          <a:bodyPr vert="horz" wrap="square" lIns="0" tIns="72000" rIns="0" bIns="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81"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a:ea typeface="+mn-ea"/>
                <a:cs typeface="+mn-cs"/>
              </a:rPr>
              <a:t>2027</a:t>
            </a:r>
          </a:p>
        </p:txBody>
      </p:sp>
      <p:sp>
        <p:nvSpPr>
          <p:cNvPr id="7" name="TextBox 21">
            <a:extLst>
              <a:ext uri="{FF2B5EF4-FFF2-40B4-BE49-F238E27FC236}">
                <a16:creationId xmlns:a16="http://schemas.microsoft.com/office/drawing/2014/main" id="{DC6F7CF6-5CC9-FC5D-4EA7-26CC620C391F}"/>
              </a:ext>
            </a:extLst>
          </p:cNvPr>
          <p:cNvSpPr txBox="1">
            <a:spLocks/>
          </p:cNvSpPr>
          <p:nvPr/>
        </p:nvSpPr>
        <p:spPr>
          <a:xfrm>
            <a:off x="300744" y="1976342"/>
            <a:ext cx="2285495" cy="279632"/>
          </a:xfrm>
          <a:prstGeom prst="rect">
            <a:avLst/>
          </a:prstGeom>
          <a:solidFill>
            <a:srgbClr val="FBC4CF"/>
          </a:solidFill>
          <a:ln w="6350">
            <a:noFill/>
            <a:miter lim="800000"/>
          </a:ln>
        </p:spPr>
        <p:txBody>
          <a:bodyPr vert="horz" wrap="square" lIns="182880" tIns="36000" rIns="36000" bIns="36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81">
              <a:spcBef>
                <a:spcPts val="300"/>
              </a:spcBef>
              <a:spcAft>
                <a:spcPts val="300"/>
              </a:spcAft>
              <a:defRPr/>
            </a:pPr>
            <a:r>
              <a:rPr lang="en-US" sz="1000">
                <a:solidFill>
                  <a:srgbClr val="000000"/>
                </a:solidFill>
                <a:latin typeface="Aptos Narrow"/>
                <a:cs typeface="Arial"/>
              </a:rPr>
              <a:t>Hardened Container Image Platform</a:t>
            </a:r>
            <a:endParaRPr lang="en-US" sz="1000">
              <a:latin typeface="Aptos Narrow"/>
              <a:cs typeface="Arial"/>
            </a:endParaRPr>
          </a:p>
        </p:txBody>
      </p:sp>
      <p:sp>
        <p:nvSpPr>
          <p:cNvPr id="9" name="TextBox 9">
            <a:extLst>
              <a:ext uri="{FF2B5EF4-FFF2-40B4-BE49-F238E27FC236}">
                <a16:creationId xmlns:a16="http://schemas.microsoft.com/office/drawing/2014/main" id="{DD9EEB0A-5CF3-3B75-17C0-50F1346B673C}"/>
              </a:ext>
            </a:extLst>
          </p:cNvPr>
          <p:cNvSpPr txBox="1">
            <a:spLocks/>
          </p:cNvSpPr>
          <p:nvPr/>
        </p:nvSpPr>
        <p:spPr>
          <a:xfrm>
            <a:off x="300744" y="1661880"/>
            <a:ext cx="2293704" cy="269894"/>
          </a:xfrm>
          <a:prstGeom prst="rect">
            <a:avLst/>
          </a:prstGeom>
          <a:solidFill>
            <a:srgbClr val="FBC4CF"/>
          </a:solidFill>
          <a:ln w="6350">
            <a:noFill/>
            <a:miter lim="800000"/>
          </a:ln>
        </p:spPr>
        <p:txBody>
          <a:bodyPr vert="horz" wrap="square" lIns="182880" tIns="36000" rIns="36000" bIns="36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81">
              <a:defRPr/>
            </a:pPr>
            <a:r>
              <a:rPr lang="en-US" sz="1000">
                <a:solidFill>
                  <a:srgbClr val="000000"/>
                </a:solidFill>
                <a:latin typeface="Aptos Narrow"/>
                <a:cs typeface="Arial"/>
              </a:rPr>
              <a:t>Cloud Log Forwarding Platform</a:t>
            </a:r>
            <a:endParaRPr lang="en-US" sz="1000" b="1">
              <a:solidFill>
                <a:srgbClr val="FFFFFF"/>
              </a:solidFill>
              <a:latin typeface="Aptos Narrow"/>
              <a:cs typeface="Arial"/>
            </a:endParaRPr>
          </a:p>
        </p:txBody>
      </p:sp>
      <p:sp>
        <p:nvSpPr>
          <p:cNvPr id="10" name="TrackerNumWhite 5">
            <a:extLst>
              <a:ext uri="{FF2B5EF4-FFF2-40B4-BE49-F238E27FC236}">
                <a16:creationId xmlns:a16="http://schemas.microsoft.com/office/drawing/2014/main" id="{493E6129-F778-4539-EB69-B4578DABCBAF}"/>
              </a:ext>
            </a:extLst>
          </p:cNvPr>
          <p:cNvSpPr>
            <a:spLocks noChangeAspect="1"/>
          </p:cNvSpPr>
          <p:nvPr/>
        </p:nvSpPr>
        <p:spPr>
          <a:xfrm>
            <a:off x="165401" y="1691176"/>
            <a:ext cx="234279" cy="232170"/>
          </a:xfrm>
          <a:prstGeom prst="ellipse">
            <a:avLst/>
          </a:prstGeom>
          <a:solidFill>
            <a:srgbClr val="BA0C2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000" b="1">
                <a:solidFill>
                  <a:srgbClr val="FFFFFF"/>
                </a:solidFill>
                <a:latin typeface="Arial"/>
              </a:rPr>
              <a:t>C1</a:t>
            </a:r>
            <a:endParaRPr kumimoji="0" lang="en-US" sz="1000" b="1" i="0" u="none" strike="noStrike" kern="1200" cap="none" spc="0" normalizeH="0" baseline="0" noProof="0">
              <a:ln>
                <a:noFill/>
              </a:ln>
              <a:solidFill>
                <a:srgbClr val="FFFFFF"/>
              </a:solidFill>
              <a:effectLst/>
              <a:uLnTx/>
              <a:uFillTx/>
              <a:latin typeface="Arial"/>
              <a:ea typeface="+mn-ea"/>
              <a:cs typeface="+mn-cs"/>
            </a:endParaRPr>
          </a:p>
        </p:txBody>
      </p:sp>
      <p:sp>
        <p:nvSpPr>
          <p:cNvPr id="11" name="TextBox 48">
            <a:extLst>
              <a:ext uri="{FF2B5EF4-FFF2-40B4-BE49-F238E27FC236}">
                <a16:creationId xmlns:a16="http://schemas.microsoft.com/office/drawing/2014/main" id="{6205BF8D-C0F0-897D-DD40-56C9035E8858}"/>
              </a:ext>
            </a:extLst>
          </p:cNvPr>
          <p:cNvSpPr txBox="1">
            <a:spLocks/>
          </p:cNvSpPr>
          <p:nvPr/>
        </p:nvSpPr>
        <p:spPr>
          <a:xfrm>
            <a:off x="328966" y="2902997"/>
            <a:ext cx="4681622" cy="272437"/>
          </a:xfrm>
          <a:prstGeom prst="rect">
            <a:avLst/>
          </a:prstGeom>
          <a:solidFill>
            <a:schemeClr val="tx2">
              <a:lumMod val="20000"/>
              <a:lumOff val="80000"/>
            </a:schemeClr>
          </a:solidFill>
          <a:ln w="6350">
            <a:noFill/>
            <a:miter lim="800000"/>
          </a:ln>
        </p:spPr>
        <p:txBody>
          <a:bodyPr vert="horz" wrap="square" lIns="182880" tIns="36000" rIns="36000" bIns="36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4300" defTabSz="914381">
              <a:spcBef>
                <a:spcPts val="300"/>
              </a:spcBef>
              <a:spcAft>
                <a:spcPts val="300"/>
              </a:spcAft>
              <a:defRPr/>
            </a:pPr>
            <a:r>
              <a:rPr lang="en-CA" sz="1000">
                <a:solidFill>
                  <a:srgbClr val="000000"/>
                </a:solidFill>
                <a:latin typeface="Aptos Narrow"/>
                <a:cs typeface="Arial"/>
              </a:rPr>
              <a:t>GCP GKE workloads Exit</a:t>
            </a:r>
          </a:p>
        </p:txBody>
      </p:sp>
      <p:sp>
        <p:nvSpPr>
          <p:cNvPr id="19" name="TextBox 84">
            <a:extLst>
              <a:ext uri="{FF2B5EF4-FFF2-40B4-BE49-F238E27FC236}">
                <a16:creationId xmlns:a16="http://schemas.microsoft.com/office/drawing/2014/main" id="{D22B5D17-059F-553E-97FD-6E95B826F050}"/>
              </a:ext>
            </a:extLst>
          </p:cNvPr>
          <p:cNvSpPr txBox="1">
            <a:spLocks/>
          </p:cNvSpPr>
          <p:nvPr/>
        </p:nvSpPr>
        <p:spPr>
          <a:xfrm>
            <a:off x="328966" y="2275092"/>
            <a:ext cx="3411961" cy="281000"/>
          </a:xfrm>
          <a:prstGeom prst="rect">
            <a:avLst/>
          </a:prstGeom>
          <a:solidFill>
            <a:srgbClr val="FBC4CF"/>
          </a:solidFill>
          <a:ln w="6350">
            <a:noFill/>
            <a:miter lim="800000"/>
          </a:ln>
        </p:spPr>
        <p:txBody>
          <a:bodyPr vert="horz" wrap="square" lIns="182880" tIns="36000" rIns="36000" bIns="36000" rtlCol="0" anchor="ctr" anchorCtr="0">
            <a:noAutofit/>
          </a:bodyPr>
          <a:lstStyle>
            <a:defPPr>
              <a:defRPr lang="en-US"/>
            </a:defPPr>
            <a:lvl1pPr marL="0" indent="0" algn="l" defTabSz="992490" rtl="0" eaLnBrk="1" latinLnBrk="0" hangingPunct="1">
              <a:spcBef>
                <a:spcPts val="326"/>
              </a:spcBef>
              <a:spcAft>
                <a:spcPts val="326"/>
              </a:spcAft>
              <a:buNone/>
              <a:defRPr sz="1000" kern="1200" spc="-22">
                <a:solidFill>
                  <a:srgbClr val="515349"/>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81">
              <a:spcBef>
                <a:spcPts val="0"/>
              </a:spcBef>
              <a:spcAft>
                <a:spcPts val="100"/>
              </a:spcAft>
              <a:defRPr/>
            </a:pPr>
            <a:r>
              <a:rPr lang="en-US">
                <a:solidFill>
                  <a:srgbClr val="000000"/>
                </a:solidFill>
                <a:latin typeface="Aptos Narrow"/>
                <a:cs typeface="Arial"/>
              </a:rPr>
              <a:t>Tagging Automation</a:t>
            </a:r>
            <a:endParaRPr lang="en-US"/>
          </a:p>
        </p:txBody>
      </p:sp>
      <p:sp>
        <p:nvSpPr>
          <p:cNvPr id="20" name="TextBox 84">
            <a:extLst>
              <a:ext uri="{FF2B5EF4-FFF2-40B4-BE49-F238E27FC236}">
                <a16:creationId xmlns:a16="http://schemas.microsoft.com/office/drawing/2014/main" id="{E2006DD9-7F1C-65A5-D36D-52286EB907F8}"/>
              </a:ext>
            </a:extLst>
          </p:cNvPr>
          <p:cNvSpPr txBox="1">
            <a:spLocks/>
          </p:cNvSpPr>
          <p:nvPr/>
        </p:nvSpPr>
        <p:spPr>
          <a:xfrm>
            <a:off x="3773109" y="3522309"/>
            <a:ext cx="2415081" cy="272437"/>
          </a:xfrm>
          <a:prstGeom prst="rect">
            <a:avLst/>
          </a:prstGeom>
          <a:solidFill>
            <a:srgbClr val="FBC4CF"/>
          </a:solidFill>
          <a:ln w="6350">
            <a:noFill/>
            <a:miter lim="800000"/>
          </a:ln>
        </p:spPr>
        <p:txBody>
          <a:bodyPr vert="horz" wrap="square" lIns="182880" tIns="36000" rIns="36000" bIns="36000" rtlCol="0" anchor="ctr" anchorCtr="0">
            <a:noAutofit/>
          </a:bodyPr>
          <a:lstStyle>
            <a:defPPr>
              <a:defRPr lang="en-US"/>
            </a:defPPr>
            <a:lvl1pPr marL="0" indent="0" algn="l" defTabSz="992490" rtl="0" eaLnBrk="1" latinLnBrk="0" hangingPunct="1">
              <a:spcBef>
                <a:spcPts val="326"/>
              </a:spcBef>
              <a:spcAft>
                <a:spcPts val="326"/>
              </a:spcAft>
              <a:buNone/>
              <a:defRPr sz="1000" kern="1200" spc="-22">
                <a:solidFill>
                  <a:srgbClr val="515349"/>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spcBef>
                <a:spcPts val="0"/>
              </a:spcBef>
              <a:spcAft>
                <a:spcPts val="100"/>
              </a:spcAft>
              <a:defRPr/>
            </a:pPr>
            <a:r>
              <a:rPr lang="en-US" spc="0">
                <a:solidFill>
                  <a:srgbClr val="000000"/>
                </a:solidFill>
                <a:latin typeface="Aptos Narrow"/>
                <a:cs typeface="Arial"/>
              </a:rPr>
              <a:t>Chaos Resiliency Testing</a:t>
            </a:r>
            <a:endParaRPr lang="en-US"/>
          </a:p>
        </p:txBody>
      </p:sp>
      <p:grpSp>
        <p:nvGrpSpPr>
          <p:cNvPr id="22" name="Group 21">
            <a:extLst>
              <a:ext uri="{FF2B5EF4-FFF2-40B4-BE49-F238E27FC236}">
                <a16:creationId xmlns:a16="http://schemas.microsoft.com/office/drawing/2014/main" id="{EBDACD22-E1D4-5A92-4BD1-C002C350130B}"/>
              </a:ext>
            </a:extLst>
          </p:cNvPr>
          <p:cNvGrpSpPr/>
          <p:nvPr/>
        </p:nvGrpSpPr>
        <p:grpSpPr>
          <a:xfrm>
            <a:off x="5214233" y="1448511"/>
            <a:ext cx="4409332" cy="173794"/>
            <a:chOff x="5214233" y="1448511"/>
            <a:chExt cx="4409332" cy="173794"/>
          </a:xfrm>
        </p:grpSpPr>
        <p:cxnSp>
          <p:nvCxnSpPr>
            <p:cNvPr id="52" name="Straight Connector 51">
              <a:extLst>
                <a:ext uri="{FF2B5EF4-FFF2-40B4-BE49-F238E27FC236}">
                  <a16:creationId xmlns:a16="http://schemas.microsoft.com/office/drawing/2014/main" id="{693F36BD-8D46-114F-143D-78C6D0DA50DD}"/>
                </a:ext>
              </a:extLst>
            </p:cNvPr>
            <p:cNvCxnSpPr>
              <a:cxnSpLocks/>
            </p:cNvCxnSpPr>
            <p:nvPr/>
          </p:nvCxnSpPr>
          <p:spPr>
            <a:xfrm>
              <a:off x="5214233" y="1593918"/>
              <a:ext cx="4409332" cy="0"/>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47FC273-686E-38D3-DE7C-C1CF52A5FEEB}"/>
                </a:ext>
              </a:extLst>
            </p:cNvPr>
            <p:cNvCxnSpPr>
              <a:cxnSpLocks/>
            </p:cNvCxnSpPr>
            <p:nvPr/>
          </p:nvCxnSpPr>
          <p:spPr>
            <a:xfrm>
              <a:off x="8478799" y="1456987"/>
              <a:ext cx="0" cy="120316"/>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D04ECA4-6208-A813-1504-367A21ABEE7A}"/>
                </a:ext>
              </a:extLst>
            </p:cNvPr>
            <p:cNvCxnSpPr>
              <a:cxnSpLocks/>
            </p:cNvCxnSpPr>
            <p:nvPr/>
          </p:nvCxnSpPr>
          <p:spPr>
            <a:xfrm>
              <a:off x="6208849" y="1456987"/>
              <a:ext cx="0" cy="120316"/>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F17A114-32A8-C18F-ABE8-F35EA40CEBAA}"/>
                </a:ext>
              </a:extLst>
            </p:cNvPr>
            <p:cNvCxnSpPr>
              <a:cxnSpLocks/>
            </p:cNvCxnSpPr>
            <p:nvPr/>
          </p:nvCxnSpPr>
          <p:spPr>
            <a:xfrm>
              <a:off x="7335805" y="1456987"/>
              <a:ext cx="0" cy="120316"/>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6" name="TextBox 56">
              <a:extLst>
                <a:ext uri="{FF2B5EF4-FFF2-40B4-BE49-F238E27FC236}">
                  <a16:creationId xmlns:a16="http://schemas.microsoft.com/office/drawing/2014/main" id="{5F20FDD9-8196-A2C6-FD0C-B6EAA1E415D8}"/>
                </a:ext>
              </a:extLst>
            </p:cNvPr>
            <p:cNvSpPr txBox="1"/>
            <p:nvPr/>
          </p:nvSpPr>
          <p:spPr>
            <a:xfrm>
              <a:off x="5662863" y="1448511"/>
              <a:ext cx="181197" cy="145407"/>
            </a:xfrm>
            <a:prstGeom prst="rect">
              <a:avLst/>
            </a:prstGeom>
            <a:ln w="6350">
              <a:noFill/>
              <a:miter lim="800000"/>
            </a:ln>
          </p:spPr>
          <p:txBody>
            <a:bodyPr vert="horz" wrap="square" lIns="0" tIns="0" rIns="0" bIns="0" rtlCol="0">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ts val="300"/>
                </a:spcBef>
                <a:spcAft>
                  <a:spcPts val="300"/>
                </a:spcAft>
                <a:buNone/>
              </a:pPr>
              <a:r>
                <a:rPr lang="en-CA" sz="800" b="1">
                  <a:solidFill>
                    <a:schemeClr val="bg1"/>
                  </a:solidFill>
                </a:rPr>
                <a:t>Q1</a:t>
              </a:r>
            </a:p>
          </p:txBody>
        </p:sp>
        <p:sp>
          <p:nvSpPr>
            <p:cNvPr id="57" name="TextBox 61">
              <a:extLst>
                <a:ext uri="{FF2B5EF4-FFF2-40B4-BE49-F238E27FC236}">
                  <a16:creationId xmlns:a16="http://schemas.microsoft.com/office/drawing/2014/main" id="{8826AAC0-DBFB-1FED-1698-5BAC189FF738}"/>
                </a:ext>
              </a:extLst>
            </p:cNvPr>
            <p:cNvSpPr txBox="1"/>
            <p:nvPr/>
          </p:nvSpPr>
          <p:spPr>
            <a:xfrm>
              <a:off x="6685317" y="1448511"/>
              <a:ext cx="181197" cy="145407"/>
            </a:xfrm>
            <a:prstGeom prst="rect">
              <a:avLst/>
            </a:prstGeom>
            <a:ln w="6350">
              <a:noFill/>
              <a:miter lim="800000"/>
            </a:ln>
          </p:spPr>
          <p:txBody>
            <a:bodyPr vert="horz" wrap="square" lIns="0" tIns="0" rIns="0" bIns="0" rtlCol="0">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ts val="300"/>
                </a:spcBef>
                <a:spcAft>
                  <a:spcPts val="300"/>
                </a:spcAft>
                <a:buNone/>
              </a:pPr>
              <a:r>
                <a:rPr lang="en-CA" sz="800" b="1">
                  <a:solidFill>
                    <a:schemeClr val="bg1"/>
                  </a:solidFill>
                </a:rPr>
                <a:t>Q2</a:t>
              </a:r>
            </a:p>
          </p:txBody>
        </p:sp>
        <p:sp>
          <p:nvSpPr>
            <p:cNvPr id="58" name="TextBox 129">
              <a:extLst>
                <a:ext uri="{FF2B5EF4-FFF2-40B4-BE49-F238E27FC236}">
                  <a16:creationId xmlns:a16="http://schemas.microsoft.com/office/drawing/2014/main" id="{DE86AB9D-8828-B795-AB3C-CF925EA88BA9}"/>
                </a:ext>
              </a:extLst>
            </p:cNvPr>
            <p:cNvSpPr txBox="1"/>
            <p:nvPr/>
          </p:nvSpPr>
          <p:spPr>
            <a:xfrm>
              <a:off x="7854226" y="1448511"/>
              <a:ext cx="181197" cy="173794"/>
            </a:xfrm>
            <a:prstGeom prst="rect">
              <a:avLst/>
            </a:prstGeom>
            <a:ln w="6350">
              <a:noFill/>
              <a:miter lim="800000"/>
            </a:ln>
          </p:spPr>
          <p:txBody>
            <a:bodyPr vert="horz" wrap="square" lIns="0" tIns="0" rIns="0" bIns="0" rtlCol="0">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ts val="300"/>
                </a:spcBef>
                <a:spcAft>
                  <a:spcPts val="300"/>
                </a:spcAft>
                <a:buNone/>
              </a:pPr>
              <a:r>
                <a:rPr lang="en-CA" sz="800" b="1">
                  <a:solidFill>
                    <a:schemeClr val="bg1"/>
                  </a:solidFill>
                </a:rPr>
                <a:t>Q3</a:t>
              </a:r>
            </a:p>
          </p:txBody>
        </p:sp>
        <p:sp>
          <p:nvSpPr>
            <p:cNvPr id="59" name="TextBox 130">
              <a:extLst>
                <a:ext uri="{FF2B5EF4-FFF2-40B4-BE49-F238E27FC236}">
                  <a16:creationId xmlns:a16="http://schemas.microsoft.com/office/drawing/2014/main" id="{F97633E4-297D-22B2-6A94-A8A525783F84}"/>
                </a:ext>
              </a:extLst>
            </p:cNvPr>
            <p:cNvSpPr txBox="1"/>
            <p:nvPr/>
          </p:nvSpPr>
          <p:spPr>
            <a:xfrm>
              <a:off x="8932536" y="1448511"/>
              <a:ext cx="181197" cy="173794"/>
            </a:xfrm>
            <a:prstGeom prst="rect">
              <a:avLst/>
            </a:prstGeom>
            <a:ln w="6350">
              <a:noFill/>
              <a:miter lim="800000"/>
            </a:ln>
          </p:spPr>
          <p:txBody>
            <a:bodyPr vert="horz" wrap="square" lIns="0" tIns="0" rIns="0" bIns="0" rtlCol="0">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ts val="300"/>
                </a:spcBef>
                <a:spcAft>
                  <a:spcPts val="300"/>
                </a:spcAft>
                <a:buNone/>
              </a:pPr>
              <a:r>
                <a:rPr lang="en-CA" sz="800" b="1">
                  <a:solidFill>
                    <a:schemeClr val="bg1"/>
                  </a:solidFill>
                </a:rPr>
                <a:t>Q4</a:t>
              </a:r>
            </a:p>
          </p:txBody>
        </p:sp>
      </p:grpSp>
      <p:grpSp>
        <p:nvGrpSpPr>
          <p:cNvPr id="23" name="Group 22">
            <a:extLst>
              <a:ext uri="{FF2B5EF4-FFF2-40B4-BE49-F238E27FC236}">
                <a16:creationId xmlns:a16="http://schemas.microsoft.com/office/drawing/2014/main" id="{F97A6B76-2591-7B3A-973D-93352AAC8593}"/>
              </a:ext>
            </a:extLst>
          </p:cNvPr>
          <p:cNvGrpSpPr/>
          <p:nvPr/>
        </p:nvGrpSpPr>
        <p:grpSpPr>
          <a:xfrm>
            <a:off x="328863" y="1444583"/>
            <a:ext cx="4728411" cy="173794"/>
            <a:chOff x="328863" y="1444583"/>
            <a:chExt cx="4728411" cy="173794"/>
          </a:xfrm>
        </p:grpSpPr>
        <p:cxnSp>
          <p:nvCxnSpPr>
            <p:cNvPr id="44" name="Straight Connector 43">
              <a:extLst>
                <a:ext uri="{FF2B5EF4-FFF2-40B4-BE49-F238E27FC236}">
                  <a16:creationId xmlns:a16="http://schemas.microsoft.com/office/drawing/2014/main" id="{DC1FE83B-D373-A882-4F0A-16C0D7657D0E}"/>
                </a:ext>
              </a:extLst>
            </p:cNvPr>
            <p:cNvCxnSpPr>
              <a:cxnSpLocks/>
            </p:cNvCxnSpPr>
            <p:nvPr/>
          </p:nvCxnSpPr>
          <p:spPr>
            <a:xfrm>
              <a:off x="328863" y="1589990"/>
              <a:ext cx="4728411" cy="0"/>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3535AD7-1091-8BB2-3E43-0D0DD408EEB0}"/>
                </a:ext>
              </a:extLst>
            </p:cNvPr>
            <p:cNvCxnSpPr>
              <a:cxnSpLocks/>
            </p:cNvCxnSpPr>
            <p:nvPr/>
          </p:nvCxnSpPr>
          <p:spPr>
            <a:xfrm>
              <a:off x="3774247" y="1453059"/>
              <a:ext cx="0" cy="120316"/>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F8D2CF6-D25B-5BC5-9D5B-0FCFA68877FC}"/>
                </a:ext>
              </a:extLst>
            </p:cNvPr>
            <p:cNvCxnSpPr>
              <a:cxnSpLocks/>
            </p:cNvCxnSpPr>
            <p:nvPr/>
          </p:nvCxnSpPr>
          <p:spPr>
            <a:xfrm>
              <a:off x="1464187" y="1453059"/>
              <a:ext cx="0" cy="120316"/>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B210A8C-B104-4757-4D2B-CD20BA61FB8F}"/>
                </a:ext>
              </a:extLst>
            </p:cNvPr>
            <p:cNvCxnSpPr>
              <a:cxnSpLocks/>
            </p:cNvCxnSpPr>
            <p:nvPr/>
          </p:nvCxnSpPr>
          <p:spPr>
            <a:xfrm>
              <a:off x="2591143" y="1453059"/>
              <a:ext cx="0" cy="120316"/>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8" name="TextBox 137">
              <a:extLst>
                <a:ext uri="{FF2B5EF4-FFF2-40B4-BE49-F238E27FC236}">
                  <a16:creationId xmlns:a16="http://schemas.microsoft.com/office/drawing/2014/main" id="{28E25500-F5AB-B25C-961E-0F0E9D167C46}"/>
                </a:ext>
              </a:extLst>
            </p:cNvPr>
            <p:cNvSpPr txBox="1"/>
            <p:nvPr/>
          </p:nvSpPr>
          <p:spPr>
            <a:xfrm>
              <a:off x="918201" y="1444583"/>
              <a:ext cx="181197" cy="145407"/>
            </a:xfrm>
            <a:prstGeom prst="rect">
              <a:avLst/>
            </a:prstGeom>
            <a:ln w="6350">
              <a:noFill/>
              <a:miter lim="800000"/>
            </a:ln>
          </p:spPr>
          <p:txBody>
            <a:bodyPr vert="horz" wrap="square" lIns="0" tIns="0" rIns="0" bIns="0" rtlCol="0">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ts val="300"/>
                </a:spcBef>
                <a:spcAft>
                  <a:spcPts val="300"/>
                </a:spcAft>
                <a:buNone/>
              </a:pPr>
              <a:r>
                <a:rPr lang="en-CA" sz="800" b="1">
                  <a:solidFill>
                    <a:schemeClr val="bg1"/>
                  </a:solidFill>
                </a:rPr>
                <a:t>Q1</a:t>
              </a:r>
            </a:p>
          </p:txBody>
        </p:sp>
        <p:sp>
          <p:nvSpPr>
            <p:cNvPr id="49" name="TextBox 138">
              <a:extLst>
                <a:ext uri="{FF2B5EF4-FFF2-40B4-BE49-F238E27FC236}">
                  <a16:creationId xmlns:a16="http://schemas.microsoft.com/office/drawing/2014/main" id="{E4AF0A59-592C-5787-9832-4B407E0B9EC6}"/>
                </a:ext>
              </a:extLst>
            </p:cNvPr>
            <p:cNvSpPr txBox="1"/>
            <p:nvPr/>
          </p:nvSpPr>
          <p:spPr>
            <a:xfrm>
              <a:off x="1940655" y="1444583"/>
              <a:ext cx="181197" cy="145407"/>
            </a:xfrm>
            <a:prstGeom prst="rect">
              <a:avLst/>
            </a:prstGeom>
            <a:ln w="6350">
              <a:noFill/>
              <a:miter lim="800000"/>
            </a:ln>
          </p:spPr>
          <p:txBody>
            <a:bodyPr vert="horz" wrap="square" lIns="0" tIns="0" rIns="0" bIns="0" rtlCol="0">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ts val="300"/>
                </a:spcBef>
                <a:spcAft>
                  <a:spcPts val="300"/>
                </a:spcAft>
                <a:buNone/>
              </a:pPr>
              <a:r>
                <a:rPr lang="en-CA" sz="800" b="1">
                  <a:solidFill>
                    <a:schemeClr val="bg1"/>
                  </a:solidFill>
                </a:rPr>
                <a:t>Q2</a:t>
              </a:r>
            </a:p>
          </p:txBody>
        </p:sp>
        <p:sp>
          <p:nvSpPr>
            <p:cNvPr id="50" name="TextBox 139">
              <a:extLst>
                <a:ext uri="{FF2B5EF4-FFF2-40B4-BE49-F238E27FC236}">
                  <a16:creationId xmlns:a16="http://schemas.microsoft.com/office/drawing/2014/main" id="{DD666D9D-7957-573E-5044-582F3FCF7B45}"/>
                </a:ext>
              </a:extLst>
            </p:cNvPr>
            <p:cNvSpPr txBox="1"/>
            <p:nvPr/>
          </p:nvSpPr>
          <p:spPr>
            <a:xfrm>
              <a:off x="3109564" y="1444583"/>
              <a:ext cx="181197" cy="173794"/>
            </a:xfrm>
            <a:prstGeom prst="rect">
              <a:avLst/>
            </a:prstGeom>
            <a:ln w="6350">
              <a:noFill/>
              <a:miter lim="800000"/>
            </a:ln>
          </p:spPr>
          <p:txBody>
            <a:bodyPr vert="horz" wrap="square" lIns="0" tIns="0" rIns="0" bIns="0" rtlCol="0">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ts val="300"/>
                </a:spcBef>
                <a:spcAft>
                  <a:spcPts val="300"/>
                </a:spcAft>
                <a:buNone/>
              </a:pPr>
              <a:r>
                <a:rPr lang="en-CA" sz="800" b="1">
                  <a:solidFill>
                    <a:schemeClr val="bg1"/>
                  </a:solidFill>
                </a:rPr>
                <a:t>Q3</a:t>
              </a:r>
            </a:p>
          </p:txBody>
        </p:sp>
        <p:sp>
          <p:nvSpPr>
            <p:cNvPr id="51" name="TextBox 140">
              <a:extLst>
                <a:ext uri="{FF2B5EF4-FFF2-40B4-BE49-F238E27FC236}">
                  <a16:creationId xmlns:a16="http://schemas.microsoft.com/office/drawing/2014/main" id="{1A8C3D1E-A25E-0977-E52A-079827A12778}"/>
                </a:ext>
              </a:extLst>
            </p:cNvPr>
            <p:cNvSpPr txBox="1"/>
            <p:nvPr/>
          </p:nvSpPr>
          <p:spPr>
            <a:xfrm>
              <a:off x="4187874" y="1444583"/>
              <a:ext cx="181197" cy="173794"/>
            </a:xfrm>
            <a:prstGeom prst="rect">
              <a:avLst/>
            </a:prstGeom>
            <a:ln w="6350">
              <a:noFill/>
              <a:miter lim="800000"/>
            </a:ln>
          </p:spPr>
          <p:txBody>
            <a:bodyPr vert="horz" wrap="square" lIns="0" tIns="0" rIns="0" bIns="0" rtlCol="0">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ts val="300"/>
                </a:spcBef>
                <a:spcAft>
                  <a:spcPts val="300"/>
                </a:spcAft>
                <a:buNone/>
              </a:pPr>
              <a:r>
                <a:rPr lang="en-CA" sz="800" b="1">
                  <a:solidFill>
                    <a:schemeClr val="bg1"/>
                  </a:solidFill>
                </a:rPr>
                <a:t>Q4</a:t>
              </a:r>
            </a:p>
          </p:txBody>
        </p:sp>
      </p:grpSp>
      <p:sp>
        <p:nvSpPr>
          <p:cNvPr id="25" name="TextBox 54">
            <a:extLst>
              <a:ext uri="{FF2B5EF4-FFF2-40B4-BE49-F238E27FC236}">
                <a16:creationId xmlns:a16="http://schemas.microsoft.com/office/drawing/2014/main" id="{DAEC2ABE-4337-7BDD-C79C-38812C964326}"/>
              </a:ext>
            </a:extLst>
          </p:cNvPr>
          <p:cNvSpPr txBox="1">
            <a:spLocks/>
          </p:cNvSpPr>
          <p:nvPr/>
        </p:nvSpPr>
        <p:spPr>
          <a:xfrm>
            <a:off x="328966" y="2590581"/>
            <a:ext cx="7099200" cy="280999"/>
          </a:xfrm>
          <a:prstGeom prst="rect">
            <a:avLst/>
          </a:prstGeom>
          <a:solidFill>
            <a:schemeClr val="tx2">
              <a:lumMod val="20000"/>
              <a:lumOff val="80000"/>
            </a:schemeClr>
          </a:solidFill>
          <a:ln w="6350">
            <a:noFill/>
            <a:miter lim="800000"/>
          </a:ln>
        </p:spPr>
        <p:txBody>
          <a:bodyPr vert="horz" wrap="square" lIns="182880" tIns="36000" rIns="36000" bIns="36000" rtlCol="0" anchor="ctr" anchorCtr="0">
            <a:noAutofit/>
          </a:bodyPr>
          <a:lstStyle>
            <a:defPPr>
              <a:defRPr lang="en-US"/>
            </a:defPPr>
            <a:lvl1pPr marL="0" algn="l" defTabSz="914381" rtl="0" eaLnBrk="1" latinLnBrk="0" hangingPunct="1">
              <a:spcAft>
                <a:spcPts val="100"/>
              </a:spcAft>
              <a:buClr>
                <a:srgbClr val="BA0C2F"/>
              </a:buClr>
              <a:buSzPct val="100000"/>
              <a:defRPr sz="921" kern="1200">
                <a:solidFill>
                  <a:srgbClr val="515349"/>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4300">
              <a:defRPr/>
            </a:pPr>
            <a:r>
              <a:rPr lang="en-US" sz="1000">
                <a:solidFill>
                  <a:srgbClr val="000000"/>
                </a:solidFill>
                <a:latin typeface="Aptos Narrow"/>
                <a:cs typeface="Arial"/>
              </a:rPr>
              <a:t>Self Service tooling</a:t>
            </a:r>
            <a:endParaRPr lang="en-US"/>
          </a:p>
        </p:txBody>
      </p:sp>
      <p:sp>
        <p:nvSpPr>
          <p:cNvPr id="27" name="TrackerNumWhite 5">
            <a:extLst>
              <a:ext uri="{FF2B5EF4-FFF2-40B4-BE49-F238E27FC236}">
                <a16:creationId xmlns:a16="http://schemas.microsoft.com/office/drawing/2014/main" id="{F32A8036-0D44-A12D-2A31-6C3197D86A30}"/>
              </a:ext>
            </a:extLst>
          </p:cNvPr>
          <p:cNvSpPr>
            <a:spLocks noChangeAspect="1"/>
          </p:cNvSpPr>
          <p:nvPr/>
        </p:nvSpPr>
        <p:spPr>
          <a:xfrm>
            <a:off x="165401" y="1995870"/>
            <a:ext cx="234279" cy="232170"/>
          </a:xfrm>
          <a:prstGeom prst="ellipse">
            <a:avLst/>
          </a:prstGeom>
          <a:solidFill>
            <a:srgbClr val="BA0C2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000" b="1">
                <a:solidFill>
                  <a:srgbClr val="FFFFFF"/>
                </a:solidFill>
                <a:latin typeface="Arial"/>
              </a:rPr>
              <a:t>C2</a:t>
            </a:r>
            <a:endParaRPr kumimoji="0" lang="en-US" sz="1000" b="1" i="0" u="none" strike="noStrike" kern="1200" cap="none" spc="0" normalizeH="0" baseline="0" noProof="0">
              <a:ln>
                <a:noFill/>
              </a:ln>
              <a:solidFill>
                <a:srgbClr val="FFFFFF"/>
              </a:solidFill>
              <a:effectLst/>
              <a:uLnTx/>
              <a:uFillTx/>
              <a:latin typeface="Arial"/>
              <a:ea typeface="+mn-ea"/>
              <a:cs typeface="+mn-cs"/>
            </a:endParaRPr>
          </a:p>
        </p:txBody>
      </p:sp>
      <p:sp>
        <p:nvSpPr>
          <p:cNvPr id="28" name="TrackerNumWhite 5">
            <a:extLst>
              <a:ext uri="{FF2B5EF4-FFF2-40B4-BE49-F238E27FC236}">
                <a16:creationId xmlns:a16="http://schemas.microsoft.com/office/drawing/2014/main" id="{6DB30D9A-C5F6-F6F8-AD46-EAB91FA3309F}"/>
              </a:ext>
            </a:extLst>
          </p:cNvPr>
          <p:cNvSpPr>
            <a:spLocks noChangeAspect="1"/>
          </p:cNvSpPr>
          <p:nvPr/>
        </p:nvSpPr>
        <p:spPr>
          <a:xfrm>
            <a:off x="1294167" y="3236218"/>
            <a:ext cx="234279" cy="232170"/>
          </a:xfrm>
          <a:prstGeom prst="ellipse">
            <a:avLst/>
          </a:prstGeom>
          <a:solidFill>
            <a:srgbClr val="BA0C2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000" b="1">
                <a:solidFill>
                  <a:srgbClr val="FFFFFF"/>
                </a:solidFill>
                <a:latin typeface="Arial"/>
              </a:rPr>
              <a:t>C6</a:t>
            </a:r>
            <a:endParaRPr kumimoji="0" lang="en-US" sz="1000" b="1" i="0" u="none" strike="noStrike" kern="1200" cap="none" spc="0" normalizeH="0" baseline="0" noProof="0">
              <a:ln>
                <a:noFill/>
              </a:ln>
              <a:solidFill>
                <a:srgbClr val="FFFFFF"/>
              </a:solidFill>
              <a:effectLst/>
              <a:uLnTx/>
              <a:uFillTx/>
              <a:latin typeface="Arial"/>
              <a:ea typeface="+mn-ea"/>
              <a:cs typeface="+mn-cs"/>
            </a:endParaRPr>
          </a:p>
        </p:txBody>
      </p:sp>
      <p:sp>
        <p:nvSpPr>
          <p:cNvPr id="29" name="TrackerNumWhite 5">
            <a:extLst>
              <a:ext uri="{FF2B5EF4-FFF2-40B4-BE49-F238E27FC236}">
                <a16:creationId xmlns:a16="http://schemas.microsoft.com/office/drawing/2014/main" id="{C31C9F05-9BA2-A843-943F-49571BB72D64}"/>
              </a:ext>
            </a:extLst>
          </p:cNvPr>
          <p:cNvSpPr>
            <a:spLocks noChangeAspect="1"/>
          </p:cNvSpPr>
          <p:nvPr/>
        </p:nvSpPr>
        <p:spPr>
          <a:xfrm>
            <a:off x="165401" y="2296219"/>
            <a:ext cx="234020" cy="232171"/>
          </a:xfrm>
          <a:prstGeom prst="ellipse">
            <a:avLst/>
          </a:prstGeom>
          <a:solidFill>
            <a:srgbClr val="BA0C2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000" b="1">
                <a:solidFill>
                  <a:srgbClr val="FFFFFF"/>
                </a:solidFill>
                <a:latin typeface="Arial"/>
              </a:rPr>
              <a:t>C3</a:t>
            </a:r>
            <a:endParaRPr kumimoji="0" lang="en-US" sz="1000" b="1" i="0" u="none" strike="noStrike" kern="1200" cap="none" spc="0" normalizeH="0" baseline="0" noProof="0">
              <a:ln>
                <a:noFill/>
              </a:ln>
              <a:solidFill>
                <a:srgbClr val="FFFFFF"/>
              </a:solidFill>
              <a:effectLst/>
              <a:uLnTx/>
              <a:uFillTx/>
              <a:latin typeface="Arial"/>
              <a:ea typeface="+mn-ea"/>
              <a:cs typeface="+mn-cs"/>
            </a:endParaRPr>
          </a:p>
        </p:txBody>
      </p:sp>
      <p:sp>
        <p:nvSpPr>
          <p:cNvPr id="30" name="TrackerNumWhite 5">
            <a:extLst>
              <a:ext uri="{FF2B5EF4-FFF2-40B4-BE49-F238E27FC236}">
                <a16:creationId xmlns:a16="http://schemas.microsoft.com/office/drawing/2014/main" id="{DBC9B1E4-AF85-4E38-9D73-89A9D8037CBA}"/>
              </a:ext>
            </a:extLst>
          </p:cNvPr>
          <p:cNvSpPr>
            <a:spLocks noChangeAspect="1"/>
          </p:cNvSpPr>
          <p:nvPr/>
        </p:nvSpPr>
        <p:spPr>
          <a:xfrm>
            <a:off x="3633592" y="3544144"/>
            <a:ext cx="234279" cy="232170"/>
          </a:xfrm>
          <a:prstGeom prst="ellipse">
            <a:avLst/>
          </a:prstGeom>
          <a:solidFill>
            <a:srgbClr val="BA0C2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000" b="1">
                <a:solidFill>
                  <a:srgbClr val="FFFFFF"/>
                </a:solidFill>
                <a:latin typeface="Arial"/>
              </a:rPr>
              <a:t>C7</a:t>
            </a:r>
            <a:endParaRPr kumimoji="0" lang="en-US" sz="1000" b="1" i="0" u="none" strike="noStrike" kern="1200" cap="none" spc="0" normalizeH="0" baseline="0" noProof="0">
              <a:ln>
                <a:noFill/>
              </a:ln>
              <a:solidFill>
                <a:srgbClr val="FFFFFF"/>
              </a:solidFill>
              <a:effectLst/>
              <a:uLnTx/>
              <a:uFillTx/>
              <a:latin typeface="Arial"/>
              <a:ea typeface="+mn-ea"/>
              <a:cs typeface="+mn-cs"/>
            </a:endParaRPr>
          </a:p>
        </p:txBody>
      </p:sp>
      <p:sp>
        <p:nvSpPr>
          <p:cNvPr id="32" name="TrackerNumWhite 5">
            <a:extLst>
              <a:ext uri="{FF2B5EF4-FFF2-40B4-BE49-F238E27FC236}">
                <a16:creationId xmlns:a16="http://schemas.microsoft.com/office/drawing/2014/main" id="{AF955EEA-46BC-D9C3-C754-08B7F42A20FE}"/>
              </a:ext>
            </a:extLst>
          </p:cNvPr>
          <p:cNvSpPr>
            <a:spLocks noChangeAspect="1"/>
          </p:cNvSpPr>
          <p:nvPr/>
        </p:nvSpPr>
        <p:spPr>
          <a:xfrm>
            <a:off x="165401" y="2933764"/>
            <a:ext cx="234279" cy="232170"/>
          </a:xfrm>
          <a:prstGeom prst="ellipse">
            <a:avLst/>
          </a:prstGeom>
          <a:solidFill>
            <a:srgbClr val="BA0C2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000" b="1">
                <a:solidFill>
                  <a:srgbClr val="FFFFFF"/>
                </a:solidFill>
                <a:latin typeface="Arial"/>
              </a:rPr>
              <a:t>C5</a:t>
            </a:r>
            <a:endParaRPr kumimoji="0" lang="en-US" sz="1000" b="1" i="0" u="none" strike="noStrike" kern="1200" cap="none" spc="0" normalizeH="0" baseline="0" noProof="0">
              <a:ln>
                <a:noFill/>
              </a:ln>
              <a:solidFill>
                <a:srgbClr val="FFFFFF"/>
              </a:solidFill>
              <a:effectLst/>
              <a:uLnTx/>
              <a:uFillTx/>
              <a:latin typeface="Arial"/>
              <a:ea typeface="+mn-ea"/>
              <a:cs typeface="+mn-cs"/>
            </a:endParaRPr>
          </a:p>
        </p:txBody>
      </p:sp>
      <p:sp>
        <p:nvSpPr>
          <p:cNvPr id="33" name="TrackerNumWhite 5">
            <a:extLst>
              <a:ext uri="{FF2B5EF4-FFF2-40B4-BE49-F238E27FC236}">
                <a16:creationId xmlns:a16="http://schemas.microsoft.com/office/drawing/2014/main" id="{4F6974FB-502A-913C-4ECE-FFB7F5451D45}"/>
              </a:ext>
            </a:extLst>
          </p:cNvPr>
          <p:cNvSpPr>
            <a:spLocks noChangeAspect="1"/>
          </p:cNvSpPr>
          <p:nvPr/>
        </p:nvSpPr>
        <p:spPr>
          <a:xfrm>
            <a:off x="165401" y="2616197"/>
            <a:ext cx="234279" cy="232170"/>
          </a:xfrm>
          <a:prstGeom prst="ellipse">
            <a:avLst/>
          </a:prstGeom>
          <a:solidFill>
            <a:srgbClr val="BA0C2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000" b="1">
                <a:solidFill>
                  <a:srgbClr val="FFFFFF"/>
                </a:solidFill>
                <a:latin typeface="Arial"/>
              </a:rPr>
              <a:t>C4</a:t>
            </a:r>
            <a:endParaRPr kumimoji="0" lang="en-US" sz="1000" b="1" i="0" u="none" strike="noStrike" kern="1200" cap="none" spc="0" normalizeH="0" baseline="0" noProof="0">
              <a:ln>
                <a:noFill/>
              </a:ln>
              <a:solidFill>
                <a:srgbClr val="FFFFFF"/>
              </a:solidFill>
              <a:effectLst/>
              <a:uLnTx/>
              <a:uFillTx/>
              <a:latin typeface="Arial"/>
              <a:ea typeface="+mn-ea"/>
              <a:cs typeface="+mn-cs"/>
            </a:endParaRPr>
          </a:p>
        </p:txBody>
      </p:sp>
      <p:sp>
        <p:nvSpPr>
          <p:cNvPr id="36" name="TextBox 54">
            <a:extLst>
              <a:ext uri="{FF2B5EF4-FFF2-40B4-BE49-F238E27FC236}">
                <a16:creationId xmlns:a16="http://schemas.microsoft.com/office/drawing/2014/main" id="{221159A2-B95F-D5B7-1169-0FB34B3DE53D}"/>
              </a:ext>
            </a:extLst>
          </p:cNvPr>
          <p:cNvSpPr txBox="1">
            <a:spLocks/>
          </p:cNvSpPr>
          <p:nvPr/>
        </p:nvSpPr>
        <p:spPr>
          <a:xfrm>
            <a:off x="7423229" y="4124087"/>
            <a:ext cx="2190811" cy="280999"/>
          </a:xfrm>
          <a:prstGeom prst="rect">
            <a:avLst/>
          </a:prstGeom>
          <a:solidFill>
            <a:srgbClr val="FBC4CF"/>
          </a:solidFill>
          <a:ln w="6350">
            <a:noFill/>
            <a:miter lim="800000"/>
          </a:ln>
        </p:spPr>
        <p:txBody>
          <a:bodyPr vert="horz" wrap="square" lIns="216000" tIns="36000" rIns="36000" bIns="36000" rtlCol="0" anchor="ctr" anchorCtr="0">
            <a:noAutofit/>
          </a:bodyPr>
          <a:lstStyle>
            <a:defPPr>
              <a:defRPr lang="en-US"/>
            </a:defPPr>
            <a:lvl1pPr marL="0" algn="l" defTabSz="914381" rtl="0" eaLnBrk="1" latinLnBrk="0" hangingPunct="1">
              <a:spcAft>
                <a:spcPts val="100"/>
              </a:spcAft>
              <a:buClr>
                <a:srgbClr val="BA0C2F"/>
              </a:buClr>
              <a:buSzPct val="100000"/>
              <a:defRPr sz="921" kern="1200">
                <a:solidFill>
                  <a:srgbClr val="515349"/>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000">
                <a:solidFill>
                  <a:srgbClr val="000000"/>
                </a:solidFill>
                <a:latin typeface="Aptos Narrow"/>
                <a:cs typeface="Arial"/>
              </a:rPr>
              <a:t>Proactive/Self Recovery</a:t>
            </a:r>
            <a:endParaRPr lang="en-CA" sz="1000">
              <a:latin typeface="Aptos Narrow"/>
              <a:cs typeface="Arial"/>
            </a:endParaRPr>
          </a:p>
        </p:txBody>
      </p:sp>
      <p:sp>
        <p:nvSpPr>
          <p:cNvPr id="43" name="Date Placeholder 3">
            <a:extLst>
              <a:ext uri="{FF2B5EF4-FFF2-40B4-BE49-F238E27FC236}">
                <a16:creationId xmlns:a16="http://schemas.microsoft.com/office/drawing/2014/main" id="{0DB220C9-4611-61EC-BBD8-4464627C7590}"/>
              </a:ext>
            </a:extLst>
          </p:cNvPr>
          <p:cNvSpPr txBox="1">
            <a:spLocks/>
          </p:cNvSpPr>
          <p:nvPr/>
        </p:nvSpPr>
        <p:spPr>
          <a:xfrm>
            <a:off x="8569452" y="6403298"/>
            <a:ext cx="1474248" cy="34290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1219170" rtl="0" eaLnBrk="1" fontAlgn="auto" latinLnBrk="0" hangingPunct="1">
              <a:lnSpc>
                <a:spcPct val="100000"/>
              </a:lnSpc>
              <a:spcBef>
                <a:spcPts val="0"/>
              </a:spcBef>
              <a:spcAft>
                <a:spcPts val="0"/>
              </a:spcAft>
              <a:buClrTx/>
              <a:buSzTx/>
              <a:buFontTx/>
              <a:buNone/>
              <a:tabLst/>
              <a:defRPr/>
            </a:pPr>
            <a:fld id="{1658662C-DC38-4CE7-9C2D-1BEC0C58B091}" type="slidenum">
              <a:rPr kumimoji="0" lang="en-CA" sz="1200" b="0" i="0" u="none" strike="noStrike" kern="1200" cap="none" spc="0" normalizeH="0" baseline="0" noProof="0">
                <a:ln>
                  <a:noFill/>
                </a:ln>
                <a:solidFill>
                  <a:srgbClr val="515349"/>
                </a:solidFill>
                <a:effectLst/>
                <a:uLnTx/>
                <a:uFillTx/>
                <a:latin typeface="Arial" panose="020B060402020202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25</a:t>
            </a:fld>
            <a:endParaRPr kumimoji="0" lang="en-CA" sz="1333" b="0" i="0" u="none" strike="noStrike" kern="1200" cap="none" spc="0" normalizeH="0" baseline="0" noProof="0">
              <a:ln>
                <a:noFill/>
              </a:ln>
              <a:solidFill>
                <a:srgbClr val="515349"/>
              </a:solidFill>
              <a:effectLst/>
              <a:uLnTx/>
              <a:uFillTx/>
              <a:latin typeface="Arial" panose="020B0604020202020204"/>
              <a:ea typeface="+mn-ea"/>
              <a:cs typeface="+mn-cs"/>
            </a:endParaRPr>
          </a:p>
        </p:txBody>
      </p:sp>
      <p:sp>
        <p:nvSpPr>
          <p:cNvPr id="62" name="TextBox 54">
            <a:extLst>
              <a:ext uri="{FF2B5EF4-FFF2-40B4-BE49-F238E27FC236}">
                <a16:creationId xmlns:a16="http://schemas.microsoft.com/office/drawing/2014/main" id="{7217A603-6774-ED6A-3D86-CD1A665EB572}"/>
              </a:ext>
            </a:extLst>
          </p:cNvPr>
          <p:cNvSpPr txBox="1">
            <a:spLocks/>
          </p:cNvSpPr>
          <p:nvPr/>
        </p:nvSpPr>
        <p:spPr>
          <a:xfrm>
            <a:off x="6251653" y="3818110"/>
            <a:ext cx="2209861" cy="272437"/>
          </a:xfrm>
          <a:prstGeom prst="rect">
            <a:avLst/>
          </a:prstGeom>
          <a:solidFill>
            <a:schemeClr val="tx2">
              <a:lumMod val="20000"/>
              <a:lumOff val="80000"/>
            </a:schemeClr>
          </a:solidFill>
          <a:ln w="6350">
            <a:noFill/>
            <a:miter lim="800000"/>
          </a:ln>
        </p:spPr>
        <p:txBody>
          <a:bodyPr vert="horz" wrap="square" lIns="216000" tIns="36000" rIns="36000" bIns="36000" rtlCol="0" anchor="ctr" anchorCtr="0">
            <a:noAutofit/>
          </a:bodyPr>
          <a:lstStyle>
            <a:defPPr>
              <a:defRPr lang="en-US"/>
            </a:defPPr>
            <a:lvl1pPr marL="0" algn="l" defTabSz="914381" rtl="0" eaLnBrk="1" latinLnBrk="0" hangingPunct="1">
              <a:spcAft>
                <a:spcPts val="100"/>
              </a:spcAft>
              <a:buClr>
                <a:srgbClr val="BA0C2F"/>
              </a:buClr>
              <a:buSzPct val="100000"/>
              <a:defRPr sz="921" kern="1200">
                <a:solidFill>
                  <a:srgbClr val="515349"/>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000">
                <a:solidFill>
                  <a:srgbClr val="000000"/>
                </a:solidFill>
                <a:latin typeface="Aptos Narrow"/>
                <a:cs typeface="Arial"/>
              </a:rPr>
              <a:t>NSG Automation</a:t>
            </a:r>
          </a:p>
        </p:txBody>
      </p:sp>
      <p:sp>
        <p:nvSpPr>
          <p:cNvPr id="12" name="TextBox 9">
            <a:extLst>
              <a:ext uri="{FF2B5EF4-FFF2-40B4-BE49-F238E27FC236}">
                <a16:creationId xmlns:a16="http://schemas.microsoft.com/office/drawing/2014/main" id="{04137CF0-727E-C8F3-E7F8-300C22C17D24}"/>
              </a:ext>
            </a:extLst>
          </p:cNvPr>
          <p:cNvSpPr txBox="1">
            <a:spLocks/>
          </p:cNvSpPr>
          <p:nvPr/>
        </p:nvSpPr>
        <p:spPr>
          <a:xfrm>
            <a:off x="1408262" y="4485583"/>
            <a:ext cx="1173363" cy="285464"/>
          </a:xfrm>
          <a:prstGeom prst="rect">
            <a:avLst/>
          </a:prstGeom>
          <a:solidFill>
            <a:srgbClr val="F2DDAC"/>
          </a:solidFill>
          <a:ln w="6350">
            <a:noFill/>
            <a:miter lim="800000"/>
          </a:ln>
        </p:spPr>
        <p:txBody>
          <a:bodyPr vert="horz" wrap="square" lIns="182880" tIns="36000" rIns="36000" bIns="36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81">
              <a:spcBef>
                <a:spcPts val="300"/>
              </a:spcBef>
              <a:spcAft>
                <a:spcPts val="300"/>
              </a:spcAft>
              <a:defRPr/>
            </a:pPr>
            <a:r>
              <a:rPr lang="en-US" sz="1000">
                <a:solidFill>
                  <a:srgbClr val="000000"/>
                </a:solidFill>
                <a:latin typeface="Aptos Narrow"/>
                <a:cs typeface="Arial"/>
              </a:rPr>
              <a:t>Cross region hub peering</a:t>
            </a:r>
          </a:p>
        </p:txBody>
      </p:sp>
      <p:cxnSp>
        <p:nvCxnSpPr>
          <p:cNvPr id="31" name="Straight Connector 30">
            <a:extLst>
              <a:ext uri="{FF2B5EF4-FFF2-40B4-BE49-F238E27FC236}">
                <a16:creationId xmlns:a16="http://schemas.microsoft.com/office/drawing/2014/main" id="{A8FB8995-31F9-0599-18D1-6E5977BE6796}"/>
              </a:ext>
            </a:extLst>
          </p:cNvPr>
          <p:cNvCxnSpPr>
            <a:cxnSpLocks/>
          </p:cNvCxnSpPr>
          <p:nvPr/>
        </p:nvCxnSpPr>
        <p:spPr>
          <a:xfrm>
            <a:off x="9804400" y="1134123"/>
            <a:ext cx="0" cy="5003732"/>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1" name="TextBox 163">
            <a:extLst>
              <a:ext uri="{FF2B5EF4-FFF2-40B4-BE49-F238E27FC236}">
                <a16:creationId xmlns:a16="http://schemas.microsoft.com/office/drawing/2014/main" id="{506EA0CA-4AC3-EEEA-76E9-CADFB765B29C}"/>
              </a:ext>
            </a:extLst>
          </p:cNvPr>
          <p:cNvSpPr txBox="1">
            <a:spLocks/>
          </p:cNvSpPr>
          <p:nvPr/>
        </p:nvSpPr>
        <p:spPr>
          <a:xfrm>
            <a:off x="9988659" y="1714659"/>
            <a:ext cx="2070101" cy="492443"/>
          </a:xfrm>
          <a:prstGeom prst="rect">
            <a:avLst/>
          </a:prstGeom>
          <a:solidFill>
            <a:schemeClr val="bg1">
              <a:lumMod val="95000"/>
            </a:schemeClr>
          </a:solidFill>
          <a:ln w="6350">
            <a:noFill/>
            <a:miter lim="800000"/>
          </a:ln>
        </p:spPr>
        <p:txBody>
          <a:bodyPr vert="horz" wrap="square" lIns="45720" tIns="91440" rIns="45720" bIns="9144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31775" lvl="1">
              <a:spcBef>
                <a:spcPts val="300"/>
              </a:spcBef>
              <a:spcAft>
                <a:spcPts val="300"/>
              </a:spcAft>
              <a:defRPr/>
            </a:pPr>
            <a:r>
              <a:rPr lang="en-US" sz="1000">
                <a:solidFill>
                  <a:srgbClr val="515349"/>
                </a:solidFill>
                <a:latin typeface="Arial"/>
              </a:rPr>
              <a:t>I&amp;O driven initiatives as part of this Cloud roadmap</a:t>
            </a:r>
            <a:endParaRPr lang="en-US"/>
          </a:p>
        </p:txBody>
      </p:sp>
      <p:sp>
        <p:nvSpPr>
          <p:cNvPr id="41" name="TextBox 9">
            <a:extLst>
              <a:ext uri="{FF2B5EF4-FFF2-40B4-BE49-F238E27FC236}">
                <a16:creationId xmlns:a16="http://schemas.microsoft.com/office/drawing/2014/main" id="{991ECC6A-B37F-71C5-78F1-894D81B134FA}"/>
              </a:ext>
            </a:extLst>
          </p:cNvPr>
          <p:cNvSpPr txBox="1">
            <a:spLocks/>
          </p:cNvSpPr>
          <p:nvPr/>
        </p:nvSpPr>
        <p:spPr>
          <a:xfrm>
            <a:off x="7345609" y="5111264"/>
            <a:ext cx="2286095" cy="276389"/>
          </a:xfrm>
          <a:prstGeom prst="rect">
            <a:avLst/>
          </a:prstGeom>
          <a:solidFill>
            <a:srgbClr val="F2DDAC"/>
          </a:solidFill>
          <a:ln w="6350">
            <a:noFill/>
            <a:miter lim="800000"/>
          </a:ln>
        </p:spPr>
        <p:txBody>
          <a:bodyPr vert="horz" wrap="square" lIns="182880" tIns="36000" rIns="36000" bIns="36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81">
              <a:defRPr/>
            </a:pPr>
            <a:r>
              <a:rPr lang="en-US" sz="1000">
                <a:solidFill>
                  <a:srgbClr val="000000"/>
                </a:solidFill>
                <a:latin typeface="Aptos Narrow"/>
                <a:cs typeface="Arial"/>
              </a:rPr>
              <a:t>Calgary Equinix Connection</a:t>
            </a:r>
          </a:p>
        </p:txBody>
      </p:sp>
      <p:sp>
        <p:nvSpPr>
          <p:cNvPr id="42" name="TrackerNumWhite 5">
            <a:extLst>
              <a:ext uri="{FF2B5EF4-FFF2-40B4-BE49-F238E27FC236}">
                <a16:creationId xmlns:a16="http://schemas.microsoft.com/office/drawing/2014/main" id="{BB194AAF-F1CB-FC8D-A911-34C46EDA4920}"/>
              </a:ext>
            </a:extLst>
          </p:cNvPr>
          <p:cNvSpPr>
            <a:spLocks noChangeAspect="1"/>
          </p:cNvSpPr>
          <p:nvPr/>
        </p:nvSpPr>
        <p:spPr>
          <a:xfrm>
            <a:off x="7197794" y="5151659"/>
            <a:ext cx="242841" cy="232169"/>
          </a:xfrm>
          <a:prstGeom prst="ellipse">
            <a:avLst/>
          </a:prstGeom>
          <a:solidFill>
            <a:srgbClr val="FFC000"/>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000" b="1">
                <a:solidFill>
                  <a:srgbClr val="000000"/>
                </a:solidFill>
                <a:latin typeface="Arial"/>
              </a:rPr>
              <a:t>N</a:t>
            </a:r>
            <a:endParaRPr kumimoji="0" lang="en-US" sz="1000" b="1" i="0" u="none" strike="noStrike" kern="1200" cap="none" spc="0" normalizeH="0" baseline="0" noProof="0">
              <a:ln>
                <a:noFill/>
              </a:ln>
              <a:solidFill>
                <a:srgbClr val="000000"/>
              </a:solidFill>
              <a:effectLst/>
              <a:uLnTx/>
              <a:uFillTx/>
              <a:latin typeface="Arial"/>
              <a:ea typeface="+mn-ea"/>
              <a:cs typeface="+mn-cs"/>
            </a:endParaRPr>
          </a:p>
        </p:txBody>
      </p:sp>
      <p:sp>
        <p:nvSpPr>
          <p:cNvPr id="66" name="TextBox 9">
            <a:extLst>
              <a:ext uri="{FF2B5EF4-FFF2-40B4-BE49-F238E27FC236}">
                <a16:creationId xmlns:a16="http://schemas.microsoft.com/office/drawing/2014/main" id="{4CA5FB67-C439-CE05-C739-76EC97BE0E2E}"/>
              </a:ext>
            </a:extLst>
          </p:cNvPr>
          <p:cNvSpPr txBox="1">
            <a:spLocks/>
          </p:cNvSpPr>
          <p:nvPr/>
        </p:nvSpPr>
        <p:spPr>
          <a:xfrm>
            <a:off x="5052443" y="4794513"/>
            <a:ext cx="4575519" cy="270533"/>
          </a:xfrm>
          <a:prstGeom prst="rect">
            <a:avLst/>
          </a:prstGeom>
          <a:solidFill>
            <a:srgbClr val="F2DDAC"/>
          </a:solidFill>
          <a:ln w="6350">
            <a:noFill/>
            <a:miter lim="800000"/>
          </a:ln>
        </p:spPr>
        <p:txBody>
          <a:bodyPr vert="horz" wrap="square" lIns="182880" tIns="36000" rIns="36000" bIns="36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81">
              <a:defRPr/>
            </a:pPr>
            <a:r>
              <a:rPr lang="en-US" sz="1000" err="1">
                <a:solidFill>
                  <a:srgbClr val="000000"/>
                </a:solidFill>
                <a:latin typeface="Aptos Narrow"/>
                <a:cs typeface="Arial"/>
              </a:rPr>
              <a:t>FrontDoor</a:t>
            </a:r>
            <a:r>
              <a:rPr lang="en-US" sz="1000">
                <a:solidFill>
                  <a:srgbClr val="000000"/>
                </a:solidFill>
                <a:latin typeface="Aptos Narrow"/>
                <a:cs typeface="Arial"/>
              </a:rPr>
              <a:t> Migration</a:t>
            </a:r>
            <a:endParaRPr lang="en-US"/>
          </a:p>
        </p:txBody>
      </p:sp>
      <p:sp>
        <p:nvSpPr>
          <p:cNvPr id="67" name="TrackerNumWhite 5">
            <a:extLst>
              <a:ext uri="{FF2B5EF4-FFF2-40B4-BE49-F238E27FC236}">
                <a16:creationId xmlns:a16="http://schemas.microsoft.com/office/drawing/2014/main" id="{5CBF361E-D8E0-565F-35EE-4D214D15BBD9}"/>
              </a:ext>
            </a:extLst>
          </p:cNvPr>
          <p:cNvSpPr>
            <a:spLocks noChangeAspect="1"/>
          </p:cNvSpPr>
          <p:nvPr/>
        </p:nvSpPr>
        <p:spPr>
          <a:xfrm>
            <a:off x="4899285" y="4828391"/>
            <a:ext cx="242841" cy="232169"/>
          </a:xfrm>
          <a:prstGeom prst="ellipse">
            <a:avLst/>
          </a:prstGeom>
          <a:solidFill>
            <a:srgbClr val="FFC000"/>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000" b="1">
                <a:solidFill>
                  <a:srgbClr val="000000"/>
                </a:solidFill>
                <a:latin typeface="Arial"/>
              </a:rPr>
              <a:t>N</a:t>
            </a:r>
            <a:endParaRPr kumimoji="0" lang="en-US" sz="1000" b="1" i="0" u="none" strike="noStrike" kern="1200" cap="none" spc="0" normalizeH="0" baseline="0" noProof="0">
              <a:ln>
                <a:noFill/>
              </a:ln>
              <a:solidFill>
                <a:srgbClr val="000000"/>
              </a:solidFill>
              <a:effectLst/>
              <a:uLnTx/>
              <a:uFillTx/>
              <a:latin typeface="Arial"/>
              <a:ea typeface="+mn-ea"/>
              <a:cs typeface="+mn-cs"/>
            </a:endParaRPr>
          </a:p>
        </p:txBody>
      </p:sp>
      <p:cxnSp>
        <p:nvCxnSpPr>
          <p:cNvPr id="68" name="Straight Arrow Connector 67">
            <a:extLst>
              <a:ext uri="{FF2B5EF4-FFF2-40B4-BE49-F238E27FC236}">
                <a16:creationId xmlns:a16="http://schemas.microsoft.com/office/drawing/2014/main" id="{6843345A-E2B9-DA5D-0053-5C0ED71877EA}"/>
              </a:ext>
            </a:extLst>
          </p:cNvPr>
          <p:cNvCxnSpPr/>
          <p:nvPr/>
        </p:nvCxnSpPr>
        <p:spPr>
          <a:xfrm>
            <a:off x="404148" y="4443412"/>
            <a:ext cx="11625208" cy="15411"/>
          </a:xfrm>
          <a:prstGeom prst="straightConnector1">
            <a:avLst/>
          </a:prstGeom>
          <a:ln w="12700">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69" name="TrackerNumWhite 5">
            <a:extLst>
              <a:ext uri="{FF2B5EF4-FFF2-40B4-BE49-F238E27FC236}">
                <a16:creationId xmlns:a16="http://schemas.microsoft.com/office/drawing/2014/main" id="{BCD16903-1EA2-3B02-0415-11CCF014B50E}"/>
              </a:ext>
            </a:extLst>
          </p:cNvPr>
          <p:cNvSpPr>
            <a:spLocks noChangeAspect="1"/>
          </p:cNvSpPr>
          <p:nvPr/>
        </p:nvSpPr>
        <p:spPr>
          <a:xfrm>
            <a:off x="6098726" y="3849097"/>
            <a:ext cx="234279" cy="232170"/>
          </a:xfrm>
          <a:prstGeom prst="ellipse">
            <a:avLst/>
          </a:prstGeom>
          <a:solidFill>
            <a:srgbClr val="BA0C2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000" b="1">
                <a:solidFill>
                  <a:srgbClr val="FFFFFF"/>
                </a:solidFill>
                <a:latin typeface="Arial"/>
              </a:rPr>
              <a:t>C8</a:t>
            </a:r>
            <a:endParaRPr kumimoji="0" lang="en-US" sz="1000" b="1" i="0" u="none" strike="noStrike" kern="1200" cap="none" spc="0" normalizeH="0" baseline="0" noProof="0">
              <a:ln>
                <a:noFill/>
              </a:ln>
              <a:solidFill>
                <a:srgbClr val="FFFFFF"/>
              </a:solidFill>
              <a:effectLst/>
              <a:uLnTx/>
              <a:uFillTx/>
              <a:latin typeface="Arial"/>
              <a:ea typeface="+mn-ea"/>
              <a:cs typeface="+mn-cs"/>
            </a:endParaRPr>
          </a:p>
        </p:txBody>
      </p:sp>
      <p:sp>
        <p:nvSpPr>
          <p:cNvPr id="70" name="TrackerNumWhite 5">
            <a:extLst>
              <a:ext uri="{FF2B5EF4-FFF2-40B4-BE49-F238E27FC236}">
                <a16:creationId xmlns:a16="http://schemas.microsoft.com/office/drawing/2014/main" id="{2BAAFD1F-73FC-0831-8863-2C92D0051A28}"/>
              </a:ext>
            </a:extLst>
          </p:cNvPr>
          <p:cNvSpPr>
            <a:spLocks noChangeAspect="1"/>
          </p:cNvSpPr>
          <p:nvPr/>
        </p:nvSpPr>
        <p:spPr>
          <a:xfrm>
            <a:off x="7271692" y="4157321"/>
            <a:ext cx="234279" cy="232170"/>
          </a:xfrm>
          <a:prstGeom prst="ellipse">
            <a:avLst/>
          </a:prstGeom>
          <a:solidFill>
            <a:srgbClr val="BA0C2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000" b="1">
                <a:solidFill>
                  <a:srgbClr val="FFFFFF"/>
                </a:solidFill>
                <a:latin typeface="Arial"/>
              </a:rPr>
              <a:t>C9</a:t>
            </a:r>
            <a:endParaRPr kumimoji="0" lang="en-US" sz="1000" b="1" i="0" u="none" strike="noStrike" kern="1200" cap="none" spc="0" normalizeH="0" baseline="0" noProof="0">
              <a:ln>
                <a:noFill/>
              </a:ln>
              <a:solidFill>
                <a:srgbClr val="FFFFFF"/>
              </a:solidFill>
              <a:effectLst/>
              <a:uLnTx/>
              <a:uFillTx/>
              <a:latin typeface="Arial"/>
              <a:ea typeface="+mn-ea"/>
              <a:cs typeface="+mn-cs"/>
            </a:endParaRPr>
          </a:p>
        </p:txBody>
      </p:sp>
      <p:sp>
        <p:nvSpPr>
          <p:cNvPr id="14" name="TrackerNumWhite 5">
            <a:extLst>
              <a:ext uri="{FF2B5EF4-FFF2-40B4-BE49-F238E27FC236}">
                <a16:creationId xmlns:a16="http://schemas.microsoft.com/office/drawing/2014/main" id="{085B8C84-E1F1-BB92-BC0C-3A73B4019A30}"/>
              </a:ext>
            </a:extLst>
          </p:cNvPr>
          <p:cNvSpPr>
            <a:spLocks noChangeAspect="1"/>
          </p:cNvSpPr>
          <p:nvPr/>
        </p:nvSpPr>
        <p:spPr>
          <a:xfrm>
            <a:off x="1320453" y="4520166"/>
            <a:ext cx="242841" cy="232169"/>
          </a:xfrm>
          <a:prstGeom prst="ellipse">
            <a:avLst/>
          </a:prstGeom>
          <a:solidFill>
            <a:srgbClr val="FFC000"/>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000" b="1">
                <a:solidFill>
                  <a:srgbClr val="000000"/>
                </a:solidFill>
                <a:latin typeface="Arial"/>
              </a:rPr>
              <a:t>N</a:t>
            </a:r>
            <a:endParaRPr kumimoji="0" lang="en-US" sz="1000" b="1" i="0" u="none" strike="noStrike" kern="1200" cap="none" spc="0" normalizeH="0" baseline="0" noProof="0">
              <a:ln>
                <a:noFill/>
              </a:ln>
              <a:solidFill>
                <a:srgbClr val="000000"/>
              </a:solidFill>
              <a:effectLst/>
              <a:uLnTx/>
              <a:uFillTx/>
              <a:latin typeface="Arial"/>
              <a:ea typeface="+mn-ea"/>
              <a:cs typeface="+mn-cs"/>
            </a:endParaRPr>
          </a:p>
        </p:txBody>
      </p:sp>
      <p:sp>
        <p:nvSpPr>
          <p:cNvPr id="15" name="TextBox 9">
            <a:extLst>
              <a:ext uri="{FF2B5EF4-FFF2-40B4-BE49-F238E27FC236}">
                <a16:creationId xmlns:a16="http://schemas.microsoft.com/office/drawing/2014/main" id="{7C697207-BD96-E7E4-344C-B783A51CD298}"/>
              </a:ext>
            </a:extLst>
          </p:cNvPr>
          <p:cNvSpPr txBox="1">
            <a:spLocks/>
          </p:cNvSpPr>
          <p:nvPr/>
        </p:nvSpPr>
        <p:spPr>
          <a:xfrm>
            <a:off x="434251" y="5693502"/>
            <a:ext cx="4575519" cy="270533"/>
          </a:xfrm>
          <a:prstGeom prst="rect">
            <a:avLst/>
          </a:prstGeom>
          <a:solidFill>
            <a:schemeClr val="accent6">
              <a:lumMod val="40000"/>
              <a:lumOff val="60000"/>
            </a:schemeClr>
          </a:solidFill>
          <a:ln w="6350">
            <a:noFill/>
            <a:miter lim="800000"/>
          </a:ln>
        </p:spPr>
        <p:txBody>
          <a:bodyPr vert="horz" wrap="square" lIns="182880" tIns="36000" rIns="36000" bIns="36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81">
              <a:defRPr/>
            </a:pPr>
            <a:r>
              <a:rPr lang="en-CA" sz="1000">
                <a:solidFill>
                  <a:srgbClr val="000000"/>
                </a:solidFill>
                <a:latin typeface="Aptos Narrow"/>
                <a:cs typeface="Arial"/>
              </a:rPr>
              <a:t>Event Driven Automation Design and Implementation</a:t>
            </a:r>
            <a:endParaRPr lang="en-US" sz="1000">
              <a:latin typeface="Aptos Narrow"/>
            </a:endParaRPr>
          </a:p>
        </p:txBody>
      </p:sp>
      <p:sp>
        <p:nvSpPr>
          <p:cNvPr id="16" name="TrackerNumWhite 5">
            <a:extLst>
              <a:ext uri="{FF2B5EF4-FFF2-40B4-BE49-F238E27FC236}">
                <a16:creationId xmlns:a16="http://schemas.microsoft.com/office/drawing/2014/main" id="{A9B30718-2536-9CCB-10D6-7CBE3B033E15}"/>
              </a:ext>
            </a:extLst>
          </p:cNvPr>
          <p:cNvSpPr>
            <a:spLocks noChangeAspect="1"/>
          </p:cNvSpPr>
          <p:nvPr/>
        </p:nvSpPr>
        <p:spPr>
          <a:xfrm>
            <a:off x="281093" y="5701695"/>
            <a:ext cx="242841" cy="232169"/>
          </a:xfrm>
          <a:prstGeom prst="ellipse">
            <a:avLst/>
          </a:prstGeom>
          <a:solidFill>
            <a:srgbClr val="00B050"/>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000" b="1">
                <a:solidFill>
                  <a:srgbClr val="000000"/>
                </a:solidFill>
                <a:latin typeface="Arial"/>
              </a:rPr>
              <a:t>MO7</a:t>
            </a:r>
            <a:endParaRPr kumimoji="0" lang="en-US" sz="1000" b="1" i="0" u="none" strike="noStrike" kern="1200" cap="none" spc="0" normalizeH="0" baseline="0" noProof="0">
              <a:ln>
                <a:noFill/>
              </a:ln>
              <a:solidFill>
                <a:srgbClr val="000000"/>
              </a:solidFill>
              <a:effectLst/>
              <a:uLnTx/>
              <a:uFillTx/>
              <a:latin typeface="Arial"/>
              <a:ea typeface="+mn-ea"/>
              <a:cs typeface="+mn-cs"/>
            </a:endParaRPr>
          </a:p>
        </p:txBody>
      </p:sp>
      <p:cxnSp>
        <p:nvCxnSpPr>
          <p:cNvPr id="17" name="Straight Arrow Connector 16">
            <a:extLst>
              <a:ext uri="{FF2B5EF4-FFF2-40B4-BE49-F238E27FC236}">
                <a16:creationId xmlns:a16="http://schemas.microsoft.com/office/drawing/2014/main" id="{171EDDDB-D70A-68F0-D406-40E0685986AE}"/>
              </a:ext>
            </a:extLst>
          </p:cNvPr>
          <p:cNvCxnSpPr>
            <a:cxnSpLocks/>
          </p:cNvCxnSpPr>
          <p:nvPr/>
        </p:nvCxnSpPr>
        <p:spPr>
          <a:xfrm>
            <a:off x="387024" y="5436581"/>
            <a:ext cx="11625209" cy="23973"/>
          </a:xfrm>
          <a:prstGeom prst="straightConnector1">
            <a:avLst/>
          </a:prstGeom>
          <a:ln w="12700">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21" name="TextBox 163">
            <a:extLst>
              <a:ext uri="{FF2B5EF4-FFF2-40B4-BE49-F238E27FC236}">
                <a16:creationId xmlns:a16="http://schemas.microsoft.com/office/drawing/2014/main" id="{F569446F-4301-998F-055C-EC363B91D122}"/>
              </a:ext>
            </a:extLst>
          </p:cNvPr>
          <p:cNvSpPr txBox="1">
            <a:spLocks/>
          </p:cNvSpPr>
          <p:nvPr/>
        </p:nvSpPr>
        <p:spPr>
          <a:xfrm>
            <a:off x="9954411" y="5542012"/>
            <a:ext cx="2070101" cy="646331"/>
          </a:xfrm>
          <a:prstGeom prst="rect">
            <a:avLst/>
          </a:prstGeom>
          <a:solidFill>
            <a:schemeClr val="bg1">
              <a:lumMod val="95000"/>
            </a:schemeClr>
          </a:solidFill>
          <a:ln w="6350">
            <a:noFill/>
            <a:miter lim="800000"/>
          </a:ln>
        </p:spPr>
        <p:txBody>
          <a:bodyPr vert="horz" wrap="square" lIns="45720" tIns="91440" rIns="45720" bIns="9144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31775" lvl="1">
              <a:spcBef>
                <a:spcPts val="300"/>
              </a:spcBef>
              <a:spcAft>
                <a:spcPts val="300"/>
              </a:spcAft>
              <a:defRPr/>
            </a:pPr>
            <a:r>
              <a:rPr lang="en-US" sz="1000">
                <a:solidFill>
                  <a:srgbClr val="515349"/>
                </a:solidFill>
                <a:latin typeface="Arial"/>
              </a:rPr>
              <a:t>I&amp;O driven dependent initiative for </a:t>
            </a:r>
            <a:r>
              <a:rPr lang="en-US" sz="1000" b="1">
                <a:solidFill>
                  <a:srgbClr val="515349"/>
                </a:solidFill>
                <a:latin typeface="Arial"/>
              </a:rPr>
              <a:t>C9 </a:t>
            </a:r>
            <a:r>
              <a:rPr lang="en-US" sz="1000">
                <a:solidFill>
                  <a:srgbClr val="515349"/>
                </a:solidFill>
                <a:latin typeface="Arial"/>
              </a:rPr>
              <a:t>referenced in Monitoring and Observability roadmap</a:t>
            </a:r>
            <a:endParaRPr lang="en-US" sz="1000">
              <a:cs typeface="Arial"/>
            </a:endParaRPr>
          </a:p>
        </p:txBody>
      </p:sp>
      <p:sp>
        <p:nvSpPr>
          <p:cNvPr id="26" name="TrackerNumWhite 5">
            <a:extLst>
              <a:ext uri="{FF2B5EF4-FFF2-40B4-BE49-F238E27FC236}">
                <a16:creationId xmlns:a16="http://schemas.microsoft.com/office/drawing/2014/main" id="{DAE5F3F8-7AE2-419E-72B7-BF0974F6734C}"/>
              </a:ext>
            </a:extLst>
          </p:cNvPr>
          <p:cNvSpPr>
            <a:spLocks noChangeAspect="1"/>
          </p:cNvSpPr>
          <p:nvPr/>
        </p:nvSpPr>
        <p:spPr>
          <a:xfrm>
            <a:off x="9920445" y="4715007"/>
            <a:ext cx="242841" cy="232169"/>
          </a:xfrm>
          <a:prstGeom prst="ellipse">
            <a:avLst/>
          </a:prstGeom>
          <a:solidFill>
            <a:srgbClr val="FFC000"/>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000" b="1">
                <a:solidFill>
                  <a:srgbClr val="000000"/>
                </a:solidFill>
                <a:latin typeface="Arial"/>
              </a:rPr>
              <a:t>N</a:t>
            </a:r>
            <a:endParaRPr kumimoji="0" lang="en-US" sz="1000" b="1" i="0" u="none" strike="noStrike" kern="1200" cap="none" spc="0" normalizeH="0" baseline="0" noProof="0">
              <a:ln>
                <a:noFill/>
              </a:ln>
              <a:solidFill>
                <a:srgbClr val="000000"/>
              </a:solidFill>
              <a:effectLst/>
              <a:uLnTx/>
              <a:uFillTx/>
              <a:latin typeface="Arial"/>
              <a:ea typeface="+mn-ea"/>
              <a:cs typeface="+mn-cs"/>
            </a:endParaRPr>
          </a:p>
        </p:txBody>
      </p:sp>
      <p:sp>
        <p:nvSpPr>
          <p:cNvPr id="35" name="TrackerNumWhite 5">
            <a:extLst>
              <a:ext uri="{FF2B5EF4-FFF2-40B4-BE49-F238E27FC236}">
                <a16:creationId xmlns:a16="http://schemas.microsoft.com/office/drawing/2014/main" id="{52B04DB8-188A-5F00-70E9-79DCE6C3B9F3}"/>
              </a:ext>
            </a:extLst>
          </p:cNvPr>
          <p:cNvSpPr>
            <a:spLocks noChangeAspect="1"/>
          </p:cNvSpPr>
          <p:nvPr/>
        </p:nvSpPr>
        <p:spPr>
          <a:xfrm>
            <a:off x="9916498" y="5598953"/>
            <a:ext cx="242841" cy="232169"/>
          </a:xfrm>
          <a:prstGeom prst="ellipse">
            <a:avLst/>
          </a:prstGeom>
          <a:solidFill>
            <a:srgbClr val="00B050"/>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000" b="1">
                <a:solidFill>
                  <a:srgbClr val="000000"/>
                </a:solidFill>
                <a:latin typeface="Arial"/>
              </a:rPr>
              <a:t>MO</a:t>
            </a:r>
            <a:endParaRPr kumimoji="0" lang="en-US" sz="1000" b="1" i="0" u="none" strike="noStrike" kern="1200" cap="none" spc="0" normalizeH="0" baseline="0" noProof="0">
              <a:ln>
                <a:noFill/>
              </a:ln>
              <a:solidFill>
                <a:srgbClr val="000000"/>
              </a:solidFill>
              <a:effectLst/>
              <a:uLnTx/>
              <a:uFillTx/>
              <a:latin typeface="Arial"/>
              <a:ea typeface="+mn-ea"/>
              <a:cs typeface="+mn-cs"/>
            </a:endParaRPr>
          </a:p>
        </p:txBody>
      </p:sp>
      <p:sp>
        <p:nvSpPr>
          <p:cNvPr id="37" name="TrackerNumWhite 5">
            <a:extLst>
              <a:ext uri="{FF2B5EF4-FFF2-40B4-BE49-F238E27FC236}">
                <a16:creationId xmlns:a16="http://schemas.microsoft.com/office/drawing/2014/main" id="{2F1D6E0C-1901-D44A-5CBF-252B5ED05537}"/>
              </a:ext>
            </a:extLst>
          </p:cNvPr>
          <p:cNvSpPr>
            <a:spLocks noChangeAspect="1"/>
          </p:cNvSpPr>
          <p:nvPr/>
        </p:nvSpPr>
        <p:spPr>
          <a:xfrm>
            <a:off x="9951535" y="1733984"/>
            <a:ext cx="234279" cy="232170"/>
          </a:xfrm>
          <a:prstGeom prst="ellipse">
            <a:avLst/>
          </a:prstGeom>
          <a:solidFill>
            <a:srgbClr val="BA0C2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000" b="1">
                <a:solidFill>
                  <a:srgbClr val="FFFFFF"/>
                </a:solidFill>
                <a:latin typeface="Arial"/>
              </a:rPr>
              <a:t>C</a:t>
            </a:r>
            <a:endParaRPr kumimoji="0" lang="en-US" sz="10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607226443"/>
      </p:ext>
    </p:extLst>
  </p:cSld>
  <p:clrMapOvr>
    <a:masterClrMapping/>
  </p:clrMapOvr>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9B431-A3ED-CC73-97F3-56E7F271A64D}"/>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F060F820-D99F-BE58-1065-1F3461ECD70C}"/>
              </a:ext>
            </a:extLst>
          </p:cNvPr>
          <p:cNvSpPr>
            <a:spLocks noGrp="1"/>
          </p:cNvSpPr>
          <p:nvPr>
            <p:ph type="ftr" sz="quarter" idx="11"/>
          </p:nvPr>
        </p:nvSpPr>
        <p:spPr/>
        <p:txBody>
          <a:bodyPr/>
          <a:lstStyle/>
          <a:p>
            <a:r>
              <a:rPr lang="en-CA"/>
              <a:t>CONFIDENTIAL</a:t>
            </a:r>
          </a:p>
        </p:txBody>
      </p:sp>
      <p:sp>
        <p:nvSpPr>
          <p:cNvPr id="5" name="Date Placeholder 4">
            <a:extLst>
              <a:ext uri="{FF2B5EF4-FFF2-40B4-BE49-F238E27FC236}">
                <a16:creationId xmlns:a16="http://schemas.microsoft.com/office/drawing/2014/main" id="{418A9A2F-3479-776A-8763-C788CA070BDF}"/>
              </a:ext>
            </a:extLst>
          </p:cNvPr>
          <p:cNvSpPr>
            <a:spLocks noGrp="1"/>
          </p:cNvSpPr>
          <p:nvPr>
            <p:ph type="dt" sz="half" idx="13"/>
          </p:nvPr>
        </p:nvSpPr>
        <p:spPr/>
        <p:txBody>
          <a:bodyPr/>
          <a:lstStyle/>
          <a:p>
            <a:fld id="{DFC179E5-4269-44D4-A984-C57F7029D15D}" type="datetime1">
              <a:rPr lang="en-US" smtClean="0"/>
              <a:t>7/31/2026</a:t>
            </a:fld>
            <a:endParaRPr lang="en-CA"/>
          </a:p>
        </p:txBody>
      </p:sp>
      <p:sp>
        <p:nvSpPr>
          <p:cNvPr id="83" name="Title 1">
            <a:extLst>
              <a:ext uri="{FF2B5EF4-FFF2-40B4-BE49-F238E27FC236}">
                <a16:creationId xmlns:a16="http://schemas.microsoft.com/office/drawing/2014/main" id="{1479A6D0-489A-B735-05C8-04CE93B9B66D}"/>
              </a:ext>
            </a:extLst>
          </p:cNvPr>
          <p:cNvSpPr>
            <a:spLocks noGrp="1"/>
          </p:cNvSpPr>
          <p:nvPr>
            <p:ph type="title"/>
          </p:nvPr>
        </p:nvSpPr>
        <p:spPr>
          <a:xfrm>
            <a:off x="384048" y="381000"/>
            <a:ext cx="11420856" cy="533400"/>
          </a:xfrm>
        </p:spPr>
        <p:txBody>
          <a:bodyPr/>
          <a:lstStyle/>
          <a:p>
            <a:r>
              <a:rPr lang="en-CA" sz="2400">
                <a:cs typeface="Arial"/>
              </a:rPr>
              <a:t>Cloud Foundations – Work Packages / Initiative Details (Scope, Cost &amp; Timeline)</a:t>
            </a:r>
            <a:endParaRPr lang="en-US"/>
          </a:p>
        </p:txBody>
      </p:sp>
      <p:graphicFrame>
        <p:nvGraphicFramePr>
          <p:cNvPr id="12" name="Table 11">
            <a:extLst>
              <a:ext uri="{FF2B5EF4-FFF2-40B4-BE49-F238E27FC236}">
                <a16:creationId xmlns:a16="http://schemas.microsoft.com/office/drawing/2014/main" id="{020BC1CB-438A-6C15-2935-AD100B0AF58D}"/>
              </a:ext>
            </a:extLst>
          </p:cNvPr>
          <p:cNvGraphicFramePr>
            <a:graphicFrameLocks noGrp="1"/>
          </p:cNvGraphicFramePr>
          <p:nvPr>
            <p:extLst>
              <p:ext uri="{D42A27DB-BD31-4B8C-83A1-F6EECF244321}">
                <p14:modId xmlns:p14="http://schemas.microsoft.com/office/powerpoint/2010/main" val="3640705398"/>
              </p:ext>
            </p:extLst>
          </p:nvPr>
        </p:nvGraphicFramePr>
        <p:xfrm>
          <a:off x="379698" y="1166790"/>
          <a:ext cx="11458208" cy="4614625"/>
        </p:xfrm>
        <a:graphic>
          <a:graphicData uri="http://schemas.openxmlformats.org/drawingml/2006/table">
            <a:tbl>
              <a:tblPr firstRow="1" bandRow="1">
                <a:tableStyleId>{5C22544A-7EE6-4342-B048-85BDC9FD1C3A}</a:tableStyleId>
              </a:tblPr>
              <a:tblGrid>
                <a:gridCol w="2427111">
                  <a:extLst>
                    <a:ext uri="{9D8B030D-6E8A-4147-A177-3AD203B41FA5}">
                      <a16:colId xmlns:a16="http://schemas.microsoft.com/office/drawing/2014/main" val="703374884"/>
                    </a:ext>
                  </a:extLst>
                </a:gridCol>
                <a:gridCol w="2286000">
                  <a:extLst>
                    <a:ext uri="{9D8B030D-6E8A-4147-A177-3AD203B41FA5}">
                      <a16:colId xmlns:a16="http://schemas.microsoft.com/office/drawing/2014/main" val="6324210"/>
                    </a:ext>
                  </a:extLst>
                </a:gridCol>
                <a:gridCol w="2913941">
                  <a:extLst>
                    <a:ext uri="{9D8B030D-6E8A-4147-A177-3AD203B41FA5}">
                      <a16:colId xmlns:a16="http://schemas.microsoft.com/office/drawing/2014/main" val="2672157842"/>
                    </a:ext>
                  </a:extLst>
                </a:gridCol>
                <a:gridCol w="1862666">
                  <a:extLst>
                    <a:ext uri="{9D8B030D-6E8A-4147-A177-3AD203B41FA5}">
                      <a16:colId xmlns:a16="http://schemas.microsoft.com/office/drawing/2014/main" val="763443718"/>
                    </a:ext>
                  </a:extLst>
                </a:gridCol>
                <a:gridCol w="1968490">
                  <a:extLst>
                    <a:ext uri="{9D8B030D-6E8A-4147-A177-3AD203B41FA5}">
                      <a16:colId xmlns:a16="http://schemas.microsoft.com/office/drawing/2014/main" val="2877913035"/>
                    </a:ext>
                  </a:extLst>
                </a:gridCol>
              </a:tblGrid>
              <a:tr h="424101">
                <a:tc>
                  <a:txBody>
                    <a:bodyPr/>
                    <a:lstStyle/>
                    <a:p>
                      <a:pPr lvl="0" algn="ctr">
                        <a:buNone/>
                      </a:pPr>
                      <a:r>
                        <a:rPr lang="en-US" sz="1000" b="0" i="0" u="none" strike="noStrike" noProof="0">
                          <a:solidFill>
                            <a:schemeClr val="bg1"/>
                          </a:solidFill>
                        </a:rPr>
                        <a:t>Work Package / Initiative</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BA0C2F"/>
                    </a:solidFill>
                  </a:tcPr>
                </a:tc>
                <a:tc>
                  <a:txBody>
                    <a:bodyPr/>
                    <a:lstStyle/>
                    <a:p>
                      <a:pPr lvl="0" algn="ctr">
                        <a:buNone/>
                      </a:pPr>
                      <a:r>
                        <a:rPr lang="en-US" sz="1000" b="0" i="0" u="none" strike="noStrike" noProof="0">
                          <a:solidFill>
                            <a:schemeClr val="bg1"/>
                          </a:solidFill>
                          <a:latin typeface="Arial"/>
                        </a:rPr>
                        <a:t>Potential In-Scope Technology</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BA0C2F"/>
                    </a:solidFill>
                  </a:tcPr>
                </a:tc>
                <a:tc>
                  <a:txBody>
                    <a:bodyPr/>
                    <a:lstStyle/>
                    <a:p>
                      <a:pPr lvl="0" algn="ctr">
                        <a:buNone/>
                      </a:pPr>
                      <a:r>
                        <a:rPr lang="en-US" sz="1000" b="0" i="0" u="none" strike="noStrike" noProof="0">
                          <a:solidFill>
                            <a:schemeClr val="bg1"/>
                          </a:solidFill>
                          <a:latin typeface="Arial"/>
                        </a:rPr>
                        <a:t>Estimated Cost</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BA0C2F"/>
                    </a:solidFill>
                  </a:tcPr>
                </a:tc>
                <a:tc>
                  <a:txBody>
                    <a:bodyPr/>
                    <a:lstStyle/>
                    <a:p>
                      <a:pPr lvl="0" algn="ctr">
                        <a:buNone/>
                      </a:pPr>
                      <a:r>
                        <a:rPr lang="en-US" sz="1000" b="0" i="0" u="none" strike="noStrike" noProof="0">
                          <a:solidFill>
                            <a:schemeClr val="bg1"/>
                          </a:solidFill>
                          <a:latin typeface="Arial"/>
                        </a:rPr>
                        <a:t>Estimated Duration</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BA0C2F"/>
                    </a:solidFill>
                  </a:tcPr>
                </a:tc>
                <a:tc>
                  <a:txBody>
                    <a:bodyPr/>
                    <a:lstStyle/>
                    <a:p>
                      <a:pPr lvl="0" algn="ctr">
                        <a:buNone/>
                      </a:pPr>
                      <a:r>
                        <a:rPr lang="en-US" sz="1000" b="0" i="0" u="none" strike="noStrike" noProof="0">
                          <a:solidFill>
                            <a:schemeClr val="bg1"/>
                          </a:solidFill>
                          <a:latin typeface="Arial"/>
                        </a:rPr>
                        <a:t>Timeline</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BA0C2F"/>
                    </a:solidFill>
                  </a:tcPr>
                </a:tc>
                <a:extLst>
                  <a:ext uri="{0D108BD9-81ED-4DB2-BD59-A6C34878D82A}">
                    <a16:rowId xmlns:a16="http://schemas.microsoft.com/office/drawing/2014/main" val="4196109915"/>
                  </a:ext>
                </a:extLst>
              </a:tr>
              <a:tr h="424100">
                <a:tc>
                  <a:txBody>
                    <a:bodyPr/>
                    <a:lstStyle/>
                    <a:p>
                      <a:pPr lvl="0">
                        <a:buNone/>
                      </a:pPr>
                      <a:r>
                        <a:rPr lang="en-US" sz="1000" b="0" i="0" u="none" strike="noStrike" noProof="0">
                          <a:solidFill>
                            <a:srgbClr val="000000"/>
                          </a:solidFill>
                        </a:rPr>
                        <a:t>Cloud Log Forwarding Platform</a:t>
                      </a:r>
                      <a:endParaRPr lang="en-US" sz="1000">
                        <a:solidFill>
                          <a:srgbClr val="000000"/>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buNone/>
                      </a:pPr>
                      <a:r>
                        <a:rPr lang="en-US" sz="1000" b="0" i="0" u="none" strike="noStrike" noProof="0">
                          <a:solidFill>
                            <a:srgbClr val="000000"/>
                          </a:solidFill>
                          <a:latin typeface="Arial"/>
                        </a:rPr>
                        <a:t>Cribl</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nSpc>
                          <a:spcPts val="1200"/>
                        </a:lnSpc>
                        <a:buNone/>
                      </a:pPr>
                      <a:r>
                        <a:rPr lang="en-US" sz="1000" b="0" i="0" u="none" strike="noStrike" noProof="0">
                          <a:solidFill>
                            <a:srgbClr val="000000"/>
                          </a:solidFill>
                          <a:latin typeface="Arial"/>
                        </a:rPr>
                        <a:t>Internal Labour: Medium</a:t>
                      </a:r>
                    </a:p>
                    <a:p>
                      <a:pPr lvl="0">
                        <a:lnSpc>
                          <a:spcPts val="1200"/>
                        </a:lnSpc>
                        <a:buNone/>
                      </a:pPr>
                      <a:r>
                        <a:rPr lang="en-US" sz="1000" b="0" i="0" u="none" strike="noStrike" noProof="0">
                          <a:solidFill>
                            <a:srgbClr val="000000"/>
                          </a:solidFill>
                          <a:latin typeface="Arial"/>
                        </a:rPr>
                        <a:t>Vendor: $300k in licensing costs per year</a:t>
                      </a:r>
                      <a:endParaRPr lang="en-US" sz="1000">
                        <a:solidFill>
                          <a:srgbClr val="000000"/>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buNone/>
                      </a:pPr>
                      <a:r>
                        <a:rPr lang="en-US" sz="1000" b="0" i="0" u="none" strike="noStrike" noProof="0">
                          <a:solidFill>
                            <a:srgbClr val="000000"/>
                          </a:solidFill>
                          <a:latin typeface="Arial"/>
                        </a:rPr>
                        <a:t>6 months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noProof="0">
                          <a:solidFill>
                            <a:schemeClr val="tx1"/>
                          </a:solidFill>
                          <a:latin typeface="Arial"/>
                        </a:rPr>
                        <a:t>2026 </a:t>
                      </a:r>
                      <a:r>
                        <a:rPr lang="en-US" sz="1000" b="1" i="0" u="none" strike="noStrike" noProof="0">
                          <a:solidFill>
                            <a:schemeClr val="tx1"/>
                          </a:solidFill>
                          <a:latin typeface="Arial"/>
                        </a:rPr>
                        <a:t>Q1 - Q2</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3698779560"/>
                  </a:ext>
                </a:extLst>
              </a:tr>
              <a:tr h="424101">
                <a:tc>
                  <a:txBody>
                    <a:bodyPr/>
                    <a:lstStyle/>
                    <a:p>
                      <a:pPr marL="0" lvl="0" algn="l" defTabSz="685800" rtl="0">
                        <a:buNone/>
                      </a:pPr>
                      <a:r>
                        <a:rPr lang="en-US" sz="1000" b="0" i="0" u="none" strike="noStrike" kern="1200" noProof="0">
                          <a:solidFill>
                            <a:srgbClr val="000000"/>
                          </a:solidFill>
                          <a:latin typeface="+mn-lt"/>
                          <a:ea typeface="+mn-ea"/>
                          <a:cs typeface="+mn-cs"/>
                        </a:rPr>
                        <a:t>Hardened Container Image Platform</a:t>
                      </a:r>
                      <a:endParaRPr lang="en-US" sz="1000" b="0" i="0" u="none" strike="noStrike" kern="1200">
                        <a:solidFill>
                          <a:srgbClr val="000000"/>
                        </a:solidFill>
                        <a:latin typeface="+mn-lt"/>
                        <a:ea typeface="+mn-ea"/>
                        <a:cs typeface="+mn-c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marL="0" lvl="0" algn="l" defTabSz="685800" rtl="0" eaLnBrk="1" latinLnBrk="0" hangingPunct="1">
                        <a:buNone/>
                      </a:pPr>
                      <a:r>
                        <a:rPr lang="en-CA" sz="1000">
                          <a:solidFill>
                            <a:srgbClr val="000000"/>
                          </a:solidFill>
                        </a:rPr>
                        <a:t>Chainguard</a:t>
                      </a:r>
                      <a:endParaRPr lang="en-US" sz="1000" b="0" i="0" u="none" strike="noStrike" kern="1200" noProof="0">
                        <a:solidFill>
                          <a:srgbClr val="000000"/>
                        </a:solidFill>
                        <a:latin typeface="+mn-lt"/>
                        <a:ea typeface="+mn-ea"/>
                        <a:cs typeface="+mn-c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marL="0" lvl="0" algn="l">
                        <a:buNone/>
                      </a:pPr>
                      <a:r>
                        <a:rPr lang="en-US" sz="1000" b="0" i="0" u="none" strike="noStrike" kern="1200" noProof="0">
                          <a:solidFill>
                            <a:srgbClr val="000000"/>
                          </a:solidFill>
                          <a:latin typeface="Arial"/>
                        </a:rPr>
                        <a:t>Internal Labour: Medium</a:t>
                      </a:r>
                    </a:p>
                    <a:p>
                      <a:pPr marL="0" lvl="0" algn="l">
                        <a:buNone/>
                      </a:pPr>
                      <a:r>
                        <a:rPr lang="en-US" sz="1000" b="0" i="0" u="none" strike="noStrike" kern="1200" noProof="0">
                          <a:solidFill>
                            <a:srgbClr val="000000"/>
                          </a:solidFill>
                          <a:latin typeface="Arial"/>
                        </a:rPr>
                        <a:t>$250k per year</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kern="1200" noProof="0">
                          <a:solidFill>
                            <a:srgbClr val="000000"/>
                          </a:solidFill>
                          <a:latin typeface="Arial"/>
                        </a:rPr>
                        <a:t>6 months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kern="1200" noProof="0">
                          <a:solidFill>
                            <a:schemeClr val="tx1"/>
                          </a:solidFill>
                          <a:latin typeface="Arial"/>
                        </a:rPr>
                        <a:t>2026 </a:t>
                      </a:r>
                      <a:r>
                        <a:rPr lang="en-US" sz="1000" b="1" i="0" u="none" strike="noStrike" kern="1200" noProof="0">
                          <a:solidFill>
                            <a:schemeClr val="tx1"/>
                          </a:solidFill>
                          <a:latin typeface="Arial"/>
                        </a:rPr>
                        <a:t>Q1 - Q2</a:t>
                      </a:r>
                      <a:endParaRPr lang="en-US" sz="1000" b="0" i="0" u="none" strike="noStrike" kern="1200" noProof="0">
                        <a:solidFill>
                          <a:schemeClr val="tx1"/>
                        </a:solidFill>
                        <a:latin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1628608952"/>
                  </a:ext>
                </a:extLst>
              </a:tr>
              <a:tr h="424101">
                <a:tc>
                  <a:txBody>
                    <a:bodyPr/>
                    <a:lstStyle/>
                    <a:p>
                      <a:pPr marL="0" lvl="0" algn="l">
                        <a:buNone/>
                      </a:pPr>
                      <a:r>
                        <a:rPr lang="en-US" sz="1000" b="0" i="0" u="none" strike="noStrike" kern="1200" noProof="0">
                          <a:solidFill>
                            <a:srgbClr val="000000"/>
                          </a:solidFill>
                          <a:latin typeface="Arial"/>
                        </a:rPr>
                        <a:t>Tagging Automation</a:t>
                      </a:r>
                      <a:endParaRPr lang="en-US" sz="1000" b="0" i="0" u="none" strike="noStrike" kern="1200" noProof="0">
                        <a:solidFill>
                          <a:srgbClr val="000000"/>
                        </a:solidFill>
                        <a:latin typeface="+mn-lt"/>
                        <a:ea typeface="+mn-ea"/>
                        <a:cs typeface="+mn-c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marL="0" lvl="0" algn="l" rtl="0" eaLnBrk="1" latinLnBrk="0" hangingPunct="1">
                        <a:buNone/>
                      </a:pPr>
                      <a:r>
                        <a:rPr lang="en-US" sz="1000" b="0" i="0" u="none" strike="noStrike" kern="1200" noProof="0">
                          <a:solidFill>
                            <a:srgbClr val="000000"/>
                          </a:solidFill>
                          <a:latin typeface="+mn-lt"/>
                          <a:ea typeface="+mn-ea"/>
                          <a:cs typeface="+mn-cs"/>
                        </a:rPr>
                        <a:t>Service now; Gitlab</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marL="0" lvl="0" algn="l">
                        <a:buNone/>
                      </a:pPr>
                      <a:r>
                        <a:rPr lang="en-US" sz="1000" b="0" i="0" u="none" strike="noStrike" kern="1200" noProof="0">
                          <a:solidFill>
                            <a:srgbClr val="000000"/>
                          </a:solidFill>
                          <a:latin typeface="Arial"/>
                        </a:rPr>
                        <a:t>Internal Labour: Medium </a:t>
                      </a:r>
                    </a:p>
                    <a:p>
                      <a:pPr marL="0" lvl="0" algn="l">
                        <a:buNone/>
                      </a:pPr>
                      <a:r>
                        <a:rPr lang="en-US" sz="1000" b="0" i="0" u="none" strike="noStrike" kern="1200" noProof="0">
                          <a:solidFill>
                            <a:srgbClr val="000000"/>
                          </a:solidFill>
                          <a:latin typeface="Arial"/>
                        </a:rPr>
                        <a:t>BAU initiative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kern="1200" noProof="0">
                          <a:solidFill>
                            <a:srgbClr val="000000"/>
                          </a:solidFill>
                          <a:latin typeface="Arial"/>
                        </a:rPr>
                        <a:t>6- 9 months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kern="1200" noProof="0">
                          <a:solidFill>
                            <a:schemeClr val="tx1"/>
                          </a:solidFill>
                          <a:latin typeface="Arial"/>
                        </a:rPr>
                        <a:t>2026 </a:t>
                      </a:r>
                      <a:r>
                        <a:rPr lang="en-US" sz="1000" b="1" i="0" u="none" strike="noStrike" kern="1200" noProof="0">
                          <a:solidFill>
                            <a:schemeClr val="tx1"/>
                          </a:solidFill>
                          <a:latin typeface="Arial"/>
                        </a:rPr>
                        <a:t>Q1 - Q3</a:t>
                      </a:r>
                      <a:endParaRPr lang="en-US" sz="1000" b="0" i="0" u="none" strike="noStrike" kern="1200" noProof="0">
                        <a:solidFill>
                          <a:schemeClr val="tx1"/>
                        </a:solidFill>
                        <a:latin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4006221998"/>
                  </a:ext>
                </a:extLst>
              </a:tr>
              <a:tr h="424101">
                <a:tc>
                  <a:txBody>
                    <a:bodyPr/>
                    <a:lstStyle/>
                    <a:p>
                      <a:pPr lvl="0" algn="l">
                        <a:lnSpc>
                          <a:spcPct val="100000"/>
                        </a:lnSpc>
                        <a:spcBef>
                          <a:spcPts val="0"/>
                        </a:spcBef>
                        <a:spcAft>
                          <a:spcPts val="0"/>
                        </a:spcAft>
                        <a:buNone/>
                      </a:pPr>
                      <a:r>
                        <a:rPr lang="en-US" sz="1000" b="0" i="0" u="none" strike="noStrike" kern="1200" noProof="0">
                          <a:solidFill>
                            <a:srgbClr val="000000"/>
                          </a:solidFill>
                          <a:latin typeface="Arial"/>
                        </a:rPr>
                        <a:t>Self Service tooling</a:t>
                      </a:r>
                      <a:endParaRPr lang="en-CA" sz="1000" b="0" i="0" u="none" strike="noStrike" kern="1200" noProof="0">
                        <a:solidFill>
                          <a:srgbClr val="000000"/>
                        </a:solidFill>
                        <a:latin typeface="+mn-lt"/>
                        <a:ea typeface="+mn-ea"/>
                        <a:cs typeface="+mn-c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marL="0" lvl="0" algn="l">
                        <a:buNone/>
                      </a:pPr>
                      <a:r>
                        <a:rPr lang="en-US" sz="1000" b="0" i="0" u="none" strike="noStrike" kern="1200" noProof="0">
                          <a:solidFill>
                            <a:srgbClr val="000000"/>
                          </a:solidFill>
                          <a:latin typeface="Arial"/>
                        </a:rPr>
                        <a:t>Service now; Gitlab; additional broker evaluation in process</a:t>
                      </a:r>
                      <a:endParaRPr lang="en-US" sz="1000">
                        <a:solidFill>
                          <a:srgbClr val="000000"/>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nSpc>
                          <a:spcPts val="1200"/>
                        </a:lnSpc>
                        <a:buNone/>
                      </a:pPr>
                      <a:r>
                        <a:rPr lang="en-US" sz="1000" b="0" i="0" u="none" strike="noStrike" kern="1200" noProof="0">
                          <a:solidFill>
                            <a:srgbClr val="000000"/>
                          </a:solidFill>
                          <a:latin typeface="Arial"/>
                        </a:rPr>
                        <a:t>Internal Labour: Large</a:t>
                      </a:r>
                    </a:p>
                    <a:p>
                      <a:pPr lvl="0">
                        <a:lnSpc>
                          <a:spcPts val="1200"/>
                        </a:lnSpc>
                        <a:buNone/>
                      </a:pPr>
                      <a:r>
                        <a:rPr lang="en-US" sz="1000" b="0" i="0" u="none" strike="noStrike" kern="1200" noProof="0">
                          <a:solidFill>
                            <a:srgbClr val="000000"/>
                          </a:solidFill>
                          <a:latin typeface="Arial"/>
                        </a:rPr>
                        <a:t>Vendor: $100k in licensing and operational costs per year</a:t>
                      </a:r>
                      <a:endParaRPr lang="en-US" sz="1000">
                        <a:solidFill>
                          <a:srgbClr val="000000"/>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kern="1200" noProof="0">
                          <a:solidFill>
                            <a:srgbClr val="000000"/>
                          </a:solidFill>
                          <a:latin typeface="Arial"/>
                        </a:rPr>
                        <a:t>18 months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kern="1200" noProof="0">
                          <a:solidFill>
                            <a:schemeClr val="tx1"/>
                          </a:solidFill>
                          <a:latin typeface="Arial"/>
                        </a:rPr>
                        <a:t>2026 </a:t>
                      </a:r>
                      <a:r>
                        <a:rPr lang="en-US" sz="1000" b="1" i="0" u="none" strike="noStrike" kern="1200" noProof="0">
                          <a:solidFill>
                            <a:schemeClr val="tx1"/>
                          </a:solidFill>
                          <a:latin typeface="Arial"/>
                        </a:rPr>
                        <a:t>Q1 - </a:t>
                      </a:r>
                      <a:r>
                        <a:rPr lang="en-US" sz="1000" b="0" i="0" u="none" strike="noStrike" kern="1200" noProof="0">
                          <a:solidFill>
                            <a:schemeClr val="tx1"/>
                          </a:solidFill>
                          <a:latin typeface="Arial"/>
                        </a:rPr>
                        <a:t>2027 </a:t>
                      </a:r>
                      <a:r>
                        <a:rPr lang="en-US" sz="1000" b="1" i="0" u="none" strike="noStrike" kern="1200" noProof="0">
                          <a:solidFill>
                            <a:schemeClr val="tx1"/>
                          </a:solidFill>
                          <a:latin typeface="Arial"/>
                        </a:rPr>
                        <a:t>Q2</a:t>
                      </a:r>
                      <a:endParaRPr lang="en-US" sz="1000" b="0" i="0" u="none" strike="noStrike" kern="1200" noProof="0">
                        <a:solidFill>
                          <a:schemeClr val="tx1"/>
                        </a:solidFill>
                        <a:latin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395796678"/>
                  </a:ext>
                </a:extLst>
              </a:tr>
              <a:tr h="424101">
                <a:tc>
                  <a:txBody>
                    <a:bodyPr/>
                    <a:lstStyle/>
                    <a:p>
                      <a:pPr lvl="0" algn="l">
                        <a:lnSpc>
                          <a:spcPct val="100000"/>
                        </a:lnSpc>
                        <a:spcBef>
                          <a:spcPts val="0"/>
                        </a:spcBef>
                        <a:spcAft>
                          <a:spcPts val="0"/>
                        </a:spcAft>
                        <a:buNone/>
                      </a:pPr>
                      <a:r>
                        <a:rPr lang="en-CA" sz="1000" b="0" i="0" u="none" strike="noStrike" kern="1200" noProof="0">
                          <a:solidFill>
                            <a:srgbClr val="000000"/>
                          </a:solidFill>
                          <a:latin typeface="Arial"/>
                        </a:rPr>
                        <a:t>GCP GKE workloads Migration</a:t>
                      </a:r>
                      <a:endParaRPr lang="en-US" sz="1000" b="0" i="0" u="none" strike="noStrike" kern="1200" noProof="0">
                        <a:solidFill>
                          <a:srgbClr val="000000"/>
                        </a:solidFill>
                        <a:latin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marL="0" lvl="0" algn="l" rtl="0" eaLnBrk="1" latinLnBrk="0" hangingPunct="1">
                        <a:buNone/>
                      </a:pPr>
                      <a:r>
                        <a:rPr lang="en-US" sz="1000" b="0" i="0" u="none" strike="noStrike" kern="1200" noProof="0">
                          <a:solidFill>
                            <a:srgbClr val="000000"/>
                          </a:solidFill>
                          <a:latin typeface="+mn-lt"/>
                          <a:ea typeface="+mn-ea"/>
                          <a:cs typeface="+mn-cs"/>
                        </a:rPr>
                        <a:t>EKS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marL="0" lvl="0" algn="l">
                        <a:buNone/>
                      </a:pPr>
                      <a:r>
                        <a:rPr lang="en-US" sz="1000" b="0" i="0" u="none" strike="noStrike" kern="1200" noProof="0">
                          <a:solidFill>
                            <a:srgbClr val="000000"/>
                          </a:solidFill>
                          <a:latin typeface="Arial"/>
                        </a:rPr>
                        <a:t>Internal Labour: Medium</a:t>
                      </a:r>
                    </a:p>
                    <a:p>
                      <a:pPr marL="0" lvl="0" algn="l">
                        <a:buNone/>
                      </a:pPr>
                      <a:r>
                        <a:rPr lang="en-US" sz="1000" b="0" i="0" u="none" strike="noStrike" kern="1200" noProof="0">
                          <a:solidFill>
                            <a:srgbClr val="000000"/>
                          </a:solidFill>
                          <a:latin typeface="Arial"/>
                        </a:rPr>
                        <a:t>BAU initiative</a:t>
                      </a:r>
                      <a:endParaRPr lang="en-US" sz="1000">
                        <a:solidFill>
                          <a:srgbClr val="000000"/>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marL="0" lvl="0" algn="ctr">
                        <a:buNone/>
                      </a:pPr>
                      <a:r>
                        <a:rPr lang="en-US" sz="1000" b="0" i="0" u="none" strike="noStrike" kern="1200" noProof="0">
                          <a:solidFill>
                            <a:srgbClr val="000000"/>
                          </a:solidFill>
                          <a:latin typeface="+mn-lt"/>
                          <a:ea typeface="+mn-ea"/>
                          <a:cs typeface="+mn-cs"/>
                        </a:rPr>
                        <a:t>12 months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kern="1200" noProof="0">
                          <a:solidFill>
                            <a:schemeClr val="tx1"/>
                          </a:solidFill>
                          <a:latin typeface="Arial"/>
                        </a:rPr>
                        <a:t>2026 </a:t>
                      </a:r>
                      <a:r>
                        <a:rPr lang="en-US" sz="1000" b="1" i="0" u="none" strike="noStrike" kern="1200" noProof="0">
                          <a:solidFill>
                            <a:schemeClr val="tx1"/>
                          </a:solidFill>
                          <a:latin typeface="Arial"/>
                        </a:rPr>
                        <a:t>Q1 - Q4</a:t>
                      </a:r>
                      <a:endParaRPr lang="en-US" sz="1000" b="0" i="0" u="none" strike="noStrike" kern="1200" noProof="0">
                        <a:solidFill>
                          <a:schemeClr val="tx1"/>
                        </a:solidFill>
                        <a:latin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3205496116"/>
                  </a:ext>
                </a:extLst>
              </a:tr>
              <a:tr h="424101">
                <a:tc>
                  <a:txBody>
                    <a:bodyPr/>
                    <a:lstStyle/>
                    <a:p>
                      <a:pPr marL="0" lvl="0" algn="l">
                        <a:buNone/>
                      </a:pPr>
                      <a:r>
                        <a:rPr lang="en-US" sz="1000" b="0" i="0" u="none" strike="noStrike" kern="1200" noProof="0">
                          <a:solidFill>
                            <a:srgbClr val="000000"/>
                          </a:solidFill>
                          <a:latin typeface="Arial"/>
                        </a:rPr>
                        <a:t>Tetrate Service Bridge (TSB) integration in Azure</a:t>
                      </a:r>
                      <a:endParaRPr lang="en-US" sz="1000" b="0" i="0" u="none" strike="noStrike" kern="1200" noProof="0">
                        <a:solidFill>
                          <a:srgbClr val="000000"/>
                        </a:solidFill>
                        <a:latin typeface="+mn-lt"/>
                        <a:ea typeface="+mn-ea"/>
                        <a:cs typeface="+mn-c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marL="0" lvl="0" algn="l" rtl="0" eaLnBrk="1" latinLnBrk="0" hangingPunct="1">
                        <a:buNone/>
                      </a:pPr>
                      <a:r>
                        <a:rPr lang="en-US" sz="1000" b="0" i="0" u="none" strike="noStrike" kern="1200" noProof="0">
                          <a:solidFill>
                            <a:srgbClr val="000000"/>
                          </a:solidFill>
                          <a:latin typeface="+mn-lt"/>
                          <a:ea typeface="+mn-ea"/>
                          <a:cs typeface="+mn-cs"/>
                        </a:rPr>
                        <a:t>TSB Anywhere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nSpc>
                          <a:spcPts val="1200"/>
                        </a:lnSpc>
                        <a:buNone/>
                      </a:pPr>
                      <a:r>
                        <a:rPr lang="en-US" sz="1000" b="0" i="0" u="none" strike="noStrike" kern="1200" noProof="0">
                          <a:solidFill>
                            <a:srgbClr val="000000"/>
                          </a:solidFill>
                          <a:latin typeface="Arial"/>
                        </a:rPr>
                        <a:t>Internal Labour: Medium</a:t>
                      </a:r>
                    </a:p>
                    <a:p>
                      <a:pPr lvl="0">
                        <a:lnSpc>
                          <a:spcPts val="1200"/>
                        </a:lnSpc>
                        <a:buNone/>
                      </a:pPr>
                      <a:r>
                        <a:rPr lang="en-US" sz="1000" b="0" i="0" u="none" strike="noStrike" kern="1200" noProof="0">
                          <a:solidFill>
                            <a:srgbClr val="000000"/>
                          </a:solidFill>
                          <a:latin typeface="Arial"/>
                        </a:rPr>
                        <a:t>Vendor: $600k in licensing costs per year across both AWS and Azure</a:t>
                      </a:r>
                      <a:endParaRPr lang="en-US" sz="1000">
                        <a:solidFill>
                          <a:srgbClr val="000000"/>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marL="0" lvl="0" algn="ctr">
                        <a:buNone/>
                      </a:pPr>
                      <a:r>
                        <a:rPr lang="en-US" sz="1000" b="0" i="0" u="none" strike="noStrike" kern="1200" noProof="0">
                          <a:solidFill>
                            <a:srgbClr val="000000"/>
                          </a:solidFill>
                          <a:latin typeface="+mn-lt"/>
                          <a:ea typeface="+mn-ea"/>
                          <a:cs typeface="+mn-cs"/>
                        </a:rPr>
                        <a:t>6 months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kern="1200" noProof="0">
                          <a:solidFill>
                            <a:schemeClr val="tx1"/>
                          </a:solidFill>
                          <a:latin typeface="Arial"/>
                        </a:rPr>
                        <a:t>2026 </a:t>
                      </a:r>
                      <a:r>
                        <a:rPr lang="en-US" sz="1000" b="1" i="0" u="none" strike="noStrike" kern="1200" noProof="0">
                          <a:solidFill>
                            <a:schemeClr val="tx1"/>
                          </a:solidFill>
                          <a:latin typeface="Arial"/>
                        </a:rPr>
                        <a:t>Q2 - Q3</a:t>
                      </a:r>
                      <a:endParaRPr lang="en-US" sz="1000" b="0" i="0" u="none" strike="noStrike" kern="1200" noProof="0">
                        <a:solidFill>
                          <a:schemeClr val="tx1"/>
                        </a:solidFill>
                        <a:latin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4002417429"/>
                  </a:ext>
                </a:extLst>
              </a:tr>
              <a:tr h="424101">
                <a:tc>
                  <a:txBody>
                    <a:bodyPr/>
                    <a:lstStyle/>
                    <a:p>
                      <a:pPr marL="0" lvl="0" algn="l" defTabSz="685800" rtl="0">
                        <a:buNone/>
                      </a:pPr>
                      <a:r>
                        <a:rPr lang="en-US" sz="1000" b="0" i="0" u="none" strike="noStrike" kern="1200" noProof="0">
                          <a:solidFill>
                            <a:srgbClr val="000000"/>
                          </a:solidFill>
                          <a:latin typeface="+mn-lt"/>
                          <a:ea typeface="+mn-ea"/>
                          <a:cs typeface="+mn-cs"/>
                        </a:rPr>
                        <a:t>Chaos Resiliency Testing</a:t>
                      </a:r>
                      <a:endParaRPr lang="en-US" sz="1000" b="0" i="0" u="none" strike="noStrike" kern="1200">
                        <a:solidFill>
                          <a:srgbClr val="000000"/>
                        </a:solidFill>
                        <a:latin typeface="+mn-lt"/>
                        <a:ea typeface="+mn-ea"/>
                        <a:cs typeface="+mn-c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marL="0" lvl="0" algn="l" defTabSz="685800" rtl="0" eaLnBrk="1" latinLnBrk="0" hangingPunct="1">
                        <a:buNone/>
                      </a:pPr>
                      <a:r>
                        <a:rPr lang="en-US" sz="1000" b="0" i="0" u="none" strike="noStrike" kern="1200" noProof="0">
                          <a:solidFill>
                            <a:srgbClr val="000000"/>
                          </a:solidFill>
                          <a:latin typeface="+mn-lt"/>
                          <a:ea typeface="+mn-ea"/>
                          <a:cs typeface="+mn-cs"/>
                        </a:rPr>
                        <a:t>AWS Fault Injection Service</a:t>
                      </a:r>
                    </a:p>
                    <a:p>
                      <a:pPr marL="0" lvl="0" algn="l" defTabSz="685800" rtl="0" eaLnBrk="1" latinLnBrk="0" hangingPunct="1">
                        <a:buNone/>
                      </a:pPr>
                      <a:r>
                        <a:rPr lang="en-US" sz="1000" b="0" i="0" u="none" strike="noStrike" kern="1200" noProof="0">
                          <a:solidFill>
                            <a:srgbClr val="000000"/>
                          </a:solidFill>
                          <a:latin typeface="+mn-lt"/>
                          <a:ea typeface="+mn-ea"/>
                          <a:cs typeface="+mn-cs"/>
                        </a:rPr>
                        <a:t>AWS Resilience Hub</a:t>
                      </a:r>
                    </a:p>
                    <a:p>
                      <a:pPr marL="0" lvl="0" algn="l" defTabSz="685800" rtl="0" eaLnBrk="1" latinLnBrk="0" hangingPunct="1">
                        <a:buNone/>
                      </a:pPr>
                      <a:r>
                        <a:rPr lang="en-US" sz="1000" b="0" i="0" u="none" strike="noStrike" kern="1200" noProof="0">
                          <a:solidFill>
                            <a:srgbClr val="000000"/>
                          </a:solidFill>
                          <a:latin typeface="+mn-lt"/>
                          <a:ea typeface="+mn-ea"/>
                          <a:cs typeface="+mn-cs"/>
                        </a:rPr>
                        <a:t>Azure Chaos Studio</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marL="0" lvl="0" algn="l">
                        <a:buNone/>
                      </a:pPr>
                      <a:r>
                        <a:rPr lang="en-US" sz="1000" b="0" i="0" u="none" strike="noStrike" kern="1200" noProof="0">
                          <a:solidFill>
                            <a:srgbClr val="000000"/>
                          </a:solidFill>
                          <a:latin typeface="Arial"/>
                        </a:rPr>
                        <a:t>Internal Labour: Medium</a:t>
                      </a:r>
                    </a:p>
                    <a:p>
                      <a:pPr marL="0" lvl="0" algn="l">
                        <a:buNone/>
                      </a:pPr>
                      <a:r>
                        <a:rPr lang="en-US" sz="1000" b="0" i="0" u="none" strike="noStrike" kern="1200" noProof="0">
                          <a:solidFill>
                            <a:srgbClr val="000000"/>
                          </a:solidFill>
                          <a:latin typeface="Arial"/>
                        </a:rPr>
                        <a:t>BAU initiative</a:t>
                      </a:r>
                      <a:endParaRPr lang="en-US" sz="1000">
                        <a:solidFill>
                          <a:srgbClr val="000000"/>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kern="1200" noProof="0">
                          <a:solidFill>
                            <a:srgbClr val="000000"/>
                          </a:solidFill>
                          <a:latin typeface="Arial"/>
                        </a:rPr>
                        <a:t>6 months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kern="1200" noProof="0">
                          <a:solidFill>
                            <a:schemeClr val="tx1"/>
                          </a:solidFill>
                          <a:latin typeface="Arial"/>
                        </a:rPr>
                        <a:t>2026 </a:t>
                      </a:r>
                      <a:r>
                        <a:rPr lang="en-US" sz="1000" b="1" i="0" u="none" strike="noStrike" kern="1200" noProof="0">
                          <a:solidFill>
                            <a:schemeClr val="tx1"/>
                          </a:solidFill>
                          <a:latin typeface="Arial"/>
                        </a:rPr>
                        <a:t>Q4 - </a:t>
                      </a:r>
                      <a:r>
                        <a:rPr lang="en-US" sz="1000" b="0" i="0" u="none" strike="noStrike" kern="1200" noProof="0">
                          <a:solidFill>
                            <a:schemeClr val="tx1"/>
                          </a:solidFill>
                          <a:latin typeface="Arial"/>
                        </a:rPr>
                        <a:t>2027 </a:t>
                      </a:r>
                      <a:r>
                        <a:rPr lang="en-US" sz="1000" b="1" i="0" u="none" strike="noStrike" kern="1200" noProof="0">
                          <a:solidFill>
                            <a:schemeClr val="tx1"/>
                          </a:solidFill>
                          <a:latin typeface="Arial"/>
                        </a:rPr>
                        <a:t>Q1</a:t>
                      </a:r>
                      <a:endParaRPr lang="en-US" sz="1000" b="0" i="0" u="none" strike="noStrike" kern="1200" noProof="0">
                        <a:solidFill>
                          <a:schemeClr val="tx1"/>
                        </a:solidFill>
                        <a:latin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2800951551"/>
                  </a:ext>
                </a:extLst>
              </a:tr>
              <a:tr h="424101">
                <a:tc>
                  <a:txBody>
                    <a:bodyPr/>
                    <a:lstStyle/>
                    <a:p>
                      <a:pPr marL="0" lvl="0" algn="l" rtl="0">
                        <a:buNone/>
                      </a:pPr>
                      <a:r>
                        <a:rPr lang="en-US" sz="1000" b="0" i="0" u="none" strike="noStrike" kern="1200" noProof="0">
                          <a:solidFill>
                            <a:srgbClr val="000000"/>
                          </a:solidFill>
                          <a:latin typeface="+mn-lt"/>
                          <a:ea typeface="+mn-ea"/>
                          <a:cs typeface="+mn-cs"/>
                        </a:rPr>
                        <a:t>Network Security Groups Automation</a:t>
                      </a:r>
                      <a:endParaRPr lang="en-US" sz="1000" b="0" i="0" u="none" strike="noStrike" kern="1200">
                        <a:solidFill>
                          <a:srgbClr val="000000"/>
                        </a:solidFill>
                        <a:latin typeface="+mn-lt"/>
                        <a:ea typeface="+mn-ea"/>
                        <a:cs typeface="+mn-c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marL="0" lvl="0" algn="l">
                        <a:buNone/>
                      </a:pPr>
                      <a:r>
                        <a:rPr lang="en-US" sz="1000" b="0" i="0" u="none" strike="noStrike" kern="1200" noProof="0">
                          <a:solidFill>
                            <a:srgbClr val="000000"/>
                          </a:solidFill>
                          <a:latin typeface="Arial"/>
                        </a:rPr>
                        <a:t>Service now; Gitlab</a:t>
                      </a:r>
                      <a:endParaRPr lang="en-US" sz="1000">
                        <a:solidFill>
                          <a:srgbClr val="000000"/>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marL="0" lvl="0" algn="l">
                        <a:buNone/>
                      </a:pPr>
                      <a:r>
                        <a:rPr lang="en-US" sz="1000" b="0" i="0" u="none" strike="noStrike" kern="1200" noProof="0">
                          <a:solidFill>
                            <a:srgbClr val="000000"/>
                          </a:solidFill>
                          <a:latin typeface="Arial"/>
                        </a:rPr>
                        <a:t>Internal Labour: Medium</a:t>
                      </a:r>
                    </a:p>
                    <a:p>
                      <a:pPr marL="0" lvl="0" algn="l">
                        <a:buNone/>
                      </a:pPr>
                      <a:r>
                        <a:rPr lang="en-US" sz="1000" b="0" i="0" u="none" strike="noStrike" kern="1200" noProof="0">
                          <a:solidFill>
                            <a:srgbClr val="000000"/>
                          </a:solidFill>
                          <a:latin typeface="Arial"/>
                        </a:rPr>
                        <a:t>BAU initiative</a:t>
                      </a:r>
                      <a:endParaRPr lang="en-US" sz="1000">
                        <a:solidFill>
                          <a:srgbClr val="000000"/>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kern="1200" noProof="0">
                          <a:solidFill>
                            <a:srgbClr val="000000"/>
                          </a:solidFill>
                          <a:latin typeface="Arial"/>
                        </a:rPr>
                        <a:t>6 months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kern="1200" noProof="0">
                          <a:solidFill>
                            <a:schemeClr val="tx1"/>
                          </a:solidFill>
                          <a:latin typeface="Arial"/>
                        </a:rPr>
                        <a:t>2027 </a:t>
                      </a:r>
                      <a:r>
                        <a:rPr lang="en-US" sz="1000" b="1" i="0" u="none" strike="noStrike" kern="1200" noProof="0">
                          <a:solidFill>
                            <a:schemeClr val="tx1"/>
                          </a:solidFill>
                          <a:latin typeface="Arial"/>
                        </a:rPr>
                        <a:t>Q2 -</a:t>
                      </a:r>
                      <a:r>
                        <a:rPr lang="en-US" sz="1000" b="0" i="0" u="none" strike="noStrike" kern="1200" noProof="0">
                          <a:solidFill>
                            <a:schemeClr val="tx1"/>
                          </a:solidFill>
                          <a:latin typeface="Arial"/>
                        </a:rPr>
                        <a:t> </a:t>
                      </a:r>
                      <a:r>
                        <a:rPr lang="en-US" sz="1000" b="1" i="0" u="none" strike="noStrike" kern="1200" noProof="0">
                          <a:solidFill>
                            <a:schemeClr val="tx1"/>
                          </a:solidFill>
                          <a:latin typeface="Arial"/>
                        </a:rPr>
                        <a:t>Q3</a:t>
                      </a:r>
                      <a:endParaRPr lang="en-US" sz="1000" b="0" i="0" u="none" strike="noStrike" kern="1200" noProof="0">
                        <a:solidFill>
                          <a:schemeClr val="tx1"/>
                        </a:solidFill>
                        <a:latin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654616153"/>
                  </a:ext>
                </a:extLst>
              </a:tr>
              <a:tr h="424100">
                <a:tc>
                  <a:txBody>
                    <a:bodyPr/>
                    <a:lstStyle/>
                    <a:p>
                      <a:pPr marL="0" lvl="0" algn="l">
                        <a:buNone/>
                      </a:pPr>
                      <a:r>
                        <a:rPr lang="en-US" sz="1000" b="0" i="0" u="none" strike="noStrike" kern="1200" noProof="0">
                          <a:solidFill>
                            <a:srgbClr val="000000"/>
                          </a:solidFill>
                          <a:latin typeface="+mn-lt"/>
                          <a:ea typeface="+mn-ea"/>
                          <a:cs typeface="+mn-cs"/>
                        </a:rPr>
                        <a:t>Proactive/self-recovery</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marL="0" lvl="0" algn="l">
                        <a:buNone/>
                      </a:pPr>
                      <a:r>
                        <a:rPr lang="en-US" sz="1000" b="0" i="0" u="none" strike="noStrike" kern="1200" noProof="0">
                          <a:solidFill>
                            <a:srgbClr val="000000"/>
                          </a:solidFill>
                          <a:latin typeface="+mn-lt"/>
                          <a:ea typeface="+mn-ea"/>
                          <a:cs typeface="+mn-cs"/>
                        </a:rPr>
                        <a:t>Splunk; Ansible; Terraform</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marL="0" lvl="0" algn="l">
                        <a:buNone/>
                      </a:pPr>
                      <a:r>
                        <a:rPr lang="en-US" sz="1000" b="0" i="0" u="none" strike="noStrike" kern="1200" noProof="0">
                          <a:solidFill>
                            <a:srgbClr val="000000"/>
                          </a:solidFill>
                          <a:latin typeface="Arial"/>
                        </a:rPr>
                        <a:t>Internal Labour: Medium</a:t>
                      </a:r>
                    </a:p>
                    <a:p>
                      <a:pPr marL="0" lvl="0" algn="l">
                        <a:buNone/>
                      </a:pPr>
                      <a:r>
                        <a:rPr lang="en-US" sz="1000" b="0" i="0" u="none" strike="noStrike" kern="1200" noProof="0">
                          <a:solidFill>
                            <a:srgbClr val="000000"/>
                          </a:solidFill>
                          <a:latin typeface="Arial"/>
                        </a:rPr>
                        <a:t>BAU initiative</a:t>
                      </a:r>
                      <a:endParaRPr lang="en-US" sz="1000">
                        <a:solidFill>
                          <a:srgbClr val="000000"/>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kern="1200" noProof="0">
                          <a:solidFill>
                            <a:srgbClr val="000000"/>
                          </a:solidFill>
                          <a:latin typeface="Arial"/>
                        </a:rPr>
                        <a:t>6 months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kern="1200" noProof="0">
                          <a:solidFill>
                            <a:schemeClr val="tx1"/>
                          </a:solidFill>
                          <a:latin typeface="Arial"/>
                        </a:rPr>
                        <a:t>2027 </a:t>
                      </a:r>
                      <a:r>
                        <a:rPr lang="en-US" sz="1000" b="1" i="0" u="none" strike="noStrike" kern="1200" noProof="0">
                          <a:solidFill>
                            <a:schemeClr val="tx1"/>
                          </a:solidFill>
                          <a:latin typeface="Arial"/>
                        </a:rPr>
                        <a:t>Q3 - Q4</a:t>
                      </a:r>
                      <a:endParaRPr lang="en-US" sz="1000" b="0" i="0" u="none" strike="noStrike" kern="1200" noProof="0">
                        <a:solidFill>
                          <a:schemeClr val="tx1"/>
                        </a:solidFill>
                        <a:latin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lumMod val="95000"/>
                      </a:schemeClr>
                    </a:solidFill>
                  </a:tcPr>
                </a:tc>
                <a:extLst>
                  <a:ext uri="{0D108BD9-81ED-4DB2-BD59-A6C34878D82A}">
                    <a16:rowId xmlns:a16="http://schemas.microsoft.com/office/drawing/2014/main" val="641508960"/>
                  </a:ext>
                </a:extLst>
              </a:tr>
            </a:tbl>
          </a:graphicData>
        </a:graphic>
      </p:graphicFrame>
      <p:sp>
        <p:nvSpPr>
          <p:cNvPr id="3" name="TextBox 6">
            <a:extLst>
              <a:ext uri="{FF2B5EF4-FFF2-40B4-BE49-F238E27FC236}">
                <a16:creationId xmlns:a16="http://schemas.microsoft.com/office/drawing/2014/main" id="{713941F4-72E8-F4FD-4273-5C08E2268274}"/>
              </a:ext>
            </a:extLst>
          </p:cNvPr>
          <p:cNvSpPr txBox="1"/>
          <p:nvPr/>
        </p:nvSpPr>
        <p:spPr>
          <a:xfrm>
            <a:off x="3025637" y="5978408"/>
            <a:ext cx="5955665" cy="138499"/>
          </a:xfrm>
          <a:prstGeom prst="rect">
            <a:avLst/>
          </a:prstGeom>
          <a:ln w="6350">
            <a:noFill/>
            <a:miter lim="800000"/>
          </a:ln>
        </p:spPr>
        <p:txBody>
          <a:bodyPr vert="horz" wrap="square" lIns="0" tIns="0" rIns="0" bIns="0" rtlCol="0" anchor="b">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81" rtl="0" eaLnBrk="1" fontAlgn="auto" latinLnBrk="0" hangingPunct="1">
              <a:lnSpc>
                <a:spcPct val="100000"/>
              </a:lnSpc>
              <a:spcBef>
                <a:spcPts val="300"/>
              </a:spcBef>
              <a:spcAft>
                <a:spcPts val="300"/>
              </a:spcAft>
              <a:buClrTx/>
              <a:buSzTx/>
              <a:buFontTx/>
              <a:buNone/>
              <a:tabLst/>
              <a:defRPr/>
            </a:pPr>
            <a:r>
              <a:rPr kumimoji="0" lang="en-CA" sz="900" b="0" i="0" u="none" strike="noStrike" kern="1200" cap="none" spc="0" normalizeH="0" baseline="0" noProof="0">
                <a:ln>
                  <a:noFill/>
                </a:ln>
                <a:solidFill>
                  <a:srgbClr val="515349"/>
                </a:solidFill>
                <a:effectLst/>
                <a:uLnTx/>
                <a:uFillTx/>
                <a:latin typeface="Arial"/>
                <a:ea typeface="+mn-ea"/>
                <a:cs typeface="+mn-cs"/>
              </a:rPr>
              <a:t>Labour estimates: Small: 1 - 2 months – 1 FTE, Medium: 3 - 6 months – 1 FTE, Large: &gt; 6 months - 1 FTE</a:t>
            </a:r>
            <a:endParaRPr kumimoji="0" lang="en-US" sz="900" b="0" i="0" u="none" strike="noStrike" kern="1200" cap="none" spc="0" normalizeH="0" baseline="0" noProof="0">
              <a:ln>
                <a:noFill/>
              </a:ln>
              <a:solidFill>
                <a:srgbClr val="515349"/>
              </a:solidFill>
              <a:effectLst/>
              <a:uLnTx/>
              <a:uFillTx/>
              <a:latin typeface="Arial"/>
              <a:ea typeface="+mn-ea"/>
              <a:cs typeface="+mn-cs"/>
            </a:endParaRPr>
          </a:p>
        </p:txBody>
      </p:sp>
    </p:spTree>
    <p:extLst>
      <p:ext uri="{BB962C8B-B14F-4D97-AF65-F5344CB8AC3E}">
        <p14:creationId xmlns:p14="http://schemas.microsoft.com/office/powerpoint/2010/main" val="40845883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B3357-975C-C1D2-FDF0-84C74116984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3001F5D-A2F1-F770-B38C-BE2049BEB221}"/>
              </a:ext>
            </a:extLst>
          </p:cNvPr>
          <p:cNvSpPr>
            <a:spLocks noGrp="1"/>
          </p:cNvSpPr>
          <p:nvPr>
            <p:ph type="ftr" sz="quarter" idx="11"/>
          </p:nvPr>
        </p:nvSpPr>
        <p:spPr/>
        <p:txBody>
          <a:bodyPr/>
          <a:lstStyle/>
          <a:p>
            <a:r>
              <a:rPr lang="en-CA"/>
              <a:t>CONFIDENTIAL</a:t>
            </a:r>
          </a:p>
        </p:txBody>
      </p:sp>
      <p:sp>
        <p:nvSpPr>
          <p:cNvPr id="3" name="TextBox 2">
            <a:extLst>
              <a:ext uri="{FF2B5EF4-FFF2-40B4-BE49-F238E27FC236}">
                <a16:creationId xmlns:a16="http://schemas.microsoft.com/office/drawing/2014/main" id="{C74EF680-F228-16D0-3ECF-65581FADBBD5}"/>
              </a:ext>
            </a:extLst>
          </p:cNvPr>
          <p:cNvSpPr txBox="1"/>
          <p:nvPr/>
        </p:nvSpPr>
        <p:spPr>
          <a:xfrm>
            <a:off x="4797136" y="2900795"/>
            <a:ext cx="2831523" cy="677108"/>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US" sz="3200">
                <a:solidFill>
                  <a:srgbClr val="BA0C2F"/>
                </a:solidFill>
                <a:latin typeface="Arial"/>
              </a:rPr>
              <a:t>Appendix</a:t>
            </a:r>
            <a:endParaRPr lang="en-US" sz="3200">
              <a:cs typeface="Arial"/>
            </a:endParaRPr>
          </a:p>
          <a:p>
            <a:pPr marL="228600" indent="-228600" algn="l">
              <a:spcAft>
                <a:spcPts val="500"/>
              </a:spcAft>
              <a:buFont typeface="Arial" panose="020B0604020202020204" pitchFamily="34" charset="0"/>
              <a:buChar char="•"/>
            </a:pPr>
            <a:endParaRPr lang="en-US" sz="1200"/>
          </a:p>
        </p:txBody>
      </p:sp>
    </p:spTree>
    <p:extLst>
      <p:ext uri="{BB962C8B-B14F-4D97-AF65-F5344CB8AC3E}">
        <p14:creationId xmlns:p14="http://schemas.microsoft.com/office/powerpoint/2010/main" val="34029746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4AEEA-9335-FC2B-68E5-B331BF74D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0307CF-2450-B4E5-65E3-30CD8E0FE336}"/>
              </a:ext>
            </a:extLst>
          </p:cNvPr>
          <p:cNvSpPr>
            <a:spLocks noGrp="1"/>
          </p:cNvSpPr>
          <p:nvPr>
            <p:ph type="title"/>
          </p:nvPr>
        </p:nvSpPr>
        <p:spPr/>
        <p:txBody>
          <a:bodyPr/>
          <a:lstStyle/>
          <a:p>
            <a:r>
              <a:rPr lang="en-US"/>
              <a:t>Cloud Foundations Roadmap : Business Value</a:t>
            </a:r>
          </a:p>
        </p:txBody>
      </p:sp>
      <p:sp>
        <p:nvSpPr>
          <p:cNvPr id="4" name="Footer Placeholder 3">
            <a:extLst>
              <a:ext uri="{FF2B5EF4-FFF2-40B4-BE49-F238E27FC236}">
                <a16:creationId xmlns:a16="http://schemas.microsoft.com/office/drawing/2014/main" id="{D24A582A-E9E3-1A6F-C562-934925C17E36}"/>
              </a:ext>
            </a:extLst>
          </p:cNvPr>
          <p:cNvSpPr>
            <a:spLocks noGrp="1"/>
          </p:cNvSpPr>
          <p:nvPr>
            <p:ph type="ftr" sz="quarter" idx="11"/>
          </p:nvPr>
        </p:nvSpPr>
        <p:spPr/>
        <p:txBody>
          <a:bodyPr/>
          <a:lstStyle/>
          <a:p>
            <a:r>
              <a:rPr lang="en-CA"/>
              <a:t>CONFIDENTIAL</a:t>
            </a:r>
          </a:p>
        </p:txBody>
      </p:sp>
      <p:sp>
        <p:nvSpPr>
          <p:cNvPr id="5" name="Date Placeholder 4">
            <a:extLst>
              <a:ext uri="{FF2B5EF4-FFF2-40B4-BE49-F238E27FC236}">
                <a16:creationId xmlns:a16="http://schemas.microsoft.com/office/drawing/2014/main" id="{E9853A9E-3ECD-5C9B-766F-210CD62E9F5B}"/>
              </a:ext>
            </a:extLst>
          </p:cNvPr>
          <p:cNvSpPr>
            <a:spLocks noGrp="1"/>
          </p:cNvSpPr>
          <p:nvPr>
            <p:ph type="dt" sz="half" idx="13"/>
          </p:nvPr>
        </p:nvSpPr>
        <p:spPr/>
        <p:txBody>
          <a:bodyPr/>
          <a:lstStyle/>
          <a:p>
            <a:fld id="{DFC179E5-4269-44D4-A984-C57F7029D15D}" type="datetime1">
              <a:rPr lang="en-US" smtClean="0"/>
              <a:t>7/31/2026</a:t>
            </a:fld>
            <a:endParaRPr lang="en-CA"/>
          </a:p>
        </p:txBody>
      </p:sp>
      <p:sp>
        <p:nvSpPr>
          <p:cNvPr id="6" name="Rectangle 5">
            <a:extLst>
              <a:ext uri="{FF2B5EF4-FFF2-40B4-BE49-F238E27FC236}">
                <a16:creationId xmlns:a16="http://schemas.microsoft.com/office/drawing/2014/main" id="{8C4BD296-1D33-0DB4-3833-8196F76C922D}"/>
              </a:ext>
            </a:extLst>
          </p:cNvPr>
          <p:cNvSpPr/>
          <p:nvPr/>
        </p:nvSpPr>
        <p:spPr>
          <a:xfrm>
            <a:off x="6826311" y="2594345"/>
            <a:ext cx="4906979" cy="36216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sz="1000">
              <a:solidFill>
                <a:srgbClr val="000000"/>
              </a:solidFill>
            </a:endParaRPr>
          </a:p>
          <a:p>
            <a:endParaRPr lang="en-US" sz="1000">
              <a:solidFill>
                <a:srgbClr val="000000"/>
              </a:solidFill>
            </a:endParaRPr>
          </a:p>
          <a:p>
            <a:endParaRPr lang="en-US" sz="1000">
              <a:solidFill>
                <a:srgbClr val="000000"/>
              </a:solidFill>
            </a:endParaRPr>
          </a:p>
          <a:p>
            <a:r>
              <a:rPr lang="en-US" sz="1000">
                <a:solidFill>
                  <a:srgbClr val="000000"/>
                </a:solidFill>
              </a:rPr>
              <a:t>Cloud Service Catalog &amp; Enablement governs access to approved cloud solutions while making it easy to discover and adopt new capabilities. Key benefits:</a:t>
            </a:r>
            <a:endParaRPr lang="en-US" sz="1000">
              <a:solidFill>
                <a:srgbClr val="000000"/>
              </a:solidFill>
              <a:cs typeface="Arial"/>
            </a:endParaRPr>
          </a:p>
          <a:p>
            <a:pPr marL="171450" indent="-171450">
              <a:buFont typeface="Arial" panose="020B0604020202020204" pitchFamily="34" charset="0"/>
              <a:buChar char="•"/>
            </a:pPr>
            <a:r>
              <a:rPr lang="en-US" sz="1000">
                <a:solidFill>
                  <a:srgbClr val="000000"/>
                </a:solidFill>
              </a:rPr>
              <a:t>Governance: Only pre-vetted, compliant services are available for business use, reducing risk.</a:t>
            </a:r>
            <a:endParaRPr lang="en-US" sz="1000">
              <a:solidFill>
                <a:srgbClr val="000000"/>
              </a:solidFill>
              <a:cs typeface="Arial"/>
            </a:endParaRPr>
          </a:p>
          <a:p>
            <a:pPr marL="171450" indent="-171450">
              <a:buFont typeface="Arial" panose="020B0604020202020204" pitchFamily="34" charset="0"/>
              <a:buChar char="•"/>
            </a:pPr>
            <a:r>
              <a:rPr lang="en-US" sz="1000">
                <a:solidFill>
                  <a:srgbClr val="000000"/>
                </a:solidFill>
              </a:rPr>
              <a:t>Discoverability: Teams can quickly find and utilize available services without lengthy approval cycles.</a:t>
            </a:r>
            <a:endParaRPr lang="en-US" sz="1000">
              <a:solidFill>
                <a:srgbClr val="000000"/>
              </a:solidFill>
              <a:cs typeface="Arial"/>
            </a:endParaRPr>
          </a:p>
          <a:p>
            <a:pPr marL="171450" indent="-171450">
              <a:buFont typeface="Arial" panose="020B0604020202020204" pitchFamily="34" charset="0"/>
              <a:buChar char="•"/>
            </a:pPr>
            <a:r>
              <a:rPr lang="en-US" sz="1000">
                <a:solidFill>
                  <a:srgbClr val="000000"/>
                </a:solidFill>
              </a:rPr>
              <a:t>Duplicate services: Reduces unauthorized service usage by providing a transparent, curated catalog.</a:t>
            </a:r>
            <a:endParaRPr lang="en-US" sz="1000">
              <a:solidFill>
                <a:srgbClr val="000000"/>
              </a:solidFill>
              <a:cs typeface="Arial"/>
            </a:endParaRPr>
          </a:p>
          <a:p>
            <a:pPr marL="171450" indent="-171450">
              <a:buFont typeface="Arial" panose="020B0604020202020204" pitchFamily="34" charset="0"/>
              <a:buChar char="•"/>
            </a:pPr>
            <a:r>
              <a:rPr lang="en-US" sz="1000">
                <a:solidFill>
                  <a:srgbClr val="000000"/>
                </a:solidFill>
              </a:rPr>
              <a:t>Security : Integrated approval workflows ensure security personnel review and authorize all new catalog services.</a:t>
            </a:r>
            <a:endParaRPr lang="en-US" sz="1000">
              <a:solidFill>
                <a:srgbClr val="000000"/>
              </a:solidFill>
              <a:cs typeface="Arial" panose="020B0604020202020204"/>
            </a:endParaRPr>
          </a:p>
          <a:p>
            <a:endParaRPr lang="en-US" sz="1000">
              <a:solidFill>
                <a:srgbClr val="000000"/>
              </a:solidFill>
            </a:endParaRPr>
          </a:p>
          <a:p>
            <a:r>
              <a:rPr lang="en-US" sz="1000">
                <a:solidFill>
                  <a:srgbClr val="000000"/>
                </a:solidFill>
              </a:rPr>
              <a:t>Cloud Migration Enablement accelerates secure and risk-managed migration to cloud by providing frameworks, automation, and support for all 7Rs migration strategies. Key benefits:</a:t>
            </a:r>
            <a:endParaRPr lang="en-US" sz="1000">
              <a:solidFill>
                <a:srgbClr val="000000"/>
              </a:solidFill>
              <a:cs typeface="Arial"/>
            </a:endParaRPr>
          </a:p>
          <a:p>
            <a:pPr marL="171450" indent="-171450">
              <a:buFont typeface="Arial" panose="020B0604020202020204" pitchFamily="34" charset="0"/>
              <a:buChar char="•"/>
            </a:pPr>
            <a:r>
              <a:rPr lang="en-US" sz="1000">
                <a:solidFill>
                  <a:srgbClr val="000000"/>
                </a:solidFill>
              </a:rPr>
              <a:t>Accelerated Migration: Simplifies and expedites moving legacy workloads to strategic cloud platforms.</a:t>
            </a:r>
            <a:endParaRPr lang="en-US" sz="1000">
              <a:solidFill>
                <a:srgbClr val="000000"/>
              </a:solidFill>
              <a:cs typeface="Arial"/>
            </a:endParaRPr>
          </a:p>
          <a:p>
            <a:pPr marL="171450" indent="-171450">
              <a:buFont typeface="Arial" panose="020B0604020202020204" pitchFamily="34" charset="0"/>
              <a:buChar char="•"/>
            </a:pPr>
            <a:r>
              <a:rPr lang="en-US" sz="1000">
                <a:solidFill>
                  <a:srgbClr val="000000"/>
                </a:solidFill>
              </a:rPr>
              <a:t>Reduced Risk: Structured migrations minimize downtime, maintain business continuity and setting up Azure Migrate and AWS Migration Hub factories.</a:t>
            </a:r>
            <a:endParaRPr lang="en-US" sz="1000">
              <a:solidFill>
                <a:srgbClr val="000000"/>
              </a:solidFill>
              <a:cs typeface="Arial"/>
            </a:endParaRPr>
          </a:p>
          <a:p>
            <a:pPr marL="171450" indent="-171450">
              <a:buFont typeface="Arial" panose="020B0604020202020204" pitchFamily="34" charset="0"/>
              <a:buChar char="•"/>
            </a:pPr>
            <a:r>
              <a:rPr lang="en-US" sz="1000">
                <a:solidFill>
                  <a:srgbClr val="000000"/>
                </a:solidFill>
              </a:rPr>
              <a:t>Strategic Alignment: Ensures migrations are guided by 7Rs and workload placement frameworks and business priorities.</a:t>
            </a:r>
            <a:endParaRPr lang="en-US" sz="1000">
              <a:solidFill>
                <a:srgbClr val="000000"/>
              </a:solidFill>
              <a:cs typeface="Arial"/>
            </a:endParaRPr>
          </a:p>
          <a:p>
            <a:pPr marL="171450" indent="-171450">
              <a:buFont typeface="Arial" panose="020B0604020202020204" pitchFamily="34" charset="0"/>
              <a:buChar char="•"/>
            </a:pPr>
            <a:endParaRPr lang="en-US" sz="1000">
              <a:solidFill>
                <a:srgbClr val="000000"/>
              </a:solidFill>
            </a:endParaRPr>
          </a:p>
          <a:p>
            <a:pPr marL="171450" indent="-171450">
              <a:buFont typeface="Arial" panose="020B0604020202020204" pitchFamily="34" charset="0"/>
              <a:buChar char="•"/>
            </a:pPr>
            <a:endParaRPr lang="en-US" sz="1000">
              <a:solidFill>
                <a:srgbClr val="000000"/>
              </a:solidFill>
            </a:endParaRPr>
          </a:p>
          <a:p>
            <a:endParaRPr lang="en-US" sz="1000">
              <a:solidFill>
                <a:srgbClr val="000000"/>
              </a:solidFill>
            </a:endParaRPr>
          </a:p>
          <a:p>
            <a:pPr algn="ctr"/>
            <a:endParaRPr lang="en-US" sz="1000">
              <a:solidFill>
                <a:srgbClr val="000000"/>
              </a:solidFill>
            </a:endParaRPr>
          </a:p>
        </p:txBody>
      </p:sp>
      <p:sp>
        <p:nvSpPr>
          <p:cNvPr id="13" name="Rectangle 12">
            <a:extLst>
              <a:ext uri="{FF2B5EF4-FFF2-40B4-BE49-F238E27FC236}">
                <a16:creationId xmlns:a16="http://schemas.microsoft.com/office/drawing/2014/main" id="{BDDD0977-6BF8-2870-E8CF-60E5F6C8DF71}"/>
              </a:ext>
            </a:extLst>
          </p:cNvPr>
          <p:cNvSpPr/>
          <p:nvPr/>
        </p:nvSpPr>
        <p:spPr>
          <a:xfrm>
            <a:off x="4952245" y="3121182"/>
            <a:ext cx="1692998" cy="61563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lumMod val="50000"/>
                  </a:schemeClr>
                </a:solidFill>
              </a:rPr>
              <a:t>Cloud Service Catalog &amp; Enablement</a:t>
            </a:r>
          </a:p>
        </p:txBody>
      </p:sp>
      <p:sp>
        <p:nvSpPr>
          <p:cNvPr id="14" name="Rectangle 13">
            <a:extLst>
              <a:ext uri="{FF2B5EF4-FFF2-40B4-BE49-F238E27FC236}">
                <a16:creationId xmlns:a16="http://schemas.microsoft.com/office/drawing/2014/main" id="{3640B67D-7C0E-D400-2AAE-F377606302BB}"/>
              </a:ext>
            </a:extLst>
          </p:cNvPr>
          <p:cNvSpPr/>
          <p:nvPr/>
        </p:nvSpPr>
        <p:spPr>
          <a:xfrm>
            <a:off x="4952245" y="4843508"/>
            <a:ext cx="1692998" cy="61563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lumMod val="50000"/>
                  </a:schemeClr>
                </a:solidFill>
              </a:rPr>
              <a:t>Cloud Migration Enablement</a:t>
            </a:r>
          </a:p>
        </p:txBody>
      </p:sp>
      <p:cxnSp>
        <p:nvCxnSpPr>
          <p:cNvPr id="16" name="Straight Connector 15">
            <a:extLst>
              <a:ext uri="{FF2B5EF4-FFF2-40B4-BE49-F238E27FC236}">
                <a16:creationId xmlns:a16="http://schemas.microsoft.com/office/drawing/2014/main" id="{6C822996-18C5-8715-B459-5C4507ADA682}"/>
              </a:ext>
            </a:extLst>
          </p:cNvPr>
          <p:cNvCxnSpPr>
            <a:cxnSpLocks/>
          </p:cNvCxnSpPr>
          <p:nvPr/>
        </p:nvCxnSpPr>
        <p:spPr>
          <a:xfrm>
            <a:off x="4952245" y="4397738"/>
            <a:ext cx="6781045"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72FEC0D-C7A3-933F-BDBF-E52E1D18255D}"/>
              </a:ext>
            </a:extLst>
          </p:cNvPr>
          <p:cNvCxnSpPr>
            <a:cxnSpLocks/>
          </p:cNvCxnSpPr>
          <p:nvPr/>
        </p:nvCxnSpPr>
        <p:spPr>
          <a:xfrm>
            <a:off x="380999" y="2594344"/>
            <a:ext cx="11423905"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Content Placeholder 2">
            <a:extLst>
              <a:ext uri="{FF2B5EF4-FFF2-40B4-BE49-F238E27FC236}">
                <a16:creationId xmlns:a16="http://schemas.microsoft.com/office/drawing/2014/main" id="{0F576C30-C4BB-5710-6ADC-72532FB271BC}"/>
              </a:ext>
            </a:extLst>
          </p:cNvPr>
          <p:cNvSpPr>
            <a:spLocks noGrp="1"/>
          </p:cNvSpPr>
          <p:nvPr>
            <p:ph idx="1"/>
          </p:nvPr>
        </p:nvSpPr>
        <p:spPr>
          <a:xfrm>
            <a:off x="384048" y="1182307"/>
            <a:ext cx="11430263" cy="761147"/>
          </a:xfrm>
        </p:spPr>
        <p:txBody>
          <a:bodyPr vert="horz" lIns="0" tIns="0" rIns="0" bIns="0" rtlCol="0" anchor="t">
            <a:normAutofit/>
          </a:bodyPr>
          <a:lstStyle/>
          <a:p>
            <a:pPr>
              <a:buNone/>
            </a:pPr>
            <a:r>
              <a:rPr lang="en-US" sz="1200">
                <a:solidFill>
                  <a:srgbClr val="000000"/>
                </a:solidFill>
              </a:rPr>
              <a:t>For Capability Mapping, I&amp;O roadmaps are mapped to the Canada Life Technology Capability model.  </a:t>
            </a:r>
            <a:endParaRPr lang="en-US" sz="1200">
              <a:solidFill>
                <a:srgbClr val="000000"/>
              </a:solidFill>
              <a:cs typeface="Arial"/>
            </a:endParaRPr>
          </a:p>
          <a:p>
            <a:pPr>
              <a:buFont typeface="Arial,Sans-Serif"/>
              <a:buChar char="•"/>
            </a:pPr>
            <a:r>
              <a:rPr lang="en-US" sz="1200">
                <a:solidFill>
                  <a:srgbClr val="000000"/>
                </a:solidFill>
              </a:rPr>
              <a:t>The Canada Life Technology Capability model is based on the Technology Business Management (TBM) taxonomy.</a:t>
            </a:r>
            <a:endParaRPr lang="en-US" sz="1200">
              <a:solidFill>
                <a:srgbClr val="000000"/>
              </a:solidFill>
              <a:cs typeface="Arial"/>
            </a:endParaRPr>
          </a:p>
          <a:p>
            <a:pPr>
              <a:buFont typeface="Arial,Sans-Serif"/>
              <a:buChar char="•"/>
            </a:pPr>
            <a:r>
              <a:rPr lang="en-US" sz="1200">
                <a:solidFill>
                  <a:srgbClr val="000000"/>
                </a:solidFill>
              </a:rPr>
              <a:t>Level 1 - 3 are standardized TBM taxonomy names, Level 4 are Canada Life specific modifications.</a:t>
            </a:r>
            <a:endParaRPr lang="en-US" sz="1200">
              <a:solidFill>
                <a:srgbClr val="000000"/>
              </a:solidFill>
              <a:cs typeface="Arial"/>
            </a:endParaRPr>
          </a:p>
          <a:p>
            <a:pPr marL="0" indent="0">
              <a:buNone/>
            </a:pPr>
            <a:endParaRPr lang="en-US" sz="1200"/>
          </a:p>
        </p:txBody>
      </p:sp>
      <p:sp>
        <p:nvSpPr>
          <p:cNvPr id="19" name="TextBox 18">
            <a:extLst>
              <a:ext uri="{FF2B5EF4-FFF2-40B4-BE49-F238E27FC236}">
                <a16:creationId xmlns:a16="http://schemas.microsoft.com/office/drawing/2014/main" id="{3F9AAAC0-BA5B-D67C-001D-A438A1F65A1E}"/>
              </a:ext>
            </a:extLst>
          </p:cNvPr>
          <p:cNvSpPr txBox="1"/>
          <p:nvPr/>
        </p:nvSpPr>
        <p:spPr>
          <a:xfrm>
            <a:off x="373944" y="2341308"/>
            <a:ext cx="11437055" cy="153888"/>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000" b="1">
                <a:solidFill>
                  <a:srgbClr val="000000"/>
                </a:solidFill>
                <a:cs typeface="Arial"/>
              </a:rPr>
              <a:t>   L1 Capability                 L2 Capability                           L3 Capability                      L4 Service Category                                                                        Description</a:t>
            </a:r>
            <a:endParaRPr lang="en-US" sz="1000">
              <a:solidFill>
                <a:srgbClr val="000000"/>
              </a:solidFill>
              <a:cs typeface="Arial"/>
            </a:endParaRPr>
          </a:p>
        </p:txBody>
      </p:sp>
      <p:sp>
        <p:nvSpPr>
          <p:cNvPr id="21" name="TextBox 20">
            <a:extLst>
              <a:ext uri="{FF2B5EF4-FFF2-40B4-BE49-F238E27FC236}">
                <a16:creationId xmlns:a16="http://schemas.microsoft.com/office/drawing/2014/main" id="{63BB60DB-ABEF-C4BA-1CC1-173E41A7BFA8}"/>
              </a:ext>
            </a:extLst>
          </p:cNvPr>
          <p:cNvSpPr txBox="1"/>
          <p:nvPr/>
        </p:nvSpPr>
        <p:spPr>
          <a:xfrm>
            <a:off x="376296" y="2033216"/>
            <a:ext cx="6096000" cy="192360"/>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CA" sz="1250" b="1" i="0" u="none" strike="noStrike" baseline="0">
                <a:solidFill>
                  <a:srgbClr val="000000"/>
                </a:solidFill>
                <a:latin typeface="Arial"/>
                <a:ea typeface="Arial"/>
                <a:cs typeface="Arial"/>
              </a:rPr>
              <a:t>Technology categorization with descriptions:</a:t>
            </a:r>
            <a:r>
              <a:rPr sz="1250" b="0" i="0">
                <a:solidFill>
                  <a:srgbClr val="000000"/>
                </a:solidFill>
                <a:latin typeface="Arial"/>
                <a:ea typeface="Arial"/>
                <a:cs typeface="Arial"/>
              </a:rPr>
              <a:t>​</a:t>
            </a:r>
            <a:endParaRPr lang="en-US">
              <a:solidFill>
                <a:srgbClr val="000000"/>
              </a:solidFill>
              <a:cs typeface="Arial"/>
            </a:endParaRPr>
          </a:p>
        </p:txBody>
      </p:sp>
      <p:sp>
        <p:nvSpPr>
          <p:cNvPr id="23" name="Rectangle 22">
            <a:extLst>
              <a:ext uri="{FF2B5EF4-FFF2-40B4-BE49-F238E27FC236}">
                <a16:creationId xmlns:a16="http://schemas.microsoft.com/office/drawing/2014/main" id="{C4A25A0C-9E17-ECB1-3787-30F8C34BDA07}"/>
              </a:ext>
            </a:extLst>
          </p:cNvPr>
          <p:cNvSpPr/>
          <p:nvPr/>
        </p:nvSpPr>
        <p:spPr>
          <a:xfrm>
            <a:off x="380999" y="2630314"/>
            <a:ext cx="949859" cy="3303761"/>
          </a:xfrm>
          <a:prstGeom prst="rect">
            <a:avLst/>
          </a:prstGeom>
          <a:solidFill>
            <a:srgbClr val="BA0C2F"/>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a:solidFill>
                  <a:schemeClr val="bg1"/>
                </a:solidFill>
              </a:rPr>
              <a:t>Delivery</a:t>
            </a:r>
            <a:endParaRPr lang="en-US">
              <a:solidFill>
                <a:schemeClr val="bg1"/>
              </a:solidFill>
            </a:endParaRPr>
          </a:p>
        </p:txBody>
      </p:sp>
      <p:sp>
        <p:nvSpPr>
          <p:cNvPr id="25" name="Rectangle 24">
            <a:extLst>
              <a:ext uri="{FF2B5EF4-FFF2-40B4-BE49-F238E27FC236}">
                <a16:creationId xmlns:a16="http://schemas.microsoft.com/office/drawing/2014/main" id="{561C4E2E-370E-539B-80B1-395117AEEC19}"/>
              </a:ext>
            </a:extLst>
          </p:cNvPr>
          <p:cNvSpPr/>
          <p:nvPr/>
        </p:nvSpPr>
        <p:spPr>
          <a:xfrm>
            <a:off x="1447799" y="2630314"/>
            <a:ext cx="1603219" cy="3303761"/>
          </a:xfrm>
          <a:prstGeom prst="rect">
            <a:avLst/>
          </a:prstGeom>
          <a:solidFill>
            <a:schemeClr val="accent1"/>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a:solidFill>
                  <a:srgbClr val="000000"/>
                </a:solidFill>
              </a:rPr>
              <a:t>Enabling Platforms</a:t>
            </a:r>
            <a:endParaRPr lang="en-US"/>
          </a:p>
        </p:txBody>
      </p:sp>
      <p:sp>
        <p:nvSpPr>
          <p:cNvPr id="27" name="Rectangle 26">
            <a:extLst>
              <a:ext uri="{FF2B5EF4-FFF2-40B4-BE49-F238E27FC236}">
                <a16:creationId xmlns:a16="http://schemas.microsoft.com/office/drawing/2014/main" id="{5918DA10-9DA5-0936-C952-AA48B0B8FA64}"/>
              </a:ext>
            </a:extLst>
          </p:cNvPr>
          <p:cNvSpPr/>
          <p:nvPr/>
        </p:nvSpPr>
        <p:spPr>
          <a:xfrm>
            <a:off x="3167959" y="2630314"/>
            <a:ext cx="1603219" cy="3303761"/>
          </a:xfrm>
          <a:prstGeom prst="rect">
            <a:avLst/>
          </a:prstGeom>
          <a:solidFill>
            <a:schemeClr val="bg2">
              <a:lumMod val="90000"/>
            </a:schemeClr>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a:solidFill>
                  <a:srgbClr val="000000"/>
                </a:solidFill>
              </a:rPr>
              <a:t>Foundation Platform</a:t>
            </a:r>
            <a:endParaRPr lang="en-US"/>
          </a:p>
        </p:txBody>
      </p:sp>
    </p:spTree>
    <p:extLst>
      <p:ext uri="{BB962C8B-B14F-4D97-AF65-F5344CB8AC3E}">
        <p14:creationId xmlns:p14="http://schemas.microsoft.com/office/powerpoint/2010/main" val="42757300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BEE2D-FCB9-C09F-87C2-A93A2087A5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61064B-C484-E17B-1265-C9EC1E474638}"/>
              </a:ext>
            </a:extLst>
          </p:cNvPr>
          <p:cNvSpPr>
            <a:spLocks noGrp="1"/>
          </p:cNvSpPr>
          <p:nvPr>
            <p:ph type="title"/>
          </p:nvPr>
        </p:nvSpPr>
        <p:spPr/>
        <p:txBody>
          <a:bodyPr/>
          <a:lstStyle/>
          <a:p>
            <a:r>
              <a:rPr lang="en-US"/>
              <a:t>Cloud Foundations Roadmap : Business Value</a:t>
            </a:r>
          </a:p>
        </p:txBody>
      </p:sp>
      <p:sp>
        <p:nvSpPr>
          <p:cNvPr id="4" name="Footer Placeholder 3">
            <a:extLst>
              <a:ext uri="{FF2B5EF4-FFF2-40B4-BE49-F238E27FC236}">
                <a16:creationId xmlns:a16="http://schemas.microsoft.com/office/drawing/2014/main" id="{BEC3A04D-ED97-7258-7FEF-1E5C56A4BC2E}"/>
              </a:ext>
            </a:extLst>
          </p:cNvPr>
          <p:cNvSpPr>
            <a:spLocks noGrp="1"/>
          </p:cNvSpPr>
          <p:nvPr>
            <p:ph type="ftr" sz="quarter" idx="11"/>
          </p:nvPr>
        </p:nvSpPr>
        <p:spPr/>
        <p:txBody>
          <a:bodyPr/>
          <a:lstStyle/>
          <a:p>
            <a:r>
              <a:rPr lang="en-CA"/>
              <a:t>CONFIDENTIAL</a:t>
            </a:r>
          </a:p>
        </p:txBody>
      </p:sp>
      <p:sp>
        <p:nvSpPr>
          <p:cNvPr id="5" name="Date Placeholder 4">
            <a:extLst>
              <a:ext uri="{FF2B5EF4-FFF2-40B4-BE49-F238E27FC236}">
                <a16:creationId xmlns:a16="http://schemas.microsoft.com/office/drawing/2014/main" id="{9C126B36-86E9-7792-10BE-2952AD2A3EFA}"/>
              </a:ext>
            </a:extLst>
          </p:cNvPr>
          <p:cNvSpPr>
            <a:spLocks noGrp="1"/>
          </p:cNvSpPr>
          <p:nvPr>
            <p:ph type="dt" sz="half" idx="13"/>
          </p:nvPr>
        </p:nvSpPr>
        <p:spPr/>
        <p:txBody>
          <a:bodyPr/>
          <a:lstStyle/>
          <a:p>
            <a:fld id="{DFC179E5-4269-44D4-A984-C57F7029D15D}" type="datetime1">
              <a:rPr lang="en-US" smtClean="0"/>
              <a:t>7/31/2026</a:t>
            </a:fld>
            <a:endParaRPr lang="en-CA"/>
          </a:p>
        </p:txBody>
      </p:sp>
      <p:sp>
        <p:nvSpPr>
          <p:cNvPr id="6" name="Rectangle 5">
            <a:extLst>
              <a:ext uri="{FF2B5EF4-FFF2-40B4-BE49-F238E27FC236}">
                <a16:creationId xmlns:a16="http://schemas.microsoft.com/office/drawing/2014/main" id="{0D94DE9C-6F5A-55C2-475E-48C659F63ABB}"/>
              </a:ext>
            </a:extLst>
          </p:cNvPr>
          <p:cNvSpPr/>
          <p:nvPr/>
        </p:nvSpPr>
        <p:spPr>
          <a:xfrm>
            <a:off x="6826311" y="2716037"/>
            <a:ext cx="4906979" cy="33037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rgbClr val="000000"/>
              </a:solidFill>
            </a:endParaRPr>
          </a:p>
          <a:p>
            <a:endParaRPr lang="en-US" sz="1000">
              <a:solidFill>
                <a:srgbClr val="000000"/>
              </a:solidFill>
            </a:endParaRPr>
          </a:p>
          <a:p>
            <a:endParaRPr lang="en-US" sz="1000">
              <a:solidFill>
                <a:srgbClr val="000000"/>
              </a:solidFill>
            </a:endParaRPr>
          </a:p>
          <a:p>
            <a:r>
              <a:rPr lang="en-US" sz="1000">
                <a:solidFill>
                  <a:srgbClr val="000000"/>
                </a:solidFill>
              </a:rPr>
              <a:t>Container Platform Enablement delivers value through strategic platform alignment, operational consistency, and efficient transition. Key benefits:</a:t>
            </a:r>
          </a:p>
          <a:p>
            <a:endParaRPr lang="en-US" sz="1000">
              <a:solidFill>
                <a:srgbClr val="000000"/>
              </a:solidFill>
            </a:endParaRPr>
          </a:p>
          <a:p>
            <a:pPr marL="171450" indent="-171450">
              <a:buFont typeface="Arial" panose="020B0604020202020204" pitchFamily="34" charset="0"/>
              <a:buChar char="•"/>
            </a:pPr>
            <a:r>
              <a:rPr lang="en-US" sz="1000">
                <a:solidFill>
                  <a:srgbClr val="000000"/>
                </a:solidFill>
              </a:rPr>
              <a:t>Streamlined Operations: Focuses investment and skills on AWS and Azure, lowering complexity and support costs.</a:t>
            </a:r>
          </a:p>
          <a:p>
            <a:pPr marL="171450" indent="-171450">
              <a:buFont typeface="Arial" panose="020B0604020202020204" pitchFamily="34" charset="0"/>
              <a:buChar char="•"/>
            </a:pPr>
            <a:r>
              <a:rPr lang="en-US" sz="1000">
                <a:solidFill>
                  <a:srgbClr val="000000"/>
                </a:solidFill>
              </a:rPr>
              <a:t>Platform Transition: Manages GCP/GKE retirement and orchestrates safe migrations to EKS/AKS.</a:t>
            </a:r>
          </a:p>
          <a:p>
            <a:pPr marL="171450" indent="-171450">
              <a:buFont typeface="Arial" panose="020B0604020202020204" pitchFamily="34" charset="0"/>
              <a:buChar char="•"/>
            </a:pPr>
            <a:r>
              <a:rPr lang="en-US" sz="1000">
                <a:solidFill>
                  <a:srgbClr val="000000"/>
                </a:solidFill>
              </a:rPr>
              <a:t>Long-Term Sustainability: Reduces technical debt and sprawl by consolidating onto supported platforms.</a:t>
            </a:r>
          </a:p>
          <a:p>
            <a:endParaRPr lang="en-US" sz="1000">
              <a:solidFill>
                <a:srgbClr val="000000"/>
              </a:solidFill>
            </a:endParaRPr>
          </a:p>
          <a:p>
            <a:endParaRPr lang="en-US" sz="1000">
              <a:solidFill>
                <a:srgbClr val="000000"/>
              </a:solidFill>
            </a:endParaRPr>
          </a:p>
          <a:p>
            <a:r>
              <a:rPr lang="en-US" sz="1000">
                <a:solidFill>
                  <a:srgbClr val="000000"/>
                </a:solidFill>
              </a:rPr>
              <a:t>Cloud Governance &amp; Workload Placement Framework ensures that all cloud adoption decisions maximize value while minimizing risk. Key benefits:</a:t>
            </a:r>
          </a:p>
          <a:p>
            <a:endParaRPr lang="en-US" sz="1000">
              <a:solidFill>
                <a:srgbClr val="000000"/>
              </a:solidFill>
            </a:endParaRPr>
          </a:p>
          <a:p>
            <a:pPr marL="171450" indent="-171450">
              <a:buFont typeface="Arial" panose="020B0604020202020204" pitchFamily="34" charset="0"/>
              <a:buChar char="•"/>
            </a:pPr>
            <a:r>
              <a:rPr lang="en-US" sz="1000">
                <a:solidFill>
                  <a:srgbClr val="000000"/>
                </a:solidFill>
              </a:rPr>
              <a:t>Decision Assurance: Guides strategic placement of workloads for performance, security, and value.</a:t>
            </a:r>
          </a:p>
          <a:p>
            <a:pPr marL="171450" indent="-171450">
              <a:buFont typeface="Arial" panose="020B0604020202020204" pitchFamily="34" charset="0"/>
              <a:buChar char="•"/>
            </a:pPr>
            <a:r>
              <a:rPr lang="en-US" sz="1000">
                <a:solidFill>
                  <a:srgbClr val="000000"/>
                </a:solidFill>
              </a:rPr>
              <a:t>Risk Management: Controls data residency, cost, and compliance risks through standardized criteria.</a:t>
            </a:r>
          </a:p>
          <a:p>
            <a:pPr marL="171450" indent="-171450">
              <a:buFont typeface="Arial" panose="020B0604020202020204" pitchFamily="34" charset="0"/>
              <a:buChar char="•"/>
            </a:pPr>
            <a:r>
              <a:rPr lang="en-US" sz="1000">
                <a:solidFill>
                  <a:srgbClr val="000000"/>
                </a:solidFill>
              </a:rPr>
              <a:t>Transparency: Ensures all placement processes are auditable, consistent, and aligned to business requirements.</a:t>
            </a:r>
          </a:p>
          <a:p>
            <a:pPr marL="171450" indent="-171450">
              <a:buFont typeface="Arial" panose="020B0604020202020204" pitchFamily="34" charset="0"/>
              <a:buChar char="•"/>
            </a:pPr>
            <a:endParaRPr lang="en-US" sz="1000">
              <a:solidFill>
                <a:srgbClr val="000000"/>
              </a:solidFill>
            </a:endParaRPr>
          </a:p>
          <a:p>
            <a:endParaRPr lang="en-US" sz="1000">
              <a:solidFill>
                <a:srgbClr val="000000"/>
              </a:solidFill>
            </a:endParaRPr>
          </a:p>
          <a:p>
            <a:pPr algn="ctr"/>
            <a:endParaRPr lang="en-US" sz="1000">
              <a:solidFill>
                <a:srgbClr val="000000"/>
              </a:solidFill>
            </a:endParaRPr>
          </a:p>
        </p:txBody>
      </p:sp>
      <p:cxnSp>
        <p:nvCxnSpPr>
          <p:cNvPr id="16" name="Straight Connector 15">
            <a:extLst>
              <a:ext uri="{FF2B5EF4-FFF2-40B4-BE49-F238E27FC236}">
                <a16:creationId xmlns:a16="http://schemas.microsoft.com/office/drawing/2014/main" id="{3E4EBDDC-B37C-6D53-D0BC-D3A0B7A1CA23}"/>
              </a:ext>
            </a:extLst>
          </p:cNvPr>
          <p:cNvCxnSpPr>
            <a:cxnSpLocks/>
          </p:cNvCxnSpPr>
          <p:nvPr/>
        </p:nvCxnSpPr>
        <p:spPr>
          <a:xfrm>
            <a:off x="4952245" y="4367917"/>
            <a:ext cx="6781045" cy="1"/>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0A9C39A4-DF9C-0BD3-CEEC-474650B104DB}"/>
              </a:ext>
            </a:extLst>
          </p:cNvPr>
          <p:cNvSpPr/>
          <p:nvPr/>
        </p:nvSpPr>
        <p:spPr>
          <a:xfrm>
            <a:off x="4925084" y="3259812"/>
            <a:ext cx="1692998" cy="61563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rgbClr val="000000"/>
                </a:solidFill>
              </a:rPr>
              <a:t>Cloud Container Platform Enablement</a:t>
            </a:r>
          </a:p>
        </p:txBody>
      </p:sp>
      <p:sp>
        <p:nvSpPr>
          <p:cNvPr id="11" name="Rectangle 10">
            <a:extLst>
              <a:ext uri="{FF2B5EF4-FFF2-40B4-BE49-F238E27FC236}">
                <a16:creationId xmlns:a16="http://schemas.microsoft.com/office/drawing/2014/main" id="{BF316F85-BE63-1314-2383-A34312A17695}"/>
              </a:ext>
            </a:extLst>
          </p:cNvPr>
          <p:cNvSpPr/>
          <p:nvPr/>
        </p:nvSpPr>
        <p:spPr>
          <a:xfrm>
            <a:off x="4952245" y="4843508"/>
            <a:ext cx="1692998" cy="61563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rgbClr val="000000"/>
                </a:solidFill>
              </a:rPr>
              <a:t>Cloud Governance &amp; Workload Placement Framework</a:t>
            </a:r>
          </a:p>
        </p:txBody>
      </p:sp>
      <p:cxnSp>
        <p:nvCxnSpPr>
          <p:cNvPr id="12" name="Straight Connector 11">
            <a:extLst>
              <a:ext uri="{FF2B5EF4-FFF2-40B4-BE49-F238E27FC236}">
                <a16:creationId xmlns:a16="http://schemas.microsoft.com/office/drawing/2014/main" id="{0851031A-4BDE-9266-A6CB-95C749111D13}"/>
              </a:ext>
            </a:extLst>
          </p:cNvPr>
          <p:cNvCxnSpPr>
            <a:cxnSpLocks/>
          </p:cNvCxnSpPr>
          <p:nvPr/>
        </p:nvCxnSpPr>
        <p:spPr>
          <a:xfrm>
            <a:off x="380999" y="2594344"/>
            <a:ext cx="11423905"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C7A5561C-2771-91A7-248E-131B04032A2B}"/>
              </a:ext>
            </a:extLst>
          </p:cNvPr>
          <p:cNvSpPr>
            <a:spLocks noGrp="1"/>
          </p:cNvSpPr>
          <p:nvPr>
            <p:ph idx="1"/>
          </p:nvPr>
        </p:nvSpPr>
        <p:spPr>
          <a:xfrm>
            <a:off x="384048" y="1182307"/>
            <a:ext cx="11430263" cy="761147"/>
          </a:xfrm>
        </p:spPr>
        <p:txBody>
          <a:bodyPr vert="horz" lIns="0" tIns="0" rIns="0" bIns="0" rtlCol="0" anchor="t">
            <a:normAutofit/>
          </a:bodyPr>
          <a:lstStyle/>
          <a:p>
            <a:pPr>
              <a:buNone/>
            </a:pPr>
            <a:r>
              <a:rPr lang="en-US" sz="1200">
                <a:solidFill>
                  <a:srgbClr val="000000"/>
                </a:solidFill>
              </a:rPr>
              <a:t>For Capability Mapping, I&amp;O roadmaps are mapped to the Canada Life Technology Capability model.  </a:t>
            </a:r>
            <a:endParaRPr lang="en-US" sz="1200">
              <a:solidFill>
                <a:srgbClr val="000000"/>
              </a:solidFill>
              <a:cs typeface="Arial"/>
            </a:endParaRPr>
          </a:p>
          <a:p>
            <a:pPr>
              <a:buFont typeface="Arial,Sans-Serif"/>
              <a:buChar char="•"/>
            </a:pPr>
            <a:r>
              <a:rPr lang="en-US" sz="1200">
                <a:solidFill>
                  <a:srgbClr val="000000"/>
                </a:solidFill>
              </a:rPr>
              <a:t>The Canada Life Technology Capability model is based on the Technology Business Management (TBM) taxonomy.</a:t>
            </a:r>
            <a:endParaRPr lang="en-US" sz="1200">
              <a:solidFill>
                <a:srgbClr val="000000"/>
              </a:solidFill>
              <a:cs typeface="Arial"/>
            </a:endParaRPr>
          </a:p>
          <a:p>
            <a:pPr>
              <a:buFont typeface="Arial,Sans-Serif"/>
              <a:buChar char="•"/>
            </a:pPr>
            <a:r>
              <a:rPr lang="en-US" sz="1200">
                <a:solidFill>
                  <a:srgbClr val="000000"/>
                </a:solidFill>
              </a:rPr>
              <a:t>Level 1 - 3 are standardized TBM taxonomy names, Level 4 are Canada Life specific modifications.</a:t>
            </a:r>
            <a:endParaRPr lang="en-US" sz="1200">
              <a:solidFill>
                <a:srgbClr val="000000"/>
              </a:solidFill>
              <a:cs typeface="Arial"/>
            </a:endParaRPr>
          </a:p>
          <a:p>
            <a:pPr marL="0" indent="0">
              <a:buNone/>
            </a:pPr>
            <a:endParaRPr lang="en-US" sz="1200"/>
          </a:p>
        </p:txBody>
      </p:sp>
      <p:sp>
        <p:nvSpPr>
          <p:cNvPr id="18" name="TextBox 17">
            <a:extLst>
              <a:ext uri="{FF2B5EF4-FFF2-40B4-BE49-F238E27FC236}">
                <a16:creationId xmlns:a16="http://schemas.microsoft.com/office/drawing/2014/main" id="{DF0AC71C-7D81-60A8-1FFD-82919AE4F970}"/>
              </a:ext>
            </a:extLst>
          </p:cNvPr>
          <p:cNvSpPr txBox="1"/>
          <p:nvPr/>
        </p:nvSpPr>
        <p:spPr>
          <a:xfrm>
            <a:off x="373944" y="2341308"/>
            <a:ext cx="11437055" cy="153888"/>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000" b="1">
                <a:solidFill>
                  <a:srgbClr val="000000"/>
                </a:solidFill>
                <a:cs typeface="Arial"/>
              </a:rPr>
              <a:t>   L1 Capability                 L2 Capability                           L3 Capability                      L4 Service Category                                                                        Description</a:t>
            </a:r>
            <a:endParaRPr lang="en-US" sz="1000">
              <a:solidFill>
                <a:srgbClr val="000000"/>
              </a:solidFill>
              <a:cs typeface="Arial"/>
            </a:endParaRPr>
          </a:p>
        </p:txBody>
      </p:sp>
      <p:sp>
        <p:nvSpPr>
          <p:cNvPr id="21" name="TextBox 20">
            <a:extLst>
              <a:ext uri="{FF2B5EF4-FFF2-40B4-BE49-F238E27FC236}">
                <a16:creationId xmlns:a16="http://schemas.microsoft.com/office/drawing/2014/main" id="{61CBC61D-710D-5B11-4ADF-94FC3C07FB78}"/>
              </a:ext>
            </a:extLst>
          </p:cNvPr>
          <p:cNvSpPr txBox="1"/>
          <p:nvPr/>
        </p:nvSpPr>
        <p:spPr>
          <a:xfrm>
            <a:off x="376296" y="2033216"/>
            <a:ext cx="6096000" cy="192360"/>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CA" sz="1250" b="1" i="0" u="none" strike="noStrike" baseline="0">
                <a:solidFill>
                  <a:srgbClr val="000000"/>
                </a:solidFill>
                <a:latin typeface="Arial"/>
                <a:ea typeface="Arial"/>
                <a:cs typeface="Arial"/>
              </a:rPr>
              <a:t>Technology categorization with descriptions:</a:t>
            </a:r>
            <a:r>
              <a:rPr sz="1250" b="0" i="0">
                <a:solidFill>
                  <a:srgbClr val="000000"/>
                </a:solidFill>
                <a:latin typeface="Arial"/>
                <a:ea typeface="Arial"/>
                <a:cs typeface="Arial"/>
              </a:rPr>
              <a:t>​</a:t>
            </a:r>
            <a:endParaRPr lang="en-US">
              <a:solidFill>
                <a:srgbClr val="000000"/>
              </a:solidFill>
              <a:cs typeface="Arial"/>
            </a:endParaRPr>
          </a:p>
        </p:txBody>
      </p:sp>
      <p:sp>
        <p:nvSpPr>
          <p:cNvPr id="23" name="Rectangle 22">
            <a:extLst>
              <a:ext uri="{FF2B5EF4-FFF2-40B4-BE49-F238E27FC236}">
                <a16:creationId xmlns:a16="http://schemas.microsoft.com/office/drawing/2014/main" id="{6F063B66-D01E-0E90-7253-E0A61B05EBD4}"/>
              </a:ext>
            </a:extLst>
          </p:cNvPr>
          <p:cNvSpPr/>
          <p:nvPr/>
        </p:nvSpPr>
        <p:spPr>
          <a:xfrm>
            <a:off x="380999" y="2630314"/>
            <a:ext cx="949859" cy="3303761"/>
          </a:xfrm>
          <a:prstGeom prst="rect">
            <a:avLst/>
          </a:prstGeom>
          <a:solidFill>
            <a:srgbClr val="BA0C2F"/>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a:solidFill>
                  <a:schemeClr val="bg1"/>
                </a:solidFill>
              </a:rPr>
              <a:t>Delivery</a:t>
            </a:r>
            <a:endParaRPr lang="en-US">
              <a:solidFill>
                <a:schemeClr val="bg1"/>
              </a:solidFill>
            </a:endParaRPr>
          </a:p>
        </p:txBody>
      </p:sp>
      <p:sp>
        <p:nvSpPr>
          <p:cNvPr id="25" name="Rectangle 24">
            <a:extLst>
              <a:ext uri="{FF2B5EF4-FFF2-40B4-BE49-F238E27FC236}">
                <a16:creationId xmlns:a16="http://schemas.microsoft.com/office/drawing/2014/main" id="{D66D7B8D-E6C0-D94A-7E3A-FF2EDEEB38DA}"/>
              </a:ext>
            </a:extLst>
          </p:cNvPr>
          <p:cNvSpPr/>
          <p:nvPr/>
        </p:nvSpPr>
        <p:spPr>
          <a:xfrm>
            <a:off x="1447799" y="2630314"/>
            <a:ext cx="1603219" cy="3303761"/>
          </a:xfrm>
          <a:prstGeom prst="rect">
            <a:avLst/>
          </a:prstGeom>
          <a:solidFill>
            <a:schemeClr val="accent1"/>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a:solidFill>
                  <a:srgbClr val="000000"/>
                </a:solidFill>
              </a:rPr>
              <a:t>Enabling Platforms</a:t>
            </a:r>
            <a:endParaRPr lang="en-US"/>
          </a:p>
        </p:txBody>
      </p:sp>
      <p:sp>
        <p:nvSpPr>
          <p:cNvPr id="27" name="Rectangle 26">
            <a:extLst>
              <a:ext uri="{FF2B5EF4-FFF2-40B4-BE49-F238E27FC236}">
                <a16:creationId xmlns:a16="http://schemas.microsoft.com/office/drawing/2014/main" id="{29D01AA8-0DFA-EB6D-457C-46DCA72E5BCC}"/>
              </a:ext>
            </a:extLst>
          </p:cNvPr>
          <p:cNvSpPr/>
          <p:nvPr/>
        </p:nvSpPr>
        <p:spPr>
          <a:xfrm>
            <a:off x="3167959" y="2630314"/>
            <a:ext cx="1603219" cy="3303761"/>
          </a:xfrm>
          <a:prstGeom prst="rect">
            <a:avLst/>
          </a:prstGeom>
          <a:solidFill>
            <a:schemeClr val="bg2">
              <a:lumMod val="90000"/>
            </a:schemeClr>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a:solidFill>
                  <a:srgbClr val="000000"/>
                </a:solidFill>
              </a:rPr>
              <a:t>Foundation Platform</a:t>
            </a:r>
            <a:endParaRPr lang="en-US"/>
          </a:p>
        </p:txBody>
      </p:sp>
    </p:spTree>
    <p:extLst>
      <p:ext uri="{BB962C8B-B14F-4D97-AF65-F5344CB8AC3E}">
        <p14:creationId xmlns:p14="http://schemas.microsoft.com/office/powerpoint/2010/main" val="31948189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A47C5-DAD8-FF4C-4FEB-E8B6B4DE6A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56309D-D959-BCA3-279C-3A6812077D20}"/>
              </a:ext>
            </a:extLst>
          </p:cNvPr>
          <p:cNvSpPr>
            <a:spLocks noGrp="1"/>
          </p:cNvSpPr>
          <p:nvPr>
            <p:ph type="title"/>
          </p:nvPr>
        </p:nvSpPr>
        <p:spPr/>
        <p:txBody>
          <a:bodyPr/>
          <a:lstStyle/>
          <a:p>
            <a:r>
              <a:rPr lang="en-US"/>
              <a:t>Cloud Foundations Roadmap : Business Value</a:t>
            </a:r>
          </a:p>
        </p:txBody>
      </p:sp>
      <p:sp>
        <p:nvSpPr>
          <p:cNvPr id="4" name="Footer Placeholder 3">
            <a:extLst>
              <a:ext uri="{FF2B5EF4-FFF2-40B4-BE49-F238E27FC236}">
                <a16:creationId xmlns:a16="http://schemas.microsoft.com/office/drawing/2014/main" id="{3E931563-2B99-4081-E5A1-EBCDB1746E7A}"/>
              </a:ext>
            </a:extLst>
          </p:cNvPr>
          <p:cNvSpPr>
            <a:spLocks noGrp="1"/>
          </p:cNvSpPr>
          <p:nvPr>
            <p:ph type="ftr" sz="quarter" idx="11"/>
          </p:nvPr>
        </p:nvSpPr>
        <p:spPr/>
        <p:txBody>
          <a:bodyPr/>
          <a:lstStyle/>
          <a:p>
            <a:r>
              <a:rPr lang="en-CA"/>
              <a:t>CONFIDENTIAL</a:t>
            </a:r>
          </a:p>
        </p:txBody>
      </p:sp>
      <p:sp>
        <p:nvSpPr>
          <p:cNvPr id="5" name="Date Placeholder 4">
            <a:extLst>
              <a:ext uri="{FF2B5EF4-FFF2-40B4-BE49-F238E27FC236}">
                <a16:creationId xmlns:a16="http://schemas.microsoft.com/office/drawing/2014/main" id="{403CFC48-93FA-DBBE-1EC3-E21EF35DF872}"/>
              </a:ext>
            </a:extLst>
          </p:cNvPr>
          <p:cNvSpPr>
            <a:spLocks noGrp="1"/>
          </p:cNvSpPr>
          <p:nvPr>
            <p:ph type="dt" sz="half" idx="13"/>
          </p:nvPr>
        </p:nvSpPr>
        <p:spPr/>
        <p:txBody>
          <a:bodyPr/>
          <a:lstStyle/>
          <a:p>
            <a:fld id="{DFC179E5-4269-44D4-A984-C57F7029D15D}" type="datetime1">
              <a:rPr lang="en-US" smtClean="0"/>
              <a:t>7/31/2026</a:t>
            </a:fld>
            <a:endParaRPr lang="en-CA"/>
          </a:p>
        </p:txBody>
      </p:sp>
      <p:sp>
        <p:nvSpPr>
          <p:cNvPr id="6" name="Rectangle 5">
            <a:extLst>
              <a:ext uri="{FF2B5EF4-FFF2-40B4-BE49-F238E27FC236}">
                <a16:creationId xmlns:a16="http://schemas.microsoft.com/office/drawing/2014/main" id="{8CB31F6D-EC15-809E-63C9-B4344126453C}"/>
              </a:ext>
            </a:extLst>
          </p:cNvPr>
          <p:cNvSpPr/>
          <p:nvPr/>
        </p:nvSpPr>
        <p:spPr>
          <a:xfrm>
            <a:off x="6826311" y="2716037"/>
            <a:ext cx="4906979" cy="33037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a:solidFill>
                <a:srgbClr val="000000"/>
              </a:solidFill>
            </a:endParaRPr>
          </a:p>
          <a:p>
            <a:endParaRPr lang="en-US" sz="1000">
              <a:solidFill>
                <a:srgbClr val="000000"/>
              </a:solidFill>
            </a:endParaRPr>
          </a:p>
          <a:p>
            <a:r>
              <a:rPr lang="en-US" sz="1000">
                <a:solidFill>
                  <a:srgbClr val="000000"/>
                </a:solidFill>
              </a:rPr>
              <a:t>Cloud Platform Provisioning &amp; Landing Zones deliver business value by enabling automated, secure, and policy-compliant set up of cloud environments for rapid business onboarding and innovation. Key benefits:</a:t>
            </a:r>
          </a:p>
          <a:p>
            <a:pPr marL="171450" indent="-171450">
              <a:buFont typeface="Arial" panose="020B0604020202020204" pitchFamily="34" charset="0"/>
              <a:buChar char="•"/>
            </a:pPr>
            <a:r>
              <a:rPr lang="en-US" sz="1000">
                <a:solidFill>
                  <a:srgbClr val="000000"/>
                </a:solidFill>
              </a:rPr>
              <a:t>Faster Enablement: Rapid provisioning reduces time-to-market for new business workloads and projects, improving agility.</a:t>
            </a:r>
          </a:p>
          <a:p>
            <a:pPr marL="171450" indent="-171450">
              <a:buFont typeface="Arial" panose="020B0604020202020204" pitchFamily="34" charset="0"/>
              <a:buChar char="•"/>
            </a:pPr>
            <a:r>
              <a:rPr lang="en-US" sz="1000">
                <a:solidFill>
                  <a:srgbClr val="000000"/>
                </a:solidFill>
              </a:rPr>
              <a:t>Standardization: Every cloud environment is compliant by default, reducing configuration drift and audit effort. </a:t>
            </a:r>
          </a:p>
          <a:p>
            <a:pPr marL="171450" indent="-171450">
              <a:buFont typeface="Arial" panose="020B0604020202020204" pitchFamily="34" charset="0"/>
              <a:buChar char="•"/>
            </a:pPr>
            <a:r>
              <a:rPr lang="en-US" sz="1000">
                <a:solidFill>
                  <a:srgbClr val="000000"/>
                </a:solidFill>
              </a:rPr>
              <a:t>Resource Efficiency: Automation reduces manual setup, allowing teams to focus on higher-value business initiatives.</a:t>
            </a:r>
          </a:p>
          <a:p>
            <a:pPr marL="171450" indent="-171450">
              <a:buFont typeface="Arial" panose="020B0604020202020204" pitchFamily="34" charset="0"/>
              <a:buChar char="•"/>
            </a:pPr>
            <a:r>
              <a:rPr lang="en-US" sz="1000">
                <a:solidFill>
                  <a:srgbClr val="000000"/>
                </a:solidFill>
              </a:rPr>
              <a:t>Risk Reduction &amp; Security : Integrated security controls and approval checks ensure all provisioned environments adhere to organizational security standards.</a:t>
            </a:r>
          </a:p>
          <a:p>
            <a:endParaRPr lang="en-US" sz="1000">
              <a:solidFill>
                <a:srgbClr val="000000"/>
              </a:solidFill>
            </a:endParaRPr>
          </a:p>
          <a:p>
            <a:r>
              <a:rPr lang="en-US" sz="1000" err="1">
                <a:solidFill>
                  <a:srgbClr val="000000"/>
                </a:solidFill>
              </a:rPr>
              <a:t>IaC</a:t>
            </a:r>
            <a:r>
              <a:rPr lang="en-US" sz="1000">
                <a:solidFill>
                  <a:srgbClr val="000000"/>
                </a:solidFill>
              </a:rPr>
              <a:t> &amp; Platform Automation enhance operational efficiency and consistency by automating environment provisioning and management. Key benefits:</a:t>
            </a:r>
          </a:p>
          <a:p>
            <a:pPr marL="171450" indent="-171450">
              <a:buFont typeface="Arial" panose="020B0604020202020204" pitchFamily="34" charset="0"/>
              <a:buChar char="•"/>
            </a:pPr>
            <a:r>
              <a:rPr lang="en-US" sz="1000">
                <a:solidFill>
                  <a:srgbClr val="000000"/>
                </a:solidFill>
              </a:rPr>
              <a:t>Reliable Operations: Automation mitigates human error and ensures consistent, repeatable deployments across all platforms.</a:t>
            </a:r>
          </a:p>
          <a:p>
            <a:pPr marL="171450" indent="-171450">
              <a:buFont typeface="Arial" panose="020B0604020202020204" pitchFamily="34" charset="0"/>
              <a:buChar char="•"/>
            </a:pPr>
            <a:r>
              <a:rPr lang="en-US" sz="1000">
                <a:solidFill>
                  <a:srgbClr val="000000"/>
                </a:solidFill>
              </a:rPr>
              <a:t>Accelerated Delivery: Quick responses to business demands allow scaling and adjustments in minutes instead of days.</a:t>
            </a:r>
          </a:p>
          <a:p>
            <a:pPr marL="171450" indent="-171450">
              <a:buFont typeface="Arial" panose="020B0604020202020204" pitchFamily="34" charset="0"/>
              <a:buChar char="•"/>
            </a:pPr>
            <a:r>
              <a:rPr lang="en-US" sz="1000">
                <a:solidFill>
                  <a:srgbClr val="000000"/>
                </a:solidFill>
              </a:rPr>
              <a:t>Increased Productivity: Frees technical staff from manual tasks, so they can focus on innovation and optimization.</a:t>
            </a:r>
          </a:p>
          <a:p>
            <a:endParaRPr lang="en-US" sz="1000">
              <a:solidFill>
                <a:srgbClr val="000000"/>
              </a:solidFill>
            </a:endParaRPr>
          </a:p>
          <a:p>
            <a:pPr algn="ctr"/>
            <a:endParaRPr lang="en-US" sz="1000">
              <a:solidFill>
                <a:srgbClr val="000000"/>
              </a:solidFill>
            </a:endParaRPr>
          </a:p>
        </p:txBody>
      </p:sp>
      <p:cxnSp>
        <p:nvCxnSpPr>
          <p:cNvPr id="16" name="Straight Connector 15">
            <a:extLst>
              <a:ext uri="{FF2B5EF4-FFF2-40B4-BE49-F238E27FC236}">
                <a16:creationId xmlns:a16="http://schemas.microsoft.com/office/drawing/2014/main" id="{B30F3734-A5D7-8EDF-655D-E408180F8CDC}"/>
              </a:ext>
            </a:extLst>
          </p:cNvPr>
          <p:cNvCxnSpPr>
            <a:cxnSpLocks/>
          </p:cNvCxnSpPr>
          <p:nvPr/>
        </p:nvCxnSpPr>
        <p:spPr>
          <a:xfrm>
            <a:off x="4952245" y="4597111"/>
            <a:ext cx="6781045" cy="1"/>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D00A1B9-7BB6-447B-BFF3-0AA5D7EF3EDF}"/>
              </a:ext>
            </a:extLst>
          </p:cNvPr>
          <p:cNvSpPr/>
          <p:nvPr/>
        </p:nvSpPr>
        <p:spPr>
          <a:xfrm>
            <a:off x="4952245" y="3121182"/>
            <a:ext cx="1692998" cy="61563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lumMod val="50000"/>
                  </a:schemeClr>
                </a:solidFill>
              </a:rPr>
              <a:t>Cloud Platform Provisioning &amp; Landing Zones</a:t>
            </a:r>
          </a:p>
        </p:txBody>
      </p:sp>
      <p:sp>
        <p:nvSpPr>
          <p:cNvPr id="15" name="Rectangle 14">
            <a:extLst>
              <a:ext uri="{FF2B5EF4-FFF2-40B4-BE49-F238E27FC236}">
                <a16:creationId xmlns:a16="http://schemas.microsoft.com/office/drawing/2014/main" id="{5FBE74C0-AC8F-90B8-9865-051545D86E49}"/>
              </a:ext>
            </a:extLst>
          </p:cNvPr>
          <p:cNvSpPr/>
          <p:nvPr/>
        </p:nvSpPr>
        <p:spPr>
          <a:xfrm>
            <a:off x="4952246" y="4863215"/>
            <a:ext cx="1692998" cy="61563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lumMod val="50000"/>
                  </a:schemeClr>
                </a:solidFill>
              </a:rPr>
              <a:t>Infrastructure as Code &amp; Platform Automation</a:t>
            </a:r>
          </a:p>
        </p:txBody>
      </p:sp>
      <p:cxnSp>
        <p:nvCxnSpPr>
          <p:cNvPr id="17" name="Straight Connector 16">
            <a:extLst>
              <a:ext uri="{FF2B5EF4-FFF2-40B4-BE49-F238E27FC236}">
                <a16:creationId xmlns:a16="http://schemas.microsoft.com/office/drawing/2014/main" id="{6438978B-75EF-924C-3A64-602F440C4DF8}"/>
              </a:ext>
            </a:extLst>
          </p:cNvPr>
          <p:cNvCxnSpPr>
            <a:cxnSpLocks/>
          </p:cNvCxnSpPr>
          <p:nvPr/>
        </p:nvCxnSpPr>
        <p:spPr>
          <a:xfrm>
            <a:off x="380999" y="2594344"/>
            <a:ext cx="11423905"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20610B29-9515-0951-E0A0-6594D852A89B}"/>
              </a:ext>
            </a:extLst>
          </p:cNvPr>
          <p:cNvSpPr>
            <a:spLocks noGrp="1"/>
          </p:cNvSpPr>
          <p:nvPr>
            <p:ph idx="1"/>
          </p:nvPr>
        </p:nvSpPr>
        <p:spPr>
          <a:xfrm>
            <a:off x="384048" y="1182307"/>
            <a:ext cx="11430263" cy="761147"/>
          </a:xfrm>
        </p:spPr>
        <p:txBody>
          <a:bodyPr vert="horz" lIns="0" tIns="0" rIns="0" bIns="0" rtlCol="0" anchor="t">
            <a:normAutofit/>
          </a:bodyPr>
          <a:lstStyle/>
          <a:p>
            <a:pPr>
              <a:buNone/>
            </a:pPr>
            <a:r>
              <a:rPr lang="en-US" sz="1200">
                <a:solidFill>
                  <a:srgbClr val="000000"/>
                </a:solidFill>
              </a:rPr>
              <a:t>For Capability Mapping, I&amp;O roadmaps are mapped to the Canada Life Technology Capability model.  </a:t>
            </a:r>
            <a:endParaRPr lang="en-US" sz="1200">
              <a:solidFill>
                <a:srgbClr val="000000"/>
              </a:solidFill>
              <a:cs typeface="Arial"/>
            </a:endParaRPr>
          </a:p>
          <a:p>
            <a:pPr>
              <a:buFont typeface="Arial,Sans-Serif"/>
              <a:buChar char="•"/>
            </a:pPr>
            <a:r>
              <a:rPr lang="en-US" sz="1200">
                <a:solidFill>
                  <a:srgbClr val="000000"/>
                </a:solidFill>
              </a:rPr>
              <a:t>The Canada Life Technology Capability model is based on the Technology Business Management (TBM) taxonomy.</a:t>
            </a:r>
            <a:endParaRPr lang="en-US" sz="1200">
              <a:solidFill>
                <a:srgbClr val="000000"/>
              </a:solidFill>
              <a:cs typeface="Arial"/>
            </a:endParaRPr>
          </a:p>
          <a:p>
            <a:pPr>
              <a:buFont typeface="Arial,Sans-Serif"/>
              <a:buChar char="•"/>
            </a:pPr>
            <a:r>
              <a:rPr lang="en-US" sz="1200">
                <a:solidFill>
                  <a:srgbClr val="000000"/>
                </a:solidFill>
              </a:rPr>
              <a:t>Level 1 - 3 are standardized TBM taxonomy names, Level 4 are Canada Life specific modifications.</a:t>
            </a:r>
            <a:endParaRPr lang="en-US" sz="1200">
              <a:solidFill>
                <a:srgbClr val="000000"/>
              </a:solidFill>
              <a:cs typeface="Arial"/>
            </a:endParaRPr>
          </a:p>
          <a:p>
            <a:pPr marL="0" indent="0">
              <a:buNone/>
            </a:pPr>
            <a:endParaRPr lang="en-US" sz="1200"/>
          </a:p>
        </p:txBody>
      </p:sp>
      <p:sp>
        <p:nvSpPr>
          <p:cNvPr id="14" name="TextBox 13">
            <a:extLst>
              <a:ext uri="{FF2B5EF4-FFF2-40B4-BE49-F238E27FC236}">
                <a16:creationId xmlns:a16="http://schemas.microsoft.com/office/drawing/2014/main" id="{2D2A6AD2-4660-1CC1-A694-F5746BF518D2}"/>
              </a:ext>
            </a:extLst>
          </p:cNvPr>
          <p:cNvSpPr txBox="1"/>
          <p:nvPr/>
        </p:nvSpPr>
        <p:spPr>
          <a:xfrm>
            <a:off x="373944" y="2341308"/>
            <a:ext cx="11437055" cy="153888"/>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000" b="1">
                <a:solidFill>
                  <a:srgbClr val="000000"/>
                </a:solidFill>
                <a:cs typeface="Arial"/>
              </a:rPr>
              <a:t>   L1 Capability                 L2 Capability                           L3 Capability                      L4 Service Category                                                                        Description</a:t>
            </a:r>
            <a:endParaRPr lang="en-US" sz="1000">
              <a:solidFill>
                <a:srgbClr val="000000"/>
              </a:solidFill>
              <a:cs typeface="Arial"/>
            </a:endParaRPr>
          </a:p>
        </p:txBody>
      </p:sp>
      <p:sp>
        <p:nvSpPr>
          <p:cNvPr id="21" name="TextBox 20">
            <a:extLst>
              <a:ext uri="{FF2B5EF4-FFF2-40B4-BE49-F238E27FC236}">
                <a16:creationId xmlns:a16="http://schemas.microsoft.com/office/drawing/2014/main" id="{8D09EBC3-4B12-C423-86B6-5E1698CDE42E}"/>
              </a:ext>
            </a:extLst>
          </p:cNvPr>
          <p:cNvSpPr txBox="1"/>
          <p:nvPr/>
        </p:nvSpPr>
        <p:spPr>
          <a:xfrm>
            <a:off x="376296" y="2033216"/>
            <a:ext cx="6096000" cy="192360"/>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CA" sz="1250" b="1" i="0" u="none" strike="noStrike" baseline="0">
                <a:solidFill>
                  <a:srgbClr val="000000"/>
                </a:solidFill>
                <a:latin typeface="Arial"/>
                <a:ea typeface="Arial"/>
                <a:cs typeface="Arial"/>
              </a:rPr>
              <a:t>Technology categorization with descriptions:</a:t>
            </a:r>
            <a:r>
              <a:rPr sz="1250" b="0" i="0">
                <a:solidFill>
                  <a:srgbClr val="000000"/>
                </a:solidFill>
                <a:latin typeface="Arial"/>
                <a:ea typeface="Arial"/>
                <a:cs typeface="Arial"/>
              </a:rPr>
              <a:t>​</a:t>
            </a:r>
            <a:endParaRPr lang="en-US">
              <a:solidFill>
                <a:srgbClr val="000000"/>
              </a:solidFill>
              <a:cs typeface="Arial"/>
            </a:endParaRPr>
          </a:p>
        </p:txBody>
      </p:sp>
      <p:sp>
        <p:nvSpPr>
          <p:cNvPr id="23" name="Rectangle 22">
            <a:extLst>
              <a:ext uri="{FF2B5EF4-FFF2-40B4-BE49-F238E27FC236}">
                <a16:creationId xmlns:a16="http://schemas.microsoft.com/office/drawing/2014/main" id="{1109544B-20C0-6CF5-5916-4AFF24017F9B}"/>
              </a:ext>
            </a:extLst>
          </p:cNvPr>
          <p:cNvSpPr/>
          <p:nvPr/>
        </p:nvSpPr>
        <p:spPr>
          <a:xfrm>
            <a:off x="380999" y="2630314"/>
            <a:ext cx="949859" cy="3303761"/>
          </a:xfrm>
          <a:prstGeom prst="rect">
            <a:avLst/>
          </a:prstGeom>
          <a:solidFill>
            <a:srgbClr val="BA0C2F"/>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a:solidFill>
                  <a:schemeClr val="bg1"/>
                </a:solidFill>
              </a:rPr>
              <a:t>Delivery</a:t>
            </a:r>
            <a:endParaRPr lang="en-US">
              <a:solidFill>
                <a:schemeClr val="bg1"/>
              </a:solidFill>
            </a:endParaRPr>
          </a:p>
        </p:txBody>
      </p:sp>
      <p:sp>
        <p:nvSpPr>
          <p:cNvPr id="25" name="Rectangle 24">
            <a:extLst>
              <a:ext uri="{FF2B5EF4-FFF2-40B4-BE49-F238E27FC236}">
                <a16:creationId xmlns:a16="http://schemas.microsoft.com/office/drawing/2014/main" id="{CD7A5970-7533-AE33-C9D8-8CB2FD52769A}"/>
              </a:ext>
            </a:extLst>
          </p:cNvPr>
          <p:cNvSpPr/>
          <p:nvPr/>
        </p:nvSpPr>
        <p:spPr>
          <a:xfrm>
            <a:off x="1447799" y="2630314"/>
            <a:ext cx="1603219" cy="3303761"/>
          </a:xfrm>
          <a:prstGeom prst="rect">
            <a:avLst/>
          </a:prstGeom>
          <a:solidFill>
            <a:schemeClr val="accent1"/>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a:solidFill>
                  <a:srgbClr val="000000"/>
                </a:solidFill>
              </a:rPr>
              <a:t>Enabling Platforms</a:t>
            </a:r>
            <a:endParaRPr lang="en-US"/>
          </a:p>
        </p:txBody>
      </p:sp>
      <p:sp>
        <p:nvSpPr>
          <p:cNvPr id="27" name="Rectangle 26">
            <a:extLst>
              <a:ext uri="{FF2B5EF4-FFF2-40B4-BE49-F238E27FC236}">
                <a16:creationId xmlns:a16="http://schemas.microsoft.com/office/drawing/2014/main" id="{2BA80E48-783E-5310-0762-D76F7A799B14}"/>
              </a:ext>
            </a:extLst>
          </p:cNvPr>
          <p:cNvSpPr/>
          <p:nvPr/>
        </p:nvSpPr>
        <p:spPr>
          <a:xfrm>
            <a:off x="3167959" y="2630314"/>
            <a:ext cx="1603219" cy="3303761"/>
          </a:xfrm>
          <a:prstGeom prst="rect">
            <a:avLst/>
          </a:prstGeom>
          <a:solidFill>
            <a:schemeClr val="bg2">
              <a:lumMod val="90000"/>
            </a:schemeClr>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a:solidFill>
                  <a:srgbClr val="000000"/>
                </a:solidFill>
              </a:rPr>
              <a:t>Foundation Platform</a:t>
            </a:r>
            <a:endParaRPr lang="en-US"/>
          </a:p>
        </p:txBody>
      </p:sp>
    </p:spTree>
    <p:extLst>
      <p:ext uri="{BB962C8B-B14F-4D97-AF65-F5344CB8AC3E}">
        <p14:creationId xmlns:p14="http://schemas.microsoft.com/office/powerpoint/2010/main" val="2335581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34F06-9AF0-1B63-9B4A-193546D85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14AFA-563F-9043-E1F3-4194E7093F03}"/>
              </a:ext>
            </a:extLst>
          </p:cNvPr>
          <p:cNvSpPr>
            <a:spLocks noGrp="1"/>
          </p:cNvSpPr>
          <p:nvPr>
            <p:ph type="title"/>
          </p:nvPr>
        </p:nvSpPr>
        <p:spPr/>
        <p:txBody>
          <a:bodyPr/>
          <a:lstStyle/>
          <a:p>
            <a:r>
              <a:rPr lang="en-US"/>
              <a:t>Cloud Foundations Roadmap : Business Value</a:t>
            </a:r>
          </a:p>
        </p:txBody>
      </p:sp>
      <p:sp>
        <p:nvSpPr>
          <p:cNvPr id="4" name="Footer Placeholder 3">
            <a:extLst>
              <a:ext uri="{FF2B5EF4-FFF2-40B4-BE49-F238E27FC236}">
                <a16:creationId xmlns:a16="http://schemas.microsoft.com/office/drawing/2014/main" id="{47CE7EE9-7BBE-D84F-228E-5AFBA27C4B43}"/>
              </a:ext>
            </a:extLst>
          </p:cNvPr>
          <p:cNvSpPr>
            <a:spLocks noGrp="1"/>
          </p:cNvSpPr>
          <p:nvPr>
            <p:ph type="ftr" sz="quarter" idx="11"/>
          </p:nvPr>
        </p:nvSpPr>
        <p:spPr/>
        <p:txBody>
          <a:bodyPr/>
          <a:lstStyle/>
          <a:p>
            <a:r>
              <a:rPr lang="en-CA"/>
              <a:t>CONFIDENTIAL</a:t>
            </a:r>
          </a:p>
        </p:txBody>
      </p:sp>
      <p:sp>
        <p:nvSpPr>
          <p:cNvPr id="5" name="Date Placeholder 4">
            <a:extLst>
              <a:ext uri="{FF2B5EF4-FFF2-40B4-BE49-F238E27FC236}">
                <a16:creationId xmlns:a16="http://schemas.microsoft.com/office/drawing/2014/main" id="{A555E315-72B7-A7AC-E73B-3C1E7AA1AF46}"/>
              </a:ext>
            </a:extLst>
          </p:cNvPr>
          <p:cNvSpPr>
            <a:spLocks noGrp="1"/>
          </p:cNvSpPr>
          <p:nvPr>
            <p:ph type="dt" sz="half" idx="13"/>
          </p:nvPr>
        </p:nvSpPr>
        <p:spPr/>
        <p:txBody>
          <a:bodyPr/>
          <a:lstStyle/>
          <a:p>
            <a:fld id="{DFC179E5-4269-44D4-A984-C57F7029D15D}" type="datetime1">
              <a:rPr lang="en-US" smtClean="0"/>
              <a:t>7/31/2026</a:t>
            </a:fld>
            <a:endParaRPr lang="en-CA"/>
          </a:p>
        </p:txBody>
      </p:sp>
      <p:sp>
        <p:nvSpPr>
          <p:cNvPr id="6" name="Rectangle 5">
            <a:extLst>
              <a:ext uri="{FF2B5EF4-FFF2-40B4-BE49-F238E27FC236}">
                <a16:creationId xmlns:a16="http://schemas.microsoft.com/office/drawing/2014/main" id="{6B491835-507D-E9BE-1FC0-8A83AEA92897}"/>
              </a:ext>
            </a:extLst>
          </p:cNvPr>
          <p:cNvSpPr/>
          <p:nvPr/>
        </p:nvSpPr>
        <p:spPr>
          <a:xfrm>
            <a:off x="6826311" y="2601962"/>
            <a:ext cx="4906979" cy="36921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sz="1000">
              <a:solidFill>
                <a:srgbClr val="000000"/>
              </a:solidFill>
            </a:endParaRPr>
          </a:p>
          <a:p>
            <a:endParaRPr lang="en-US" sz="1000">
              <a:solidFill>
                <a:srgbClr val="000000"/>
              </a:solidFill>
            </a:endParaRPr>
          </a:p>
          <a:p>
            <a:endParaRPr lang="en-US" sz="1000">
              <a:solidFill>
                <a:srgbClr val="000000"/>
              </a:solidFill>
            </a:endParaRPr>
          </a:p>
          <a:p>
            <a:r>
              <a:rPr lang="en-US" sz="1000">
                <a:solidFill>
                  <a:srgbClr val="000000"/>
                </a:solidFill>
              </a:rPr>
              <a:t>Identity, Access &amp; Cloud Governance enforce robust, centralized management of access to cloud resources, supporting both security and compliance. Key benefits:</a:t>
            </a:r>
            <a:endParaRPr lang="en-US" sz="1000">
              <a:solidFill>
                <a:srgbClr val="000000"/>
              </a:solidFill>
              <a:cs typeface="Arial"/>
            </a:endParaRPr>
          </a:p>
          <a:p>
            <a:endParaRPr lang="en-US" sz="1000">
              <a:solidFill>
                <a:srgbClr val="000000"/>
              </a:solidFill>
            </a:endParaRPr>
          </a:p>
          <a:p>
            <a:pPr marL="171450" indent="-171450">
              <a:buFont typeface="Arial" panose="020B0604020202020204" pitchFamily="34" charset="0"/>
              <a:buChar char="•"/>
            </a:pPr>
            <a:r>
              <a:rPr lang="en-US" sz="1000">
                <a:solidFill>
                  <a:srgbClr val="000000"/>
                </a:solidFill>
              </a:rPr>
              <a:t>Improved Security: Centralized controls and least-privilege principles ensure only authorized access to business workloads.</a:t>
            </a:r>
          </a:p>
          <a:p>
            <a:pPr marL="171450" indent="-171450">
              <a:buFont typeface="Arial" panose="020B0604020202020204" pitchFamily="34" charset="0"/>
              <a:buChar char="•"/>
            </a:pPr>
            <a:r>
              <a:rPr lang="en-US" sz="1000">
                <a:solidFill>
                  <a:srgbClr val="000000"/>
                </a:solidFill>
              </a:rPr>
              <a:t>Simplified Compliance: Automated auditing and policy enforcement make it easier to meet regulatory requirements.</a:t>
            </a:r>
          </a:p>
          <a:p>
            <a:pPr marL="171450" indent="-171450">
              <a:buFont typeface="Arial" panose="020B0604020202020204" pitchFamily="34" charset="0"/>
              <a:buChar char="•"/>
            </a:pPr>
            <a:r>
              <a:rPr lang="en-US" sz="1000">
                <a:solidFill>
                  <a:srgbClr val="000000"/>
                </a:solidFill>
              </a:rPr>
              <a:t>Rapid Onboarding: Fast, secure provisioning of users and systems allows teams to start new projects with minimal delay.</a:t>
            </a:r>
          </a:p>
          <a:p>
            <a:endParaRPr lang="en-US" sz="1000">
              <a:solidFill>
                <a:srgbClr val="000000"/>
              </a:solidFill>
            </a:endParaRPr>
          </a:p>
          <a:p>
            <a:endParaRPr lang="en-US" sz="1000">
              <a:solidFill>
                <a:srgbClr val="000000"/>
              </a:solidFill>
            </a:endParaRPr>
          </a:p>
          <a:p>
            <a:r>
              <a:rPr lang="en-US" sz="1000">
                <a:solidFill>
                  <a:srgbClr val="000000"/>
                </a:solidFill>
              </a:rPr>
              <a:t>Cost Management &amp; Resource Optimization drive responsible cloud investment and budgeting while maximizing business value from every dollar spent. Key benefits:</a:t>
            </a:r>
          </a:p>
          <a:p>
            <a:endParaRPr lang="en-US" sz="1000">
              <a:solidFill>
                <a:srgbClr val="000000"/>
              </a:solidFill>
            </a:endParaRPr>
          </a:p>
          <a:p>
            <a:pPr marL="171450" indent="-171450">
              <a:buFont typeface="Arial" panose="020B0604020202020204" pitchFamily="34" charset="0"/>
              <a:buChar char="•"/>
            </a:pPr>
            <a:r>
              <a:rPr lang="en-US" sz="1000">
                <a:solidFill>
                  <a:srgbClr val="000000"/>
                </a:solidFill>
              </a:rPr>
              <a:t>Visibility: Real-time monitoring of spend and usage enables timely corrective action.</a:t>
            </a:r>
          </a:p>
          <a:p>
            <a:pPr marL="171450" indent="-171450">
              <a:buFont typeface="Arial" panose="020B0604020202020204" pitchFamily="34" charset="0"/>
              <a:buChar char="•"/>
            </a:pPr>
            <a:r>
              <a:rPr lang="en-US" sz="1000">
                <a:solidFill>
                  <a:srgbClr val="000000"/>
                </a:solidFill>
              </a:rPr>
              <a:t>Optimization: Automated right-sizing and recommendations prevent waste and reduce operating costs.</a:t>
            </a:r>
          </a:p>
          <a:p>
            <a:pPr marL="171450" indent="-171450">
              <a:buFont typeface="Arial" panose="020B0604020202020204" pitchFamily="34" charset="0"/>
              <a:buChar char="•"/>
            </a:pPr>
            <a:r>
              <a:rPr lang="en-US" sz="1000">
                <a:solidFill>
                  <a:srgbClr val="000000"/>
                </a:solidFill>
              </a:rPr>
              <a:t>Financial Governance: Budget controls and tagging ensure accurate allocation and accountability for cloud spend.</a:t>
            </a:r>
          </a:p>
          <a:p>
            <a:pPr marL="171450" indent="-171450">
              <a:buFont typeface="Arial" panose="020B0604020202020204" pitchFamily="34" charset="0"/>
              <a:buChar char="•"/>
            </a:pPr>
            <a:r>
              <a:rPr lang="en-US" sz="1000">
                <a:solidFill>
                  <a:srgbClr val="000000"/>
                </a:solidFill>
              </a:rPr>
              <a:t>Migration Assessment &amp; Cost Planning: Cloud native tools assesses workloads, provides cost estimates and recommends optimal resource allocation.</a:t>
            </a:r>
          </a:p>
          <a:p>
            <a:pPr marL="171450" indent="-171450">
              <a:buFont typeface="Arial" panose="020B0604020202020204" pitchFamily="34" charset="0"/>
              <a:buChar char="•"/>
            </a:pPr>
            <a:endParaRPr lang="en-US" sz="1000">
              <a:solidFill>
                <a:srgbClr val="000000"/>
              </a:solidFill>
            </a:endParaRPr>
          </a:p>
          <a:p>
            <a:endParaRPr lang="en-US" sz="1000">
              <a:solidFill>
                <a:srgbClr val="000000"/>
              </a:solidFill>
            </a:endParaRPr>
          </a:p>
          <a:p>
            <a:pPr algn="ctr"/>
            <a:endParaRPr lang="en-US" sz="1000">
              <a:solidFill>
                <a:srgbClr val="000000"/>
              </a:solidFill>
            </a:endParaRPr>
          </a:p>
        </p:txBody>
      </p:sp>
      <p:cxnSp>
        <p:nvCxnSpPr>
          <p:cNvPr id="16" name="Straight Connector 15">
            <a:extLst>
              <a:ext uri="{FF2B5EF4-FFF2-40B4-BE49-F238E27FC236}">
                <a16:creationId xmlns:a16="http://schemas.microsoft.com/office/drawing/2014/main" id="{E5A1232F-3975-30C9-884C-97A8FED40C0A}"/>
              </a:ext>
            </a:extLst>
          </p:cNvPr>
          <p:cNvCxnSpPr>
            <a:cxnSpLocks/>
          </p:cNvCxnSpPr>
          <p:nvPr/>
        </p:nvCxnSpPr>
        <p:spPr>
          <a:xfrm>
            <a:off x="4952245" y="4201867"/>
            <a:ext cx="6781045" cy="1"/>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315DE9B0-BD3C-6359-C2DD-833DEAE5D77D}"/>
              </a:ext>
            </a:extLst>
          </p:cNvPr>
          <p:cNvSpPr/>
          <p:nvPr/>
        </p:nvSpPr>
        <p:spPr>
          <a:xfrm>
            <a:off x="4952246" y="3337712"/>
            <a:ext cx="1692998" cy="61563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a:solidFill>
                  <a:srgbClr val="000000"/>
                </a:solidFill>
              </a:rPr>
              <a:t>Identity &amp; Access</a:t>
            </a:r>
            <a:endParaRPr lang="en-US" sz="1100">
              <a:solidFill>
                <a:srgbClr val="000000"/>
              </a:solidFill>
              <a:cs typeface="Arial"/>
            </a:endParaRPr>
          </a:p>
        </p:txBody>
      </p:sp>
      <p:sp>
        <p:nvSpPr>
          <p:cNvPr id="13" name="Rectangle 12">
            <a:extLst>
              <a:ext uri="{FF2B5EF4-FFF2-40B4-BE49-F238E27FC236}">
                <a16:creationId xmlns:a16="http://schemas.microsoft.com/office/drawing/2014/main" id="{0F637960-5623-C5F6-28C2-6B15163A750D}"/>
              </a:ext>
            </a:extLst>
          </p:cNvPr>
          <p:cNvSpPr/>
          <p:nvPr/>
        </p:nvSpPr>
        <p:spPr>
          <a:xfrm>
            <a:off x="4962442" y="4946963"/>
            <a:ext cx="1692998" cy="61563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solidFill>
                  <a:srgbClr val="000000"/>
                </a:solidFill>
              </a:rPr>
              <a:t>Cost Management &amp; Resource Optimization</a:t>
            </a:r>
          </a:p>
        </p:txBody>
      </p:sp>
      <p:cxnSp>
        <p:nvCxnSpPr>
          <p:cNvPr id="14" name="Straight Connector 13">
            <a:extLst>
              <a:ext uri="{FF2B5EF4-FFF2-40B4-BE49-F238E27FC236}">
                <a16:creationId xmlns:a16="http://schemas.microsoft.com/office/drawing/2014/main" id="{0CEE6E29-C309-B51D-57A8-6CBD7AC7E045}"/>
              </a:ext>
            </a:extLst>
          </p:cNvPr>
          <p:cNvCxnSpPr>
            <a:cxnSpLocks/>
          </p:cNvCxnSpPr>
          <p:nvPr/>
        </p:nvCxnSpPr>
        <p:spPr>
          <a:xfrm>
            <a:off x="380999" y="2594344"/>
            <a:ext cx="11423905"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3F840AF7-7BA4-48B7-BDDF-6C3C181E271F}"/>
              </a:ext>
            </a:extLst>
          </p:cNvPr>
          <p:cNvSpPr>
            <a:spLocks noGrp="1"/>
          </p:cNvSpPr>
          <p:nvPr>
            <p:ph idx="1"/>
          </p:nvPr>
        </p:nvSpPr>
        <p:spPr>
          <a:xfrm>
            <a:off x="384048" y="1182307"/>
            <a:ext cx="11430263" cy="761147"/>
          </a:xfrm>
        </p:spPr>
        <p:txBody>
          <a:bodyPr vert="horz" lIns="0" tIns="0" rIns="0" bIns="0" rtlCol="0" anchor="t">
            <a:normAutofit/>
          </a:bodyPr>
          <a:lstStyle/>
          <a:p>
            <a:pPr>
              <a:buNone/>
            </a:pPr>
            <a:r>
              <a:rPr lang="en-US" sz="1200">
                <a:solidFill>
                  <a:srgbClr val="000000"/>
                </a:solidFill>
              </a:rPr>
              <a:t>For Capability Mapping, I&amp;O roadmaps are mapped to the Canada Life Technology Capability model.  </a:t>
            </a:r>
            <a:endParaRPr lang="en-US" sz="1200">
              <a:solidFill>
                <a:srgbClr val="000000"/>
              </a:solidFill>
              <a:cs typeface="Arial"/>
            </a:endParaRPr>
          </a:p>
          <a:p>
            <a:pPr>
              <a:buFont typeface="Arial,Sans-Serif"/>
              <a:buChar char="•"/>
            </a:pPr>
            <a:r>
              <a:rPr lang="en-US" sz="1200">
                <a:solidFill>
                  <a:srgbClr val="000000"/>
                </a:solidFill>
              </a:rPr>
              <a:t>The Canada Life Technology Capability model is based on the Technology Business Management (TBM) taxonomy.</a:t>
            </a:r>
            <a:endParaRPr lang="en-US" sz="1200">
              <a:solidFill>
                <a:srgbClr val="000000"/>
              </a:solidFill>
              <a:cs typeface="Arial"/>
            </a:endParaRPr>
          </a:p>
          <a:p>
            <a:pPr>
              <a:buFont typeface="Arial,Sans-Serif"/>
              <a:buChar char="•"/>
            </a:pPr>
            <a:r>
              <a:rPr lang="en-US" sz="1200">
                <a:solidFill>
                  <a:srgbClr val="000000"/>
                </a:solidFill>
              </a:rPr>
              <a:t>Level 1 - 3 are standardized TBM taxonomy names, Level 4 are Canada Life specific modifications.</a:t>
            </a:r>
            <a:endParaRPr lang="en-US" sz="1200">
              <a:solidFill>
                <a:srgbClr val="000000"/>
              </a:solidFill>
              <a:cs typeface="Arial"/>
            </a:endParaRPr>
          </a:p>
          <a:p>
            <a:pPr marL="0" indent="0">
              <a:buNone/>
            </a:pPr>
            <a:endParaRPr lang="en-US" sz="1200"/>
          </a:p>
        </p:txBody>
      </p:sp>
      <p:sp>
        <p:nvSpPr>
          <p:cNvPr id="18" name="TextBox 17">
            <a:extLst>
              <a:ext uri="{FF2B5EF4-FFF2-40B4-BE49-F238E27FC236}">
                <a16:creationId xmlns:a16="http://schemas.microsoft.com/office/drawing/2014/main" id="{F1238994-086E-BE8E-6E85-51A5D4F177CE}"/>
              </a:ext>
            </a:extLst>
          </p:cNvPr>
          <p:cNvSpPr txBox="1"/>
          <p:nvPr/>
        </p:nvSpPr>
        <p:spPr>
          <a:xfrm>
            <a:off x="373944" y="2341308"/>
            <a:ext cx="11437055" cy="153888"/>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pPr>
              <a:spcAft>
                <a:spcPts val="500"/>
              </a:spcAft>
            </a:pPr>
            <a:r>
              <a:rPr lang="en-US" sz="1000" b="1">
                <a:solidFill>
                  <a:srgbClr val="000000"/>
                </a:solidFill>
                <a:cs typeface="Arial"/>
              </a:rPr>
              <a:t>   L1 Capability                 L2 Capability                           L3 Capability                      L4 Service Category                                                                        Description</a:t>
            </a:r>
            <a:endParaRPr lang="en-US" sz="1000">
              <a:solidFill>
                <a:srgbClr val="000000"/>
              </a:solidFill>
              <a:cs typeface="Arial"/>
            </a:endParaRPr>
          </a:p>
        </p:txBody>
      </p:sp>
      <p:sp>
        <p:nvSpPr>
          <p:cNvPr id="21" name="TextBox 20">
            <a:extLst>
              <a:ext uri="{FF2B5EF4-FFF2-40B4-BE49-F238E27FC236}">
                <a16:creationId xmlns:a16="http://schemas.microsoft.com/office/drawing/2014/main" id="{FF42D47F-8643-C9AC-B58F-3620C2551898}"/>
              </a:ext>
            </a:extLst>
          </p:cNvPr>
          <p:cNvSpPr txBox="1"/>
          <p:nvPr/>
        </p:nvSpPr>
        <p:spPr>
          <a:xfrm>
            <a:off x="376296" y="2033216"/>
            <a:ext cx="6096000" cy="192360"/>
          </a:xfrm>
          <a:prstGeom prst="rect">
            <a:avLst/>
          </a:prstGeom>
          <a:noFill/>
        </p:spPr>
        <p:txBody>
          <a:bodyPr rot="0" spcFirstLastPara="0" vertOverflow="overflow" horzOverflow="overflow" vert="horz" wrap="square" lIns="0" tIns="0" rIns="0" bIns="0" numCol="1" spcCol="228600" rtlCol="0" fromWordArt="0" anchor="t" anchorCtr="0" forceAA="0" compatLnSpc="1">
            <a:prstTxWarp prst="textNoShape">
              <a:avLst/>
            </a:prstTxWarp>
            <a:spAutoFit/>
          </a:bodyPr>
          <a:lstStyle/>
          <a:p>
            <a:r>
              <a:rPr lang="en-CA" sz="1250" b="1" i="0" u="none" strike="noStrike" baseline="0">
                <a:solidFill>
                  <a:srgbClr val="000000"/>
                </a:solidFill>
                <a:latin typeface="Arial"/>
                <a:ea typeface="Arial"/>
                <a:cs typeface="Arial"/>
              </a:rPr>
              <a:t>Technology categorization with descriptions:</a:t>
            </a:r>
            <a:r>
              <a:rPr sz="1250" b="0" i="0">
                <a:solidFill>
                  <a:srgbClr val="000000"/>
                </a:solidFill>
                <a:latin typeface="Arial"/>
                <a:ea typeface="Arial"/>
                <a:cs typeface="Arial"/>
              </a:rPr>
              <a:t>​</a:t>
            </a:r>
            <a:endParaRPr lang="en-US">
              <a:solidFill>
                <a:srgbClr val="000000"/>
              </a:solidFill>
              <a:cs typeface="Arial"/>
            </a:endParaRPr>
          </a:p>
        </p:txBody>
      </p:sp>
      <p:sp>
        <p:nvSpPr>
          <p:cNvPr id="23" name="Rectangle 22">
            <a:extLst>
              <a:ext uri="{FF2B5EF4-FFF2-40B4-BE49-F238E27FC236}">
                <a16:creationId xmlns:a16="http://schemas.microsoft.com/office/drawing/2014/main" id="{0C5AF6C6-DAD7-0B80-1E8B-CFB40E00ACBE}"/>
              </a:ext>
            </a:extLst>
          </p:cNvPr>
          <p:cNvSpPr/>
          <p:nvPr/>
        </p:nvSpPr>
        <p:spPr>
          <a:xfrm>
            <a:off x="380999" y="2630314"/>
            <a:ext cx="949859" cy="3303761"/>
          </a:xfrm>
          <a:prstGeom prst="rect">
            <a:avLst/>
          </a:prstGeom>
          <a:solidFill>
            <a:srgbClr val="BA0C2F"/>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a:solidFill>
                  <a:schemeClr val="bg1"/>
                </a:solidFill>
              </a:rPr>
              <a:t>Delivery</a:t>
            </a:r>
            <a:endParaRPr lang="en-US">
              <a:solidFill>
                <a:schemeClr val="bg1"/>
              </a:solidFill>
            </a:endParaRPr>
          </a:p>
        </p:txBody>
      </p:sp>
      <p:sp>
        <p:nvSpPr>
          <p:cNvPr id="25" name="Rectangle 24">
            <a:extLst>
              <a:ext uri="{FF2B5EF4-FFF2-40B4-BE49-F238E27FC236}">
                <a16:creationId xmlns:a16="http://schemas.microsoft.com/office/drawing/2014/main" id="{FF4475E0-890B-6DC4-7C9E-212985229FED}"/>
              </a:ext>
            </a:extLst>
          </p:cNvPr>
          <p:cNvSpPr/>
          <p:nvPr/>
        </p:nvSpPr>
        <p:spPr>
          <a:xfrm>
            <a:off x="1447799" y="2630314"/>
            <a:ext cx="1603219" cy="3303761"/>
          </a:xfrm>
          <a:prstGeom prst="rect">
            <a:avLst/>
          </a:prstGeom>
          <a:solidFill>
            <a:schemeClr val="accent1"/>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a:solidFill>
                  <a:srgbClr val="000000"/>
                </a:solidFill>
              </a:rPr>
              <a:t>Enabling Platforms</a:t>
            </a:r>
            <a:endParaRPr lang="en-US"/>
          </a:p>
        </p:txBody>
      </p:sp>
      <p:sp>
        <p:nvSpPr>
          <p:cNvPr id="27" name="Rectangle 26">
            <a:extLst>
              <a:ext uri="{FF2B5EF4-FFF2-40B4-BE49-F238E27FC236}">
                <a16:creationId xmlns:a16="http://schemas.microsoft.com/office/drawing/2014/main" id="{73068B6A-4543-9E77-CD51-3906EBB88110}"/>
              </a:ext>
            </a:extLst>
          </p:cNvPr>
          <p:cNvSpPr/>
          <p:nvPr/>
        </p:nvSpPr>
        <p:spPr>
          <a:xfrm>
            <a:off x="3167959" y="2630314"/>
            <a:ext cx="1603219" cy="3303761"/>
          </a:xfrm>
          <a:prstGeom prst="rect">
            <a:avLst/>
          </a:prstGeom>
          <a:solidFill>
            <a:schemeClr val="bg2">
              <a:lumMod val="90000"/>
            </a:schemeClr>
          </a:solidFill>
          <a:ln>
            <a:no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r>
              <a:rPr lang="en-US" sz="1200">
                <a:solidFill>
                  <a:srgbClr val="000000"/>
                </a:solidFill>
              </a:rPr>
              <a:t>Foundation Platform</a:t>
            </a:r>
            <a:endParaRPr lang="en-US"/>
          </a:p>
        </p:txBody>
      </p:sp>
    </p:spTree>
    <p:extLst>
      <p:ext uri="{BB962C8B-B14F-4D97-AF65-F5344CB8AC3E}">
        <p14:creationId xmlns:p14="http://schemas.microsoft.com/office/powerpoint/2010/main" val="7454308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09656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USTOMLAYOUT" val="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FWWUVlBBH2l3k9hxXzMmW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ik9g.6aq00WkbNTDofa0y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9.xml><?xml version="1.0" encoding="utf-8"?>
<p:tagLst xmlns:a="http://schemas.openxmlformats.org/drawingml/2006/main" xmlns:r="http://schemas.openxmlformats.org/officeDocument/2006/relationships" xmlns:p="http://schemas.openxmlformats.org/presentationml/2006/main">
  <p:tag name="SHAPENAME" val="5. Sourc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12.xml><?xml version="1.0" encoding="utf-8"?>
<p:tagLst xmlns:a="http://schemas.openxmlformats.org/drawingml/2006/main" xmlns:r="http://schemas.openxmlformats.org/officeDocument/2006/relationships" xmlns:p="http://schemas.openxmlformats.org/presentationml/2006/main">
  <p:tag name="SHAPENAME" val="4. Footnote"/>
</p:tagLst>
</file>

<file path=ppt/tags/tag1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xml><?xml version="1.0" encoding="utf-8"?>
<p:tagLst xmlns:a="http://schemas.openxmlformats.org/drawingml/2006/main" xmlns:r="http://schemas.openxmlformats.org/officeDocument/2006/relationships" xmlns:p="http://schemas.openxmlformats.org/presentationml/2006/main">
  <p:tag name="NAME" val="ACET"/>
</p:tagLst>
</file>

<file path=ppt/tags/tag15.xml><?xml version="1.0" encoding="utf-8"?>
<p:tagLst xmlns:a="http://schemas.openxmlformats.org/drawingml/2006/main" xmlns:r="http://schemas.openxmlformats.org/officeDocument/2006/relationships" xmlns:p="http://schemas.openxmlformats.org/presentationml/2006/main">
  <p:tag name="NAME" val="Moon"/>
</p:tagLst>
</file>

<file path=ppt/tags/tag16.xml><?xml version="1.0" encoding="utf-8"?>
<p:tagLst xmlns:a="http://schemas.openxmlformats.org/drawingml/2006/main" xmlns:r="http://schemas.openxmlformats.org/officeDocument/2006/relationships" xmlns:p="http://schemas.openxmlformats.org/presentationml/2006/main">
  <p:tag name="NAME" val="Moon"/>
</p:tagLst>
</file>

<file path=ppt/tags/tag17.xml><?xml version="1.0" encoding="utf-8"?>
<p:tagLst xmlns:a="http://schemas.openxmlformats.org/drawingml/2006/main" xmlns:r="http://schemas.openxmlformats.org/officeDocument/2006/relationships" xmlns:p="http://schemas.openxmlformats.org/presentationml/2006/main">
  <p:tag name="NAME" val="Moon"/>
</p:tagLst>
</file>

<file path=ppt/tags/tag18.xml><?xml version="1.0" encoding="utf-8"?>
<p:tagLst xmlns:a="http://schemas.openxmlformats.org/drawingml/2006/main" xmlns:r="http://schemas.openxmlformats.org/officeDocument/2006/relationships" xmlns:p="http://schemas.openxmlformats.org/presentationml/2006/main">
  <p:tag name="NAME" val="Moon"/>
</p:tagLst>
</file>

<file path=ppt/tags/tag19.xml><?xml version="1.0" encoding="utf-8"?>
<p:tagLst xmlns:a="http://schemas.openxmlformats.org/drawingml/2006/main" xmlns:r="http://schemas.openxmlformats.org/officeDocument/2006/relationships" xmlns:p="http://schemas.openxmlformats.org/presentationml/2006/main">
  <p:tag name="NAME" val="Moon"/>
</p:tagLst>
</file>

<file path=ppt/tags/tag20.xml><?xml version="1.0" encoding="utf-8"?>
<p:tagLst xmlns:a="http://schemas.openxmlformats.org/drawingml/2006/main" xmlns:r="http://schemas.openxmlformats.org/officeDocument/2006/relationships" xmlns:p="http://schemas.openxmlformats.org/presentationml/2006/main">
  <p:tag name="ANGLE" val="5"/>
</p:tagLst>
</file>

<file path=ppt/tags/tag21.xml><?xml version="1.0" encoding="utf-8"?>
<p:tagLst xmlns:a="http://schemas.openxmlformats.org/drawingml/2006/main" xmlns:r="http://schemas.openxmlformats.org/officeDocument/2006/relationships" xmlns:p="http://schemas.openxmlformats.org/presentationml/2006/main">
  <p:tag name="ANGLE" val="5"/>
</p:tagLst>
</file>

<file path=ppt/tags/tag22.xml><?xml version="1.0" encoding="utf-8"?>
<p:tagLst xmlns:a="http://schemas.openxmlformats.org/drawingml/2006/main" xmlns:r="http://schemas.openxmlformats.org/officeDocument/2006/relationships" xmlns:p="http://schemas.openxmlformats.org/presentationml/2006/main">
  <p:tag name="ANGLE" val="4"/>
</p:tagLst>
</file>

<file path=ppt/tags/tag23.xml><?xml version="1.0" encoding="utf-8"?>
<p:tagLst xmlns:a="http://schemas.openxmlformats.org/drawingml/2006/main" xmlns:r="http://schemas.openxmlformats.org/officeDocument/2006/relationships" xmlns:p="http://schemas.openxmlformats.org/presentationml/2006/main">
  <p:tag name="ANGLE" val="4"/>
</p:tagLst>
</file>

<file path=ppt/tags/tag24.xml><?xml version="1.0" encoding="utf-8"?>
<p:tagLst xmlns:a="http://schemas.openxmlformats.org/drawingml/2006/main" xmlns:r="http://schemas.openxmlformats.org/officeDocument/2006/relationships" xmlns:p="http://schemas.openxmlformats.org/presentationml/2006/main">
  <p:tag name="ANGLE" val="3"/>
</p:tagLst>
</file>

<file path=ppt/tags/tag25.xml><?xml version="1.0" encoding="utf-8"?>
<p:tagLst xmlns:a="http://schemas.openxmlformats.org/drawingml/2006/main" xmlns:r="http://schemas.openxmlformats.org/officeDocument/2006/relationships" xmlns:p="http://schemas.openxmlformats.org/presentationml/2006/main">
  <p:tag name="ANGLE" val="3"/>
</p:tagLst>
</file>

<file path=ppt/tags/tag26.xml><?xml version="1.0" encoding="utf-8"?>
<p:tagLst xmlns:a="http://schemas.openxmlformats.org/drawingml/2006/main" xmlns:r="http://schemas.openxmlformats.org/officeDocument/2006/relationships" xmlns:p="http://schemas.openxmlformats.org/presentationml/2006/main">
  <p:tag name="ANGLE" val="2"/>
</p:tagLst>
</file>

<file path=ppt/tags/tag27.xml><?xml version="1.0" encoding="utf-8"?>
<p:tagLst xmlns:a="http://schemas.openxmlformats.org/drawingml/2006/main" xmlns:r="http://schemas.openxmlformats.org/officeDocument/2006/relationships" xmlns:p="http://schemas.openxmlformats.org/presentationml/2006/main">
  <p:tag name="ANGLE" val="2"/>
</p:tagLst>
</file>

<file path=ppt/tags/tag28.xml><?xml version="1.0" encoding="utf-8"?>
<p:tagLst xmlns:a="http://schemas.openxmlformats.org/drawingml/2006/main" xmlns:r="http://schemas.openxmlformats.org/officeDocument/2006/relationships" xmlns:p="http://schemas.openxmlformats.org/presentationml/2006/main">
  <p:tag name="ANGLE" val="1"/>
</p:tagLst>
</file>

<file path=ppt/tags/tag29.xml><?xml version="1.0" encoding="utf-8"?>
<p:tagLst xmlns:a="http://schemas.openxmlformats.org/drawingml/2006/main" xmlns:r="http://schemas.openxmlformats.org/officeDocument/2006/relationships" xmlns:p="http://schemas.openxmlformats.org/presentationml/2006/main">
  <p:tag name="ANGLE" val="1"/>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32.xml><?xml version="1.0" encoding="utf-8"?>
<p:tagLst xmlns:a="http://schemas.openxmlformats.org/drawingml/2006/main" xmlns:r="http://schemas.openxmlformats.org/officeDocument/2006/relationships" xmlns:p="http://schemas.openxmlformats.org/presentationml/2006/main">
  <p:tag name="SHAPENAME" val="Subtitle"/>
</p:tagLst>
</file>

<file path=ppt/tags/tag33.xml><?xml version="1.0" encoding="utf-8"?>
<p:tagLst xmlns:a="http://schemas.openxmlformats.org/drawingml/2006/main" xmlns:r="http://schemas.openxmlformats.org/officeDocument/2006/relationships" xmlns:p="http://schemas.openxmlformats.org/presentationml/2006/main">
  <p:tag name="SHAPENAME" val="Title"/>
</p:tagLst>
</file>

<file path=ppt/tags/tag34.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7.xml><?xml version="1.0" encoding="utf-8"?>
<p:tagLst xmlns:a="http://schemas.openxmlformats.org/drawingml/2006/main" xmlns:r="http://schemas.openxmlformats.org/officeDocument/2006/relationships" xmlns:p="http://schemas.openxmlformats.org/presentationml/2006/main">
  <p:tag name="SHAPENAME" val="3. Subtitle"/>
</p:tagLst>
</file>

<file path=ppt/tags/tag38.xml><?xml version="1.0" encoding="utf-8"?>
<p:tagLst xmlns:a="http://schemas.openxmlformats.org/drawingml/2006/main" xmlns:r="http://schemas.openxmlformats.org/officeDocument/2006/relationships" xmlns:p="http://schemas.openxmlformats.org/presentationml/2006/main">
  <p:tag name="SHAPENAME" val="5. Source"/>
</p:tagLst>
</file>

<file path=ppt/tags/tag3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43.xml><?xml version="1.0" encoding="utf-8"?>
<p:tagLst xmlns:a="http://schemas.openxmlformats.org/drawingml/2006/main" xmlns:r="http://schemas.openxmlformats.org/officeDocument/2006/relationships" xmlns:p="http://schemas.openxmlformats.org/presentationml/2006/main">
  <p:tag name="SHAPENAME" val="3. Subtitle"/>
</p:tagLst>
</file>

<file path=ppt/tags/tag44.xml><?xml version="1.0" encoding="utf-8"?>
<p:tagLst xmlns:a="http://schemas.openxmlformats.org/drawingml/2006/main" xmlns:r="http://schemas.openxmlformats.org/officeDocument/2006/relationships" xmlns:p="http://schemas.openxmlformats.org/presentationml/2006/main">
  <p:tag name="SHAPENAME" val="5. Source"/>
</p:tagLst>
</file>

<file path=ppt/tags/tag4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0.xml><?xml version="1.0" encoding="utf-8"?>
<p:tagLst xmlns:a="http://schemas.openxmlformats.org/drawingml/2006/main" xmlns:r="http://schemas.openxmlformats.org/officeDocument/2006/relationships" xmlns:p="http://schemas.openxmlformats.org/presentationml/2006/main">
  <p:tag name="SHAPENAME" val="5. Source"/>
</p:tagLst>
</file>

<file path=ppt/tags/tag5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5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5.xml><?xml version="1.0" encoding="utf-8"?>
<p:tagLst xmlns:a="http://schemas.openxmlformats.org/drawingml/2006/main" xmlns:r="http://schemas.openxmlformats.org/officeDocument/2006/relationships" xmlns:p="http://schemas.openxmlformats.org/presentationml/2006/main">
  <p:tag name="SHAPENAME" val="5. Source"/>
</p:tagLst>
</file>

<file path=ppt/tags/tag5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0.xml><?xml version="1.0" encoding="utf-8"?>
<p:tagLst xmlns:a="http://schemas.openxmlformats.org/drawingml/2006/main" xmlns:r="http://schemas.openxmlformats.org/officeDocument/2006/relationships" xmlns:p="http://schemas.openxmlformats.org/presentationml/2006/main">
  <p:tag name="SHAPENAME" val="5. Source"/>
</p:tagLst>
</file>

<file path=ppt/tags/tag6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6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5.xml><?xml version="1.0" encoding="utf-8"?>
<p:tagLst xmlns:a="http://schemas.openxmlformats.org/drawingml/2006/main" xmlns:r="http://schemas.openxmlformats.org/officeDocument/2006/relationships" xmlns:p="http://schemas.openxmlformats.org/presentationml/2006/main">
  <p:tag name="SHAPENAME" val="3. Subtitle"/>
</p:tagLst>
</file>

<file path=ppt/tags/tag66.xml><?xml version="1.0" encoding="utf-8"?>
<p:tagLst xmlns:a="http://schemas.openxmlformats.org/drawingml/2006/main" xmlns:r="http://schemas.openxmlformats.org/officeDocument/2006/relationships" xmlns:p="http://schemas.openxmlformats.org/presentationml/2006/main">
  <p:tag name="SHAPENAME" val="5. Source"/>
</p:tagLst>
</file>

<file path=ppt/tags/tag6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7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1.xml><?xml version="1.0" encoding="utf-8"?>
<p:tagLst xmlns:a="http://schemas.openxmlformats.org/drawingml/2006/main" xmlns:r="http://schemas.openxmlformats.org/officeDocument/2006/relationships" xmlns:p="http://schemas.openxmlformats.org/presentationml/2006/main">
  <p:tag name="SHAPENAME" val="3. Subtitle"/>
</p:tagLst>
</file>

<file path=ppt/tags/tag72.xml><?xml version="1.0" encoding="utf-8"?>
<p:tagLst xmlns:a="http://schemas.openxmlformats.org/drawingml/2006/main" xmlns:r="http://schemas.openxmlformats.org/officeDocument/2006/relationships" xmlns:p="http://schemas.openxmlformats.org/presentationml/2006/main">
  <p:tag name="SHAPENAME" val="5. Source"/>
</p:tagLst>
</file>

<file path=ppt/tags/tag7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7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8.xml><?xml version="1.0" encoding="utf-8"?>
<p:tagLst xmlns:a="http://schemas.openxmlformats.org/drawingml/2006/main" xmlns:r="http://schemas.openxmlformats.org/officeDocument/2006/relationships" xmlns:p="http://schemas.openxmlformats.org/presentationml/2006/main">
  <p:tag name="SHAPENAME" val="3. Subtitle"/>
</p:tagLst>
</file>

<file path=ppt/tags/tag79.xml><?xml version="1.0" encoding="utf-8"?>
<p:tagLst xmlns:a="http://schemas.openxmlformats.org/drawingml/2006/main" xmlns:r="http://schemas.openxmlformats.org/officeDocument/2006/relationships" xmlns:p="http://schemas.openxmlformats.org/presentationml/2006/main">
  <p:tag name="SHAPENAME" val="5. Source"/>
</p:tagLst>
</file>

<file path=ppt/tags/tag8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8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6.xml><?xml version="1.0" encoding="utf-8"?>
<p:tagLst xmlns:a="http://schemas.openxmlformats.org/drawingml/2006/main" xmlns:r="http://schemas.openxmlformats.org/officeDocument/2006/relationships" xmlns:p="http://schemas.openxmlformats.org/presentationml/2006/main">
  <p:tag name="SHAPENAME" val="3. Subtitle"/>
</p:tagLst>
</file>

<file path=ppt/tags/tag87.xml><?xml version="1.0" encoding="utf-8"?>
<p:tagLst xmlns:a="http://schemas.openxmlformats.org/drawingml/2006/main" xmlns:r="http://schemas.openxmlformats.org/officeDocument/2006/relationships" xmlns:p="http://schemas.openxmlformats.org/presentationml/2006/main">
  <p:tag name="SHAPENAME" val="5. Source"/>
</p:tagLst>
</file>

<file path=ppt/tags/tag8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9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3.xml><?xml version="1.0" encoding="utf-8"?>
<p:tagLst xmlns:a="http://schemas.openxmlformats.org/drawingml/2006/main" xmlns:r="http://schemas.openxmlformats.org/officeDocument/2006/relationships" xmlns:p="http://schemas.openxmlformats.org/presentationml/2006/main">
  <p:tag name="SHAPENAME" val="3. Subtitle"/>
</p:tagLst>
</file>

<file path=ppt/tags/tag94.xml><?xml version="1.0" encoding="utf-8"?>
<p:tagLst xmlns:a="http://schemas.openxmlformats.org/drawingml/2006/main" xmlns:r="http://schemas.openxmlformats.org/officeDocument/2006/relationships" xmlns:p="http://schemas.openxmlformats.org/presentationml/2006/main">
  <p:tag name="SHAPENAME" val="5. Source"/>
</p:tagLst>
</file>

<file path=ppt/tags/tag9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9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1.xml><?xml version="1.0" encoding="utf-8"?>
<p:tagLst xmlns:a="http://schemas.openxmlformats.org/drawingml/2006/main" xmlns:r="http://schemas.openxmlformats.org/officeDocument/2006/relationships" xmlns:p="http://schemas.openxmlformats.org/presentationml/2006/main">
  <p:tag name="SHAPENAME" val="5. Source"/>
</p:tagLst>
</file>

<file path=ppt/tags/tag1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10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8.xml><?xml version="1.0" encoding="utf-8"?>
<p:tagLst xmlns:a="http://schemas.openxmlformats.org/drawingml/2006/main" xmlns:r="http://schemas.openxmlformats.org/officeDocument/2006/relationships" xmlns:p="http://schemas.openxmlformats.org/presentationml/2006/main">
  <p:tag name="SHAPENAME" val="5. Source"/>
</p:tagLst>
</file>

<file path=ppt/tags/tag10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11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5.xml><?xml version="1.0" encoding="utf-8"?>
<p:tagLst xmlns:a="http://schemas.openxmlformats.org/drawingml/2006/main" xmlns:r="http://schemas.openxmlformats.org/officeDocument/2006/relationships" xmlns:p="http://schemas.openxmlformats.org/presentationml/2006/main">
  <p:tag name="SHAPENAME" val="5. Source"/>
</p:tagLst>
</file>

<file path=ppt/tags/tag11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11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2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2.xml><?xml version="1.0" encoding="utf-8"?>
<p:tagLst xmlns:a="http://schemas.openxmlformats.org/drawingml/2006/main" xmlns:r="http://schemas.openxmlformats.org/officeDocument/2006/relationships" xmlns:p="http://schemas.openxmlformats.org/presentationml/2006/main">
  <p:tag name="SHAPENAME" val="5. Source"/>
</p:tagLst>
</file>

<file path=ppt/tags/tag12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12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8.xml><?xml version="1.0" encoding="utf-8"?>
<p:tagLst xmlns:a="http://schemas.openxmlformats.org/drawingml/2006/main" xmlns:r="http://schemas.openxmlformats.org/officeDocument/2006/relationships" xmlns:p="http://schemas.openxmlformats.org/presentationml/2006/main">
  <p:tag name="SHAPENAME" val="5. Source"/>
</p:tagLst>
</file>

<file path=ppt/tags/tag12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13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35.xml><?xml version="1.0" encoding="utf-8"?>
<p:tagLst xmlns:a="http://schemas.openxmlformats.org/drawingml/2006/main" xmlns:r="http://schemas.openxmlformats.org/officeDocument/2006/relationships" xmlns:p="http://schemas.openxmlformats.org/presentationml/2006/main">
  <p:tag name="SHAPENAME" val="5. Source"/>
</p:tagLst>
</file>

<file path=ppt/tags/tag13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xNguF4Gw2mJIhuiFXm5tKQ"/>
</p:tagLst>
</file>

<file path=ppt/tags/tag1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1.xml><?xml version="1.0" encoding="utf-8"?>
<p:tagLst xmlns:a="http://schemas.openxmlformats.org/drawingml/2006/main" xmlns:r="http://schemas.openxmlformats.org/officeDocument/2006/relationships" xmlns:p="http://schemas.openxmlformats.org/presentationml/2006/main">
  <p:tag name="SHAPENAME" val="5. Source"/>
</p:tagLst>
</file>

<file path=ppt/tags/tag14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SHAPENAME" val="5. Source"/>
</p:tagLst>
</file>

<file path=ppt/tags/tag1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SHAPENAME" val="5. Sourc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g3H8FluR_n9Smw5TXsjfNQ"/>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EY-P Widescreen Template 2022">
  <a:themeElements>
    <a:clrScheme name="EYP2020_PPT">
      <a:dk1>
        <a:srgbClr val="FFFFFF"/>
      </a:dk1>
      <a:lt1>
        <a:srgbClr val="2E2E38"/>
      </a:lt1>
      <a:dk2>
        <a:srgbClr val="FFE600"/>
      </a:dk2>
      <a:lt2>
        <a:srgbClr val="000000"/>
      </a:lt2>
      <a:accent1>
        <a:srgbClr val="1A9AFA"/>
      </a:accent1>
      <a:accent2>
        <a:srgbClr val="2E2E38"/>
      </a:accent2>
      <a:accent3>
        <a:srgbClr val="747480"/>
      </a:accent3>
      <a:accent4>
        <a:srgbClr val="C4C4CD"/>
      </a:accent4>
      <a:accent5>
        <a:srgbClr val="FF4136"/>
      </a:accent5>
      <a:accent6>
        <a:srgbClr val="2DB757"/>
      </a:accent6>
      <a:hlink>
        <a:srgbClr val="1A9AFA"/>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4"/>
        </a:solidFill>
        <a:ln w="9525">
          <a:noFill/>
        </a:ln>
      </a:spPr>
      <a:bodyPr lIns="72000" tIns="72000" rIns="72000" bIns="72000" rtlCol="0" anchor="ctr" anchorCtr="0"/>
      <a:lstStyle>
        <a:defPPr algn="l">
          <a:defRPr sz="12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3"/>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171450" indent="-171450" algn="l">
          <a:lnSpc>
            <a:spcPct val="85000"/>
          </a:lnSpc>
          <a:spcAft>
            <a:spcPts val="600"/>
          </a:spcAft>
          <a:buSzPct val="110000"/>
          <a:buFont typeface="EYInterstate Light" panose="02000506000000020004" pitchFamily="2" charset="0"/>
          <a:buChar char="•"/>
          <a:defRPr sz="1100" dirty="0">
            <a:solidFill>
              <a:schemeClr val="bg1"/>
            </a:solidFill>
          </a:defRPr>
        </a:defPPr>
      </a:lstStyle>
    </a:txDef>
  </a:objectDefaults>
  <a:extraClrSchemeLst/>
  <a:custClrLst>
    <a:custClr name="Teal">
      <a:srgbClr val="27ACAA"/>
    </a:custClr>
    <a:custClr name="Green">
      <a:srgbClr val="2DB757"/>
    </a:custClr>
    <a:custClr name="Orange">
      <a:srgbClr val="FF6D00"/>
    </a:custClr>
    <a:custClr name="Purple">
      <a:srgbClr val="3D108A"/>
    </a:custClr>
    <a:custClr name="Maroon">
      <a:srgbClr val="750E5C"/>
    </a:custClr>
    <a:custClr name="Red">
      <a:srgbClr val="FF4136"/>
    </a:custClr>
    <a:custClr name="blank">
      <a:srgbClr val="FFFFFF"/>
    </a:custClr>
    <a:custClr name="blank">
      <a:srgbClr val="FFFFFF"/>
    </a:custClr>
    <a:custClr name="blank">
      <a:srgbClr val="FFFFFF"/>
    </a:custClr>
    <a:custClr name="blank">
      <a:srgbClr val="FFFFFF"/>
    </a:custClr>
    <a:custClr name="Teal">
      <a:srgbClr val="42C9C2"/>
    </a:custClr>
    <a:custClr name="Green">
      <a:srgbClr val="34C768"/>
    </a:custClr>
    <a:custClr name="Orange">
      <a:srgbClr val="FF810A"/>
    </a:custClr>
    <a:custClr name="Purple">
      <a:srgbClr val="542EA5"/>
    </a:custClr>
    <a:custClr name="Maroon">
      <a:srgbClr val="922B73"/>
    </a:custClr>
    <a:custClr name="Red">
      <a:srgbClr val="F95D54"/>
    </a:custClr>
    <a:custClr name="blank">
      <a:srgbClr val="FFFFFF"/>
    </a:custClr>
    <a:custClr name="blank">
      <a:srgbClr val="FFFFFF"/>
    </a:custClr>
    <a:custClr name="blank">
      <a:srgbClr val="FFFFFF"/>
    </a:custClr>
    <a:custClr name="blank">
      <a:srgbClr val="FFFFFF"/>
    </a:custClr>
    <a:custClr name="Teal">
      <a:srgbClr val="60E6E1"/>
    </a:custClr>
    <a:custClr name="Green">
      <a:srgbClr val="57E188"/>
    </a:custClr>
    <a:custClr name="Orange">
      <a:srgbClr val="FF9831"/>
    </a:custClr>
    <a:custClr name="Purple">
      <a:srgbClr val="724BC3"/>
    </a:custClr>
    <a:custClr name="Maroon">
      <a:srgbClr val="B14891"/>
    </a:custClr>
    <a:custClr name="Red">
      <a:srgbClr val="FF736A"/>
    </a:custClr>
    <a:custClr name="blank">
      <a:srgbClr val="FFFFFF"/>
    </a:custClr>
    <a:custClr name="blank">
      <a:srgbClr val="FFFFFF"/>
    </a:custClr>
    <a:custClr name="blank">
      <a:srgbClr val="FFFFFF"/>
    </a:custClr>
    <a:custClr name="blank">
      <a:srgbClr val="FFFFFF"/>
    </a:custClr>
    <a:custClr name="Teal">
      <a:srgbClr val="93F0E6"/>
    </a:custClr>
    <a:custClr name="Green">
      <a:srgbClr val="8CE8AD"/>
    </a:custClr>
    <a:custClr name="Orange">
      <a:srgbClr val="FFB46A"/>
    </a:custClr>
    <a:custClr name="Purple">
      <a:srgbClr val="9C82D4"/>
    </a:custClr>
    <a:custClr name="Maroon">
      <a:srgbClr val="C981B2"/>
    </a:custClr>
    <a:custClr name="Red">
      <a:srgbClr val="FF9A91"/>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EY-Parthenon Template 2022.potx" id="{F61FB716-DF41-43AC-96D7-4F936D1FCDB7}" vid="{3715C607-16CB-460C-A685-A77F3281436D}"/>
    </a:ext>
  </a:extLst>
</a:theme>
</file>

<file path=ppt/theme/theme2.xml><?xml version="1.0" encoding="utf-8"?>
<a:theme xmlns:a="http://schemas.openxmlformats.org/drawingml/2006/main" name="Office Theme">
  <a:themeElements>
    <a:clrScheme name="Custom 9">
      <a:dk1>
        <a:srgbClr val="515349"/>
      </a:dk1>
      <a:lt1>
        <a:srgbClr val="FFFFFF"/>
      </a:lt1>
      <a:dk2>
        <a:srgbClr val="BA0C2F"/>
      </a:dk2>
      <a:lt2>
        <a:srgbClr val="E2E2DF"/>
      </a:lt2>
      <a:accent1>
        <a:srgbClr val="838271"/>
      </a:accent1>
      <a:accent2>
        <a:srgbClr val="007DC1"/>
      </a:accent2>
      <a:accent3>
        <a:srgbClr val="862633"/>
      </a:accent3>
      <a:accent4>
        <a:srgbClr val="5F59A2"/>
      </a:accent4>
      <a:accent5>
        <a:srgbClr val="00BDF1"/>
      </a:accent5>
      <a:accent6>
        <a:srgbClr val="497D3B"/>
      </a:accent6>
      <a:hlink>
        <a:srgbClr val="0563C1"/>
      </a:hlink>
      <a:folHlink>
        <a:srgbClr val="954F7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numCol="1" spcCol="228600" rtlCol="0">
        <a:noAutofit/>
      </a:bodyPr>
      <a:lstStyle>
        <a:defPPr marL="228600" indent="-228600" algn="l">
          <a:spcAft>
            <a:spcPts val="500"/>
          </a:spcAft>
          <a:buFont typeface="Arial" panose="020B0604020202020204" pitchFamily="34" charset="0"/>
          <a:buChar char="•"/>
          <a:defRPr sz="1200"/>
        </a:defPPr>
      </a:lstStyle>
    </a:txDef>
  </a:objectDefaults>
  <a:extraClrSchemeLst/>
  <a:extLst>
    <a:ext uri="{05A4C25C-085E-4340-85A3-A5531E510DB2}">
      <thm15:themeFamily xmlns:thm15="http://schemas.microsoft.com/office/thememl/2012/main" name="CanadaLife_PPT_Widescreen_v4" id="{6F2DBD4F-3169-9046-8051-6C880174377F}" vid="{C6DAB6E1-BB97-0945-B1CA-D2BD6B60DABC}"/>
    </a:ext>
  </a:extLst>
</a:theme>
</file>

<file path=ppt/theme/theme3.xml><?xml version="1.0" encoding="utf-8"?>
<a:theme xmlns:a="http://schemas.openxmlformats.org/drawingml/2006/main" name="White">
  <a:themeElements>
    <a:clrScheme name="Scheme1">
      <a:dk1>
        <a:srgbClr val="515349"/>
      </a:dk1>
      <a:lt1>
        <a:srgbClr val="FFFFFF"/>
      </a:lt1>
      <a:dk2>
        <a:srgbClr val="FFFFFF"/>
      </a:dk2>
      <a:lt2>
        <a:srgbClr val="FFFFFF"/>
      </a:lt2>
      <a:accent1>
        <a:srgbClr val="BA0C2F"/>
      </a:accent1>
      <a:accent2>
        <a:srgbClr val="838271"/>
      </a:accent2>
      <a:accent3>
        <a:srgbClr val="0078BD"/>
      </a:accent3>
      <a:accent4>
        <a:srgbClr val="00BDF1"/>
      </a:accent4>
      <a:accent5>
        <a:srgbClr val="862633"/>
      </a:accent5>
      <a:accent6>
        <a:srgbClr val="5F59A2"/>
      </a:accent6>
      <a:hlink>
        <a:srgbClr val="0000FF"/>
      </a:hlink>
      <a:folHlink>
        <a:srgbClr val="800080"/>
      </a:folHlink>
    </a:clrScheme>
    <a:fontScheme name="Custom">
      <a:majorFont>
        <a:latin typeface="Arial"/>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515349"/>
        </a:dk1>
        <a:lt1>
          <a:srgbClr val="FFFFFF"/>
        </a:lt1>
        <a:dk2>
          <a:srgbClr val="FFFFFF"/>
        </a:dk2>
        <a:lt2>
          <a:srgbClr val="FFFFFF"/>
        </a:lt2>
        <a:accent1>
          <a:srgbClr val="BA0C2F"/>
        </a:accent1>
        <a:accent2>
          <a:srgbClr val="838271"/>
        </a:accent2>
        <a:accent3>
          <a:srgbClr val="0078BD"/>
        </a:accent3>
        <a:accent4>
          <a:srgbClr val="00BDF1"/>
        </a:accent4>
        <a:accent5>
          <a:srgbClr val="862633"/>
        </a:accent5>
        <a:accent6>
          <a:srgbClr val="5F59A2"/>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 name="Custom Color6">
      <a:srgbClr val="497D3B"/>
    </a:custClr>
    <a:custClr name="Custom Color7">
      <a:srgbClr val="E2E2DF"/>
    </a:custClr>
  </a:custClrLst>
  <a:extLst>
    <a:ext uri="{05A4C25C-085E-4340-85A3-A5531E510DB2}">
      <thm15:themeFamily xmlns:thm15="http://schemas.microsoft.com/office/thememl/2012/main" name="20240827_Termination Future State_Workshop_vF" id="{A06D6D69-020E-49A6-A12E-644DE06562A2}" vid="{3E032959-9D99-4C85-A2CB-842CCC176EC2}"/>
    </a:ext>
  </a:extLst>
</a:theme>
</file>

<file path=ppt/theme/theme4.xml><?xml version="1.0" encoding="utf-8"?>
<a:theme xmlns:a="http://schemas.openxmlformats.org/drawingml/2006/main" name="2_Office Theme">
  <a:themeElements>
    <a:clrScheme name="Custom 9">
      <a:dk1>
        <a:srgbClr val="515349"/>
      </a:dk1>
      <a:lt1>
        <a:srgbClr val="FFFFFF"/>
      </a:lt1>
      <a:dk2>
        <a:srgbClr val="BA0C2F"/>
      </a:dk2>
      <a:lt2>
        <a:srgbClr val="E2E2DF"/>
      </a:lt2>
      <a:accent1>
        <a:srgbClr val="838271"/>
      </a:accent1>
      <a:accent2>
        <a:srgbClr val="007DC1"/>
      </a:accent2>
      <a:accent3>
        <a:srgbClr val="862633"/>
      </a:accent3>
      <a:accent4>
        <a:srgbClr val="5F59A2"/>
      </a:accent4>
      <a:accent5>
        <a:srgbClr val="00BDF1"/>
      </a:accent5>
      <a:accent6>
        <a:srgbClr val="497D3B"/>
      </a:accent6>
      <a:hlink>
        <a:srgbClr val="0563C1"/>
      </a:hlink>
      <a:folHlink>
        <a:srgbClr val="954F7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numCol="1" spcCol="228600" rtlCol="0">
        <a:noAutofit/>
      </a:bodyPr>
      <a:lstStyle>
        <a:defPPr marL="228600" indent="-228600" algn="l">
          <a:spcAft>
            <a:spcPts val="500"/>
          </a:spcAft>
          <a:buFont typeface="Arial" panose="020B0604020202020204" pitchFamily="34" charset="0"/>
          <a:buChar char="•"/>
          <a:defRPr sz="1200"/>
        </a:defPPr>
      </a:lstStyle>
    </a:txDef>
  </a:objectDefaults>
  <a:extraClrSchemeLst/>
  <a:extLst>
    <a:ext uri="{05A4C25C-085E-4340-85A3-A5531E510DB2}">
      <thm15:themeFamily xmlns:thm15="http://schemas.microsoft.com/office/thememl/2012/main" name="Canada Life" id="{83FECA6D-FBFC-42FC-AC3F-8C5F6EA4A3BD}" vid="{0E4B6146-B41C-4AD3-BCED-DF2BCCD9B058}"/>
    </a:ext>
  </a:extLst>
</a:theme>
</file>

<file path=ppt/theme/theme5.xml><?xml version="1.0" encoding="utf-8"?>
<a:theme xmlns:a="http://schemas.openxmlformats.org/drawingml/2006/main" name="1_Office Theme">
  <a:themeElements>
    <a:clrScheme name="Custom 9">
      <a:dk1>
        <a:srgbClr val="515349"/>
      </a:dk1>
      <a:lt1>
        <a:srgbClr val="FFFFFF"/>
      </a:lt1>
      <a:dk2>
        <a:srgbClr val="BA0C2F"/>
      </a:dk2>
      <a:lt2>
        <a:srgbClr val="E2E2DF"/>
      </a:lt2>
      <a:accent1>
        <a:srgbClr val="838271"/>
      </a:accent1>
      <a:accent2>
        <a:srgbClr val="007DC1"/>
      </a:accent2>
      <a:accent3>
        <a:srgbClr val="862633"/>
      </a:accent3>
      <a:accent4>
        <a:srgbClr val="5F59A2"/>
      </a:accent4>
      <a:accent5>
        <a:srgbClr val="00BDF1"/>
      </a:accent5>
      <a:accent6>
        <a:srgbClr val="497D3B"/>
      </a:accent6>
      <a:hlink>
        <a:srgbClr val="0563C1"/>
      </a:hlink>
      <a:folHlink>
        <a:srgbClr val="954F7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numCol="1" spcCol="228600" rtlCol="0">
        <a:noAutofit/>
      </a:bodyPr>
      <a:lstStyle>
        <a:defPPr marL="228600" indent="-228600" algn="l">
          <a:spcAft>
            <a:spcPts val="500"/>
          </a:spcAft>
          <a:buFont typeface="Arial" panose="020B0604020202020204" pitchFamily="34" charset="0"/>
          <a:buChar char="•"/>
          <a:defRPr sz="1200"/>
        </a:defPPr>
      </a:lstStyle>
    </a:txDef>
  </a:objectDefaults>
  <a:extraClrSchemeLst/>
  <a:extLst>
    <a:ext uri="{05A4C25C-085E-4340-85A3-A5531E510DB2}">
      <thm15:themeFamily xmlns:thm15="http://schemas.microsoft.com/office/thememl/2012/main" name="CanadaLife_PPT_Widescreen_v4" id="{6F2DBD4F-3169-9046-8051-6C880174377F}" vid="{C6DAB6E1-BB97-0945-B1CA-D2BD6B60DAB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66B9DB8-D533-4468-B211-F7FF947954F4}">
  <we:reference id="c3b3159f-c9fe-4860-a4cb-a5d5f254c545" version="9.5.6.7"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7feefdba-c6d7-42a0-b52c-223d7c6e34c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0F5BF3D4589ED4EB85F1FC304733CE9" ma:contentTypeVersion="11" ma:contentTypeDescription="Create a new document." ma:contentTypeScope="" ma:versionID="9a01957f481432195f1f28f331ce03ee">
  <xsd:schema xmlns:xsd="http://www.w3.org/2001/XMLSchema" xmlns:xs="http://www.w3.org/2001/XMLSchema" xmlns:p="http://schemas.microsoft.com/office/2006/metadata/properties" xmlns:ns3="7feefdba-c6d7-42a0-b52c-223d7c6e34c3" targetNamespace="http://schemas.microsoft.com/office/2006/metadata/properties" ma:root="true" ma:fieldsID="7d04f62c4ddb97e101a3674ac00de363" ns3:_="">
    <xsd:import namespace="7feefdba-c6d7-42a0-b52c-223d7c6e34c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ServiceOCR" minOccurs="0"/>
                <xsd:element ref="ns3:_activity"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eefdba-c6d7-42a0-b52c-223d7c6e34c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_activity" ma:index="17" nillable="true" ma:displayName="_activity" ma:hidden="true" ma:internalName="_activity">
      <xsd:simpleType>
        <xsd:restriction base="dms:Note"/>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858EEC-0583-4ECA-90A4-3B690D9E9126}">
  <ds:schemaRefs>
    <ds:schemaRef ds:uri="http://schemas.microsoft.com/sharepoint/v3/contenttype/forms"/>
  </ds:schemaRefs>
</ds:datastoreItem>
</file>

<file path=customXml/itemProps2.xml><?xml version="1.0" encoding="utf-8"?>
<ds:datastoreItem xmlns:ds="http://schemas.openxmlformats.org/officeDocument/2006/customXml" ds:itemID="{9F122C61-147F-4056-A5E1-37F4DBB0052A}">
  <ds:schemaRefs>
    <ds:schemaRef ds:uri="7feefdba-c6d7-42a0-b52c-223d7c6e34c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B2F2251-C8F5-4E4A-9085-C1EF4402F54C}">
  <ds:schemaRefs>
    <ds:schemaRef ds:uri="7feefdba-c6d7-42a0-b52c-223d7c6e34c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X. CL Template</Template>
  <Application>Microsoft Office PowerPoint</Application>
  <PresentationFormat>Widescreen</PresentationFormat>
  <Slides>32</Slides>
  <Notes>3</Notes>
  <HiddenSlides>0</HiddenSlides>
  <ScaleCrop>false</ScaleCrop>
  <HeadingPairs>
    <vt:vector size="4" baseType="variant">
      <vt:variant>
        <vt:lpstr>Theme</vt:lpstr>
      </vt:variant>
      <vt:variant>
        <vt:i4>5</vt:i4>
      </vt:variant>
      <vt:variant>
        <vt:lpstr>Slide Titles</vt:lpstr>
      </vt:variant>
      <vt:variant>
        <vt:i4>32</vt:i4>
      </vt:variant>
    </vt:vector>
  </HeadingPairs>
  <TitlesOfParts>
    <vt:vector size="37" baseType="lpstr">
      <vt:lpstr>EY-P Widescreen Template 2022</vt:lpstr>
      <vt:lpstr>Office Theme</vt:lpstr>
      <vt:lpstr>White</vt:lpstr>
      <vt:lpstr>2_Office Theme</vt:lpstr>
      <vt:lpstr>1_Office Theme</vt:lpstr>
      <vt:lpstr>Infrastructure &amp; Operations: Cloud Foundations Roadmap</vt:lpstr>
      <vt:lpstr>Document Status</vt:lpstr>
      <vt:lpstr>Table of Contents</vt:lpstr>
      <vt:lpstr>Advancing Enterprise Multi-Cloud Maturity</vt:lpstr>
      <vt:lpstr>Cloud Foundations Value Chain</vt:lpstr>
      <vt:lpstr>PowerPoint Presentation</vt:lpstr>
      <vt:lpstr>Six Strategic Domains Driving Cloud Foundations</vt:lpstr>
      <vt:lpstr>Strategic Focus Areas and 2027 Cloud Transformation Opportunities</vt:lpstr>
      <vt:lpstr>Capability Mapping</vt:lpstr>
      <vt:lpstr>Capability Mapping</vt:lpstr>
      <vt:lpstr>PowerPoint Presentation</vt:lpstr>
      <vt:lpstr>PowerPoint Presentation</vt:lpstr>
      <vt:lpstr>High Level Current State Architecture</vt:lpstr>
      <vt:lpstr>5 Level Cloud Maturity Model – Aligned with AWS &amp; Microsoft CAF</vt:lpstr>
      <vt:lpstr>Cloud Capability Maturity: Current vs Target State</vt:lpstr>
      <vt:lpstr>Evolving from Current State Insights to Future-Ready Cloud Focus Areas</vt:lpstr>
      <vt:lpstr>PowerPoint Presentation</vt:lpstr>
      <vt:lpstr>Design Principles for Target State Architecture &amp; Expected Business Outcomes</vt:lpstr>
      <vt:lpstr>High Level Target state architecture</vt:lpstr>
      <vt:lpstr>Unified Target High Level Architecture</vt:lpstr>
      <vt:lpstr>PowerPoint Presentation</vt:lpstr>
      <vt:lpstr>PowerPoint Presentation</vt:lpstr>
      <vt:lpstr>Strategic Work Packages / Initiatives &amp; Objectives - Cloud Foundations Specific</vt:lpstr>
      <vt:lpstr>Cloud Foundations Roadmap Dependencies – Network, Security &amp; Observability Specific</vt:lpstr>
      <vt:lpstr>Work Packages / Initiatives Sequencing (2026-2027)</vt:lpstr>
      <vt:lpstr>Cloud Foundations – Work Packages / Initiative Details (Scope, Cost &amp; Timeline)</vt:lpstr>
      <vt:lpstr>PowerPoint Presentation</vt:lpstr>
      <vt:lpstr>Cloud Foundations Roadmap : Business Value</vt:lpstr>
      <vt:lpstr>Cloud Foundations Roadmap : Business Value</vt:lpstr>
      <vt:lpstr>Cloud Foundations Roadmap : Business Value</vt:lpstr>
      <vt:lpstr>Cloud Foundations Roadmap : Business Value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I3. DR Design</dc:title>
  <dc:creator>Sachin Sagar</dc:creator>
  <cp:revision>56</cp:revision>
  <cp:lastPrinted>2024-12-05T16:58:02Z</cp:lastPrinted>
  <dcterms:created xsi:type="dcterms:W3CDTF">2024-08-09T13:49:42Z</dcterms:created>
  <dcterms:modified xsi:type="dcterms:W3CDTF">2026-07-31T13:32:58Z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0x01010090F5BF3D4589ED4EB85F1FC304733CE9</vt:lpwstr>
  </property>
  <property fmtid="{D5CDD505-2E9C-101B-9397-08002B2CF9AE}" pid="3" name="MediaServiceImageTags">
    <vt:lpwstr/>
  </property>
  <property fmtid="{D5CDD505-2E9C-101B-9397-08002B2CF9AE}" pid="4" name="MSIP_Label_b07bbe84-2447-47ed-9f95-d9c34bc076ba_Name">
    <vt:lpwstr>Confidential</vt:lpwstr>
  </property>
  <property fmtid="{D5CDD505-2E9C-101B-9397-08002B2CF9AE}" pid="5" name="MSIP_Label_b07bbe84-2447-47ed-9f95-d9c34bc076ba_Enabled">
    <vt:lpwstr>true</vt:lpwstr>
  </property>
  <property fmtid="{D5CDD505-2E9C-101B-9397-08002B2CF9AE}" pid="6" name="MSIP_Label_b07bbe84-2447-47ed-9f95-d9c34bc076ba_SetDate">
    <vt:lpwstr>2024-09-27T10:55:17Z</vt:lpwstr>
  </property>
  <property fmtid="{D5CDD505-2E9C-101B-9397-08002B2CF9AE}" pid="7" name="MSIP_Label_b07bbe84-2447-47ed-9f95-d9c34bc076ba_SiteId">
    <vt:lpwstr>633f3069-d670-4419-9fee-2ab4251c88ee</vt:lpwstr>
  </property>
  <property fmtid="{D5CDD505-2E9C-101B-9397-08002B2CF9AE}" pid="8" name="MSIP_Label_b07bbe84-2447-47ed-9f95-d9c34bc076ba_Method">
    <vt:lpwstr>Standard</vt:lpwstr>
  </property>
  <property fmtid="{D5CDD505-2E9C-101B-9397-08002B2CF9AE}" pid="9" name="MSIP_Label_b07bbe84-2447-47ed-9f95-d9c34bc076ba_ContentBits">
    <vt:lpwstr>0</vt:lpwstr>
  </property>
  <property fmtid="{D5CDD505-2E9C-101B-9397-08002B2CF9AE}" pid="10" name="MSIP_Label_b07bbe84-2447-47ed-9f95-d9c34bc076ba_ActionId">
    <vt:lpwstr>82008502-0ea2-48a0-bd7b-cac11b1135da</vt:lpwstr>
  </property>
</Properties>
</file>